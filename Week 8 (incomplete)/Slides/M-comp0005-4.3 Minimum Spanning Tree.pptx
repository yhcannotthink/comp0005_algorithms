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04"/>
  </p:notesMasterIdLst>
  <p:sldIdLst>
    <p:sldId id="266" r:id="rId3"/>
    <p:sldId id="286" r:id="rId4"/>
    <p:sldId id="287" r:id="rId5"/>
    <p:sldId id="288" r:id="rId6"/>
    <p:sldId id="290" r:id="rId7"/>
    <p:sldId id="291" r:id="rId8"/>
    <p:sldId id="289" r:id="rId9"/>
    <p:sldId id="292" r:id="rId10"/>
    <p:sldId id="293" r:id="rId11"/>
    <p:sldId id="274" r:id="rId12"/>
    <p:sldId id="294" r:id="rId13"/>
    <p:sldId id="280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  <p:sldId id="319" r:id="rId39"/>
    <p:sldId id="281" r:id="rId40"/>
    <p:sldId id="282" r:id="rId41"/>
    <p:sldId id="320" r:id="rId42"/>
    <p:sldId id="321" r:id="rId43"/>
    <p:sldId id="322" r:id="rId44"/>
    <p:sldId id="323" r:id="rId45"/>
    <p:sldId id="324" r:id="rId46"/>
    <p:sldId id="325" r:id="rId47"/>
    <p:sldId id="326" r:id="rId48"/>
    <p:sldId id="327" r:id="rId49"/>
    <p:sldId id="328" r:id="rId50"/>
    <p:sldId id="329" r:id="rId51"/>
    <p:sldId id="330" r:id="rId52"/>
    <p:sldId id="331" r:id="rId53"/>
    <p:sldId id="332" r:id="rId54"/>
    <p:sldId id="333" r:id="rId55"/>
    <p:sldId id="334" r:id="rId56"/>
    <p:sldId id="335" r:id="rId57"/>
    <p:sldId id="337" r:id="rId58"/>
    <p:sldId id="275" r:id="rId59"/>
    <p:sldId id="340" r:id="rId60"/>
    <p:sldId id="336" r:id="rId61"/>
    <p:sldId id="341" r:id="rId62"/>
    <p:sldId id="339" r:id="rId63"/>
    <p:sldId id="338" r:id="rId64"/>
    <p:sldId id="342" r:id="rId65"/>
    <p:sldId id="283" r:id="rId66"/>
    <p:sldId id="344" r:id="rId67"/>
    <p:sldId id="345" r:id="rId68"/>
    <p:sldId id="346" r:id="rId69"/>
    <p:sldId id="347" r:id="rId70"/>
    <p:sldId id="348" r:id="rId71"/>
    <p:sldId id="349" r:id="rId72"/>
    <p:sldId id="350" r:id="rId73"/>
    <p:sldId id="351" r:id="rId74"/>
    <p:sldId id="352" r:id="rId75"/>
    <p:sldId id="353" r:id="rId76"/>
    <p:sldId id="354" r:id="rId77"/>
    <p:sldId id="355" r:id="rId78"/>
    <p:sldId id="356" r:id="rId79"/>
    <p:sldId id="357" r:id="rId80"/>
    <p:sldId id="358" r:id="rId81"/>
    <p:sldId id="359" r:id="rId82"/>
    <p:sldId id="360" r:id="rId83"/>
    <p:sldId id="363" r:id="rId84"/>
    <p:sldId id="364" r:id="rId85"/>
    <p:sldId id="365" r:id="rId86"/>
    <p:sldId id="366" r:id="rId87"/>
    <p:sldId id="367" r:id="rId88"/>
    <p:sldId id="368" r:id="rId89"/>
    <p:sldId id="369" r:id="rId90"/>
    <p:sldId id="370" r:id="rId91"/>
    <p:sldId id="371" r:id="rId92"/>
    <p:sldId id="378" r:id="rId93"/>
    <p:sldId id="372" r:id="rId94"/>
    <p:sldId id="379" r:id="rId95"/>
    <p:sldId id="380" r:id="rId96"/>
    <p:sldId id="381" r:id="rId97"/>
    <p:sldId id="383" r:id="rId98"/>
    <p:sldId id="382" r:id="rId99"/>
    <p:sldId id="361" r:id="rId100"/>
    <p:sldId id="377" r:id="rId101"/>
    <p:sldId id="362" r:id="rId102"/>
    <p:sldId id="343" r:id="rId10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65"/>
    <p:restoredTop sz="49702"/>
  </p:normalViewPr>
  <p:slideViewPr>
    <p:cSldViewPr snapToGrid="0" snapToObjects="1">
      <p:cViewPr varScale="1">
        <p:scale>
          <a:sx n="85" d="100"/>
          <a:sy n="85" d="100"/>
        </p:scale>
        <p:origin x="32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5" d="100"/>
        <a:sy n="10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07" Type="http://schemas.openxmlformats.org/officeDocument/2006/relationships/theme" Target="theme/theme1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DC787B-C83D-524D-8A19-75A5B9F69AC5}" type="datetimeFigureOut">
              <a:rPr lang="en-US" smtClean="0"/>
              <a:t>11/16/20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9D858-9414-8A41-B3E4-117759B25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44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55201-7865-8744-8A9B-9F5FC03C5C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8370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69D858-9414-8A41-B3E4-117759B251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827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69D858-9414-8A41-B3E4-117759B251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668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69D858-9414-8A41-B3E4-117759B251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864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69D858-9414-8A41-B3E4-117759B251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0829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69D858-9414-8A41-B3E4-117759B251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5523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69D858-9414-8A41-B3E4-117759B251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45946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69D858-9414-8A41-B3E4-117759B251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85114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69D858-9414-8A41-B3E4-117759B251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1090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83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203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888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649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212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9173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551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968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773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6322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173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40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219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739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920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7096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510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319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950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398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288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28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789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041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911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2495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221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1117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31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060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938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5699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159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77183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2820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1633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733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93666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56749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09917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8687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8454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4542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81630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01051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6679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5242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5185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42492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7849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5292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4531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6842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6599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3024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8817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0219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7393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10456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2034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7060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61579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9955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0261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6082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230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47189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6532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57156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2059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0570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6269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3801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3969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01948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4217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0263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0012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9096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3143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725687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37346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4273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70694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297329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55042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52693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45750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34528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79338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75863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80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5104-30DF-C243-B6F5-80F122C43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F9C87-B826-1B49-A847-710502CBD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F453F-4E94-824B-AFA6-EB4E86C0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2B56E-3BBC-654D-8FA9-E1F006DD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88353-695E-914E-959B-1DE06138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3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7F73-75A7-BF4C-9B87-0E5DAA26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132541" cy="720000"/>
          </a:xfrm>
        </p:spPr>
        <p:txBody>
          <a:bodyPr/>
          <a:lstStyle>
            <a:lvl1pPr>
              <a:defRPr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49A81-21ED-634D-B435-4DA1AB93F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1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7776-6F62-7949-AC29-57711FE6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DDEED-88CB-854F-A579-2E9F5C88E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43E4C-5521-A646-9E20-EDBF5E08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4BB6D-FB51-F14E-96DC-CB799402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6CE9B-3262-4946-BA2B-2E15B128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2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477B-0526-5246-ADF9-A09D3225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C74B-6A3E-0D41-A414-968897748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19A30-BEDD-4E4D-A469-75A32DB6A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90622-BD04-2F49-87BF-8F8A56A9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36CA9-0AF2-6044-B7B9-D370C998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07945-78CB-FD48-A540-3D195554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2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105D-2311-6C4A-AFBA-C7380661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7611F-9F84-EF46-B687-F45096EE5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AFF43-7CB4-D043-A4E6-F7EBD5AD1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651C7-134F-6D4C-B0C9-F97F16FCB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B9679-8272-C842-80E7-7C2C35B6B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03A7-9909-8849-989F-56035CE1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F941C-DA96-0244-A4BD-DDC68807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2B1AB-E8BD-194D-A1B0-84EEEAD5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B65D-442A-8843-8F16-7ABEA571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69297-1F38-2D41-BF9E-9074D73D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6E31A-1A8B-DA41-96E1-AE81C5DA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95C91-339E-644D-8D83-3DE22C83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4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269F9-C47F-5B42-8277-D273C18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79E2E-0F80-CC4C-AC36-AEBFFC9C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C028F-9D1D-4246-9A8D-9B12841F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1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425B-9808-AA41-9609-755D86C8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9FAE-9E85-D84D-8A74-ADC02B429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05D49-C024-1643-8B1C-B03459C6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8C301-58C0-8443-A8FD-FE276F98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AA141-96BB-DB4F-B27D-6F7AF7D7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4CBB8-298F-1246-BC42-25680FD0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3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C04D-5F03-AA4D-8037-39B8E663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0F1385-96F7-A140-AA79-83ACBA263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11CC3-A00C-784B-8C87-ECE428E1D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CC509-EA9D-234D-BD95-51099A8B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28714-646A-7642-ACC7-DBE60426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C2430-0B85-1D4C-B46F-FC7DD6A1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5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3C0C-A609-F342-919D-11DD78C4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19D3E-C74D-5148-A3E6-FF8D596BB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6387-CFBA-0342-A560-13C5D788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1E4AB-2F0E-DE42-A638-F24757D1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B63D-2E4D-4241-83AC-C6A15648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7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4ADECF-14E8-3C41-B869-448FE504D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B74BE-C693-0E44-8F73-00799AB99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273F7-69F8-D743-8DD7-63377B19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162B8-7B1D-774A-AE0D-C751F2AC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F8AB-2631-7F49-804C-2B75DF4D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79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261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267" b="1">
                <a:solidFill>
                  <a:srgbClr val="D6D2C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74719"/>
            <a:ext cx="10515600" cy="27022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"/>
            <a:ext cx="12192000" cy="1646767"/>
            <a:chOff x="0" y="-66259"/>
            <a:chExt cx="9144000" cy="1235075"/>
          </a:xfrm>
        </p:grpSpPr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3999" y="384000"/>
            <a:ext cx="7318611" cy="3907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1467" baseline="0">
                <a:solidFill>
                  <a:schemeClr val="tx1"/>
                </a:solidFill>
              </a:defRPr>
            </a:lvl1pPr>
            <a:lvl2pPr marL="0" indent="0">
              <a:lnSpc>
                <a:spcPct val="80000"/>
              </a:lnSpc>
              <a:buNone/>
              <a:defRPr sz="1467">
                <a:solidFill>
                  <a:schemeClr val="tx1"/>
                </a:solidFill>
              </a:defRPr>
            </a:lvl2pPr>
            <a:lvl3pPr marL="0" indent="0">
              <a:buNone/>
              <a:defRPr sz="1467">
                <a:solidFill>
                  <a:schemeClr val="tx1"/>
                </a:solidFill>
              </a:defRPr>
            </a:lvl3pPr>
            <a:lvl4pPr marL="0" indent="0">
              <a:buNone/>
              <a:defRPr sz="1467">
                <a:solidFill>
                  <a:schemeClr val="tx1"/>
                </a:solidFill>
              </a:defRPr>
            </a:lvl4pPr>
            <a:lvl5pPr marL="0" indent="0">
              <a:buNone/>
              <a:defRPr sz="14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FACULTY, SCHOOL, DEPARTMENT OR INSTITUTE NAME HERE</a:t>
            </a:r>
          </a:p>
          <a:p>
            <a:pPr lvl="1"/>
            <a:r>
              <a:rPr lang="en-US" dirty="0"/>
              <a:t>SECOND TIER INFORMATION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991353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C065B9-79B2-2E46-992C-E436F6FDC61B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1262"/>
            <a:ext cx="12192000" cy="132556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3A9AA-7FD3-E641-8BB9-C7229D09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347"/>
            <a:ext cx="10515600" cy="904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63258-2D95-1B4C-B09E-444B93AC6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7708" y="1668162"/>
            <a:ext cx="11294076" cy="4893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6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75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9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00989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20249" y="220779"/>
            <a:ext cx="4289120" cy="93996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6933"/>
            <a:endParaRPr lang="en-GB" sz="1333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3423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9997" indent="-119997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7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3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38200" y="2462581"/>
            <a:ext cx="10515600" cy="1929476"/>
          </a:xfrm>
        </p:spPr>
        <p:txBody>
          <a:bodyPr/>
          <a:lstStyle/>
          <a:p>
            <a:r>
              <a:rPr lang="en-US" sz="5333" dirty="0">
                <a:solidFill>
                  <a:schemeClr val="tx1"/>
                </a:solidFill>
              </a:rPr>
              <a:t>COMP0005 – ALGORITHMS </a:t>
            </a:r>
            <a:br>
              <a:rPr lang="en-US" sz="5333" dirty="0">
                <a:solidFill>
                  <a:schemeClr val="tx1"/>
                </a:solidFill>
              </a:rPr>
            </a:br>
            <a:br>
              <a:rPr lang="en-US" sz="3733" dirty="0">
                <a:solidFill>
                  <a:schemeClr val="tx1"/>
                </a:solidFill>
              </a:rPr>
            </a:br>
            <a:r>
              <a:rPr lang="en-US" sz="3733" dirty="0">
                <a:solidFill>
                  <a:schemeClr val="tx1"/>
                </a:solidFill>
              </a:rPr>
              <a:t>4.3 Minimum Spanning Tree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5189251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sz="2667" dirty="0"/>
              <a:t>Prof </a:t>
            </a:r>
            <a:r>
              <a:rPr lang="en-US" sz="2667" dirty="0" err="1"/>
              <a:t>Licia</a:t>
            </a:r>
            <a:r>
              <a:rPr lang="en-US" sz="2667" dirty="0"/>
              <a:t> Capra</a:t>
            </a:r>
          </a:p>
          <a:p>
            <a:pPr marL="0" indent="0">
              <a:buNone/>
            </a:pPr>
            <a:r>
              <a:rPr lang="en-US" sz="2133" dirty="0"/>
              <a:t>Dept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205045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424C-3A79-A842-AE74-43D494A7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Minimum spanning tree?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C020C-D13D-3C4E-81D0-E5F634D0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Recap.</a:t>
            </a:r>
            <a:r>
              <a:rPr lang="en-US" dirty="0"/>
              <a:t> An undirected graph is a set of vertices connected pairwise by edges </a:t>
            </a:r>
          </a:p>
          <a:p>
            <a:endParaRPr lang="en-US" dirty="0">
              <a:highlight>
                <a:srgbClr val="C0C0C0"/>
              </a:highlight>
            </a:endParaRPr>
          </a:p>
          <a:p>
            <a:r>
              <a:rPr lang="en-US" dirty="0">
                <a:highlight>
                  <a:srgbClr val="C0C0C0"/>
                </a:highlight>
              </a:rPr>
              <a:t>Definition</a:t>
            </a:r>
            <a:r>
              <a:rPr lang="en-US" dirty="0"/>
              <a:t>. Given an undirected (and connected) graph G with positive edge weights, a </a:t>
            </a:r>
            <a:r>
              <a:rPr lang="en-US" dirty="0">
                <a:solidFill>
                  <a:schemeClr val="accent5"/>
                </a:solidFill>
              </a:rPr>
              <a:t>spanning tree </a:t>
            </a:r>
            <a:r>
              <a:rPr lang="en-US" dirty="0"/>
              <a:t>of G is a subgraph T that is both a tree (connected and acyclic) and spanning (includes all the vertices).</a:t>
            </a:r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Goal</a:t>
            </a:r>
            <a:r>
              <a:rPr lang="en-US" dirty="0"/>
              <a:t>. Find a spanning tree where the sum of the edge weights is minimum.</a:t>
            </a:r>
          </a:p>
        </p:txBody>
      </p:sp>
    </p:spTree>
    <p:extLst>
      <p:ext uri="{BB962C8B-B14F-4D97-AF65-F5344CB8AC3E}">
        <p14:creationId xmlns:p14="http://schemas.microsoft.com/office/powerpoint/2010/main" val="1873506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424C-3A79-A842-AE74-43D494A7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Minimum spanning tree?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C020C-D13D-3C4E-81D0-E5F634D0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grpSp>
        <p:nvGrpSpPr>
          <p:cNvPr id="113" name="Group 112" descr="example of a weighted undirected graph">
            <a:extLst>
              <a:ext uri="{FF2B5EF4-FFF2-40B4-BE49-F238E27FC236}">
                <a16:creationId xmlns:a16="http://schemas.microsoft.com/office/drawing/2014/main" id="{BC1ED359-84FF-D64A-AEAD-A1B9779CBE0B}"/>
              </a:ext>
            </a:extLst>
          </p:cNvPr>
          <p:cNvGrpSpPr/>
          <p:nvPr/>
        </p:nvGrpSpPr>
        <p:grpSpPr>
          <a:xfrm>
            <a:off x="1895762" y="1935824"/>
            <a:ext cx="5968330" cy="4316354"/>
            <a:chOff x="1895762" y="1935824"/>
            <a:chExt cx="5968330" cy="4316354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E2733F6-732F-1C4F-BAC8-593B576BB5A9}"/>
                </a:ext>
              </a:extLst>
            </p:cNvPr>
            <p:cNvSpPr/>
            <p:nvPr/>
          </p:nvSpPr>
          <p:spPr>
            <a:xfrm>
              <a:off x="1895762" y="325601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7607D59-D4E8-CD4A-851E-4470E3AD51BB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DEE1CD6-8370-554F-AD30-489D562FF6BA}"/>
                </a:ext>
              </a:extLst>
            </p:cNvPr>
            <p:cNvSpPr/>
            <p:nvPr/>
          </p:nvSpPr>
          <p:spPr>
            <a:xfrm>
              <a:off x="3679671" y="221907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DDFBB78-4AF8-D448-BE36-93B6ED835225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842A8FB-279D-D14A-AB44-038CF7AC0946}"/>
                </a:ext>
              </a:extLst>
            </p:cNvPr>
            <p:cNvSpPr/>
            <p:nvPr/>
          </p:nvSpPr>
          <p:spPr>
            <a:xfrm>
              <a:off x="7264393" y="201905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333B01F-E6FC-E041-B3A2-F7E2F82828E9}"/>
                </a:ext>
              </a:extLst>
            </p:cNvPr>
            <p:cNvSpPr/>
            <p:nvPr/>
          </p:nvSpPr>
          <p:spPr>
            <a:xfrm>
              <a:off x="6906878" y="348374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8EC935F-65E4-0A43-B050-954931405763}"/>
                </a:ext>
              </a:extLst>
            </p:cNvPr>
            <p:cNvSpPr/>
            <p:nvPr/>
          </p:nvSpPr>
          <p:spPr>
            <a:xfrm>
              <a:off x="4818345" y="386668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3B6DEF5-9D6A-9B40-8600-071A90C147A0}"/>
                </a:ext>
              </a:extLst>
            </p:cNvPr>
            <p:cNvCxnSpPr>
              <a:cxnSpLocks/>
              <a:stCxn id="19" idx="5"/>
              <a:endCxn id="20" idx="1"/>
            </p:cNvCxnSpPr>
            <p:nvPr/>
          </p:nvCxnSpPr>
          <p:spPr>
            <a:xfrm>
              <a:off x="2225030" y="3597483"/>
              <a:ext cx="1245475" cy="145223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E939842-90F2-A045-891D-0F1EFE09FE45}"/>
                </a:ext>
              </a:extLst>
            </p:cNvPr>
            <p:cNvCxnSpPr>
              <a:cxnSpLocks/>
              <a:stCxn id="19" idx="0"/>
              <a:endCxn id="21" idx="2"/>
            </p:cNvCxnSpPr>
            <p:nvPr/>
          </p:nvCxnSpPr>
          <p:spPr>
            <a:xfrm flipV="1">
              <a:off x="2088643" y="2419102"/>
              <a:ext cx="1591028" cy="83691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7B1FD5-1AE0-6A45-925B-B3C2134A7B2D}"/>
                </a:ext>
              </a:extLst>
            </p:cNvPr>
            <p:cNvCxnSpPr>
              <a:cxnSpLocks/>
              <a:stCxn id="19" idx="6"/>
              <a:endCxn id="22" idx="2"/>
            </p:cNvCxnSpPr>
            <p:nvPr/>
          </p:nvCxnSpPr>
          <p:spPr>
            <a:xfrm>
              <a:off x="2281524" y="3456044"/>
              <a:ext cx="1577741" cy="1876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1E04EC2-AF8E-D549-B6F2-5A94A0885832}"/>
                </a:ext>
              </a:extLst>
            </p:cNvPr>
            <p:cNvCxnSpPr>
              <a:cxnSpLocks/>
              <a:stCxn id="21" idx="6"/>
              <a:endCxn id="23" idx="1"/>
            </p:cNvCxnSpPr>
            <p:nvPr/>
          </p:nvCxnSpPr>
          <p:spPr>
            <a:xfrm flipV="1">
              <a:off x="4065433" y="2077638"/>
              <a:ext cx="3255454" cy="34146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E8257CD-AEB2-3E48-8E5B-FDBE2DB8C402}"/>
                </a:ext>
              </a:extLst>
            </p:cNvPr>
            <p:cNvCxnSpPr>
              <a:cxnSpLocks/>
              <a:stCxn id="22" idx="4"/>
              <a:endCxn id="20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37138ED-9336-1C47-8736-8E79F63A4289}"/>
                </a:ext>
              </a:extLst>
            </p:cNvPr>
            <p:cNvCxnSpPr>
              <a:cxnSpLocks/>
              <a:stCxn id="24" idx="2"/>
              <a:endCxn id="25" idx="6"/>
            </p:cNvCxnSpPr>
            <p:nvPr/>
          </p:nvCxnSpPr>
          <p:spPr>
            <a:xfrm flipH="1">
              <a:off x="5204107" y="3683773"/>
              <a:ext cx="1702771" cy="3829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E978C2D-925B-5B43-B607-166F9ACE4F8F}"/>
                </a:ext>
              </a:extLst>
            </p:cNvPr>
            <p:cNvCxnSpPr>
              <a:cxnSpLocks/>
              <a:stCxn id="23" idx="5"/>
              <a:endCxn id="24" idx="7"/>
            </p:cNvCxnSpPr>
            <p:nvPr/>
          </p:nvCxnSpPr>
          <p:spPr>
            <a:xfrm flipH="1">
              <a:off x="7236146" y="2360516"/>
              <a:ext cx="357515" cy="118181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AD17735-9E40-F04C-BAD7-9FCDD66897E3}"/>
                </a:ext>
              </a:extLst>
            </p:cNvPr>
            <p:cNvSpPr/>
            <p:nvPr/>
          </p:nvSpPr>
          <p:spPr>
            <a:xfrm>
              <a:off x="7478330" y="484969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1E16A06-8C09-894A-9631-22BD506ACCF2}"/>
                </a:ext>
              </a:extLst>
            </p:cNvPr>
            <p:cNvCxnSpPr>
              <a:cxnSpLocks/>
              <a:stCxn id="25" idx="4"/>
              <a:endCxn id="20" idx="6"/>
            </p:cNvCxnSpPr>
            <p:nvPr/>
          </p:nvCxnSpPr>
          <p:spPr>
            <a:xfrm flipH="1">
              <a:off x="3799773" y="4266732"/>
              <a:ext cx="1211453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AB4BD6A-D95F-DB4D-BBD7-FE7E67968FDC}"/>
                </a:ext>
              </a:extLst>
            </p:cNvPr>
            <p:cNvCxnSpPr>
              <a:cxnSpLocks/>
              <a:stCxn id="25" idx="1"/>
              <a:endCxn id="22" idx="5"/>
            </p:cNvCxnSpPr>
            <p:nvPr/>
          </p:nvCxnSpPr>
          <p:spPr>
            <a:xfrm flipH="1" flipV="1">
              <a:off x="4188533" y="3616250"/>
              <a:ext cx="686306" cy="30901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 descr="example of a weighted undirected graph">
              <a:extLst>
                <a:ext uri="{FF2B5EF4-FFF2-40B4-BE49-F238E27FC236}">
                  <a16:creationId xmlns:a16="http://schemas.microsoft.com/office/drawing/2014/main" id="{B49BACCF-0FB5-DA45-BCC8-78CA171ECB8C}"/>
                </a:ext>
              </a:extLst>
            </p:cNvPr>
            <p:cNvCxnSpPr>
              <a:cxnSpLocks/>
              <a:stCxn id="16" idx="2"/>
              <a:endCxn id="20" idx="5"/>
            </p:cNvCxnSpPr>
            <p:nvPr/>
          </p:nvCxnSpPr>
          <p:spPr>
            <a:xfrm flipH="1">
              <a:off x="3743279" y="5049716"/>
              <a:ext cx="3735051" cy="28287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AF4D2DE-2D83-0B44-A76B-617B8047E057}"/>
                </a:ext>
              </a:extLst>
            </p:cNvPr>
            <p:cNvCxnSpPr>
              <a:cxnSpLocks/>
              <a:stCxn id="16" idx="1"/>
              <a:endCxn id="24" idx="5"/>
            </p:cNvCxnSpPr>
            <p:nvPr/>
          </p:nvCxnSpPr>
          <p:spPr>
            <a:xfrm flipH="1" flipV="1">
              <a:off x="7236146" y="3825212"/>
              <a:ext cx="298678" cy="10830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4CE0897-BE0F-6C48-BF91-552268E95B17}"/>
                </a:ext>
              </a:extLst>
            </p:cNvPr>
            <p:cNvCxnSpPr>
              <a:cxnSpLocks/>
              <a:stCxn id="23" idx="2"/>
              <a:endCxn id="22" idx="6"/>
            </p:cNvCxnSpPr>
            <p:nvPr/>
          </p:nvCxnSpPr>
          <p:spPr>
            <a:xfrm flipH="1">
              <a:off x="4245027" y="2219077"/>
              <a:ext cx="3019366" cy="12557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9F5CF6F-E423-4444-BBC2-6DB26EDEC205}"/>
                </a:ext>
              </a:extLst>
            </p:cNvPr>
            <p:cNvSpPr txBox="1"/>
            <p:nvPr/>
          </p:nvSpPr>
          <p:spPr>
            <a:xfrm>
              <a:off x="2656870" y="246822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0333545-DB53-1949-894C-9A331BCCEA6C}"/>
                </a:ext>
              </a:extLst>
            </p:cNvPr>
            <p:cNvSpPr txBox="1"/>
            <p:nvPr/>
          </p:nvSpPr>
          <p:spPr>
            <a:xfrm>
              <a:off x="5271286" y="1935824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24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2E9E0F4-4748-D84B-9DFB-925960195D29}"/>
                </a:ext>
              </a:extLst>
            </p:cNvPr>
            <p:cNvSpPr txBox="1"/>
            <p:nvPr/>
          </p:nvSpPr>
          <p:spPr>
            <a:xfrm>
              <a:off x="3002651" y="308611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C041CF2-3E74-5642-B5E6-3BA847A9A0F7}"/>
                </a:ext>
              </a:extLst>
            </p:cNvPr>
            <p:cNvSpPr txBox="1"/>
            <p:nvPr/>
          </p:nvSpPr>
          <p:spPr>
            <a:xfrm>
              <a:off x="2715014" y="397886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14F1A29-5B5C-924C-99A2-5B328BC59A7C}"/>
                </a:ext>
              </a:extLst>
            </p:cNvPr>
            <p:cNvSpPr txBox="1"/>
            <p:nvPr/>
          </p:nvSpPr>
          <p:spPr>
            <a:xfrm>
              <a:off x="3643320" y="394179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5A25820-B9C1-F644-A8E6-3545964FF571}"/>
                </a:ext>
              </a:extLst>
            </p:cNvPr>
            <p:cNvSpPr txBox="1"/>
            <p:nvPr/>
          </p:nvSpPr>
          <p:spPr>
            <a:xfrm>
              <a:off x="4461419" y="351885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652C1A5-B9DA-8E4B-A28A-BA7BE4F66F52}"/>
                </a:ext>
              </a:extLst>
            </p:cNvPr>
            <p:cNvSpPr txBox="1"/>
            <p:nvPr/>
          </p:nvSpPr>
          <p:spPr>
            <a:xfrm>
              <a:off x="4083039" y="442499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741FED9-3966-4E43-889A-930231813A75}"/>
                </a:ext>
              </a:extLst>
            </p:cNvPr>
            <p:cNvSpPr txBox="1"/>
            <p:nvPr/>
          </p:nvSpPr>
          <p:spPr>
            <a:xfrm>
              <a:off x="5296948" y="4849691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6E31A29-0172-2E46-99EB-4023FF43C3C2}"/>
                </a:ext>
              </a:extLst>
            </p:cNvPr>
            <p:cNvSpPr txBox="1"/>
            <p:nvPr/>
          </p:nvSpPr>
          <p:spPr>
            <a:xfrm>
              <a:off x="7010269" y="401379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8B77BAA-A997-4346-B95F-9BEB91B6AD82}"/>
                </a:ext>
              </a:extLst>
            </p:cNvPr>
            <p:cNvSpPr txBox="1"/>
            <p:nvPr/>
          </p:nvSpPr>
          <p:spPr>
            <a:xfrm>
              <a:off x="7087874" y="28007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15D8D07-BA02-7540-8BCA-252B7FCADA67}"/>
                </a:ext>
              </a:extLst>
            </p:cNvPr>
            <p:cNvSpPr txBox="1"/>
            <p:nvPr/>
          </p:nvSpPr>
          <p:spPr>
            <a:xfrm>
              <a:off x="5772120" y="3580698"/>
              <a:ext cx="424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8B64542-C5B5-7C4A-8500-8B1D81B966B5}"/>
                </a:ext>
              </a:extLst>
            </p:cNvPr>
            <p:cNvSpPr txBox="1"/>
            <p:nvPr/>
          </p:nvSpPr>
          <p:spPr>
            <a:xfrm>
              <a:off x="5116198" y="267908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23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1529B64-489C-854F-8A77-D63C8A00FD2F}"/>
                </a:ext>
              </a:extLst>
            </p:cNvPr>
            <p:cNvCxnSpPr>
              <a:cxnSpLocks/>
              <a:stCxn id="16" idx="2"/>
              <a:endCxn id="25" idx="5"/>
            </p:cNvCxnSpPr>
            <p:nvPr/>
          </p:nvCxnSpPr>
          <p:spPr>
            <a:xfrm flipH="1" flipV="1">
              <a:off x="5147613" y="4208146"/>
              <a:ext cx="2330717" cy="84157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C596C4A-4C54-2649-B451-C2111B9C5B34}"/>
                </a:ext>
              </a:extLst>
            </p:cNvPr>
            <p:cNvSpPr txBox="1"/>
            <p:nvPr/>
          </p:nvSpPr>
          <p:spPr>
            <a:xfrm>
              <a:off x="6079547" y="430820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</a:t>
              </a: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D1E2D39-E14C-6247-A433-82F56D36C220}"/>
                </a:ext>
              </a:extLst>
            </p:cNvPr>
            <p:cNvCxnSpPr>
              <a:cxnSpLocks/>
              <a:stCxn id="23" idx="3"/>
              <a:endCxn id="25" idx="7"/>
            </p:cNvCxnSpPr>
            <p:nvPr/>
          </p:nvCxnSpPr>
          <p:spPr>
            <a:xfrm flipH="1">
              <a:off x="5147613" y="2360516"/>
              <a:ext cx="2173274" cy="156475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487599C-323B-3849-8125-5EF62904BD0E}"/>
                </a:ext>
              </a:extLst>
            </p:cNvPr>
            <p:cNvSpPr txBox="1"/>
            <p:nvPr/>
          </p:nvSpPr>
          <p:spPr>
            <a:xfrm>
              <a:off x="5858974" y="28823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18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D720A9F-4AB5-1A4F-930E-01BE344285B2}"/>
                </a:ext>
              </a:extLst>
            </p:cNvPr>
            <p:cNvSpPr txBox="1"/>
            <p:nvPr/>
          </p:nvSpPr>
          <p:spPr>
            <a:xfrm>
              <a:off x="4572944" y="5790513"/>
              <a:ext cx="13644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Graph 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3599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424C-3A79-A842-AE74-43D494A7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Minimum spanning tree?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C020C-D13D-3C4E-81D0-E5F634D0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grpSp>
        <p:nvGrpSpPr>
          <p:cNvPr id="113" name="Group 112" descr="this is not an example of a spanning tree">
            <a:extLst>
              <a:ext uri="{FF2B5EF4-FFF2-40B4-BE49-F238E27FC236}">
                <a16:creationId xmlns:a16="http://schemas.microsoft.com/office/drawing/2014/main" id="{BC1ED359-84FF-D64A-AEAD-A1B9779CBE0B}"/>
              </a:ext>
            </a:extLst>
          </p:cNvPr>
          <p:cNvGrpSpPr/>
          <p:nvPr/>
        </p:nvGrpSpPr>
        <p:grpSpPr>
          <a:xfrm>
            <a:off x="1895762" y="1935824"/>
            <a:ext cx="5968330" cy="4344651"/>
            <a:chOff x="1895762" y="1935824"/>
            <a:chExt cx="5968330" cy="4344651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E2733F6-732F-1C4F-BAC8-593B576BB5A9}"/>
                </a:ext>
              </a:extLst>
            </p:cNvPr>
            <p:cNvSpPr/>
            <p:nvPr/>
          </p:nvSpPr>
          <p:spPr>
            <a:xfrm>
              <a:off x="1895762" y="3256019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7607D59-D4E8-CD4A-851E-4470E3AD51BB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DEE1CD6-8370-554F-AD30-489D562FF6BA}"/>
                </a:ext>
              </a:extLst>
            </p:cNvPr>
            <p:cNvSpPr/>
            <p:nvPr/>
          </p:nvSpPr>
          <p:spPr>
            <a:xfrm>
              <a:off x="3679671" y="2219077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DDFBB78-4AF8-D448-BE36-93B6ED835225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842A8FB-279D-D14A-AB44-038CF7AC0946}"/>
                </a:ext>
              </a:extLst>
            </p:cNvPr>
            <p:cNvSpPr/>
            <p:nvPr/>
          </p:nvSpPr>
          <p:spPr>
            <a:xfrm>
              <a:off x="7264393" y="2019052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333B01F-E6FC-E041-B3A2-F7E2F82828E9}"/>
                </a:ext>
              </a:extLst>
            </p:cNvPr>
            <p:cNvSpPr/>
            <p:nvPr/>
          </p:nvSpPr>
          <p:spPr>
            <a:xfrm>
              <a:off x="6906878" y="3483748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8EC935F-65E4-0A43-B050-954931405763}"/>
                </a:ext>
              </a:extLst>
            </p:cNvPr>
            <p:cNvSpPr/>
            <p:nvPr/>
          </p:nvSpPr>
          <p:spPr>
            <a:xfrm>
              <a:off x="4818345" y="3866682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3B6DEF5-9D6A-9B40-8600-071A90C147A0}"/>
                </a:ext>
              </a:extLst>
            </p:cNvPr>
            <p:cNvCxnSpPr>
              <a:cxnSpLocks/>
              <a:stCxn id="19" idx="5"/>
              <a:endCxn id="20" idx="1"/>
            </p:cNvCxnSpPr>
            <p:nvPr/>
          </p:nvCxnSpPr>
          <p:spPr>
            <a:xfrm>
              <a:off x="2225030" y="3597483"/>
              <a:ext cx="1245475" cy="145223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E939842-90F2-A045-891D-0F1EFE09FE45}"/>
                </a:ext>
              </a:extLst>
            </p:cNvPr>
            <p:cNvCxnSpPr>
              <a:cxnSpLocks/>
              <a:stCxn id="19" idx="0"/>
              <a:endCxn id="21" idx="2"/>
            </p:cNvCxnSpPr>
            <p:nvPr/>
          </p:nvCxnSpPr>
          <p:spPr>
            <a:xfrm flipV="1">
              <a:off x="2088643" y="2419102"/>
              <a:ext cx="1591028" cy="836917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7B1FD5-1AE0-6A45-925B-B3C2134A7B2D}"/>
                </a:ext>
              </a:extLst>
            </p:cNvPr>
            <p:cNvCxnSpPr>
              <a:cxnSpLocks/>
              <a:stCxn id="19" idx="6"/>
              <a:endCxn id="22" idx="2"/>
            </p:cNvCxnSpPr>
            <p:nvPr/>
          </p:nvCxnSpPr>
          <p:spPr>
            <a:xfrm>
              <a:off x="2281524" y="3456044"/>
              <a:ext cx="1577741" cy="18767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1E04EC2-AF8E-D549-B6F2-5A94A0885832}"/>
                </a:ext>
              </a:extLst>
            </p:cNvPr>
            <p:cNvCxnSpPr>
              <a:cxnSpLocks/>
              <a:stCxn id="21" idx="6"/>
              <a:endCxn id="23" idx="1"/>
            </p:cNvCxnSpPr>
            <p:nvPr/>
          </p:nvCxnSpPr>
          <p:spPr>
            <a:xfrm flipV="1">
              <a:off x="4065433" y="2077638"/>
              <a:ext cx="3255454" cy="34146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E8257CD-AEB2-3E48-8E5B-FDBE2DB8C402}"/>
                </a:ext>
              </a:extLst>
            </p:cNvPr>
            <p:cNvCxnSpPr>
              <a:cxnSpLocks/>
              <a:stCxn id="22" idx="4"/>
              <a:endCxn id="20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37138ED-9336-1C47-8736-8E79F63A4289}"/>
                </a:ext>
              </a:extLst>
            </p:cNvPr>
            <p:cNvCxnSpPr>
              <a:cxnSpLocks/>
              <a:stCxn id="24" idx="2"/>
              <a:endCxn id="25" idx="6"/>
            </p:cNvCxnSpPr>
            <p:nvPr/>
          </p:nvCxnSpPr>
          <p:spPr>
            <a:xfrm flipH="1">
              <a:off x="5204107" y="3683773"/>
              <a:ext cx="1702771" cy="382934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E978C2D-925B-5B43-B607-166F9ACE4F8F}"/>
                </a:ext>
              </a:extLst>
            </p:cNvPr>
            <p:cNvCxnSpPr>
              <a:cxnSpLocks/>
              <a:stCxn id="23" idx="5"/>
              <a:endCxn id="24" idx="7"/>
            </p:cNvCxnSpPr>
            <p:nvPr/>
          </p:nvCxnSpPr>
          <p:spPr>
            <a:xfrm flipH="1">
              <a:off x="7236146" y="2360516"/>
              <a:ext cx="357515" cy="1181818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AD17735-9E40-F04C-BAD7-9FCDD66897E3}"/>
                </a:ext>
              </a:extLst>
            </p:cNvPr>
            <p:cNvSpPr/>
            <p:nvPr/>
          </p:nvSpPr>
          <p:spPr>
            <a:xfrm>
              <a:off x="7478330" y="4849691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1E16A06-8C09-894A-9631-22BD506ACCF2}"/>
                </a:ext>
              </a:extLst>
            </p:cNvPr>
            <p:cNvCxnSpPr>
              <a:cxnSpLocks/>
              <a:stCxn id="25" idx="4"/>
              <a:endCxn id="20" idx="6"/>
            </p:cNvCxnSpPr>
            <p:nvPr/>
          </p:nvCxnSpPr>
          <p:spPr>
            <a:xfrm flipH="1">
              <a:off x="3799773" y="4266732"/>
              <a:ext cx="1211453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AB4BD6A-D95F-DB4D-BBD7-FE7E67968FDC}"/>
                </a:ext>
              </a:extLst>
            </p:cNvPr>
            <p:cNvCxnSpPr>
              <a:cxnSpLocks/>
              <a:stCxn id="25" idx="1"/>
              <a:endCxn id="22" idx="5"/>
            </p:cNvCxnSpPr>
            <p:nvPr/>
          </p:nvCxnSpPr>
          <p:spPr>
            <a:xfrm flipH="1" flipV="1">
              <a:off x="4188533" y="3616250"/>
              <a:ext cx="686306" cy="30901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 descr="example of a weighted undirected graph">
              <a:extLst>
                <a:ext uri="{FF2B5EF4-FFF2-40B4-BE49-F238E27FC236}">
                  <a16:creationId xmlns:a16="http://schemas.microsoft.com/office/drawing/2014/main" id="{B49BACCF-0FB5-DA45-BCC8-78CA171ECB8C}"/>
                </a:ext>
              </a:extLst>
            </p:cNvPr>
            <p:cNvCxnSpPr>
              <a:cxnSpLocks/>
              <a:stCxn id="16" idx="2"/>
              <a:endCxn id="20" idx="5"/>
            </p:cNvCxnSpPr>
            <p:nvPr/>
          </p:nvCxnSpPr>
          <p:spPr>
            <a:xfrm flipH="1">
              <a:off x="3743279" y="5049716"/>
              <a:ext cx="3735051" cy="28287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AF4D2DE-2D83-0B44-A76B-617B8047E057}"/>
                </a:ext>
              </a:extLst>
            </p:cNvPr>
            <p:cNvCxnSpPr>
              <a:cxnSpLocks/>
              <a:stCxn id="16" idx="1"/>
              <a:endCxn id="24" idx="5"/>
            </p:cNvCxnSpPr>
            <p:nvPr/>
          </p:nvCxnSpPr>
          <p:spPr>
            <a:xfrm flipH="1" flipV="1">
              <a:off x="7236146" y="3825212"/>
              <a:ext cx="298678" cy="1083065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4CE0897-BE0F-6C48-BF91-552268E95B17}"/>
                </a:ext>
              </a:extLst>
            </p:cNvPr>
            <p:cNvCxnSpPr>
              <a:cxnSpLocks/>
              <a:stCxn id="23" idx="2"/>
              <a:endCxn id="22" idx="6"/>
            </p:cNvCxnSpPr>
            <p:nvPr/>
          </p:nvCxnSpPr>
          <p:spPr>
            <a:xfrm flipH="1">
              <a:off x="4245027" y="2219077"/>
              <a:ext cx="3019366" cy="12557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9F5CF6F-E423-4444-BBC2-6DB26EDEC205}"/>
                </a:ext>
              </a:extLst>
            </p:cNvPr>
            <p:cNvSpPr txBox="1"/>
            <p:nvPr/>
          </p:nvSpPr>
          <p:spPr>
            <a:xfrm>
              <a:off x="2656870" y="246822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0333545-DB53-1949-894C-9A331BCCEA6C}"/>
                </a:ext>
              </a:extLst>
            </p:cNvPr>
            <p:cNvSpPr txBox="1"/>
            <p:nvPr/>
          </p:nvSpPr>
          <p:spPr>
            <a:xfrm>
              <a:off x="5271286" y="1935824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24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2E9E0F4-4748-D84B-9DFB-925960195D29}"/>
                </a:ext>
              </a:extLst>
            </p:cNvPr>
            <p:cNvSpPr txBox="1"/>
            <p:nvPr/>
          </p:nvSpPr>
          <p:spPr>
            <a:xfrm>
              <a:off x="3002651" y="308611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C041CF2-3E74-5642-B5E6-3BA847A9A0F7}"/>
                </a:ext>
              </a:extLst>
            </p:cNvPr>
            <p:cNvSpPr txBox="1"/>
            <p:nvPr/>
          </p:nvSpPr>
          <p:spPr>
            <a:xfrm>
              <a:off x="2715014" y="397886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14F1A29-5B5C-924C-99A2-5B328BC59A7C}"/>
                </a:ext>
              </a:extLst>
            </p:cNvPr>
            <p:cNvSpPr txBox="1"/>
            <p:nvPr/>
          </p:nvSpPr>
          <p:spPr>
            <a:xfrm>
              <a:off x="3643320" y="394179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5A25820-B9C1-F644-A8E6-3545964FF571}"/>
                </a:ext>
              </a:extLst>
            </p:cNvPr>
            <p:cNvSpPr txBox="1"/>
            <p:nvPr/>
          </p:nvSpPr>
          <p:spPr>
            <a:xfrm>
              <a:off x="4461419" y="351885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652C1A5-B9DA-8E4B-A28A-BA7BE4F66F52}"/>
                </a:ext>
              </a:extLst>
            </p:cNvPr>
            <p:cNvSpPr txBox="1"/>
            <p:nvPr/>
          </p:nvSpPr>
          <p:spPr>
            <a:xfrm>
              <a:off x="4083039" y="442499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741FED9-3966-4E43-889A-930231813A75}"/>
                </a:ext>
              </a:extLst>
            </p:cNvPr>
            <p:cNvSpPr txBox="1"/>
            <p:nvPr/>
          </p:nvSpPr>
          <p:spPr>
            <a:xfrm>
              <a:off x="5296948" y="4849691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6E31A29-0172-2E46-99EB-4023FF43C3C2}"/>
                </a:ext>
              </a:extLst>
            </p:cNvPr>
            <p:cNvSpPr txBox="1"/>
            <p:nvPr/>
          </p:nvSpPr>
          <p:spPr>
            <a:xfrm>
              <a:off x="7010269" y="401379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8B77BAA-A997-4346-B95F-9BEB91B6AD82}"/>
                </a:ext>
              </a:extLst>
            </p:cNvPr>
            <p:cNvSpPr txBox="1"/>
            <p:nvPr/>
          </p:nvSpPr>
          <p:spPr>
            <a:xfrm>
              <a:off x="7087874" y="28007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15D8D07-BA02-7540-8BCA-252B7FCADA67}"/>
                </a:ext>
              </a:extLst>
            </p:cNvPr>
            <p:cNvSpPr txBox="1"/>
            <p:nvPr/>
          </p:nvSpPr>
          <p:spPr>
            <a:xfrm>
              <a:off x="5772120" y="3580698"/>
              <a:ext cx="424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8B64542-C5B5-7C4A-8500-8B1D81B966B5}"/>
                </a:ext>
              </a:extLst>
            </p:cNvPr>
            <p:cNvSpPr txBox="1"/>
            <p:nvPr/>
          </p:nvSpPr>
          <p:spPr>
            <a:xfrm>
              <a:off x="5116198" y="267908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23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1529B64-489C-854F-8A77-D63C8A00FD2F}"/>
                </a:ext>
              </a:extLst>
            </p:cNvPr>
            <p:cNvCxnSpPr>
              <a:cxnSpLocks/>
              <a:stCxn id="16" idx="2"/>
              <a:endCxn id="25" idx="5"/>
            </p:cNvCxnSpPr>
            <p:nvPr/>
          </p:nvCxnSpPr>
          <p:spPr>
            <a:xfrm flipH="1" flipV="1">
              <a:off x="5147613" y="4208146"/>
              <a:ext cx="2330717" cy="84157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C596C4A-4C54-2649-B451-C2111B9C5B34}"/>
                </a:ext>
              </a:extLst>
            </p:cNvPr>
            <p:cNvSpPr txBox="1"/>
            <p:nvPr/>
          </p:nvSpPr>
          <p:spPr>
            <a:xfrm>
              <a:off x="6079547" y="430820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</a:t>
              </a: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D1E2D39-E14C-6247-A433-82F56D36C220}"/>
                </a:ext>
              </a:extLst>
            </p:cNvPr>
            <p:cNvCxnSpPr>
              <a:cxnSpLocks/>
              <a:stCxn id="23" idx="3"/>
              <a:endCxn id="25" idx="7"/>
            </p:cNvCxnSpPr>
            <p:nvPr/>
          </p:nvCxnSpPr>
          <p:spPr>
            <a:xfrm flipH="1">
              <a:off x="5147613" y="2360516"/>
              <a:ext cx="2173274" cy="156475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487599C-323B-3849-8125-5EF62904BD0E}"/>
                </a:ext>
              </a:extLst>
            </p:cNvPr>
            <p:cNvSpPr txBox="1"/>
            <p:nvPr/>
          </p:nvSpPr>
          <p:spPr>
            <a:xfrm>
              <a:off x="5858974" y="28823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18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D720A9F-4AB5-1A4F-930E-01BE344285B2}"/>
                </a:ext>
              </a:extLst>
            </p:cNvPr>
            <p:cNvSpPr txBox="1"/>
            <p:nvPr/>
          </p:nvSpPr>
          <p:spPr>
            <a:xfrm>
              <a:off x="2515227" y="5818810"/>
              <a:ext cx="49792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Not a spanning tree (disconnected)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3945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424C-3A79-A842-AE74-43D494A7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Minimum spanning tree?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C020C-D13D-3C4E-81D0-E5F634D0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grpSp>
        <p:nvGrpSpPr>
          <p:cNvPr id="113" name="Group 112" descr="this is not an example of a spanning tree">
            <a:extLst>
              <a:ext uri="{FF2B5EF4-FFF2-40B4-BE49-F238E27FC236}">
                <a16:creationId xmlns:a16="http://schemas.microsoft.com/office/drawing/2014/main" id="{BC1ED359-84FF-D64A-AEAD-A1B9779CBE0B}"/>
              </a:ext>
            </a:extLst>
          </p:cNvPr>
          <p:cNvGrpSpPr/>
          <p:nvPr/>
        </p:nvGrpSpPr>
        <p:grpSpPr>
          <a:xfrm>
            <a:off x="1895762" y="1935824"/>
            <a:ext cx="5968330" cy="4344651"/>
            <a:chOff x="1895762" y="1935824"/>
            <a:chExt cx="5968330" cy="4344651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E2733F6-732F-1C4F-BAC8-593B576BB5A9}"/>
                </a:ext>
              </a:extLst>
            </p:cNvPr>
            <p:cNvSpPr/>
            <p:nvPr/>
          </p:nvSpPr>
          <p:spPr>
            <a:xfrm>
              <a:off x="1895762" y="3256019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7607D59-D4E8-CD4A-851E-4470E3AD51BB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DEE1CD6-8370-554F-AD30-489D562FF6BA}"/>
                </a:ext>
              </a:extLst>
            </p:cNvPr>
            <p:cNvSpPr/>
            <p:nvPr/>
          </p:nvSpPr>
          <p:spPr>
            <a:xfrm>
              <a:off x="3679671" y="2219077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DDFBB78-4AF8-D448-BE36-93B6ED835225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842A8FB-279D-D14A-AB44-038CF7AC0946}"/>
                </a:ext>
              </a:extLst>
            </p:cNvPr>
            <p:cNvSpPr/>
            <p:nvPr/>
          </p:nvSpPr>
          <p:spPr>
            <a:xfrm>
              <a:off x="7264393" y="2019052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333B01F-E6FC-E041-B3A2-F7E2F82828E9}"/>
                </a:ext>
              </a:extLst>
            </p:cNvPr>
            <p:cNvSpPr/>
            <p:nvPr/>
          </p:nvSpPr>
          <p:spPr>
            <a:xfrm>
              <a:off x="6906878" y="3483748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8EC935F-65E4-0A43-B050-954931405763}"/>
                </a:ext>
              </a:extLst>
            </p:cNvPr>
            <p:cNvSpPr/>
            <p:nvPr/>
          </p:nvSpPr>
          <p:spPr>
            <a:xfrm>
              <a:off x="4818345" y="3866682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3B6DEF5-9D6A-9B40-8600-071A90C147A0}"/>
                </a:ext>
              </a:extLst>
            </p:cNvPr>
            <p:cNvCxnSpPr>
              <a:cxnSpLocks/>
              <a:stCxn id="19" idx="5"/>
              <a:endCxn id="20" idx="1"/>
            </p:cNvCxnSpPr>
            <p:nvPr/>
          </p:nvCxnSpPr>
          <p:spPr>
            <a:xfrm>
              <a:off x="2225030" y="3597483"/>
              <a:ext cx="1245475" cy="145223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E939842-90F2-A045-891D-0F1EFE09FE45}"/>
                </a:ext>
              </a:extLst>
            </p:cNvPr>
            <p:cNvCxnSpPr>
              <a:cxnSpLocks/>
              <a:stCxn id="19" idx="0"/>
              <a:endCxn id="21" idx="2"/>
            </p:cNvCxnSpPr>
            <p:nvPr/>
          </p:nvCxnSpPr>
          <p:spPr>
            <a:xfrm flipV="1">
              <a:off x="2088643" y="2419102"/>
              <a:ext cx="1591028" cy="836917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7B1FD5-1AE0-6A45-925B-B3C2134A7B2D}"/>
                </a:ext>
              </a:extLst>
            </p:cNvPr>
            <p:cNvCxnSpPr>
              <a:cxnSpLocks/>
              <a:stCxn id="19" idx="6"/>
              <a:endCxn id="22" idx="2"/>
            </p:cNvCxnSpPr>
            <p:nvPr/>
          </p:nvCxnSpPr>
          <p:spPr>
            <a:xfrm>
              <a:off x="2281524" y="3456044"/>
              <a:ext cx="1577741" cy="18767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1E04EC2-AF8E-D549-B6F2-5A94A0885832}"/>
                </a:ext>
              </a:extLst>
            </p:cNvPr>
            <p:cNvCxnSpPr>
              <a:cxnSpLocks/>
              <a:stCxn id="21" idx="6"/>
              <a:endCxn id="23" idx="1"/>
            </p:cNvCxnSpPr>
            <p:nvPr/>
          </p:nvCxnSpPr>
          <p:spPr>
            <a:xfrm flipV="1">
              <a:off x="4065433" y="2077638"/>
              <a:ext cx="3255454" cy="341464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E8257CD-AEB2-3E48-8E5B-FDBE2DB8C402}"/>
                </a:ext>
              </a:extLst>
            </p:cNvPr>
            <p:cNvCxnSpPr>
              <a:cxnSpLocks/>
              <a:stCxn id="22" idx="4"/>
              <a:endCxn id="20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37138ED-9336-1C47-8736-8E79F63A4289}"/>
                </a:ext>
              </a:extLst>
            </p:cNvPr>
            <p:cNvCxnSpPr>
              <a:cxnSpLocks/>
              <a:stCxn id="24" idx="2"/>
              <a:endCxn id="25" idx="6"/>
            </p:cNvCxnSpPr>
            <p:nvPr/>
          </p:nvCxnSpPr>
          <p:spPr>
            <a:xfrm flipH="1">
              <a:off x="5204107" y="3683773"/>
              <a:ext cx="1702771" cy="382934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E978C2D-925B-5B43-B607-166F9ACE4F8F}"/>
                </a:ext>
              </a:extLst>
            </p:cNvPr>
            <p:cNvCxnSpPr>
              <a:cxnSpLocks/>
              <a:stCxn id="23" idx="5"/>
              <a:endCxn id="24" idx="7"/>
            </p:cNvCxnSpPr>
            <p:nvPr/>
          </p:nvCxnSpPr>
          <p:spPr>
            <a:xfrm flipH="1">
              <a:off x="7236146" y="2360516"/>
              <a:ext cx="357515" cy="1181818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AD17735-9E40-F04C-BAD7-9FCDD66897E3}"/>
                </a:ext>
              </a:extLst>
            </p:cNvPr>
            <p:cNvSpPr/>
            <p:nvPr/>
          </p:nvSpPr>
          <p:spPr>
            <a:xfrm>
              <a:off x="7478330" y="4849691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1E16A06-8C09-894A-9631-22BD506ACCF2}"/>
                </a:ext>
              </a:extLst>
            </p:cNvPr>
            <p:cNvCxnSpPr>
              <a:cxnSpLocks/>
              <a:stCxn id="25" idx="4"/>
              <a:endCxn id="20" idx="6"/>
            </p:cNvCxnSpPr>
            <p:nvPr/>
          </p:nvCxnSpPr>
          <p:spPr>
            <a:xfrm flipH="1">
              <a:off x="3799773" y="4266732"/>
              <a:ext cx="1211453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AB4BD6A-D95F-DB4D-BBD7-FE7E67968FDC}"/>
                </a:ext>
              </a:extLst>
            </p:cNvPr>
            <p:cNvCxnSpPr>
              <a:cxnSpLocks/>
              <a:stCxn id="25" idx="1"/>
              <a:endCxn id="22" idx="5"/>
            </p:cNvCxnSpPr>
            <p:nvPr/>
          </p:nvCxnSpPr>
          <p:spPr>
            <a:xfrm flipH="1" flipV="1">
              <a:off x="4188533" y="3616250"/>
              <a:ext cx="686306" cy="309018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 descr="example of a weighted undirected graph">
              <a:extLst>
                <a:ext uri="{FF2B5EF4-FFF2-40B4-BE49-F238E27FC236}">
                  <a16:creationId xmlns:a16="http://schemas.microsoft.com/office/drawing/2014/main" id="{B49BACCF-0FB5-DA45-BCC8-78CA171ECB8C}"/>
                </a:ext>
              </a:extLst>
            </p:cNvPr>
            <p:cNvCxnSpPr>
              <a:cxnSpLocks/>
              <a:stCxn id="16" idx="2"/>
              <a:endCxn id="20" idx="5"/>
            </p:cNvCxnSpPr>
            <p:nvPr/>
          </p:nvCxnSpPr>
          <p:spPr>
            <a:xfrm flipH="1">
              <a:off x="3743279" y="5049716"/>
              <a:ext cx="3735051" cy="28287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AF4D2DE-2D83-0B44-A76B-617B8047E057}"/>
                </a:ext>
              </a:extLst>
            </p:cNvPr>
            <p:cNvCxnSpPr>
              <a:cxnSpLocks/>
              <a:stCxn id="16" idx="1"/>
              <a:endCxn id="24" idx="5"/>
            </p:cNvCxnSpPr>
            <p:nvPr/>
          </p:nvCxnSpPr>
          <p:spPr>
            <a:xfrm flipH="1" flipV="1">
              <a:off x="7236146" y="3825212"/>
              <a:ext cx="298678" cy="1083065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4CE0897-BE0F-6C48-BF91-552268E95B17}"/>
                </a:ext>
              </a:extLst>
            </p:cNvPr>
            <p:cNvCxnSpPr>
              <a:cxnSpLocks/>
              <a:stCxn id="23" idx="2"/>
              <a:endCxn id="22" idx="6"/>
            </p:cNvCxnSpPr>
            <p:nvPr/>
          </p:nvCxnSpPr>
          <p:spPr>
            <a:xfrm flipH="1">
              <a:off x="4245027" y="2219077"/>
              <a:ext cx="3019366" cy="12557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9F5CF6F-E423-4444-BBC2-6DB26EDEC205}"/>
                </a:ext>
              </a:extLst>
            </p:cNvPr>
            <p:cNvSpPr txBox="1"/>
            <p:nvPr/>
          </p:nvSpPr>
          <p:spPr>
            <a:xfrm>
              <a:off x="2656870" y="246822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0333545-DB53-1949-894C-9A331BCCEA6C}"/>
                </a:ext>
              </a:extLst>
            </p:cNvPr>
            <p:cNvSpPr txBox="1"/>
            <p:nvPr/>
          </p:nvSpPr>
          <p:spPr>
            <a:xfrm>
              <a:off x="5271286" y="1935824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24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2E9E0F4-4748-D84B-9DFB-925960195D29}"/>
                </a:ext>
              </a:extLst>
            </p:cNvPr>
            <p:cNvSpPr txBox="1"/>
            <p:nvPr/>
          </p:nvSpPr>
          <p:spPr>
            <a:xfrm>
              <a:off x="3002651" y="308611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C041CF2-3E74-5642-B5E6-3BA847A9A0F7}"/>
                </a:ext>
              </a:extLst>
            </p:cNvPr>
            <p:cNvSpPr txBox="1"/>
            <p:nvPr/>
          </p:nvSpPr>
          <p:spPr>
            <a:xfrm>
              <a:off x="2715014" y="397886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14F1A29-5B5C-924C-99A2-5B328BC59A7C}"/>
                </a:ext>
              </a:extLst>
            </p:cNvPr>
            <p:cNvSpPr txBox="1"/>
            <p:nvPr/>
          </p:nvSpPr>
          <p:spPr>
            <a:xfrm>
              <a:off x="3643320" y="394179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5A25820-B9C1-F644-A8E6-3545964FF571}"/>
                </a:ext>
              </a:extLst>
            </p:cNvPr>
            <p:cNvSpPr txBox="1"/>
            <p:nvPr/>
          </p:nvSpPr>
          <p:spPr>
            <a:xfrm>
              <a:off x="4461419" y="351885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652C1A5-B9DA-8E4B-A28A-BA7BE4F66F52}"/>
                </a:ext>
              </a:extLst>
            </p:cNvPr>
            <p:cNvSpPr txBox="1"/>
            <p:nvPr/>
          </p:nvSpPr>
          <p:spPr>
            <a:xfrm>
              <a:off x="4083039" y="442499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741FED9-3966-4E43-889A-930231813A75}"/>
                </a:ext>
              </a:extLst>
            </p:cNvPr>
            <p:cNvSpPr txBox="1"/>
            <p:nvPr/>
          </p:nvSpPr>
          <p:spPr>
            <a:xfrm>
              <a:off x="5296948" y="4849691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6E31A29-0172-2E46-99EB-4023FF43C3C2}"/>
                </a:ext>
              </a:extLst>
            </p:cNvPr>
            <p:cNvSpPr txBox="1"/>
            <p:nvPr/>
          </p:nvSpPr>
          <p:spPr>
            <a:xfrm>
              <a:off x="7010269" y="401379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8B77BAA-A997-4346-B95F-9BEB91B6AD82}"/>
                </a:ext>
              </a:extLst>
            </p:cNvPr>
            <p:cNvSpPr txBox="1"/>
            <p:nvPr/>
          </p:nvSpPr>
          <p:spPr>
            <a:xfrm>
              <a:off x="7087874" y="28007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15D8D07-BA02-7540-8BCA-252B7FCADA67}"/>
                </a:ext>
              </a:extLst>
            </p:cNvPr>
            <p:cNvSpPr txBox="1"/>
            <p:nvPr/>
          </p:nvSpPr>
          <p:spPr>
            <a:xfrm>
              <a:off x="5772120" y="3580698"/>
              <a:ext cx="424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8B64542-C5B5-7C4A-8500-8B1D81B966B5}"/>
                </a:ext>
              </a:extLst>
            </p:cNvPr>
            <p:cNvSpPr txBox="1"/>
            <p:nvPr/>
          </p:nvSpPr>
          <p:spPr>
            <a:xfrm>
              <a:off x="5116198" y="267908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23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1529B64-489C-854F-8A77-D63C8A00FD2F}"/>
                </a:ext>
              </a:extLst>
            </p:cNvPr>
            <p:cNvCxnSpPr>
              <a:cxnSpLocks/>
              <a:stCxn id="16" idx="2"/>
              <a:endCxn id="25" idx="5"/>
            </p:cNvCxnSpPr>
            <p:nvPr/>
          </p:nvCxnSpPr>
          <p:spPr>
            <a:xfrm flipH="1" flipV="1">
              <a:off x="5147613" y="4208146"/>
              <a:ext cx="2330717" cy="84157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C596C4A-4C54-2649-B451-C2111B9C5B34}"/>
                </a:ext>
              </a:extLst>
            </p:cNvPr>
            <p:cNvSpPr txBox="1"/>
            <p:nvPr/>
          </p:nvSpPr>
          <p:spPr>
            <a:xfrm>
              <a:off x="6079547" y="430820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</a:t>
              </a: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D1E2D39-E14C-6247-A433-82F56D36C220}"/>
                </a:ext>
              </a:extLst>
            </p:cNvPr>
            <p:cNvCxnSpPr>
              <a:cxnSpLocks/>
              <a:stCxn id="23" idx="3"/>
              <a:endCxn id="25" idx="7"/>
            </p:cNvCxnSpPr>
            <p:nvPr/>
          </p:nvCxnSpPr>
          <p:spPr>
            <a:xfrm flipH="1">
              <a:off x="5147613" y="2360516"/>
              <a:ext cx="2173274" cy="156475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487599C-323B-3849-8125-5EF62904BD0E}"/>
                </a:ext>
              </a:extLst>
            </p:cNvPr>
            <p:cNvSpPr txBox="1"/>
            <p:nvPr/>
          </p:nvSpPr>
          <p:spPr>
            <a:xfrm>
              <a:off x="5858974" y="28823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18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D720A9F-4AB5-1A4F-930E-01BE344285B2}"/>
                </a:ext>
              </a:extLst>
            </p:cNvPr>
            <p:cNvSpPr txBox="1"/>
            <p:nvPr/>
          </p:nvSpPr>
          <p:spPr>
            <a:xfrm>
              <a:off x="2515227" y="5818810"/>
              <a:ext cx="39164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Not a spanning tree (cyclic)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0324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424C-3A79-A842-AE74-43D494A7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Minimum spanning tree?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C020C-D13D-3C4E-81D0-E5F634D0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grpSp>
        <p:nvGrpSpPr>
          <p:cNvPr id="113" name="Group 112" descr="this is an example of a spanning tree">
            <a:extLst>
              <a:ext uri="{FF2B5EF4-FFF2-40B4-BE49-F238E27FC236}">
                <a16:creationId xmlns:a16="http://schemas.microsoft.com/office/drawing/2014/main" id="{BC1ED359-84FF-D64A-AEAD-A1B9779CBE0B}"/>
              </a:ext>
            </a:extLst>
          </p:cNvPr>
          <p:cNvGrpSpPr/>
          <p:nvPr/>
        </p:nvGrpSpPr>
        <p:grpSpPr>
          <a:xfrm>
            <a:off x="1895762" y="1935824"/>
            <a:ext cx="6213176" cy="4344651"/>
            <a:chOff x="1895762" y="1935824"/>
            <a:chExt cx="6213176" cy="4344651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E2733F6-732F-1C4F-BAC8-593B576BB5A9}"/>
                </a:ext>
              </a:extLst>
            </p:cNvPr>
            <p:cNvSpPr/>
            <p:nvPr/>
          </p:nvSpPr>
          <p:spPr>
            <a:xfrm>
              <a:off x="1895762" y="3256019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7607D59-D4E8-CD4A-851E-4470E3AD51BB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DEE1CD6-8370-554F-AD30-489D562FF6BA}"/>
                </a:ext>
              </a:extLst>
            </p:cNvPr>
            <p:cNvSpPr/>
            <p:nvPr/>
          </p:nvSpPr>
          <p:spPr>
            <a:xfrm>
              <a:off x="3679671" y="2219077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DDFBB78-4AF8-D448-BE36-93B6ED835225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842A8FB-279D-D14A-AB44-038CF7AC0946}"/>
                </a:ext>
              </a:extLst>
            </p:cNvPr>
            <p:cNvSpPr/>
            <p:nvPr/>
          </p:nvSpPr>
          <p:spPr>
            <a:xfrm>
              <a:off x="7264393" y="2019052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333B01F-E6FC-E041-B3A2-F7E2F82828E9}"/>
                </a:ext>
              </a:extLst>
            </p:cNvPr>
            <p:cNvSpPr/>
            <p:nvPr/>
          </p:nvSpPr>
          <p:spPr>
            <a:xfrm>
              <a:off x="6906878" y="3483748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8EC935F-65E4-0A43-B050-954931405763}"/>
                </a:ext>
              </a:extLst>
            </p:cNvPr>
            <p:cNvSpPr/>
            <p:nvPr/>
          </p:nvSpPr>
          <p:spPr>
            <a:xfrm>
              <a:off x="4818345" y="3866682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3B6DEF5-9D6A-9B40-8600-071A90C147A0}"/>
                </a:ext>
              </a:extLst>
            </p:cNvPr>
            <p:cNvCxnSpPr>
              <a:cxnSpLocks/>
              <a:stCxn id="19" idx="5"/>
              <a:endCxn id="20" idx="1"/>
            </p:cNvCxnSpPr>
            <p:nvPr/>
          </p:nvCxnSpPr>
          <p:spPr>
            <a:xfrm>
              <a:off x="2225030" y="3597483"/>
              <a:ext cx="1245475" cy="145223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E939842-90F2-A045-891D-0F1EFE09FE45}"/>
                </a:ext>
              </a:extLst>
            </p:cNvPr>
            <p:cNvCxnSpPr>
              <a:cxnSpLocks/>
              <a:stCxn id="19" idx="0"/>
              <a:endCxn id="21" idx="2"/>
            </p:cNvCxnSpPr>
            <p:nvPr/>
          </p:nvCxnSpPr>
          <p:spPr>
            <a:xfrm flipV="1">
              <a:off x="2088643" y="2419102"/>
              <a:ext cx="1591028" cy="836917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7B1FD5-1AE0-6A45-925B-B3C2134A7B2D}"/>
                </a:ext>
              </a:extLst>
            </p:cNvPr>
            <p:cNvCxnSpPr>
              <a:cxnSpLocks/>
              <a:stCxn id="19" idx="6"/>
              <a:endCxn id="22" idx="2"/>
            </p:cNvCxnSpPr>
            <p:nvPr/>
          </p:nvCxnSpPr>
          <p:spPr>
            <a:xfrm>
              <a:off x="2281524" y="3456044"/>
              <a:ext cx="1577741" cy="18767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1E04EC2-AF8E-D549-B6F2-5A94A0885832}"/>
                </a:ext>
              </a:extLst>
            </p:cNvPr>
            <p:cNvCxnSpPr>
              <a:cxnSpLocks/>
              <a:stCxn id="21" idx="6"/>
              <a:endCxn id="23" idx="1"/>
            </p:cNvCxnSpPr>
            <p:nvPr/>
          </p:nvCxnSpPr>
          <p:spPr>
            <a:xfrm flipV="1">
              <a:off x="4065433" y="2077638"/>
              <a:ext cx="3255454" cy="34146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E8257CD-AEB2-3E48-8E5B-FDBE2DB8C402}"/>
                </a:ext>
              </a:extLst>
            </p:cNvPr>
            <p:cNvCxnSpPr>
              <a:cxnSpLocks/>
              <a:stCxn id="22" idx="4"/>
              <a:endCxn id="20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37138ED-9336-1C47-8736-8E79F63A4289}"/>
                </a:ext>
              </a:extLst>
            </p:cNvPr>
            <p:cNvCxnSpPr>
              <a:cxnSpLocks/>
              <a:stCxn id="24" idx="2"/>
              <a:endCxn id="25" idx="6"/>
            </p:cNvCxnSpPr>
            <p:nvPr/>
          </p:nvCxnSpPr>
          <p:spPr>
            <a:xfrm flipH="1">
              <a:off x="5204107" y="3683773"/>
              <a:ext cx="1702771" cy="382934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E978C2D-925B-5B43-B607-166F9ACE4F8F}"/>
                </a:ext>
              </a:extLst>
            </p:cNvPr>
            <p:cNvCxnSpPr>
              <a:cxnSpLocks/>
              <a:stCxn id="23" idx="5"/>
              <a:endCxn id="24" idx="7"/>
            </p:cNvCxnSpPr>
            <p:nvPr/>
          </p:nvCxnSpPr>
          <p:spPr>
            <a:xfrm flipH="1">
              <a:off x="7236146" y="2360516"/>
              <a:ext cx="357515" cy="1181818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AD17735-9E40-F04C-BAD7-9FCDD66897E3}"/>
                </a:ext>
              </a:extLst>
            </p:cNvPr>
            <p:cNvSpPr/>
            <p:nvPr/>
          </p:nvSpPr>
          <p:spPr>
            <a:xfrm>
              <a:off x="7478330" y="4849691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1E16A06-8C09-894A-9631-22BD506ACCF2}"/>
                </a:ext>
              </a:extLst>
            </p:cNvPr>
            <p:cNvCxnSpPr>
              <a:cxnSpLocks/>
              <a:stCxn id="25" idx="4"/>
              <a:endCxn id="20" idx="6"/>
            </p:cNvCxnSpPr>
            <p:nvPr/>
          </p:nvCxnSpPr>
          <p:spPr>
            <a:xfrm flipH="1">
              <a:off x="3799773" y="4266732"/>
              <a:ext cx="1211453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AB4BD6A-D95F-DB4D-BBD7-FE7E67968FDC}"/>
                </a:ext>
              </a:extLst>
            </p:cNvPr>
            <p:cNvCxnSpPr>
              <a:cxnSpLocks/>
              <a:stCxn id="25" idx="1"/>
              <a:endCxn id="22" idx="5"/>
            </p:cNvCxnSpPr>
            <p:nvPr/>
          </p:nvCxnSpPr>
          <p:spPr>
            <a:xfrm flipH="1" flipV="1">
              <a:off x="4188533" y="3616250"/>
              <a:ext cx="686306" cy="309018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 descr="example of a weighted undirected graph">
              <a:extLst>
                <a:ext uri="{FF2B5EF4-FFF2-40B4-BE49-F238E27FC236}">
                  <a16:creationId xmlns:a16="http://schemas.microsoft.com/office/drawing/2014/main" id="{B49BACCF-0FB5-DA45-BCC8-78CA171ECB8C}"/>
                </a:ext>
              </a:extLst>
            </p:cNvPr>
            <p:cNvCxnSpPr>
              <a:cxnSpLocks/>
              <a:stCxn id="16" idx="2"/>
              <a:endCxn id="20" idx="5"/>
            </p:cNvCxnSpPr>
            <p:nvPr/>
          </p:nvCxnSpPr>
          <p:spPr>
            <a:xfrm flipH="1">
              <a:off x="3743279" y="5049716"/>
              <a:ext cx="3735051" cy="28287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AF4D2DE-2D83-0B44-A76B-617B8047E057}"/>
                </a:ext>
              </a:extLst>
            </p:cNvPr>
            <p:cNvCxnSpPr>
              <a:cxnSpLocks/>
              <a:stCxn id="16" idx="1"/>
              <a:endCxn id="24" idx="5"/>
            </p:cNvCxnSpPr>
            <p:nvPr/>
          </p:nvCxnSpPr>
          <p:spPr>
            <a:xfrm flipH="1" flipV="1">
              <a:off x="7236146" y="3825212"/>
              <a:ext cx="298678" cy="1083065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4CE0897-BE0F-6C48-BF91-552268E95B17}"/>
                </a:ext>
              </a:extLst>
            </p:cNvPr>
            <p:cNvCxnSpPr>
              <a:cxnSpLocks/>
              <a:stCxn id="23" idx="2"/>
              <a:endCxn id="22" idx="6"/>
            </p:cNvCxnSpPr>
            <p:nvPr/>
          </p:nvCxnSpPr>
          <p:spPr>
            <a:xfrm flipH="1">
              <a:off x="4245027" y="2219077"/>
              <a:ext cx="3019366" cy="12557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9F5CF6F-E423-4444-BBC2-6DB26EDEC205}"/>
                </a:ext>
              </a:extLst>
            </p:cNvPr>
            <p:cNvSpPr txBox="1"/>
            <p:nvPr/>
          </p:nvSpPr>
          <p:spPr>
            <a:xfrm>
              <a:off x="2656870" y="246822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0333545-DB53-1949-894C-9A331BCCEA6C}"/>
                </a:ext>
              </a:extLst>
            </p:cNvPr>
            <p:cNvSpPr txBox="1"/>
            <p:nvPr/>
          </p:nvSpPr>
          <p:spPr>
            <a:xfrm>
              <a:off x="5271286" y="1935824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24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2E9E0F4-4748-D84B-9DFB-925960195D29}"/>
                </a:ext>
              </a:extLst>
            </p:cNvPr>
            <p:cNvSpPr txBox="1"/>
            <p:nvPr/>
          </p:nvSpPr>
          <p:spPr>
            <a:xfrm>
              <a:off x="3002651" y="308611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C041CF2-3E74-5642-B5E6-3BA847A9A0F7}"/>
                </a:ext>
              </a:extLst>
            </p:cNvPr>
            <p:cNvSpPr txBox="1"/>
            <p:nvPr/>
          </p:nvSpPr>
          <p:spPr>
            <a:xfrm>
              <a:off x="2715014" y="397886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14F1A29-5B5C-924C-99A2-5B328BC59A7C}"/>
                </a:ext>
              </a:extLst>
            </p:cNvPr>
            <p:cNvSpPr txBox="1"/>
            <p:nvPr/>
          </p:nvSpPr>
          <p:spPr>
            <a:xfrm>
              <a:off x="3643320" y="394179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5A25820-B9C1-F644-A8E6-3545964FF571}"/>
                </a:ext>
              </a:extLst>
            </p:cNvPr>
            <p:cNvSpPr txBox="1"/>
            <p:nvPr/>
          </p:nvSpPr>
          <p:spPr>
            <a:xfrm>
              <a:off x="4461419" y="351885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652C1A5-B9DA-8E4B-A28A-BA7BE4F66F52}"/>
                </a:ext>
              </a:extLst>
            </p:cNvPr>
            <p:cNvSpPr txBox="1"/>
            <p:nvPr/>
          </p:nvSpPr>
          <p:spPr>
            <a:xfrm>
              <a:off x="4083039" y="442499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741FED9-3966-4E43-889A-930231813A75}"/>
                </a:ext>
              </a:extLst>
            </p:cNvPr>
            <p:cNvSpPr txBox="1"/>
            <p:nvPr/>
          </p:nvSpPr>
          <p:spPr>
            <a:xfrm>
              <a:off x="5296948" y="4849691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6E31A29-0172-2E46-99EB-4023FF43C3C2}"/>
                </a:ext>
              </a:extLst>
            </p:cNvPr>
            <p:cNvSpPr txBox="1"/>
            <p:nvPr/>
          </p:nvSpPr>
          <p:spPr>
            <a:xfrm>
              <a:off x="7010269" y="401379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8B77BAA-A997-4346-B95F-9BEB91B6AD82}"/>
                </a:ext>
              </a:extLst>
            </p:cNvPr>
            <p:cNvSpPr txBox="1"/>
            <p:nvPr/>
          </p:nvSpPr>
          <p:spPr>
            <a:xfrm>
              <a:off x="7087874" y="28007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15D8D07-BA02-7540-8BCA-252B7FCADA67}"/>
                </a:ext>
              </a:extLst>
            </p:cNvPr>
            <p:cNvSpPr txBox="1"/>
            <p:nvPr/>
          </p:nvSpPr>
          <p:spPr>
            <a:xfrm>
              <a:off x="5772120" y="3580698"/>
              <a:ext cx="424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8B64542-C5B5-7C4A-8500-8B1D81B966B5}"/>
                </a:ext>
              </a:extLst>
            </p:cNvPr>
            <p:cNvSpPr txBox="1"/>
            <p:nvPr/>
          </p:nvSpPr>
          <p:spPr>
            <a:xfrm>
              <a:off x="5116198" y="267908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23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1529B64-489C-854F-8A77-D63C8A00FD2F}"/>
                </a:ext>
              </a:extLst>
            </p:cNvPr>
            <p:cNvCxnSpPr>
              <a:cxnSpLocks/>
              <a:stCxn id="16" idx="2"/>
              <a:endCxn id="25" idx="5"/>
            </p:cNvCxnSpPr>
            <p:nvPr/>
          </p:nvCxnSpPr>
          <p:spPr>
            <a:xfrm flipH="1" flipV="1">
              <a:off x="5147613" y="4208146"/>
              <a:ext cx="2330717" cy="84157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C596C4A-4C54-2649-B451-C2111B9C5B34}"/>
                </a:ext>
              </a:extLst>
            </p:cNvPr>
            <p:cNvSpPr txBox="1"/>
            <p:nvPr/>
          </p:nvSpPr>
          <p:spPr>
            <a:xfrm>
              <a:off x="6079547" y="430820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</a:t>
              </a: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D1E2D39-E14C-6247-A433-82F56D36C220}"/>
                </a:ext>
              </a:extLst>
            </p:cNvPr>
            <p:cNvCxnSpPr>
              <a:cxnSpLocks/>
              <a:stCxn id="23" idx="3"/>
              <a:endCxn id="25" idx="7"/>
            </p:cNvCxnSpPr>
            <p:nvPr/>
          </p:nvCxnSpPr>
          <p:spPr>
            <a:xfrm flipH="1">
              <a:off x="5147613" y="2360516"/>
              <a:ext cx="2173274" cy="156475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487599C-323B-3849-8125-5EF62904BD0E}"/>
                </a:ext>
              </a:extLst>
            </p:cNvPr>
            <p:cNvSpPr txBox="1"/>
            <p:nvPr/>
          </p:nvSpPr>
          <p:spPr>
            <a:xfrm>
              <a:off x="5858974" y="28823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18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D720A9F-4AB5-1A4F-930E-01BE344285B2}"/>
                </a:ext>
              </a:extLst>
            </p:cNvPr>
            <p:cNvSpPr txBox="1"/>
            <p:nvPr/>
          </p:nvSpPr>
          <p:spPr>
            <a:xfrm>
              <a:off x="1895762" y="5818810"/>
              <a:ext cx="62131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Spanning tree of cost: 4+6+8+5+11+9+7=50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2699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424C-3A79-A842-AE74-43D494A7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Minimum spanning tree?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C020C-D13D-3C4E-81D0-E5F634D0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grpSp>
        <p:nvGrpSpPr>
          <p:cNvPr id="113" name="Group 112" descr="this is an example of a spanning tree">
            <a:extLst>
              <a:ext uri="{FF2B5EF4-FFF2-40B4-BE49-F238E27FC236}">
                <a16:creationId xmlns:a16="http://schemas.microsoft.com/office/drawing/2014/main" id="{BC1ED359-84FF-D64A-AEAD-A1B9779CBE0B}"/>
              </a:ext>
            </a:extLst>
          </p:cNvPr>
          <p:cNvGrpSpPr/>
          <p:nvPr/>
        </p:nvGrpSpPr>
        <p:grpSpPr>
          <a:xfrm>
            <a:off x="1895762" y="1935824"/>
            <a:ext cx="6556218" cy="4344651"/>
            <a:chOff x="1895762" y="1935824"/>
            <a:chExt cx="6556218" cy="4344651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E2733F6-732F-1C4F-BAC8-593B576BB5A9}"/>
                </a:ext>
              </a:extLst>
            </p:cNvPr>
            <p:cNvSpPr/>
            <p:nvPr/>
          </p:nvSpPr>
          <p:spPr>
            <a:xfrm>
              <a:off x="1895762" y="3256019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7607D59-D4E8-CD4A-851E-4470E3AD51BB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DEE1CD6-8370-554F-AD30-489D562FF6BA}"/>
                </a:ext>
              </a:extLst>
            </p:cNvPr>
            <p:cNvSpPr/>
            <p:nvPr/>
          </p:nvSpPr>
          <p:spPr>
            <a:xfrm>
              <a:off x="3679671" y="2219077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DDFBB78-4AF8-D448-BE36-93B6ED835225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842A8FB-279D-D14A-AB44-038CF7AC0946}"/>
                </a:ext>
              </a:extLst>
            </p:cNvPr>
            <p:cNvSpPr/>
            <p:nvPr/>
          </p:nvSpPr>
          <p:spPr>
            <a:xfrm>
              <a:off x="7264393" y="2019052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333B01F-E6FC-E041-B3A2-F7E2F82828E9}"/>
                </a:ext>
              </a:extLst>
            </p:cNvPr>
            <p:cNvSpPr/>
            <p:nvPr/>
          </p:nvSpPr>
          <p:spPr>
            <a:xfrm>
              <a:off x="6906878" y="3483748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8EC935F-65E4-0A43-B050-954931405763}"/>
                </a:ext>
              </a:extLst>
            </p:cNvPr>
            <p:cNvSpPr/>
            <p:nvPr/>
          </p:nvSpPr>
          <p:spPr>
            <a:xfrm>
              <a:off x="4818345" y="3866682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3B6DEF5-9D6A-9B40-8600-071A90C147A0}"/>
                </a:ext>
              </a:extLst>
            </p:cNvPr>
            <p:cNvCxnSpPr>
              <a:cxnSpLocks/>
              <a:stCxn id="19" idx="5"/>
              <a:endCxn id="20" idx="1"/>
            </p:cNvCxnSpPr>
            <p:nvPr/>
          </p:nvCxnSpPr>
          <p:spPr>
            <a:xfrm>
              <a:off x="2225030" y="3597483"/>
              <a:ext cx="1245475" cy="1452233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E939842-90F2-A045-891D-0F1EFE09FE45}"/>
                </a:ext>
              </a:extLst>
            </p:cNvPr>
            <p:cNvCxnSpPr>
              <a:cxnSpLocks/>
              <a:stCxn id="19" idx="0"/>
              <a:endCxn id="21" idx="2"/>
            </p:cNvCxnSpPr>
            <p:nvPr/>
          </p:nvCxnSpPr>
          <p:spPr>
            <a:xfrm flipV="1">
              <a:off x="2088643" y="2419102"/>
              <a:ext cx="1591028" cy="836917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7B1FD5-1AE0-6A45-925B-B3C2134A7B2D}"/>
                </a:ext>
              </a:extLst>
            </p:cNvPr>
            <p:cNvCxnSpPr>
              <a:cxnSpLocks/>
              <a:stCxn id="19" idx="6"/>
              <a:endCxn id="22" idx="2"/>
            </p:cNvCxnSpPr>
            <p:nvPr/>
          </p:nvCxnSpPr>
          <p:spPr>
            <a:xfrm>
              <a:off x="2281524" y="3456044"/>
              <a:ext cx="1577741" cy="18767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1E04EC2-AF8E-D549-B6F2-5A94A0885832}"/>
                </a:ext>
              </a:extLst>
            </p:cNvPr>
            <p:cNvCxnSpPr>
              <a:cxnSpLocks/>
              <a:stCxn id="21" idx="6"/>
              <a:endCxn id="23" idx="1"/>
            </p:cNvCxnSpPr>
            <p:nvPr/>
          </p:nvCxnSpPr>
          <p:spPr>
            <a:xfrm flipV="1">
              <a:off x="4065433" y="2077638"/>
              <a:ext cx="3255454" cy="34146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E8257CD-AEB2-3E48-8E5B-FDBE2DB8C402}"/>
                </a:ext>
              </a:extLst>
            </p:cNvPr>
            <p:cNvCxnSpPr>
              <a:cxnSpLocks/>
              <a:stCxn id="22" idx="4"/>
              <a:endCxn id="20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37138ED-9336-1C47-8736-8E79F63A4289}"/>
                </a:ext>
              </a:extLst>
            </p:cNvPr>
            <p:cNvCxnSpPr>
              <a:cxnSpLocks/>
              <a:stCxn id="24" idx="2"/>
              <a:endCxn id="25" idx="6"/>
            </p:cNvCxnSpPr>
            <p:nvPr/>
          </p:nvCxnSpPr>
          <p:spPr>
            <a:xfrm flipH="1">
              <a:off x="5204107" y="3683773"/>
              <a:ext cx="1702771" cy="382934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E978C2D-925B-5B43-B607-166F9ACE4F8F}"/>
                </a:ext>
              </a:extLst>
            </p:cNvPr>
            <p:cNvCxnSpPr>
              <a:cxnSpLocks/>
              <a:stCxn id="23" idx="5"/>
              <a:endCxn id="24" idx="7"/>
            </p:cNvCxnSpPr>
            <p:nvPr/>
          </p:nvCxnSpPr>
          <p:spPr>
            <a:xfrm flipH="1">
              <a:off x="7236146" y="2360516"/>
              <a:ext cx="357515" cy="1181818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AD17735-9E40-F04C-BAD7-9FCDD66897E3}"/>
                </a:ext>
              </a:extLst>
            </p:cNvPr>
            <p:cNvSpPr/>
            <p:nvPr/>
          </p:nvSpPr>
          <p:spPr>
            <a:xfrm>
              <a:off x="7478330" y="4849691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1E16A06-8C09-894A-9631-22BD506ACCF2}"/>
                </a:ext>
              </a:extLst>
            </p:cNvPr>
            <p:cNvCxnSpPr>
              <a:cxnSpLocks/>
              <a:stCxn id="25" idx="4"/>
              <a:endCxn id="20" idx="6"/>
            </p:cNvCxnSpPr>
            <p:nvPr/>
          </p:nvCxnSpPr>
          <p:spPr>
            <a:xfrm flipH="1">
              <a:off x="3799773" y="4266732"/>
              <a:ext cx="1211453" cy="924423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AB4BD6A-D95F-DB4D-BBD7-FE7E67968FDC}"/>
                </a:ext>
              </a:extLst>
            </p:cNvPr>
            <p:cNvCxnSpPr>
              <a:cxnSpLocks/>
              <a:stCxn id="25" idx="1"/>
              <a:endCxn id="22" idx="5"/>
            </p:cNvCxnSpPr>
            <p:nvPr/>
          </p:nvCxnSpPr>
          <p:spPr>
            <a:xfrm flipH="1" flipV="1">
              <a:off x="4188533" y="3616250"/>
              <a:ext cx="686306" cy="30901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 descr="example of a weighted undirected graph">
              <a:extLst>
                <a:ext uri="{FF2B5EF4-FFF2-40B4-BE49-F238E27FC236}">
                  <a16:creationId xmlns:a16="http://schemas.microsoft.com/office/drawing/2014/main" id="{B49BACCF-0FB5-DA45-BCC8-78CA171ECB8C}"/>
                </a:ext>
              </a:extLst>
            </p:cNvPr>
            <p:cNvCxnSpPr>
              <a:cxnSpLocks/>
              <a:stCxn id="16" idx="2"/>
              <a:endCxn id="20" idx="5"/>
            </p:cNvCxnSpPr>
            <p:nvPr/>
          </p:nvCxnSpPr>
          <p:spPr>
            <a:xfrm flipH="1">
              <a:off x="3743279" y="5049716"/>
              <a:ext cx="3735051" cy="28287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AF4D2DE-2D83-0B44-A76B-617B8047E057}"/>
                </a:ext>
              </a:extLst>
            </p:cNvPr>
            <p:cNvCxnSpPr>
              <a:cxnSpLocks/>
              <a:stCxn id="16" idx="1"/>
              <a:endCxn id="24" idx="5"/>
            </p:cNvCxnSpPr>
            <p:nvPr/>
          </p:nvCxnSpPr>
          <p:spPr>
            <a:xfrm flipH="1" flipV="1">
              <a:off x="7236146" y="3825212"/>
              <a:ext cx="298678" cy="1083065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4CE0897-BE0F-6C48-BF91-552268E95B17}"/>
                </a:ext>
              </a:extLst>
            </p:cNvPr>
            <p:cNvCxnSpPr>
              <a:cxnSpLocks/>
              <a:stCxn id="23" idx="2"/>
              <a:endCxn id="22" idx="6"/>
            </p:cNvCxnSpPr>
            <p:nvPr/>
          </p:nvCxnSpPr>
          <p:spPr>
            <a:xfrm flipH="1">
              <a:off x="4245027" y="2219077"/>
              <a:ext cx="3019366" cy="12557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9F5CF6F-E423-4444-BBC2-6DB26EDEC205}"/>
                </a:ext>
              </a:extLst>
            </p:cNvPr>
            <p:cNvSpPr txBox="1"/>
            <p:nvPr/>
          </p:nvSpPr>
          <p:spPr>
            <a:xfrm>
              <a:off x="2656870" y="246822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0333545-DB53-1949-894C-9A331BCCEA6C}"/>
                </a:ext>
              </a:extLst>
            </p:cNvPr>
            <p:cNvSpPr txBox="1"/>
            <p:nvPr/>
          </p:nvSpPr>
          <p:spPr>
            <a:xfrm>
              <a:off x="5271286" y="1935824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24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2E9E0F4-4748-D84B-9DFB-925960195D29}"/>
                </a:ext>
              </a:extLst>
            </p:cNvPr>
            <p:cNvSpPr txBox="1"/>
            <p:nvPr/>
          </p:nvSpPr>
          <p:spPr>
            <a:xfrm>
              <a:off x="3002651" y="308611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C041CF2-3E74-5642-B5E6-3BA847A9A0F7}"/>
                </a:ext>
              </a:extLst>
            </p:cNvPr>
            <p:cNvSpPr txBox="1"/>
            <p:nvPr/>
          </p:nvSpPr>
          <p:spPr>
            <a:xfrm>
              <a:off x="2715014" y="397886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14F1A29-5B5C-924C-99A2-5B328BC59A7C}"/>
                </a:ext>
              </a:extLst>
            </p:cNvPr>
            <p:cNvSpPr txBox="1"/>
            <p:nvPr/>
          </p:nvSpPr>
          <p:spPr>
            <a:xfrm>
              <a:off x="3643320" y="394179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5A25820-B9C1-F644-A8E6-3545964FF571}"/>
                </a:ext>
              </a:extLst>
            </p:cNvPr>
            <p:cNvSpPr txBox="1"/>
            <p:nvPr/>
          </p:nvSpPr>
          <p:spPr>
            <a:xfrm>
              <a:off x="4461419" y="351885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652C1A5-B9DA-8E4B-A28A-BA7BE4F66F52}"/>
                </a:ext>
              </a:extLst>
            </p:cNvPr>
            <p:cNvSpPr txBox="1"/>
            <p:nvPr/>
          </p:nvSpPr>
          <p:spPr>
            <a:xfrm>
              <a:off x="4083039" y="442499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741FED9-3966-4E43-889A-930231813A75}"/>
                </a:ext>
              </a:extLst>
            </p:cNvPr>
            <p:cNvSpPr txBox="1"/>
            <p:nvPr/>
          </p:nvSpPr>
          <p:spPr>
            <a:xfrm>
              <a:off x="5296948" y="4849691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6E31A29-0172-2E46-99EB-4023FF43C3C2}"/>
                </a:ext>
              </a:extLst>
            </p:cNvPr>
            <p:cNvSpPr txBox="1"/>
            <p:nvPr/>
          </p:nvSpPr>
          <p:spPr>
            <a:xfrm>
              <a:off x="7010269" y="401379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8B77BAA-A997-4346-B95F-9BEB91B6AD82}"/>
                </a:ext>
              </a:extLst>
            </p:cNvPr>
            <p:cNvSpPr txBox="1"/>
            <p:nvPr/>
          </p:nvSpPr>
          <p:spPr>
            <a:xfrm>
              <a:off x="7087874" y="28007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15D8D07-BA02-7540-8BCA-252B7FCADA67}"/>
                </a:ext>
              </a:extLst>
            </p:cNvPr>
            <p:cNvSpPr txBox="1"/>
            <p:nvPr/>
          </p:nvSpPr>
          <p:spPr>
            <a:xfrm>
              <a:off x="5772120" y="3580698"/>
              <a:ext cx="424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8B64542-C5B5-7C4A-8500-8B1D81B966B5}"/>
                </a:ext>
              </a:extLst>
            </p:cNvPr>
            <p:cNvSpPr txBox="1"/>
            <p:nvPr/>
          </p:nvSpPr>
          <p:spPr>
            <a:xfrm>
              <a:off x="5116198" y="267908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23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1529B64-489C-854F-8A77-D63C8A00FD2F}"/>
                </a:ext>
              </a:extLst>
            </p:cNvPr>
            <p:cNvCxnSpPr>
              <a:cxnSpLocks/>
              <a:stCxn id="16" idx="2"/>
              <a:endCxn id="25" idx="5"/>
            </p:cNvCxnSpPr>
            <p:nvPr/>
          </p:nvCxnSpPr>
          <p:spPr>
            <a:xfrm flipH="1" flipV="1">
              <a:off x="5147613" y="4208146"/>
              <a:ext cx="2330717" cy="84157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C596C4A-4C54-2649-B451-C2111B9C5B34}"/>
                </a:ext>
              </a:extLst>
            </p:cNvPr>
            <p:cNvSpPr txBox="1"/>
            <p:nvPr/>
          </p:nvSpPr>
          <p:spPr>
            <a:xfrm>
              <a:off x="6079547" y="430820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</a:t>
              </a: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D1E2D39-E14C-6247-A433-82F56D36C220}"/>
                </a:ext>
              </a:extLst>
            </p:cNvPr>
            <p:cNvCxnSpPr>
              <a:cxnSpLocks/>
              <a:stCxn id="23" idx="3"/>
              <a:endCxn id="25" idx="7"/>
            </p:cNvCxnSpPr>
            <p:nvPr/>
          </p:nvCxnSpPr>
          <p:spPr>
            <a:xfrm flipH="1">
              <a:off x="5147613" y="2360516"/>
              <a:ext cx="2173274" cy="156475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487599C-323B-3849-8125-5EF62904BD0E}"/>
                </a:ext>
              </a:extLst>
            </p:cNvPr>
            <p:cNvSpPr txBox="1"/>
            <p:nvPr/>
          </p:nvSpPr>
          <p:spPr>
            <a:xfrm>
              <a:off x="5858974" y="28823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18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D720A9F-4AB5-1A4F-930E-01BE344285B2}"/>
                </a:ext>
              </a:extLst>
            </p:cNvPr>
            <p:cNvSpPr txBox="1"/>
            <p:nvPr/>
          </p:nvSpPr>
          <p:spPr>
            <a:xfrm>
              <a:off x="1895762" y="5818810"/>
              <a:ext cx="6556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Spanning tree of cost: 4+6+16+10+11+9+7=63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007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424C-3A79-A842-AE74-43D494A7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Minimum spanning tree?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C020C-D13D-3C4E-81D0-E5F634D0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grpSp>
        <p:nvGrpSpPr>
          <p:cNvPr id="113" name="Group 112" descr="this is an example of a spanning tree">
            <a:extLst>
              <a:ext uri="{FF2B5EF4-FFF2-40B4-BE49-F238E27FC236}">
                <a16:creationId xmlns:a16="http://schemas.microsoft.com/office/drawing/2014/main" id="{BC1ED359-84FF-D64A-AEAD-A1B9779CBE0B}"/>
              </a:ext>
            </a:extLst>
          </p:cNvPr>
          <p:cNvGrpSpPr/>
          <p:nvPr/>
        </p:nvGrpSpPr>
        <p:grpSpPr>
          <a:xfrm>
            <a:off x="1895762" y="1935824"/>
            <a:ext cx="6579045" cy="4344651"/>
            <a:chOff x="1895762" y="1935824"/>
            <a:chExt cx="6579045" cy="4344651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E2733F6-732F-1C4F-BAC8-593B576BB5A9}"/>
                </a:ext>
              </a:extLst>
            </p:cNvPr>
            <p:cNvSpPr/>
            <p:nvPr/>
          </p:nvSpPr>
          <p:spPr>
            <a:xfrm>
              <a:off x="1895762" y="3256019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7607D59-D4E8-CD4A-851E-4470E3AD51BB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DEE1CD6-8370-554F-AD30-489D562FF6BA}"/>
                </a:ext>
              </a:extLst>
            </p:cNvPr>
            <p:cNvSpPr/>
            <p:nvPr/>
          </p:nvSpPr>
          <p:spPr>
            <a:xfrm>
              <a:off x="3679671" y="2219077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DDFBB78-4AF8-D448-BE36-93B6ED835225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842A8FB-279D-D14A-AB44-038CF7AC0946}"/>
                </a:ext>
              </a:extLst>
            </p:cNvPr>
            <p:cNvSpPr/>
            <p:nvPr/>
          </p:nvSpPr>
          <p:spPr>
            <a:xfrm>
              <a:off x="7264393" y="2019052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333B01F-E6FC-E041-B3A2-F7E2F82828E9}"/>
                </a:ext>
              </a:extLst>
            </p:cNvPr>
            <p:cNvSpPr/>
            <p:nvPr/>
          </p:nvSpPr>
          <p:spPr>
            <a:xfrm>
              <a:off x="6906878" y="3483748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8EC935F-65E4-0A43-B050-954931405763}"/>
                </a:ext>
              </a:extLst>
            </p:cNvPr>
            <p:cNvSpPr/>
            <p:nvPr/>
          </p:nvSpPr>
          <p:spPr>
            <a:xfrm>
              <a:off x="4818345" y="3866682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3B6DEF5-9D6A-9B40-8600-071A90C147A0}"/>
                </a:ext>
              </a:extLst>
            </p:cNvPr>
            <p:cNvCxnSpPr>
              <a:cxnSpLocks/>
              <a:stCxn id="19" idx="5"/>
              <a:endCxn id="20" idx="1"/>
            </p:cNvCxnSpPr>
            <p:nvPr/>
          </p:nvCxnSpPr>
          <p:spPr>
            <a:xfrm>
              <a:off x="2225030" y="3597483"/>
              <a:ext cx="1245475" cy="1452233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E939842-90F2-A045-891D-0F1EFE09FE45}"/>
                </a:ext>
              </a:extLst>
            </p:cNvPr>
            <p:cNvCxnSpPr>
              <a:cxnSpLocks/>
              <a:stCxn id="19" idx="0"/>
              <a:endCxn id="21" idx="2"/>
            </p:cNvCxnSpPr>
            <p:nvPr/>
          </p:nvCxnSpPr>
          <p:spPr>
            <a:xfrm flipV="1">
              <a:off x="2088643" y="2419102"/>
              <a:ext cx="1591028" cy="836917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7B1FD5-1AE0-6A45-925B-B3C2134A7B2D}"/>
                </a:ext>
              </a:extLst>
            </p:cNvPr>
            <p:cNvCxnSpPr>
              <a:cxnSpLocks/>
              <a:stCxn id="19" idx="6"/>
              <a:endCxn id="22" idx="2"/>
            </p:cNvCxnSpPr>
            <p:nvPr/>
          </p:nvCxnSpPr>
          <p:spPr>
            <a:xfrm>
              <a:off x="2281524" y="3456044"/>
              <a:ext cx="1577741" cy="1876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1E04EC2-AF8E-D549-B6F2-5A94A0885832}"/>
                </a:ext>
              </a:extLst>
            </p:cNvPr>
            <p:cNvCxnSpPr>
              <a:cxnSpLocks/>
              <a:stCxn id="21" idx="6"/>
              <a:endCxn id="23" idx="1"/>
            </p:cNvCxnSpPr>
            <p:nvPr/>
          </p:nvCxnSpPr>
          <p:spPr>
            <a:xfrm flipV="1">
              <a:off x="4065433" y="2077638"/>
              <a:ext cx="3255454" cy="341464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E8257CD-AEB2-3E48-8E5B-FDBE2DB8C402}"/>
                </a:ext>
              </a:extLst>
            </p:cNvPr>
            <p:cNvCxnSpPr>
              <a:cxnSpLocks/>
              <a:stCxn id="22" idx="4"/>
              <a:endCxn id="20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37138ED-9336-1C47-8736-8E79F63A4289}"/>
                </a:ext>
              </a:extLst>
            </p:cNvPr>
            <p:cNvCxnSpPr>
              <a:cxnSpLocks/>
              <a:stCxn id="24" idx="2"/>
              <a:endCxn id="25" idx="6"/>
            </p:cNvCxnSpPr>
            <p:nvPr/>
          </p:nvCxnSpPr>
          <p:spPr>
            <a:xfrm flipH="1">
              <a:off x="5204107" y="3683773"/>
              <a:ext cx="1702771" cy="3829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E978C2D-925B-5B43-B607-166F9ACE4F8F}"/>
                </a:ext>
              </a:extLst>
            </p:cNvPr>
            <p:cNvCxnSpPr>
              <a:cxnSpLocks/>
              <a:stCxn id="23" idx="5"/>
              <a:endCxn id="24" idx="7"/>
            </p:cNvCxnSpPr>
            <p:nvPr/>
          </p:nvCxnSpPr>
          <p:spPr>
            <a:xfrm flipH="1">
              <a:off x="7236146" y="2360516"/>
              <a:ext cx="357515" cy="1181818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AD17735-9E40-F04C-BAD7-9FCDD66897E3}"/>
                </a:ext>
              </a:extLst>
            </p:cNvPr>
            <p:cNvSpPr/>
            <p:nvPr/>
          </p:nvSpPr>
          <p:spPr>
            <a:xfrm>
              <a:off x="7478330" y="4849691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1E16A06-8C09-894A-9631-22BD506ACCF2}"/>
                </a:ext>
              </a:extLst>
            </p:cNvPr>
            <p:cNvCxnSpPr>
              <a:cxnSpLocks/>
              <a:stCxn id="25" idx="4"/>
              <a:endCxn id="20" idx="6"/>
            </p:cNvCxnSpPr>
            <p:nvPr/>
          </p:nvCxnSpPr>
          <p:spPr>
            <a:xfrm flipH="1">
              <a:off x="3799773" y="4266732"/>
              <a:ext cx="1211453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AB4BD6A-D95F-DB4D-BBD7-FE7E67968FDC}"/>
                </a:ext>
              </a:extLst>
            </p:cNvPr>
            <p:cNvCxnSpPr>
              <a:cxnSpLocks/>
              <a:stCxn id="25" idx="1"/>
              <a:endCxn id="22" idx="5"/>
            </p:cNvCxnSpPr>
            <p:nvPr/>
          </p:nvCxnSpPr>
          <p:spPr>
            <a:xfrm flipH="1" flipV="1">
              <a:off x="4188533" y="3616250"/>
              <a:ext cx="686306" cy="309018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 descr="example of a weighted undirected graph">
              <a:extLst>
                <a:ext uri="{FF2B5EF4-FFF2-40B4-BE49-F238E27FC236}">
                  <a16:creationId xmlns:a16="http://schemas.microsoft.com/office/drawing/2014/main" id="{B49BACCF-0FB5-DA45-BCC8-78CA171ECB8C}"/>
                </a:ext>
              </a:extLst>
            </p:cNvPr>
            <p:cNvCxnSpPr>
              <a:cxnSpLocks/>
              <a:stCxn id="16" idx="2"/>
              <a:endCxn id="20" idx="5"/>
            </p:cNvCxnSpPr>
            <p:nvPr/>
          </p:nvCxnSpPr>
          <p:spPr>
            <a:xfrm flipH="1">
              <a:off x="3743279" y="5049716"/>
              <a:ext cx="3735051" cy="28287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AF4D2DE-2D83-0B44-A76B-617B8047E057}"/>
                </a:ext>
              </a:extLst>
            </p:cNvPr>
            <p:cNvCxnSpPr>
              <a:cxnSpLocks/>
              <a:stCxn id="16" idx="1"/>
              <a:endCxn id="24" idx="5"/>
            </p:cNvCxnSpPr>
            <p:nvPr/>
          </p:nvCxnSpPr>
          <p:spPr>
            <a:xfrm flipH="1" flipV="1">
              <a:off x="7236146" y="3825212"/>
              <a:ext cx="298678" cy="1083065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4CE0897-BE0F-6C48-BF91-552268E95B17}"/>
                </a:ext>
              </a:extLst>
            </p:cNvPr>
            <p:cNvCxnSpPr>
              <a:cxnSpLocks/>
              <a:stCxn id="23" idx="2"/>
              <a:endCxn id="22" idx="6"/>
            </p:cNvCxnSpPr>
            <p:nvPr/>
          </p:nvCxnSpPr>
          <p:spPr>
            <a:xfrm flipH="1">
              <a:off x="4245027" y="2219077"/>
              <a:ext cx="3019366" cy="12557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9F5CF6F-E423-4444-BBC2-6DB26EDEC205}"/>
                </a:ext>
              </a:extLst>
            </p:cNvPr>
            <p:cNvSpPr txBox="1"/>
            <p:nvPr/>
          </p:nvSpPr>
          <p:spPr>
            <a:xfrm>
              <a:off x="2656870" y="246822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0333545-DB53-1949-894C-9A331BCCEA6C}"/>
                </a:ext>
              </a:extLst>
            </p:cNvPr>
            <p:cNvSpPr txBox="1"/>
            <p:nvPr/>
          </p:nvSpPr>
          <p:spPr>
            <a:xfrm>
              <a:off x="5271286" y="1935824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24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2E9E0F4-4748-D84B-9DFB-925960195D29}"/>
                </a:ext>
              </a:extLst>
            </p:cNvPr>
            <p:cNvSpPr txBox="1"/>
            <p:nvPr/>
          </p:nvSpPr>
          <p:spPr>
            <a:xfrm>
              <a:off x="3002651" y="308611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C041CF2-3E74-5642-B5E6-3BA847A9A0F7}"/>
                </a:ext>
              </a:extLst>
            </p:cNvPr>
            <p:cNvSpPr txBox="1"/>
            <p:nvPr/>
          </p:nvSpPr>
          <p:spPr>
            <a:xfrm>
              <a:off x="2715014" y="397886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14F1A29-5B5C-924C-99A2-5B328BC59A7C}"/>
                </a:ext>
              </a:extLst>
            </p:cNvPr>
            <p:cNvSpPr txBox="1"/>
            <p:nvPr/>
          </p:nvSpPr>
          <p:spPr>
            <a:xfrm>
              <a:off x="3643320" y="394179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5A25820-B9C1-F644-A8E6-3545964FF571}"/>
                </a:ext>
              </a:extLst>
            </p:cNvPr>
            <p:cNvSpPr txBox="1"/>
            <p:nvPr/>
          </p:nvSpPr>
          <p:spPr>
            <a:xfrm>
              <a:off x="4461419" y="351885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652C1A5-B9DA-8E4B-A28A-BA7BE4F66F52}"/>
                </a:ext>
              </a:extLst>
            </p:cNvPr>
            <p:cNvSpPr txBox="1"/>
            <p:nvPr/>
          </p:nvSpPr>
          <p:spPr>
            <a:xfrm>
              <a:off x="4083039" y="442499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741FED9-3966-4E43-889A-930231813A75}"/>
                </a:ext>
              </a:extLst>
            </p:cNvPr>
            <p:cNvSpPr txBox="1"/>
            <p:nvPr/>
          </p:nvSpPr>
          <p:spPr>
            <a:xfrm>
              <a:off x="5296948" y="4849691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6E31A29-0172-2E46-99EB-4023FF43C3C2}"/>
                </a:ext>
              </a:extLst>
            </p:cNvPr>
            <p:cNvSpPr txBox="1"/>
            <p:nvPr/>
          </p:nvSpPr>
          <p:spPr>
            <a:xfrm>
              <a:off x="7010269" y="401379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8B77BAA-A997-4346-B95F-9BEB91B6AD82}"/>
                </a:ext>
              </a:extLst>
            </p:cNvPr>
            <p:cNvSpPr txBox="1"/>
            <p:nvPr/>
          </p:nvSpPr>
          <p:spPr>
            <a:xfrm>
              <a:off x="7087874" y="28007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15D8D07-BA02-7540-8BCA-252B7FCADA67}"/>
                </a:ext>
              </a:extLst>
            </p:cNvPr>
            <p:cNvSpPr txBox="1"/>
            <p:nvPr/>
          </p:nvSpPr>
          <p:spPr>
            <a:xfrm>
              <a:off x="5772120" y="3580698"/>
              <a:ext cx="424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8B64542-C5B5-7C4A-8500-8B1D81B966B5}"/>
                </a:ext>
              </a:extLst>
            </p:cNvPr>
            <p:cNvSpPr txBox="1"/>
            <p:nvPr/>
          </p:nvSpPr>
          <p:spPr>
            <a:xfrm>
              <a:off x="5116198" y="267908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23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1529B64-489C-854F-8A77-D63C8A00FD2F}"/>
                </a:ext>
              </a:extLst>
            </p:cNvPr>
            <p:cNvCxnSpPr>
              <a:cxnSpLocks/>
              <a:stCxn id="16" idx="2"/>
              <a:endCxn id="25" idx="5"/>
            </p:cNvCxnSpPr>
            <p:nvPr/>
          </p:nvCxnSpPr>
          <p:spPr>
            <a:xfrm flipH="1" flipV="1">
              <a:off x="5147613" y="4208146"/>
              <a:ext cx="2330717" cy="841570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C596C4A-4C54-2649-B451-C2111B9C5B34}"/>
                </a:ext>
              </a:extLst>
            </p:cNvPr>
            <p:cNvSpPr txBox="1"/>
            <p:nvPr/>
          </p:nvSpPr>
          <p:spPr>
            <a:xfrm>
              <a:off x="6079547" y="430820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</a:t>
              </a: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D1E2D39-E14C-6247-A433-82F56D36C220}"/>
                </a:ext>
              </a:extLst>
            </p:cNvPr>
            <p:cNvCxnSpPr>
              <a:cxnSpLocks/>
              <a:stCxn id="23" idx="3"/>
              <a:endCxn id="25" idx="7"/>
            </p:cNvCxnSpPr>
            <p:nvPr/>
          </p:nvCxnSpPr>
          <p:spPr>
            <a:xfrm flipH="1">
              <a:off x="5147613" y="2360516"/>
              <a:ext cx="2173274" cy="156475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487599C-323B-3849-8125-5EF62904BD0E}"/>
                </a:ext>
              </a:extLst>
            </p:cNvPr>
            <p:cNvSpPr txBox="1"/>
            <p:nvPr/>
          </p:nvSpPr>
          <p:spPr>
            <a:xfrm>
              <a:off x="5858974" y="28823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18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D720A9F-4AB5-1A4F-930E-01BE344285B2}"/>
                </a:ext>
              </a:extLst>
            </p:cNvPr>
            <p:cNvSpPr txBox="1"/>
            <p:nvPr/>
          </p:nvSpPr>
          <p:spPr>
            <a:xfrm>
              <a:off x="1895762" y="5818810"/>
              <a:ext cx="65790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Spanning tree of cost: 4+24+9+7+14+5+16=79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5188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424C-3A79-A842-AE74-43D494A7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Minimum spanning tree?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C020C-D13D-3C4E-81D0-E5F634D0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grpSp>
        <p:nvGrpSpPr>
          <p:cNvPr id="113" name="Group 112" descr="this is an example of a spanning tree">
            <a:extLst>
              <a:ext uri="{FF2B5EF4-FFF2-40B4-BE49-F238E27FC236}">
                <a16:creationId xmlns:a16="http://schemas.microsoft.com/office/drawing/2014/main" id="{BC1ED359-84FF-D64A-AEAD-A1B9779CBE0B}"/>
              </a:ext>
            </a:extLst>
          </p:cNvPr>
          <p:cNvGrpSpPr/>
          <p:nvPr/>
        </p:nvGrpSpPr>
        <p:grpSpPr>
          <a:xfrm>
            <a:off x="1895762" y="1935824"/>
            <a:ext cx="6727739" cy="4344651"/>
            <a:chOff x="1895762" y="1935824"/>
            <a:chExt cx="6727739" cy="4344651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E2733F6-732F-1C4F-BAC8-593B576BB5A9}"/>
                </a:ext>
              </a:extLst>
            </p:cNvPr>
            <p:cNvSpPr/>
            <p:nvPr/>
          </p:nvSpPr>
          <p:spPr>
            <a:xfrm>
              <a:off x="1895762" y="3256019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7607D59-D4E8-CD4A-851E-4470E3AD51BB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DEE1CD6-8370-554F-AD30-489D562FF6BA}"/>
                </a:ext>
              </a:extLst>
            </p:cNvPr>
            <p:cNvSpPr/>
            <p:nvPr/>
          </p:nvSpPr>
          <p:spPr>
            <a:xfrm>
              <a:off x="3679671" y="2219077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DDFBB78-4AF8-D448-BE36-93B6ED835225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842A8FB-279D-D14A-AB44-038CF7AC0946}"/>
                </a:ext>
              </a:extLst>
            </p:cNvPr>
            <p:cNvSpPr/>
            <p:nvPr/>
          </p:nvSpPr>
          <p:spPr>
            <a:xfrm>
              <a:off x="7264393" y="2019052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333B01F-E6FC-E041-B3A2-F7E2F82828E9}"/>
                </a:ext>
              </a:extLst>
            </p:cNvPr>
            <p:cNvSpPr/>
            <p:nvPr/>
          </p:nvSpPr>
          <p:spPr>
            <a:xfrm>
              <a:off x="6906878" y="3483748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8EC935F-65E4-0A43-B050-954931405763}"/>
                </a:ext>
              </a:extLst>
            </p:cNvPr>
            <p:cNvSpPr/>
            <p:nvPr/>
          </p:nvSpPr>
          <p:spPr>
            <a:xfrm>
              <a:off x="4818345" y="3866682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3B6DEF5-9D6A-9B40-8600-071A90C147A0}"/>
                </a:ext>
              </a:extLst>
            </p:cNvPr>
            <p:cNvCxnSpPr>
              <a:cxnSpLocks/>
              <a:stCxn id="19" idx="5"/>
              <a:endCxn id="20" idx="1"/>
            </p:cNvCxnSpPr>
            <p:nvPr/>
          </p:nvCxnSpPr>
          <p:spPr>
            <a:xfrm>
              <a:off x="2225030" y="3597483"/>
              <a:ext cx="1245475" cy="1452233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E939842-90F2-A045-891D-0F1EFE09FE45}"/>
                </a:ext>
              </a:extLst>
            </p:cNvPr>
            <p:cNvCxnSpPr>
              <a:cxnSpLocks/>
              <a:stCxn id="19" idx="0"/>
              <a:endCxn id="21" idx="2"/>
            </p:cNvCxnSpPr>
            <p:nvPr/>
          </p:nvCxnSpPr>
          <p:spPr>
            <a:xfrm flipV="1">
              <a:off x="2088643" y="2419102"/>
              <a:ext cx="1591028" cy="836917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7B1FD5-1AE0-6A45-925B-B3C2134A7B2D}"/>
                </a:ext>
              </a:extLst>
            </p:cNvPr>
            <p:cNvCxnSpPr>
              <a:cxnSpLocks/>
              <a:stCxn id="19" idx="6"/>
              <a:endCxn id="22" idx="2"/>
            </p:cNvCxnSpPr>
            <p:nvPr/>
          </p:nvCxnSpPr>
          <p:spPr>
            <a:xfrm>
              <a:off x="2281524" y="3456044"/>
              <a:ext cx="1577741" cy="18767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1E04EC2-AF8E-D549-B6F2-5A94A0885832}"/>
                </a:ext>
              </a:extLst>
            </p:cNvPr>
            <p:cNvCxnSpPr>
              <a:cxnSpLocks/>
              <a:stCxn id="21" idx="6"/>
              <a:endCxn id="23" idx="1"/>
            </p:cNvCxnSpPr>
            <p:nvPr/>
          </p:nvCxnSpPr>
          <p:spPr>
            <a:xfrm flipV="1">
              <a:off x="4065433" y="2077638"/>
              <a:ext cx="3255454" cy="34146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E8257CD-AEB2-3E48-8E5B-FDBE2DB8C402}"/>
                </a:ext>
              </a:extLst>
            </p:cNvPr>
            <p:cNvCxnSpPr>
              <a:cxnSpLocks/>
              <a:stCxn id="22" idx="4"/>
              <a:endCxn id="20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37138ED-9336-1C47-8736-8E79F63A4289}"/>
                </a:ext>
              </a:extLst>
            </p:cNvPr>
            <p:cNvCxnSpPr>
              <a:cxnSpLocks/>
              <a:stCxn id="24" idx="2"/>
              <a:endCxn id="25" idx="6"/>
            </p:cNvCxnSpPr>
            <p:nvPr/>
          </p:nvCxnSpPr>
          <p:spPr>
            <a:xfrm flipH="1">
              <a:off x="5204107" y="3683773"/>
              <a:ext cx="1702771" cy="382934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E978C2D-925B-5B43-B607-166F9ACE4F8F}"/>
                </a:ext>
              </a:extLst>
            </p:cNvPr>
            <p:cNvCxnSpPr>
              <a:cxnSpLocks/>
              <a:stCxn id="23" idx="5"/>
              <a:endCxn id="24" idx="7"/>
            </p:cNvCxnSpPr>
            <p:nvPr/>
          </p:nvCxnSpPr>
          <p:spPr>
            <a:xfrm flipH="1">
              <a:off x="7236146" y="2360516"/>
              <a:ext cx="357515" cy="118181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AD17735-9E40-F04C-BAD7-9FCDD66897E3}"/>
                </a:ext>
              </a:extLst>
            </p:cNvPr>
            <p:cNvSpPr/>
            <p:nvPr/>
          </p:nvSpPr>
          <p:spPr>
            <a:xfrm>
              <a:off x="7478330" y="4849691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1E16A06-8C09-894A-9631-22BD506ACCF2}"/>
                </a:ext>
              </a:extLst>
            </p:cNvPr>
            <p:cNvCxnSpPr>
              <a:cxnSpLocks/>
              <a:stCxn id="25" idx="4"/>
              <a:endCxn id="20" idx="6"/>
            </p:cNvCxnSpPr>
            <p:nvPr/>
          </p:nvCxnSpPr>
          <p:spPr>
            <a:xfrm flipH="1">
              <a:off x="3799773" y="4266732"/>
              <a:ext cx="1211453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AB4BD6A-D95F-DB4D-BBD7-FE7E67968FDC}"/>
                </a:ext>
              </a:extLst>
            </p:cNvPr>
            <p:cNvCxnSpPr>
              <a:cxnSpLocks/>
              <a:stCxn id="25" idx="1"/>
              <a:endCxn id="22" idx="5"/>
            </p:cNvCxnSpPr>
            <p:nvPr/>
          </p:nvCxnSpPr>
          <p:spPr>
            <a:xfrm flipH="1" flipV="1">
              <a:off x="4188533" y="3616250"/>
              <a:ext cx="686306" cy="309018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 descr="example of a weighted undirected graph">
              <a:extLst>
                <a:ext uri="{FF2B5EF4-FFF2-40B4-BE49-F238E27FC236}">
                  <a16:creationId xmlns:a16="http://schemas.microsoft.com/office/drawing/2014/main" id="{B49BACCF-0FB5-DA45-BCC8-78CA171ECB8C}"/>
                </a:ext>
              </a:extLst>
            </p:cNvPr>
            <p:cNvCxnSpPr>
              <a:cxnSpLocks/>
              <a:stCxn id="16" idx="2"/>
              <a:endCxn id="20" idx="5"/>
            </p:cNvCxnSpPr>
            <p:nvPr/>
          </p:nvCxnSpPr>
          <p:spPr>
            <a:xfrm flipH="1">
              <a:off x="3743279" y="5049716"/>
              <a:ext cx="3735051" cy="28287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AF4D2DE-2D83-0B44-A76B-617B8047E057}"/>
                </a:ext>
              </a:extLst>
            </p:cNvPr>
            <p:cNvCxnSpPr>
              <a:cxnSpLocks/>
              <a:stCxn id="16" idx="1"/>
              <a:endCxn id="24" idx="5"/>
            </p:cNvCxnSpPr>
            <p:nvPr/>
          </p:nvCxnSpPr>
          <p:spPr>
            <a:xfrm flipH="1" flipV="1">
              <a:off x="7236146" y="3825212"/>
              <a:ext cx="298678" cy="10830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4CE0897-BE0F-6C48-BF91-552268E95B17}"/>
                </a:ext>
              </a:extLst>
            </p:cNvPr>
            <p:cNvCxnSpPr>
              <a:cxnSpLocks/>
              <a:stCxn id="23" idx="2"/>
              <a:endCxn id="22" idx="6"/>
            </p:cNvCxnSpPr>
            <p:nvPr/>
          </p:nvCxnSpPr>
          <p:spPr>
            <a:xfrm flipH="1">
              <a:off x="4245027" y="2219077"/>
              <a:ext cx="3019366" cy="12557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9F5CF6F-E423-4444-BBC2-6DB26EDEC205}"/>
                </a:ext>
              </a:extLst>
            </p:cNvPr>
            <p:cNvSpPr txBox="1"/>
            <p:nvPr/>
          </p:nvSpPr>
          <p:spPr>
            <a:xfrm>
              <a:off x="2656870" y="246822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0333545-DB53-1949-894C-9A331BCCEA6C}"/>
                </a:ext>
              </a:extLst>
            </p:cNvPr>
            <p:cNvSpPr txBox="1"/>
            <p:nvPr/>
          </p:nvSpPr>
          <p:spPr>
            <a:xfrm>
              <a:off x="5271286" y="1935824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24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2E9E0F4-4748-D84B-9DFB-925960195D29}"/>
                </a:ext>
              </a:extLst>
            </p:cNvPr>
            <p:cNvSpPr txBox="1"/>
            <p:nvPr/>
          </p:nvSpPr>
          <p:spPr>
            <a:xfrm>
              <a:off x="3002651" y="308611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C041CF2-3E74-5642-B5E6-3BA847A9A0F7}"/>
                </a:ext>
              </a:extLst>
            </p:cNvPr>
            <p:cNvSpPr txBox="1"/>
            <p:nvPr/>
          </p:nvSpPr>
          <p:spPr>
            <a:xfrm>
              <a:off x="2715014" y="397886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14F1A29-5B5C-924C-99A2-5B328BC59A7C}"/>
                </a:ext>
              </a:extLst>
            </p:cNvPr>
            <p:cNvSpPr txBox="1"/>
            <p:nvPr/>
          </p:nvSpPr>
          <p:spPr>
            <a:xfrm>
              <a:off x="3643320" y="394179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5A25820-B9C1-F644-A8E6-3545964FF571}"/>
                </a:ext>
              </a:extLst>
            </p:cNvPr>
            <p:cNvSpPr txBox="1"/>
            <p:nvPr/>
          </p:nvSpPr>
          <p:spPr>
            <a:xfrm>
              <a:off x="4461419" y="351885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652C1A5-B9DA-8E4B-A28A-BA7BE4F66F52}"/>
                </a:ext>
              </a:extLst>
            </p:cNvPr>
            <p:cNvSpPr txBox="1"/>
            <p:nvPr/>
          </p:nvSpPr>
          <p:spPr>
            <a:xfrm>
              <a:off x="4083039" y="442499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741FED9-3966-4E43-889A-930231813A75}"/>
                </a:ext>
              </a:extLst>
            </p:cNvPr>
            <p:cNvSpPr txBox="1"/>
            <p:nvPr/>
          </p:nvSpPr>
          <p:spPr>
            <a:xfrm>
              <a:off x="5296948" y="4849691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6E31A29-0172-2E46-99EB-4023FF43C3C2}"/>
                </a:ext>
              </a:extLst>
            </p:cNvPr>
            <p:cNvSpPr txBox="1"/>
            <p:nvPr/>
          </p:nvSpPr>
          <p:spPr>
            <a:xfrm>
              <a:off x="7010269" y="401379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8B77BAA-A997-4346-B95F-9BEB91B6AD82}"/>
                </a:ext>
              </a:extLst>
            </p:cNvPr>
            <p:cNvSpPr txBox="1"/>
            <p:nvPr/>
          </p:nvSpPr>
          <p:spPr>
            <a:xfrm>
              <a:off x="7087874" y="28007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15D8D07-BA02-7540-8BCA-252B7FCADA67}"/>
                </a:ext>
              </a:extLst>
            </p:cNvPr>
            <p:cNvSpPr txBox="1"/>
            <p:nvPr/>
          </p:nvSpPr>
          <p:spPr>
            <a:xfrm>
              <a:off x="5772120" y="3580698"/>
              <a:ext cx="424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8B64542-C5B5-7C4A-8500-8B1D81B966B5}"/>
                </a:ext>
              </a:extLst>
            </p:cNvPr>
            <p:cNvSpPr txBox="1"/>
            <p:nvPr/>
          </p:nvSpPr>
          <p:spPr>
            <a:xfrm>
              <a:off x="5116198" y="267908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23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1529B64-489C-854F-8A77-D63C8A00FD2F}"/>
                </a:ext>
              </a:extLst>
            </p:cNvPr>
            <p:cNvCxnSpPr>
              <a:cxnSpLocks/>
              <a:stCxn id="16" idx="2"/>
              <a:endCxn id="25" idx="5"/>
            </p:cNvCxnSpPr>
            <p:nvPr/>
          </p:nvCxnSpPr>
          <p:spPr>
            <a:xfrm flipH="1" flipV="1">
              <a:off x="5147613" y="4208146"/>
              <a:ext cx="2330717" cy="841570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C596C4A-4C54-2649-B451-C2111B9C5B34}"/>
                </a:ext>
              </a:extLst>
            </p:cNvPr>
            <p:cNvSpPr txBox="1"/>
            <p:nvPr/>
          </p:nvSpPr>
          <p:spPr>
            <a:xfrm>
              <a:off x="6079547" y="430820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</a:t>
              </a: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D1E2D39-E14C-6247-A433-82F56D36C220}"/>
                </a:ext>
              </a:extLst>
            </p:cNvPr>
            <p:cNvCxnSpPr>
              <a:cxnSpLocks/>
              <a:stCxn id="23" idx="3"/>
              <a:endCxn id="25" idx="7"/>
            </p:cNvCxnSpPr>
            <p:nvPr/>
          </p:nvCxnSpPr>
          <p:spPr>
            <a:xfrm flipH="1">
              <a:off x="5147613" y="2360516"/>
              <a:ext cx="2173274" cy="1564752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487599C-323B-3849-8125-5EF62904BD0E}"/>
                </a:ext>
              </a:extLst>
            </p:cNvPr>
            <p:cNvSpPr txBox="1"/>
            <p:nvPr/>
          </p:nvSpPr>
          <p:spPr>
            <a:xfrm>
              <a:off x="5858974" y="28823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18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D720A9F-4AB5-1A4F-930E-01BE344285B2}"/>
                </a:ext>
              </a:extLst>
            </p:cNvPr>
            <p:cNvSpPr txBox="1"/>
            <p:nvPr/>
          </p:nvSpPr>
          <p:spPr>
            <a:xfrm>
              <a:off x="1895762" y="5818810"/>
              <a:ext cx="67277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Spanning tree of cost: 4+6+16+5+18+11+14=74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19829612-3374-A645-837F-9515DFD69078}"/>
              </a:ext>
            </a:extLst>
          </p:cNvPr>
          <p:cNvSpPr txBox="1"/>
          <p:nvPr/>
        </p:nvSpPr>
        <p:spPr>
          <a:xfrm>
            <a:off x="2059949" y="6299798"/>
            <a:ext cx="66848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spanning tree of minim cost (MST)?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01DFBC-4FCB-184F-9CB8-7F44C6B8BF05}"/>
              </a:ext>
            </a:extLst>
          </p:cNvPr>
          <p:cNvSpPr txBox="1"/>
          <p:nvPr/>
        </p:nvSpPr>
        <p:spPr>
          <a:xfrm>
            <a:off x="8978060" y="1640463"/>
            <a:ext cx="2835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Question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for a graph with V vertices, how many edges are there in a spanning tree?</a:t>
            </a:r>
          </a:p>
        </p:txBody>
      </p:sp>
    </p:spTree>
    <p:extLst>
      <p:ext uri="{BB962C8B-B14F-4D97-AF65-F5344CB8AC3E}">
        <p14:creationId xmlns:p14="http://schemas.microsoft.com/office/powerpoint/2010/main" val="255397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Minimum Spanning Tree</a:t>
            </a:r>
          </a:p>
          <a:p>
            <a:pPr lvl="1"/>
            <a:r>
              <a:rPr lang="en-US" dirty="0"/>
              <a:t>Greedy algorithm</a:t>
            </a:r>
          </a:p>
          <a:p>
            <a:pPr lvl="1"/>
            <a:r>
              <a:rPr lang="en-US" dirty="0"/>
              <a:t>Kruskal’s algorithm</a:t>
            </a:r>
          </a:p>
          <a:p>
            <a:pPr lvl="1"/>
            <a:r>
              <a:rPr lang="en-US" dirty="0"/>
              <a:t>Prim’s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Shortest Path</a:t>
            </a:r>
          </a:p>
        </p:txBody>
      </p:sp>
    </p:spTree>
    <p:extLst>
      <p:ext uri="{BB962C8B-B14F-4D97-AF65-F5344CB8AC3E}">
        <p14:creationId xmlns:p14="http://schemas.microsoft.com/office/powerpoint/2010/main" val="1827022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5"/>
                </a:solidFill>
              </a:rPr>
              <a:t>cut</a:t>
            </a:r>
            <a:r>
              <a:rPr lang="en-US" dirty="0"/>
              <a:t> in a graph is a partition of its vertices into two (nonempty) sets.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chemeClr val="accent5"/>
                </a:solidFill>
              </a:rPr>
              <a:t>crossing edge </a:t>
            </a:r>
            <a:r>
              <a:rPr lang="en-US" dirty="0"/>
              <a:t>connects a vertex in one set with a vertex in the other.</a:t>
            </a:r>
          </a:p>
          <a:p>
            <a:r>
              <a:rPr lang="en-US" dirty="0">
                <a:highlight>
                  <a:srgbClr val="C0C0C0"/>
                </a:highlight>
              </a:rPr>
              <a:t>Property</a:t>
            </a:r>
            <a:r>
              <a:rPr lang="en-US" dirty="0"/>
              <a:t>: given any cut, the crossing edge of min weight is in the MST</a:t>
            </a:r>
          </a:p>
          <a:p>
            <a:endParaRPr lang="en-US" dirty="0"/>
          </a:p>
        </p:txBody>
      </p:sp>
      <p:grpSp>
        <p:nvGrpSpPr>
          <p:cNvPr id="4" name="Group 3" descr="example of a weighted undirected graph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735965" y="3429000"/>
            <a:ext cx="5169782" cy="3306008"/>
            <a:chOff x="2230998" y="2085172"/>
            <a:chExt cx="5169782" cy="330600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6718425" y="230515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906878" y="348374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818345" y="386668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63742"/>
              <a:ext cx="2600299" cy="13916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2"/>
              <a:endCxn id="11" idx="6"/>
            </p:cNvCxnSpPr>
            <p:nvPr/>
          </p:nvCxnSpPr>
          <p:spPr>
            <a:xfrm flipH="1">
              <a:off x="5204107" y="3683773"/>
              <a:ext cx="1702771" cy="3829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7047693" y="2646620"/>
              <a:ext cx="188453" cy="89571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6420653" y="452364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1211453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686306" cy="30901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723671"/>
              <a:ext cx="2677374" cy="6089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V="1">
              <a:off x="6477147" y="3825212"/>
              <a:ext cx="758999" cy="7570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9" idx="2"/>
              <a:endCxn id="8" idx="6"/>
            </p:cNvCxnSpPr>
            <p:nvPr/>
          </p:nvCxnSpPr>
          <p:spPr>
            <a:xfrm flipH="1">
              <a:off x="4245027" y="2505181"/>
              <a:ext cx="2473398" cy="9696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0ED321C-0F01-784C-A99F-66CD04232B72}"/>
                </a:ext>
              </a:extLst>
            </p:cNvPr>
            <p:cNvSpPr txBox="1"/>
            <p:nvPr/>
          </p:nvSpPr>
          <p:spPr>
            <a:xfrm>
              <a:off x="2848487" y="26048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57BDEBA-14AB-A645-A5A8-5B419742E640}"/>
                </a:ext>
              </a:extLst>
            </p:cNvPr>
            <p:cNvSpPr txBox="1"/>
            <p:nvPr/>
          </p:nvSpPr>
          <p:spPr>
            <a:xfrm>
              <a:off x="5040580" y="208517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24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DD2F01C-9194-2440-9C4B-19668194B818}"/>
                </a:ext>
              </a:extLst>
            </p:cNvPr>
            <p:cNvSpPr txBox="1"/>
            <p:nvPr/>
          </p:nvSpPr>
          <p:spPr>
            <a:xfrm>
              <a:off x="3002651" y="308611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6688933-CC4E-5840-8CDD-B6B082EC4854}"/>
                </a:ext>
              </a:extLst>
            </p:cNvPr>
            <p:cNvSpPr txBox="1"/>
            <p:nvPr/>
          </p:nvSpPr>
          <p:spPr>
            <a:xfrm>
              <a:off x="2589426" y="4126457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A87D85B-D357-EA48-8941-4F2150ED1526}"/>
                </a:ext>
              </a:extLst>
            </p:cNvPr>
            <p:cNvSpPr txBox="1"/>
            <p:nvPr/>
          </p:nvSpPr>
          <p:spPr>
            <a:xfrm>
              <a:off x="3643320" y="394179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BA1352C-B2EC-6B45-9A19-D11FB604F1A1}"/>
                </a:ext>
              </a:extLst>
            </p:cNvPr>
            <p:cNvSpPr txBox="1"/>
            <p:nvPr/>
          </p:nvSpPr>
          <p:spPr>
            <a:xfrm>
              <a:off x="4516076" y="351861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117EE99-9004-654E-8D4E-F88F0F2366E8}"/>
                </a:ext>
              </a:extLst>
            </p:cNvPr>
            <p:cNvSpPr txBox="1"/>
            <p:nvPr/>
          </p:nvSpPr>
          <p:spPr>
            <a:xfrm>
              <a:off x="4083039" y="442499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B0530DE-E3F8-354C-8139-132B45ECFEBB}"/>
                </a:ext>
              </a:extLst>
            </p:cNvPr>
            <p:cNvSpPr txBox="1"/>
            <p:nvPr/>
          </p:nvSpPr>
          <p:spPr>
            <a:xfrm>
              <a:off x="4955800" y="4726425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A13C225-6777-2F4E-B41B-2BC68CA8C095}"/>
                </a:ext>
              </a:extLst>
            </p:cNvPr>
            <p:cNvSpPr txBox="1"/>
            <p:nvPr/>
          </p:nvSpPr>
          <p:spPr>
            <a:xfrm>
              <a:off x="6852596" y="405400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3F23EF9-B904-5243-8584-07666074E5B2}"/>
                </a:ext>
              </a:extLst>
            </p:cNvPr>
            <p:cNvSpPr txBox="1"/>
            <p:nvPr/>
          </p:nvSpPr>
          <p:spPr>
            <a:xfrm>
              <a:off x="7087874" y="28007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C5C2085-AE4E-8541-AABE-ECEE96488D9E}"/>
                </a:ext>
              </a:extLst>
            </p:cNvPr>
            <p:cNvSpPr txBox="1"/>
            <p:nvPr/>
          </p:nvSpPr>
          <p:spPr>
            <a:xfrm>
              <a:off x="5772120" y="3580698"/>
              <a:ext cx="424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FF6FD63-2544-E341-BAC5-8A7EA4C3B27F}"/>
                </a:ext>
              </a:extLst>
            </p:cNvPr>
            <p:cNvSpPr txBox="1"/>
            <p:nvPr/>
          </p:nvSpPr>
          <p:spPr>
            <a:xfrm>
              <a:off x="5116198" y="267908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23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5147613" y="4208146"/>
              <a:ext cx="1273040" cy="5155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7EBAF10-ADA6-EF48-AD65-167E1EBBD0B1}"/>
                </a:ext>
              </a:extLst>
            </p:cNvPr>
            <p:cNvSpPr txBox="1"/>
            <p:nvPr/>
          </p:nvSpPr>
          <p:spPr>
            <a:xfrm>
              <a:off x="5775165" y="4240333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9" idx="3"/>
              <a:endCxn id="11" idx="7"/>
            </p:cNvCxnSpPr>
            <p:nvPr/>
          </p:nvCxnSpPr>
          <p:spPr>
            <a:xfrm flipH="1">
              <a:off x="5147613" y="2646620"/>
              <a:ext cx="1627306" cy="127864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FF0288D-015D-A54A-8589-DFF5409C9E3C}"/>
                </a:ext>
              </a:extLst>
            </p:cNvPr>
            <p:cNvSpPr txBox="1"/>
            <p:nvPr/>
          </p:nvSpPr>
          <p:spPr>
            <a:xfrm>
              <a:off x="5740693" y="2939093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1696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5"/>
                </a:solidFill>
              </a:rPr>
              <a:t>cut</a:t>
            </a:r>
            <a:r>
              <a:rPr lang="en-US" dirty="0"/>
              <a:t> in a graph is a partition of its vertices into two (nonempty) sets.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chemeClr val="accent5"/>
                </a:solidFill>
              </a:rPr>
              <a:t>crossing edge </a:t>
            </a:r>
            <a:r>
              <a:rPr lang="en-US" dirty="0"/>
              <a:t>connects a vertex in one set with a vertex in the other.</a:t>
            </a:r>
          </a:p>
          <a:p>
            <a:r>
              <a:rPr lang="en-US" dirty="0">
                <a:highlight>
                  <a:srgbClr val="C0C0C0"/>
                </a:highlight>
              </a:rPr>
              <a:t>Property</a:t>
            </a:r>
            <a:r>
              <a:rPr lang="en-US" dirty="0"/>
              <a:t>: given any cut, the crossing edge of min weight is in the MST</a:t>
            </a:r>
          </a:p>
          <a:p>
            <a:endParaRPr lang="en-US" dirty="0"/>
          </a:p>
        </p:txBody>
      </p:sp>
      <p:grpSp>
        <p:nvGrpSpPr>
          <p:cNvPr id="4" name="Group 3" descr="example of a weighted undirected graph with highlighted: a cut, all crossing edges, and the min weight edge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735965" y="3429000"/>
            <a:ext cx="5169782" cy="3306008"/>
            <a:chOff x="2230998" y="2085172"/>
            <a:chExt cx="5169782" cy="330600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6718425" y="230515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906878" y="348374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818345" y="386668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63742"/>
              <a:ext cx="2600299" cy="1391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2"/>
              <a:endCxn id="11" idx="6"/>
            </p:cNvCxnSpPr>
            <p:nvPr/>
          </p:nvCxnSpPr>
          <p:spPr>
            <a:xfrm flipH="1">
              <a:off x="5204107" y="3683773"/>
              <a:ext cx="1702771" cy="382934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7047693" y="2646620"/>
              <a:ext cx="188453" cy="89571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6420653" y="452364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1211453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686306" cy="30901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723671"/>
              <a:ext cx="2677374" cy="60892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V="1">
              <a:off x="6477147" y="3825212"/>
              <a:ext cx="758999" cy="7570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9" idx="2"/>
              <a:endCxn id="8" idx="6"/>
            </p:cNvCxnSpPr>
            <p:nvPr/>
          </p:nvCxnSpPr>
          <p:spPr>
            <a:xfrm flipH="1">
              <a:off x="4245027" y="2505181"/>
              <a:ext cx="2473398" cy="96963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0ED321C-0F01-784C-A99F-66CD04232B72}"/>
                </a:ext>
              </a:extLst>
            </p:cNvPr>
            <p:cNvSpPr txBox="1"/>
            <p:nvPr/>
          </p:nvSpPr>
          <p:spPr>
            <a:xfrm>
              <a:off x="2848487" y="26048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57BDEBA-14AB-A645-A5A8-5B419742E640}"/>
                </a:ext>
              </a:extLst>
            </p:cNvPr>
            <p:cNvSpPr txBox="1"/>
            <p:nvPr/>
          </p:nvSpPr>
          <p:spPr>
            <a:xfrm>
              <a:off x="5040580" y="208517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24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DD2F01C-9194-2440-9C4B-19668194B818}"/>
                </a:ext>
              </a:extLst>
            </p:cNvPr>
            <p:cNvSpPr txBox="1"/>
            <p:nvPr/>
          </p:nvSpPr>
          <p:spPr>
            <a:xfrm>
              <a:off x="3002651" y="308611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6688933-CC4E-5840-8CDD-B6B082EC4854}"/>
                </a:ext>
              </a:extLst>
            </p:cNvPr>
            <p:cNvSpPr txBox="1"/>
            <p:nvPr/>
          </p:nvSpPr>
          <p:spPr>
            <a:xfrm>
              <a:off x="2589426" y="4126457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A87D85B-D357-EA48-8941-4F2150ED1526}"/>
                </a:ext>
              </a:extLst>
            </p:cNvPr>
            <p:cNvSpPr txBox="1"/>
            <p:nvPr/>
          </p:nvSpPr>
          <p:spPr>
            <a:xfrm>
              <a:off x="3643320" y="394179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BA1352C-B2EC-6B45-9A19-D11FB604F1A1}"/>
                </a:ext>
              </a:extLst>
            </p:cNvPr>
            <p:cNvSpPr txBox="1"/>
            <p:nvPr/>
          </p:nvSpPr>
          <p:spPr>
            <a:xfrm>
              <a:off x="4516076" y="351861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117EE99-9004-654E-8D4E-F88F0F2366E8}"/>
                </a:ext>
              </a:extLst>
            </p:cNvPr>
            <p:cNvSpPr txBox="1"/>
            <p:nvPr/>
          </p:nvSpPr>
          <p:spPr>
            <a:xfrm>
              <a:off x="4083039" y="442499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B0530DE-E3F8-354C-8139-132B45ECFEBB}"/>
                </a:ext>
              </a:extLst>
            </p:cNvPr>
            <p:cNvSpPr txBox="1"/>
            <p:nvPr/>
          </p:nvSpPr>
          <p:spPr>
            <a:xfrm>
              <a:off x="4955800" y="4726425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A13C225-6777-2F4E-B41B-2BC68CA8C095}"/>
                </a:ext>
              </a:extLst>
            </p:cNvPr>
            <p:cNvSpPr txBox="1"/>
            <p:nvPr/>
          </p:nvSpPr>
          <p:spPr>
            <a:xfrm>
              <a:off x="6852596" y="405400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3F23EF9-B904-5243-8584-07666074E5B2}"/>
                </a:ext>
              </a:extLst>
            </p:cNvPr>
            <p:cNvSpPr txBox="1"/>
            <p:nvPr/>
          </p:nvSpPr>
          <p:spPr>
            <a:xfrm>
              <a:off x="7087874" y="28007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C5C2085-AE4E-8541-AABE-ECEE96488D9E}"/>
                </a:ext>
              </a:extLst>
            </p:cNvPr>
            <p:cNvSpPr txBox="1"/>
            <p:nvPr/>
          </p:nvSpPr>
          <p:spPr>
            <a:xfrm>
              <a:off x="5772120" y="3580698"/>
              <a:ext cx="424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FF6FD63-2544-E341-BAC5-8A7EA4C3B27F}"/>
                </a:ext>
              </a:extLst>
            </p:cNvPr>
            <p:cNvSpPr txBox="1"/>
            <p:nvPr/>
          </p:nvSpPr>
          <p:spPr>
            <a:xfrm>
              <a:off x="5116198" y="267908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23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5147613" y="4208146"/>
              <a:ext cx="1273040" cy="51552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7EBAF10-ADA6-EF48-AD65-167E1EBBD0B1}"/>
                </a:ext>
              </a:extLst>
            </p:cNvPr>
            <p:cNvSpPr txBox="1"/>
            <p:nvPr/>
          </p:nvSpPr>
          <p:spPr>
            <a:xfrm>
              <a:off x="5775165" y="4240333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9" idx="3"/>
              <a:endCxn id="11" idx="7"/>
            </p:cNvCxnSpPr>
            <p:nvPr/>
          </p:nvCxnSpPr>
          <p:spPr>
            <a:xfrm flipH="1">
              <a:off x="5147613" y="2646620"/>
              <a:ext cx="1627306" cy="127864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FF0288D-015D-A54A-8589-DFF5409C9E3C}"/>
                </a:ext>
              </a:extLst>
            </p:cNvPr>
            <p:cNvSpPr txBox="1"/>
            <p:nvPr/>
          </p:nvSpPr>
          <p:spPr>
            <a:xfrm>
              <a:off x="5740693" y="2939093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8743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</a:p>
          <a:p>
            <a:pPr lvl="1"/>
            <a:r>
              <a:rPr lang="en-US" dirty="0"/>
              <a:t>Start with all edges colored grey</a:t>
            </a:r>
          </a:p>
          <a:p>
            <a:pPr lvl="1"/>
            <a:r>
              <a:rPr lang="en-US" dirty="0"/>
              <a:t>Find a cut with no black-crossing edges</a:t>
            </a:r>
          </a:p>
          <a:p>
            <a:pPr lvl="1"/>
            <a:r>
              <a:rPr lang="en-US" dirty="0"/>
              <a:t>Color its min-weight edge black </a:t>
            </a:r>
          </a:p>
          <a:p>
            <a:pPr lvl="1"/>
            <a:r>
              <a:rPr lang="en-US" dirty="0"/>
              <a:t>Repeat until </a:t>
            </a:r>
            <a:r>
              <a:rPr lang="en-US" i="1" dirty="0"/>
              <a:t>V</a:t>
            </a:r>
            <a:r>
              <a:rPr lang="en-US" dirty="0"/>
              <a:t>-1 edges are colored black</a:t>
            </a:r>
          </a:p>
        </p:txBody>
      </p:sp>
    </p:spTree>
    <p:extLst>
      <p:ext uri="{BB962C8B-B14F-4D97-AF65-F5344CB8AC3E}">
        <p14:creationId xmlns:p14="http://schemas.microsoft.com/office/powerpoint/2010/main" val="326023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210027"/>
              </p:ext>
            </p:extLst>
          </p:nvPr>
        </p:nvGraphicFramePr>
        <p:xfrm>
          <a:off x="8083035" y="1902147"/>
          <a:ext cx="1544355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911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89444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531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856638"/>
              </p:ext>
            </p:extLst>
          </p:nvPr>
        </p:nvGraphicFramePr>
        <p:xfrm>
          <a:off x="8083035" y="1902147"/>
          <a:ext cx="1544355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911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89444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2331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052637"/>
              </p:ext>
            </p:extLst>
          </p:nvPr>
        </p:nvGraphicFramePr>
        <p:xfrm>
          <a:off x="8083035" y="190214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0520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560885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8647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739228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4491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452634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480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566630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1542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213804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4735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366867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0248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905490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621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029871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7562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482082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927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813017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9598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178451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27911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262140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41780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951385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1911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053824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3281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148654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32984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828599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0885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05766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9473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473130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5295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04386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32756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4" name="Group 3" descr="example of a weighted undirected graph ">
            <a:extLst>
              <a:ext uri="{FF2B5EF4-FFF2-40B4-BE49-F238E27FC236}">
                <a16:creationId xmlns:a16="http://schemas.microsoft.com/office/drawing/2014/main" id="{B2396102-01B0-D34B-8481-DB09473A656E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230998" y="2302878"/>
            <a:chExt cx="5206210" cy="308830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7E6C51-C3B4-CC4E-BA4D-455EC640AB65}"/>
                </a:ext>
              </a:extLst>
            </p:cNvPr>
            <p:cNvSpPr/>
            <p:nvPr/>
          </p:nvSpPr>
          <p:spPr>
            <a:xfrm>
              <a:off x="2230998" y="331882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800B61-26F8-0045-A442-B294F15AEA42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BA39535-55CE-9D44-89F6-9E4034B70616}"/>
                </a:ext>
              </a:extLst>
            </p:cNvPr>
            <p:cNvSpPr/>
            <p:nvPr/>
          </p:nvSpPr>
          <p:spPr>
            <a:xfrm>
              <a:off x="3788858" y="230287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594FA2-25CB-F24D-8AF5-5BFC3D4F021B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B7343-BB7C-BB47-AD04-A80CB780A2B9}"/>
                </a:ext>
              </a:extLst>
            </p:cNvPr>
            <p:cNvSpPr/>
            <p:nvPr/>
          </p:nvSpPr>
          <p:spPr>
            <a:xfrm>
              <a:off x="5835899" y="231927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8FA2ED0-C04F-B34E-ADDB-4E64BA361055}"/>
                </a:ext>
              </a:extLst>
            </p:cNvPr>
            <p:cNvSpPr/>
            <p:nvPr/>
          </p:nvSpPr>
          <p:spPr>
            <a:xfrm>
              <a:off x="6088342" y="325161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18AC5D-38D6-8D4F-AD78-FD3F4418F197}"/>
                </a:ext>
              </a:extLst>
            </p:cNvPr>
            <p:cNvSpPr/>
            <p:nvPr/>
          </p:nvSpPr>
          <p:spPr>
            <a:xfrm>
              <a:off x="4479648" y="386668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4C7D1A-FF00-ED41-907F-FF7CFF0145D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560266" y="3660292"/>
              <a:ext cx="910239" cy="1389424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81420B-A1CB-8243-A1AC-D783369CB8F9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423879" y="2502903"/>
              <a:ext cx="1364979" cy="8159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5EEEEF-6924-F94E-A7B0-BF09D2FD15E9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616760" y="3474811"/>
              <a:ext cx="1242505" cy="44042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E41C8A-A7A0-2F4B-9C81-965C524052B1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174620" y="2377858"/>
              <a:ext cx="1717773" cy="12504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DA4F5-EF7B-8647-A148-BE431F3C948C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4998A7-D078-D147-BBE4-2CD2B51C80AD}"/>
                </a:ext>
              </a:extLst>
            </p:cNvPr>
            <p:cNvCxnSpPr>
              <a:cxnSpLocks/>
              <a:stCxn id="10" idx="3"/>
              <a:endCxn id="11" idx="6"/>
            </p:cNvCxnSpPr>
            <p:nvPr/>
          </p:nvCxnSpPr>
          <p:spPr>
            <a:xfrm flipH="1">
              <a:off x="4865410" y="3593079"/>
              <a:ext cx="1279426" cy="47362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2EF0C1-C7D5-B24B-9B23-E1E559A5267E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>
              <a:off x="6165167" y="2660736"/>
              <a:ext cx="252443" cy="649465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F0C1B0-E74D-4140-A0A7-FFC8384B24F5}"/>
                </a:ext>
              </a:extLst>
            </p:cNvPr>
            <p:cNvSpPr/>
            <p:nvPr/>
          </p:nvSpPr>
          <p:spPr>
            <a:xfrm>
              <a:off x="7051446" y="44947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1F60A2-EEEF-FB43-90D3-E26142FC238D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872756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79AFD8-C48B-A84D-827B-B6FF00CE57E8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347609" cy="309018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46F2EAD1-B0A6-404B-8BCE-D0C26FD229B4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4694751"/>
              <a:ext cx="3308167" cy="6378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5B7CE0-DCAD-8441-9DCA-7C923954202E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6417610" y="3593079"/>
              <a:ext cx="690330" cy="960233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DB9D02-422F-4C4D-86E0-3B1E1615A712}"/>
                </a:ext>
              </a:extLst>
            </p:cNvPr>
            <p:cNvCxnSpPr>
              <a:cxnSpLocks/>
              <a:stCxn id="10" idx="2"/>
              <a:endCxn id="8" idx="6"/>
            </p:cNvCxnSpPr>
            <p:nvPr/>
          </p:nvCxnSpPr>
          <p:spPr>
            <a:xfrm flipH="1">
              <a:off x="4245027" y="3451640"/>
              <a:ext cx="1843315" cy="231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478BF6-1407-DF4B-9710-0FB79036DCA0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4808916" y="4208146"/>
              <a:ext cx="2242530" cy="48660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EEC67D-F4D7-344F-B58E-EEC4F44DDC32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4118126" y="2644342"/>
              <a:ext cx="2026710" cy="66585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EE5DA-597D-8E40-97FD-78956BFC9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3935303" y="2777514"/>
            <a:ext cx="70407" cy="571858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E23DEAE-5732-E54A-BD81-50036B8D189B}"/>
              </a:ext>
            </a:extLst>
          </p:cNvPr>
          <p:cNvSpPr txBox="1"/>
          <p:nvPr/>
        </p:nvSpPr>
        <p:spPr>
          <a:xfrm>
            <a:off x="494313" y="5829350"/>
            <a:ext cx="3212739" cy="830997"/>
          </a:xfrm>
          <a:prstGeom prst="rect">
            <a:avLst/>
          </a:prstGeom>
          <a:solidFill>
            <a:schemeClr val="accent5">
              <a:alpha val="50000"/>
            </a:schemeClr>
          </a:solidFill>
          <a:ln w="38100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Black edges =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-1 = 7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MST found</a:t>
            </a:r>
          </a:p>
        </p:txBody>
      </p: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144344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73151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Challenges</a:t>
            </a:r>
          </a:p>
          <a:p>
            <a:pPr lvl="1"/>
            <a:r>
              <a:rPr lang="en-US" dirty="0"/>
              <a:t>How to choose a cut?</a:t>
            </a:r>
          </a:p>
          <a:p>
            <a:pPr lvl="1"/>
            <a:r>
              <a:rPr lang="en-US" dirty="0"/>
              <a:t>How to efficiently identify the min-weighted edge in the cut?</a:t>
            </a:r>
          </a:p>
        </p:txBody>
      </p:sp>
    </p:spTree>
    <p:extLst>
      <p:ext uri="{BB962C8B-B14F-4D97-AF65-F5344CB8AC3E}">
        <p14:creationId xmlns:p14="http://schemas.microsoft.com/office/powerpoint/2010/main" val="21176274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Minimum Spanning Tree</a:t>
            </a:r>
          </a:p>
          <a:p>
            <a:pPr lvl="1"/>
            <a:r>
              <a:rPr lang="en-US" dirty="0"/>
              <a:t>Greedy algorithm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Kruskal’s algorithm</a:t>
            </a:r>
          </a:p>
          <a:p>
            <a:pPr lvl="1"/>
            <a:r>
              <a:rPr lang="en-US" dirty="0"/>
              <a:t>Prim’s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Shortest Path</a:t>
            </a:r>
          </a:p>
        </p:txBody>
      </p:sp>
    </p:spTree>
    <p:extLst>
      <p:ext uri="{BB962C8B-B14F-4D97-AF65-F5344CB8AC3E}">
        <p14:creationId xmlns:p14="http://schemas.microsoft.com/office/powerpoint/2010/main" val="38852405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22B7D-E37B-E148-BDC1-799C3C067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047C0-0F60-8F45-B26E-3FF8FEF8C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</a:p>
          <a:p>
            <a:pPr lvl="1"/>
            <a:r>
              <a:rPr lang="en-US" dirty="0"/>
              <a:t>Consider edges in ascending order of weight</a:t>
            </a:r>
          </a:p>
          <a:p>
            <a:pPr lvl="1"/>
            <a:r>
              <a:rPr lang="en-US" dirty="0"/>
              <a:t>Add the next edge to the MST, unless doing so would create a cycle</a:t>
            </a:r>
          </a:p>
          <a:p>
            <a:pPr lvl="1"/>
            <a:r>
              <a:rPr lang="en-US" dirty="0"/>
              <a:t>Stop when all the edges have been considered (or when V-1 edges have been added)</a:t>
            </a:r>
          </a:p>
        </p:txBody>
      </p:sp>
    </p:spTree>
    <p:extLst>
      <p:ext uri="{BB962C8B-B14F-4D97-AF65-F5344CB8AC3E}">
        <p14:creationId xmlns:p14="http://schemas.microsoft.com/office/powerpoint/2010/main" val="29427667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959580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pSp>
        <p:nvGrpSpPr>
          <p:cNvPr id="33" name="Group 32" descr="grapg edges sorted by weight">
            <a:extLst>
              <a:ext uri="{FF2B5EF4-FFF2-40B4-BE49-F238E27FC236}">
                <a16:creationId xmlns:a16="http://schemas.microsoft.com/office/drawing/2014/main" id="{20D58728-01CD-BB4C-86B8-558859FD1AAC}"/>
              </a:ext>
            </a:extLst>
          </p:cNvPr>
          <p:cNvGrpSpPr/>
          <p:nvPr/>
        </p:nvGrpSpPr>
        <p:grpSpPr>
          <a:xfrm>
            <a:off x="9526137" y="1492404"/>
            <a:ext cx="2407897" cy="923330"/>
            <a:chOff x="9526137" y="1492404"/>
            <a:chExt cx="2407897" cy="92333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97709BA-BD09-A940-9FDF-18EDB8B1691F}"/>
                </a:ext>
              </a:extLst>
            </p:cNvPr>
            <p:cNvSpPr txBox="1"/>
            <p:nvPr/>
          </p:nvSpPr>
          <p:spPr>
            <a:xfrm>
              <a:off x="10222173" y="1492404"/>
              <a:ext cx="171186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Graph edges sorted by weight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4C5A8F0-05B7-A141-B1D3-1E3E9E00D7B3}"/>
                </a:ext>
              </a:extLst>
            </p:cNvPr>
            <p:cNvCxnSpPr>
              <a:cxnSpLocks/>
              <a:stCxn id="29" idx="1"/>
            </p:cNvCxnSpPr>
            <p:nvPr/>
          </p:nvCxnSpPr>
          <p:spPr>
            <a:xfrm flipH="1">
              <a:off x="9526137" y="1954069"/>
              <a:ext cx="696036" cy="284164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5210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922294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4793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745049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15202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681217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9350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705203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48765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736099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27108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519328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38054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779626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0372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288237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9189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775148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58852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192978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1240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172479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55274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629888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804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681075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2844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 descr="highlighting edges in MST">
            <a:extLst>
              <a:ext uri="{FF2B5EF4-FFF2-40B4-BE49-F238E27FC236}">
                <a16:creationId xmlns:a16="http://schemas.microsoft.com/office/drawing/2014/main" id="{1A493A38-CB66-1548-A916-EC1E85AECD8F}"/>
              </a:ext>
            </a:extLst>
          </p:cNvPr>
          <p:cNvGrpSpPr/>
          <p:nvPr/>
        </p:nvGrpSpPr>
        <p:grpSpPr>
          <a:xfrm>
            <a:off x="852598" y="6085631"/>
            <a:ext cx="5359688" cy="369332"/>
            <a:chOff x="852598" y="6085631"/>
            <a:chExt cx="5359688" cy="3693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34E0761-D2AD-5A4B-87AA-01EAC66BAE63}"/>
                </a:ext>
              </a:extLst>
            </p:cNvPr>
            <p:cNvSpPr txBox="1"/>
            <p:nvPr/>
          </p:nvSpPr>
          <p:spPr>
            <a:xfrm>
              <a:off x="1932588" y="6085631"/>
              <a:ext cx="42796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Edges in Minimum Spanning Tree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B65CEEB-064E-8443-BB7F-EA82C516A296}"/>
                </a:ext>
              </a:extLst>
            </p:cNvPr>
            <p:cNvCxnSpPr/>
            <p:nvPr/>
          </p:nvCxnSpPr>
          <p:spPr>
            <a:xfrm>
              <a:off x="852598" y="6258450"/>
              <a:ext cx="1022666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044156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1047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Implementation challenge:</a:t>
            </a:r>
            <a:r>
              <a:rPr lang="en-US" dirty="0"/>
              <a:t> how to efficiently check whether adding edge </a:t>
            </a:r>
            <a:r>
              <a:rPr lang="en-US" i="1" dirty="0"/>
              <a:t>v—w</a:t>
            </a:r>
            <a:r>
              <a:rPr lang="en-US" dirty="0"/>
              <a:t> creates a cycle in the tree T?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Option 1</a:t>
            </a:r>
            <a:r>
              <a:rPr lang="en-US" dirty="0"/>
              <a:t>: run DFS(</a:t>
            </a:r>
            <a:r>
              <a:rPr lang="en-US" i="1" dirty="0"/>
              <a:t>v</a:t>
            </a:r>
            <a:r>
              <a:rPr lang="en-US" dirty="0"/>
              <a:t>) and check whether </a:t>
            </a:r>
            <a:r>
              <a:rPr lang="en-US" i="1" dirty="0"/>
              <a:t>w</a:t>
            </a:r>
            <a:r>
              <a:rPr lang="en-US" dirty="0"/>
              <a:t> is reachable. </a:t>
            </a:r>
          </a:p>
          <a:p>
            <a:pPr lvl="2"/>
            <a:r>
              <a:rPr lang="en-US" dirty="0"/>
              <a:t>Cost: </a:t>
            </a:r>
            <a:r>
              <a:rPr lang="en-US" i="1" dirty="0"/>
              <a:t>O(V), </a:t>
            </a:r>
            <a:r>
              <a:rPr lang="en-US" dirty="0"/>
              <a:t>since T contains at most </a:t>
            </a:r>
            <a:r>
              <a:rPr lang="en-US" i="1" dirty="0"/>
              <a:t>V-1</a:t>
            </a:r>
            <a:r>
              <a:rPr lang="en-US" dirty="0"/>
              <a:t> edges</a:t>
            </a:r>
          </a:p>
          <a:p>
            <a:pPr lvl="1"/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8136425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Implementation challenge:</a:t>
            </a:r>
            <a:r>
              <a:rPr lang="en-US" dirty="0"/>
              <a:t> how to efficiently check whether adding edge </a:t>
            </a:r>
            <a:r>
              <a:rPr lang="en-US" i="1" dirty="0"/>
              <a:t>v—w</a:t>
            </a:r>
            <a:r>
              <a:rPr lang="en-US" dirty="0"/>
              <a:t> creates a cycle in the tree T?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Option 2 (more efficient)</a:t>
            </a:r>
            <a:r>
              <a:rPr lang="en-US" dirty="0"/>
              <a:t>: use the Union-Find data structure and the weighted quick-union realization to check whether </a:t>
            </a:r>
            <a:r>
              <a:rPr lang="en-US" i="1" dirty="0"/>
              <a:t>v</a:t>
            </a:r>
            <a:r>
              <a:rPr lang="en-US" dirty="0"/>
              <a:t> and </a:t>
            </a:r>
            <a:r>
              <a:rPr lang="en-US" i="1" dirty="0"/>
              <a:t>w</a:t>
            </a:r>
            <a:r>
              <a:rPr lang="en-US" dirty="0"/>
              <a:t> belong to the same connected component. Cost: </a:t>
            </a:r>
            <a:r>
              <a:rPr lang="en-US" i="1" dirty="0"/>
              <a:t>O(log V)</a:t>
            </a:r>
            <a:r>
              <a:rPr lang="en-US" dirty="0"/>
              <a:t>. </a:t>
            </a:r>
          </a:p>
          <a:p>
            <a:pPr lvl="1"/>
            <a:endParaRPr lang="en-US" dirty="0"/>
          </a:p>
        </p:txBody>
      </p:sp>
      <p:grpSp>
        <p:nvGrpSpPr>
          <p:cNvPr id="77" name="Group 76" descr="case of edge v--w belonging to different connected component. edge is added to MST and components merged">
            <a:extLst>
              <a:ext uri="{FF2B5EF4-FFF2-40B4-BE49-F238E27FC236}">
                <a16:creationId xmlns:a16="http://schemas.microsoft.com/office/drawing/2014/main" id="{A92366E8-9C70-B64D-85F1-A25936B83AE8}"/>
              </a:ext>
            </a:extLst>
          </p:cNvPr>
          <p:cNvGrpSpPr/>
          <p:nvPr/>
        </p:nvGrpSpPr>
        <p:grpSpPr>
          <a:xfrm>
            <a:off x="1490169" y="3838622"/>
            <a:ext cx="4120380" cy="2473468"/>
            <a:chOff x="1482508" y="4244454"/>
            <a:chExt cx="4120380" cy="2473468"/>
          </a:xfrm>
        </p:grpSpPr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0CD44463-1F8B-6B4F-8294-21168F1E13EA}"/>
                </a:ext>
              </a:extLst>
            </p:cNvPr>
            <p:cNvSpPr/>
            <p:nvPr/>
          </p:nvSpPr>
          <p:spPr>
            <a:xfrm>
              <a:off x="1774209" y="4244454"/>
              <a:ext cx="3712191" cy="1433015"/>
            </a:xfrm>
            <a:custGeom>
              <a:avLst/>
              <a:gdLst>
                <a:gd name="connsiteX0" fmla="*/ 3562066 w 3712191"/>
                <a:gd name="connsiteY0" fmla="*/ 109182 h 1433015"/>
                <a:gd name="connsiteX1" fmla="*/ 1269242 w 3712191"/>
                <a:gd name="connsiteY1" fmla="*/ 0 h 1433015"/>
                <a:gd name="connsiteX2" fmla="*/ 0 w 3712191"/>
                <a:gd name="connsiteY2" fmla="*/ 300250 h 1433015"/>
                <a:gd name="connsiteX3" fmla="*/ 436728 w 3712191"/>
                <a:gd name="connsiteY3" fmla="*/ 1064525 h 1433015"/>
                <a:gd name="connsiteX4" fmla="*/ 1337481 w 3712191"/>
                <a:gd name="connsiteY4" fmla="*/ 1050877 h 1433015"/>
                <a:gd name="connsiteX5" fmla="*/ 2088107 w 3712191"/>
                <a:gd name="connsiteY5" fmla="*/ 1228298 h 1433015"/>
                <a:gd name="connsiteX6" fmla="*/ 2947916 w 3712191"/>
                <a:gd name="connsiteY6" fmla="*/ 1433015 h 1433015"/>
                <a:gd name="connsiteX7" fmla="*/ 3712191 w 3712191"/>
                <a:gd name="connsiteY7" fmla="*/ 1146412 h 1433015"/>
                <a:gd name="connsiteX8" fmla="*/ 3562066 w 3712191"/>
                <a:gd name="connsiteY8" fmla="*/ 109182 h 143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12191" h="1433015">
                  <a:moveTo>
                    <a:pt x="3562066" y="109182"/>
                  </a:moveTo>
                  <a:lnTo>
                    <a:pt x="1269242" y="0"/>
                  </a:lnTo>
                  <a:lnTo>
                    <a:pt x="0" y="300250"/>
                  </a:lnTo>
                  <a:lnTo>
                    <a:pt x="436728" y="1064525"/>
                  </a:lnTo>
                  <a:lnTo>
                    <a:pt x="1337481" y="1050877"/>
                  </a:lnTo>
                  <a:lnTo>
                    <a:pt x="2088107" y="1228298"/>
                  </a:lnTo>
                  <a:lnTo>
                    <a:pt x="2947916" y="1433015"/>
                  </a:lnTo>
                  <a:lnTo>
                    <a:pt x="3712191" y="1146412"/>
                  </a:lnTo>
                  <a:lnTo>
                    <a:pt x="3562066" y="109182"/>
                  </a:lnTo>
                  <a:close/>
                </a:path>
              </a:pathLst>
            </a:custGeom>
            <a:solidFill>
              <a:schemeClr val="accent6">
                <a:alpha val="10000"/>
              </a:schemeClr>
            </a:solidFill>
            <a:ln w="444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06AF497-D58D-3349-878B-863A32D0841F}"/>
                </a:ext>
              </a:extLst>
            </p:cNvPr>
            <p:cNvGrpSpPr/>
            <p:nvPr/>
          </p:nvGrpSpPr>
          <p:grpSpPr>
            <a:xfrm>
              <a:off x="1482508" y="4390978"/>
              <a:ext cx="4120380" cy="2326944"/>
              <a:chOff x="1043812" y="4411915"/>
              <a:chExt cx="4120380" cy="2326944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9467FDBC-4F31-6C43-B1AE-662EBAC3846C}"/>
                  </a:ext>
                </a:extLst>
              </p:cNvPr>
              <p:cNvSpPr/>
              <p:nvPr/>
            </p:nvSpPr>
            <p:spPr>
              <a:xfrm>
                <a:off x="1818352" y="4411915"/>
                <a:ext cx="1323833" cy="764275"/>
              </a:xfrm>
              <a:custGeom>
                <a:avLst/>
                <a:gdLst>
                  <a:gd name="connsiteX0" fmla="*/ 777922 w 1323833"/>
                  <a:gd name="connsiteY0" fmla="*/ 0 h 764275"/>
                  <a:gd name="connsiteX1" fmla="*/ 40943 w 1323833"/>
                  <a:gd name="connsiteY1" fmla="*/ 232012 h 764275"/>
                  <a:gd name="connsiteX2" fmla="*/ 0 w 1323833"/>
                  <a:gd name="connsiteY2" fmla="*/ 682388 h 764275"/>
                  <a:gd name="connsiteX3" fmla="*/ 586853 w 1323833"/>
                  <a:gd name="connsiteY3" fmla="*/ 764275 h 764275"/>
                  <a:gd name="connsiteX4" fmla="*/ 1323833 w 1323833"/>
                  <a:gd name="connsiteY4" fmla="*/ 341194 h 764275"/>
                  <a:gd name="connsiteX5" fmla="*/ 777922 w 1323833"/>
                  <a:gd name="connsiteY5" fmla="*/ 0 h 764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23833" h="764275">
                    <a:moveTo>
                      <a:pt x="777922" y="0"/>
                    </a:moveTo>
                    <a:lnTo>
                      <a:pt x="40943" y="232012"/>
                    </a:lnTo>
                    <a:lnTo>
                      <a:pt x="0" y="682388"/>
                    </a:lnTo>
                    <a:lnTo>
                      <a:pt x="586853" y="764275"/>
                    </a:lnTo>
                    <a:lnTo>
                      <a:pt x="1323833" y="341194"/>
                    </a:lnTo>
                    <a:lnTo>
                      <a:pt x="777922" y="0"/>
                    </a:lnTo>
                    <a:close/>
                  </a:path>
                </a:pathLst>
              </a:custGeom>
              <a:solidFill>
                <a:schemeClr val="accent5">
                  <a:alpha val="20000"/>
                </a:schemeClr>
              </a:solidFill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C9C64F5E-403E-6E4B-B149-9F7EFD13AF49}"/>
                  </a:ext>
                </a:extLst>
              </p:cNvPr>
              <p:cNvSpPr/>
              <p:nvPr/>
            </p:nvSpPr>
            <p:spPr>
              <a:xfrm>
                <a:off x="2904697" y="4430569"/>
                <a:ext cx="1760562" cy="1127016"/>
              </a:xfrm>
              <a:custGeom>
                <a:avLst/>
                <a:gdLst>
                  <a:gd name="connsiteX0" fmla="*/ 941696 w 1965278"/>
                  <a:gd name="connsiteY0" fmla="*/ 0 h 1624083"/>
                  <a:gd name="connsiteX1" fmla="*/ 818866 w 1965278"/>
                  <a:gd name="connsiteY1" fmla="*/ 504967 h 1624083"/>
                  <a:gd name="connsiteX2" fmla="*/ 0 w 1965278"/>
                  <a:gd name="connsiteY2" fmla="*/ 914400 h 1624083"/>
                  <a:gd name="connsiteX3" fmla="*/ 0 w 1965278"/>
                  <a:gd name="connsiteY3" fmla="*/ 1241946 h 1624083"/>
                  <a:gd name="connsiteX4" fmla="*/ 1364776 w 1965278"/>
                  <a:gd name="connsiteY4" fmla="*/ 1624083 h 1624083"/>
                  <a:gd name="connsiteX5" fmla="*/ 1951630 w 1965278"/>
                  <a:gd name="connsiteY5" fmla="*/ 1337480 h 1624083"/>
                  <a:gd name="connsiteX6" fmla="*/ 1965278 w 1965278"/>
                  <a:gd name="connsiteY6" fmla="*/ 13647 h 1624083"/>
                  <a:gd name="connsiteX7" fmla="*/ 941696 w 1965278"/>
                  <a:gd name="connsiteY7" fmla="*/ 0 h 162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65278" h="1624083">
                    <a:moveTo>
                      <a:pt x="941696" y="0"/>
                    </a:moveTo>
                    <a:lnTo>
                      <a:pt x="818866" y="504967"/>
                    </a:lnTo>
                    <a:lnTo>
                      <a:pt x="0" y="914400"/>
                    </a:lnTo>
                    <a:lnTo>
                      <a:pt x="0" y="1241946"/>
                    </a:lnTo>
                    <a:lnTo>
                      <a:pt x="1364776" y="1624083"/>
                    </a:lnTo>
                    <a:lnTo>
                      <a:pt x="1951630" y="1337480"/>
                    </a:lnTo>
                    <a:lnTo>
                      <a:pt x="1965278" y="13647"/>
                    </a:lnTo>
                    <a:lnTo>
                      <a:pt x="941696" y="0"/>
                    </a:lnTo>
                    <a:close/>
                  </a:path>
                </a:pathLst>
              </a:custGeom>
              <a:solidFill>
                <a:schemeClr val="accent5">
                  <a:alpha val="20000"/>
                </a:schemeClr>
              </a:solidFill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2C0D9AA-B722-8547-8341-A9D57DE9BBDB}"/>
                  </a:ext>
                </a:extLst>
              </p:cNvPr>
              <p:cNvSpPr/>
              <p:nvPr/>
            </p:nvSpPr>
            <p:spPr>
              <a:xfrm>
                <a:off x="3996982" y="479405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C7D752C7-049A-5C45-A963-327C57C2B37C}"/>
                  </a:ext>
                </a:extLst>
              </p:cNvPr>
              <p:cNvSpPr/>
              <p:nvPr/>
            </p:nvSpPr>
            <p:spPr>
              <a:xfrm>
                <a:off x="2075120" y="464472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</a:t>
                </a:r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90748230-F8D0-E248-9DC9-63640CB2B9B9}"/>
                  </a:ext>
                </a:extLst>
              </p:cNvPr>
              <p:cNvCxnSpPr>
                <a:cxnSpLocks/>
                <a:stCxn id="36" idx="2"/>
                <a:endCxn id="38" idx="6"/>
              </p:cNvCxnSpPr>
              <p:nvPr/>
            </p:nvCxnSpPr>
            <p:spPr>
              <a:xfrm flipH="1" flipV="1">
                <a:off x="2460882" y="4844747"/>
                <a:ext cx="1536100" cy="14933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B8BAD73A-32E9-F540-83FE-9E1807F71287}"/>
                  </a:ext>
                </a:extLst>
              </p:cNvPr>
              <p:cNvSpPr/>
              <p:nvPr/>
            </p:nvSpPr>
            <p:spPr>
              <a:xfrm>
                <a:off x="1381623" y="5376215"/>
                <a:ext cx="2808240" cy="684996"/>
              </a:xfrm>
              <a:custGeom>
                <a:avLst/>
                <a:gdLst>
                  <a:gd name="connsiteX0" fmla="*/ 1460310 w 2333767"/>
                  <a:gd name="connsiteY0" fmla="*/ 204716 h 1337481"/>
                  <a:gd name="connsiteX1" fmla="*/ 477671 w 2333767"/>
                  <a:gd name="connsiteY1" fmla="*/ 0 h 1337481"/>
                  <a:gd name="connsiteX2" fmla="*/ 13648 w 2333767"/>
                  <a:gd name="connsiteY2" fmla="*/ 614149 h 1337481"/>
                  <a:gd name="connsiteX3" fmla="*/ 0 w 2333767"/>
                  <a:gd name="connsiteY3" fmla="*/ 1064525 h 1337481"/>
                  <a:gd name="connsiteX4" fmla="*/ 2333767 w 2333767"/>
                  <a:gd name="connsiteY4" fmla="*/ 1337481 h 1337481"/>
                  <a:gd name="connsiteX5" fmla="*/ 1460310 w 2333767"/>
                  <a:gd name="connsiteY5" fmla="*/ 204716 h 1337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33767" h="1337481">
                    <a:moveTo>
                      <a:pt x="1460310" y="204716"/>
                    </a:moveTo>
                    <a:lnTo>
                      <a:pt x="477671" y="0"/>
                    </a:lnTo>
                    <a:lnTo>
                      <a:pt x="13648" y="614149"/>
                    </a:lnTo>
                    <a:lnTo>
                      <a:pt x="0" y="1064525"/>
                    </a:lnTo>
                    <a:lnTo>
                      <a:pt x="2333767" y="1337481"/>
                    </a:lnTo>
                    <a:lnTo>
                      <a:pt x="1460310" y="204716"/>
                    </a:lnTo>
                    <a:close/>
                  </a:path>
                </a:pathLst>
              </a:custGeom>
              <a:solidFill>
                <a:schemeClr val="accent5">
                  <a:alpha val="20000"/>
                </a:schemeClr>
              </a:solidFill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2BC898B-09EB-7A4F-B138-74CDAF94C366}"/>
                  </a:ext>
                </a:extLst>
              </p:cNvPr>
              <p:cNvSpPr txBox="1"/>
              <p:nvPr/>
            </p:nvSpPr>
            <p:spPr>
              <a:xfrm>
                <a:off x="1043812" y="6154084"/>
                <a:ext cx="41203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highlight>
                      <a:srgbClr val="C0C0C0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Case 1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 find(v) ≠ find(w)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 add v—w to T </a:t>
                </a:r>
              </a:p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and perform union(v, w)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67" name="Group 66" descr="case of edge v--w belonging to same connected component. edge is not added to MST">
            <a:extLst>
              <a:ext uri="{FF2B5EF4-FFF2-40B4-BE49-F238E27FC236}">
                <a16:creationId xmlns:a16="http://schemas.microsoft.com/office/drawing/2014/main" id="{EE3693EE-6BC3-D247-B93B-7E2EF37B1F24}"/>
              </a:ext>
            </a:extLst>
          </p:cNvPr>
          <p:cNvGrpSpPr/>
          <p:nvPr/>
        </p:nvGrpSpPr>
        <p:grpSpPr>
          <a:xfrm>
            <a:off x="6632004" y="3989142"/>
            <a:ext cx="3831822" cy="2310643"/>
            <a:chOff x="1381623" y="4411915"/>
            <a:chExt cx="3831822" cy="2310643"/>
          </a:xfrm>
        </p:grpSpPr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DD1FE69A-04D1-8A4A-8FC1-2A3700628894}"/>
                </a:ext>
              </a:extLst>
            </p:cNvPr>
            <p:cNvSpPr/>
            <p:nvPr/>
          </p:nvSpPr>
          <p:spPr>
            <a:xfrm>
              <a:off x="1818352" y="4411915"/>
              <a:ext cx="1323833" cy="764275"/>
            </a:xfrm>
            <a:custGeom>
              <a:avLst/>
              <a:gdLst>
                <a:gd name="connsiteX0" fmla="*/ 777922 w 1323833"/>
                <a:gd name="connsiteY0" fmla="*/ 0 h 764275"/>
                <a:gd name="connsiteX1" fmla="*/ 40943 w 1323833"/>
                <a:gd name="connsiteY1" fmla="*/ 232012 h 764275"/>
                <a:gd name="connsiteX2" fmla="*/ 0 w 1323833"/>
                <a:gd name="connsiteY2" fmla="*/ 682388 h 764275"/>
                <a:gd name="connsiteX3" fmla="*/ 586853 w 1323833"/>
                <a:gd name="connsiteY3" fmla="*/ 764275 h 764275"/>
                <a:gd name="connsiteX4" fmla="*/ 1323833 w 1323833"/>
                <a:gd name="connsiteY4" fmla="*/ 341194 h 764275"/>
                <a:gd name="connsiteX5" fmla="*/ 777922 w 1323833"/>
                <a:gd name="connsiteY5" fmla="*/ 0 h 76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3833" h="764275">
                  <a:moveTo>
                    <a:pt x="777922" y="0"/>
                  </a:moveTo>
                  <a:lnTo>
                    <a:pt x="40943" y="232012"/>
                  </a:lnTo>
                  <a:lnTo>
                    <a:pt x="0" y="682388"/>
                  </a:lnTo>
                  <a:lnTo>
                    <a:pt x="586853" y="764275"/>
                  </a:lnTo>
                  <a:lnTo>
                    <a:pt x="1323833" y="341194"/>
                  </a:lnTo>
                  <a:lnTo>
                    <a:pt x="777922" y="0"/>
                  </a:lnTo>
                  <a:close/>
                </a:path>
              </a:pathLst>
            </a:custGeom>
            <a:solidFill>
              <a:schemeClr val="accent5">
                <a:alpha val="20000"/>
              </a:schemeClr>
            </a:solidFill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81DD7034-B350-B94D-BB4F-21453A7964CF}"/>
                </a:ext>
              </a:extLst>
            </p:cNvPr>
            <p:cNvSpPr/>
            <p:nvPr/>
          </p:nvSpPr>
          <p:spPr>
            <a:xfrm>
              <a:off x="2904697" y="4430569"/>
              <a:ext cx="1760562" cy="1127016"/>
            </a:xfrm>
            <a:custGeom>
              <a:avLst/>
              <a:gdLst>
                <a:gd name="connsiteX0" fmla="*/ 941696 w 1965278"/>
                <a:gd name="connsiteY0" fmla="*/ 0 h 1624083"/>
                <a:gd name="connsiteX1" fmla="*/ 818866 w 1965278"/>
                <a:gd name="connsiteY1" fmla="*/ 504967 h 1624083"/>
                <a:gd name="connsiteX2" fmla="*/ 0 w 1965278"/>
                <a:gd name="connsiteY2" fmla="*/ 914400 h 1624083"/>
                <a:gd name="connsiteX3" fmla="*/ 0 w 1965278"/>
                <a:gd name="connsiteY3" fmla="*/ 1241946 h 1624083"/>
                <a:gd name="connsiteX4" fmla="*/ 1364776 w 1965278"/>
                <a:gd name="connsiteY4" fmla="*/ 1624083 h 1624083"/>
                <a:gd name="connsiteX5" fmla="*/ 1951630 w 1965278"/>
                <a:gd name="connsiteY5" fmla="*/ 1337480 h 1624083"/>
                <a:gd name="connsiteX6" fmla="*/ 1965278 w 1965278"/>
                <a:gd name="connsiteY6" fmla="*/ 13647 h 1624083"/>
                <a:gd name="connsiteX7" fmla="*/ 941696 w 1965278"/>
                <a:gd name="connsiteY7" fmla="*/ 0 h 162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65278" h="1624083">
                  <a:moveTo>
                    <a:pt x="941696" y="0"/>
                  </a:moveTo>
                  <a:lnTo>
                    <a:pt x="818866" y="504967"/>
                  </a:lnTo>
                  <a:lnTo>
                    <a:pt x="0" y="914400"/>
                  </a:lnTo>
                  <a:lnTo>
                    <a:pt x="0" y="1241946"/>
                  </a:lnTo>
                  <a:lnTo>
                    <a:pt x="1364776" y="1624083"/>
                  </a:lnTo>
                  <a:lnTo>
                    <a:pt x="1951630" y="1337480"/>
                  </a:lnTo>
                  <a:lnTo>
                    <a:pt x="1965278" y="13647"/>
                  </a:lnTo>
                  <a:lnTo>
                    <a:pt x="941696" y="0"/>
                  </a:lnTo>
                  <a:close/>
                </a:path>
              </a:pathLst>
            </a:custGeom>
            <a:solidFill>
              <a:schemeClr val="accent5">
                <a:alpha val="20000"/>
              </a:schemeClr>
            </a:solidFill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663AD51-8465-B44F-AF5F-67874F4B3089}"/>
                </a:ext>
              </a:extLst>
            </p:cNvPr>
            <p:cNvSpPr/>
            <p:nvPr/>
          </p:nvSpPr>
          <p:spPr>
            <a:xfrm>
              <a:off x="3996982" y="479405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DCF1F614-B7F2-2C4D-AF0C-74EF0FB21F42}"/>
                </a:ext>
              </a:extLst>
            </p:cNvPr>
            <p:cNvSpPr/>
            <p:nvPr/>
          </p:nvSpPr>
          <p:spPr>
            <a:xfrm>
              <a:off x="3291560" y="4945704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7045D3B-41EE-2E4F-ACBB-69B64A115ED9}"/>
                </a:ext>
              </a:extLst>
            </p:cNvPr>
            <p:cNvCxnSpPr>
              <a:cxnSpLocks/>
              <a:stCxn id="71" idx="2"/>
              <a:endCxn id="72" idx="6"/>
            </p:cNvCxnSpPr>
            <p:nvPr/>
          </p:nvCxnSpPr>
          <p:spPr>
            <a:xfrm flipH="1">
              <a:off x="3677322" y="4994077"/>
              <a:ext cx="319660" cy="15165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5788D142-7925-C446-88C4-AAB024D6CE76}"/>
                </a:ext>
              </a:extLst>
            </p:cNvPr>
            <p:cNvSpPr/>
            <p:nvPr/>
          </p:nvSpPr>
          <p:spPr>
            <a:xfrm>
              <a:off x="1381623" y="5376215"/>
              <a:ext cx="2808240" cy="684996"/>
            </a:xfrm>
            <a:custGeom>
              <a:avLst/>
              <a:gdLst>
                <a:gd name="connsiteX0" fmla="*/ 1460310 w 2333767"/>
                <a:gd name="connsiteY0" fmla="*/ 204716 h 1337481"/>
                <a:gd name="connsiteX1" fmla="*/ 477671 w 2333767"/>
                <a:gd name="connsiteY1" fmla="*/ 0 h 1337481"/>
                <a:gd name="connsiteX2" fmla="*/ 13648 w 2333767"/>
                <a:gd name="connsiteY2" fmla="*/ 614149 h 1337481"/>
                <a:gd name="connsiteX3" fmla="*/ 0 w 2333767"/>
                <a:gd name="connsiteY3" fmla="*/ 1064525 h 1337481"/>
                <a:gd name="connsiteX4" fmla="*/ 2333767 w 2333767"/>
                <a:gd name="connsiteY4" fmla="*/ 1337481 h 1337481"/>
                <a:gd name="connsiteX5" fmla="*/ 1460310 w 2333767"/>
                <a:gd name="connsiteY5" fmla="*/ 204716 h 1337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33767" h="1337481">
                  <a:moveTo>
                    <a:pt x="1460310" y="204716"/>
                  </a:moveTo>
                  <a:lnTo>
                    <a:pt x="477671" y="0"/>
                  </a:lnTo>
                  <a:lnTo>
                    <a:pt x="13648" y="614149"/>
                  </a:lnTo>
                  <a:lnTo>
                    <a:pt x="0" y="1064525"/>
                  </a:lnTo>
                  <a:lnTo>
                    <a:pt x="2333767" y="1337481"/>
                  </a:lnTo>
                  <a:lnTo>
                    <a:pt x="1460310" y="204716"/>
                  </a:lnTo>
                  <a:close/>
                </a:path>
              </a:pathLst>
            </a:custGeom>
            <a:solidFill>
              <a:schemeClr val="accent5">
                <a:alpha val="20000"/>
              </a:schemeClr>
            </a:solidFill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EC4AFBD-6197-CA43-BA7A-1266B9B6594D}"/>
                </a:ext>
              </a:extLst>
            </p:cNvPr>
            <p:cNvSpPr txBox="1"/>
            <p:nvPr/>
          </p:nvSpPr>
          <p:spPr>
            <a:xfrm>
              <a:off x="1443887" y="6137783"/>
              <a:ext cx="376955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Case 2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: find(v) == find(w) 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 discard 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(adding v—w to T would create a cycle)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6684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AEE43-3C6E-6D4D-ADC4-60486781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Edge-weighted graph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928D7-E09C-2846-9B76-BEB490644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Unweighted</a:t>
            </a:r>
            <a:r>
              <a:rPr lang="en-US" dirty="0"/>
              <a:t> graph representation via adjacency list</a:t>
            </a:r>
          </a:p>
          <a:p>
            <a:pPr lvl="1"/>
            <a:r>
              <a:rPr lang="en-US" dirty="0"/>
              <a:t>Vertex-indexed array of lists</a:t>
            </a:r>
          </a:p>
          <a:p>
            <a:pPr lvl="1"/>
            <a:r>
              <a:rPr lang="en-US" dirty="0"/>
              <a:t>Each list represented as a </a:t>
            </a:r>
            <a:r>
              <a:rPr lang="en-US" dirty="0">
                <a:highlight>
                  <a:srgbClr val="C0C0C0"/>
                </a:highlight>
              </a:rPr>
              <a:t>bag of vertices</a:t>
            </a:r>
          </a:p>
        </p:txBody>
      </p:sp>
      <p:graphicFrame>
        <p:nvGraphicFramePr>
          <p:cNvPr id="33" name="Table 32" descr="adjecency matrix representation of the graph (vertex index)">
            <a:extLst>
              <a:ext uri="{FF2B5EF4-FFF2-40B4-BE49-F238E27FC236}">
                <a16:creationId xmlns:a16="http://schemas.microsoft.com/office/drawing/2014/main" id="{17899976-C130-C743-9512-DAC1EF444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050749"/>
              </p:ext>
            </p:extLst>
          </p:nvPr>
        </p:nvGraphicFramePr>
        <p:xfrm>
          <a:off x="4369717" y="3462132"/>
          <a:ext cx="790576" cy="19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6">
                  <a:extLst>
                    <a:ext uri="{9D8B030D-6E8A-4147-A177-3AD203B41FA5}">
                      <a16:colId xmlns:a16="http://schemas.microsoft.com/office/drawing/2014/main" val="3075564107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677797891"/>
                    </a:ext>
                  </a:extLst>
                </a:gridCol>
              </a:tblGrid>
              <a:tr h="2397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adj[]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410693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322719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405553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668997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518417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43036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198116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359402"/>
                  </a:ext>
                </a:extLst>
              </a:tr>
            </a:tbl>
          </a:graphicData>
        </a:graphic>
      </p:graphicFrame>
      <p:grpSp>
        <p:nvGrpSpPr>
          <p:cNvPr id="83" name="Group 82" descr="graphical representation of unweighted graph via adjacency list">
            <a:extLst>
              <a:ext uri="{FF2B5EF4-FFF2-40B4-BE49-F238E27FC236}">
                <a16:creationId xmlns:a16="http://schemas.microsoft.com/office/drawing/2014/main" id="{E39AD87A-01A4-7A4C-9EEE-6C05B8289BFA}"/>
              </a:ext>
            </a:extLst>
          </p:cNvPr>
          <p:cNvGrpSpPr/>
          <p:nvPr/>
        </p:nvGrpSpPr>
        <p:grpSpPr>
          <a:xfrm>
            <a:off x="757238" y="2997405"/>
            <a:ext cx="10813580" cy="3368081"/>
            <a:chOff x="757238" y="2997405"/>
            <a:chExt cx="10813580" cy="336808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B6BC857-9DE8-6642-A49B-F09645AEF62E}"/>
                </a:ext>
              </a:extLst>
            </p:cNvPr>
            <p:cNvGrpSpPr/>
            <p:nvPr/>
          </p:nvGrpSpPr>
          <p:grpSpPr>
            <a:xfrm>
              <a:off x="757238" y="3086100"/>
              <a:ext cx="2708578" cy="2459187"/>
              <a:chOff x="757238" y="3086100"/>
              <a:chExt cx="2708578" cy="2459187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5FF724C-A19A-FE4D-B8C7-B88C89D873F5}"/>
                  </a:ext>
                </a:extLst>
              </p:cNvPr>
              <p:cNvSpPr/>
              <p:nvPr/>
            </p:nvSpPr>
            <p:spPr>
              <a:xfrm>
                <a:off x="757238" y="308610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435C31F-3F11-1440-BF50-D12B3F657533}"/>
                  </a:ext>
                </a:extLst>
              </p:cNvPr>
              <p:cNvSpPr/>
              <p:nvPr/>
            </p:nvSpPr>
            <p:spPr>
              <a:xfrm>
                <a:off x="757238" y="514523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5382907-9747-B849-9066-9AC7EF77056A}"/>
                  </a:ext>
                </a:extLst>
              </p:cNvPr>
              <p:cNvSpPr/>
              <p:nvPr/>
            </p:nvSpPr>
            <p:spPr>
              <a:xfrm>
                <a:off x="1345987" y="3776653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BCBCCDD-ED99-5E4D-88EC-8A2B7854AEE9}"/>
                  </a:ext>
                </a:extLst>
              </p:cNvPr>
              <p:cNvSpPr/>
              <p:nvPr/>
            </p:nvSpPr>
            <p:spPr>
              <a:xfrm>
                <a:off x="2172859" y="376714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9850197-2021-054B-8E92-BE69A303E86A}"/>
                  </a:ext>
                </a:extLst>
              </p:cNvPr>
              <p:cNvSpPr/>
              <p:nvPr/>
            </p:nvSpPr>
            <p:spPr>
              <a:xfrm>
                <a:off x="3080054" y="3776653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E0E8C5-B734-7448-9045-88B99BAA0A93}"/>
                  </a:ext>
                </a:extLst>
              </p:cNvPr>
              <p:cNvSpPr/>
              <p:nvPr/>
            </p:nvSpPr>
            <p:spPr>
              <a:xfrm>
                <a:off x="2595468" y="4495929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6BD5CFF-52EE-3145-A9F5-4D9C34496246}"/>
                  </a:ext>
                </a:extLst>
              </p:cNvPr>
              <p:cNvSpPr/>
              <p:nvPr/>
            </p:nvSpPr>
            <p:spPr>
              <a:xfrm>
                <a:off x="1744524" y="4495929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819BAB39-032E-AD49-A87E-F545CB3E01F6}"/>
                  </a:ext>
                </a:extLst>
              </p:cNvPr>
              <p:cNvCxnSpPr>
                <a:stCxn id="19" idx="4"/>
                <a:endCxn id="20" idx="0"/>
              </p:cNvCxnSpPr>
              <p:nvPr/>
            </p:nvCxnSpPr>
            <p:spPr>
              <a:xfrm>
                <a:off x="950119" y="3486150"/>
                <a:ext cx="0" cy="165908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D4B778BA-AF20-E749-9362-CA04D1525EA0}"/>
                  </a:ext>
                </a:extLst>
              </p:cNvPr>
              <p:cNvCxnSpPr>
                <a:cxnSpLocks/>
                <a:stCxn id="19" idx="5"/>
                <a:endCxn id="21" idx="7"/>
              </p:cNvCxnSpPr>
              <p:nvPr/>
            </p:nvCxnSpPr>
            <p:spPr>
              <a:xfrm>
                <a:off x="1086506" y="3427564"/>
                <a:ext cx="588749" cy="4076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837C4F3-A891-C149-97D6-8F7761FC9577}"/>
                  </a:ext>
                </a:extLst>
              </p:cNvPr>
              <p:cNvCxnSpPr>
                <a:cxnSpLocks/>
                <a:stCxn id="19" idx="6"/>
                <a:endCxn id="22" idx="1"/>
              </p:cNvCxnSpPr>
              <p:nvPr/>
            </p:nvCxnSpPr>
            <p:spPr>
              <a:xfrm>
                <a:off x="1143000" y="3286125"/>
                <a:ext cx="1086353" cy="53960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AC39AB64-A5A4-3840-BCF3-8939DA4893E7}"/>
                  </a:ext>
                </a:extLst>
              </p:cNvPr>
              <p:cNvCxnSpPr>
                <a:cxnSpLocks/>
                <a:stCxn id="19" idx="7"/>
                <a:endCxn id="23" idx="1"/>
              </p:cNvCxnSpPr>
              <p:nvPr/>
            </p:nvCxnSpPr>
            <p:spPr>
              <a:xfrm>
                <a:off x="1086506" y="3144686"/>
                <a:ext cx="2050042" cy="69055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956CD1D1-E1BC-A243-A250-492AA1ACEFAF}"/>
                  </a:ext>
                </a:extLst>
              </p:cNvPr>
              <p:cNvCxnSpPr>
                <a:cxnSpLocks/>
                <a:stCxn id="25" idx="2"/>
                <a:endCxn id="20" idx="7"/>
              </p:cNvCxnSpPr>
              <p:nvPr/>
            </p:nvCxnSpPr>
            <p:spPr>
              <a:xfrm flipH="1">
                <a:off x="1086506" y="4695954"/>
                <a:ext cx="658018" cy="50786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BF6469D-43E5-B041-9E61-80A2DB7507A0}"/>
                  </a:ext>
                </a:extLst>
              </p:cNvPr>
              <p:cNvCxnSpPr>
                <a:cxnSpLocks/>
                <a:stCxn id="24" idx="2"/>
                <a:endCxn id="25" idx="6"/>
              </p:cNvCxnSpPr>
              <p:nvPr/>
            </p:nvCxnSpPr>
            <p:spPr>
              <a:xfrm flipH="1">
                <a:off x="2130286" y="4695954"/>
                <a:ext cx="465182" cy="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2097841C-7B40-994A-B1BF-85F751CD66E0}"/>
                  </a:ext>
                </a:extLst>
              </p:cNvPr>
              <p:cNvCxnSpPr>
                <a:cxnSpLocks/>
                <a:stCxn id="23" idx="3"/>
                <a:endCxn id="24" idx="7"/>
              </p:cNvCxnSpPr>
              <p:nvPr/>
            </p:nvCxnSpPr>
            <p:spPr>
              <a:xfrm flipH="1">
                <a:off x="2924736" y="4118117"/>
                <a:ext cx="211812" cy="436398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881FF17-9710-9949-B256-0F9E7593D128}"/>
                </a:ext>
              </a:extLst>
            </p:cNvPr>
            <p:cNvGrpSpPr/>
            <p:nvPr/>
          </p:nvGrpSpPr>
          <p:grpSpPr>
            <a:xfrm>
              <a:off x="5906022" y="3000373"/>
              <a:ext cx="2314575" cy="371475"/>
              <a:chOff x="7529514" y="2014536"/>
              <a:chExt cx="2314575" cy="371475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4CF1BA1-A00E-BC46-BAD2-19403772ED85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0CB07B0-EAFA-834D-B1D1-0CD3BADD9D97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8042127A-F0E7-F54D-A5DD-FA9A8ECF1901}"/>
                  </a:ext>
                </a:extLst>
              </p:cNvPr>
              <p:cNvSpPr/>
              <p:nvPr/>
            </p:nvSpPr>
            <p:spPr>
              <a:xfrm>
                <a:off x="8901113" y="207645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09D55E8-CFD0-F349-A890-07687C54FB02}"/>
                  </a:ext>
                </a:extLst>
              </p:cNvPr>
              <p:cNvSpPr/>
              <p:nvPr/>
            </p:nvSpPr>
            <p:spPr>
              <a:xfrm>
                <a:off x="9412563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2528EF07-BB9B-3F41-BC43-328CC6B358E7}"/>
                  </a:ext>
                </a:extLst>
              </p:cNvPr>
              <p:cNvCxnSpPr>
                <a:stCxn id="34" idx="3"/>
                <a:endCxn id="35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2115BCA6-D70D-6246-898C-D5E561D51A94}"/>
                  </a:ext>
                </a:extLst>
              </p:cNvPr>
              <p:cNvCxnSpPr/>
              <p:nvPr/>
            </p:nvCxnSpPr>
            <p:spPr>
              <a:xfrm>
                <a:off x="8679657" y="2200275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E56BC604-1721-4E44-A355-2E36C73BC5D9}"/>
                  </a:ext>
                </a:extLst>
              </p:cNvPr>
              <p:cNvCxnSpPr/>
              <p:nvPr/>
            </p:nvCxnSpPr>
            <p:spPr>
              <a:xfrm>
                <a:off x="9205395" y="2200275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76885EED-1D68-F944-80B7-082BCAE0F3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4A9FC1DF-98B2-F846-8DEC-D164A82BEDA8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2314575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8F36E17-11D2-7143-B352-BE9E00365061}"/>
                </a:ext>
              </a:extLst>
            </p:cNvPr>
            <p:cNvGrpSpPr/>
            <p:nvPr/>
          </p:nvGrpSpPr>
          <p:grpSpPr>
            <a:xfrm>
              <a:off x="5903110" y="3490619"/>
              <a:ext cx="842962" cy="371475"/>
              <a:chOff x="7529515" y="2014536"/>
              <a:chExt cx="842962" cy="371475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5D5C602-4A89-7044-9D74-31DC33E82A05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AA560F4A-CEE7-C046-A854-796C234CB0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E39C62FE-2A8C-654F-A523-0C183EF0D304}"/>
                  </a:ext>
                </a:extLst>
              </p:cNvPr>
              <p:cNvSpPr/>
              <p:nvPr/>
            </p:nvSpPr>
            <p:spPr>
              <a:xfrm>
                <a:off x="7529515" y="2014536"/>
                <a:ext cx="842962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8BC5533-3EDA-E24F-8760-5E8328597889}"/>
                </a:ext>
              </a:extLst>
            </p:cNvPr>
            <p:cNvGrpSpPr/>
            <p:nvPr/>
          </p:nvGrpSpPr>
          <p:grpSpPr>
            <a:xfrm>
              <a:off x="5908636" y="3958264"/>
              <a:ext cx="850105" cy="371475"/>
              <a:chOff x="7529514" y="2000248"/>
              <a:chExt cx="850105" cy="371475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89218EBD-4456-1648-BD65-5CDF8A052A91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F43C7D56-6A1D-FB4C-BBC6-664A36E470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Rounded Rectangle 64">
                <a:extLst>
                  <a:ext uri="{FF2B5EF4-FFF2-40B4-BE49-F238E27FC236}">
                    <a16:creationId xmlns:a16="http://schemas.microsoft.com/office/drawing/2014/main" id="{BF3D6EA4-63C5-4846-BD20-1F659E3B64B2}"/>
                  </a:ext>
                </a:extLst>
              </p:cNvPr>
              <p:cNvSpPr/>
              <p:nvPr/>
            </p:nvSpPr>
            <p:spPr>
              <a:xfrm>
                <a:off x="7529514" y="2000248"/>
                <a:ext cx="850105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54EAC91-973A-5A47-BFBC-D985A26D4721}"/>
                </a:ext>
              </a:extLst>
            </p:cNvPr>
            <p:cNvGrpSpPr/>
            <p:nvPr/>
          </p:nvGrpSpPr>
          <p:grpSpPr>
            <a:xfrm>
              <a:off x="5908637" y="4475831"/>
              <a:ext cx="1258131" cy="371475"/>
              <a:chOff x="7529514" y="2014536"/>
              <a:chExt cx="1258131" cy="371475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00A2B77C-A941-9147-815B-B1A48F109A10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1D00034D-E13F-D444-ADB6-EBB1FE559C1D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9D82AECD-4509-F04F-AB35-6BE86D999896}"/>
                  </a:ext>
                </a:extLst>
              </p:cNvPr>
              <p:cNvCxnSpPr>
                <a:stCxn id="67" idx="3"/>
                <a:endCxn id="68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5D78DBE4-8C78-854D-B244-944CE208C5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2D80D797-E70E-8947-B6FF-B9C73E44EF67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58131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E323299-97AF-2948-8882-D1A410F8979F}"/>
                </a:ext>
              </a:extLst>
            </p:cNvPr>
            <p:cNvGrpSpPr/>
            <p:nvPr/>
          </p:nvGrpSpPr>
          <p:grpSpPr>
            <a:xfrm>
              <a:off x="5908637" y="4998167"/>
              <a:ext cx="1888330" cy="371475"/>
              <a:chOff x="7529515" y="2014536"/>
              <a:chExt cx="1888330" cy="371475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0972EE5D-C6A7-BF4A-AA6F-5BAFA25A6495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B88E399-C7B1-094F-BF10-DAA141A86F30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690064C0-173E-594E-9962-CEC275849638}"/>
                  </a:ext>
                </a:extLst>
              </p:cNvPr>
              <p:cNvSpPr/>
              <p:nvPr/>
            </p:nvSpPr>
            <p:spPr>
              <a:xfrm>
                <a:off x="8901113" y="207645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1C837711-6CE1-2948-8980-9FDB182FE9FE}"/>
                  </a:ext>
                </a:extLst>
              </p:cNvPr>
              <p:cNvCxnSpPr>
                <a:stCxn id="77" idx="3"/>
                <a:endCxn id="78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C4597AA5-14C4-AE47-B35E-B5951B1CAD42}"/>
                  </a:ext>
                </a:extLst>
              </p:cNvPr>
              <p:cNvCxnSpPr/>
              <p:nvPr/>
            </p:nvCxnSpPr>
            <p:spPr>
              <a:xfrm>
                <a:off x="8679657" y="2200275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9FC79A97-1F1C-A844-83AA-B9D8B0C409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Rounded Rectangle 84">
                <a:extLst>
                  <a:ext uri="{FF2B5EF4-FFF2-40B4-BE49-F238E27FC236}">
                    <a16:creationId xmlns:a16="http://schemas.microsoft.com/office/drawing/2014/main" id="{78E2910D-78A4-A94A-A3CF-DD836579D871}"/>
                  </a:ext>
                </a:extLst>
              </p:cNvPr>
              <p:cNvSpPr/>
              <p:nvPr/>
            </p:nvSpPr>
            <p:spPr>
              <a:xfrm>
                <a:off x="7529515" y="2014536"/>
                <a:ext cx="1888330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6F7F4EBD-A441-7D4F-887C-7AF8440B33E0}"/>
                </a:ext>
              </a:extLst>
            </p:cNvPr>
            <p:cNvGrpSpPr/>
            <p:nvPr/>
          </p:nvGrpSpPr>
          <p:grpSpPr>
            <a:xfrm>
              <a:off x="5908637" y="5514743"/>
              <a:ext cx="1888331" cy="371475"/>
              <a:chOff x="7529514" y="2000248"/>
              <a:chExt cx="1888331" cy="371475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458A767A-7626-8B40-86D5-52528620D08F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E88D2C4A-4713-7A4D-B7E9-972016F2C09F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C9D61383-0942-6941-A5F7-6FF406D1CE21}"/>
                  </a:ext>
                </a:extLst>
              </p:cNvPr>
              <p:cNvSpPr/>
              <p:nvPr/>
            </p:nvSpPr>
            <p:spPr>
              <a:xfrm>
                <a:off x="8901113" y="207645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C8F34353-5135-2048-A387-B8B1133A2C67}"/>
                  </a:ext>
                </a:extLst>
              </p:cNvPr>
              <p:cNvCxnSpPr>
                <a:stCxn id="87" idx="3"/>
                <a:endCxn id="88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7FF69383-4295-1248-8088-D197DB98447C}"/>
                  </a:ext>
                </a:extLst>
              </p:cNvPr>
              <p:cNvCxnSpPr/>
              <p:nvPr/>
            </p:nvCxnSpPr>
            <p:spPr>
              <a:xfrm>
                <a:off x="8679657" y="2200275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3981FE0C-9377-7446-B997-C528748CC6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Rounded Rectangle 94">
                <a:extLst>
                  <a:ext uri="{FF2B5EF4-FFF2-40B4-BE49-F238E27FC236}">
                    <a16:creationId xmlns:a16="http://schemas.microsoft.com/office/drawing/2014/main" id="{4726DA57-701F-DC4A-A78D-8F7C15D74ED6}"/>
                  </a:ext>
                </a:extLst>
              </p:cNvPr>
              <p:cNvSpPr/>
              <p:nvPr/>
            </p:nvSpPr>
            <p:spPr>
              <a:xfrm>
                <a:off x="7529514" y="2000248"/>
                <a:ext cx="1888331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0F593EF3-D1F3-174A-8279-A11F9153565B}"/>
                </a:ext>
              </a:extLst>
            </p:cNvPr>
            <p:cNvGrpSpPr/>
            <p:nvPr/>
          </p:nvGrpSpPr>
          <p:grpSpPr>
            <a:xfrm>
              <a:off x="5894392" y="5994011"/>
              <a:ext cx="1260513" cy="371475"/>
              <a:chOff x="7529514" y="2014536"/>
              <a:chExt cx="1260513" cy="371475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90B0D9E0-9434-504F-B2B2-F728B8C42994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749BEE4B-5600-E546-823C-9B69362218F7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06D2BED4-C128-8F4D-846A-AAE03E4A4E4E}"/>
                  </a:ext>
                </a:extLst>
              </p:cNvPr>
              <p:cNvCxnSpPr>
                <a:stCxn id="97" idx="3"/>
                <a:endCxn id="98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2C8F962F-9688-7C40-AC3B-C0BC48C781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Rounded Rectangle 104">
                <a:extLst>
                  <a:ext uri="{FF2B5EF4-FFF2-40B4-BE49-F238E27FC236}">
                    <a16:creationId xmlns:a16="http://schemas.microsoft.com/office/drawing/2014/main" id="{FA3FBE77-2424-504D-A4FB-3B58225DE207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663D3EC8-E696-2D44-8D06-B2538C7ADA87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 flipV="1">
              <a:off x="5156647" y="3186111"/>
              <a:ext cx="749375" cy="639621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BFA8CE23-E576-B143-B3F9-78B37279AF1F}"/>
                </a:ext>
              </a:extLst>
            </p:cNvPr>
            <p:cNvCxnSpPr>
              <a:cxnSpLocks/>
              <a:endCxn id="55" idx="1"/>
            </p:cNvCxnSpPr>
            <p:nvPr/>
          </p:nvCxnSpPr>
          <p:spPr>
            <a:xfrm flipV="1">
              <a:off x="5160293" y="3676357"/>
              <a:ext cx="742817" cy="388715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FB09DF11-8512-514F-A07A-74A7776D84F0}"/>
                </a:ext>
              </a:extLst>
            </p:cNvPr>
            <p:cNvCxnSpPr>
              <a:cxnSpLocks/>
              <a:stCxn id="33" idx="3"/>
              <a:endCxn id="65" idx="1"/>
            </p:cNvCxnSpPr>
            <p:nvPr/>
          </p:nvCxnSpPr>
          <p:spPr>
            <a:xfrm flipV="1">
              <a:off x="5160293" y="4144002"/>
              <a:ext cx="748343" cy="27709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E6BDB393-7A72-FF43-A473-4BF54B01E55D}"/>
                </a:ext>
              </a:extLst>
            </p:cNvPr>
            <p:cNvCxnSpPr>
              <a:cxnSpLocks/>
              <a:endCxn id="75" idx="1"/>
            </p:cNvCxnSpPr>
            <p:nvPr/>
          </p:nvCxnSpPr>
          <p:spPr>
            <a:xfrm>
              <a:off x="5156647" y="4566193"/>
              <a:ext cx="751990" cy="95376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A06DF733-11EE-084A-AAC8-8514A4B33367}"/>
                </a:ext>
              </a:extLst>
            </p:cNvPr>
            <p:cNvCxnSpPr>
              <a:cxnSpLocks/>
              <a:endCxn id="85" idx="1"/>
            </p:cNvCxnSpPr>
            <p:nvPr/>
          </p:nvCxnSpPr>
          <p:spPr>
            <a:xfrm>
              <a:off x="5160293" y="4805533"/>
              <a:ext cx="748344" cy="378372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08DCFCFC-5F68-A74C-9CAD-59A2AED700B6}"/>
                </a:ext>
              </a:extLst>
            </p:cNvPr>
            <p:cNvCxnSpPr>
              <a:cxnSpLocks/>
              <a:endCxn id="95" idx="1"/>
            </p:cNvCxnSpPr>
            <p:nvPr/>
          </p:nvCxnSpPr>
          <p:spPr>
            <a:xfrm>
              <a:off x="5187765" y="5070200"/>
              <a:ext cx="720872" cy="630281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77B58C1C-F845-324A-A7FF-CED625122576}"/>
                </a:ext>
              </a:extLst>
            </p:cNvPr>
            <p:cNvCxnSpPr>
              <a:cxnSpLocks/>
              <a:endCxn id="105" idx="1"/>
            </p:cNvCxnSpPr>
            <p:nvPr/>
          </p:nvCxnSpPr>
          <p:spPr>
            <a:xfrm>
              <a:off x="5156647" y="5291698"/>
              <a:ext cx="737745" cy="888051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2C10C7B2-A7AD-F945-A8BD-85FE3E34F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3000" y="4837393"/>
              <a:ext cx="1508962" cy="50786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A3CCC242-285F-8B41-A4C4-5E0374BEE61C}"/>
                </a:ext>
              </a:extLst>
            </p:cNvPr>
            <p:cNvSpPr txBox="1"/>
            <p:nvPr/>
          </p:nvSpPr>
          <p:spPr>
            <a:xfrm>
              <a:off x="10004364" y="5070481"/>
              <a:ext cx="15664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representation</a:t>
              </a:r>
            </a:p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 the same edge</a:t>
              </a:r>
            </a:p>
          </p:txBody>
        </p:sp>
        <p:sp>
          <p:nvSpPr>
            <p:cNvPr id="209" name="Rounded Rectangle 208">
              <a:extLst>
                <a:ext uri="{FF2B5EF4-FFF2-40B4-BE49-F238E27FC236}">
                  <a16:creationId xmlns:a16="http://schemas.microsoft.com/office/drawing/2014/main" id="{C210B319-E531-B741-8F2D-7CAD3DF37DC8}"/>
                </a:ext>
              </a:extLst>
            </p:cNvPr>
            <p:cNvSpPr/>
            <p:nvPr/>
          </p:nvSpPr>
          <p:spPr>
            <a:xfrm>
              <a:off x="6223003" y="3499522"/>
              <a:ext cx="325777" cy="393713"/>
            </a:xfrm>
            <a:prstGeom prst="roundRect">
              <a:avLst/>
            </a:prstGeom>
            <a:noFill/>
            <a:ln w="63500">
              <a:solidFill>
                <a:schemeClr val="accent5"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65CB00D3-16C8-E64D-AAEA-42358C6BB833}"/>
                </a:ext>
              </a:extLst>
            </p:cNvPr>
            <p:cNvCxnSpPr>
              <a:cxnSpLocks/>
              <a:stCxn id="21" idx="0"/>
            </p:cNvCxnSpPr>
            <p:nvPr/>
          </p:nvCxnSpPr>
          <p:spPr>
            <a:xfrm flipH="1" flipV="1">
              <a:off x="1081372" y="3413283"/>
              <a:ext cx="457496" cy="363370"/>
            </a:xfrm>
            <a:prstGeom prst="line">
              <a:avLst/>
            </a:prstGeom>
            <a:ln w="63500">
              <a:solidFill>
                <a:schemeClr val="accent5">
                  <a:alpha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Arrow Connector 212">
              <a:extLst>
                <a:ext uri="{FF2B5EF4-FFF2-40B4-BE49-F238E27FC236}">
                  <a16:creationId xmlns:a16="http://schemas.microsoft.com/office/drawing/2014/main" id="{41586607-1A07-604F-AA54-8B0E33F39D8A}"/>
                </a:ext>
              </a:extLst>
            </p:cNvPr>
            <p:cNvCxnSpPr>
              <a:cxnSpLocks/>
              <a:stCxn id="208" idx="1"/>
              <a:endCxn id="209" idx="3"/>
            </p:cNvCxnSpPr>
            <p:nvPr/>
          </p:nvCxnSpPr>
          <p:spPr>
            <a:xfrm flipH="1" flipV="1">
              <a:off x="6548780" y="3696379"/>
              <a:ext cx="3455584" cy="1635712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ounded Rectangle 159">
              <a:extLst>
                <a:ext uri="{FF2B5EF4-FFF2-40B4-BE49-F238E27FC236}">
                  <a16:creationId xmlns:a16="http://schemas.microsoft.com/office/drawing/2014/main" id="{5FB84845-9775-8B4A-AEC1-08157AD37E0D}"/>
                </a:ext>
              </a:extLst>
            </p:cNvPr>
            <p:cNvSpPr/>
            <p:nvPr/>
          </p:nvSpPr>
          <p:spPr>
            <a:xfrm>
              <a:off x="7264751" y="2997405"/>
              <a:ext cx="325777" cy="393713"/>
            </a:xfrm>
            <a:prstGeom prst="roundRect">
              <a:avLst/>
            </a:prstGeom>
            <a:noFill/>
            <a:ln w="63500">
              <a:solidFill>
                <a:schemeClr val="accent5"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20E7038D-1161-1849-975C-7B4A2BF2851E}"/>
                </a:ext>
              </a:extLst>
            </p:cNvPr>
            <p:cNvCxnSpPr>
              <a:cxnSpLocks/>
              <a:stCxn id="208" idx="1"/>
              <a:endCxn id="160" idx="2"/>
            </p:cNvCxnSpPr>
            <p:nvPr/>
          </p:nvCxnSpPr>
          <p:spPr>
            <a:xfrm flipH="1" flipV="1">
              <a:off x="7427640" y="3391118"/>
              <a:ext cx="2576724" cy="1940973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434219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AEE43-3C6E-6D4D-ADC4-60486781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Edge-weighted graph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928D7-E09C-2846-9B76-BEB490644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Weighted</a:t>
            </a:r>
            <a:r>
              <a:rPr lang="en-US" dirty="0"/>
              <a:t> graph representation via adjacency list</a:t>
            </a:r>
          </a:p>
          <a:p>
            <a:pPr lvl="1"/>
            <a:r>
              <a:rPr lang="en-US" dirty="0"/>
              <a:t>Vertex-indexed array of lists</a:t>
            </a:r>
          </a:p>
          <a:p>
            <a:pPr lvl="1"/>
            <a:r>
              <a:rPr lang="en-US" dirty="0"/>
              <a:t>Each list represented as a </a:t>
            </a:r>
            <a:r>
              <a:rPr lang="en-US" dirty="0">
                <a:highlight>
                  <a:srgbClr val="C0C0C0"/>
                </a:highlight>
              </a:rPr>
              <a:t>bag of edges</a:t>
            </a:r>
          </a:p>
        </p:txBody>
      </p:sp>
      <p:grpSp>
        <p:nvGrpSpPr>
          <p:cNvPr id="118" name="Group 117" descr="graphical representation of a weighted graph via adjacency list and bags of edges">
            <a:extLst>
              <a:ext uri="{FF2B5EF4-FFF2-40B4-BE49-F238E27FC236}">
                <a16:creationId xmlns:a16="http://schemas.microsoft.com/office/drawing/2014/main" id="{159B974E-0F8C-B442-918F-F77858DF265F}"/>
              </a:ext>
            </a:extLst>
          </p:cNvPr>
          <p:cNvGrpSpPr/>
          <p:nvPr/>
        </p:nvGrpSpPr>
        <p:grpSpPr>
          <a:xfrm>
            <a:off x="578406" y="2998820"/>
            <a:ext cx="10944214" cy="3366666"/>
            <a:chOff x="578406" y="2998820"/>
            <a:chExt cx="10944214" cy="3366666"/>
          </a:xfrm>
        </p:grpSpPr>
        <p:grpSp>
          <p:nvGrpSpPr>
            <p:cNvPr id="83" name="Group 82" descr="graphical representation of a weighted graph via adjacency list and bags of edges">
              <a:extLst>
                <a:ext uri="{FF2B5EF4-FFF2-40B4-BE49-F238E27FC236}">
                  <a16:creationId xmlns:a16="http://schemas.microsoft.com/office/drawing/2014/main" id="{E39AD87A-01A4-7A4C-9EEE-6C05B8289BFA}"/>
                </a:ext>
              </a:extLst>
            </p:cNvPr>
            <p:cNvGrpSpPr/>
            <p:nvPr/>
          </p:nvGrpSpPr>
          <p:grpSpPr>
            <a:xfrm>
              <a:off x="757238" y="2998820"/>
              <a:ext cx="10765382" cy="3366666"/>
              <a:chOff x="757238" y="2998820"/>
              <a:chExt cx="10765382" cy="336666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EB6BC857-9DE8-6642-A49B-F09645AEF62E}"/>
                  </a:ext>
                </a:extLst>
              </p:cNvPr>
              <p:cNvGrpSpPr/>
              <p:nvPr/>
            </p:nvGrpSpPr>
            <p:grpSpPr>
              <a:xfrm>
                <a:off x="757238" y="3086100"/>
                <a:ext cx="2708578" cy="2459187"/>
                <a:chOff x="757238" y="3086100"/>
                <a:chExt cx="2708578" cy="2459187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45FF724C-A19A-FE4D-B8C7-B88C89D873F5}"/>
                    </a:ext>
                  </a:extLst>
                </p:cNvPr>
                <p:cNvSpPr/>
                <p:nvPr/>
              </p:nvSpPr>
              <p:spPr>
                <a:xfrm>
                  <a:off x="757238" y="3086100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7435C31F-3F11-1440-BF50-D12B3F657533}"/>
                    </a:ext>
                  </a:extLst>
                </p:cNvPr>
                <p:cNvSpPr/>
                <p:nvPr/>
              </p:nvSpPr>
              <p:spPr>
                <a:xfrm>
                  <a:off x="757238" y="514523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65382907-9747-B849-9066-9AC7EF77056A}"/>
                    </a:ext>
                  </a:extLst>
                </p:cNvPr>
                <p:cNvSpPr/>
                <p:nvPr/>
              </p:nvSpPr>
              <p:spPr>
                <a:xfrm>
                  <a:off x="1345987" y="3776653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CBCBCCDD-ED99-5E4D-88EC-8A2B7854AEE9}"/>
                    </a:ext>
                  </a:extLst>
                </p:cNvPr>
                <p:cNvSpPr/>
                <p:nvPr/>
              </p:nvSpPr>
              <p:spPr>
                <a:xfrm>
                  <a:off x="2172859" y="3767146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D9850197-2021-054B-8E92-BE69A303E86A}"/>
                    </a:ext>
                  </a:extLst>
                </p:cNvPr>
                <p:cNvSpPr/>
                <p:nvPr/>
              </p:nvSpPr>
              <p:spPr>
                <a:xfrm>
                  <a:off x="3080054" y="3776653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E1E0E8C5-B734-7448-9045-88B99BAA0A93}"/>
                    </a:ext>
                  </a:extLst>
                </p:cNvPr>
                <p:cNvSpPr/>
                <p:nvPr/>
              </p:nvSpPr>
              <p:spPr>
                <a:xfrm>
                  <a:off x="2595468" y="4495929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36BD5CFF-52EE-3145-A9F5-4D9C34496246}"/>
                    </a:ext>
                  </a:extLst>
                </p:cNvPr>
                <p:cNvSpPr/>
                <p:nvPr/>
              </p:nvSpPr>
              <p:spPr>
                <a:xfrm>
                  <a:off x="1744524" y="4495929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819BAB39-032E-AD49-A87E-F545CB3E01F6}"/>
                    </a:ext>
                  </a:extLst>
                </p:cNvPr>
                <p:cNvCxnSpPr>
                  <a:stCxn id="19" idx="4"/>
                  <a:endCxn id="20" idx="0"/>
                </p:cNvCxnSpPr>
                <p:nvPr/>
              </p:nvCxnSpPr>
              <p:spPr>
                <a:xfrm>
                  <a:off x="950119" y="3486150"/>
                  <a:ext cx="0" cy="165908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4B778BA-AF20-E749-9362-CA04D1525EA0}"/>
                    </a:ext>
                  </a:extLst>
                </p:cNvPr>
                <p:cNvCxnSpPr>
                  <a:cxnSpLocks/>
                  <a:stCxn id="19" idx="5"/>
                  <a:endCxn id="21" idx="7"/>
                </p:cNvCxnSpPr>
                <p:nvPr/>
              </p:nvCxnSpPr>
              <p:spPr>
                <a:xfrm>
                  <a:off x="1086506" y="3427564"/>
                  <a:ext cx="588749" cy="40767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F837C4F3-A891-C149-97D6-8F7761FC9577}"/>
                    </a:ext>
                  </a:extLst>
                </p:cNvPr>
                <p:cNvCxnSpPr>
                  <a:cxnSpLocks/>
                  <a:stCxn id="19" idx="6"/>
                  <a:endCxn id="22" idx="1"/>
                </p:cNvCxnSpPr>
                <p:nvPr/>
              </p:nvCxnSpPr>
              <p:spPr>
                <a:xfrm>
                  <a:off x="1143000" y="3286125"/>
                  <a:ext cx="1086353" cy="53960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AC39AB64-A5A4-3840-BCF3-8939DA4893E7}"/>
                    </a:ext>
                  </a:extLst>
                </p:cNvPr>
                <p:cNvCxnSpPr>
                  <a:cxnSpLocks/>
                  <a:stCxn id="19" idx="7"/>
                  <a:endCxn id="23" idx="1"/>
                </p:cNvCxnSpPr>
                <p:nvPr/>
              </p:nvCxnSpPr>
              <p:spPr>
                <a:xfrm>
                  <a:off x="1086506" y="3144686"/>
                  <a:ext cx="2050042" cy="690553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956CD1D1-E1BC-A243-A250-492AA1ACEFAF}"/>
                    </a:ext>
                  </a:extLst>
                </p:cNvPr>
                <p:cNvCxnSpPr>
                  <a:cxnSpLocks/>
                  <a:stCxn id="25" idx="2"/>
                  <a:endCxn id="20" idx="7"/>
                </p:cNvCxnSpPr>
                <p:nvPr/>
              </p:nvCxnSpPr>
              <p:spPr>
                <a:xfrm flipH="1">
                  <a:off x="1086506" y="4695954"/>
                  <a:ext cx="658018" cy="50786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CBF6469D-43E5-B041-9E61-80A2DB7507A0}"/>
                    </a:ext>
                  </a:extLst>
                </p:cNvPr>
                <p:cNvCxnSpPr>
                  <a:cxnSpLocks/>
                  <a:stCxn id="24" idx="2"/>
                  <a:endCxn id="25" idx="6"/>
                </p:cNvCxnSpPr>
                <p:nvPr/>
              </p:nvCxnSpPr>
              <p:spPr>
                <a:xfrm flipH="1">
                  <a:off x="2130286" y="4695954"/>
                  <a:ext cx="465182" cy="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2097841C-7B40-994A-B1BF-85F751CD66E0}"/>
                    </a:ext>
                  </a:extLst>
                </p:cNvPr>
                <p:cNvCxnSpPr>
                  <a:cxnSpLocks/>
                  <a:stCxn id="23" idx="3"/>
                  <a:endCxn id="24" idx="7"/>
                </p:cNvCxnSpPr>
                <p:nvPr/>
              </p:nvCxnSpPr>
              <p:spPr>
                <a:xfrm flipH="1">
                  <a:off x="2924736" y="4118117"/>
                  <a:ext cx="211812" cy="436398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0881FF17-9710-9949-B256-0F9E7593D128}"/>
                  </a:ext>
                </a:extLst>
              </p:cNvPr>
              <p:cNvGrpSpPr/>
              <p:nvPr/>
            </p:nvGrpSpPr>
            <p:grpSpPr>
              <a:xfrm>
                <a:off x="5906022" y="3000373"/>
                <a:ext cx="3278921" cy="371475"/>
                <a:chOff x="7529514" y="2014536"/>
                <a:chExt cx="3278921" cy="371475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04CF1BA1-A00E-BC46-BAD2-19403772ED85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535782" cy="26164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0,6,.22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70CB07B0-EAFA-834D-B1D1-0CD3BADD9D97}"/>
                    </a:ext>
                  </a:extLst>
                </p:cNvPr>
                <p:cNvSpPr/>
                <p:nvPr/>
              </p:nvSpPr>
              <p:spPr>
                <a:xfrm>
                  <a:off x="8543939" y="2071688"/>
                  <a:ext cx="535782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0,,2,.3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8042127A-F0E7-F54D-A5DD-FA9A8ECF1901}"/>
                    </a:ext>
                  </a:extLst>
                </p:cNvPr>
                <p:cNvSpPr/>
                <p:nvPr/>
              </p:nvSpPr>
              <p:spPr>
                <a:xfrm>
                  <a:off x="9315233" y="2076451"/>
                  <a:ext cx="519346" cy="25241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0,1,.12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9D55E8-CFD0-F349-A890-07687C54FB02}"/>
                    </a:ext>
                  </a:extLst>
                </p:cNvPr>
                <p:cNvSpPr/>
                <p:nvPr/>
              </p:nvSpPr>
              <p:spPr>
                <a:xfrm>
                  <a:off x="10101772" y="2058469"/>
                  <a:ext cx="550832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0,5,.29</a:t>
                  </a:r>
                </a:p>
              </p:txBody>
            </p: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2528EF07-BB9B-3F41-BC43-328CC6B358E7}"/>
                    </a:ext>
                  </a:extLst>
                </p:cNvPr>
                <p:cNvCxnSpPr>
                  <a:cxnSpLocks/>
                  <a:stCxn id="34" idx="3"/>
                  <a:endCxn id="35" idx="1"/>
                </p:cNvCxnSpPr>
                <p:nvPr/>
              </p:nvCxnSpPr>
              <p:spPr>
                <a:xfrm flipV="1">
                  <a:off x="8393907" y="2200276"/>
                  <a:ext cx="150032" cy="223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2115BCA6-D70D-6246-898C-D5E561D51A94}"/>
                    </a:ext>
                  </a:extLst>
                </p:cNvPr>
                <p:cNvCxnSpPr/>
                <p:nvPr/>
              </p:nvCxnSpPr>
              <p:spPr>
                <a:xfrm>
                  <a:off x="9094690" y="2218183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E56BC604-1721-4E44-A355-2E36C73BC5D9}"/>
                    </a:ext>
                  </a:extLst>
                </p:cNvPr>
                <p:cNvCxnSpPr/>
                <p:nvPr/>
              </p:nvCxnSpPr>
              <p:spPr>
                <a:xfrm>
                  <a:off x="9832913" y="2202613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76885EED-1D68-F944-80B7-082BCAE0F3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" name="Rounded Rectangle 43">
                  <a:extLst>
                    <a:ext uri="{FF2B5EF4-FFF2-40B4-BE49-F238E27FC236}">
                      <a16:creationId xmlns:a16="http://schemas.microsoft.com/office/drawing/2014/main" id="{4A9FC1DF-98B2-F846-8DEC-D164A82BEDA8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327892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08F36E17-11D2-7143-B352-BE9E00365061}"/>
                  </a:ext>
                </a:extLst>
              </p:cNvPr>
              <p:cNvGrpSpPr/>
              <p:nvPr/>
            </p:nvGrpSpPr>
            <p:grpSpPr>
              <a:xfrm>
                <a:off x="5903110" y="3490619"/>
                <a:ext cx="1017338" cy="371475"/>
                <a:chOff x="7529515" y="2014536"/>
                <a:chExt cx="1017338" cy="371475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5D5C602-4A89-7044-9D74-31DC33E82A05}"/>
                    </a:ext>
                  </a:extLst>
                </p:cNvPr>
                <p:cNvSpPr/>
                <p:nvPr/>
              </p:nvSpPr>
              <p:spPr>
                <a:xfrm>
                  <a:off x="7858124" y="2071689"/>
                  <a:ext cx="538695" cy="24611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0,1,.12</a:t>
                  </a:r>
                </a:p>
              </p:txBody>
            </p:sp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AA560F4A-CEE7-C046-A854-796C234CB0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Rounded Rectangle 54">
                  <a:extLst>
                    <a:ext uri="{FF2B5EF4-FFF2-40B4-BE49-F238E27FC236}">
                      <a16:creationId xmlns:a16="http://schemas.microsoft.com/office/drawing/2014/main" id="{E39C62FE-2A8C-654F-A523-0C183EF0D304}"/>
                    </a:ext>
                  </a:extLst>
                </p:cNvPr>
                <p:cNvSpPr/>
                <p:nvPr/>
              </p:nvSpPr>
              <p:spPr>
                <a:xfrm>
                  <a:off x="7529515" y="2014536"/>
                  <a:ext cx="1017338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38BC5533-3EDA-E24F-8760-5E8328597889}"/>
                  </a:ext>
                </a:extLst>
              </p:cNvPr>
              <p:cNvGrpSpPr/>
              <p:nvPr/>
            </p:nvGrpSpPr>
            <p:grpSpPr>
              <a:xfrm>
                <a:off x="5908636" y="3958264"/>
                <a:ext cx="1011811" cy="371475"/>
                <a:chOff x="7529514" y="2000248"/>
                <a:chExt cx="1011811" cy="371475"/>
              </a:xfrm>
            </p:grpSpPr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89218EBD-4456-1648-BD65-5CDF8A052A91}"/>
                    </a:ext>
                  </a:extLst>
                </p:cNvPr>
                <p:cNvSpPr/>
                <p:nvPr/>
              </p:nvSpPr>
              <p:spPr>
                <a:xfrm>
                  <a:off x="7858124" y="2071688"/>
                  <a:ext cx="456439" cy="22705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0,2,.3</a:t>
                  </a:r>
                </a:p>
              </p:txBody>
            </p:sp>
            <p:cxnSp>
              <p:nvCxnSpPr>
                <p:cNvPr id="64" name="Straight Arrow Connector 63">
                  <a:extLst>
                    <a:ext uri="{FF2B5EF4-FFF2-40B4-BE49-F238E27FC236}">
                      <a16:creationId xmlns:a16="http://schemas.microsoft.com/office/drawing/2014/main" id="{F43C7D56-6A1D-FB4C-BBC6-664A36E470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" name="Rounded Rectangle 64">
                  <a:extLst>
                    <a:ext uri="{FF2B5EF4-FFF2-40B4-BE49-F238E27FC236}">
                      <a16:creationId xmlns:a16="http://schemas.microsoft.com/office/drawing/2014/main" id="{BF3D6EA4-63C5-4846-BD20-1F659E3B64B2}"/>
                    </a:ext>
                  </a:extLst>
                </p:cNvPr>
                <p:cNvSpPr/>
                <p:nvPr/>
              </p:nvSpPr>
              <p:spPr>
                <a:xfrm>
                  <a:off x="7529514" y="2000248"/>
                  <a:ext cx="101181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654EAC91-973A-5A47-BFBC-D985A26D4721}"/>
                  </a:ext>
                </a:extLst>
              </p:cNvPr>
              <p:cNvGrpSpPr/>
              <p:nvPr/>
            </p:nvGrpSpPr>
            <p:grpSpPr>
              <a:xfrm>
                <a:off x="5908637" y="4475831"/>
                <a:ext cx="1610121" cy="371475"/>
                <a:chOff x="7529514" y="2014536"/>
                <a:chExt cx="1610121" cy="371475"/>
              </a:xfrm>
            </p:grpSpPr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00A2B77C-A941-9147-815B-B1A48F109A10}"/>
                    </a:ext>
                  </a:extLst>
                </p:cNvPr>
                <p:cNvSpPr/>
                <p:nvPr/>
              </p:nvSpPr>
              <p:spPr>
                <a:xfrm>
                  <a:off x="7858124" y="2071688"/>
                  <a:ext cx="519585" cy="27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3,5,.32</a:t>
                  </a: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1D00034D-E13F-D444-ADB6-EBB1FE559C1D}"/>
                    </a:ext>
                  </a:extLst>
                </p:cNvPr>
                <p:cNvSpPr/>
                <p:nvPr/>
              </p:nvSpPr>
              <p:spPr>
                <a:xfrm>
                  <a:off x="8560033" y="2071688"/>
                  <a:ext cx="498363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3,4,.89</a:t>
                  </a:r>
                </a:p>
              </p:txBody>
            </p:sp>
            <p:cxnSp>
              <p:nvCxnSpPr>
                <p:cNvPr id="71" name="Straight Arrow Connector 70">
                  <a:extLst>
                    <a:ext uri="{FF2B5EF4-FFF2-40B4-BE49-F238E27FC236}">
                      <a16:creationId xmlns:a16="http://schemas.microsoft.com/office/drawing/2014/main" id="{9D82AECD-4509-F04F-AB35-6BE86D999896}"/>
                    </a:ext>
                  </a:extLst>
                </p:cNvPr>
                <p:cNvCxnSpPr>
                  <a:cxnSpLocks/>
                  <a:stCxn id="67" idx="3"/>
                  <a:endCxn id="68" idx="1"/>
                </p:cNvCxnSpPr>
                <p:nvPr/>
              </p:nvCxnSpPr>
              <p:spPr>
                <a:xfrm flipV="1">
                  <a:off x="8377709" y="2200276"/>
                  <a:ext cx="182324" cy="11137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Arrow Connector 73">
                  <a:extLst>
                    <a:ext uri="{FF2B5EF4-FFF2-40B4-BE49-F238E27FC236}">
                      <a16:creationId xmlns:a16="http://schemas.microsoft.com/office/drawing/2014/main" id="{5D78DBE4-8C78-854D-B244-944CE208C5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5" name="Rounded Rectangle 74">
                  <a:extLst>
                    <a:ext uri="{FF2B5EF4-FFF2-40B4-BE49-F238E27FC236}">
                      <a16:creationId xmlns:a16="http://schemas.microsoft.com/office/drawing/2014/main" id="{2D80D797-E70E-8947-B6FF-B9C73E44EF67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61012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0E323299-97AF-2948-8882-D1A410F8979F}"/>
                  </a:ext>
                </a:extLst>
              </p:cNvPr>
              <p:cNvGrpSpPr/>
              <p:nvPr/>
            </p:nvGrpSpPr>
            <p:grpSpPr>
              <a:xfrm>
                <a:off x="5908637" y="4998167"/>
                <a:ext cx="2422957" cy="371475"/>
                <a:chOff x="7529515" y="2014536"/>
                <a:chExt cx="2422957" cy="371475"/>
              </a:xfrm>
            </p:grpSpPr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0972EE5D-C6A7-BF4A-AA6F-5BAFA25A6495}"/>
                    </a:ext>
                  </a:extLst>
                </p:cNvPr>
                <p:cNvSpPr/>
                <p:nvPr/>
              </p:nvSpPr>
              <p:spPr>
                <a:xfrm>
                  <a:off x="7858124" y="2071689"/>
                  <a:ext cx="504369" cy="24326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4,5,.54</a:t>
                  </a: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8B88E399-C7B1-094F-BF10-DAA141A86F30}"/>
                    </a:ext>
                  </a:extLst>
                </p:cNvPr>
                <p:cNvSpPr/>
                <p:nvPr/>
              </p:nvSpPr>
              <p:spPr>
                <a:xfrm>
                  <a:off x="8558451" y="2057554"/>
                  <a:ext cx="498363" cy="24326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4,6,.62</a:t>
                  </a: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690064C0-173E-594E-9962-CEC275849638}"/>
                    </a:ext>
                  </a:extLst>
                </p:cNvPr>
                <p:cNvSpPr/>
                <p:nvPr/>
              </p:nvSpPr>
              <p:spPr>
                <a:xfrm>
                  <a:off x="9279323" y="2074068"/>
                  <a:ext cx="498363" cy="25241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3,4,.89</a:t>
                  </a:r>
                </a:p>
              </p:txBody>
            </p:sp>
            <p:cxnSp>
              <p:nvCxnSpPr>
                <p:cNvPr id="81" name="Straight Arrow Connector 80">
                  <a:extLst>
                    <a:ext uri="{FF2B5EF4-FFF2-40B4-BE49-F238E27FC236}">
                      <a16:creationId xmlns:a16="http://schemas.microsoft.com/office/drawing/2014/main" id="{1C837711-6CE1-2948-8980-9FDB182FE9FE}"/>
                    </a:ext>
                  </a:extLst>
                </p:cNvPr>
                <p:cNvCxnSpPr>
                  <a:cxnSpLocks/>
                  <a:stCxn id="77" idx="3"/>
                  <a:endCxn id="78" idx="1"/>
                </p:cNvCxnSpPr>
                <p:nvPr/>
              </p:nvCxnSpPr>
              <p:spPr>
                <a:xfrm flipV="1">
                  <a:off x="8362493" y="2179184"/>
                  <a:ext cx="195958" cy="14135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C4597AA5-14C4-AE47-B35E-B5951B1CAD42}"/>
                    </a:ext>
                  </a:extLst>
                </p:cNvPr>
                <p:cNvCxnSpPr/>
                <p:nvPr/>
              </p:nvCxnSpPr>
              <p:spPr>
                <a:xfrm>
                  <a:off x="9057867" y="2200274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9FC79A97-1F1C-A844-83AA-B9D8B0C409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Rounded Rectangle 84">
                  <a:extLst>
                    <a:ext uri="{FF2B5EF4-FFF2-40B4-BE49-F238E27FC236}">
                      <a16:creationId xmlns:a16="http://schemas.microsoft.com/office/drawing/2014/main" id="{78E2910D-78A4-A94A-A3CF-DD836579D871}"/>
                    </a:ext>
                  </a:extLst>
                </p:cNvPr>
                <p:cNvSpPr/>
                <p:nvPr/>
              </p:nvSpPr>
              <p:spPr>
                <a:xfrm>
                  <a:off x="7529515" y="2014536"/>
                  <a:ext cx="2422957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6F7F4EBD-A441-7D4F-887C-7AF8440B33E0}"/>
                  </a:ext>
                </a:extLst>
              </p:cNvPr>
              <p:cNvGrpSpPr/>
              <p:nvPr/>
            </p:nvGrpSpPr>
            <p:grpSpPr>
              <a:xfrm>
                <a:off x="5908637" y="5514743"/>
                <a:ext cx="2409845" cy="371475"/>
                <a:chOff x="7529514" y="2000248"/>
                <a:chExt cx="2409845" cy="371475"/>
              </a:xfrm>
            </p:grpSpPr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458A767A-7626-8B40-86D5-52528620D08F}"/>
                    </a:ext>
                  </a:extLst>
                </p:cNvPr>
                <p:cNvSpPr/>
                <p:nvPr/>
              </p:nvSpPr>
              <p:spPr>
                <a:xfrm>
                  <a:off x="7858124" y="2071689"/>
                  <a:ext cx="480741" cy="22209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3,5,.32</a:t>
                  </a:r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E88D2C4A-4713-7A4D-B7E9-972016F2C09F}"/>
                    </a:ext>
                  </a:extLst>
                </p:cNvPr>
                <p:cNvSpPr/>
                <p:nvPr/>
              </p:nvSpPr>
              <p:spPr>
                <a:xfrm>
                  <a:off x="8558450" y="2057502"/>
                  <a:ext cx="512635" cy="2569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4,5,.54</a:t>
                  </a:r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C9D61383-0942-6941-A5F7-6FF406D1CE21}"/>
                    </a:ext>
                  </a:extLst>
                </p:cNvPr>
                <p:cNvSpPr/>
                <p:nvPr/>
              </p:nvSpPr>
              <p:spPr>
                <a:xfrm>
                  <a:off x="9313531" y="2063677"/>
                  <a:ext cx="512636" cy="26497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0,5,.29</a:t>
                  </a:r>
                </a:p>
              </p:txBody>
            </p:sp>
            <p:cxnSp>
              <p:nvCxnSpPr>
                <p:cNvPr id="91" name="Straight Arrow Connector 90">
                  <a:extLst>
                    <a:ext uri="{FF2B5EF4-FFF2-40B4-BE49-F238E27FC236}">
                      <a16:creationId xmlns:a16="http://schemas.microsoft.com/office/drawing/2014/main" id="{C8F34353-5135-2048-A387-B8B1133A2C67}"/>
                    </a:ext>
                  </a:extLst>
                </p:cNvPr>
                <p:cNvCxnSpPr>
                  <a:cxnSpLocks/>
                  <a:stCxn id="87" idx="3"/>
                  <a:endCxn id="88" idx="1"/>
                </p:cNvCxnSpPr>
                <p:nvPr/>
              </p:nvCxnSpPr>
              <p:spPr>
                <a:xfrm>
                  <a:off x="8338865" y="2182736"/>
                  <a:ext cx="219585" cy="3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Arrow Connector 91">
                  <a:extLst>
                    <a:ext uri="{FF2B5EF4-FFF2-40B4-BE49-F238E27FC236}">
                      <a16:creationId xmlns:a16="http://schemas.microsoft.com/office/drawing/2014/main" id="{7FF69383-4295-1248-8088-D197DB98447C}"/>
                    </a:ext>
                  </a:extLst>
                </p:cNvPr>
                <p:cNvCxnSpPr/>
                <p:nvPr/>
              </p:nvCxnSpPr>
              <p:spPr>
                <a:xfrm>
                  <a:off x="9069213" y="219616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Arrow Connector 93">
                  <a:extLst>
                    <a:ext uri="{FF2B5EF4-FFF2-40B4-BE49-F238E27FC236}">
                      <a16:creationId xmlns:a16="http://schemas.microsoft.com/office/drawing/2014/main" id="{3981FE0C-9377-7446-B997-C528748CC6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5" name="Rounded Rectangle 94">
                  <a:extLst>
                    <a:ext uri="{FF2B5EF4-FFF2-40B4-BE49-F238E27FC236}">
                      <a16:creationId xmlns:a16="http://schemas.microsoft.com/office/drawing/2014/main" id="{4726DA57-701F-DC4A-A78D-8F7C15D74ED6}"/>
                    </a:ext>
                  </a:extLst>
                </p:cNvPr>
                <p:cNvSpPr/>
                <p:nvPr/>
              </p:nvSpPr>
              <p:spPr>
                <a:xfrm>
                  <a:off x="7529514" y="2000248"/>
                  <a:ext cx="2409845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0F593EF3-D1F3-174A-8279-A11F9153565B}"/>
                  </a:ext>
                </a:extLst>
              </p:cNvPr>
              <p:cNvGrpSpPr/>
              <p:nvPr/>
            </p:nvGrpSpPr>
            <p:grpSpPr>
              <a:xfrm>
                <a:off x="5894392" y="5994011"/>
                <a:ext cx="1624366" cy="371475"/>
                <a:chOff x="7529514" y="2014536"/>
                <a:chExt cx="1624366" cy="371475"/>
              </a:xfrm>
            </p:grpSpPr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90B0D9E0-9434-504F-B2B2-F728B8C42994}"/>
                    </a:ext>
                  </a:extLst>
                </p:cNvPr>
                <p:cNvSpPr/>
                <p:nvPr/>
              </p:nvSpPr>
              <p:spPr>
                <a:xfrm>
                  <a:off x="7858124" y="2071688"/>
                  <a:ext cx="494985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0,6,.22</a:t>
                  </a:r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749BEE4B-5600-E546-823C-9B69362218F7}"/>
                    </a:ext>
                  </a:extLst>
                </p:cNvPr>
                <p:cNvSpPr/>
                <p:nvPr/>
              </p:nvSpPr>
              <p:spPr>
                <a:xfrm>
                  <a:off x="8554769" y="2057049"/>
                  <a:ext cx="516289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4,6,.62</a:t>
                  </a:r>
                </a:p>
              </p:txBody>
            </p:sp>
            <p:cxnSp>
              <p:nvCxnSpPr>
                <p:cNvPr id="101" name="Straight Arrow Connector 100">
                  <a:extLst>
                    <a:ext uri="{FF2B5EF4-FFF2-40B4-BE49-F238E27FC236}">
                      <a16:creationId xmlns:a16="http://schemas.microsoft.com/office/drawing/2014/main" id="{06D2BED4-C128-8F4D-846A-AAE03E4A4E4E}"/>
                    </a:ext>
                  </a:extLst>
                </p:cNvPr>
                <p:cNvCxnSpPr>
                  <a:cxnSpLocks/>
                  <a:stCxn id="97" idx="3"/>
                  <a:endCxn id="98" idx="1"/>
                </p:cNvCxnSpPr>
                <p:nvPr/>
              </p:nvCxnSpPr>
              <p:spPr>
                <a:xfrm flipV="1">
                  <a:off x="8353109" y="2185637"/>
                  <a:ext cx="201660" cy="1463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Arrow Connector 103">
                  <a:extLst>
                    <a:ext uri="{FF2B5EF4-FFF2-40B4-BE49-F238E27FC236}">
                      <a16:creationId xmlns:a16="http://schemas.microsoft.com/office/drawing/2014/main" id="{2C8F962F-9688-7C40-AC3B-C0BC48C781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5" name="Rounded Rectangle 104">
                  <a:extLst>
                    <a:ext uri="{FF2B5EF4-FFF2-40B4-BE49-F238E27FC236}">
                      <a16:creationId xmlns:a16="http://schemas.microsoft.com/office/drawing/2014/main" id="{FA3FBE77-2424-504D-A4FB-3B58225DE207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624366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68" name="Straight Arrow Connector 167">
                <a:extLst>
                  <a:ext uri="{FF2B5EF4-FFF2-40B4-BE49-F238E27FC236}">
                    <a16:creationId xmlns:a16="http://schemas.microsoft.com/office/drawing/2014/main" id="{663D3EC8-E696-2D44-8D06-B2538C7ADA87}"/>
                  </a:ext>
                </a:extLst>
              </p:cNvPr>
              <p:cNvCxnSpPr>
                <a:cxnSpLocks/>
                <a:endCxn id="44" idx="1"/>
              </p:cNvCxnSpPr>
              <p:nvPr/>
            </p:nvCxnSpPr>
            <p:spPr>
              <a:xfrm flipV="1">
                <a:off x="5156647" y="3186111"/>
                <a:ext cx="749375" cy="639622"/>
              </a:xfrm>
              <a:prstGeom prst="straightConnector1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BFA8CE23-E576-B143-B3F9-78B37279AF1F}"/>
                  </a:ext>
                </a:extLst>
              </p:cNvPr>
              <p:cNvCxnSpPr>
                <a:cxnSpLocks/>
                <a:endCxn id="55" idx="1"/>
              </p:cNvCxnSpPr>
              <p:nvPr/>
            </p:nvCxnSpPr>
            <p:spPr>
              <a:xfrm flipV="1">
                <a:off x="5160293" y="3676357"/>
                <a:ext cx="742817" cy="388716"/>
              </a:xfrm>
              <a:prstGeom prst="straightConnector1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FB09DF11-8512-514F-A07A-74A7776D84F0}"/>
                  </a:ext>
                </a:extLst>
              </p:cNvPr>
              <p:cNvCxnSpPr>
                <a:cxnSpLocks/>
                <a:stCxn id="33" idx="3"/>
                <a:endCxn id="65" idx="1"/>
              </p:cNvCxnSpPr>
              <p:nvPr/>
            </p:nvCxnSpPr>
            <p:spPr>
              <a:xfrm flipV="1">
                <a:off x="5160293" y="4144002"/>
                <a:ext cx="748343" cy="277090"/>
              </a:xfrm>
              <a:prstGeom prst="straightConnector1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E6BDB393-7A72-FF43-A473-4BF54B01E55D}"/>
                  </a:ext>
                </a:extLst>
              </p:cNvPr>
              <p:cNvCxnSpPr>
                <a:cxnSpLocks/>
                <a:endCxn id="75" idx="1"/>
              </p:cNvCxnSpPr>
              <p:nvPr/>
            </p:nvCxnSpPr>
            <p:spPr>
              <a:xfrm>
                <a:off x="5156647" y="4566193"/>
                <a:ext cx="751990" cy="95376"/>
              </a:xfrm>
              <a:prstGeom prst="straightConnector1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A06DF733-11EE-084A-AAC8-8514A4B33367}"/>
                  </a:ext>
                </a:extLst>
              </p:cNvPr>
              <p:cNvCxnSpPr>
                <a:cxnSpLocks/>
                <a:endCxn id="85" idx="1"/>
              </p:cNvCxnSpPr>
              <p:nvPr/>
            </p:nvCxnSpPr>
            <p:spPr>
              <a:xfrm>
                <a:off x="5160293" y="4805533"/>
                <a:ext cx="748344" cy="378372"/>
              </a:xfrm>
              <a:prstGeom prst="straightConnector1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08DCFCFC-5F68-A74C-9CAD-59A2AED700B6}"/>
                  </a:ext>
                </a:extLst>
              </p:cNvPr>
              <p:cNvCxnSpPr>
                <a:cxnSpLocks/>
                <a:endCxn id="95" idx="1"/>
              </p:cNvCxnSpPr>
              <p:nvPr/>
            </p:nvCxnSpPr>
            <p:spPr>
              <a:xfrm>
                <a:off x="5187765" y="5070200"/>
                <a:ext cx="720872" cy="630281"/>
              </a:xfrm>
              <a:prstGeom prst="straightConnector1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Arrow Connector 174">
                <a:extLst>
                  <a:ext uri="{FF2B5EF4-FFF2-40B4-BE49-F238E27FC236}">
                    <a16:creationId xmlns:a16="http://schemas.microsoft.com/office/drawing/2014/main" id="{77B58C1C-F845-324A-A7FF-CED625122576}"/>
                  </a:ext>
                </a:extLst>
              </p:cNvPr>
              <p:cNvCxnSpPr>
                <a:cxnSpLocks/>
                <a:endCxn id="105" idx="1"/>
              </p:cNvCxnSpPr>
              <p:nvPr/>
            </p:nvCxnSpPr>
            <p:spPr>
              <a:xfrm>
                <a:off x="5156647" y="5291698"/>
                <a:ext cx="737745" cy="888051"/>
              </a:xfrm>
              <a:prstGeom prst="straightConnector1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2C10C7B2-A7AD-F945-A8BD-85FE3E34F6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43000" y="4837393"/>
                <a:ext cx="1508962" cy="50786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A3CCC242-285F-8B41-A4C4-5E0374BEE61C}"/>
                  </a:ext>
                </a:extLst>
              </p:cNvPr>
              <p:cNvSpPr txBox="1"/>
              <p:nvPr/>
            </p:nvSpPr>
            <p:spPr>
              <a:xfrm>
                <a:off x="9532691" y="4692828"/>
                <a:ext cx="198992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representation</a:t>
                </a:r>
              </a:p>
              <a:p>
                <a:r>
                  <a:rPr lang="en-US" sz="14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of the same edge (as two references to same Edge object)</a:t>
                </a:r>
              </a:p>
            </p:txBody>
          </p:sp>
          <p:sp>
            <p:nvSpPr>
              <p:cNvPr id="209" name="Rounded Rectangle 208">
                <a:extLst>
                  <a:ext uri="{FF2B5EF4-FFF2-40B4-BE49-F238E27FC236}">
                    <a16:creationId xmlns:a16="http://schemas.microsoft.com/office/drawing/2014/main" id="{C210B319-E531-B741-8F2D-7CAD3DF37DC8}"/>
                  </a:ext>
                </a:extLst>
              </p:cNvPr>
              <p:cNvSpPr/>
              <p:nvPr/>
            </p:nvSpPr>
            <p:spPr>
              <a:xfrm>
                <a:off x="6223003" y="3500258"/>
                <a:ext cx="547412" cy="307145"/>
              </a:xfrm>
              <a:prstGeom prst="roundRect">
                <a:avLst/>
              </a:prstGeom>
              <a:noFill/>
              <a:ln w="63500">
                <a:solidFill>
                  <a:schemeClr val="accent5">
                    <a:alpha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65CB00D3-16C8-E64D-AAEA-42358C6BB833}"/>
                  </a:ext>
                </a:extLst>
              </p:cNvPr>
              <p:cNvCxnSpPr>
                <a:cxnSpLocks/>
                <a:stCxn id="21" idx="0"/>
              </p:cNvCxnSpPr>
              <p:nvPr/>
            </p:nvCxnSpPr>
            <p:spPr>
              <a:xfrm flipH="1" flipV="1">
                <a:off x="1081372" y="3413283"/>
                <a:ext cx="457496" cy="363370"/>
              </a:xfrm>
              <a:prstGeom prst="line">
                <a:avLst/>
              </a:prstGeom>
              <a:ln w="63500">
                <a:solidFill>
                  <a:schemeClr val="accent5">
                    <a:alpha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Arrow Connector 212">
                <a:extLst>
                  <a:ext uri="{FF2B5EF4-FFF2-40B4-BE49-F238E27FC236}">
                    <a16:creationId xmlns:a16="http://schemas.microsoft.com/office/drawing/2014/main" id="{41586607-1A07-604F-AA54-8B0E33F39D8A}"/>
                  </a:ext>
                </a:extLst>
              </p:cNvPr>
              <p:cNvCxnSpPr>
                <a:cxnSpLocks/>
                <a:stCxn id="208" idx="1"/>
                <a:endCxn id="209" idx="3"/>
              </p:cNvCxnSpPr>
              <p:nvPr/>
            </p:nvCxnSpPr>
            <p:spPr>
              <a:xfrm flipH="1" flipV="1">
                <a:off x="6770415" y="3653831"/>
                <a:ext cx="2762276" cy="1516051"/>
              </a:xfrm>
              <a:prstGeom prst="straightConnector1">
                <a:avLst/>
              </a:prstGeom>
              <a:ln w="28575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Rounded Rectangle 159">
                <a:extLst>
                  <a:ext uri="{FF2B5EF4-FFF2-40B4-BE49-F238E27FC236}">
                    <a16:creationId xmlns:a16="http://schemas.microsoft.com/office/drawing/2014/main" id="{5FB84845-9775-8B4A-AEC1-08157AD37E0D}"/>
                  </a:ext>
                </a:extLst>
              </p:cNvPr>
              <p:cNvSpPr/>
              <p:nvPr/>
            </p:nvSpPr>
            <p:spPr>
              <a:xfrm>
                <a:off x="7675006" y="2998820"/>
                <a:ext cx="530598" cy="360231"/>
              </a:xfrm>
              <a:prstGeom prst="roundRect">
                <a:avLst/>
              </a:prstGeom>
              <a:noFill/>
              <a:ln w="63500">
                <a:solidFill>
                  <a:schemeClr val="accent5">
                    <a:alpha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2" name="Straight Arrow Connector 161">
                <a:extLst>
                  <a:ext uri="{FF2B5EF4-FFF2-40B4-BE49-F238E27FC236}">
                    <a16:creationId xmlns:a16="http://schemas.microsoft.com/office/drawing/2014/main" id="{20E7038D-1161-1849-975C-7B4A2BF2851E}"/>
                  </a:ext>
                </a:extLst>
              </p:cNvPr>
              <p:cNvCxnSpPr>
                <a:cxnSpLocks/>
                <a:stCxn id="208" idx="1"/>
                <a:endCxn id="160" idx="2"/>
              </p:cNvCxnSpPr>
              <p:nvPr/>
            </p:nvCxnSpPr>
            <p:spPr>
              <a:xfrm flipH="1" flipV="1">
                <a:off x="7940305" y="3359051"/>
                <a:ext cx="1592386" cy="1810831"/>
              </a:xfrm>
              <a:prstGeom prst="straightConnector1">
                <a:avLst/>
              </a:prstGeom>
              <a:ln w="28575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4D86624-929D-434A-951F-BAB34B0A29C2}"/>
                </a:ext>
              </a:extLst>
            </p:cNvPr>
            <p:cNvSpPr txBox="1"/>
            <p:nvPr/>
          </p:nvSpPr>
          <p:spPr>
            <a:xfrm>
              <a:off x="2044569" y="3184189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.22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0F06F5B-B876-534D-8451-A5AF1FB1D953}"/>
                </a:ext>
              </a:extLst>
            </p:cNvPr>
            <p:cNvSpPr txBox="1"/>
            <p:nvPr/>
          </p:nvSpPr>
          <p:spPr>
            <a:xfrm>
              <a:off x="1813243" y="3407091"/>
              <a:ext cx="3337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.3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27B1872-5656-1644-89D7-611671EFA6B4}"/>
                </a:ext>
              </a:extLst>
            </p:cNvPr>
            <p:cNvSpPr txBox="1"/>
            <p:nvPr/>
          </p:nvSpPr>
          <p:spPr>
            <a:xfrm>
              <a:off x="970679" y="3531736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.12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344A41C-5ECA-554F-986F-E5100AECEEDA}"/>
                </a:ext>
              </a:extLst>
            </p:cNvPr>
            <p:cNvSpPr txBox="1"/>
            <p:nvPr/>
          </p:nvSpPr>
          <p:spPr>
            <a:xfrm>
              <a:off x="578406" y="4053017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.29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789D2BE-ED4A-7C49-9BF0-9001EA873D47}"/>
                </a:ext>
              </a:extLst>
            </p:cNvPr>
            <p:cNvSpPr txBox="1"/>
            <p:nvPr/>
          </p:nvSpPr>
          <p:spPr>
            <a:xfrm>
              <a:off x="1075012" y="4683504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.32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7E162CA-C25A-AC43-893E-1B80622CCA78}"/>
                </a:ext>
              </a:extLst>
            </p:cNvPr>
            <p:cNvSpPr txBox="1"/>
            <p:nvPr/>
          </p:nvSpPr>
          <p:spPr>
            <a:xfrm>
              <a:off x="1664344" y="5083554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.54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6E3D6B5-C8DC-F544-9CEC-820725F9BB5A}"/>
                </a:ext>
              </a:extLst>
            </p:cNvPr>
            <p:cNvSpPr txBox="1"/>
            <p:nvPr/>
          </p:nvSpPr>
          <p:spPr>
            <a:xfrm>
              <a:off x="2172859" y="4401518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.89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6E4EBB6-0A1B-FC43-89A2-92776F215206}"/>
                </a:ext>
              </a:extLst>
            </p:cNvPr>
            <p:cNvSpPr txBox="1"/>
            <p:nvPr/>
          </p:nvSpPr>
          <p:spPr>
            <a:xfrm>
              <a:off x="2666854" y="4117225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.62</a:t>
              </a:r>
            </a:p>
          </p:txBody>
        </p:sp>
      </p:grpSp>
      <p:graphicFrame>
        <p:nvGraphicFramePr>
          <p:cNvPr id="33" name="Table 32" descr="adjecency matrix representation of the graph (vertex index)">
            <a:extLst>
              <a:ext uri="{FF2B5EF4-FFF2-40B4-BE49-F238E27FC236}">
                <a16:creationId xmlns:a16="http://schemas.microsoft.com/office/drawing/2014/main" id="{17899976-C130-C743-9512-DAC1EF44425D}"/>
              </a:ext>
            </a:extLst>
          </p:cNvPr>
          <p:cNvGraphicFramePr>
            <a:graphicFrameLocks noGrp="1"/>
          </p:cNvGraphicFramePr>
          <p:nvPr/>
        </p:nvGraphicFramePr>
        <p:xfrm>
          <a:off x="4369717" y="3462132"/>
          <a:ext cx="790576" cy="19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6">
                  <a:extLst>
                    <a:ext uri="{9D8B030D-6E8A-4147-A177-3AD203B41FA5}">
                      <a16:colId xmlns:a16="http://schemas.microsoft.com/office/drawing/2014/main" val="3075564107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677797891"/>
                    </a:ext>
                  </a:extLst>
                </a:gridCol>
              </a:tblGrid>
              <a:tr h="2397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adj[]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410693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322719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405553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668997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518417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43036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198116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359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8681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Edge-weighted graph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Edge representation</a:t>
            </a:r>
          </a:p>
        </p:txBody>
      </p:sp>
      <p:sp>
        <p:nvSpPr>
          <p:cNvPr id="5" name="TextBox 4" descr="pseudocode for class edge">
            <a:extLst>
              <a:ext uri="{FF2B5EF4-FFF2-40B4-BE49-F238E27FC236}">
                <a16:creationId xmlns:a16="http://schemas.microsoft.com/office/drawing/2014/main" id="{7DBAE77A-8A4E-D74D-A979-493463B0579F}"/>
              </a:ext>
            </a:extLst>
          </p:cNvPr>
          <p:cNvSpPr txBox="1"/>
          <p:nvPr/>
        </p:nvSpPr>
        <p:spPr>
          <a:xfrm>
            <a:off x="1022366" y="2080579"/>
            <a:ext cx="5985934" cy="4524315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class Edge: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__</a:t>
            </a:r>
            <a:r>
              <a:rPr lang="en-US" sz="1600" dirty="0" err="1">
                <a:latin typeface="Courier" pitchFamily="2" charset="0"/>
              </a:rPr>
              <a:t>init</a:t>
            </a:r>
            <a:r>
              <a:rPr lang="en-US" sz="1600" dirty="0">
                <a:latin typeface="Courier" pitchFamily="2" charset="0"/>
              </a:rPr>
              <a:t>__(self, v, w, weight):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self.v</a:t>
            </a:r>
            <a:r>
              <a:rPr lang="en-US" sz="1600" dirty="0">
                <a:latin typeface="Courier" pitchFamily="2" charset="0"/>
              </a:rPr>
              <a:t> = v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self.w</a:t>
            </a:r>
            <a:r>
              <a:rPr lang="en-US" sz="1600" dirty="0">
                <a:latin typeface="Courier" pitchFamily="2" charset="0"/>
              </a:rPr>
              <a:t> = w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self.weight</a:t>
            </a:r>
            <a:r>
              <a:rPr lang="en-US" sz="1600" dirty="0">
                <a:latin typeface="Courier" pitchFamily="2" charset="0"/>
              </a:rPr>
              <a:t> = weight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</a:t>
            </a:r>
            <a:r>
              <a:rPr lang="en-US" sz="1600" dirty="0" err="1">
                <a:latin typeface="Courier" pitchFamily="2" charset="0"/>
              </a:rPr>
              <a:t>endPoint</a:t>
            </a:r>
            <a:r>
              <a:rPr lang="en-US" sz="1600" dirty="0">
                <a:latin typeface="Courier" pitchFamily="2" charset="0"/>
              </a:rPr>
              <a:t>(self):</a:t>
            </a:r>
          </a:p>
          <a:p>
            <a:r>
              <a:rPr lang="en-US" sz="1600" dirty="0">
                <a:latin typeface="Courier" pitchFamily="2" charset="0"/>
              </a:rPr>
              <a:t>        return </a:t>
            </a:r>
            <a:r>
              <a:rPr lang="en-US" sz="1600" dirty="0" err="1">
                <a:latin typeface="Courier" pitchFamily="2" charset="0"/>
              </a:rPr>
              <a:t>self.v</a:t>
            </a:r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</a:t>
            </a:r>
            <a:r>
              <a:rPr lang="en-US" sz="1600" dirty="0" err="1">
                <a:latin typeface="Courier" pitchFamily="2" charset="0"/>
              </a:rPr>
              <a:t>otherEndPoint</a:t>
            </a:r>
            <a:r>
              <a:rPr lang="en-US" sz="1600" dirty="0">
                <a:latin typeface="Courier" pitchFamily="2" charset="0"/>
              </a:rPr>
              <a:t>(self, vertex):</a:t>
            </a:r>
          </a:p>
          <a:p>
            <a:r>
              <a:rPr lang="en-US" sz="1600" dirty="0">
                <a:latin typeface="Courier" pitchFamily="2" charset="0"/>
              </a:rPr>
              <a:t>        if vertex == </a:t>
            </a:r>
            <a:r>
              <a:rPr lang="en-US" sz="1600" dirty="0" err="1">
                <a:latin typeface="Courier" pitchFamily="2" charset="0"/>
              </a:rPr>
              <a:t>self.v</a:t>
            </a:r>
            <a:r>
              <a:rPr lang="en-US" sz="1600" dirty="0">
                <a:latin typeface="Courier" pitchFamily="2" charset="0"/>
              </a:rPr>
              <a:t> return </a:t>
            </a:r>
            <a:r>
              <a:rPr lang="en-US" sz="1600" dirty="0" err="1">
                <a:latin typeface="Courier" pitchFamily="2" charset="0"/>
              </a:rPr>
              <a:t>self.w</a:t>
            </a:r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    else return </a:t>
            </a:r>
            <a:r>
              <a:rPr lang="en-US" sz="1600" dirty="0" err="1">
                <a:latin typeface="Courier" pitchFamily="2" charset="0"/>
              </a:rPr>
              <a:t>self.v</a:t>
            </a:r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</a:t>
            </a:r>
            <a:r>
              <a:rPr lang="en-US" sz="1600" dirty="0" err="1">
                <a:latin typeface="Courier" pitchFamily="2" charset="0"/>
              </a:rPr>
              <a:t>compareTo</a:t>
            </a:r>
            <a:r>
              <a:rPr lang="en-US" sz="1600" dirty="0">
                <a:latin typeface="Courier" pitchFamily="2" charset="0"/>
              </a:rPr>
              <a:t>(self, Edge e):</a:t>
            </a:r>
          </a:p>
          <a:p>
            <a:r>
              <a:rPr lang="en-US" sz="1600" dirty="0">
                <a:latin typeface="Courier" pitchFamily="2" charset="0"/>
              </a:rPr>
              <a:t>        if (</a:t>
            </a:r>
            <a:r>
              <a:rPr lang="en-US" sz="1600" dirty="0" err="1">
                <a:latin typeface="Courier" pitchFamily="2" charset="0"/>
              </a:rPr>
              <a:t>self.weight</a:t>
            </a:r>
            <a:r>
              <a:rPr lang="en-US" sz="1600" dirty="0">
                <a:latin typeface="Courier" pitchFamily="2" charset="0"/>
              </a:rPr>
              <a:t> &lt; </a:t>
            </a:r>
            <a:r>
              <a:rPr lang="en-US" sz="1600" dirty="0" err="1">
                <a:latin typeface="Courier" pitchFamily="2" charset="0"/>
              </a:rPr>
              <a:t>e.weight</a:t>
            </a:r>
            <a:r>
              <a:rPr lang="en-US" sz="1600" dirty="0">
                <a:latin typeface="Courier" pitchFamily="2" charset="0"/>
              </a:rPr>
              <a:t>) return -1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elif</a:t>
            </a:r>
            <a:r>
              <a:rPr lang="en-US" sz="1600" dirty="0">
                <a:latin typeface="Courier" pitchFamily="2" charset="0"/>
              </a:rPr>
              <a:t> (</a:t>
            </a:r>
            <a:r>
              <a:rPr lang="en-US" sz="1600" dirty="0" err="1">
                <a:latin typeface="Courier" pitchFamily="2" charset="0"/>
              </a:rPr>
              <a:t>self.weight</a:t>
            </a:r>
            <a:r>
              <a:rPr lang="en-US" sz="1600" dirty="0">
                <a:latin typeface="Courier" pitchFamily="2" charset="0"/>
              </a:rPr>
              <a:t> &gt; </a:t>
            </a:r>
            <a:r>
              <a:rPr lang="en-US" sz="1600" dirty="0" err="1">
                <a:latin typeface="Courier" pitchFamily="2" charset="0"/>
              </a:rPr>
              <a:t>e.weight</a:t>
            </a:r>
            <a:r>
              <a:rPr lang="en-US" sz="1600" dirty="0">
                <a:latin typeface="Courier" pitchFamily="2" charset="0"/>
              </a:rPr>
              <a:t>) return +1</a:t>
            </a:r>
          </a:p>
          <a:p>
            <a:r>
              <a:rPr lang="en-US" sz="1600" dirty="0">
                <a:latin typeface="Courier" pitchFamily="2" charset="0"/>
              </a:rPr>
              <a:t>        else return 0</a:t>
            </a:r>
          </a:p>
        </p:txBody>
      </p:sp>
      <p:grpSp>
        <p:nvGrpSpPr>
          <p:cNvPr id="12" name="Group 11" descr="highlighting methds to access end points">
            <a:extLst>
              <a:ext uri="{FF2B5EF4-FFF2-40B4-BE49-F238E27FC236}">
                <a16:creationId xmlns:a16="http://schemas.microsoft.com/office/drawing/2014/main" id="{B3D522F5-D11F-4F4F-8395-28ADE4D22517}"/>
              </a:ext>
            </a:extLst>
          </p:cNvPr>
          <p:cNvGrpSpPr/>
          <p:nvPr/>
        </p:nvGrpSpPr>
        <p:grpSpPr>
          <a:xfrm>
            <a:off x="5449329" y="4053018"/>
            <a:ext cx="6180828" cy="541482"/>
            <a:chOff x="5449329" y="5303040"/>
            <a:chExt cx="6180828" cy="54148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25F1295-09A5-A94D-9D3A-2EE101F20CAE}"/>
                </a:ext>
              </a:extLst>
            </p:cNvPr>
            <p:cNvSpPr txBox="1"/>
            <p:nvPr/>
          </p:nvSpPr>
          <p:spPr>
            <a:xfrm>
              <a:off x="8393373" y="5475190"/>
              <a:ext cx="32367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accessor methods for vertices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EEC45A9-A306-A840-BFDA-2D8005250360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 flipV="1">
              <a:off x="5449329" y="5303040"/>
              <a:ext cx="2944044" cy="356816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C403ED-3AEA-204F-88F3-F42A8AB2E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5449329" y="4409834"/>
            <a:ext cx="2944044" cy="292703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 descr="hghlighting methd to compare edges by weight">
            <a:extLst>
              <a:ext uri="{FF2B5EF4-FFF2-40B4-BE49-F238E27FC236}">
                <a16:creationId xmlns:a16="http://schemas.microsoft.com/office/drawing/2014/main" id="{D147DE34-2229-FD48-B92B-B166CFFE8F7F}"/>
              </a:ext>
            </a:extLst>
          </p:cNvPr>
          <p:cNvGrpSpPr/>
          <p:nvPr/>
        </p:nvGrpSpPr>
        <p:grpSpPr>
          <a:xfrm>
            <a:off x="5663821" y="5475190"/>
            <a:ext cx="5543143" cy="369332"/>
            <a:chOff x="5663821" y="5475190"/>
            <a:chExt cx="5543143" cy="36933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3E4851F-92D3-F945-A289-50668BE13C78}"/>
                </a:ext>
              </a:extLst>
            </p:cNvPr>
            <p:cNvSpPr txBox="1"/>
            <p:nvPr/>
          </p:nvSpPr>
          <p:spPr>
            <a:xfrm>
              <a:off x="8393373" y="5475190"/>
              <a:ext cx="28135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compare edges by weight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717A5EC-BAFD-D84D-8895-269662E7B4AD}"/>
                </a:ext>
              </a:extLst>
            </p:cNvPr>
            <p:cNvCxnSpPr/>
            <p:nvPr/>
          </p:nvCxnSpPr>
          <p:spPr>
            <a:xfrm flipH="1">
              <a:off x="5663821" y="5680747"/>
              <a:ext cx="2729552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60811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Edge-weighted graph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Weighted-edges graph representation</a:t>
            </a:r>
          </a:p>
        </p:txBody>
      </p:sp>
      <p:sp>
        <p:nvSpPr>
          <p:cNvPr id="5" name="TextBox 4" descr="pseudocode for class EdgeEightedGraph">
            <a:extLst>
              <a:ext uri="{FF2B5EF4-FFF2-40B4-BE49-F238E27FC236}">
                <a16:creationId xmlns:a16="http://schemas.microsoft.com/office/drawing/2014/main" id="{7DBAE77A-8A4E-D74D-A979-493463B0579F}"/>
              </a:ext>
            </a:extLst>
          </p:cNvPr>
          <p:cNvSpPr txBox="1"/>
          <p:nvPr/>
        </p:nvSpPr>
        <p:spPr>
          <a:xfrm>
            <a:off x="1022366" y="2080579"/>
            <a:ext cx="4504759" cy="4031873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class </a:t>
            </a:r>
            <a:r>
              <a:rPr lang="en-US" sz="1600" dirty="0" err="1">
                <a:latin typeface="Courier" pitchFamily="2" charset="0"/>
              </a:rPr>
              <a:t>EdgeWeightedGraph</a:t>
            </a:r>
            <a:r>
              <a:rPr lang="en-US" sz="1600" dirty="0">
                <a:latin typeface="Courier" pitchFamily="2" charset="0"/>
              </a:rPr>
              <a:t>: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__</a:t>
            </a:r>
            <a:r>
              <a:rPr lang="en-US" sz="1600" dirty="0" err="1">
                <a:latin typeface="Courier" pitchFamily="2" charset="0"/>
              </a:rPr>
              <a:t>init</a:t>
            </a:r>
            <a:r>
              <a:rPr lang="en-US" sz="1600" dirty="0">
                <a:latin typeface="Courier" pitchFamily="2" charset="0"/>
              </a:rPr>
              <a:t>__(self, V):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self.V</a:t>
            </a:r>
            <a:r>
              <a:rPr lang="en-US" sz="1600" dirty="0">
                <a:latin typeface="Courier" pitchFamily="2" charset="0"/>
              </a:rPr>
              <a:t> = V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self.adj</a:t>
            </a:r>
            <a:r>
              <a:rPr lang="en-US" sz="1600" dirty="0">
                <a:latin typeface="Courier" pitchFamily="2" charset="0"/>
              </a:rPr>
              <a:t> = []</a:t>
            </a:r>
          </a:p>
          <a:p>
            <a:r>
              <a:rPr lang="en-US" sz="1600" dirty="0">
                <a:latin typeface="Courier" pitchFamily="2" charset="0"/>
              </a:rPr>
              <a:t>        for _ in range (0,V):</a:t>
            </a:r>
          </a:p>
          <a:p>
            <a:r>
              <a:rPr lang="en-US" sz="1600" dirty="0">
                <a:latin typeface="Courier" pitchFamily="2" charset="0"/>
              </a:rPr>
              <a:t>            </a:t>
            </a:r>
            <a:r>
              <a:rPr lang="en-US" sz="1600" dirty="0" err="1">
                <a:latin typeface="Courier" pitchFamily="2" charset="0"/>
              </a:rPr>
              <a:t>self.adj.append</a:t>
            </a:r>
            <a:r>
              <a:rPr lang="en-US" sz="1600" dirty="0">
                <a:latin typeface="Courier" pitchFamily="2" charset="0"/>
              </a:rPr>
              <a:t>(Bag())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def </a:t>
            </a:r>
            <a:r>
              <a:rPr lang="en-US" sz="1600" dirty="0" err="1">
                <a:highlight>
                  <a:srgbClr val="C0C0C0"/>
                </a:highlight>
                <a:latin typeface="Courier" pitchFamily="2" charset="0"/>
              </a:rPr>
              <a:t>addEdge</a:t>
            </a:r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(self, e):</a:t>
            </a:r>
          </a:p>
          <a:p>
            <a:r>
              <a:rPr lang="en-US" sz="1600" dirty="0">
                <a:latin typeface="Courier" pitchFamily="2" charset="0"/>
              </a:rPr>
              <a:t>        v = </a:t>
            </a:r>
            <a:r>
              <a:rPr lang="en-US" sz="1600" dirty="0" err="1">
                <a:latin typeface="Courier" pitchFamily="2" charset="0"/>
              </a:rPr>
              <a:t>e.endpoint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    w = </a:t>
            </a:r>
            <a:r>
              <a:rPr lang="en-US" sz="1600" dirty="0" err="1">
                <a:latin typeface="Courier" pitchFamily="2" charset="0"/>
              </a:rPr>
              <a:t>e.otherEndPoint</a:t>
            </a:r>
            <a:r>
              <a:rPr lang="en-US" sz="1600" dirty="0">
                <a:latin typeface="Courier" pitchFamily="2" charset="0"/>
              </a:rPr>
              <a:t>(v)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self.adj</a:t>
            </a:r>
            <a:r>
              <a:rPr lang="en-US" sz="1600" dirty="0">
                <a:latin typeface="Courier" pitchFamily="2" charset="0"/>
              </a:rPr>
              <a:t>[v].add(e)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self.adj</a:t>
            </a:r>
            <a:r>
              <a:rPr lang="en-US" sz="1600" dirty="0">
                <a:latin typeface="Courier" pitchFamily="2" charset="0"/>
              </a:rPr>
              <a:t>[w].add(e)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adj (self, v):</a:t>
            </a:r>
          </a:p>
          <a:p>
            <a:r>
              <a:rPr lang="en-US" sz="1600" dirty="0">
                <a:latin typeface="Courier" pitchFamily="2" charset="0"/>
              </a:rPr>
              <a:t>        return </a:t>
            </a:r>
            <a:r>
              <a:rPr lang="en-US" sz="1600" dirty="0" err="1">
                <a:latin typeface="Courier" pitchFamily="2" charset="0"/>
              </a:rPr>
              <a:t>self.adj</a:t>
            </a:r>
            <a:r>
              <a:rPr lang="en-US" sz="1600" dirty="0">
                <a:latin typeface="Courier" pitchFamily="2" charset="0"/>
              </a:rPr>
              <a:t>[v]</a:t>
            </a:r>
          </a:p>
        </p:txBody>
      </p:sp>
      <p:grpSp>
        <p:nvGrpSpPr>
          <p:cNvPr id="11" name="Group 10" descr="hghlighting methd to add an edge to the graph">
            <a:extLst>
              <a:ext uri="{FF2B5EF4-FFF2-40B4-BE49-F238E27FC236}">
                <a16:creationId xmlns:a16="http://schemas.microsoft.com/office/drawing/2014/main" id="{D147DE34-2229-FD48-B92B-B166CFFE8F7F}"/>
              </a:ext>
            </a:extLst>
          </p:cNvPr>
          <p:cNvGrpSpPr/>
          <p:nvPr/>
        </p:nvGrpSpPr>
        <p:grpSpPr>
          <a:xfrm>
            <a:off x="4166772" y="3998425"/>
            <a:ext cx="6876841" cy="646331"/>
            <a:chOff x="5663821" y="5475190"/>
            <a:chExt cx="6876841" cy="64633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3E4851F-92D3-F945-A289-50668BE13C78}"/>
                </a:ext>
              </a:extLst>
            </p:cNvPr>
            <p:cNvSpPr txBox="1"/>
            <p:nvPr/>
          </p:nvSpPr>
          <p:spPr>
            <a:xfrm>
              <a:off x="8393373" y="5475190"/>
              <a:ext cx="414728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 a reference to the edge e object to</a:t>
              </a:r>
            </a:p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both adjacency lists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717A5EC-BAFD-D84D-8895-269662E7B4AD}"/>
                </a:ext>
              </a:extLst>
            </p:cNvPr>
            <p:cNvCxnSpPr/>
            <p:nvPr/>
          </p:nvCxnSpPr>
          <p:spPr>
            <a:xfrm flipH="1">
              <a:off x="5663821" y="5680747"/>
              <a:ext cx="2729552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84109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Pseudocode</a:t>
            </a:r>
            <a:endParaRPr lang="en-US" dirty="0"/>
          </a:p>
        </p:txBody>
      </p:sp>
      <p:sp>
        <p:nvSpPr>
          <p:cNvPr id="4" name="TextBox 3" descr="Kruskal algorithm (pseudocode)">
            <a:extLst>
              <a:ext uri="{FF2B5EF4-FFF2-40B4-BE49-F238E27FC236}">
                <a16:creationId xmlns:a16="http://schemas.microsoft.com/office/drawing/2014/main" id="{63B0ED80-B315-E84E-A9D3-EAFF10599863}"/>
              </a:ext>
            </a:extLst>
          </p:cNvPr>
          <p:cNvSpPr txBox="1"/>
          <p:nvPr/>
        </p:nvSpPr>
        <p:spPr>
          <a:xfrm>
            <a:off x="514866" y="2177039"/>
            <a:ext cx="8274292" cy="4524315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class </a:t>
            </a:r>
            <a:r>
              <a:rPr lang="en-US" sz="1600" dirty="0" err="1">
                <a:latin typeface="Courier" pitchFamily="2" charset="0"/>
              </a:rPr>
              <a:t>KruskalMST</a:t>
            </a:r>
            <a:r>
              <a:rPr lang="en-US" sz="1600" dirty="0">
                <a:latin typeface="Courier" pitchFamily="2" charset="0"/>
              </a:rPr>
              <a:t>:</a:t>
            </a:r>
          </a:p>
          <a:p>
            <a:r>
              <a:rPr lang="en-US" sz="1600" dirty="0">
                <a:latin typeface="Courier" pitchFamily="2" charset="0"/>
              </a:rPr>
              <a:t>    def __</a:t>
            </a:r>
            <a:r>
              <a:rPr lang="en-US" sz="1600" dirty="0" err="1">
                <a:latin typeface="Courier" pitchFamily="2" charset="0"/>
              </a:rPr>
              <a:t>init</a:t>
            </a:r>
            <a:r>
              <a:rPr lang="en-US" sz="1600" dirty="0">
                <a:latin typeface="Courier" pitchFamily="2" charset="0"/>
              </a:rPr>
              <a:t>__(</a:t>
            </a:r>
            <a:r>
              <a:rPr lang="en-US" sz="1600" dirty="0" err="1">
                <a:latin typeface="Courier" pitchFamily="2" charset="0"/>
              </a:rPr>
              <a:t>EdgeWeightedGraph</a:t>
            </a:r>
            <a:r>
              <a:rPr lang="en-US" sz="1600" dirty="0">
                <a:latin typeface="Courier" pitchFamily="2" charset="0"/>
              </a:rPr>
              <a:t> G):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self.mst</a:t>
            </a:r>
            <a:r>
              <a:rPr lang="en-US" sz="1600" dirty="0">
                <a:latin typeface="Courier" pitchFamily="2" charset="0"/>
              </a:rPr>
              <a:t> = Queue()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self.pq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MinPQ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    for e in </a:t>
            </a:r>
            <a:r>
              <a:rPr lang="en-US" sz="1600" dirty="0" err="1">
                <a:latin typeface="Courier" pitchFamily="2" charset="0"/>
              </a:rPr>
              <a:t>G.edges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        </a:t>
            </a:r>
            <a:r>
              <a:rPr lang="en-US" sz="1600" dirty="0" err="1">
                <a:latin typeface="Courier" pitchFamily="2" charset="0"/>
              </a:rPr>
              <a:t>self.pq.insert</a:t>
            </a:r>
            <a:r>
              <a:rPr lang="en-US" sz="1600" dirty="0">
                <a:latin typeface="Courier" pitchFamily="2" charset="0"/>
              </a:rPr>
              <a:t>(e)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uf</a:t>
            </a:r>
            <a:r>
              <a:rPr lang="en-US" sz="1600" dirty="0">
                <a:latin typeface="Courier" pitchFamily="2" charset="0"/>
              </a:rPr>
              <a:t> = UF(G.V())</a:t>
            </a:r>
          </a:p>
          <a:p>
            <a:r>
              <a:rPr lang="en-US" sz="1600" dirty="0">
                <a:latin typeface="Courier" pitchFamily="2" charset="0"/>
              </a:rPr>
              <a:t>        while (!</a:t>
            </a:r>
            <a:r>
              <a:rPr lang="en-US" sz="1600" dirty="0" err="1">
                <a:latin typeface="Courier" pitchFamily="2" charset="0"/>
              </a:rPr>
              <a:t>self.pq.isEmpty</a:t>
            </a:r>
            <a:r>
              <a:rPr lang="en-US" sz="1600" dirty="0">
                <a:latin typeface="Courier" pitchFamily="2" charset="0"/>
              </a:rPr>
              <a:t>() and </a:t>
            </a:r>
            <a:r>
              <a:rPr lang="en-US" sz="1600" dirty="0" err="1">
                <a:latin typeface="Courier" pitchFamily="2" charset="0"/>
              </a:rPr>
              <a:t>self.mst.size</a:t>
            </a:r>
            <a:r>
              <a:rPr lang="en-US" sz="1600" dirty="0">
                <a:latin typeface="Courier" pitchFamily="2" charset="0"/>
              </a:rPr>
              <a:t>()&lt;(G.V()-1)):</a:t>
            </a:r>
          </a:p>
          <a:p>
            <a:r>
              <a:rPr lang="en-US" sz="1600" dirty="0">
                <a:latin typeface="Courier" pitchFamily="2" charset="0"/>
              </a:rPr>
              <a:t>            e = </a:t>
            </a:r>
            <a:r>
              <a:rPr lang="en-US" sz="1600" dirty="0" err="1">
                <a:latin typeface="Courier" pitchFamily="2" charset="0"/>
              </a:rPr>
              <a:t>self.pq.delMin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        v = </a:t>
            </a:r>
            <a:r>
              <a:rPr lang="en-US" sz="1600" dirty="0" err="1">
                <a:latin typeface="Courier" pitchFamily="2" charset="0"/>
              </a:rPr>
              <a:t>e.endPoint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        w = </a:t>
            </a:r>
            <a:r>
              <a:rPr lang="en-US" sz="1600" dirty="0" err="1">
                <a:latin typeface="Courier" pitchFamily="2" charset="0"/>
              </a:rPr>
              <a:t>e.otherEndPoint</a:t>
            </a:r>
            <a:r>
              <a:rPr lang="en-US" sz="1600" dirty="0">
                <a:latin typeface="Courier" pitchFamily="2" charset="0"/>
              </a:rPr>
              <a:t>(v)</a:t>
            </a:r>
          </a:p>
          <a:p>
            <a:r>
              <a:rPr lang="en-US" sz="1600" dirty="0">
                <a:latin typeface="Courier" pitchFamily="2" charset="0"/>
              </a:rPr>
              <a:t>            if (!</a:t>
            </a:r>
            <a:r>
              <a:rPr lang="en-US" sz="1600" dirty="0" err="1">
                <a:latin typeface="Courier" pitchFamily="2" charset="0"/>
              </a:rPr>
              <a:t>uf.connected</a:t>
            </a:r>
            <a:r>
              <a:rPr lang="en-US" sz="1600" dirty="0">
                <a:latin typeface="Courier" pitchFamily="2" charset="0"/>
              </a:rPr>
              <a:t>(v, w)):</a:t>
            </a:r>
          </a:p>
          <a:p>
            <a:r>
              <a:rPr lang="en-US" sz="1600" dirty="0">
                <a:latin typeface="Courier" pitchFamily="2" charset="0"/>
              </a:rPr>
              <a:t>                </a:t>
            </a:r>
            <a:r>
              <a:rPr lang="en-US" sz="1600" dirty="0" err="1">
                <a:latin typeface="Courier" pitchFamily="2" charset="0"/>
              </a:rPr>
              <a:t>uf.union</a:t>
            </a:r>
            <a:r>
              <a:rPr lang="en-US" sz="1600" dirty="0">
                <a:latin typeface="Courier" pitchFamily="2" charset="0"/>
              </a:rPr>
              <a:t>(v, w)</a:t>
            </a:r>
          </a:p>
          <a:p>
            <a:r>
              <a:rPr lang="en-US" sz="1600" dirty="0">
                <a:latin typeface="Courier" pitchFamily="2" charset="0"/>
              </a:rPr>
              <a:t>                </a:t>
            </a:r>
            <a:r>
              <a:rPr lang="en-US" sz="1600" dirty="0" err="1">
                <a:latin typeface="Courier" pitchFamily="2" charset="0"/>
              </a:rPr>
              <a:t>self.mst.enqueue</a:t>
            </a:r>
            <a:r>
              <a:rPr lang="en-US" sz="1600" dirty="0">
                <a:latin typeface="Courier" pitchFamily="2" charset="0"/>
              </a:rPr>
              <a:t>(e)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edges(self):</a:t>
            </a:r>
          </a:p>
          <a:p>
            <a:r>
              <a:rPr lang="en-US" sz="1600" dirty="0">
                <a:latin typeface="Courier" pitchFamily="2" charset="0"/>
              </a:rPr>
              <a:t>        return </a:t>
            </a:r>
            <a:r>
              <a:rPr lang="en-US" sz="1600" dirty="0" err="1">
                <a:latin typeface="Courier" pitchFamily="2" charset="0"/>
              </a:rPr>
              <a:t>self.mst</a:t>
            </a:r>
            <a:endParaRPr lang="en-US" sz="1600" dirty="0">
              <a:latin typeface="Courier" pitchFamily="2" charset="0"/>
            </a:endParaRPr>
          </a:p>
        </p:txBody>
      </p:sp>
      <p:grpSp>
        <p:nvGrpSpPr>
          <p:cNvPr id="15" name="Group 14" descr="highlight code to create minPQ">
            <a:extLst>
              <a:ext uri="{FF2B5EF4-FFF2-40B4-BE49-F238E27FC236}">
                <a16:creationId xmlns:a16="http://schemas.microsoft.com/office/drawing/2014/main" id="{97F83FA1-C263-6E4D-8B78-F29073BE3724}"/>
              </a:ext>
            </a:extLst>
          </p:cNvPr>
          <p:cNvGrpSpPr/>
          <p:nvPr/>
        </p:nvGrpSpPr>
        <p:grpSpPr>
          <a:xfrm>
            <a:off x="1364776" y="2702256"/>
            <a:ext cx="10629517" cy="1064526"/>
            <a:chOff x="1364776" y="2702256"/>
            <a:chExt cx="10629517" cy="106452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F1EF925-FDE4-364F-A28B-59EF8CAB21AE}"/>
                </a:ext>
              </a:extLst>
            </p:cNvPr>
            <p:cNvSpPr txBox="1"/>
            <p:nvPr/>
          </p:nvSpPr>
          <p:spPr>
            <a:xfrm>
              <a:off x="9007522" y="2702256"/>
              <a:ext cx="298677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Create a min-oriented priority queue where to put edges in ascending order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FE4E075-7329-7D43-B080-154E3FF5368A}"/>
                </a:ext>
              </a:extLst>
            </p:cNvPr>
            <p:cNvSpPr/>
            <p:nvPr/>
          </p:nvSpPr>
          <p:spPr>
            <a:xfrm>
              <a:off x="1364776" y="2947916"/>
              <a:ext cx="2920621" cy="818866"/>
            </a:xfrm>
            <a:prstGeom prst="roundRect">
              <a:avLst/>
            </a:prstGeom>
            <a:solidFill>
              <a:schemeClr val="accent5">
                <a:alpha val="2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AC34977-A412-634E-A40F-77AC58A84782}"/>
                </a:ext>
              </a:extLst>
            </p:cNvPr>
            <p:cNvCxnSpPr>
              <a:cxnSpLocks/>
              <a:stCxn id="5" idx="1"/>
              <a:endCxn id="6" idx="3"/>
            </p:cNvCxnSpPr>
            <p:nvPr/>
          </p:nvCxnSpPr>
          <p:spPr>
            <a:xfrm flipH="1">
              <a:off x="4285397" y="3071588"/>
              <a:ext cx="4722125" cy="285761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 descr="highlight code to greedily add edges to MST">
            <a:extLst>
              <a:ext uri="{FF2B5EF4-FFF2-40B4-BE49-F238E27FC236}">
                <a16:creationId xmlns:a16="http://schemas.microsoft.com/office/drawing/2014/main" id="{C53429E5-2293-EF40-929E-30B296A5A3E1}"/>
              </a:ext>
            </a:extLst>
          </p:cNvPr>
          <p:cNvGrpSpPr/>
          <p:nvPr/>
        </p:nvGrpSpPr>
        <p:grpSpPr>
          <a:xfrm>
            <a:off x="1520925" y="4163633"/>
            <a:ext cx="10275661" cy="516478"/>
            <a:chOff x="1520925" y="4163633"/>
            <a:chExt cx="10275661" cy="51647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20B2F35-7B14-B742-918E-B10FE238CC57}"/>
                </a:ext>
              </a:extLst>
            </p:cNvPr>
            <p:cNvSpPr txBox="1"/>
            <p:nvPr/>
          </p:nvSpPr>
          <p:spPr>
            <a:xfrm>
              <a:off x="9007522" y="4190929"/>
              <a:ext cx="27890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Greedily add edges to the MST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6E1FE13-EEFB-B241-862B-39E61A7DB158}"/>
                </a:ext>
              </a:extLst>
            </p:cNvPr>
            <p:cNvCxnSpPr>
              <a:cxnSpLocks/>
              <a:stCxn id="16" idx="1"/>
              <a:endCxn id="18" idx="3"/>
            </p:cNvCxnSpPr>
            <p:nvPr/>
          </p:nvCxnSpPr>
          <p:spPr>
            <a:xfrm flipH="1">
              <a:off x="8584442" y="4344818"/>
              <a:ext cx="423080" cy="77054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AF27CD08-48B1-A545-A723-92F86B8BFEEC}"/>
                </a:ext>
              </a:extLst>
            </p:cNvPr>
            <p:cNvSpPr/>
            <p:nvPr/>
          </p:nvSpPr>
          <p:spPr>
            <a:xfrm>
              <a:off x="1520925" y="4163633"/>
              <a:ext cx="7063517" cy="516478"/>
            </a:xfrm>
            <a:prstGeom prst="roundRect">
              <a:avLst/>
            </a:prstGeom>
            <a:solidFill>
              <a:schemeClr val="accent5">
                <a:alpha val="2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 descr="highlgiht code to decide whether to add an edge to MST">
            <a:extLst>
              <a:ext uri="{FF2B5EF4-FFF2-40B4-BE49-F238E27FC236}">
                <a16:creationId xmlns:a16="http://schemas.microsoft.com/office/drawing/2014/main" id="{E93C55C2-E3EF-3448-9D82-1C8D5E299FA6}"/>
              </a:ext>
            </a:extLst>
          </p:cNvPr>
          <p:cNvGrpSpPr/>
          <p:nvPr/>
        </p:nvGrpSpPr>
        <p:grpSpPr>
          <a:xfrm>
            <a:off x="1967552" y="5116840"/>
            <a:ext cx="9829033" cy="818866"/>
            <a:chOff x="1967552" y="5116840"/>
            <a:chExt cx="9829033" cy="81886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190FFC7-AD83-294C-A81B-1A74B16DD17F}"/>
                </a:ext>
              </a:extLst>
            </p:cNvPr>
            <p:cNvSpPr txBox="1"/>
            <p:nvPr/>
          </p:nvSpPr>
          <p:spPr>
            <a:xfrm>
              <a:off x="9106316" y="5272886"/>
              <a:ext cx="26902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v—w does not create a cycle, add it to the MST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3E0A6D1-AC38-4542-BA62-23F9CD7A767F}"/>
                </a:ext>
              </a:extLst>
            </p:cNvPr>
            <p:cNvCxnSpPr>
              <a:cxnSpLocks/>
              <a:stCxn id="10" idx="1"/>
              <a:endCxn id="12" idx="3"/>
            </p:cNvCxnSpPr>
            <p:nvPr/>
          </p:nvCxnSpPr>
          <p:spPr>
            <a:xfrm flipH="1" flipV="1">
              <a:off x="5186149" y="5526273"/>
              <a:ext cx="3920167" cy="8223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2076AC41-D74F-EA4A-8822-32624E3C405A}"/>
                </a:ext>
              </a:extLst>
            </p:cNvPr>
            <p:cNvSpPr/>
            <p:nvPr/>
          </p:nvSpPr>
          <p:spPr>
            <a:xfrm>
              <a:off x="1967552" y="5116840"/>
              <a:ext cx="3218597" cy="818866"/>
            </a:xfrm>
            <a:prstGeom prst="roundRect">
              <a:avLst/>
            </a:prstGeom>
            <a:solidFill>
              <a:schemeClr val="accent5">
                <a:alpha val="2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61829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Performance.</a:t>
            </a:r>
            <a:r>
              <a:rPr lang="en-US" dirty="0"/>
              <a:t> Kruskal’s algorithm computes the MST in time proportional to </a:t>
            </a:r>
            <a:r>
              <a:rPr lang="en-US" i="1" dirty="0"/>
              <a:t>E</a:t>
            </a:r>
            <a:r>
              <a:rPr lang="en-US" dirty="0"/>
              <a:t> log </a:t>
            </a:r>
            <a:r>
              <a:rPr lang="en-US" i="1" dirty="0"/>
              <a:t>E</a:t>
            </a:r>
            <a:r>
              <a:rPr lang="en-US" dirty="0"/>
              <a:t> (worst case)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171BD7-0CD5-F24D-9E66-577E79C29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949256"/>
              </p:ext>
            </p:extLst>
          </p:nvPr>
        </p:nvGraphicFramePr>
        <p:xfrm>
          <a:off x="1385328" y="2794125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48936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1748393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34619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Frequency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 per 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320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Build the priority queue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 log 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13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 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48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 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626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Find (connected)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 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344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3105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Minimum Spanning Tree</a:t>
            </a:r>
          </a:p>
          <a:p>
            <a:pPr lvl="1"/>
            <a:r>
              <a:rPr lang="en-US" dirty="0"/>
              <a:t>Greedy algorithm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Kruskal’s algorithm</a:t>
            </a:r>
          </a:p>
          <a:p>
            <a:pPr lvl="1"/>
            <a:r>
              <a:rPr lang="en-US" dirty="0"/>
              <a:t>Prim’s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Shortest Path</a:t>
            </a:r>
          </a:p>
        </p:txBody>
      </p:sp>
    </p:spTree>
    <p:extLst>
      <p:ext uri="{BB962C8B-B14F-4D97-AF65-F5344CB8AC3E}">
        <p14:creationId xmlns:p14="http://schemas.microsoft.com/office/powerpoint/2010/main" val="18081554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Minimum Spanning Tree</a:t>
            </a:r>
          </a:p>
          <a:p>
            <a:pPr lvl="1"/>
            <a:r>
              <a:rPr lang="en-US" dirty="0"/>
              <a:t>Greedy algorithm</a:t>
            </a:r>
          </a:p>
          <a:p>
            <a:pPr lvl="1"/>
            <a:r>
              <a:rPr lang="en-US" dirty="0"/>
              <a:t>Kruskal’s algorithm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Prim’s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Shortest Path</a:t>
            </a:r>
          </a:p>
        </p:txBody>
      </p:sp>
    </p:spTree>
    <p:extLst>
      <p:ext uri="{BB962C8B-B14F-4D97-AF65-F5344CB8AC3E}">
        <p14:creationId xmlns:p14="http://schemas.microsoft.com/office/powerpoint/2010/main" val="5861331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22B7D-E37B-E148-BDC1-799C3C067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047C0-0F60-8F45-B26E-3FF8FEF8C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</a:p>
          <a:p>
            <a:pPr lvl="1"/>
            <a:r>
              <a:rPr lang="en-US" dirty="0"/>
              <a:t>Start with vertex 0 and greedily grow tree T</a:t>
            </a:r>
          </a:p>
          <a:p>
            <a:pPr lvl="1"/>
            <a:r>
              <a:rPr lang="en-US" dirty="0"/>
              <a:t>Add to T the min-weighted edge </a:t>
            </a:r>
            <a:r>
              <a:rPr lang="en-US" b="1" dirty="0">
                <a:solidFill>
                  <a:schemeClr val="accent5"/>
                </a:solidFill>
              </a:rPr>
              <a:t>with exactly one endpoint in T</a:t>
            </a:r>
          </a:p>
          <a:p>
            <a:pPr lvl="1"/>
            <a:r>
              <a:rPr lang="en-US" dirty="0"/>
              <a:t>Stop when V-1 edges have been added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557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795459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pSp>
        <p:nvGrpSpPr>
          <p:cNvPr id="33" name="Group 32" descr="graph edges sorted by weight">
            <a:extLst>
              <a:ext uri="{FF2B5EF4-FFF2-40B4-BE49-F238E27FC236}">
                <a16:creationId xmlns:a16="http://schemas.microsoft.com/office/drawing/2014/main" id="{20D58728-01CD-BB4C-86B8-558859FD1AAC}"/>
              </a:ext>
            </a:extLst>
          </p:cNvPr>
          <p:cNvGrpSpPr/>
          <p:nvPr/>
        </p:nvGrpSpPr>
        <p:grpSpPr>
          <a:xfrm>
            <a:off x="9526137" y="1492404"/>
            <a:ext cx="2407897" cy="923330"/>
            <a:chOff x="9526137" y="1492404"/>
            <a:chExt cx="2407897" cy="92333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97709BA-BD09-A940-9FDF-18EDB8B1691F}"/>
                </a:ext>
              </a:extLst>
            </p:cNvPr>
            <p:cNvSpPr txBox="1"/>
            <p:nvPr/>
          </p:nvSpPr>
          <p:spPr>
            <a:xfrm>
              <a:off x="10222173" y="1492404"/>
              <a:ext cx="171186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Graph edges sorted by weight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4C5A8F0-05B7-A141-B1D3-1E3E9E00D7B3}"/>
                </a:ext>
              </a:extLst>
            </p:cNvPr>
            <p:cNvCxnSpPr>
              <a:cxnSpLocks/>
              <a:stCxn id="29" idx="1"/>
            </p:cNvCxnSpPr>
            <p:nvPr/>
          </p:nvCxnSpPr>
          <p:spPr>
            <a:xfrm flipH="1">
              <a:off x="9526137" y="1954069"/>
              <a:ext cx="696036" cy="284164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32483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344706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8268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718433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9960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826876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13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104425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6267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933264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6184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803315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01892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592834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759366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392319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59925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508545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77539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709613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162483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576432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219259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935055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666917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483404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368236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endParaRPr lang="en-US" dirty="0"/>
          </a:p>
        </p:txBody>
      </p:sp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2184562" y="2377464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descr="highlighting edges in MST">
            <a:extLst>
              <a:ext uri="{FF2B5EF4-FFF2-40B4-BE49-F238E27FC236}">
                <a16:creationId xmlns:a16="http://schemas.microsoft.com/office/drawing/2014/main" id="{13B66B26-4CDF-4B46-A16D-BF1C6179D50E}"/>
              </a:ext>
            </a:extLst>
          </p:cNvPr>
          <p:cNvGrpSpPr/>
          <p:nvPr/>
        </p:nvGrpSpPr>
        <p:grpSpPr>
          <a:xfrm>
            <a:off x="852598" y="6085631"/>
            <a:ext cx="5359688" cy="369332"/>
            <a:chOff x="852598" y="6085631"/>
            <a:chExt cx="5359688" cy="3693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D610206-F71B-B643-8566-B2CB6B4785A5}"/>
                </a:ext>
              </a:extLst>
            </p:cNvPr>
            <p:cNvSpPr txBox="1"/>
            <p:nvPr/>
          </p:nvSpPr>
          <p:spPr>
            <a:xfrm>
              <a:off x="1932588" y="6085631"/>
              <a:ext cx="42796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Edges in Minimum Spanning Tree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9EBEE80-D522-0946-A17B-46FFD792F826}"/>
                </a:ext>
              </a:extLst>
            </p:cNvPr>
            <p:cNvCxnSpPr/>
            <p:nvPr/>
          </p:nvCxnSpPr>
          <p:spPr>
            <a:xfrm>
              <a:off x="852598" y="6258450"/>
              <a:ext cx="1022666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174713"/>
              </p:ext>
            </p:extLst>
          </p:nvPr>
        </p:nvGraphicFramePr>
        <p:xfrm>
          <a:off x="8083035" y="2090107"/>
          <a:ext cx="2139138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93494799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018254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Implementation challenge:</a:t>
            </a:r>
            <a:r>
              <a:rPr lang="en-US" dirty="0"/>
              <a:t> how to efficiently find the min-weighted edge with exactly one endpoint in T?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Option 1</a:t>
            </a:r>
            <a:r>
              <a:rPr lang="en-US" dirty="0"/>
              <a:t>: try all edges</a:t>
            </a:r>
          </a:p>
          <a:p>
            <a:pPr lvl="2"/>
            <a:r>
              <a:rPr lang="en-US" dirty="0"/>
              <a:t>Cost: </a:t>
            </a:r>
            <a:r>
              <a:rPr lang="en-US" i="1" dirty="0"/>
              <a:t>O(E)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Option 2 (more efficient)</a:t>
            </a:r>
            <a:r>
              <a:rPr lang="en-US" dirty="0"/>
              <a:t>: use a priority queue containing all edges with </a:t>
            </a:r>
            <a:r>
              <a:rPr lang="en-US" b="1" dirty="0">
                <a:solidFill>
                  <a:schemeClr val="accent5"/>
                </a:solidFill>
              </a:rPr>
              <a:t>at least one endpoint in T</a:t>
            </a:r>
          </a:p>
          <a:p>
            <a:pPr lvl="2"/>
            <a:r>
              <a:rPr lang="en-US" dirty="0"/>
              <a:t>Cost: </a:t>
            </a:r>
            <a:r>
              <a:rPr lang="en-US" i="1" dirty="0"/>
              <a:t>O(log E)</a:t>
            </a:r>
          </a:p>
          <a:p>
            <a:pPr lvl="1"/>
            <a:endParaRPr lang="en-US" i="1" dirty="0"/>
          </a:p>
          <a:p>
            <a:pPr lvl="1"/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2441578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Lazy implementation </a:t>
            </a:r>
            <a:r>
              <a:rPr lang="en-US" dirty="0"/>
              <a:t>of Prim’s algorithm via priority queue </a:t>
            </a:r>
          </a:p>
          <a:p>
            <a:pPr lvl="1"/>
            <a:r>
              <a:rPr lang="en-US" dirty="0"/>
              <a:t>Key=edge, priority = weight of edge</a:t>
            </a:r>
          </a:p>
          <a:p>
            <a:pPr lvl="1"/>
            <a:r>
              <a:rPr lang="en-US" dirty="0"/>
              <a:t>Delete-min to determine next edge </a:t>
            </a:r>
            <a:r>
              <a:rPr lang="en-US" i="1" dirty="0"/>
              <a:t>v–w</a:t>
            </a:r>
            <a:r>
              <a:rPr lang="en-US" dirty="0"/>
              <a:t> to add to T</a:t>
            </a:r>
          </a:p>
          <a:p>
            <a:pPr lvl="1"/>
            <a:r>
              <a:rPr lang="en-US" dirty="0"/>
              <a:t>Disregard if both endpoints </a:t>
            </a:r>
            <a:r>
              <a:rPr lang="en-US" i="1" dirty="0"/>
              <a:t>v</a:t>
            </a:r>
            <a:r>
              <a:rPr lang="en-US" dirty="0"/>
              <a:t> and </a:t>
            </a:r>
            <a:r>
              <a:rPr lang="en-US" i="1" dirty="0"/>
              <a:t>w</a:t>
            </a:r>
            <a:r>
              <a:rPr lang="en-US" dirty="0"/>
              <a:t> are marked (i.e., already in T)</a:t>
            </a:r>
          </a:p>
          <a:p>
            <a:pPr lvl="1"/>
            <a:r>
              <a:rPr lang="en-US" dirty="0"/>
              <a:t>Otherwise, let </a:t>
            </a:r>
            <a:r>
              <a:rPr lang="en-US" i="1" dirty="0"/>
              <a:t>w</a:t>
            </a:r>
            <a:r>
              <a:rPr lang="en-US" dirty="0"/>
              <a:t> be the unmarked vertex (i.e., </a:t>
            </a:r>
            <a:r>
              <a:rPr lang="en-US" i="1" dirty="0"/>
              <a:t>w</a:t>
            </a:r>
            <a:r>
              <a:rPr lang="en-US" dirty="0"/>
              <a:t> not yet in T):</a:t>
            </a:r>
          </a:p>
          <a:p>
            <a:pPr lvl="2"/>
            <a:r>
              <a:rPr lang="en-US" dirty="0"/>
              <a:t>add </a:t>
            </a:r>
            <a:r>
              <a:rPr lang="en-US" i="1" dirty="0"/>
              <a:t>v—w</a:t>
            </a:r>
            <a:r>
              <a:rPr lang="en-US" dirty="0"/>
              <a:t> to T </a:t>
            </a:r>
          </a:p>
          <a:p>
            <a:pPr lvl="2"/>
            <a:r>
              <a:rPr lang="en-US" dirty="0"/>
              <a:t>mark </a:t>
            </a:r>
            <a:r>
              <a:rPr lang="en-US" i="1" dirty="0"/>
              <a:t>w</a:t>
            </a:r>
          </a:p>
          <a:p>
            <a:pPr lvl="2"/>
            <a:r>
              <a:rPr lang="en-US" dirty="0"/>
              <a:t>add any edge incident to </a:t>
            </a:r>
            <a:r>
              <a:rPr lang="en-US" i="1" dirty="0"/>
              <a:t>w</a:t>
            </a:r>
            <a:r>
              <a:rPr lang="en-US" dirty="0"/>
              <a:t> to the priority queue (unless the other endpoint already in T)</a:t>
            </a:r>
          </a:p>
          <a:p>
            <a:pPr lvl="2"/>
            <a:endParaRPr lang="en-US" i="1" dirty="0"/>
          </a:p>
          <a:p>
            <a:pPr marL="457200" lvl="1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64626330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 with PQ data structure</a:t>
            </a:r>
            <a:endParaRPr lang="en-US" dirty="0"/>
          </a:p>
        </p:txBody>
      </p: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635106"/>
              </p:ext>
            </p:extLst>
          </p:nvPr>
        </p:nvGraphicFramePr>
        <p:xfrm>
          <a:off x="167332" y="2259526"/>
          <a:ext cx="1415541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1806006" y="2997779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1" name="Table 30" descr="weights of the edge sin the example graph">
            <a:extLst>
              <a:ext uri="{FF2B5EF4-FFF2-40B4-BE49-F238E27FC236}">
                <a16:creationId xmlns:a16="http://schemas.microsoft.com/office/drawing/2014/main" id="{18847BDF-126A-C241-B7FD-B50F86519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966338"/>
              </p:ext>
            </p:extLst>
          </p:nvPr>
        </p:nvGraphicFramePr>
        <p:xfrm>
          <a:off x="7662773" y="2287828"/>
          <a:ext cx="1900411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 Queue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aphicFrame>
        <p:nvGraphicFramePr>
          <p:cNvPr id="32" name="Table 31" descr="weights of the edge sin the example graph">
            <a:extLst>
              <a:ext uri="{FF2B5EF4-FFF2-40B4-BE49-F238E27FC236}">
                <a16:creationId xmlns:a16="http://schemas.microsoft.com/office/drawing/2014/main" id="{A309CAE1-7649-4A40-8F7D-58203039E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374047"/>
              </p:ext>
            </p:extLst>
          </p:nvPr>
        </p:nvGraphicFramePr>
        <p:xfrm>
          <a:off x="9913110" y="2289137"/>
          <a:ext cx="1900411" cy="225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D0415E2-927B-014B-B3C8-7F238830A993}"/>
              </a:ext>
            </a:extLst>
          </p:cNvPr>
          <p:cNvSpPr txBox="1"/>
          <p:nvPr/>
        </p:nvSpPr>
        <p:spPr>
          <a:xfrm>
            <a:off x="8910679" y="163275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245BEE-BE94-FF4C-BCCC-F7441F0D5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74257" y="1673695"/>
            <a:ext cx="0" cy="492868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50542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 with PQ data structure</a:t>
            </a:r>
            <a:endParaRPr lang="en-US" dirty="0"/>
          </a:p>
        </p:txBody>
      </p: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/>
        </p:nvGraphicFramePr>
        <p:xfrm>
          <a:off x="167332" y="2259526"/>
          <a:ext cx="1415541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1806006" y="2997779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rgbClr val="FF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1" name="Table 30" descr="weights of the edge sin the example graph">
            <a:extLst>
              <a:ext uri="{FF2B5EF4-FFF2-40B4-BE49-F238E27FC236}">
                <a16:creationId xmlns:a16="http://schemas.microsoft.com/office/drawing/2014/main" id="{18847BDF-126A-C241-B7FD-B50F86519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237364"/>
              </p:ext>
            </p:extLst>
          </p:nvPr>
        </p:nvGraphicFramePr>
        <p:xfrm>
          <a:off x="7662773" y="2287828"/>
          <a:ext cx="1900411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 Queue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aphicFrame>
        <p:nvGraphicFramePr>
          <p:cNvPr id="32" name="Table 31" descr="weights of the edge sin the example graph">
            <a:extLst>
              <a:ext uri="{FF2B5EF4-FFF2-40B4-BE49-F238E27FC236}">
                <a16:creationId xmlns:a16="http://schemas.microsoft.com/office/drawing/2014/main" id="{A309CAE1-7649-4A40-8F7D-58203039E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761288"/>
              </p:ext>
            </p:extLst>
          </p:nvPr>
        </p:nvGraphicFramePr>
        <p:xfrm>
          <a:off x="9913110" y="2289137"/>
          <a:ext cx="1900411" cy="225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D0415E2-927B-014B-B3C8-7F238830A993}"/>
              </a:ext>
            </a:extLst>
          </p:cNvPr>
          <p:cNvSpPr txBox="1"/>
          <p:nvPr/>
        </p:nvSpPr>
        <p:spPr>
          <a:xfrm>
            <a:off x="8910679" y="163275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245BEE-BE94-FF4C-BCCC-F7441F0D5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74257" y="1673695"/>
            <a:ext cx="0" cy="492868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28884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 with PQ data structure</a:t>
            </a:r>
            <a:endParaRPr lang="en-US" dirty="0"/>
          </a:p>
        </p:txBody>
      </p: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/>
        </p:nvGraphicFramePr>
        <p:xfrm>
          <a:off x="167332" y="2259526"/>
          <a:ext cx="1415541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1806006" y="2997779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28575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1" name="Table 30" descr="weights of the edge sin the example graph">
            <a:extLst>
              <a:ext uri="{FF2B5EF4-FFF2-40B4-BE49-F238E27FC236}">
                <a16:creationId xmlns:a16="http://schemas.microsoft.com/office/drawing/2014/main" id="{18847BDF-126A-C241-B7FD-B50F86519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020410"/>
              </p:ext>
            </p:extLst>
          </p:nvPr>
        </p:nvGraphicFramePr>
        <p:xfrm>
          <a:off x="7662773" y="2287828"/>
          <a:ext cx="1900411" cy="3000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 Queue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900924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507334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818945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756915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aphicFrame>
        <p:nvGraphicFramePr>
          <p:cNvPr id="32" name="Table 31" descr="weights of the edge sin the example graph">
            <a:extLst>
              <a:ext uri="{FF2B5EF4-FFF2-40B4-BE49-F238E27FC236}">
                <a16:creationId xmlns:a16="http://schemas.microsoft.com/office/drawing/2014/main" id="{A309CAE1-7649-4A40-8F7D-58203039E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687777"/>
              </p:ext>
            </p:extLst>
          </p:nvPr>
        </p:nvGraphicFramePr>
        <p:xfrm>
          <a:off x="9913110" y="2289137"/>
          <a:ext cx="1900411" cy="225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D0415E2-927B-014B-B3C8-7F238830A993}"/>
              </a:ext>
            </a:extLst>
          </p:cNvPr>
          <p:cNvSpPr txBox="1"/>
          <p:nvPr/>
        </p:nvSpPr>
        <p:spPr>
          <a:xfrm>
            <a:off x="8910679" y="163275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245BEE-BE94-FF4C-BCCC-F7441F0D5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74257" y="1673695"/>
            <a:ext cx="0" cy="492868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32278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 with PQ data structure</a:t>
            </a:r>
            <a:endParaRPr lang="en-US" dirty="0"/>
          </a:p>
        </p:txBody>
      </p: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/>
        </p:nvGraphicFramePr>
        <p:xfrm>
          <a:off x="167332" y="2259526"/>
          <a:ext cx="1415541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1806006" y="2997779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1" name="Table 30" descr="weights of the edge sin the example graph">
            <a:extLst>
              <a:ext uri="{FF2B5EF4-FFF2-40B4-BE49-F238E27FC236}">
                <a16:creationId xmlns:a16="http://schemas.microsoft.com/office/drawing/2014/main" id="{18847BDF-126A-C241-B7FD-B50F86519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763620"/>
              </p:ext>
            </p:extLst>
          </p:nvPr>
        </p:nvGraphicFramePr>
        <p:xfrm>
          <a:off x="7662773" y="2287828"/>
          <a:ext cx="1900411" cy="3500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 Queue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507334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828527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11225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818945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52919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756915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aphicFrame>
        <p:nvGraphicFramePr>
          <p:cNvPr id="32" name="Table 31" descr="weights of the edge sin the example graph">
            <a:extLst>
              <a:ext uri="{FF2B5EF4-FFF2-40B4-BE49-F238E27FC236}">
                <a16:creationId xmlns:a16="http://schemas.microsoft.com/office/drawing/2014/main" id="{A309CAE1-7649-4A40-8F7D-58203039E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836124"/>
              </p:ext>
            </p:extLst>
          </p:nvPr>
        </p:nvGraphicFramePr>
        <p:xfrm>
          <a:off x="9913110" y="2289137"/>
          <a:ext cx="1900411" cy="225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D0415E2-927B-014B-B3C8-7F238830A993}"/>
              </a:ext>
            </a:extLst>
          </p:cNvPr>
          <p:cNvSpPr txBox="1"/>
          <p:nvPr/>
        </p:nvSpPr>
        <p:spPr>
          <a:xfrm>
            <a:off x="8910679" y="163275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245BEE-BE94-FF4C-BCCC-F7441F0D5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74257" y="1673695"/>
            <a:ext cx="0" cy="492868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33579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 with PQ data structure</a:t>
            </a:r>
            <a:endParaRPr lang="en-US" dirty="0"/>
          </a:p>
        </p:txBody>
      </p: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/>
        </p:nvGraphicFramePr>
        <p:xfrm>
          <a:off x="167332" y="2259526"/>
          <a:ext cx="1415541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1806006" y="2997779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1" name="Table 30" descr="weights of the edge sin the example graph">
            <a:extLst>
              <a:ext uri="{FF2B5EF4-FFF2-40B4-BE49-F238E27FC236}">
                <a16:creationId xmlns:a16="http://schemas.microsoft.com/office/drawing/2014/main" id="{18847BDF-126A-C241-B7FD-B50F86519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484291"/>
              </p:ext>
            </p:extLst>
          </p:nvPr>
        </p:nvGraphicFramePr>
        <p:xfrm>
          <a:off x="7662773" y="2287828"/>
          <a:ext cx="1900411" cy="3750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 Queue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281247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507334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828527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121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818945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52919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756915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96084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aphicFrame>
        <p:nvGraphicFramePr>
          <p:cNvPr id="32" name="Table 31" descr="weights of the edge sin the example graph">
            <a:extLst>
              <a:ext uri="{FF2B5EF4-FFF2-40B4-BE49-F238E27FC236}">
                <a16:creationId xmlns:a16="http://schemas.microsoft.com/office/drawing/2014/main" id="{A309CAE1-7649-4A40-8F7D-58203039E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860233"/>
              </p:ext>
            </p:extLst>
          </p:nvPr>
        </p:nvGraphicFramePr>
        <p:xfrm>
          <a:off x="9913110" y="2289137"/>
          <a:ext cx="1900411" cy="225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D0415E2-927B-014B-B3C8-7F238830A993}"/>
              </a:ext>
            </a:extLst>
          </p:cNvPr>
          <p:cNvSpPr txBox="1"/>
          <p:nvPr/>
        </p:nvSpPr>
        <p:spPr>
          <a:xfrm>
            <a:off x="8910679" y="163275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245BEE-BE94-FF4C-BCCC-F7441F0D5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74257" y="1673695"/>
            <a:ext cx="0" cy="492868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64109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 with PQ data structure</a:t>
            </a:r>
            <a:endParaRPr lang="en-US" dirty="0"/>
          </a:p>
        </p:txBody>
      </p: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/>
        </p:nvGraphicFramePr>
        <p:xfrm>
          <a:off x="167332" y="2259526"/>
          <a:ext cx="1415541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1806006" y="2997779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1" name="Table 30" descr="weights of the edge sin the example graph">
            <a:extLst>
              <a:ext uri="{FF2B5EF4-FFF2-40B4-BE49-F238E27FC236}">
                <a16:creationId xmlns:a16="http://schemas.microsoft.com/office/drawing/2014/main" id="{18847BDF-126A-C241-B7FD-B50F86519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41504"/>
              </p:ext>
            </p:extLst>
          </p:nvPr>
        </p:nvGraphicFramePr>
        <p:xfrm>
          <a:off x="7662773" y="2287828"/>
          <a:ext cx="1900411" cy="3500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 Queue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507334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828527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818945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49152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52919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756915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96084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aphicFrame>
        <p:nvGraphicFramePr>
          <p:cNvPr id="32" name="Table 31" descr="weights of the edge sin the example graph">
            <a:extLst>
              <a:ext uri="{FF2B5EF4-FFF2-40B4-BE49-F238E27FC236}">
                <a16:creationId xmlns:a16="http://schemas.microsoft.com/office/drawing/2014/main" id="{A309CAE1-7649-4A40-8F7D-58203039E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989774"/>
              </p:ext>
            </p:extLst>
          </p:nvPr>
        </p:nvGraphicFramePr>
        <p:xfrm>
          <a:off x="9913110" y="2289137"/>
          <a:ext cx="1900411" cy="225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D0415E2-927B-014B-B3C8-7F238830A993}"/>
              </a:ext>
            </a:extLst>
          </p:cNvPr>
          <p:cNvSpPr txBox="1"/>
          <p:nvPr/>
        </p:nvSpPr>
        <p:spPr>
          <a:xfrm>
            <a:off x="8910679" y="163275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245BEE-BE94-FF4C-BCCC-F7441F0D5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74257" y="1673695"/>
            <a:ext cx="0" cy="492868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40220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 with PQ data structure</a:t>
            </a:r>
            <a:endParaRPr lang="en-US" dirty="0"/>
          </a:p>
        </p:txBody>
      </p: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/>
        </p:nvGraphicFramePr>
        <p:xfrm>
          <a:off x="167332" y="2259526"/>
          <a:ext cx="1415541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1806006" y="2997779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1" name="Table 30" descr="weights of the edge sin the example graph">
            <a:extLst>
              <a:ext uri="{FF2B5EF4-FFF2-40B4-BE49-F238E27FC236}">
                <a16:creationId xmlns:a16="http://schemas.microsoft.com/office/drawing/2014/main" id="{18847BDF-126A-C241-B7FD-B50F86519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236616"/>
              </p:ext>
            </p:extLst>
          </p:nvPr>
        </p:nvGraphicFramePr>
        <p:xfrm>
          <a:off x="7662773" y="2287828"/>
          <a:ext cx="1900411" cy="3500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 Queue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828527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818945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203605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6681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52919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756915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96084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aphicFrame>
        <p:nvGraphicFramePr>
          <p:cNvPr id="32" name="Table 31" descr="weights of the edge sin the example graph">
            <a:extLst>
              <a:ext uri="{FF2B5EF4-FFF2-40B4-BE49-F238E27FC236}">
                <a16:creationId xmlns:a16="http://schemas.microsoft.com/office/drawing/2014/main" id="{A309CAE1-7649-4A40-8F7D-58203039E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561107"/>
              </p:ext>
            </p:extLst>
          </p:nvPr>
        </p:nvGraphicFramePr>
        <p:xfrm>
          <a:off x="9913110" y="2289137"/>
          <a:ext cx="1900411" cy="225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D0415E2-927B-014B-B3C8-7F238830A993}"/>
              </a:ext>
            </a:extLst>
          </p:cNvPr>
          <p:cNvSpPr txBox="1"/>
          <p:nvPr/>
        </p:nvSpPr>
        <p:spPr>
          <a:xfrm>
            <a:off x="8910679" y="163275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245BEE-BE94-FF4C-BCCC-F7441F0D5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74257" y="1673695"/>
            <a:ext cx="0" cy="492868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67889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 with PQ data structure</a:t>
            </a:r>
            <a:endParaRPr lang="en-US" dirty="0"/>
          </a:p>
        </p:txBody>
      </p: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/>
        </p:nvGraphicFramePr>
        <p:xfrm>
          <a:off x="167332" y="2259526"/>
          <a:ext cx="1415541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1806006" y="2997779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1" name="Table 30" descr="weights of the edge sin the example graph">
            <a:extLst>
              <a:ext uri="{FF2B5EF4-FFF2-40B4-BE49-F238E27FC236}">
                <a16:creationId xmlns:a16="http://schemas.microsoft.com/office/drawing/2014/main" id="{18847BDF-126A-C241-B7FD-B50F86519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476827"/>
              </p:ext>
            </p:extLst>
          </p:nvPr>
        </p:nvGraphicFramePr>
        <p:xfrm>
          <a:off x="7662773" y="2287828"/>
          <a:ext cx="1900411" cy="2750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 Queue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818945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52919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756915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96084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aphicFrame>
        <p:nvGraphicFramePr>
          <p:cNvPr id="32" name="Table 31" descr="weights of the edge sin the example graph">
            <a:extLst>
              <a:ext uri="{FF2B5EF4-FFF2-40B4-BE49-F238E27FC236}">
                <a16:creationId xmlns:a16="http://schemas.microsoft.com/office/drawing/2014/main" id="{A309CAE1-7649-4A40-8F7D-58203039E1FB}"/>
              </a:ext>
            </a:extLst>
          </p:cNvPr>
          <p:cNvGraphicFramePr>
            <a:graphicFrameLocks noGrp="1"/>
          </p:cNvGraphicFramePr>
          <p:nvPr/>
        </p:nvGraphicFramePr>
        <p:xfrm>
          <a:off x="9913110" y="2289137"/>
          <a:ext cx="1900411" cy="225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D0415E2-927B-014B-B3C8-7F238830A993}"/>
              </a:ext>
            </a:extLst>
          </p:cNvPr>
          <p:cNvSpPr txBox="1"/>
          <p:nvPr/>
        </p:nvSpPr>
        <p:spPr>
          <a:xfrm>
            <a:off x="8910679" y="163275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245BEE-BE94-FF4C-BCCC-F7441F0D5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74257" y="1673695"/>
            <a:ext cx="0" cy="492868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83377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 with PQ data structure</a:t>
            </a:r>
            <a:endParaRPr lang="en-US" dirty="0"/>
          </a:p>
        </p:txBody>
      </p: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/>
        </p:nvGraphicFramePr>
        <p:xfrm>
          <a:off x="167332" y="2259526"/>
          <a:ext cx="1415541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1806006" y="2997779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1" name="Table 30" descr="weights of the edge sin the example graph">
            <a:extLst>
              <a:ext uri="{FF2B5EF4-FFF2-40B4-BE49-F238E27FC236}">
                <a16:creationId xmlns:a16="http://schemas.microsoft.com/office/drawing/2014/main" id="{18847BDF-126A-C241-B7FD-B50F86519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320345"/>
              </p:ext>
            </p:extLst>
          </p:nvPr>
        </p:nvGraphicFramePr>
        <p:xfrm>
          <a:off x="7662773" y="2287828"/>
          <a:ext cx="1900411" cy="2500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 Queue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52919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756915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96084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aphicFrame>
        <p:nvGraphicFramePr>
          <p:cNvPr id="32" name="Table 31" descr="weights of the edge sin the example graph">
            <a:extLst>
              <a:ext uri="{FF2B5EF4-FFF2-40B4-BE49-F238E27FC236}">
                <a16:creationId xmlns:a16="http://schemas.microsoft.com/office/drawing/2014/main" id="{A309CAE1-7649-4A40-8F7D-58203039E1FB}"/>
              </a:ext>
            </a:extLst>
          </p:cNvPr>
          <p:cNvGraphicFramePr>
            <a:graphicFrameLocks noGrp="1"/>
          </p:cNvGraphicFramePr>
          <p:nvPr/>
        </p:nvGraphicFramePr>
        <p:xfrm>
          <a:off x="9913110" y="2289137"/>
          <a:ext cx="1900411" cy="225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D0415E2-927B-014B-B3C8-7F238830A993}"/>
              </a:ext>
            </a:extLst>
          </p:cNvPr>
          <p:cNvSpPr txBox="1"/>
          <p:nvPr/>
        </p:nvSpPr>
        <p:spPr>
          <a:xfrm>
            <a:off x="8910679" y="163275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245BEE-BE94-FF4C-BCCC-F7441F0D5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74257" y="1673695"/>
            <a:ext cx="0" cy="492868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95375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 with PQ data structure</a:t>
            </a:r>
            <a:endParaRPr lang="en-US" dirty="0"/>
          </a:p>
        </p:txBody>
      </p: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/>
        </p:nvGraphicFramePr>
        <p:xfrm>
          <a:off x="167332" y="2259526"/>
          <a:ext cx="1415541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1806006" y="2997779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1" name="Table 30" descr="weights of the edge sin the example graph">
            <a:extLst>
              <a:ext uri="{FF2B5EF4-FFF2-40B4-BE49-F238E27FC236}">
                <a16:creationId xmlns:a16="http://schemas.microsoft.com/office/drawing/2014/main" id="{18847BDF-126A-C241-B7FD-B50F86519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791196"/>
              </p:ext>
            </p:extLst>
          </p:nvPr>
        </p:nvGraphicFramePr>
        <p:xfrm>
          <a:off x="7662773" y="2287828"/>
          <a:ext cx="1900411" cy="2750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 Queue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63464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52919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756915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96084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aphicFrame>
        <p:nvGraphicFramePr>
          <p:cNvPr id="32" name="Table 31" descr="weights of the edge sin the example graph">
            <a:extLst>
              <a:ext uri="{FF2B5EF4-FFF2-40B4-BE49-F238E27FC236}">
                <a16:creationId xmlns:a16="http://schemas.microsoft.com/office/drawing/2014/main" id="{A309CAE1-7649-4A40-8F7D-58203039E1FB}"/>
              </a:ext>
            </a:extLst>
          </p:cNvPr>
          <p:cNvGraphicFramePr>
            <a:graphicFrameLocks noGrp="1"/>
          </p:cNvGraphicFramePr>
          <p:nvPr/>
        </p:nvGraphicFramePr>
        <p:xfrm>
          <a:off x="9913110" y="2289137"/>
          <a:ext cx="1900411" cy="225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D0415E2-927B-014B-B3C8-7F238830A993}"/>
              </a:ext>
            </a:extLst>
          </p:cNvPr>
          <p:cNvSpPr txBox="1"/>
          <p:nvPr/>
        </p:nvSpPr>
        <p:spPr>
          <a:xfrm>
            <a:off x="8910679" y="163275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245BEE-BE94-FF4C-BCCC-F7441F0D5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74257" y="1673695"/>
            <a:ext cx="0" cy="492868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66976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 with PQ data structure</a:t>
            </a:r>
            <a:endParaRPr lang="en-US" dirty="0"/>
          </a:p>
        </p:txBody>
      </p: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/>
        </p:nvGraphicFramePr>
        <p:xfrm>
          <a:off x="167332" y="2259526"/>
          <a:ext cx="1415541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1806006" y="2997779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1" name="Table 30" descr="weights of the edge sin the example graph">
            <a:extLst>
              <a:ext uri="{FF2B5EF4-FFF2-40B4-BE49-F238E27FC236}">
                <a16:creationId xmlns:a16="http://schemas.microsoft.com/office/drawing/2014/main" id="{18847BDF-126A-C241-B7FD-B50F86519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08370"/>
              </p:ext>
            </p:extLst>
          </p:nvPr>
        </p:nvGraphicFramePr>
        <p:xfrm>
          <a:off x="7662773" y="2287828"/>
          <a:ext cx="1900411" cy="2500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 Queue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52919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756915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96084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aphicFrame>
        <p:nvGraphicFramePr>
          <p:cNvPr id="32" name="Table 31" descr="weights of the edge sin the example graph">
            <a:extLst>
              <a:ext uri="{FF2B5EF4-FFF2-40B4-BE49-F238E27FC236}">
                <a16:creationId xmlns:a16="http://schemas.microsoft.com/office/drawing/2014/main" id="{A309CAE1-7649-4A40-8F7D-58203039E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810318"/>
              </p:ext>
            </p:extLst>
          </p:nvPr>
        </p:nvGraphicFramePr>
        <p:xfrm>
          <a:off x="9913110" y="2289137"/>
          <a:ext cx="1900411" cy="225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D0415E2-927B-014B-B3C8-7F238830A993}"/>
              </a:ext>
            </a:extLst>
          </p:cNvPr>
          <p:cNvSpPr txBox="1"/>
          <p:nvPr/>
        </p:nvSpPr>
        <p:spPr>
          <a:xfrm>
            <a:off x="8910679" y="163275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245BEE-BE94-FF4C-BCCC-F7441F0D5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74257" y="1673695"/>
            <a:ext cx="0" cy="492868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65842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 with PQ data structure</a:t>
            </a:r>
            <a:endParaRPr lang="en-US" dirty="0"/>
          </a:p>
        </p:txBody>
      </p: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/>
        </p:nvGraphicFramePr>
        <p:xfrm>
          <a:off x="167332" y="2259526"/>
          <a:ext cx="1415541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1806006" y="2997779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1" name="Table 30" descr="weights of the edge sin the example graph">
            <a:extLst>
              <a:ext uri="{FF2B5EF4-FFF2-40B4-BE49-F238E27FC236}">
                <a16:creationId xmlns:a16="http://schemas.microsoft.com/office/drawing/2014/main" id="{18847BDF-126A-C241-B7FD-B50F86519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734554"/>
              </p:ext>
            </p:extLst>
          </p:nvPr>
        </p:nvGraphicFramePr>
        <p:xfrm>
          <a:off x="7662773" y="2287828"/>
          <a:ext cx="1900411" cy="225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 Queue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756915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96084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aphicFrame>
        <p:nvGraphicFramePr>
          <p:cNvPr id="32" name="Table 31" descr="weights of the edge sin the example graph">
            <a:extLst>
              <a:ext uri="{FF2B5EF4-FFF2-40B4-BE49-F238E27FC236}">
                <a16:creationId xmlns:a16="http://schemas.microsoft.com/office/drawing/2014/main" id="{A309CAE1-7649-4A40-8F7D-58203039E1FB}"/>
              </a:ext>
            </a:extLst>
          </p:cNvPr>
          <p:cNvGraphicFramePr>
            <a:graphicFrameLocks noGrp="1"/>
          </p:cNvGraphicFramePr>
          <p:nvPr/>
        </p:nvGraphicFramePr>
        <p:xfrm>
          <a:off x="9913110" y="2289137"/>
          <a:ext cx="1900411" cy="225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D0415E2-927B-014B-B3C8-7F238830A993}"/>
              </a:ext>
            </a:extLst>
          </p:cNvPr>
          <p:cNvSpPr txBox="1"/>
          <p:nvPr/>
        </p:nvSpPr>
        <p:spPr>
          <a:xfrm>
            <a:off x="8910679" y="163275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245BEE-BE94-FF4C-BCCC-F7441F0D5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74257" y="1673695"/>
            <a:ext cx="0" cy="492868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854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 with PQ data structure</a:t>
            </a:r>
            <a:endParaRPr lang="en-US" dirty="0"/>
          </a:p>
        </p:txBody>
      </p: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/>
        </p:nvGraphicFramePr>
        <p:xfrm>
          <a:off x="167332" y="2259526"/>
          <a:ext cx="1415541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1806006" y="2997779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1" name="Table 30" descr="weights of the edge sin the example graph">
            <a:extLst>
              <a:ext uri="{FF2B5EF4-FFF2-40B4-BE49-F238E27FC236}">
                <a16:creationId xmlns:a16="http://schemas.microsoft.com/office/drawing/2014/main" id="{18847BDF-126A-C241-B7FD-B50F86519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223143"/>
              </p:ext>
            </p:extLst>
          </p:nvPr>
        </p:nvGraphicFramePr>
        <p:xfrm>
          <a:off x="7662773" y="2287828"/>
          <a:ext cx="1900411" cy="2000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 Queue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96084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aphicFrame>
        <p:nvGraphicFramePr>
          <p:cNvPr id="32" name="Table 31" descr="weights of the edge sin the example graph">
            <a:extLst>
              <a:ext uri="{FF2B5EF4-FFF2-40B4-BE49-F238E27FC236}">
                <a16:creationId xmlns:a16="http://schemas.microsoft.com/office/drawing/2014/main" id="{A309CAE1-7649-4A40-8F7D-58203039E1FB}"/>
              </a:ext>
            </a:extLst>
          </p:cNvPr>
          <p:cNvGraphicFramePr>
            <a:graphicFrameLocks noGrp="1"/>
          </p:cNvGraphicFramePr>
          <p:nvPr/>
        </p:nvGraphicFramePr>
        <p:xfrm>
          <a:off x="9913110" y="2289137"/>
          <a:ext cx="1900411" cy="225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D0415E2-927B-014B-B3C8-7F238830A993}"/>
              </a:ext>
            </a:extLst>
          </p:cNvPr>
          <p:cNvSpPr txBox="1"/>
          <p:nvPr/>
        </p:nvSpPr>
        <p:spPr>
          <a:xfrm>
            <a:off x="8910679" y="163275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245BEE-BE94-FF4C-BCCC-F7441F0D5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74257" y="1673695"/>
            <a:ext cx="0" cy="492868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69665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 with PQ data structure</a:t>
            </a:r>
            <a:endParaRPr lang="en-US" dirty="0"/>
          </a:p>
        </p:txBody>
      </p: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/>
        </p:nvGraphicFramePr>
        <p:xfrm>
          <a:off x="167332" y="2259526"/>
          <a:ext cx="1415541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1806006" y="2997779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1" name="Table 30" descr="weights of the edge sin the example graph">
            <a:extLst>
              <a:ext uri="{FF2B5EF4-FFF2-40B4-BE49-F238E27FC236}">
                <a16:creationId xmlns:a16="http://schemas.microsoft.com/office/drawing/2014/main" id="{18847BDF-126A-C241-B7FD-B50F86519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426168"/>
              </p:ext>
            </p:extLst>
          </p:nvPr>
        </p:nvGraphicFramePr>
        <p:xfrm>
          <a:off x="7662773" y="2287828"/>
          <a:ext cx="1900411" cy="1750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 Queue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96084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aphicFrame>
        <p:nvGraphicFramePr>
          <p:cNvPr id="32" name="Table 31" descr="weights of the edge sin the example graph">
            <a:extLst>
              <a:ext uri="{FF2B5EF4-FFF2-40B4-BE49-F238E27FC236}">
                <a16:creationId xmlns:a16="http://schemas.microsoft.com/office/drawing/2014/main" id="{A309CAE1-7649-4A40-8F7D-58203039E1FB}"/>
              </a:ext>
            </a:extLst>
          </p:cNvPr>
          <p:cNvGraphicFramePr>
            <a:graphicFrameLocks noGrp="1"/>
          </p:cNvGraphicFramePr>
          <p:nvPr/>
        </p:nvGraphicFramePr>
        <p:xfrm>
          <a:off x="9913110" y="2289137"/>
          <a:ext cx="1900411" cy="225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D0415E2-927B-014B-B3C8-7F238830A993}"/>
              </a:ext>
            </a:extLst>
          </p:cNvPr>
          <p:cNvSpPr txBox="1"/>
          <p:nvPr/>
        </p:nvSpPr>
        <p:spPr>
          <a:xfrm>
            <a:off x="8910679" y="163275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245BEE-BE94-FF4C-BCCC-F7441F0D5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74257" y="1673695"/>
            <a:ext cx="0" cy="492868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65989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 with PQ data structure</a:t>
            </a:r>
            <a:endParaRPr lang="en-US" dirty="0"/>
          </a:p>
        </p:txBody>
      </p:sp>
      <p:graphicFrame>
        <p:nvGraphicFramePr>
          <p:cNvPr id="68" name="Table 67" descr="weights of the edge sin the example graph">
            <a:extLst>
              <a:ext uri="{FF2B5EF4-FFF2-40B4-BE49-F238E27FC236}">
                <a16:creationId xmlns:a16="http://schemas.microsoft.com/office/drawing/2014/main" id="{6D9AA333-B334-EC40-A8CE-C414AE418E22}"/>
              </a:ext>
            </a:extLst>
          </p:cNvPr>
          <p:cNvGraphicFramePr>
            <a:graphicFrameLocks noGrp="1"/>
          </p:cNvGraphicFramePr>
          <p:nvPr/>
        </p:nvGraphicFramePr>
        <p:xfrm>
          <a:off x="167332" y="2259526"/>
          <a:ext cx="1415541" cy="400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44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723597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919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326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70858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9266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pSp>
        <p:nvGrpSpPr>
          <p:cNvPr id="28" name="Group 27" descr="example of a weighted undirected graph ">
            <a:extLst>
              <a:ext uri="{FF2B5EF4-FFF2-40B4-BE49-F238E27FC236}">
                <a16:creationId xmlns:a16="http://schemas.microsoft.com/office/drawing/2014/main" id="{687877C2-38FB-0F40-AE7D-43B3C711C2DB}"/>
              </a:ext>
            </a:extLst>
          </p:cNvPr>
          <p:cNvGrpSpPr/>
          <p:nvPr/>
        </p:nvGrpSpPr>
        <p:grpSpPr>
          <a:xfrm>
            <a:off x="1806006" y="2997779"/>
            <a:ext cx="5206210" cy="3088302"/>
            <a:chOff x="2184562" y="2377464"/>
            <a:chExt cx="5206210" cy="3088302"/>
          </a:xfrm>
        </p:grpSpPr>
        <p:grpSp>
          <p:nvGrpSpPr>
            <p:cNvPr id="4" name="Group 3" descr="example of a weighted undirected graph ">
              <a:extLst>
                <a:ext uri="{FF2B5EF4-FFF2-40B4-BE49-F238E27FC236}">
                  <a16:creationId xmlns:a16="http://schemas.microsoft.com/office/drawing/2014/main" id="{B2396102-01B0-D34B-8481-DB09473A656E}"/>
                </a:ext>
              </a:extLst>
            </p:cNvPr>
            <p:cNvGrpSpPr/>
            <p:nvPr/>
          </p:nvGrpSpPr>
          <p:grpSpPr>
            <a:xfrm>
              <a:off x="2184562" y="2377464"/>
              <a:ext cx="5206210" cy="3088302"/>
              <a:chOff x="2230998" y="2302878"/>
              <a:chExt cx="5206210" cy="308830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7E6C51-C3B4-CC4E-BA4D-455EC640AB65}"/>
                  </a:ext>
                </a:extLst>
              </p:cNvPr>
              <p:cNvSpPr/>
              <p:nvPr/>
            </p:nvSpPr>
            <p:spPr>
              <a:xfrm>
                <a:off x="2230998" y="331882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4800B61-26F8-0045-A442-B294F15AEA42}"/>
                  </a:ext>
                </a:extLst>
              </p:cNvPr>
              <p:cNvSpPr/>
              <p:nvPr/>
            </p:nvSpPr>
            <p:spPr>
              <a:xfrm>
                <a:off x="3414011" y="4991130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A39535-55CE-9D44-89F6-9E4034B70616}"/>
                  </a:ext>
                </a:extLst>
              </p:cNvPr>
              <p:cNvSpPr/>
              <p:nvPr/>
            </p:nvSpPr>
            <p:spPr>
              <a:xfrm>
                <a:off x="3788858" y="2302878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3594FA2-25CB-F24D-8AF5-5BFC3D4F021B}"/>
                  </a:ext>
                </a:extLst>
              </p:cNvPr>
              <p:cNvSpPr/>
              <p:nvPr/>
            </p:nvSpPr>
            <p:spPr>
              <a:xfrm>
                <a:off x="3859265" y="327478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3FB7343-BB7C-BB47-AD04-A80CB780A2B9}"/>
                  </a:ext>
                </a:extLst>
              </p:cNvPr>
              <p:cNvSpPr/>
              <p:nvPr/>
            </p:nvSpPr>
            <p:spPr>
              <a:xfrm>
                <a:off x="5835899" y="231927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FA2ED0-C04F-B34E-ADDB-4E64BA361055}"/>
                  </a:ext>
                </a:extLst>
              </p:cNvPr>
              <p:cNvSpPr/>
              <p:nvPr/>
            </p:nvSpPr>
            <p:spPr>
              <a:xfrm>
                <a:off x="6088342" y="3251615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18AC5D-38D6-8D4F-AD78-FD3F4418F197}"/>
                  </a:ext>
                </a:extLst>
              </p:cNvPr>
              <p:cNvSpPr/>
              <p:nvPr/>
            </p:nvSpPr>
            <p:spPr>
              <a:xfrm>
                <a:off x="4479648" y="3866682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4C7D1A-FF00-ED41-907F-FF7CFF0145DC}"/>
                  </a:ext>
                </a:extLst>
              </p:cNvPr>
              <p:cNvCxnSpPr>
                <a:cxnSpLocks/>
                <a:stCxn id="5" idx="5"/>
                <a:endCxn id="6" idx="1"/>
              </p:cNvCxnSpPr>
              <p:nvPr/>
            </p:nvCxnSpPr>
            <p:spPr>
              <a:xfrm>
                <a:off x="2560266" y="3660292"/>
                <a:ext cx="910239" cy="1389424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C81420B-A1CB-8243-A1AC-D783369CB8F9}"/>
                  </a:ext>
                </a:extLst>
              </p:cNvPr>
              <p:cNvCxnSpPr>
                <a:cxnSpLocks/>
                <a:stCxn id="5" idx="0"/>
                <a:endCxn id="7" idx="2"/>
              </p:cNvCxnSpPr>
              <p:nvPr/>
            </p:nvCxnSpPr>
            <p:spPr>
              <a:xfrm flipV="1">
                <a:off x="2423879" y="2502903"/>
                <a:ext cx="1364979" cy="81592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5EEEEF-6924-F94E-A7B0-BF09D2FD15E9}"/>
                  </a:ext>
                </a:extLst>
              </p:cNvPr>
              <p:cNvCxnSpPr>
                <a:cxnSpLocks/>
                <a:stCxn id="5" idx="6"/>
                <a:endCxn id="8" idx="2"/>
              </p:cNvCxnSpPr>
              <p:nvPr/>
            </p:nvCxnSpPr>
            <p:spPr>
              <a:xfrm flipV="1">
                <a:off x="2616760" y="3474811"/>
                <a:ext cx="1242505" cy="44042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E41C8A-A7A0-2F4B-9C81-965C524052B1}"/>
                  </a:ext>
                </a:extLst>
              </p:cNvPr>
              <p:cNvCxnSpPr>
                <a:cxnSpLocks/>
                <a:stCxn id="7" idx="6"/>
                <a:endCxn id="9" idx="1"/>
              </p:cNvCxnSpPr>
              <p:nvPr/>
            </p:nvCxnSpPr>
            <p:spPr>
              <a:xfrm flipV="1">
                <a:off x="4174620" y="2377858"/>
                <a:ext cx="1717773" cy="12504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EDDA4F5-EF7B-8647-A148-BE431F3C948C}"/>
                  </a:ext>
                </a:extLst>
              </p:cNvPr>
              <p:cNvCxnSpPr>
                <a:cxnSpLocks/>
                <a:stCxn id="8" idx="4"/>
                <a:endCxn id="6" idx="7"/>
              </p:cNvCxnSpPr>
              <p:nvPr/>
            </p:nvCxnSpPr>
            <p:spPr>
              <a:xfrm flipH="1">
                <a:off x="3743279" y="3674836"/>
                <a:ext cx="308867" cy="137488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54998A7-D078-D147-BBE4-2CD2B51C80AD}"/>
                  </a:ext>
                </a:extLst>
              </p:cNvPr>
              <p:cNvCxnSpPr>
                <a:cxnSpLocks/>
                <a:stCxn id="10" idx="3"/>
                <a:endCxn id="11" idx="6"/>
              </p:cNvCxnSpPr>
              <p:nvPr/>
            </p:nvCxnSpPr>
            <p:spPr>
              <a:xfrm flipH="1">
                <a:off x="4865410" y="3593079"/>
                <a:ext cx="1279426" cy="47362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2EF0C1-C7D5-B24B-9B23-E1E559A5267E}"/>
                  </a:ext>
                </a:extLst>
              </p:cNvPr>
              <p:cNvCxnSpPr>
                <a:cxnSpLocks/>
                <a:stCxn id="9" idx="5"/>
                <a:endCxn id="10" idx="7"/>
              </p:cNvCxnSpPr>
              <p:nvPr/>
            </p:nvCxnSpPr>
            <p:spPr>
              <a:xfrm>
                <a:off x="6165167" y="2660736"/>
                <a:ext cx="252443" cy="649465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0F0C1B0-E74D-4140-A0A7-FFC8384B24F5}"/>
                  </a:ext>
                </a:extLst>
              </p:cNvPr>
              <p:cNvSpPr/>
              <p:nvPr/>
            </p:nvSpPr>
            <p:spPr>
              <a:xfrm>
                <a:off x="7051446" y="4494726"/>
                <a:ext cx="385762" cy="4000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D1F60A2-EEEF-FB43-90D3-E26142FC238D}"/>
                  </a:ext>
                </a:extLst>
              </p:cNvPr>
              <p:cNvCxnSpPr>
                <a:cxnSpLocks/>
                <a:stCxn id="11" idx="4"/>
                <a:endCxn id="6" idx="6"/>
              </p:cNvCxnSpPr>
              <p:nvPr/>
            </p:nvCxnSpPr>
            <p:spPr>
              <a:xfrm flipH="1">
                <a:off x="3799773" y="4266732"/>
                <a:ext cx="872756" cy="92442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F79AFD8-C48B-A84D-827B-B6FF00CE57E8}"/>
                  </a:ext>
                </a:extLst>
              </p:cNvPr>
              <p:cNvCxnSpPr>
                <a:cxnSpLocks/>
                <a:stCxn id="11" idx="1"/>
                <a:endCxn id="8" idx="5"/>
              </p:cNvCxnSpPr>
              <p:nvPr/>
            </p:nvCxnSpPr>
            <p:spPr>
              <a:xfrm flipH="1" flipV="1">
                <a:off x="4188533" y="3616250"/>
                <a:ext cx="347609" cy="309018"/>
              </a:xfrm>
              <a:prstGeom prst="line">
                <a:avLst/>
              </a:prstGeom>
              <a:solidFill>
                <a:schemeClr val="bg1">
                  <a:lumMod val="65000"/>
                </a:schemeClr>
              </a:solidFill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 descr="example of a weighted undirected graph">
                <a:extLst>
                  <a:ext uri="{FF2B5EF4-FFF2-40B4-BE49-F238E27FC236}">
                    <a16:creationId xmlns:a16="http://schemas.microsoft.com/office/drawing/2014/main" id="{46F2EAD1-B0A6-404B-8BCE-D0C26FD229B4}"/>
                  </a:ext>
                </a:extLst>
              </p:cNvPr>
              <p:cNvCxnSpPr>
                <a:cxnSpLocks/>
                <a:stCxn id="19" idx="2"/>
                <a:endCxn id="6" idx="5"/>
              </p:cNvCxnSpPr>
              <p:nvPr/>
            </p:nvCxnSpPr>
            <p:spPr>
              <a:xfrm flipH="1">
                <a:off x="3743279" y="4694751"/>
                <a:ext cx="3308167" cy="637843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5B7CE0-DCAD-8441-9DCA-7C923954202E}"/>
                  </a:ext>
                </a:extLst>
              </p:cNvPr>
              <p:cNvCxnSpPr>
                <a:cxnSpLocks/>
                <a:stCxn id="19" idx="1"/>
                <a:endCxn id="10" idx="5"/>
              </p:cNvCxnSpPr>
              <p:nvPr/>
            </p:nvCxnSpPr>
            <p:spPr>
              <a:xfrm flipH="1" flipV="1">
                <a:off x="6417610" y="3593079"/>
                <a:ext cx="690330" cy="960233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DDB9D02-422F-4C4D-86E0-3B1E1615A712}"/>
                  </a:ext>
                </a:extLst>
              </p:cNvPr>
              <p:cNvCxnSpPr>
                <a:cxnSpLocks/>
                <a:stCxn id="10" idx="2"/>
                <a:endCxn id="8" idx="6"/>
              </p:cNvCxnSpPr>
              <p:nvPr/>
            </p:nvCxnSpPr>
            <p:spPr>
              <a:xfrm flipH="1">
                <a:off x="4245027" y="3451640"/>
                <a:ext cx="1843315" cy="23171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D478BF6-1407-DF4B-9710-0FB79036DCA0}"/>
                  </a:ext>
                </a:extLst>
              </p:cNvPr>
              <p:cNvCxnSpPr>
                <a:cxnSpLocks/>
                <a:stCxn id="19" idx="2"/>
                <a:endCxn id="11" idx="5"/>
              </p:cNvCxnSpPr>
              <p:nvPr/>
            </p:nvCxnSpPr>
            <p:spPr>
              <a:xfrm flipH="1" flipV="1">
                <a:off x="4808916" y="4208146"/>
                <a:ext cx="2242530" cy="4866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2EEC67D-F4D7-344F-B58E-EEC4F44DDC32}"/>
                  </a:ext>
                </a:extLst>
              </p:cNvPr>
              <p:cNvCxnSpPr>
                <a:cxnSpLocks/>
                <a:stCxn id="10" idx="1"/>
                <a:endCxn id="7" idx="5"/>
              </p:cNvCxnSpPr>
              <p:nvPr/>
            </p:nvCxnSpPr>
            <p:spPr>
              <a:xfrm flipH="1" flipV="1">
                <a:off x="4118126" y="2644342"/>
                <a:ext cx="2026710" cy="665859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418978-978A-BD43-AE97-8A430D675191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H="1" flipV="1">
              <a:off x="3935303" y="2777514"/>
              <a:ext cx="70407" cy="571858"/>
            </a:xfrm>
            <a:prstGeom prst="line">
              <a:avLst/>
            </a:prstGeom>
            <a:ln w="635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1" name="Table 30" descr="weights of the edge sin the example graph">
            <a:extLst>
              <a:ext uri="{FF2B5EF4-FFF2-40B4-BE49-F238E27FC236}">
                <a16:creationId xmlns:a16="http://schemas.microsoft.com/office/drawing/2014/main" id="{18847BDF-126A-C241-B7FD-B50F86519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200574"/>
              </p:ext>
            </p:extLst>
          </p:nvPr>
        </p:nvGraphicFramePr>
        <p:xfrm>
          <a:off x="7662773" y="2287828"/>
          <a:ext cx="1900411" cy="1500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 Queue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11318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7293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31572"/>
                  </a:ext>
                </a:extLst>
              </a:tr>
            </a:tbl>
          </a:graphicData>
        </a:graphic>
      </p:graphicFrame>
      <p:graphicFrame>
        <p:nvGraphicFramePr>
          <p:cNvPr id="32" name="Table 31" descr="weights of the edge sin the example graph">
            <a:extLst>
              <a:ext uri="{FF2B5EF4-FFF2-40B4-BE49-F238E27FC236}">
                <a16:creationId xmlns:a16="http://schemas.microsoft.com/office/drawing/2014/main" id="{A309CAE1-7649-4A40-8F7D-58203039E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464739"/>
              </p:ext>
            </p:extLst>
          </p:nvPr>
        </p:nvGraphicFramePr>
        <p:xfrm>
          <a:off x="9913110" y="2289137"/>
          <a:ext cx="1900411" cy="225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58">
                  <a:extLst>
                    <a:ext uri="{9D8B030D-6E8A-4147-A177-3AD203B41FA5}">
                      <a16:colId xmlns:a16="http://schemas.microsoft.com/office/drawing/2014/main" val="2554301218"/>
                    </a:ext>
                  </a:extLst>
                </a:gridCol>
                <a:gridCol w="971453">
                  <a:extLst>
                    <a:ext uri="{9D8B030D-6E8A-4147-A177-3AD203B41FA5}">
                      <a16:colId xmlns:a16="http://schemas.microsoft.com/office/drawing/2014/main" val="1273331363"/>
                    </a:ext>
                  </a:extLst>
                </a:gridCol>
              </a:tblGrid>
              <a:tr h="2500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432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19673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3443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874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92406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86801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85980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2679"/>
                  </a:ext>
                </a:extLst>
              </a:tr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7524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D0415E2-927B-014B-B3C8-7F238830A993}"/>
              </a:ext>
            </a:extLst>
          </p:cNvPr>
          <p:cNvSpPr txBox="1"/>
          <p:nvPr/>
        </p:nvSpPr>
        <p:spPr>
          <a:xfrm>
            <a:off x="8910679" y="163275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245BEE-BE94-FF4C-BCCC-F7441F0D5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74257" y="1673695"/>
            <a:ext cx="0" cy="492868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26659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 (lazy)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Pseudocode</a:t>
            </a:r>
            <a:endParaRPr lang="en-US" dirty="0"/>
          </a:p>
        </p:txBody>
      </p:sp>
      <p:sp>
        <p:nvSpPr>
          <p:cNvPr id="4" name="TextBox 3" descr="Prim algorithm (pseudocode)">
            <a:extLst>
              <a:ext uri="{FF2B5EF4-FFF2-40B4-BE49-F238E27FC236}">
                <a16:creationId xmlns:a16="http://schemas.microsoft.com/office/drawing/2014/main" id="{63B0ED80-B315-E84E-A9D3-EAFF10599863}"/>
              </a:ext>
            </a:extLst>
          </p:cNvPr>
          <p:cNvSpPr txBox="1"/>
          <p:nvPr/>
        </p:nvSpPr>
        <p:spPr>
          <a:xfrm>
            <a:off x="514866" y="2177039"/>
            <a:ext cx="8929385" cy="4278094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class </a:t>
            </a:r>
            <a:r>
              <a:rPr lang="en-US" sz="1600" dirty="0" err="1">
                <a:latin typeface="Courier" pitchFamily="2" charset="0"/>
              </a:rPr>
              <a:t>LazyPrimMST</a:t>
            </a:r>
            <a:r>
              <a:rPr lang="en-US" sz="1600" dirty="0">
                <a:latin typeface="Courier" pitchFamily="2" charset="0"/>
              </a:rPr>
              <a:t>:</a:t>
            </a:r>
          </a:p>
          <a:p>
            <a:r>
              <a:rPr lang="en-US" sz="1600" dirty="0">
                <a:latin typeface="Courier" pitchFamily="2" charset="0"/>
              </a:rPr>
              <a:t>    def __</a:t>
            </a:r>
            <a:r>
              <a:rPr lang="en-US" sz="1600" dirty="0" err="1">
                <a:latin typeface="Courier" pitchFamily="2" charset="0"/>
              </a:rPr>
              <a:t>init</a:t>
            </a:r>
            <a:r>
              <a:rPr lang="en-US" sz="1600" dirty="0">
                <a:latin typeface="Courier" pitchFamily="2" charset="0"/>
              </a:rPr>
              <a:t>__(G):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self.marked</a:t>
            </a:r>
            <a:r>
              <a:rPr lang="en-US" sz="1600" dirty="0">
                <a:latin typeface="Courier" pitchFamily="2" charset="0"/>
              </a:rPr>
              <a:t> = [False for v in range (0, G.V())]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self.mst</a:t>
            </a:r>
            <a:r>
              <a:rPr lang="en-US" sz="1600" dirty="0">
                <a:latin typeface="Courier" pitchFamily="2" charset="0"/>
              </a:rPr>
              <a:t> = Queue()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self.pq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MinPQ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    visit(G,0)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    while (!</a:t>
            </a:r>
            <a:r>
              <a:rPr lang="en-US" sz="1600" dirty="0" err="1">
                <a:latin typeface="Courier" pitchFamily="2" charset="0"/>
              </a:rPr>
              <a:t>self.pq.isEmpty</a:t>
            </a:r>
            <a:r>
              <a:rPr lang="en-US" sz="1600" dirty="0">
                <a:latin typeface="Courier" pitchFamily="2" charset="0"/>
              </a:rPr>
              <a:t>() and </a:t>
            </a:r>
            <a:r>
              <a:rPr lang="en-US" sz="1600" dirty="0" err="1">
                <a:latin typeface="Courier" pitchFamily="2" charset="0"/>
              </a:rPr>
              <a:t>self.mst.size</a:t>
            </a:r>
            <a:r>
              <a:rPr lang="en-US" sz="1600" dirty="0">
                <a:latin typeface="Courier" pitchFamily="2" charset="0"/>
              </a:rPr>
              <a:t>() &lt; (G.V()-1)):</a:t>
            </a:r>
          </a:p>
          <a:p>
            <a:r>
              <a:rPr lang="en-US" sz="1600" dirty="0">
                <a:latin typeface="Courier" pitchFamily="2" charset="0"/>
              </a:rPr>
              <a:t>            e = </a:t>
            </a:r>
            <a:r>
              <a:rPr lang="en-US" sz="1600" dirty="0" err="1">
                <a:latin typeface="Courier" pitchFamily="2" charset="0"/>
              </a:rPr>
              <a:t>self.pq.delMin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        v = </a:t>
            </a:r>
            <a:r>
              <a:rPr lang="en-US" sz="1600" dirty="0" err="1">
                <a:latin typeface="Courier" pitchFamily="2" charset="0"/>
              </a:rPr>
              <a:t>e.endPoint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        w = </a:t>
            </a:r>
            <a:r>
              <a:rPr lang="en-US" sz="1600" dirty="0" err="1">
                <a:latin typeface="Courier" pitchFamily="2" charset="0"/>
              </a:rPr>
              <a:t>e.otherEndPoint</a:t>
            </a:r>
            <a:r>
              <a:rPr lang="en-US" sz="1600" dirty="0">
                <a:latin typeface="Courier" pitchFamily="2" charset="0"/>
              </a:rPr>
              <a:t>(v) </a:t>
            </a:r>
          </a:p>
          <a:p>
            <a:r>
              <a:rPr lang="en-US" sz="1600" dirty="0">
                <a:latin typeface="Courier" pitchFamily="2" charset="0"/>
              </a:rPr>
              <a:t>            if (</a:t>
            </a:r>
            <a:r>
              <a:rPr lang="en-US" sz="1600" dirty="0" err="1">
                <a:latin typeface="Courier" pitchFamily="2" charset="0"/>
              </a:rPr>
              <a:t>self.marked</a:t>
            </a:r>
            <a:r>
              <a:rPr lang="en-US" sz="1600" dirty="0">
                <a:latin typeface="Courier" pitchFamily="2" charset="0"/>
              </a:rPr>
              <a:t>[v] and </a:t>
            </a:r>
            <a:r>
              <a:rPr lang="en-US" sz="1600" dirty="0" err="1">
                <a:latin typeface="Courier" pitchFamily="2" charset="0"/>
              </a:rPr>
              <a:t>self.marked</a:t>
            </a:r>
            <a:r>
              <a:rPr lang="en-US" sz="1600" dirty="0">
                <a:latin typeface="Courier" pitchFamily="2" charset="0"/>
              </a:rPr>
              <a:t>[w]) skip</a:t>
            </a:r>
          </a:p>
          <a:p>
            <a:r>
              <a:rPr lang="en-US" sz="1600" dirty="0">
                <a:latin typeface="Courier" pitchFamily="2" charset="0"/>
              </a:rPr>
              <a:t>            </a:t>
            </a:r>
            <a:r>
              <a:rPr lang="en-US" sz="1600" dirty="0" err="1">
                <a:latin typeface="Courier" pitchFamily="2" charset="0"/>
              </a:rPr>
              <a:t>self.mst.enqueue</a:t>
            </a:r>
            <a:r>
              <a:rPr lang="en-US" sz="1600" dirty="0">
                <a:latin typeface="Courier" pitchFamily="2" charset="0"/>
              </a:rPr>
              <a:t>(e)</a:t>
            </a:r>
          </a:p>
          <a:p>
            <a:r>
              <a:rPr lang="en-US" sz="1600" dirty="0">
                <a:latin typeface="Courier" pitchFamily="2" charset="0"/>
              </a:rPr>
              <a:t>            if (!</a:t>
            </a:r>
            <a:r>
              <a:rPr lang="en-US" sz="1600" dirty="0" err="1">
                <a:latin typeface="Courier" pitchFamily="2" charset="0"/>
              </a:rPr>
              <a:t>self.marked</a:t>
            </a:r>
            <a:r>
              <a:rPr lang="en-US" sz="1600" dirty="0">
                <a:latin typeface="Courier" pitchFamily="2" charset="0"/>
              </a:rPr>
              <a:t>[v]) visit(G, v)</a:t>
            </a:r>
          </a:p>
          <a:p>
            <a:r>
              <a:rPr lang="en-US" sz="1600" dirty="0">
                <a:latin typeface="Courier" pitchFamily="2" charset="0"/>
              </a:rPr>
              <a:t>            if (!</a:t>
            </a:r>
            <a:r>
              <a:rPr lang="en-US" sz="1600" dirty="0" err="1">
                <a:latin typeface="Courier" pitchFamily="2" charset="0"/>
              </a:rPr>
              <a:t>self.marked</a:t>
            </a:r>
            <a:r>
              <a:rPr lang="en-US" sz="1600" dirty="0">
                <a:latin typeface="Courier" pitchFamily="2" charset="0"/>
              </a:rPr>
              <a:t>[w]) visit(G, w)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…</a:t>
            </a:r>
          </a:p>
        </p:txBody>
      </p:sp>
      <p:grpSp>
        <p:nvGrpSpPr>
          <p:cNvPr id="19" name="Group 18" descr="highlight code to maintaon MST nodes and edges">
            <a:extLst>
              <a:ext uri="{FF2B5EF4-FFF2-40B4-BE49-F238E27FC236}">
                <a16:creationId xmlns:a16="http://schemas.microsoft.com/office/drawing/2014/main" id="{9C1EDF51-977A-B148-A91C-CF74E738B281}"/>
              </a:ext>
            </a:extLst>
          </p:cNvPr>
          <p:cNvGrpSpPr/>
          <p:nvPr/>
        </p:nvGrpSpPr>
        <p:grpSpPr>
          <a:xfrm>
            <a:off x="1487606" y="2702255"/>
            <a:ext cx="10506687" cy="738665"/>
            <a:chOff x="1487606" y="2702255"/>
            <a:chExt cx="10506687" cy="73866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D5662D5-B913-5D49-B56B-E59657B25158}"/>
                </a:ext>
              </a:extLst>
            </p:cNvPr>
            <p:cNvSpPr txBox="1"/>
            <p:nvPr/>
          </p:nvSpPr>
          <p:spPr>
            <a:xfrm>
              <a:off x="9662615" y="2702256"/>
              <a:ext cx="233167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structures keeping track of MST vertices and edges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F1FF4AD7-7282-6544-A85E-C83996698991}"/>
                </a:ext>
              </a:extLst>
            </p:cNvPr>
            <p:cNvSpPr/>
            <p:nvPr/>
          </p:nvSpPr>
          <p:spPr>
            <a:xfrm>
              <a:off x="1487606" y="2702255"/>
              <a:ext cx="5950424" cy="559559"/>
            </a:xfrm>
            <a:prstGeom prst="roundRect">
              <a:avLst/>
            </a:prstGeom>
            <a:solidFill>
              <a:schemeClr val="accent5">
                <a:alpha val="2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09007A2-B5E3-D44C-8BAE-2917CF78F058}"/>
                </a:ext>
              </a:extLst>
            </p:cNvPr>
            <p:cNvCxnSpPr>
              <a:cxnSpLocks/>
              <a:stCxn id="20" idx="1"/>
              <a:endCxn id="21" idx="3"/>
            </p:cNvCxnSpPr>
            <p:nvPr/>
          </p:nvCxnSpPr>
          <p:spPr>
            <a:xfrm flipH="1" flipV="1">
              <a:off x="7438030" y="2982035"/>
              <a:ext cx="2224585" cy="89553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 descr="highlight code to repeatdely process min weight edge">
            <a:extLst>
              <a:ext uri="{FF2B5EF4-FFF2-40B4-BE49-F238E27FC236}">
                <a16:creationId xmlns:a16="http://schemas.microsoft.com/office/drawing/2014/main" id="{E200C259-8FC3-6348-A3BC-F9F9C149DFF7}"/>
              </a:ext>
            </a:extLst>
          </p:cNvPr>
          <p:cNvGrpSpPr/>
          <p:nvPr/>
        </p:nvGrpSpPr>
        <p:grpSpPr>
          <a:xfrm>
            <a:off x="1869743" y="3902768"/>
            <a:ext cx="10129100" cy="738664"/>
            <a:chOff x="1869743" y="2457216"/>
            <a:chExt cx="10129100" cy="73866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AF71079-5AB0-D040-B8CC-F6F04C8242A6}"/>
                </a:ext>
              </a:extLst>
            </p:cNvPr>
            <p:cNvSpPr txBox="1"/>
            <p:nvPr/>
          </p:nvSpPr>
          <p:spPr>
            <a:xfrm>
              <a:off x="9667165" y="2457216"/>
              <a:ext cx="233167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Repeatedly remove min-weighted edge from priority queue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C1D5D8F1-D7C4-0642-8157-92DFF95D97C7}"/>
                </a:ext>
              </a:extLst>
            </p:cNvPr>
            <p:cNvSpPr/>
            <p:nvPr/>
          </p:nvSpPr>
          <p:spPr>
            <a:xfrm>
              <a:off x="1869743" y="2715904"/>
              <a:ext cx="3098042" cy="274067"/>
            </a:xfrm>
            <a:prstGeom prst="roundRect">
              <a:avLst/>
            </a:prstGeom>
            <a:solidFill>
              <a:schemeClr val="accent5">
                <a:alpha val="2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166455E-5E61-9E4F-B7B4-ED891E7A49A8}"/>
                </a:ext>
              </a:extLst>
            </p:cNvPr>
            <p:cNvCxnSpPr>
              <a:cxnSpLocks/>
              <a:stCxn id="26" idx="1"/>
              <a:endCxn id="27" idx="3"/>
            </p:cNvCxnSpPr>
            <p:nvPr/>
          </p:nvCxnSpPr>
          <p:spPr>
            <a:xfrm flipH="1">
              <a:off x="4967785" y="2826548"/>
              <a:ext cx="4699380" cy="2639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 descr="highlight code of case of edge obsolete">
            <a:extLst>
              <a:ext uri="{FF2B5EF4-FFF2-40B4-BE49-F238E27FC236}">
                <a16:creationId xmlns:a16="http://schemas.microsoft.com/office/drawing/2014/main" id="{735CE079-BA67-1746-B0EF-C7AA9B794144}"/>
              </a:ext>
            </a:extLst>
          </p:cNvPr>
          <p:cNvGrpSpPr/>
          <p:nvPr/>
        </p:nvGrpSpPr>
        <p:grpSpPr>
          <a:xfrm>
            <a:off x="1858370" y="4886472"/>
            <a:ext cx="10124550" cy="307777"/>
            <a:chOff x="1869743" y="2702256"/>
            <a:chExt cx="10124550" cy="30777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2EC7503-8A07-884F-A08B-210E23AF4EBB}"/>
                </a:ext>
              </a:extLst>
            </p:cNvPr>
            <p:cNvSpPr txBox="1"/>
            <p:nvPr/>
          </p:nvSpPr>
          <p:spPr>
            <a:xfrm>
              <a:off x="9662615" y="2702256"/>
              <a:ext cx="2331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Edge is obsolete (discard)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F68B0A24-A290-B64F-8E4D-88A626F07489}"/>
                </a:ext>
              </a:extLst>
            </p:cNvPr>
            <p:cNvSpPr/>
            <p:nvPr/>
          </p:nvSpPr>
          <p:spPr>
            <a:xfrm>
              <a:off x="1869743" y="2715904"/>
              <a:ext cx="5579660" cy="274067"/>
            </a:xfrm>
            <a:prstGeom prst="roundRect">
              <a:avLst/>
            </a:prstGeom>
            <a:solidFill>
              <a:schemeClr val="accent5">
                <a:alpha val="2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3B7128E-8441-604A-8BCD-A0FD4AF14B21}"/>
                </a:ext>
              </a:extLst>
            </p:cNvPr>
            <p:cNvCxnSpPr>
              <a:cxnSpLocks/>
              <a:stCxn id="34" idx="1"/>
              <a:endCxn id="35" idx="3"/>
            </p:cNvCxnSpPr>
            <p:nvPr/>
          </p:nvCxnSpPr>
          <p:spPr>
            <a:xfrm flipH="1" flipV="1">
              <a:off x="7449403" y="2852938"/>
              <a:ext cx="2213212" cy="3207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 descr="highlight code to add edge to tree">
            <a:extLst>
              <a:ext uri="{FF2B5EF4-FFF2-40B4-BE49-F238E27FC236}">
                <a16:creationId xmlns:a16="http://schemas.microsoft.com/office/drawing/2014/main" id="{B940F1C4-E3B0-494F-8F7B-6A7373001F84}"/>
              </a:ext>
            </a:extLst>
          </p:cNvPr>
          <p:cNvGrpSpPr/>
          <p:nvPr/>
        </p:nvGrpSpPr>
        <p:grpSpPr>
          <a:xfrm>
            <a:off x="1858370" y="5188470"/>
            <a:ext cx="10135923" cy="478141"/>
            <a:chOff x="1869743" y="2661312"/>
            <a:chExt cx="10135923" cy="47814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F1816C8-6E88-D146-A0C8-B9247DF32151}"/>
                </a:ext>
              </a:extLst>
            </p:cNvPr>
            <p:cNvSpPr txBox="1"/>
            <p:nvPr/>
          </p:nvSpPr>
          <p:spPr>
            <a:xfrm>
              <a:off x="9673988" y="2831676"/>
              <a:ext cx="2331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 edge to tree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1F41E772-D46B-1A4F-8961-11A7811B7E31}"/>
                </a:ext>
              </a:extLst>
            </p:cNvPr>
            <p:cNvSpPr/>
            <p:nvPr/>
          </p:nvSpPr>
          <p:spPr>
            <a:xfrm>
              <a:off x="1869743" y="2661312"/>
              <a:ext cx="2781869" cy="274067"/>
            </a:xfrm>
            <a:prstGeom prst="roundRect">
              <a:avLst/>
            </a:prstGeom>
            <a:solidFill>
              <a:schemeClr val="accent5">
                <a:alpha val="2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5BE90B5-C2E5-9348-A9F3-2746F38E1A00}"/>
                </a:ext>
              </a:extLst>
            </p:cNvPr>
            <p:cNvCxnSpPr>
              <a:cxnSpLocks/>
              <a:stCxn id="41" idx="1"/>
              <a:endCxn id="42" idx="3"/>
            </p:cNvCxnSpPr>
            <p:nvPr/>
          </p:nvCxnSpPr>
          <p:spPr>
            <a:xfrm flipH="1" flipV="1">
              <a:off x="4651612" y="2798346"/>
              <a:ext cx="5022376" cy="18721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3586399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 (lazy)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Pseudocode</a:t>
            </a:r>
            <a:endParaRPr lang="en-US" dirty="0"/>
          </a:p>
        </p:txBody>
      </p:sp>
      <p:sp>
        <p:nvSpPr>
          <p:cNvPr id="4" name="TextBox 3" descr="Prim algorithm (pseudocode continues)">
            <a:extLst>
              <a:ext uri="{FF2B5EF4-FFF2-40B4-BE49-F238E27FC236}">
                <a16:creationId xmlns:a16="http://schemas.microsoft.com/office/drawing/2014/main" id="{63B0ED80-B315-E84E-A9D3-EAFF10599863}"/>
              </a:ext>
            </a:extLst>
          </p:cNvPr>
          <p:cNvSpPr txBox="1"/>
          <p:nvPr/>
        </p:nvSpPr>
        <p:spPr>
          <a:xfrm>
            <a:off x="514867" y="2177039"/>
            <a:ext cx="6762636" cy="2800767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…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visit(self, G, v):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self.marked</a:t>
            </a:r>
            <a:r>
              <a:rPr lang="en-US" sz="1600" dirty="0">
                <a:latin typeface="Courier" pitchFamily="2" charset="0"/>
              </a:rPr>
              <a:t>[v] = true</a:t>
            </a:r>
          </a:p>
          <a:p>
            <a:r>
              <a:rPr lang="en-US" sz="1600" dirty="0">
                <a:latin typeface="Courier" pitchFamily="2" charset="0"/>
              </a:rPr>
              <a:t>        for (e in </a:t>
            </a:r>
            <a:r>
              <a:rPr lang="en-US" sz="1600" dirty="0" err="1">
                <a:latin typeface="Courier" pitchFamily="2" charset="0"/>
              </a:rPr>
              <a:t>G.adj</a:t>
            </a:r>
            <a:r>
              <a:rPr lang="en-US" sz="1600" dirty="0">
                <a:latin typeface="Courier" pitchFamily="2" charset="0"/>
              </a:rPr>
              <a:t>(v)):</a:t>
            </a:r>
          </a:p>
          <a:p>
            <a:r>
              <a:rPr lang="en-US" sz="1600" dirty="0">
                <a:latin typeface="Courier" pitchFamily="2" charset="0"/>
              </a:rPr>
              <a:t>            if (!</a:t>
            </a:r>
            <a:r>
              <a:rPr lang="en-US" sz="1600" dirty="0" err="1">
                <a:latin typeface="Courier" pitchFamily="2" charset="0"/>
              </a:rPr>
              <a:t>self.marked</a:t>
            </a:r>
            <a:r>
              <a:rPr lang="en-US" sz="1600" dirty="0">
                <a:latin typeface="Courier" pitchFamily="2" charset="0"/>
              </a:rPr>
              <a:t>[</a:t>
            </a:r>
            <a:r>
              <a:rPr lang="en-US" sz="1600" dirty="0" err="1">
                <a:latin typeface="Courier" pitchFamily="2" charset="0"/>
              </a:rPr>
              <a:t>e.otherEndPoint</a:t>
            </a:r>
            <a:r>
              <a:rPr lang="en-US" sz="1600" dirty="0">
                <a:latin typeface="Courier" pitchFamily="2" charset="0"/>
              </a:rPr>
              <a:t>(v)]):</a:t>
            </a:r>
          </a:p>
          <a:p>
            <a:r>
              <a:rPr lang="en-US" sz="1600" dirty="0">
                <a:latin typeface="Courier" pitchFamily="2" charset="0"/>
              </a:rPr>
              <a:t>                </a:t>
            </a:r>
            <a:r>
              <a:rPr lang="en-US" sz="1600" dirty="0" err="1">
                <a:latin typeface="Courier" pitchFamily="2" charset="0"/>
              </a:rPr>
              <a:t>self.pq.insert</a:t>
            </a:r>
            <a:r>
              <a:rPr lang="en-US" sz="1600" dirty="0">
                <a:latin typeface="Courier" pitchFamily="2" charset="0"/>
              </a:rPr>
              <a:t>(e)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edges(self):</a:t>
            </a:r>
          </a:p>
          <a:p>
            <a:r>
              <a:rPr lang="en-US" sz="1600" dirty="0">
                <a:latin typeface="Courier" pitchFamily="2" charset="0"/>
              </a:rPr>
              <a:t>        return </a:t>
            </a:r>
            <a:r>
              <a:rPr lang="en-US" sz="1600" dirty="0" err="1">
                <a:latin typeface="Courier" pitchFamily="2" charset="0"/>
              </a:rPr>
              <a:t>self.mst</a:t>
            </a:r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grpSp>
        <p:nvGrpSpPr>
          <p:cNvPr id="19" name="Group 18" descr="highlight code to mark node as now belonging to MST">
            <a:extLst>
              <a:ext uri="{FF2B5EF4-FFF2-40B4-BE49-F238E27FC236}">
                <a16:creationId xmlns:a16="http://schemas.microsoft.com/office/drawing/2014/main" id="{9C1EDF51-977A-B148-A91C-CF74E738B281}"/>
              </a:ext>
            </a:extLst>
          </p:cNvPr>
          <p:cNvGrpSpPr/>
          <p:nvPr/>
        </p:nvGrpSpPr>
        <p:grpSpPr>
          <a:xfrm>
            <a:off x="1552919" y="2916345"/>
            <a:ext cx="9444251" cy="309131"/>
            <a:chOff x="1487606" y="2916345"/>
            <a:chExt cx="9444251" cy="30913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D5662D5-B913-5D49-B56B-E59657B25158}"/>
                </a:ext>
              </a:extLst>
            </p:cNvPr>
            <p:cNvSpPr txBox="1"/>
            <p:nvPr/>
          </p:nvSpPr>
          <p:spPr>
            <a:xfrm>
              <a:off x="7591904" y="2916345"/>
              <a:ext cx="33399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 newly discovered verted to tree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F1FF4AD7-7282-6544-A85E-C83996698991}"/>
                </a:ext>
              </a:extLst>
            </p:cNvPr>
            <p:cNvSpPr/>
            <p:nvPr/>
          </p:nvSpPr>
          <p:spPr>
            <a:xfrm>
              <a:off x="1487606" y="2916345"/>
              <a:ext cx="2741495" cy="309131"/>
            </a:xfrm>
            <a:prstGeom prst="roundRect">
              <a:avLst/>
            </a:prstGeom>
            <a:solidFill>
              <a:schemeClr val="accent5">
                <a:alpha val="2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09007A2-B5E3-D44C-8BAE-2917CF78F058}"/>
                </a:ext>
              </a:extLst>
            </p:cNvPr>
            <p:cNvCxnSpPr>
              <a:cxnSpLocks/>
              <a:stCxn id="20" idx="1"/>
              <a:endCxn id="21" idx="3"/>
            </p:cNvCxnSpPr>
            <p:nvPr/>
          </p:nvCxnSpPr>
          <p:spPr>
            <a:xfrm flipH="1">
              <a:off x="4229101" y="3070234"/>
              <a:ext cx="3362803" cy="677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 descr="highlight code to add new incident edges to PQ">
            <a:extLst>
              <a:ext uri="{FF2B5EF4-FFF2-40B4-BE49-F238E27FC236}">
                <a16:creationId xmlns:a16="http://schemas.microsoft.com/office/drawing/2014/main" id="{B940F1C4-E3B0-494F-8F7B-6A7373001F84}"/>
              </a:ext>
            </a:extLst>
          </p:cNvPr>
          <p:cNvGrpSpPr/>
          <p:nvPr/>
        </p:nvGrpSpPr>
        <p:grpSpPr>
          <a:xfrm>
            <a:off x="1552919" y="3248560"/>
            <a:ext cx="9744501" cy="669789"/>
            <a:chOff x="1498979" y="721402"/>
            <a:chExt cx="9744501" cy="669789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F1816C8-6E88-D146-A0C8-B9247DF32151}"/>
                </a:ext>
              </a:extLst>
            </p:cNvPr>
            <p:cNvSpPr txBox="1"/>
            <p:nvPr/>
          </p:nvSpPr>
          <p:spPr>
            <a:xfrm>
              <a:off x="7603277" y="896375"/>
              <a:ext cx="36402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 new incident edges to priority queue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1F41E772-D46B-1A4F-8961-11A7811B7E31}"/>
                </a:ext>
              </a:extLst>
            </p:cNvPr>
            <p:cNvSpPr/>
            <p:nvPr/>
          </p:nvSpPr>
          <p:spPr>
            <a:xfrm>
              <a:off x="1498979" y="721402"/>
              <a:ext cx="5239767" cy="669789"/>
            </a:xfrm>
            <a:prstGeom prst="roundRect">
              <a:avLst/>
            </a:prstGeom>
            <a:solidFill>
              <a:schemeClr val="accent5">
                <a:alpha val="2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5BE90B5-C2E5-9348-A9F3-2746F38E1A00}"/>
                </a:ext>
              </a:extLst>
            </p:cNvPr>
            <p:cNvCxnSpPr>
              <a:cxnSpLocks/>
              <a:stCxn id="41" idx="1"/>
              <a:endCxn id="42" idx="3"/>
            </p:cNvCxnSpPr>
            <p:nvPr/>
          </p:nvCxnSpPr>
          <p:spPr>
            <a:xfrm flipH="1">
              <a:off x="6738746" y="1050264"/>
              <a:ext cx="864531" cy="6033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5920708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Performance.</a:t>
            </a:r>
            <a:r>
              <a:rPr lang="en-US" dirty="0"/>
              <a:t> Prim’s algorithm computes the MST in time proportional to </a:t>
            </a:r>
            <a:r>
              <a:rPr lang="en-US" i="1" dirty="0"/>
              <a:t>E</a:t>
            </a:r>
            <a:r>
              <a:rPr lang="en-US" dirty="0"/>
              <a:t> log </a:t>
            </a:r>
            <a:r>
              <a:rPr lang="en-US" i="1" dirty="0"/>
              <a:t>E</a:t>
            </a:r>
            <a:r>
              <a:rPr lang="en-US" dirty="0"/>
              <a:t> and extra space proportional to </a:t>
            </a:r>
            <a:r>
              <a:rPr lang="en-US" i="1" dirty="0"/>
              <a:t>E</a:t>
            </a:r>
            <a:r>
              <a:rPr lang="en-US" dirty="0"/>
              <a:t> (worst case)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171BD7-0CD5-F24D-9E66-577E79C29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520901"/>
              </p:ext>
            </p:extLst>
          </p:nvPr>
        </p:nvGraphicFramePr>
        <p:xfrm>
          <a:off x="1385328" y="2794125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48936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1748393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34619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Frequency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 per 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320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 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48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 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344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189620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Minimum Spanning Tree</a:t>
            </a:r>
          </a:p>
          <a:p>
            <a:pPr lvl="1"/>
            <a:r>
              <a:rPr lang="en-US" dirty="0"/>
              <a:t>Greedy algorithm</a:t>
            </a:r>
          </a:p>
          <a:p>
            <a:pPr lvl="1"/>
            <a:r>
              <a:rPr lang="en-US" dirty="0"/>
              <a:t>Kruskal’s algorithm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Prim’s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Shortest Path</a:t>
            </a:r>
          </a:p>
        </p:txBody>
      </p:sp>
    </p:spTree>
    <p:extLst>
      <p:ext uri="{BB962C8B-B14F-4D97-AF65-F5344CB8AC3E}">
        <p14:creationId xmlns:p14="http://schemas.microsoft.com/office/powerpoint/2010/main" val="595031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3456</TotalTime>
  <Words>5743</Words>
  <Application>Microsoft Macintosh PowerPoint</Application>
  <PresentationFormat>Widescreen</PresentationFormat>
  <Paragraphs>4068</Paragraphs>
  <Slides>101</Slides>
  <Notes>101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101</vt:i4>
      </vt:variant>
    </vt:vector>
  </HeadingPairs>
  <TitlesOfParts>
    <vt:vector size="108" baseType="lpstr">
      <vt:lpstr>Arial</vt:lpstr>
      <vt:lpstr>Calibri</vt:lpstr>
      <vt:lpstr>Courier</vt:lpstr>
      <vt:lpstr>Courier New</vt:lpstr>
      <vt:lpstr>Wingdings</vt:lpstr>
      <vt:lpstr>Office Theme</vt:lpstr>
      <vt:lpstr>4_Custom Design</vt:lpstr>
      <vt:lpstr>COMP0005 – ALGORITHMS   4.3 Minimum Spanning Tree</vt:lpstr>
      <vt:lpstr>What is a Minimum spanning tree?</vt:lpstr>
      <vt:lpstr>What is a Minimum spanning tree?</vt:lpstr>
      <vt:lpstr>What is a Minimum spanning tree?</vt:lpstr>
      <vt:lpstr>What is a Minimum spanning tree?</vt:lpstr>
      <vt:lpstr>What is a Minimum spanning tree?</vt:lpstr>
      <vt:lpstr>What is a Minimum spanning tree?</vt:lpstr>
      <vt:lpstr>What is a Minimum spanning tree?</vt:lpstr>
      <vt:lpstr>What is a Minimum spanning tree?</vt:lpstr>
      <vt:lpstr>content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content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Edge-weighted graph representation</vt:lpstr>
      <vt:lpstr>Edge-weighted graph representation</vt:lpstr>
      <vt:lpstr>Edge-weighted graph representation</vt:lpstr>
      <vt:lpstr>Edge-weighted graph representation</vt:lpstr>
      <vt:lpstr>Kruskal’s algorithm</vt:lpstr>
      <vt:lpstr>Kruskal’s algorithm</vt:lpstr>
      <vt:lpstr>Content recap</vt:lpstr>
      <vt:lpstr>content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 (lazy)</vt:lpstr>
      <vt:lpstr>Prim’s algorithm (lazy)</vt:lpstr>
      <vt:lpstr>Prim’s algorithm</vt:lpstr>
      <vt:lpstr>Content 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Capra, Licia</dc:creator>
  <cp:lastModifiedBy>Capra, Licia</cp:lastModifiedBy>
  <cp:revision>87</cp:revision>
  <dcterms:created xsi:type="dcterms:W3CDTF">2020-06-23T14:37:29Z</dcterms:created>
  <dcterms:modified xsi:type="dcterms:W3CDTF">2020-11-16T17:16:17Z</dcterms:modified>
</cp:coreProperties>
</file>