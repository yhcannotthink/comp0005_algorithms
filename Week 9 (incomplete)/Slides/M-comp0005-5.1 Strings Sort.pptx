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1"/>
  </p:notesMasterIdLst>
  <p:sldIdLst>
    <p:sldId id="266" r:id="rId3"/>
    <p:sldId id="303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68" r:id="rId13"/>
    <p:sldId id="276" r:id="rId14"/>
    <p:sldId id="282" r:id="rId15"/>
    <p:sldId id="279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3" r:id="rId26"/>
    <p:sldId id="305" r:id="rId27"/>
    <p:sldId id="294" r:id="rId28"/>
    <p:sldId id="280" r:id="rId29"/>
    <p:sldId id="295" r:id="rId30"/>
    <p:sldId id="296" r:id="rId31"/>
    <p:sldId id="297" r:id="rId32"/>
    <p:sldId id="298" r:id="rId33"/>
    <p:sldId id="304" r:id="rId34"/>
    <p:sldId id="281" r:id="rId35"/>
    <p:sldId id="299" r:id="rId36"/>
    <p:sldId id="300" r:id="rId37"/>
    <p:sldId id="301" r:id="rId38"/>
    <p:sldId id="302" r:id="rId39"/>
    <p:sldId id="27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/>
    <p:restoredTop sz="56597"/>
  </p:normalViewPr>
  <p:slideViewPr>
    <p:cSldViewPr snapToGrid="0" snapToObjects="1">
      <p:cViewPr varScale="1">
        <p:scale>
          <a:sx n="83" d="100"/>
          <a:sy n="83" d="100"/>
        </p:scale>
        <p:origin x="2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3" d="100"/>
        <a:sy n="14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794ED-9DCD-E143-A31C-FF459F6B3753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CF15C-D2B2-934B-A539-F97C996A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70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735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313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361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563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568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21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330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595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721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057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692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87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80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76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6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2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92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11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89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145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615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2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92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8411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25993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87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817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82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428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225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7426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43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43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28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441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337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178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2792606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1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05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5. </a:t>
            </a:r>
            <a:r>
              <a:rPr lang="en-US" sz="3733">
                <a:solidFill>
                  <a:schemeClr val="tx1"/>
                </a:solidFill>
              </a:rPr>
              <a:t>String </a:t>
            </a:r>
            <a:r>
              <a:rPr lang="en-US" sz="3733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7501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What is a string</a:t>
            </a:r>
          </a:p>
          <a:p>
            <a:r>
              <a:rPr lang="en-US" dirty="0"/>
              <a:t>String sorting algorithms</a:t>
            </a:r>
          </a:p>
          <a:p>
            <a:pPr lvl="1"/>
            <a:r>
              <a:rPr lang="en-US" dirty="0"/>
              <a:t>Key Index Counting</a:t>
            </a:r>
          </a:p>
          <a:p>
            <a:pPr lvl="1"/>
            <a:r>
              <a:rPr lang="en-US" dirty="0"/>
              <a:t>LSD radix sort</a:t>
            </a:r>
          </a:p>
          <a:p>
            <a:pPr lvl="1"/>
            <a:r>
              <a:rPr lang="en-US" dirty="0"/>
              <a:t>MSD radix sort</a:t>
            </a:r>
          </a:p>
        </p:txBody>
      </p:sp>
    </p:spTree>
    <p:extLst>
      <p:ext uri="{BB962C8B-B14F-4D97-AF65-F5344CB8AC3E}">
        <p14:creationId xmlns:p14="http://schemas.microsoft.com/office/powerpoint/2010/main" val="234551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String</a:t>
            </a:r>
            <a:r>
              <a:rPr lang="en-US" dirty="0"/>
              <a:t>. Sequence of characters.</a:t>
            </a:r>
          </a:p>
          <a:p>
            <a:r>
              <a:rPr lang="en-US" dirty="0">
                <a:highlight>
                  <a:srgbClr val="C0C0C0"/>
                </a:highlight>
              </a:rPr>
              <a:t>Character</a:t>
            </a:r>
            <a:r>
              <a:rPr lang="en-US" dirty="0"/>
              <a:t>. Digit from a fixed alphabet of size </a:t>
            </a:r>
            <a:r>
              <a:rPr lang="en-US" i="1" dirty="0"/>
              <a:t>R</a:t>
            </a:r>
            <a:r>
              <a:rPr lang="en-US" dirty="0"/>
              <a:t> (radix).</a:t>
            </a:r>
          </a:p>
          <a:p>
            <a:r>
              <a:rPr lang="en-US" dirty="0"/>
              <a:t>Examples of alphabets: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3BF707-30AE-3248-9278-0A6153A34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336147"/>
              </p:ext>
            </p:extLst>
          </p:nvPr>
        </p:nvGraphicFramePr>
        <p:xfrm>
          <a:off x="1291529" y="3159269"/>
          <a:ext cx="9085527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82">
                  <a:extLst>
                    <a:ext uri="{9D8B030D-6E8A-4147-A177-3AD203B41FA5}">
                      <a16:colId xmlns:a16="http://schemas.microsoft.com/office/drawing/2014/main" val="558025125"/>
                    </a:ext>
                  </a:extLst>
                </a:gridCol>
                <a:gridCol w="1396362">
                  <a:extLst>
                    <a:ext uri="{9D8B030D-6E8A-4147-A177-3AD203B41FA5}">
                      <a16:colId xmlns:a16="http://schemas.microsoft.com/office/drawing/2014/main" val="1997535866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1422611695"/>
                    </a:ext>
                  </a:extLst>
                </a:gridCol>
                <a:gridCol w="4211783">
                  <a:extLst>
                    <a:ext uri="{9D8B030D-6E8A-4147-A177-3AD203B41FA5}">
                      <a16:colId xmlns:a16="http://schemas.microsoft.com/office/drawing/2014/main" val="2262484367"/>
                    </a:ext>
                  </a:extLst>
                </a:gridCol>
              </a:tblGrid>
              <a:tr h="26986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767933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ASCII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ASCII characters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49609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Extended ASCII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Extended ASCII characters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997663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UNICODE16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60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Unicode characters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726813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932796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HEXADECIMAL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0123456789ABCDEF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099986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533685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PROTEIN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ACDEFGHIKLMNPQRSTVWY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44143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98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91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String operations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Length</a:t>
            </a:r>
            <a:r>
              <a:rPr lang="en-US" dirty="0"/>
              <a:t>. Number of characters.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Indexing</a:t>
            </a:r>
            <a:r>
              <a:rPr lang="en-US" dirty="0"/>
              <a:t>. Get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character.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Substring extraction</a:t>
            </a:r>
            <a:r>
              <a:rPr lang="en-US" dirty="0"/>
              <a:t>. Get a contiguous subsequence of characters.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String concatenation</a:t>
            </a:r>
            <a:r>
              <a:rPr lang="en-US" dirty="0"/>
              <a:t>. Append a string to the end of another string.</a:t>
            </a:r>
          </a:p>
        </p:txBody>
      </p:sp>
    </p:spTree>
    <p:extLst>
      <p:ext uri="{BB962C8B-B14F-4D97-AF65-F5344CB8AC3E}">
        <p14:creationId xmlns:p14="http://schemas.microsoft.com/office/powerpoint/2010/main" val="56538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 in Java.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0A3B08-E101-E141-978A-ECDA27BE1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7891"/>
              </p:ext>
            </p:extLst>
          </p:nvPr>
        </p:nvGraphicFramePr>
        <p:xfrm>
          <a:off x="1762583" y="2451485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27763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544905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9492255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967520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53536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StringBuilder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61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7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61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indexing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75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251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concatenation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7994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3FAA1FA-BBD6-994C-AF96-C9F5011C6000}"/>
              </a:ext>
            </a:extLst>
          </p:cNvPr>
          <p:cNvSpPr txBox="1"/>
          <p:nvPr/>
        </p:nvSpPr>
        <p:spPr>
          <a:xfrm>
            <a:off x="4329563" y="5185057"/>
            <a:ext cx="19800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Immutable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Fixed char[] array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length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72411-178E-6A48-A033-BC718F16C15D}"/>
              </a:ext>
            </a:extLst>
          </p:cNvPr>
          <p:cNvSpPr txBox="1"/>
          <p:nvPr/>
        </p:nvSpPr>
        <p:spPr>
          <a:xfrm>
            <a:off x="7394500" y="5185057"/>
            <a:ext cx="24545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Mutable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Resizable char[] value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length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05AAC628-43C5-534D-AAFB-5C566C4EF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866521" y="3370230"/>
            <a:ext cx="263030" cy="3165746"/>
          </a:xfrm>
          <a:prstGeom prst="leftBrac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A8EE4DF-6322-A344-986D-E9CD3E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131316" y="3370230"/>
            <a:ext cx="263030" cy="3165746"/>
          </a:xfrm>
          <a:prstGeom prst="leftBrac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8B0AD-F0CA-B644-BC9C-2C4D5DBD1ADB}"/>
              </a:ext>
            </a:extLst>
          </p:cNvPr>
          <p:cNvSpPr txBox="1"/>
          <p:nvPr/>
        </p:nvSpPr>
        <p:spPr>
          <a:xfrm>
            <a:off x="9893698" y="4317724"/>
            <a:ext cx="1285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* amortized cost</a:t>
            </a:r>
          </a:p>
        </p:txBody>
      </p:sp>
    </p:spTree>
    <p:extLst>
      <p:ext uri="{BB962C8B-B14F-4D97-AF65-F5344CB8AC3E}">
        <p14:creationId xmlns:p14="http://schemas.microsoft.com/office/powerpoint/2010/main" val="4625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Example.</a:t>
            </a:r>
            <a:r>
              <a:rPr lang="en-US" dirty="0"/>
              <a:t> Reversing a string, using Java </a:t>
            </a:r>
            <a:r>
              <a:rPr lang="en-US" dirty="0">
                <a:latin typeface="Courier" pitchFamily="2" charset="0"/>
              </a:rPr>
              <a:t>String</a:t>
            </a:r>
            <a:r>
              <a:rPr lang="en-US" dirty="0"/>
              <a:t> vs </a:t>
            </a:r>
            <a:r>
              <a:rPr lang="en-US" dirty="0">
                <a:latin typeface="Courier" pitchFamily="2" charset="0"/>
              </a:rPr>
              <a:t>StringBuilder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5A5D2-2ACE-D347-BE75-BC6446FA6773}"/>
              </a:ext>
            </a:extLst>
          </p:cNvPr>
          <p:cNvSpPr txBox="1"/>
          <p:nvPr/>
        </p:nvSpPr>
        <p:spPr>
          <a:xfrm>
            <a:off x="1385887" y="2298691"/>
            <a:ext cx="6388286" cy="175432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public static String reverse(String s) {</a:t>
            </a:r>
          </a:p>
          <a:p>
            <a:r>
              <a:rPr lang="en-US" dirty="0">
                <a:latin typeface="Courier" pitchFamily="2" charset="0"/>
              </a:rPr>
              <a:t>    String rev = "";</a:t>
            </a:r>
          </a:p>
          <a:p>
            <a:r>
              <a:rPr lang="en-US" dirty="0">
                <a:latin typeface="Courier" pitchFamily="2" charset="0"/>
              </a:rPr>
              <a:t>    for (int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</a:t>
            </a:r>
            <a:r>
              <a:rPr lang="en-US" dirty="0" err="1">
                <a:latin typeface="Courier" pitchFamily="2" charset="0"/>
              </a:rPr>
              <a:t>s.length</a:t>
            </a:r>
            <a:r>
              <a:rPr lang="en-US" dirty="0">
                <a:latin typeface="Courier" pitchFamily="2" charset="0"/>
              </a:rPr>
              <a:t>()- 1;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&gt;= 0;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--)</a:t>
            </a:r>
          </a:p>
          <a:p>
            <a:r>
              <a:rPr lang="en-US" dirty="0">
                <a:latin typeface="Courier" pitchFamily="2" charset="0"/>
              </a:rPr>
              <a:t>        rev += </a:t>
            </a:r>
            <a:r>
              <a:rPr lang="en-US" dirty="0" err="1">
                <a:latin typeface="Courier" pitchFamily="2" charset="0"/>
              </a:rPr>
              <a:t>s.charAt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); </a:t>
            </a:r>
          </a:p>
          <a:p>
            <a:r>
              <a:rPr lang="en-US" dirty="0">
                <a:latin typeface="Courier" pitchFamily="2" charset="0"/>
              </a:rPr>
              <a:t>    return rev;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22045-20A8-CF41-BFB5-53D4FB3143DD}"/>
              </a:ext>
            </a:extLst>
          </p:cNvPr>
          <p:cNvSpPr txBox="1"/>
          <p:nvPr/>
        </p:nvSpPr>
        <p:spPr>
          <a:xfrm>
            <a:off x="1385886" y="4430064"/>
            <a:ext cx="6388287" cy="175432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public static String reverse(String s) {</a:t>
            </a:r>
          </a:p>
          <a:p>
            <a:r>
              <a:rPr lang="en-US" dirty="0">
                <a:latin typeface="Courier" pitchFamily="2" charset="0"/>
              </a:rPr>
              <a:t>    StringBuilder rev = new StringBuilder(); </a:t>
            </a:r>
          </a:p>
          <a:p>
            <a:r>
              <a:rPr lang="en-US" dirty="0">
                <a:latin typeface="Courier" pitchFamily="2" charset="0"/>
              </a:rPr>
              <a:t>    for (int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s.length</a:t>
            </a:r>
            <a:r>
              <a:rPr lang="en-US" dirty="0">
                <a:latin typeface="Courier" pitchFamily="2" charset="0"/>
              </a:rPr>
              <a:t>()-1;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&gt;= 0;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--)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rev.append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s.charAt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)); </a:t>
            </a:r>
          </a:p>
          <a:p>
            <a:r>
              <a:rPr lang="en-US" dirty="0">
                <a:latin typeface="Courier" pitchFamily="2" charset="0"/>
              </a:rPr>
              <a:t>    return </a:t>
            </a:r>
            <a:r>
              <a:rPr lang="en-US" dirty="0" err="1">
                <a:latin typeface="Courier" pitchFamily="2" charset="0"/>
              </a:rPr>
              <a:t>rev.toString</a:t>
            </a:r>
            <a:r>
              <a:rPr lang="en-US" dirty="0">
                <a:latin typeface="Courier" pitchFamily="2" charset="0"/>
              </a:rPr>
              <a:t>();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grpSp>
        <p:nvGrpSpPr>
          <p:cNvPr id="25" name="Group 24" descr="highlighting code that uses String with cost for contact linear, and overall quadratic">
            <a:extLst>
              <a:ext uri="{FF2B5EF4-FFF2-40B4-BE49-F238E27FC236}">
                <a16:creationId xmlns:a16="http://schemas.microsoft.com/office/drawing/2014/main" id="{780C1A16-02AC-2342-8630-3B744EA3DC85}"/>
              </a:ext>
            </a:extLst>
          </p:cNvPr>
          <p:cNvGrpSpPr/>
          <p:nvPr/>
        </p:nvGrpSpPr>
        <p:grpSpPr>
          <a:xfrm>
            <a:off x="2500313" y="2311810"/>
            <a:ext cx="9401514" cy="1630372"/>
            <a:chOff x="2500313" y="2311810"/>
            <a:chExt cx="9401514" cy="1630372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3E23516-97B2-3246-AFC8-4C6F1CC7DAFF}"/>
                </a:ext>
              </a:extLst>
            </p:cNvPr>
            <p:cNvSpPr/>
            <p:nvPr/>
          </p:nvSpPr>
          <p:spPr>
            <a:xfrm>
              <a:off x="2500313" y="3175854"/>
              <a:ext cx="3400424" cy="253146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9ED485-384D-2B44-A911-111CC761B0A5}"/>
                </a:ext>
              </a:extLst>
            </p:cNvPr>
            <p:cNvSpPr txBox="1"/>
            <p:nvPr/>
          </p:nvSpPr>
          <p:spPr>
            <a:xfrm>
              <a:off x="8314698" y="3133150"/>
              <a:ext cx="808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93EB11-EA81-C144-A3DE-B6E688F81D9F}"/>
                </a:ext>
              </a:extLst>
            </p:cNvPr>
            <p:cNvSpPr txBox="1"/>
            <p:nvPr/>
          </p:nvSpPr>
          <p:spPr>
            <a:xfrm>
              <a:off x="10339810" y="2834607"/>
              <a:ext cx="15620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overall </a:t>
              </a:r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quadratic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time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FCA17DE-F5F3-0643-9010-D7F31D92C339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5900737" y="3302427"/>
              <a:ext cx="2328863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C11044A7-9659-3947-85D2-8610496A1B70}"/>
                </a:ext>
              </a:extLst>
            </p:cNvPr>
            <p:cNvSpPr/>
            <p:nvPr/>
          </p:nvSpPr>
          <p:spPr>
            <a:xfrm rot="10800000">
              <a:off x="9938880" y="2311810"/>
              <a:ext cx="299684" cy="1630372"/>
            </a:xfrm>
            <a:prstGeom prst="lef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 descr="highlighting code that uses String with cost for contact linear, and overall quadratic">
            <a:extLst>
              <a:ext uri="{FF2B5EF4-FFF2-40B4-BE49-F238E27FC236}">
                <a16:creationId xmlns:a16="http://schemas.microsoft.com/office/drawing/2014/main" id="{1B40F123-52FB-D84A-82AB-7C8C97A1A4A0}"/>
              </a:ext>
            </a:extLst>
          </p:cNvPr>
          <p:cNvGrpSpPr/>
          <p:nvPr/>
        </p:nvGrpSpPr>
        <p:grpSpPr>
          <a:xfrm>
            <a:off x="2500312" y="4520313"/>
            <a:ext cx="9342745" cy="1630372"/>
            <a:chOff x="2500312" y="4520313"/>
            <a:chExt cx="9342745" cy="1630372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702A396-66F3-D442-A22D-30213F154082}"/>
                </a:ext>
              </a:extLst>
            </p:cNvPr>
            <p:cNvSpPr/>
            <p:nvPr/>
          </p:nvSpPr>
          <p:spPr>
            <a:xfrm>
              <a:off x="2500312" y="5335499"/>
              <a:ext cx="3400425" cy="250914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E4AE8E-DE4C-5940-9CD1-D7E444827A76}"/>
                </a:ext>
              </a:extLst>
            </p:cNvPr>
            <p:cNvSpPr txBox="1"/>
            <p:nvPr/>
          </p:nvSpPr>
          <p:spPr>
            <a:xfrm>
              <a:off x="8321284" y="5001638"/>
              <a:ext cx="19597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constant (unless array resizing needed)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BD3263-10C7-B44F-986A-4967D685817E}"/>
                </a:ext>
              </a:extLst>
            </p:cNvPr>
            <p:cNvSpPr txBox="1"/>
            <p:nvPr/>
          </p:nvSpPr>
          <p:spPr>
            <a:xfrm>
              <a:off x="10281040" y="5001638"/>
              <a:ext cx="15620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overall </a:t>
              </a:r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time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94EE78B-E85F-8644-8220-CB96A82B5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0738" y="5460956"/>
              <a:ext cx="231231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47B40A9F-806B-F145-9F11-BA5B8E7457D8}"/>
                </a:ext>
              </a:extLst>
            </p:cNvPr>
            <p:cNvSpPr/>
            <p:nvPr/>
          </p:nvSpPr>
          <p:spPr>
            <a:xfrm rot="10800000">
              <a:off x="9941667" y="4520313"/>
              <a:ext cx="299684" cy="1630372"/>
            </a:xfrm>
            <a:prstGeom prst="lef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3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Example.</a:t>
            </a:r>
            <a:r>
              <a:rPr lang="en-US" dirty="0"/>
              <a:t> Computing all possible suffixes.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7327D-CEC4-1D4E-A826-9EBDFD6B0A3B}"/>
              </a:ext>
            </a:extLst>
          </p:cNvPr>
          <p:cNvSpPr txBox="1"/>
          <p:nvPr/>
        </p:nvSpPr>
        <p:spPr>
          <a:xfrm>
            <a:off x="514866" y="213412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17BDCB-DE46-DB49-8E4E-BE517DE0B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827681"/>
              </p:ext>
            </p:extLst>
          </p:nvPr>
        </p:nvGraphicFramePr>
        <p:xfrm>
          <a:off x="2158029" y="2168180"/>
          <a:ext cx="406876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76">
                  <a:extLst>
                    <a:ext uri="{9D8B030D-6E8A-4147-A177-3AD203B41FA5}">
                      <a16:colId xmlns:a16="http://schemas.microsoft.com/office/drawing/2014/main" val="789762429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646406687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231230881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01728996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370600705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72338991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96500207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220872643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192982054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1413932492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10538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7681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5DECF54-2B53-A64A-AF27-D4C835A612FE}"/>
              </a:ext>
            </a:extLst>
          </p:cNvPr>
          <p:cNvSpPr txBox="1"/>
          <p:nvPr/>
        </p:nvSpPr>
        <p:spPr>
          <a:xfrm>
            <a:off x="514866" y="33078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34271B4-93CF-CB40-9C79-A15BCB90D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50796"/>
              </p:ext>
            </p:extLst>
          </p:nvPr>
        </p:nvGraphicFramePr>
        <p:xfrm>
          <a:off x="2158029" y="3341943"/>
          <a:ext cx="406876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76">
                  <a:extLst>
                    <a:ext uri="{9D8B030D-6E8A-4147-A177-3AD203B41FA5}">
                      <a16:colId xmlns:a16="http://schemas.microsoft.com/office/drawing/2014/main" val="789762429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646406687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231230881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01728996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370600705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72338991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96500207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220872643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192982054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1413932492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76812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968603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60254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020116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374910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859003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250576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132094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541752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089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8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Example.</a:t>
            </a:r>
            <a:r>
              <a:rPr lang="en-US" dirty="0"/>
              <a:t> Computing all possible suffixes.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5A5D2-2ACE-D347-BE75-BC6446FA6773}"/>
              </a:ext>
            </a:extLst>
          </p:cNvPr>
          <p:cNvSpPr txBox="1"/>
          <p:nvPr/>
        </p:nvSpPr>
        <p:spPr>
          <a:xfrm>
            <a:off x="1385887" y="2291874"/>
            <a:ext cx="6402189" cy="2031325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public static String[] suffixes(String s) {</a:t>
            </a:r>
          </a:p>
          <a:p>
            <a:r>
              <a:rPr lang="en-US" dirty="0">
                <a:latin typeface="Courier" pitchFamily="2" charset="0"/>
              </a:rPr>
              <a:t>    int N = </a:t>
            </a:r>
            <a:r>
              <a:rPr lang="en-US" dirty="0" err="1">
                <a:latin typeface="Courier" pitchFamily="2" charset="0"/>
              </a:rPr>
              <a:t>s.length</a:t>
            </a:r>
            <a:r>
              <a:rPr lang="en-US" dirty="0">
                <a:latin typeface="Courier" pitchFamily="2" charset="0"/>
              </a:rPr>
              <a:t>();</a:t>
            </a:r>
          </a:p>
          <a:p>
            <a:r>
              <a:rPr lang="en-US" dirty="0">
                <a:latin typeface="Courier" pitchFamily="2" charset="0"/>
              </a:rPr>
              <a:t>    String[] suffixes = new String[N]; </a:t>
            </a:r>
          </a:p>
          <a:p>
            <a:r>
              <a:rPr lang="en-US" dirty="0">
                <a:latin typeface="Courier" pitchFamily="2" charset="0"/>
              </a:rPr>
              <a:t>    for (int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0;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&lt; N;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++)</a:t>
            </a:r>
          </a:p>
          <a:p>
            <a:r>
              <a:rPr lang="en-US" dirty="0">
                <a:latin typeface="Courier" pitchFamily="2" charset="0"/>
              </a:rPr>
              <a:t>        suffixes[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= </a:t>
            </a:r>
            <a:r>
              <a:rPr lang="en-US" dirty="0" err="1">
                <a:latin typeface="Courier" pitchFamily="2" charset="0"/>
              </a:rPr>
              <a:t>s.substring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, N); </a:t>
            </a:r>
          </a:p>
          <a:p>
            <a:r>
              <a:rPr lang="en-US" dirty="0">
                <a:latin typeface="Courier" pitchFamily="2" charset="0"/>
              </a:rPr>
              <a:t>    return suffixes;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22045-20A8-CF41-BFB5-53D4FB3143DD}"/>
              </a:ext>
            </a:extLst>
          </p:cNvPr>
          <p:cNvSpPr txBox="1"/>
          <p:nvPr/>
        </p:nvSpPr>
        <p:spPr>
          <a:xfrm>
            <a:off x="1385886" y="4430064"/>
            <a:ext cx="6388287" cy="2308324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public static String[] suffixes(String s) {</a:t>
            </a:r>
          </a:p>
          <a:p>
            <a:r>
              <a:rPr lang="en-US" dirty="0">
                <a:latin typeface="Courier" pitchFamily="2" charset="0"/>
              </a:rPr>
              <a:t>    int N = </a:t>
            </a:r>
            <a:r>
              <a:rPr lang="en-US" dirty="0" err="1">
                <a:latin typeface="Courier" pitchFamily="2" charset="0"/>
              </a:rPr>
              <a:t>s.length</a:t>
            </a:r>
            <a:r>
              <a:rPr lang="en-US" dirty="0">
                <a:latin typeface="Courier" pitchFamily="2" charset="0"/>
              </a:rPr>
              <a:t>();</a:t>
            </a:r>
          </a:p>
          <a:p>
            <a:r>
              <a:rPr lang="en-US" dirty="0">
                <a:latin typeface="Courier" pitchFamily="2" charset="0"/>
              </a:rPr>
              <a:t>    StringBuilder sb = new StringBuilder(s); </a:t>
            </a:r>
          </a:p>
          <a:p>
            <a:r>
              <a:rPr lang="en-US" dirty="0">
                <a:latin typeface="Courier" pitchFamily="2" charset="0"/>
              </a:rPr>
              <a:t>    String[] suffixes = new String[N];</a:t>
            </a:r>
          </a:p>
          <a:p>
            <a:r>
              <a:rPr lang="en-US" dirty="0">
                <a:latin typeface="Courier" pitchFamily="2" charset="0"/>
              </a:rPr>
              <a:t>    for (int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0;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&lt; N;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++)</a:t>
            </a:r>
          </a:p>
          <a:p>
            <a:r>
              <a:rPr lang="en-US" dirty="0">
                <a:latin typeface="Courier" pitchFamily="2" charset="0"/>
              </a:rPr>
              <a:t>        suffixes[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= </a:t>
            </a:r>
            <a:r>
              <a:rPr lang="en-US" dirty="0" err="1">
                <a:latin typeface="Courier" pitchFamily="2" charset="0"/>
              </a:rPr>
              <a:t>sb.substring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, N); </a:t>
            </a:r>
          </a:p>
          <a:p>
            <a:r>
              <a:rPr lang="en-US" dirty="0">
                <a:latin typeface="Courier" pitchFamily="2" charset="0"/>
              </a:rPr>
              <a:t>    return suffixes;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grpSp>
        <p:nvGrpSpPr>
          <p:cNvPr id="8" name="Group 7" descr="highlighting code fragment where suffixes are creating using string (linear time and space)">
            <a:extLst>
              <a:ext uri="{FF2B5EF4-FFF2-40B4-BE49-F238E27FC236}">
                <a16:creationId xmlns:a16="http://schemas.microsoft.com/office/drawing/2014/main" id="{85F49515-C84B-954B-A16A-4629981AFCE2}"/>
              </a:ext>
            </a:extLst>
          </p:cNvPr>
          <p:cNvGrpSpPr/>
          <p:nvPr/>
        </p:nvGrpSpPr>
        <p:grpSpPr>
          <a:xfrm>
            <a:off x="2514216" y="2400238"/>
            <a:ext cx="8886161" cy="1630372"/>
            <a:chOff x="2514216" y="2400238"/>
            <a:chExt cx="8886161" cy="1630372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3E23516-97B2-3246-AFC8-4C6F1CC7DAFF}"/>
                </a:ext>
              </a:extLst>
            </p:cNvPr>
            <p:cNvSpPr/>
            <p:nvPr/>
          </p:nvSpPr>
          <p:spPr>
            <a:xfrm>
              <a:off x="2514216" y="3474631"/>
              <a:ext cx="4400934" cy="232000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9ED485-384D-2B44-A911-111CC761B0A5}"/>
                </a:ext>
              </a:extLst>
            </p:cNvPr>
            <p:cNvSpPr txBox="1"/>
            <p:nvPr/>
          </p:nvSpPr>
          <p:spPr>
            <a:xfrm>
              <a:off x="8110421" y="3403654"/>
              <a:ext cx="14514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constant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93EB11-EA81-C144-A3DE-B6E688F81D9F}"/>
                </a:ext>
              </a:extLst>
            </p:cNvPr>
            <p:cNvSpPr txBox="1"/>
            <p:nvPr/>
          </p:nvSpPr>
          <p:spPr>
            <a:xfrm>
              <a:off x="9838360" y="2923035"/>
              <a:ext cx="15620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overall </a:t>
              </a:r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time and space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FCA17DE-F5F3-0643-9010-D7F31D92C339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6915150" y="3590631"/>
              <a:ext cx="115728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C11044A7-9659-3947-85D2-8610496A1B70}"/>
                </a:ext>
              </a:extLst>
            </p:cNvPr>
            <p:cNvSpPr/>
            <p:nvPr/>
          </p:nvSpPr>
          <p:spPr>
            <a:xfrm rot="10800000">
              <a:off x="9433372" y="2400238"/>
              <a:ext cx="299684" cy="1630372"/>
            </a:xfrm>
            <a:prstGeom prst="lef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 descr="highlighting code fragment where suffixes are creating using stringbuilder (quadratic time and space)">
            <a:extLst>
              <a:ext uri="{FF2B5EF4-FFF2-40B4-BE49-F238E27FC236}">
                <a16:creationId xmlns:a16="http://schemas.microsoft.com/office/drawing/2014/main" id="{6C7690BE-346F-2748-A0E9-6A7050C204BB}"/>
              </a:ext>
            </a:extLst>
          </p:cNvPr>
          <p:cNvGrpSpPr/>
          <p:nvPr/>
        </p:nvGrpSpPr>
        <p:grpSpPr>
          <a:xfrm>
            <a:off x="2536995" y="4612596"/>
            <a:ext cx="8953388" cy="1992298"/>
            <a:chOff x="2536995" y="4612596"/>
            <a:chExt cx="8953388" cy="199229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702A396-66F3-D442-A22D-30213F154082}"/>
                </a:ext>
              </a:extLst>
            </p:cNvPr>
            <p:cNvSpPr/>
            <p:nvPr/>
          </p:nvSpPr>
          <p:spPr>
            <a:xfrm>
              <a:off x="2536995" y="5874907"/>
              <a:ext cx="4549605" cy="275643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E4AE8E-DE4C-5940-9CD1-D7E444827A76}"/>
                </a:ext>
              </a:extLst>
            </p:cNvPr>
            <p:cNvSpPr txBox="1"/>
            <p:nvPr/>
          </p:nvSpPr>
          <p:spPr>
            <a:xfrm>
              <a:off x="8110421" y="5827723"/>
              <a:ext cx="1959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BD3263-10C7-B44F-986A-4967D685817E}"/>
                </a:ext>
              </a:extLst>
            </p:cNvPr>
            <p:cNvSpPr txBox="1"/>
            <p:nvPr/>
          </p:nvSpPr>
          <p:spPr>
            <a:xfrm>
              <a:off x="9928366" y="5181731"/>
              <a:ext cx="15620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overall </a:t>
              </a:r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quadratic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time and space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94EE78B-E85F-8644-8220-CB96A82B5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6600" y="6012728"/>
              <a:ext cx="98583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47B40A9F-806B-F145-9F11-BA5B8E7457D8}"/>
                </a:ext>
              </a:extLst>
            </p:cNvPr>
            <p:cNvSpPr/>
            <p:nvPr/>
          </p:nvSpPr>
          <p:spPr>
            <a:xfrm rot="10800000">
              <a:off x="9433372" y="4612596"/>
              <a:ext cx="308244" cy="1992298"/>
            </a:xfrm>
            <a:prstGeom prst="lef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500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Example.</a:t>
            </a:r>
            <a:r>
              <a:rPr lang="en-US" dirty="0"/>
              <a:t> Computing the length of the longest common prefix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7327D-CEC4-1D4E-A826-9EBDFD6B0A3B}"/>
              </a:ext>
            </a:extLst>
          </p:cNvPr>
          <p:cNvSpPr txBox="1"/>
          <p:nvPr/>
        </p:nvSpPr>
        <p:spPr>
          <a:xfrm>
            <a:off x="514866" y="2134128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string 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17BDCB-DE46-DB49-8E4E-BE517DE0B09B}"/>
              </a:ext>
            </a:extLst>
          </p:cNvPr>
          <p:cNvGraphicFramePr>
            <a:graphicFrameLocks noGrp="1"/>
          </p:cNvGraphicFramePr>
          <p:nvPr/>
        </p:nvGraphicFramePr>
        <p:xfrm>
          <a:off x="2158029" y="2168180"/>
          <a:ext cx="406876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76">
                  <a:extLst>
                    <a:ext uri="{9D8B030D-6E8A-4147-A177-3AD203B41FA5}">
                      <a16:colId xmlns:a16="http://schemas.microsoft.com/office/drawing/2014/main" val="789762429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646406687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231230881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01728996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370600705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72338991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96500207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220872643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192982054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1413932492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10538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768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CD834F-14B2-8444-826E-408100689345}"/>
              </a:ext>
            </a:extLst>
          </p:cNvPr>
          <p:cNvSpPr txBox="1"/>
          <p:nvPr/>
        </p:nvSpPr>
        <p:spPr>
          <a:xfrm>
            <a:off x="514866" y="330789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string 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3820DE-308E-E54A-92D4-53A04CD54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148306"/>
              </p:ext>
            </p:extLst>
          </p:nvPr>
        </p:nvGraphicFramePr>
        <p:xfrm>
          <a:off x="2158029" y="3341943"/>
          <a:ext cx="406876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76">
                  <a:extLst>
                    <a:ext uri="{9D8B030D-6E8A-4147-A177-3AD203B41FA5}">
                      <a16:colId xmlns:a16="http://schemas.microsoft.com/office/drawing/2014/main" val="789762429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646406687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231230881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01728996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370600705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72338991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3965002070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220872643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2192982054"/>
                    </a:ext>
                  </a:extLst>
                </a:gridCol>
                <a:gridCol w="406876">
                  <a:extLst>
                    <a:ext uri="{9D8B030D-6E8A-4147-A177-3AD203B41FA5}">
                      <a16:colId xmlns:a16="http://schemas.microsoft.com/office/drawing/2014/main" val="1413932492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10538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7681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5DECF54-2B53-A64A-AF27-D4C835A612FE}"/>
              </a:ext>
            </a:extLst>
          </p:cNvPr>
          <p:cNvSpPr txBox="1"/>
          <p:nvPr/>
        </p:nvSpPr>
        <p:spPr>
          <a:xfrm>
            <a:off x="514866" y="456533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Output: 5</a:t>
            </a:r>
          </a:p>
        </p:txBody>
      </p:sp>
    </p:spTree>
    <p:extLst>
      <p:ext uri="{BB962C8B-B14F-4D97-AF65-F5344CB8AC3E}">
        <p14:creationId xmlns:p14="http://schemas.microsoft.com/office/powerpoint/2010/main" val="128988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Example.</a:t>
            </a:r>
            <a:r>
              <a:rPr lang="en-US" dirty="0"/>
              <a:t> Computing the length of the longest common prefix.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5A5D2-2ACE-D347-BE75-BC6446FA6773}"/>
              </a:ext>
            </a:extLst>
          </p:cNvPr>
          <p:cNvSpPr txBox="1"/>
          <p:nvPr/>
        </p:nvSpPr>
        <p:spPr>
          <a:xfrm>
            <a:off x="1385887" y="2291874"/>
            <a:ext cx="6402189" cy="2031325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public static int </a:t>
            </a:r>
            <a:r>
              <a:rPr lang="en-US" dirty="0" err="1">
                <a:latin typeface="Courier" pitchFamily="2" charset="0"/>
              </a:rPr>
              <a:t>lcp</a:t>
            </a:r>
            <a:r>
              <a:rPr lang="en-US" dirty="0">
                <a:latin typeface="Courier" pitchFamily="2" charset="0"/>
              </a:rPr>
              <a:t>(String s, String t) {</a:t>
            </a:r>
          </a:p>
          <a:p>
            <a:r>
              <a:rPr lang="en-US" dirty="0">
                <a:latin typeface="Courier" pitchFamily="2" charset="0"/>
              </a:rPr>
              <a:t>    int N = </a:t>
            </a:r>
            <a:r>
              <a:rPr lang="en-US" dirty="0" err="1">
                <a:latin typeface="Courier" pitchFamily="2" charset="0"/>
              </a:rPr>
              <a:t>Math.min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s.length</a:t>
            </a:r>
            <a:r>
              <a:rPr lang="en-US" dirty="0">
                <a:latin typeface="Courier" pitchFamily="2" charset="0"/>
              </a:rPr>
              <a:t>(), </a:t>
            </a:r>
            <a:r>
              <a:rPr lang="en-US" dirty="0" err="1">
                <a:latin typeface="Courier" pitchFamily="2" charset="0"/>
              </a:rPr>
              <a:t>t.length</a:t>
            </a:r>
            <a:r>
              <a:rPr lang="en-US" dirty="0">
                <a:latin typeface="Courier" pitchFamily="2" charset="0"/>
              </a:rPr>
              <a:t>());</a:t>
            </a:r>
          </a:p>
          <a:p>
            <a:r>
              <a:rPr lang="en-US" dirty="0">
                <a:latin typeface="Courier" pitchFamily="2" charset="0"/>
              </a:rPr>
              <a:t>    for (int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0;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&lt; N;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++)</a:t>
            </a:r>
          </a:p>
          <a:p>
            <a:r>
              <a:rPr lang="en-US" dirty="0">
                <a:latin typeface="Courier" pitchFamily="2" charset="0"/>
              </a:rPr>
              <a:t>        if (</a:t>
            </a:r>
            <a:r>
              <a:rPr lang="en-US" dirty="0" err="1">
                <a:latin typeface="Courier" pitchFamily="2" charset="0"/>
              </a:rPr>
              <a:t>s.charAt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) != </a:t>
            </a:r>
            <a:r>
              <a:rPr lang="en-US" dirty="0" err="1">
                <a:latin typeface="Courier" pitchFamily="2" charset="0"/>
              </a:rPr>
              <a:t>t.charAt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))</a:t>
            </a:r>
          </a:p>
          <a:p>
            <a:r>
              <a:rPr lang="en-US" dirty="0">
                <a:latin typeface="Courier" pitchFamily="2" charset="0"/>
              </a:rPr>
              <a:t>            return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r>
              <a:rPr lang="en-US" dirty="0">
                <a:latin typeface="Courier" pitchFamily="2" charset="0"/>
              </a:rPr>
              <a:t>    return N;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grpSp>
        <p:nvGrpSpPr>
          <p:cNvPr id="28" name="Group 27" descr="highlighting code fragments for length and indexing of strings (constant time each - linear or sublinear overall)">
            <a:extLst>
              <a:ext uri="{FF2B5EF4-FFF2-40B4-BE49-F238E27FC236}">
                <a16:creationId xmlns:a16="http://schemas.microsoft.com/office/drawing/2014/main" id="{D2B7702C-3FCC-BC45-B684-AA7EFCCE93E6}"/>
              </a:ext>
            </a:extLst>
          </p:cNvPr>
          <p:cNvGrpSpPr/>
          <p:nvPr/>
        </p:nvGrpSpPr>
        <p:grpSpPr>
          <a:xfrm>
            <a:off x="3014279" y="2318844"/>
            <a:ext cx="8871290" cy="2031322"/>
            <a:chOff x="3014279" y="2318844"/>
            <a:chExt cx="8871290" cy="2031322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3E23516-97B2-3246-AFC8-4C6F1CC7DAFF}"/>
                </a:ext>
              </a:extLst>
            </p:cNvPr>
            <p:cNvSpPr/>
            <p:nvPr/>
          </p:nvSpPr>
          <p:spPr>
            <a:xfrm>
              <a:off x="3014279" y="3186468"/>
              <a:ext cx="4629534" cy="233677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9ED485-384D-2B44-A911-111CC761B0A5}"/>
                </a:ext>
              </a:extLst>
            </p:cNvPr>
            <p:cNvSpPr txBox="1"/>
            <p:nvPr/>
          </p:nvSpPr>
          <p:spPr>
            <a:xfrm>
              <a:off x="8451999" y="3134030"/>
              <a:ext cx="14514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constant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93EB11-EA81-C144-A3DE-B6E688F81D9F}"/>
                </a:ext>
              </a:extLst>
            </p:cNvPr>
            <p:cNvSpPr txBox="1"/>
            <p:nvPr/>
          </p:nvSpPr>
          <p:spPr>
            <a:xfrm>
              <a:off x="9786356" y="2770178"/>
              <a:ext cx="209921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time (worst case) and </a:t>
              </a:r>
            </a:p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sublinear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time (average case)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FCA17DE-F5F3-0643-9010-D7F31D92C339}"/>
                </a:ext>
              </a:extLst>
            </p:cNvPr>
            <p:cNvCxnSpPr>
              <a:cxnSpLocks/>
              <a:stCxn id="14" idx="1"/>
              <a:endCxn id="12" idx="3"/>
            </p:cNvCxnSpPr>
            <p:nvPr/>
          </p:nvCxnSpPr>
          <p:spPr>
            <a:xfrm flipH="1">
              <a:off x="7643813" y="3303307"/>
              <a:ext cx="80818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C11044A7-9659-3947-85D2-8610496A1B70}"/>
                </a:ext>
              </a:extLst>
            </p:cNvPr>
            <p:cNvSpPr/>
            <p:nvPr/>
          </p:nvSpPr>
          <p:spPr>
            <a:xfrm rot="10800000">
              <a:off x="9416468" y="2318844"/>
              <a:ext cx="258032" cy="2031322"/>
            </a:xfrm>
            <a:prstGeom prst="lef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D2AFB58-601A-6944-ABC3-428FD5AFCEFF}"/>
                </a:ext>
              </a:extLst>
            </p:cNvPr>
            <p:cNvSpPr/>
            <p:nvPr/>
          </p:nvSpPr>
          <p:spPr>
            <a:xfrm>
              <a:off x="4210243" y="2652397"/>
              <a:ext cx="3433570" cy="233677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0EBB44B-3CDF-7C4A-B956-366DE1EE2026}"/>
                </a:ext>
              </a:extLst>
            </p:cNvPr>
            <p:cNvCxnSpPr>
              <a:cxnSpLocks/>
              <a:stCxn id="14" idx="1"/>
              <a:endCxn id="19" idx="3"/>
            </p:cNvCxnSpPr>
            <p:nvPr/>
          </p:nvCxnSpPr>
          <p:spPr>
            <a:xfrm flipH="1" flipV="1">
              <a:off x="7643813" y="2769236"/>
              <a:ext cx="808186" cy="53407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557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What is a string</a:t>
            </a:r>
          </a:p>
          <a:p>
            <a:r>
              <a:rPr lang="en-US" dirty="0"/>
              <a:t>String sorting algorithms</a:t>
            </a:r>
          </a:p>
          <a:p>
            <a:pPr lvl="1"/>
            <a:r>
              <a:rPr lang="en-US" dirty="0"/>
              <a:t>Key-indexed counting</a:t>
            </a:r>
          </a:p>
          <a:p>
            <a:pPr lvl="1"/>
            <a:r>
              <a:rPr lang="en-US" dirty="0"/>
              <a:t>LSD radix sort</a:t>
            </a:r>
          </a:p>
          <a:p>
            <a:pPr lvl="1"/>
            <a:r>
              <a:rPr lang="en-US" dirty="0"/>
              <a:t>MSD radix sort</a:t>
            </a:r>
          </a:p>
        </p:txBody>
      </p:sp>
    </p:spTree>
    <p:extLst>
      <p:ext uri="{BB962C8B-B14F-4D97-AF65-F5344CB8AC3E}">
        <p14:creationId xmlns:p14="http://schemas.microsoft.com/office/powerpoint/2010/main" val="3767324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  <a:p>
            <a:r>
              <a:rPr lang="en-US" dirty="0">
                <a:highlight>
                  <a:srgbClr val="C0C0C0"/>
                </a:highlight>
              </a:rPr>
              <a:t>String sorting algorithms</a:t>
            </a:r>
          </a:p>
          <a:p>
            <a:pPr lvl="1"/>
            <a:r>
              <a:rPr lang="en-US" dirty="0"/>
              <a:t>Key Index Counting</a:t>
            </a:r>
          </a:p>
          <a:p>
            <a:pPr lvl="1"/>
            <a:r>
              <a:rPr lang="en-US" dirty="0"/>
              <a:t>Sorting LSD radix sort</a:t>
            </a:r>
          </a:p>
          <a:p>
            <a:pPr lvl="1"/>
            <a:r>
              <a:rPr lang="en-US" dirty="0"/>
              <a:t>MSD radix sort</a:t>
            </a:r>
          </a:p>
        </p:txBody>
      </p:sp>
    </p:spTree>
    <p:extLst>
      <p:ext uri="{BB962C8B-B14F-4D97-AF65-F5344CB8AC3E}">
        <p14:creationId xmlns:p14="http://schemas.microsoft.com/office/powerpoint/2010/main" val="398340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73A5-CE17-7545-8AD8-7D440A46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ALGORTIHMS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A6D8-4287-6C47-A7EF-B0E9E5F85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Lower bound for any comparison-based sorting algorithm: ~N lg N.</a:t>
            </a:r>
          </a:p>
          <a:p>
            <a:r>
              <a:rPr lang="en-US" dirty="0"/>
              <a:t>Question: can we do better?</a:t>
            </a:r>
          </a:p>
        </p:txBody>
      </p:sp>
      <p:graphicFrame>
        <p:nvGraphicFramePr>
          <p:cNvPr id="4" name="Table 3" descr="Table summarising the key properties (in place, stabiity, ad worst / average / best time complexity) of 5 sorting algorithms seen">
            <a:extLst>
              <a:ext uri="{FF2B5EF4-FFF2-40B4-BE49-F238E27FC236}">
                <a16:creationId xmlns:a16="http://schemas.microsoft.com/office/drawing/2014/main" id="{DBC2A9E1-093A-2C43-AC26-F019B60C8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86193"/>
              </p:ext>
            </p:extLst>
          </p:nvPr>
        </p:nvGraphicFramePr>
        <p:xfrm>
          <a:off x="987914" y="1714693"/>
          <a:ext cx="9641838" cy="2338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973">
                  <a:extLst>
                    <a:ext uri="{9D8B030D-6E8A-4147-A177-3AD203B41FA5}">
                      <a16:colId xmlns:a16="http://schemas.microsoft.com/office/drawing/2014/main" val="726802978"/>
                    </a:ext>
                  </a:extLst>
                </a:gridCol>
                <a:gridCol w="1248451">
                  <a:extLst>
                    <a:ext uri="{9D8B030D-6E8A-4147-A177-3AD203B41FA5}">
                      <a16:colId xmlns:a16="http://schemas.microsoft.com/office/drawing/2014/main" val="3790364652"/>
                    </a:ext>
                  </a:extLst>
                </a:gridCol>
                <a:gridCol w="1300163">
                  <a:extLst>
                    <a:ext uri="{9D8B030D-6E8A-4147-A177-3AD203B41FA5}">
                      <a16:colId xmlns:a16="http://schemas.microsoft.com/office/drawing/2014/main" val="2146953694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1695431126"/>
                    </a:ext>
                  </a:extLst>
                </a:gridCol>
                <a:gridCol w="1985963">
                  <a:extLst>
                    <a:ext uri="{9D8B030D-6E8A-4147-A177-3AD203B41FA5}">
                      <a16:colId xmlns:a16="http://schemas.microsoft.com/office/drawing/2014/main" val="3945688702"/>
                    </a:ext>
                  </a:extLst>
                </a:gridCol>
                <a:gridCol w="1771501">
                  <a:extLst>
                    <a:ext uri="{9D8B030D-6E8A-4147-A177-3AD203B41FA5}">
                      <a16:colId xmlns:a16="http://schemas.microsoft.com/office/drawing/2014/main" val="4027433022"/>
                    </a:ext>
                  </a:extLst>
                </a:gridCol>
              </a:tblGrid>
              <a:tr h="243134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place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76587"/>
                  </a:ext>
                </a:extLst>
              </a:tr>
              <a:tr h="255329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436140"/>
                  </a:ext>
                </a:extLst>
              </a:tr>
              <a:tr h="255329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219330"/>
                  </a:ext>
                </a:extLst>
              </a:tr>
              <a:tr h="437642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Merge-sort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312039"/>
                  </a:ext>
                </a:extLst>
              </a:tr>
              <a:tr h="437642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Quick-sort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608888"/>
                  </a:ext>
                </a:extLst>
              </a:tr>
              <a:tr h="255329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Heapsort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395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102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Assumption</a:t>
            </a:r>
            <a:r>
              <a:rPr lang="en-US" dirty="0"/>
              <a:t>. Keys are integers in [0, </a:t>
            </a:r>
            <a:r>
              <a:rPr lang="en-US" i="1" dirty="0"/>
              <a:t>R</a:t>
            </a:r>
            <a:r>
              <a:rPr lang="en-US" dirty="0"/>
              <a:t>-1].</a:t>
            </a:r>
          </a:p>
          <a:p>
            <a:r>
              <a:rPr lang="en-US" dirty="0">
                <a:highlight>
                  <a:srgbClr val="C0C0C0"/>
                </a:highlight>
              </a:rPr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Sort surnames by first letter only</a:t>
            </a:r>
          </a:p>
          <a:p>
            <a:pPr lvl="1"/>
            <a:r>
              <a:rPr lang="en-US" dirty="0"/>
              <a:t>Sort pupils by their class section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highlight>
                  <a:srgbClr val="C0C0C0"/>
                </a:highlight>
              </a:rPr>
              <a:t>Implication</a:t>
            </a:r>
            <a:r>
              <a:rPr lang="en-US" dirty="0"/>
              <a:t>. Because </a:t>
            </a:r>
            <a:r>
              <a:rPr lang="en-US" i="1" dirty="0"/>
              <a:t>R</a:t>
            </a:r>
            <a:r>
              <a:rPr lang="en-US" dirty="0"/>
              <a:t> is small, can use key itself as an array index.</a:t>
            </a:r>
          </a:p>
        </p:txBody>
      </p:sp>
    </p:spTree>
    <p:extLst>
      <p:ext uri="{BB962C8B-B14F-4D97-AF65-F5344CB8AC3E}">
        <p14:creationId xmlns:p14="http://schemas.microsoft.com/office/powerpoint/2010/main" val="3797168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Goal</a:t>
            </a:r>
            <a:r>
              <a:rPr lang="en-US" dirty="0"/>
              <a:t>. Sort an array </a:t>
            </a:r>
            <a:r>
              <a:rPr lang="en-US" dirty="0">
                <a:latin typeface="Courier" pitchFamily="2" charset="0"/>
              </a:rPr>
              <a:t>a[]</a:t>
            </a:r>
            <a:r>
              <a:rPr lang="en-US" dirty="0"/>
              <a:t> of </a:t>
            </a:r>
            <a:r>
              <a:rPr lang="en-US" i="1" dirty="0"/>
              <a:t>N</a:t>
            </a:r>
            <a:r>
              <a:rPr lang="en-US" dirty="0"/>
              <a:t> integers with values in </a:t>
            </a:r>
            <a:r>
              <a:rPr lang="en-US" i="1" dirty="0"/>
              <a:t>[0, R-1]</a:t>
            </a:r>
            <a:r>
              <a:rPr lang="en-US" dirty="0"/>
              <a:t>.</a:t>
            </a:r>
          </a:p>
          <a:p>
            <a:r>
              <a:rPr lang="en-US" dirty="0">
                <a:highlight>
                  <a:srgbClr val="C0C0C0"/>
                </a:highlight>
              </a:rPr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Count frequencies of each value in </a:t>
            </a:r>
            <a:r>
              <a:rPr lang="en-US" i="1" dirty="0"/>
              <a:t>R</a:t>
            </a:r>
            <a:r>
              <a:rPr lang="en-US" dirty="0"/>
              <a:t> using key as index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Compute frequency cumulates (to specify destinations)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Access cumulates using key as index and move items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Copy back into original array</a:t>
            </a:r>
          </a:p>
        </p:txBody>
      </p:sp>
    </p:spTree>
    <p:extLst>
      <p:ext uri="{BB962C8B-B14F-4D97-AF65-F5344CB8AC3E}">
        <p14:creationId xmlns:p14="http://schemas.microsoft.com/office/powerpoint/2010/main" val="149380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DBC534-2713-1842-AD6B-861B2425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155812"/>
              </p:ext>
            </p:extLst>
          </p:nvPr>
        </p:nvGraphicFramePr>
        <p:xfrm>
          <a:off x="1977981" y="1544596"/>
          <a:ext cx="1979657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257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D417DA-B863-FD4B-90E3-6405B6BDC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244758"/>
              </p:ext>
            </p:extLst>
          </p:nvPr>
        </p:nvGraphicFramePr>
        <p:xfrm>
          <a:off x="5106171" y="1546142"/>
          <a:ext cx="1979657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257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 OUTPUT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A8712B-D8ED-B64C-9661-1B2F6C773A49}"/>
              </a:ext>
            </a:extLst>
          </p:cNvPr>
          <p:cNvSpPr txBox="1"/>
          <p:nvPr/>
        </p:nvSpPr>
        <p:spPr>
          <a:xfrm>
            <a:off x="8147810" y="3152892"/>
            <a:ext cx="24673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Keys: integers in [0, 3]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A: 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B: 1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C: 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D: 3</a:t>
            </a:r>
          </a:p>
        </p:txBody>
      </p:sp>
    </p:spTree>
    <p:extLst>
      <p:ext uri="{BB962C8B-B14F-4D97-AF65-F5344CB8AC3E}">
        <p14:creationId xmlns:p14="http://schemas.microsoft.com/office/powerpoint/2010/main" val="451226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Demo. </a:t>
            </a:r>
            <a:r>
              <a:rPr lang="en-US" sz="2400" dirty="0"/>
              <a:t>Step 1: count frequencies of each value in </a:t>
            </a:r>
            <a:r>
              <a:rPr lang="en-US" sz="2400" i="1" dirty="0"/>
              <a:t>R</a:t>
            </a:r>
            <a:r>
              <a:rPr lang="en-US" sz="2400" dirty="0"/>
              <a:t> using key as index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DBC534-2713-1842-AD6B-861B2425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391812"/>
              </p:ext>
            </p:extLst>
          </p:nvPr>
        </p:nvGraphicFramePr>
        <p:xfrm>
          <a:off x="514866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72BE8B1-9A78-E44F-B192-E6501A50FABA}"/>
              </a:ext>
            </a:extLst>
          </p:cNvPr>
          <p:cNvSpPr txBox="1"/>
          <p:nvPr/>
        </p:nvSpPr>
        <p:spPr>
          <a:xfrm>
            <a:off x="3376581" y="2067266"/>
            <a:ext cx="47339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count = [0 for _ in range(R+1)] 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1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]+1]++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78B626-05DD-634B-A962-5DC3B36C1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98407"/>
              </p:ext>
            </p:extLst>
          </p:nvPr>
        </p:nvGraphicFramePr>
        <p:xfrm>
          <a:off x="8991695" y="2036911"/>
          <a:ext cx="171874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58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1098690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count[r]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18024"/>
                  </a:ext>
                </a:extLst>
              </a:tr>
            </a:tbl>
          </a:graphicData>
        </a:graphic>
      </p:graphicFrame>
      <p:grpSp>
        <p:nvGrpSpPr>
          <p:cNvPr id="28" name="Group 27" descr="highlighting use of count[] array">
            <a:extLst>
              <a:ext uri="{FF2B5EF4-FFF2-40B4-BE49-F238E27FC236}">
                <a16:creationId xmlns:a16="http://schemas.microsoft.com/office/drawing/2014/main" id="{DADF35EA-7059-824C-8E5E-D57A360D24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4652961" y="2271554"/>
            <a:ext cx="5391151" cy="2286000"/>
            <a:chOff x="4624387" y="2916060"/>
            <a:chExt cx="5391151" cy="228631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19EB949-E0C7-024D-A027-713853824D4D}"/>
                </a:ext>
              </a:extLst>
            </p:cNvPr>
            <p:cNvGrpSpPr/>
            <p:nvPr/>
          </p:nvGrpSpPr>
          <p:grpSpPr>
            <a:xfrm>
              <a:off x="9429750" y="3100388"/>
              <a:ext cx="585788" cy="1059785"/>
              <a:chOff x="9429750" y="3100388"/>
              <a:chExt cx="585788" cy="1059785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A6C7386-EF3E-324C-B67A-C0BB0E008304}"/>
                  </a:ext>
                </a:extLst>
              </p:cNvPr>
              <p:cNvCxnSpPr/>
              <p:nvPr/>
            </p:nvCxnSpPr>
            <p:spPr>
              <a:xfrm>
                <a:off x="9429750" y="3100388"/>
                <a:ext cx="585788" cy="21431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F280B49-69F4-0B47-8FEB-2B244CE9025B}"/>
                  </a:ext>
                </a:extLst>
              </p:cNvPr>
              <p:cNvCxnSpPr/>
              <p:nvPr/>
            </p:nvCxnSpPr>
            <p:spPr>
              <a:xfrm>
                <a:off x="9429750" y="3397221"/>
                <a:ext cx="585788" cy="21431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06684D1-700C-AE45-93C2-61CAC74F43BD}"/>
                  </a:ext>
                </a:extLst>
              </p:cNvPr>
              <p:cNvCxnSpPr/>
              <p:nvPr/>
            </p:nvCxnSpPr>
            <p:spPr>
              <a:xfrm>
                <a:off x="9429750" y="3671878"/>
                <a:ext cx="585788" cy="21431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C7B9E69-7A2B-5D45-ACA1-B92BED83CB1F}"/>
                  </a:ext>
                </a:extLst>
              </p:cNvPr>
              <p:cNvCxnSpPr/>
              <p:nvPr/>
            </p:nvCxnSpPr>
            <p:spPr>
              <a:xfrm>
                <a:off x="9429750" y="3945861"/>
                <a:ext cx="585788" cy="21431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9FCD74C-018B-2D4D-B143-500D8214DDDF}"/>
                </a:ext>
              </a:extLst>
            </p:cNvPr>
            <p:cNvSpPr/>
            <p:nvPr/>
          </p:nvSpPr>
          <p:spPr>
            <a:xfrm>
              <a:off x="6886574" y="2916060"/>
              <a:ext cx="571500" cy="48116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C5688C-50CF-B24B-8A9A-7DF7E76A0B34}"/>
                </a:ext>
              </a:extLst>
            </p:cNvPr>
            <p:cNvSpPr/>
            <p:nvPr/>
          </p:nvSpPr>
          <p:spPr>
            <a:xfrm>
              <a:off x="4624387" y="4074445"/>
              <a:ext cx="1119188" cy="40985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300C882-9453-FE40-BCE3-6CA6DD44862D}"/>
                </a:ext>
              </a:extLst>
            </p:cNvPr>
            <p:cNvGrpSpPr/>
            <p:nvPr/>
          </p:nvGrpSpPr>
          <p:grpSpPr>
            <a:xfrm>
              <a:off x="5743575" y="3397222"/>
              <a:ext cx="3971722" cy="1805154"/>
              <a:chOff x="5743575" y="3397222"/>
              <a:chExt cx="3971722" cy="180515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6BCFB1E-B77A-FB41-9BCE-3B9AC338B1E0}"/>
                  </a:ext>
                </a:extLst>
              </p:cNvPr>
              <p:cNvSpPr txBox="1"/>
              <p:nvPr/>
            </p:nvSpPr>
            <p:spPr>
              <a:xfrm>
                <a:off x="7431003" y="4833044"/>
                <a:ext cx="1244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offset by 1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15A55B7-58D9-EC4F-8B41-3A6E4ECBB914}"/>
                  </a:ext>
                </a:extLst>
              </p:cNvPr>
              <p:cNvCxnSpPr>
                <a:stCxn id="14" idx="0"/>
              </p:cNvCxnSpPr>
              <p:nvPr/>
            </p:nvCxnSpPr>
            <p:spPr>
              <a:xfrm flipH="1" flipV="1">
                <a:off x="5743575" y="4327337"/>
                <a:ext cx="2309875" cy="505707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9836EE28-7C99-6B48-9A3C-9D6BC58F3472}"/>
                  </a:ext>
                </a:extLst>
              </p:cNvPr>
              <p:cNvCxnSpPr>
                <a:cxnSpLocks/>
                <a:stCxn id="14" idx="0"/>
                <a:endCxn id="15" idx="4"/>
              </p:cNvCxnSpPr>
              <p:nvPr/>
            </p:nvCxnSpPr>
            <p:spPr>
              <a:xfrm flipH="1" flipV="1">
                <a:off x="7172324" y="3397222"/>
                <a:ext cx="881126" cy="1435822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6B70FFE-F5F6-1B49-B6E5-91D2873F4599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 flipV="1">
                <a:off x="8053450" y="4115133"/>
                <a:ext cx="1661847" cy="717911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035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Demo. </a:t>
            </a:r>
            <a:r>
              <a:rPr lang="en-US" sz="2400" dirty="0"/>
              <a:t>Step 2: compute frequency cumulates (to specify destinations)</a:t>
            </a: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9017167B-24FB-2B4D-89FA-F6E0F59A9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088572"/>
              </p:ext>
            </p:extLst>
          </p:nvPr>
        </p:nvGraphicFramePr>
        <p:xfrm>
          <a:off x="514866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3433F2C-8A0F-344D-98E0-63AD72759DB8}"/>
              </a:ext>
            </a:extLst>
          </p:cNvPr>
          <p:cNvSpPr txBox="1"/>
          <p:nvPr/>
        </p:nvSpPr>
        <p:spPr>
          <a:xfrm>
            <a:off x="3376581" y="2067266"/>
            <a:ext cx="542328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count = [0 for _ in range(R+1)] 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1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]+1]++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2</a:t>
            </a:r>
          </a:p>
          <a:p>
            <a:r>
              <a:rPr lang="en-US" dirty="0">
                <a:latin typeface="Courier" pitchFamily="2" charset="0"/>
              </a:rPr>
              <a:t>for r in range(0, R):</a:t>
            </a:r>
          </a:p>
          <a:p>
            <a:r>
              <a:rPr lang="en-US" dirty="0">
                <a:latin typeface="Courier" pitchFamily="2" charset="0"/>
              </a:rPr>
              <a:t>    count[r+1] = count[r]+ count[r+1]</a:t>
            </a:r>
          </a:p>
          <a:p>
            <a:endParaRPr lang="en-US" dirty="0">
              <a:latin typeface="Courier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6E18EE2-AB17-004A-B299-17F7F7F23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85181"/>
              </p:ext>
            </p:extLst>
          </p:nvPr>
        </p:nvGraphicFramePr>
        <p:xfrm>
          <a:off x="8991695" y="2036911"/>
          <a:ext cx="208111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87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1330331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count[r]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0+3=3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3+5=8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8+6=14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14+6=20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18024"/>
                  </a:ext>
                </a:extLst>
              </a:tr>
            </a:tbl>
          </a:graphicData>
        </a:graphic>
      </p:graphicFrame>
      <p:grpSp>
        <p:nvGrpSpPr>
          <p:cNvPr id="66" name="Group 65" descr="highlighing use of countp[ array.">
            <a:extLst>
              <a:ext uri="{FF2B5EF4-FFF2-40B4-BE49-F238E27FC236}">
                <a16:creationId xmlns:a16="http://schemas.microsoft.com/office/drawing/2014/main" id="{C1E5F2F6-4A41-8641-8098-E539758A2673}"/>
              </a:ext>
            </a:extLst>
          </p:cNvPr>
          <p:cNvGrpSpPr/>
          <p:nvPr/>
        </p:nvGrpSpPr>
        <p:grpSpPr>
          <a:xfrm>
            <a:off x="8143876" y="2814639"/>
            <a:ext cx="3850418" cy="3869275"/>
            <a:chOff x="8143876" y="2814639"/>
            <a:chExt cx="3850418" cy="386927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F1C863D-28D7-3D4D-BB69-FECCCF8DC0BF}"/>
                </a:ext>
              </a:extLst>
            </p:cNvPr>
            <p:cNvSpPr/>
            <p:nvPr/>
          </p:nvSpPr>
          <p:spPr>
            <a:xfrm>
              <a:off x="9135871" y="2814639"/>
              <a:ext cx="2081117" cy="3571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 descr="highlighting use of count array. count[r]: number of keys smaller than r (e.g., 8 keys smaller than C)&#13;&#10;&#13;&#10;first position available for an r key: count[r+1] (e.g., first position for a C key: 14)&#13;&#10;">
              <a:extLst>
                <a:ext uri="{FF2B5EF4-FFF2-40B4-BE49-F238E27FC236}">
                  <a16:creationId xmlns:a16="http://schemas.microsoft.com/office/drawing/2014/main" id="{151B7BE7-EEDE-B64B-9901-0FFF3B9AA1EE}"/>
                </a:ext>
              </a:extLst>
            </p:cNvPr>
            <p:cNvSpPr txBox="1"/>
            <p:nvPr/>
          </p:nvSpPr>
          <p:spPr>
            <a:xfrm>
              <a:off x="8143876" y="4929588"/>
              <a:ext cx="3850418" cy="17543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count[r]: number of keys smaller than r (e.g., 8 keys smaller than C)</a:t>
              </a: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first position available for an r key: count[r] (e.g., first position for a C key: 8)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DD7A6F1B-F1AE-D94B-970D-3198915D3E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2688" y="3171828"/>
              <a:ext cx="1" cy="17810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5921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Demo. </a:t>
            </a:r>
            <a:r>
              <a:rPr lang="en-US" sz="2400" dirty="0"/>
              <a:t>Step 3: access cumulates using key as index and move items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213276-C74D-3645-8893-C8ABE5D2B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1234"/>
              </p:ext>
            </p:extLst>
          </p:nvPr>
        </p:nvGraphicFramePr>
        <p:xfrm>
          <a:off x="514866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3433F2C-8A0F-344D-98E0-63AD72759DB8}"/>
              </a:ext>
            </a:extLst>
          </p:cNvPr>
          <p:cNvSpPr txBox="1"/>
          <p:nvPr/>
        </p:nvSpPr>
        <p:spPr>
          <a:xfrm>
            <a:off x="3376581" y="2067266"/>
            <a:ext cx="528542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count = [0 for _ in range(R+1)] 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1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]+1]++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2</a:t>
            </a:r>
          </a:p>
          <a:p>
            <a:r>
              <a:rPr lang="en-US" dirty="0">
                <a:latin typeface="Courier" pitchFamily="2" charset="0"/>
              </a:rPr>
              <a:t>for r in range(0, R):</a:t>
            </a:r>
          </a:p>
          <a:p>
            <a:r>
              <a:rPr lang="en-US" dirty="0">
                <a:latin typeface="Courier" pitchFamily="2" charset="0"/>
              </a:rPr>
              <a:t>    count[r+1] = count[r]+ count[r+1]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3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 (0, N):</a:t>
            </a:r>
          </a:p>
          <a:p>
            <a:r>
              <a:rPr lang="en-US" dirty="0">
                <a:latin typeface="Courier" pitchFamily="2" charset="0"/>
              </a:rPr>
              <a:t>   aux[count[a[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]]] =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  <a:p>
            <a:r>
              <a:rPr lang="en-US" dirty="0">
                <a:latin typeface="Courier" pitchFamily="2" charset="0"/>
              </a:rPr>
              <a:t>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]]++</a:t>
            </a:r>
          </a:p>
          <a:p>
            <a:endParaRPr lang="en-US" dirty="0">
              <a:latin typeface="Courier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6E18EE2-AB17-004A-B299-17F7F7F23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496190"/>
              </p:ext>
            </p:extLst>
          </p:nvPr>
        </p:nvGraphicFramePr>
        <p:xfrm>
          <a:off x="9826592" y="2122786"/>
          <a:ext cx="171166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50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1094164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count[r]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180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864B56-CC51-B540-A05D-683BBD2F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820605"/>
              </p:ext>
            </p:extLst>
          </p:nvPr>
        </p:nvGraphicFramePr>
        <p:xfrm>
          <a:off x="9480762" y="3633116"/>
          <a:ext cx="22182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36">
                  <a:extLst>
                    <a:ext uri="{9D8B030D-6E8A-4147-A177-3AD203B41FA5}">
                      <a16:colId xmlns:a16="http://schemas.microsoft.com/office/drawing/2014/main" val="1584738990"/>
                    </a:ext>
                  </a:extLst>
                </a:gridCol>
                <a:gridCol w="103852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833140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aux[]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108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Demo. </a:t>
            </a:r>
            <a:r>
              <a:rPr lang="en-US" sz="2400" dirty="0"/>
              <a:t>Step 3: access cumulates using key as index and move items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213276-C74D-3645-8893-C8ABE5D2B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772833"/>
              </p:ext>
            </p:extLst>
          </p:nvPr>
        </p:nvGraphicFramePr>
        <p:xfrm>
          <a:off x="514866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3433F2C-8A0F-344D-98E0-63AD72759DB8}"/>
              </a:ext>
            </a:extLst>
          </p:cNvPr>
          <p:cNvSpPr txBox="1"/>
          <p:nvPr/>
        </p:nvSpPr>
        <p:spPr>
          <a:xfrm>
            <a:off x="3376581" y="2067266"/>
            <a:ext cx="528542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count = [0 for _ in range(R+1)] 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1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]+1]++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2</a:t>
            </a:r>
          </a:p>
          <a:p>
            <a:r>
              <a:rPr lang="en-US" dirty="0">
                <a:latin typeface="Courier" pitchFamily="2" charset="0"/>
              </a:rPr>
              <a:t>for r in range(0, R):</a:t>
            </a:r>
          </a:p>
          <a:p>
            <a:r>
              <a:rPr lang="en-US" dirty="0">
                <a:latin typeface="Courier" pitchFamily="2" charset="0"/>
              </a:rPr>
              <a:t>    count[r+1] = count[r]+ count[r+1]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3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 (0, N):</a:t>
            </a:r>
          </a:p>
          <a:p>
            <a:r>
              <a:rPr lang="en-US" dirty="0">
                <a:latin typeface="Courier" pitchFamily="2" charset="0"/>
              </a:rPr>
              <a:t>   aux[count[a[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]]] =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  <a:p>
            <a:r>
              <a:rPr lang="en-US" dirty="0">
                <a:latin typeface="Courier" pitchFamily="2" charset="0"/>
              </a:rPr>
              <a:t>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]]++</a:t>
            </a:r>
          </a:p>
          <a:p>
            <a:endParaRPr lang="en-US" dirty="0">
              <a:latin typeface="Courier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6E18EE2-AB17-004A-B299-17F7F7F23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799012"/>
              </p:ext>
            </p:extLst>
          </p:nvPr>
        </p:nvGraphicFramePr>
        <p:xfrm>
          <a:off x="9826592" y="2122786"/>
          <a:ext cx="171166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50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1094164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count[r]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180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864B56-CC51-B540-A05D-683BBD2F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107155"/>
              </p:ext>
            </p:extLst>
          </p:nvPr>
        </p:nvGraphicFramePr>
        <p:xfrm>
          <a:off x="9480762" y="3633116"/>
          <a:ext cx="22182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36">
                  <a:extLst>
                    <a:ext uri="{9D8B030D-6E8A-4147-A177-3AD203B41FA5}">
                      <a16:colId xmlns:a16="http://schemas.microsoft.com/office/drawing/2014/main" val="1584738990"/>
                    </a:ext>
                  </a:extLst>
                </a:gridCol>
                <a:gridCol w="103852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833140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aux[]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837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Demo. </a:t>
            </a:r>
            <a:r>
              <a:rPr lang="en-US" sz="2400" dirty="0"/>
              <a:t>Step 3: access cumulates using key as index and move items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213276-C74D-3645-8893-C8ABE5D2B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754102"/>
              </p:ext>
            </p:extLst>
          </p:nvPr>
        </p:nvGraphicFramePr>
        <p:xfrm>
          <a:off x="514866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3433F2C-8A0F-344D-98E0-63AD72759DB8}"/>
              </a:ext>
            </a:extLst>
          </p:cNvPr>
          <p:cNvSpPr txBox="1"/>
          <p:nvPr/>
        </p:nvSpPr>
        <p:spPr>
          <a:xfrm>
            <a:off x="3376581" y="2067266"/>
            <a:ext cx="528542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count = [0 for _ in range(R+1)] 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1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]+1]++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2</a:t>
            </a:r>
          </a:p>
          <a:p>
            <a:r>
              <a:rPr lang="en-US" dirty="0">
                <a:latin typeface="Courier" pitchFamily="2" charset="0"/>
              </a:rPr>
              <a:t>for r in range(0, R):</a:t>
            </a:r>
          </a:p>
          <a:p>
            <a:r>
              <a:rPr lang="en-US" dirty="0">
                <a:latin typeface="Courier" pitchFamily="2" charset="0"/>
              </a:rPr>
              <a:t>    count[r+1] = count[r]+ count[r+1]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3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 (0, N):</a:t>
            </a:r>
          </a:p>
          <a:p>
            <a:r>
              <a:rPr lang="en-US" dirty="0">
                <a:latin typeface="Courier" pitchFamily="2" charset="0"/>
              </a:rPr>
              <a:t>   aux[count[a[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]]] =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  <a:p>
            <a:r>
              <a:rPr lang="en-US" dirty="0">
                <a:latin typeface="Courier" pitchFamily="2" charset="0"/>
              </a:rPr>
              <a:t>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]]++</a:t>
            </a:r>
          </a:p>
          <a:p>
            <a:endParaRPr lang="en-US" dirty="0">
              <a:latin typeface="Courier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6E18EE2-AB17-004A-B299-17F7F7F23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88783"/>
              </p:ext>
            </p:extLst>
          </p:nvPr>
        </p:nvGraphicFramePr>
        <p:xfrm>
          <a:off x="9826592" y="2122786"/>
          <a:ext cx="171166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50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1094164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count[r]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180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864B56-CC51-B540-A05D-683BBD2F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076526"/>
              </p:ext>
            </p:extLst>
          </p:nvPr>
        </p:nvGraphicFramePr>
        <p:xfrm>
          <a:off x="9480762" y="3633116"/>
          <a:ext cx="22182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36">
                  <a:extLst>
                    <a:ext uri="{9D8B030D-6E8A-4147-A177-3AD203B41FA5}">
                      <a16:colId xmlns:a16="http://schemas.microsoft.com/office/drawing/2014/main" val="1584738990"/>
                    </a:ext>
                  </a:extLst>
                </a:gridCol>
                <a:gridCol w="103852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833140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aux[]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396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Demo. </a:t>
            </a:r>
            <a:r>
              <a:rPr lang="en-US" sz="2400" dirty="0"/>
              <a:t>Step 3: access cumulates using key as index and move items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213276-C74D-3645-8893-C8ABE5D2B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733662"/>
              </p:ext>
            </p:extLst>
          </p:nvPr>
        </p:nvGraphicFramePr>
        <p:xfrm>
          <a:off x="514866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3433F2C-8A0F-344D-98E0-63AD72759DB8}"/>
              </a:ext>
            </a:extLst>
          </p:cNvPr>
          <p:cNvSpPr txBox="1"/>
          <p:nvPr/>
        </p:nvSpPr>
        <p:spPr>
          <a:xfrm>
            <a:off x="3376581" y="2067266"/>
            <a:ext cx="528542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count = [0 for _ in range(R+1)] 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1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]+1]++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2</a:t>
            </a:r>
          </a:p>
          <a:p>
            <a:r>
              <a:rPr lang="en-US" dirty="0">
                <a:latin typeface="Courier" pitchFamily="2" charset="0"/>
              </a:rPr>
              <a:t>for r in range(0, R):</a:t>
            </a:r>
          </a:p>
          <a:p>
            <a:r>
              <a:rPr lang="en-US" dirty="0">
                <a:latin typeface="Courier" pitchFamily="2" charset="0"/>
              </a:rPr>
              <a:t>    count[r+1] = count[r]+ count[r+1]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3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 (0, N):</a:t>
            </a:r>
          </a:p>
          <a:p>
            <a:r>
              <a:rPr lang="en-US" dirty="0">
                <a:latin typeface="Courier" pitchFamily="2" charset="0"/>
              </a:rPr>
              <a:t>   aux[count[a[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]]] =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  <a:p>
            <a:r>
              <a:rPr lang="en-US" dirty="0">
                <a:latin typeface="Courier" pitchFamily="2" charset="0"/>
              </a:rPr>
              <a:t>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]]++</a:t>
            </a:r>
          </a:p>
          <a:p>
            <a:endParaRPr lang="en-US" dirty="0">
              <a:latin typeface="Courier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6E18EE2-AB17-004A-B299-17F7F7F23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225469"/>
              </p:ext>
            </p:extLst>
          </p:nvPr>
        </p:nvGraphicFramePr>
        <p:xfrm>
          <a:off x="9826592" y="2122786"/>
          <a:ext cx="171166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50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1094164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count[r]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7646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6900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180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864B56-CC51-B540-A05D-683BBD2F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68469"/>
              </p:ext>
            </p:extLst>
          </p:nvPr>
        </p:nvGraphicFramePr>
        <p:xfrm>
          <a:off x="9480762" y="3633116"/>
          <a:ext cx="22182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36">
                  <a:extLst>
                    <a:ext uri="{9D8B030D-6E8A-4147-A177-3AD203B41FA5}">
                      <a16:colId xmlns:a16="http://schemas.microsoft.com/office/drawing/2014/main" val="1584738990"/>
                    </a:ext>
                  </a:extLst>
                </a:gridCol>
                <a:gridCol w="1038522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833140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aux[]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265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F08-7038-CC40-AA67-7FF9C007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D942-9C2D-E145-8EE6-22B97E1C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Demo. </a:t>
            </a:r>
            <a:r>
              <a:rPr lang="en-US" sz="2400" dirty="0"/>
              <a:t>Step 4: copy back into original array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213276-C74D-3645-8893-C8ABE5D2B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84953"/>
              </p:ext>
            </p:extLst>
          </p:nvPr>
        </p:nvGraphicFramePr>
        <p:xfrm>
          <a:off x="514866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3433F2C-8A0F-344D-98E0-63AD72759DB8}"/>
              </a:ext>
            </a:extLst>
          </p:cNvPr>
          <p:cNvSpPr txBox="1"/>
          <p:nvPr/>
        </p:nvSpPr>
        <p:spPr>
          <a:xfrm>
            <a:off x="3376581" y="2067266"/>
            <a:ext cx="528542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count = [0 for _ in range(R+1)] 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1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]+1]++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2</a:t>
            </a:r>
          </a:p>
          <a:p>
            <a:r>
              <a:rPr lang="en-US" dirty="0">
                <a:latin typeface="Courier" pitchFamily="2" charset="0"/>
              </a:rPr>
              <a:t>for r in range(0, R):</a:t>
            </a:r>
          </a:p>
          <a:p>
            <a:r>
              <a:rPr lang="en-US" dirty="0">
                <a:latin typeface="Courier" pitchFamily="2" charset="0"/>
              </a:rPr>
              <a:t>    count[r+1] = count[r]+ count[r+1]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3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 (0, N):</a:t>
            </a:r>
          </a:p>
          <a:p>
            <a:r>
              <a:rPr lang="en-US" dirty="0">
                <a:latin typeface="Courier" pitchFamily="2" charset="0"/>
              </a:rPr>
              <a:t>   aux[count[a[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]]] =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  <a:p>
            <a:r>
              <a:rPr lang="en-US" dirty="0">
                <a:latin typeface="Courier" pitchFamily="2" charset="0"/>
              </a:rPr>
              <a:t>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]]++</a:t>
            </a:r>
          </a:p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# Step 4</a:t>
            </a:r>
          </a:p>
          <a:p>
            <a:r>
              <a:rPr lang="en-US" dirty="0">
                <a:latin typeface="Courier" pitchFamily="2" charset="0"/>
              </a:rPr>
              <a:t>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 (0, N):</a:t>
            </a:r>
          </a:p>
          <a:p>
            <a:r>
              <a:rPr lang="en-US" dirty="0">
                <a:latin typeface="Courier" pitchFamily="2" charset="0"/>
              </a:rPr>
              <a:t>  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]=aux[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2C97EA-7FD7-9F47-A35C-655D431F4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357748"/>
              </p:ext>
            </p:extLst>
          </p:nvPr>
        </p:nvGraphicFramePr>
        <p:xfrm>
          <a:off x="9544060" y="2064066"/>
          <a:ext cx="21330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710">
                  <a:extLst>
                    <a:ext uri="{9D8B030D-6E8A-4147-A177-3AD203B41FA5}">
                      <a16:colId xmlns:a16="http://schemas.microsoft.com/office/drawing/2014/main" val="93419199"/>
                    </a:ext>
                  </a:extLst>
                </a:gridCol>
                <a:gridCol w="1149794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640571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aux[]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085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491E-6403-0C4E-8AF9-3EAF08D1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</a:t>
            </a:r>
            <a:r>
              <a:rPr lang="en-US" dirty="0" err="1"/>
              <a:t>INDEXed</a:t>
            </a:r>
            <a:r>
              <a:rPr lang="en-US" dirty="0"/>
              <a:t>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16934-C9B1-1E44-BF29-883424ADA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Analysis</a:t>
            </a:r>
          </a:p>
          <a:p>
            <a:pPr lvl="1"/>
            <a:r>
              <a:rPr lang="en-US" dirty="0"/>
              <a:t>Time ~ N+R</a:t>
            </a:r>
          </a:p>
          <a:p>
            <a:pPr lvl="1"/>
            <a:r>
              <a:rPr lang="en-US" dirty="0"/>
              <a:t>Space ~ N+R</a:t>
            </a:r>
          </a:p>
          <a:p>
            <a:pPr lvl="1"/>
            <a:r>
              <a:rPr lang="en-US" dirty="0"/>
              <a:t>Not in place</a:t>
            </a:r>
          </a:p>
          <a:p>
            <a:pPr lvl="1"/>
            <a:r>
              <a:rPr lang="en-US" dirty="0"/>
              <a:t>Stable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055346-3507-1741-B91E-7F1D43F07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743046"/>
              </p:ext>
            </p:extLst>
          </p:nvPr>
        </p:nvGraphicFramePr>
        <p:xfrm>
          <a:off x="3957763" y="2064066"/>
          <a:ext cx="19796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09">
                  <a:extLst>
                    <a:ext uri="{9D8B030D-6E8A-4147-A177-3AD203B41FA5}">
                      <a16:colId xmlns:a16="http://schemas.microsoft.com/office/drawing/2014/main" val="2919062616"/>
                    </a:ext>
                  </a:extLst>
                </a:gridCol>
                <a:gridCol w="1071349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594499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587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/ 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/ 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/ 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587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/ 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18D466-9446-C74E-93D2-847D28DBC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502362"/>
              </p:ext>
            </p:extLst>
          </p:nvPr>
        </p:nvGraphicFramePr>
        <p:xfrm>
          <a:off x="7358072" y="2124334"/>
          <a:ext cx="21330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710">
                  <a:extLst>
                    <a:ext uri="{9D8B030D-6E8A-4147-A177-3AD203B41FA5}">
                      <a16:colId xmlns:a16="http://schemas.microsoft.com/office/drawing/2014/main" val="93419199"/>
                    </a:ext>
                  </a:extLst>
                </a:gridCol>
                <a:gridCol w="1149794">
                  <a:extLst>
                    <a:ext uri="{9D8B030D-6E8A-4147-A177-3AD203B41FA5}">
                      <a16:colId xmlns:a16="http://schemas.microsoft.com/office/drawing/2014/main" val="4053341882"/>
                    </a:ext>
                  </a:extLst>
                </a:gridCol>
                <a:gridCol w="640571">
                  <a:extLst>
                    <a:ext uri="{9D8B030D-6E8A-4147-A177-3AD203B41FA5}">
                      <a16:colId xmlns:a16="http://schemas.microsoft.com/office/drawing/2014/main" val="3938321715"/>
                    </a:ext>
                  </a:extLst>
                </a:gridCol>
              </a:tblGrid>
              <a:tr h="203866"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aux[]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831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274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562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Moore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894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Anderson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59331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Martinez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797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Miller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7434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Robinson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9862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0596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891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175199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1973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7199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0652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0357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1844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35163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68257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Thomas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23665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59870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65680"/>
                  </a:ext>
                </a:extLst>
              </a:tr>
            </a:tbl>
          </a:graphicData>
        </a:graphic>
      </p:graphicFrame>
      <p:grpSp>
        <p:nvGrpSpPr>
          <p:cNvPr id="20" name="Group 19" descr="arrows showing where items move (no crossing)">
            <a:extLst>
              <a:ext uri="{FF2B5EF4-FFF2-40B4-BE49-F238E27FC236}">
                <a16:creationId xmlns:a16="http://schemas.microsoft.com/office/drawing/2014/main" id="{D49C74B8-D5C7-B541-8347-439528EEE097}"/>
              </a:ext>
            </a:extLst>
          </p:cNvPr>
          <p:cNvGrpSpPr/>
          <p:nvPr/>
        </p:nvGrpSpPr>
        <p:grpSpPr>
          <a:xfrm>
            <a:off x="5880261" y="2371725"/>
            <a:ext cx="1420652" cy="3614739"/>
            <a:chOff x="5880261" y="2371725"/>
            <a:chExt cx="1420652" cy="361473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7F15FA7-700C-F842-9BBC-24DC543DF461}"/>
                </a:ext>
              </a:extLst>
            </p:cNvPr>
            <p:cNvCxnSpPr/>
            <p:nvPr/>
          </p:nvCxnSpPr>
          <p:spPr>
            <a:xfrm>
              <a:off x="5937420" y="2371725"/>
              <a:ext cx="1363493" cy="7143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1079C2-1B96-C64D-8EEB-1CF6886C089D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5937420" y="3314700"/>
              <a:ext cx="1363493" cy="9896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A1C1DC0-45D3-3045-A1EA-0BBE7E04D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261" y="3543300"/>
              <a:ext cx="1420652" cy="96176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68DC964-534C-EE46-A39A-1AD0E8304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261" y="4024183"/>
              <a:ext cx="1420652" cy="196228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CF09061-C161-CC4A-A7B2-FCD0BE354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261" y="3771423"/>
              <a:ext cx="1420652" cy="119084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 descr="arrows showing where items move (no crossing)">
            <a:extLst>
              <a:ext uri="{FF2B5EF4-FFF2-40B4-BE49-F238E27FC236}">
                <a16:creationId xmlns:a16="http://schemas.microsoft.com/office/drawing/2014/main" id="{7B5E9782-9FCE-7F4B-9BCB-93F34BE44D3D}"/>
              </a:ext>
            </a:extLst>
          </p:cNvPr>
          <p:cNvGrpSpPr/>
          <p:nvPr/>
        </p:nvGrpSpPr>
        <p:grpSpPr>
          <a:xfrm>
            <a:off x="5861220" y="2471738"/>
            <a:ext cx="1439693" cy="2257425"/>
            <a:chOff x="5861220" y="2471738"/>
            <a:chExt cx="1439693" cy="2257425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086F4B8-4EF4-3941-A330-DF836D9F4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261" y="2471738"/>
              <a:ext cx="1420652" cy="7667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64D38E9-3574-BD4B-ADC0-713E44259F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261" y="2714561"/>
              <a:ext cx="1420652" cy="133845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144BE4E-C5D0-C14D-B633-71B361AD4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1220" y="2980116"/>
              <a:ext cx="1439693" cy="174904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 descr="arrows showing where items move (no crossing)">
            <a:extLst>
              <a:ext uri="{FF2B5EF4-FFF2-40B4-BE49-F238E27FC236}">
                <a16:creationId xmlns:a16="http://schemas.microsoft.com/office/drawing/2014/main" id="{7DF3C330-E9E6-A043-8251-45C680673ABE}"/>
              </a:ext>
            </a:extLst>
          </p:cNvPr>
          <p:cNvGrpSpPr/>
          <p:nvPr/>
        </p:nvGrpSpPr>
        <p:grpSpPr>
          <a:xfrm>
            <a:off x="5880261" y="2571247"/>
            <a:ext cx="1439693" cy="3667977"/>
            <a:chOff x="5880261" y="2571247"/>
            <a:chExt cx="1439693" cy="366797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5F9E9E8-B47D-DC48-9C04-2AC0B94C629C}"/>
                </a:ext>
              </a:extLst>
            </p:cNvPr>
            <p:cNvGrpSpPr/>
            <p:nvPr/>
          </p:nvGrpSpPr>
          <p:grpSpPr>
            <a:xfrm>
              <a:off x="5899302" y="2571247"/>
              <a:ext cx="1420652" cy="2766317"/>
              <a:chOff x="5899302" y="2571247"/>
              <a:chExt cx="1420652" cy="2766317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68E2EE9-42A9-3A41-8713-449A2AE5C6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7420" y="2571247"/>
                <a:ext cx="1382534" cy="158330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F14022A-5644-8547-B274-9B0EB198C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7900" y="2833817"/>
                <a:ext cx="1373013" cy="153079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60EFFA9-168E-6F44-80CF-5E97B56EE1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302" y="3459378"/>
                <a:ext cx="1401611" cy="113335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48A38E4-6ACA-A043-8BD7-834F27283B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302" y="3875177"/>
                <a:ext cx="1401611" cy="88264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F978B99-105E-5648-85CD-EFA02DB49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99302" y="5005323"/>
                <a:ext cx="1401611" cy="33224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ACFB4FC-2C18-AA47-85E7-668863896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261" y="5248633"/>
              <a:ext cx="1420652" cy="99059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 descr="arrows showing where items move (no crossing)">
            <a:extLst>
              <a:ext uri="{FF2B5EF4-FFF2-40B4-BE49-F238E27FC236}">
                <a16:creationId xmlns:a16="http://schemas.microsoft.com/office/drawing/2014/main" id="{3E1A380C-764B-0947-BADE-E06E0FFE0562}"/>
              </a:ext>
            </a:extLst>
          </p:cNvPr>
          <p:cNvGrpSpPr/>
          <p:nvPr/>
        </p:nvGrpSpPr>
        <p:grpSpPr>
          <a:xfrm>
            <a:off x="5889782" y="3016219"/>
            <a:ext cx="1430172" cy="3466315"/>
            <a:chOff x="5889782" y="3016219"/>
            <a:chExt cx="1430172" cy="3466315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42AD013-122E-E54D-BA97-DE0755402C84}"/>
                </a:ext>
              </a:extLst>
            </p:cNvPr>
            <p:cNvCxnSpPr>
              <a:cxnSpLocks/>
            </p:cNvCxnSpPr>
            <p:nvPr/>
          </p:nvCxnSpPr>
          <p:spPr>
            <a:xfrm>
              <a:off x="5889782" y="3016219"/>
              <a:ext cx="1430172" cy="24406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A3D5961-ED2B-AD4A-9445-D374CDA04060}"/>
                </a:ext>
              </a:extLst>
            </p:cNvPr>
            <p:cNvCxnSpPr>
              <a:cxnSpLocks/>
            </p:cNvCxnSpPr>
            <p:nvPr/>
          </p:nvCxnSpPr>
          <p:spPr>
            <a:xfrm>
              <a:off x="5899302" y="3696526"/>
              <a:ext cx="1420652" cy="194661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15BBECF-4042-994A-A0AD-8751A5107FD8}"/>
                </a:ext>
              </a:extLst>
            </p:cNvPr>
            <p:cNvCxnSpPr>
              <a:cxnSpLocks/>
            </p:cNvCxnSpPr>
            <p:nvPr/>
          </p:nvCxnSpPr>
          <p:spPr>
            <a:xfrm>
              <a:off x="5899302" y="5171443"/>
              <a:ext cx="1401611" cy="68559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FEB7AB5-B41B-4348-A5C5-C8A7FDB881AF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61" y="5580874"/>
              <a:ext cx="1382552" cy="4657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4247C15-97E5-4348-8522-C1706A1A0D75}"/>
                </a:ext>
              </a:extLst>
            </p:cNvPr>
            <p:cNvCxnSpPr>
              <a:cxnSpLocks/>
            </p:cNvCxnSpPr>
            <p:nvPr/>
          </p:nvCxnSpPr>
          <p:spPr>
            <a:xfrm>
              <a:off x="5899302" y="5818280"/>
              <a:ext cx="1401611" cy="47170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430036B-831C-464A-A134-D98F6A6CE70B}"/>
                </a:ext>
              </a:extLst>
            </p:cNvPr>
            <p:cNvCxnSpPr>
              <a:cxnSpLocks/>
            </p:cNvCxnSpPr>
            <p:nvPr/>
          </p:nvCxnSpPr>
          <p:spPr>
            <a:xfrm>
              <a:off x="5889782" y="6414361"/>
              <a:ext cx="1411131" cy="6817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354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  <a:p>
            <a:r>
              <a:rPr lang="en-US" dirty="0">
                <a:highlight>
                  <a:srgbClr val="C0C0C0"/>
                </a:highlight>
              </a:rPr>
              <a:t>String sorting algorithms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Key-indexed counting</a:t>
            </a:r>
          </a:p>
          <a:p>
            <a:pPr lvl="1"/>
            <a:r>
              <a:rPr lang="en-US" dirty="0"/>
              <a:t>LSD radix sort</a:t>
            </a:r>
          </a:p>
          <a:p>
            <a:pPr lvl="1"/>
            <a:r>
              <a:rPr lang="en-US" dirty="0"/>
              <a:t>MSD radix sort</a:t>
            </a:r>
          </a:p>
        </p:txBody>
      </p:sp>
    </p:spTree>
    <p:extLst>
      <p:ext uri="{BB962C8B-B14F-4D97-AF65-F5344CB8AC3E}">
        <p14:creationId xmlns:p14="http://schemas.microsoft.com/office/powerpoint/2010/main" val="2238475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  <a:p>
            <a:r>
              <a:rPr lang="en-US" dirty="0"/>
              <a:t>String sorting algorithms</a:t>
            </a:r>
          </a:p>
          <a:p>
            <a:pPr lvl="1"/>
            <a:r>
              <a:rPr lang="en-US" dirty="0"/>
              <a:t>Key-indexed counting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LSD radix sort</a:t>
            </a:r>
          </a:p>
          <a:p>
            <a:pPr lvl="1"/>
            <a:r>
              <a:rPr lang="en-US" dirty="0"/>
              <a:t>MSD radix sort</a:t>
            </a:r>
          </a:p>
        </p:txBody>
      </p:sp>
    </p:spTree>
    <p:extLst>
      <p:ext uri="{BB962C8B-B14F-4D97-AF65-F5344CB8AC3E}">
        <p14:creationId xmlns:p14="http://schemas.microsoft.com/office/powerpoint/2010/main" val="161590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Least-significant-digit first string (radix) sort</a:t>
            </a:r>
          </a:p>
          <a:p>
            <a:r>
              <a:rPr lang="en-US" dirty="0">
                <a:highlight>
                  <a:srgbClr val="C0C0C0"/>
                </a:highlight>
              </a:rPr>
              <a:t>Assumption</a:t>
            </a:r>
            <a:r>
              <a:rPr lang="en-US" dirty="0"/>
              <a:t>. Keys all have the same (small) length </a:t>
            </a:r>
            <a:r>
              <a:rPr lang="en-US" i="1" dirty="0"/>
              <a:t>D</a:t>
            </a:r>
          </a:p>
          <a:p>
            <a:r>
              <a:rPr lang="en-US" dirty="0">
                <a:highlight>
                  <a:srgbClr val="C0C0C0"/>
                </a:highlight>
              </a:rPr>
              <a:t>Basic idea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Consider each character in turn, from right to left</a:t>
            </a:r>
          </a:p>
          <a:p>
            <a:pPr lvl="1"/>
            <a:r>
              <a:rPr lang="en-US" dirty="0"/>
              <a:t>At each pass, use key-indexed counting on </a:t>
            </a:r>
            <a:r>
              <a:rPr lang="en-US" i="1" dirty="0" err="1"/>
              <a:t>d</a:t>
            </a:r>
            <a:r>
              <a:rPr lang="en-US" i="1" baseline="30000" dirty="0" err="1"/>
              <a:t>th</a:t>
            </a:r>
            <a:r>
              <a:rPr lang="en-US" dirty="0"/>
              <a:t> character to sort (stably)</a:t>
            </a:r>
          </a:p>
        </p:txBody>
      </p:sp>
    </p:spTree>
    <p:extLst>
      <p:ext uri="{BB962C8B-B14F-4D97-AF65-F5344CB8AC3E}">
        <p14:creationId xmlns:p14="http://schemas.microsoft.com/office/powerpoint/2010/main" val="248755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N=12, D = 3, R = 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D05D31-7C6C-D147-9BC4-83A548A1D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91370"/>
              </p:ext>
            </p:extLst>
          </p:nvPr>
        </p:nvGraphicFramePr>
        <p:xfrm>
          <a:off x="829190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BECF0C-7FD0-4F48-890B-CF1467CF5FCA}"/>
              </a:ext>
            </a:extLst>
          </p:cNvPr>
          <p:cNvSpPr txBox="1"/>
          <p:nvPr/>
        </p:nvSpPr>
        <p:spPr>
          <a:xfrm>
            <a:off x="1558162" y="217925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AE1B5E-956A-6A42-893C-961D8BFF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220215"/>
              </p:ext>
            </p:extLst>
          </p:nvPr>
        </p:nvGraphicFramePr>
        <p:xfrm>
          <a:off x="3374684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3BB22C-FCB2-324A-9B15-8E3213F0A4B0}"/>
              </a:ext>
            </a:extLst>
          </p:cNvPr>
          <p:cNvSpPr txBox="1"/>
          <p:nvPr/>
        </p:nvSpPr>
        <p:spPr>
          <a:xfrm>
            <a:off x="3560138" y="2111034"/>
            <a:ext cx="177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Key-indexed counting on d=2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E99CF5-4726-674C-9BE4-CA971CFF6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613584"/>
              </p:ext>
            </p:extLst>
          </p:nvPr>
        </p:nvGraphicFramePr>
        <p:xfrm>
          <a:off x="5877600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C15AC8-1C48-5041-A488-8F2000B54791}"/>
              </a:ext>
            </a:extLst>
          </p:cNvPr>
          <p:cNvSpPr txBox="1"/>
          <p:nvPr/>
        </p:nvSpPr>
        <p:spPr>
          <a:xfrm>
            <a:off x="6063054" y="2111034"/>
            <a:ext cx="177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Key-indexed counting on d=1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E112ED-44B9-4C40-B3EB-5911EE59F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752908"/>
              </p:ext>
            </p:extLst>
          </p:nvPr>
        </p:nvGraphicFramePr>
        <p:xfrm>
          <a:off x="8430301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59D0A38-D6CB-3A43-9079-72F2B259A548}"/>
              </a:ext>
            </a:extLst>
          </p:cNvPr>
          <p:cNvSpPr txBox="1"/>
          <p:nvPr/>
        </p:nvSpPr>
        <p:spPr>
          <a:xfrm>
            <a:off x="8615755" y="2111034"/>
            <a:ext cx="177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Key-indexed counting on d=0</a:t>
            </a:r>
          </a:p>
        </p:txBody>
      </p:sp>
    </p:spTree>
    <p:extLst>
      <p:ext uri="{BB962C8B-B14F-4D97-AF65-F5344CB8AC3E}">
        <p14:creationId xmlns:p14="http://schemas.microsoft.com/office/powerpoint/2010/main" val="232954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Properties</a:t>
            </a:r>
          </a:p>
          <a:p>
            <a:pPr lvl="1"/>
            <a:r>
              <a:rPr lang="en-US" dirty="0"/>
              <a:t>At each pass </a:t>
            </a:r>
            <a:r>
              <a:rPr lang="en-US" i="1" dirty="0"/>
              <a:t>d: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if two strings differ on the sorting character, key-indexed sort puts them in proper relative order</a:t>
            </a:r>
          </a:p>
          <a:p>
            <a:pPr lvl="2"/>
            <a:r>
              <a:rPr lang="en-US" dirty="0"/>
              <a:t>If two strings agree on the sorting character, stability keeps them in relative order</a:t>
            </a:r>
          </a:p>
          <a:p>
            <a:pPr lvl="1"/>
            <a:r>
              <a:rPr lang="en-US" dirty="0"/>
              <a:t>After pass </a:t>
            </a:r>
            <a:r>
              <a:rPr lang="en-US" i="1" dirty="0"/>
              <a:t>d</a:t>
            </a:r>
            <a:r>
              <a:rPr lang="en-US" dirty="0"/>
              <a:t>, strings are sorted by </a:t>
            </a:r>
            <a:r>
              <a:rPr lang="en-US" dirty="0">
                <a:solidFill>
                  <a:schemeClr val="accent5"/>
                </a:solidFill>
              </a:rPr>
              <a:t>last </a:t>
            </a:r>
            <a:r>
              <a:rPr lang="en-US" i="1" dirty="0">
                <a:solidFill>
                  <a:schemeClr val="accent5"/>
                </a:solidFill>
              </a:rPr>
              <a:t>d</a:t>
            </a:r>
            <a:r>
              <a:rPr lang="en-US" dirty="0">
                <a:solidFill>
                  <a:schemeClr val="accent5"/>
                </a:solidFill>
              </a:rPr>
              <a:t> characters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271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893D6-1DAB-C344-BE06-069F8C54D00E}"/>
              </a:ext>
            </a:extLst>
          </p:cNvPr>
          <p:cNvSpPr txBox="1"/>
          <p:nvPr/>
        </p:nvSpPr>
        <p:spPr>
          <a:xfrm>
            <a:off x="1827728" y="2152913"/>
            <a:ext cx="6526146" cy="4524315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LSDsort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(a, W):</a:t>
            </a:r>
          </a:p>
          <a:p>
            <a:r>
              <a:rPr lang="en-US" dirty="0">
                <a:latin typeface="Courier" pitchFamily="2" charset="0"/>
              </a:rPr>
              <a:t>    N =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(a)</a:t>
            </a:r>
          </a:p>
          <a:p>
            <a:r>
              <a:rPr lang="en-US" dirty="0">
                <a:latin typeface="Courier" pitchFamily="2" charset="0"/>
              </a:rPr>
              <a:t>    for d in range (W-1, 0, -1):</a:t>
            </a:r>
          </a:p>
          <a:p>
            <a:r>
              <a:rPr lang="en-US" dirty="0">
                <a:latin typeface="Courier" pitchFamily="2" charset="0"/>
              </a:rPr>
              <a:t>        count = [0 for _ in range(R+1)] 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       # Steps 1-4 of key-indexed counting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       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    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][d]+1]++</a:t>
            </a:r>
          </a:p>
          <a:p>
            <a:r>
              <a:rPr lang="en-US" dirty="0">
                <a:latin typeface="Courier" pitchFamily="2" charset="0"/>
              </a:rPr>
              <a:t>        for r in range (0, R):</a:t>
            </a:r>
          </a:p>
          <a:p>
            <a:r>
              <a:rPr lang="en-US" dirty="0">
                <a:latin typeface="Courier" pitchFamily="2" charset="0"/>
              </a:rPr>
              <a:t>            count[r+1] = count[r+1] + count[r]</a:t>
            </a:r>
          </a:p>
          <a:p>
            <a:r>
              <a:rPr lang="en-US" dirty="0">
                <a:latin typeface="Courier" pitchFamily="2" charset="0"/>
              </a:rPr>
              <a:t>        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 (0, N):</a:t>
            </a:r>
          </a:p>
          <a:p>
            <a:r>
              <a:rPr lang="en-US" dirty="0">
                <a:latin typeface="Courier" pitchFamily="2" charset="0"/>
              </a:rPr>
              <a:t>            aux[count[a[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][d]]] =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  <a:p>
            <a:r>
              <a:rPr lang="en-US" dirty="0">
                <a:latin typeface="Courier" pitchFamily="2" charset="0"/>
              </a:rPr>
              <a:t>            count[a[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][d]]++ </a:t>
            </a:r>
          </a:p>
          <a:p>
            <a:r>
              <a:rPr lang="en-US" dirty="0">
                <a:latin typeface="Courier" pitchFamily="2" charset="0"/>
              </a:rPr>
              <a:t>        for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in range(0, N):</a:t>
            </a:r>
          </a:p>
          <a:p>
            <a:r>
              <a:rPr lang="en-US" dirty="0">
                <a:latin typeface="Courier" pitchFamily="2" charset="0"/>
              </a:rPr>
              <a:t>            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= aux[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</a:p>
        </p:txBody>
      </p:sp>
      <p:grpSp>
        <p:nvGrpSpPr>
          <p:cNvPr id="32" name="Group 31" descr="highlighting parameters W (fixed lentgh of strings), N (siza of input) and R (radix)">
            <a:extLst>
              <a:ext uri="{FF2B5EF4-FFF2-40B4-BE49-F238E27FC236}">
                <a16:creationId xmlns:a16="http://schemas.microsoft.com/office/drawing/2014/main" id="{F9EA0152-DF24-1F4C-801C-7357F5700457}"/>
              </a:ext>
            </a:extLst>
          </p:cNvPr>
          <p:cNvGrpSpPr/>
          <p:nvPr/>
        </p:nvGrpSpPr>
        <p:grpSpPr>
          <a:xfrm>
            <a:off x="348245" y="1578567"/>
            <a:ext cx="11257451" cy="2773763"/>
            <a:chOff x="348245" y="1578567"/>
            <a:chExt cx="11257451" cy="27737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13AE58-4DE9-EC48-8240-8EA6AE8F1BB6}"/>
                </a:ext>
              </a:extLst>
            </p:cNvPr>
            <p:cNvSpPr txBox="1"/>
            <p:nvPr/>
          </p:nvSpPr>
          <p:spPr>
            <a:xfrm>
              <a:off x="5199516" y="1578567"/>
              <a:ext cx="2450351" cy="369332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W: fixed length strings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00D587-AFC5-5E4B-AF8E-706E558055E2}"/>
                </a:ext>
              </a:extLst>
            </p:cNvPr>
            <p:cNvSpPr txBox="1"/>
            <p:nvPr/>
          </p:nvSpPr>
          <p:spPr>
            <a:xfrm>
              <a:off x="8792105" y="2360162"/>
              <a:ext cx="2813591" cy="369332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R: radix (size of alphabet)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60CFEE-9992-3047-8E93-7D70CAAC6B99}"/>
                </a:ext>
              </a:extLst>
            </p:cNvPr>
            <p:cNvSpPr txBox="1"/>
            <p:nvPr/>
          </p:nvSpPr>
          <p:spPr>
            <a:xfrm>
              <a:off x="348245" y="3429000"/>
              <a:ext cx="1328946" cy="92333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N: number of strings to sort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5DECB52-425D-5245-AF36-73390E27C852}"/>
                </a:ext>
              </a:extLst>
            </p:cNvPr>
            <p:cNvSpPr/>
            <p:nvPr/>
          </p:nvSpPr>
          <p:spPr>
            <a:xfrm>
              <a:off x="3910107" y="2091924"/>
              <a:ext cx="285750" cy="487923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C1F02A8-A925-EE4D-A218-E5E0FE3B51F8}"/>
                </a:ext>
              </a:extLst>
            </p:cNvPr>
            <p:cNvSpPr/>
            <p:nvPr/>
          </p:nvSpPr>
          <p:spPr>
            <a:xfrm>
              <a:off x="2321031" y="2468023"/>
              <a:ext cx="438231" cy="261471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B2B7B9A-A59A-8B4E-9FC5-D46018F83733}"/>
                </a:ext>
              </a:extLst>
            </p:cNvPr>
            <p:cNvSpPr/>
            <p:nvPr/>
          </p:nvSpPr>
          <p:spPr>
            <a:xfrm>
              <a:off x="6477297" y="2912942"/>
              <a:ext cx="285750" cy="487923"/>
            </a:xfrm>
            <a:prstGeom prst="roundRect">
              <a:avLst/>
            </a:prstGeom>
            <a:solidFill>
              <a:schemeClr val="accent5"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B48EF5A-7009-DF45-9630-BB7A5465B80C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4216748" y="1763233"/>
              <a:ext cx="982768" cy="44472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195D8B7-E8A4-2D4F-A567-B42D042AD978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6763045" y="2544828"/>
              <a:ext cx="2029060" cy="454304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BDD72A-56E9-334E-B8C3-05959E9EB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3050" y="2729494"/>
              <a:ext cx="806558" cy="799037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2441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Cost:</a:t>
            </a:r>
          </a:p>
          <a:p>
            <a:pPr lvl="1"/>
            <a:r>
              <a:rPr lang="en-US" dirty="0"/>
              <a:t>Time  ~ W * (N+R)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i="1" dirty="0">
                <a:sym typeface="Wingdings" pitchFamily="2" charset="2"/>
              </a:rPr>
              <a:t>O</a:t>
            </a:r>
            <a:r>
              <a:rPr lang="en-US" dirty="0">
                <a:sym typeface="Wingdings" pitchFamily="2" charset="2"/>
              </a:rPr>
              <a:t>(N)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Space ~ (N + R)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i="1" dirty="0">
                <a:sym typeface="Wingdings" pitchFamily="2" charset="2"/>
              </a:rPr>
              <a:t>O</a:t>
            </a:r>
            <a:r>
              <a:rPr lang="en-US" dirty="0">
                <a:sym typeface="Wingdings" pitchFamily="2" charset="2"/>
              </a:rPr>
              <a:t>(N)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7974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  <a:p>
            <a:r>
              <a:rPr lang="en-US" dirty="0"/>
              <a:t>String sorting algorithms</a:t>
            </a:r>
          </a:p>
          <a:p>
            <a:pPr lvl="1"/>
            <a:r>
              <a:rPr lang="en-US" dirty="0"/>
              <a:t>Key-indexed counting</a:t>
            </a:r>
          </a:p>
          <a:p>
            <a:pPr lvl="1"/>
            <a:r>
              <a:rPr lang="en-US" dirty="0"/>
              <a:t>LSD radix sort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MSD radix sort</a:t>
            </a:r>
          </a:p>
        </p:txBody>
      </p:sp>
    </p:spTree>
    <p:extLst>
      <p:ext uri="{BB962C8B-B14F-4D97-AF65-F5344CB8AC3E}">
        <p14:creationId xmlns:p14="http://schemas.microsoft.com/office/powerpoint/2010/main" val="2693174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6E53-D21A-A649-A073-930D0210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1A371-E2CD-4F43-B6BE-7A4B621F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Most-significant-digit first string (radix) sort</a:t>
            </a:r>
          </a:p>
          <a:p>
            <a:r>
              <a:rPr lang="en-US" dirty="0">
                <a:highlight>
                  <a:srgbClr val="C0C0C0"/>
                </a:highlight>
              </a:rPr>
              <a:t>Basic idea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Partition input into </a:t>
            </a:r>
            <a:r>
              <a:rPr lang="en-US" i="1" dirty="0"/>
              <a:t>R</a:t>
            </a:r>
            <a:r>
              <a:rPr lang="en-US" dirty="0"/>
              <a:t> pieces according to first character (use key-indexed counting to sort)</a:t>
            </a:r>
          </a:p>
          <a:p>
            <a:pPr lvl="1"/>
            <a:r>
              <a:rPr lang="en-US" dirty="0"/>
              <a:t>Recursively sort all strings that start with the same character </a:t>
            </a:r>
          </a:p>
          <a:p>
            <a:pPr lvl="1"/>
            <a:r>
              <a:rPr lang="en-US" i="1" dirty="0">
                <a:solidFill>
                  <a:schemeClr val="accent5"/>
                </a:solidFill>
              </a:rPr>
              <a:t>Note: key-indexed counts delineate sub-partitions to sort</a:t>
            </a:r>
          </a:p>
        </p:txBody>
      </p:sp>
    </p:spTree>
    <p:extLst>
      <p:ext uri="{BB962C8B-B14F-4D97-AF65-F5344CB8AC3E}">
        <p14:creationId xmlns:p14="http://schemas.microsoft.com/office/powerpoint/2010/main" val="2660776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N=12, </a:t>
            </a:r>
            <a:r>
              <a:rPr lang="en-US" dirty="0" err="1"/>
              <a:t>D</a:t>
            </a:r>
            <a:r>
              <a:rPr lang="en-US" baseline="-25000" dirty="0" err="1"/>
              <a:t>max</a:t>
            </a:r>
            <a:r>
              <a:rPr lang="en-US" dirty="0"/>
              <a:t> = 3, R =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ECF0C-7FD0-4F48-890B-CF1467CF5FCA}"/>
              </a:ext>
            </a:extLst>
          </p:cNvPr>
          <p:cNvSpPr txBox="1"/>
          <p:nvPr/>
        </p:nvSpPr>
        <p:spPr>
          <a:xfrm>
            <a:off x="902510" y="2365901"/>
            <a:ext cx="22637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 input strings to sort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D05D31-7C6C-D147-9BC4-83A548A1D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75627"/>
              </p:ext>
            </p:extLst>
          </p:nvPr>
        </p:nvGraphicFramePr>
        <p:xfrm>
          <a:off x="829190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3BB22C-FCB2-324A-9B15-8E3213F0A4B0}"/>
              </a:ext>
            </a:extLst>
          </p:cNvPr>
          <p:cNvSpPr txBox="1"/>
          <p:nvPr/>
        </p:nvSpPr>
        <p:spPr>
          <a:xfrm>
            <a:off x="3177480" y="2165660"/>
            <a:ext cx="2535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Partition via key-indexed counting on d=0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AE1B5E-956A-6A42-893C-961D8BFF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100020"/>
              </p:ext>
            </p:extLst>
          </p:nvPr>
        </p:nvGraphicFramePr>
        <p:xfrm>
          <a:off x="3374684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5A6449-8F35-ED40-B1A4-2D0D8C4C435D}"/>
              </a:ext>
            </a:extLst>
          </p:cNvPr>
          <p:cNvSpPr txBox="1"/>
          <p:nvPr/>
        </p:nvSpPr>
        <p:spPr>
          <a:xfrm>
            <a:off x="5741918" y="3046424"/>
            <a:ext cx="1343446" cy="33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count[]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AC6A308-83CD-2941-89D0-0AF1B4A5A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702951"/>
              </p:ext>
            </p:extLst>
          </p:nvPr>
        </p:nvGraphicFramePr>
        <p:xfrm>
          <a:off x="5713342" y="3418830"/>
          <a:ext cx="1116083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218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88865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/ 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/ 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/ 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/ 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/ 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/ F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1116"/>
                  </a:ext>
                </a:extLst>
              </a:tr>
            </a:tbl>
          </a:graphicData>
        </a:graphic>
      </p:graphicFrame>
      <p:grpSp>
        <p:nvGrpSpPr>
          <p:cNvPr id="34" name="Group 33" descr="arrows showing where count[i] points in partition">
            <a:extLst>
              <a:ext uri="{FF2B5EF4-FFF2-40B4-BE49-F238E27FC236}">
                <a16:creationId xmlns:a16="http://schemas.microsoft.com/office/drawing/2014/main" id="{4EEDEEE7-674D-B841-815C-52640F97AEA3}"/>
              </a:ext>
            </a:extLst>
          </p:cNvPr>
          <p:cNvGrpSpPr/>
          <p:nvPr/>
        </p:nvGrpSpPr>
        <p:grpSpPr>
          <a:xfrm>
            <a:off x="6818588" y="2317629"/>
            <a:ext cx="2082526" cy="3030244"/>
            <a:chOff x="6818588" y="2317629"/>
            <a:chExt cx="2082526" cy="3030244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1C25571-7475-964E-8E45-9A85A03D8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3495" y="2317629"/>
              <a:ext cx="2067619" cy="1271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D3F297F-C717-ED40-9EA1-3DC68EE7B6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425" y="2949188"/>
              <a:ext cx="2071689" cy="94095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72405D6-A082-2C49-9F93-25A7F4364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425" y="3929803"/>
              <a:ext cx="2060852" cy="24385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3AF0A0E-44FD-F849-B91D-7DAF7F5ECC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0193" y="4317933"/>
              <a:ext cx="2060084" cy="16121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18E05BE-FF7C-534C-BD84-E680C19795A9}"/>
                </a:ext>
              </a:extLst>
            </p:cNvPr>
            <p:cNvCxnSpPr>
              <a:cxnSpLocks/>
            </p:cNvCxnSpPr>
            <p:nvPr/>
          </p:nvCxnSpPr>
          <p:spPr>
            <a:xfrm>
              <a:off x="6818588" y="4763353"/>
              <a:ext cx="2082526" cy="22233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07788F8-A13F-A842-883B-C4F4AE298319}"/>
                </a:ext>
              </a:extLst>
            </p:cNvPr>
            <p:cNvCxnSpPr>
              <a:cxnSpLocks/>
            </p:cNvCxnSpPr>
            <p:nvPr/>
          </p:nvCxnSpPr>
          <p:spPr>
            <a:xfrm>
              <a:off x="6839251" y="5086374"/>
              <a:ext cx="2051026" cy="2614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A5231B7-7D49-2D41-9762-8569B786C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848988"/>
              </p:ext>
            </p:extLst>
          </p:nvPr>
        </p:nvGraphicFramePr>
        <p:xfrm>
          <a:off x="8744463" y="2128133"/>
          <a:ext cx="1771136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AE7D9DB-C449-B846-891C-B6E5399EE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570818"/>
              </p:ext>
            </p:extLst>
          </p:nvPr>
        </p:nvGraphicFramePr>
        <p:xfrm>
          <a:off x="8744463" y="2798355"/>
          <a:ext cx="17711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BEE116C-3EFA-FC41-AA13-B8A49902D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4564"/>
              </p:ext>
            </p:extLst>
          </p:nvPr>
        </p:nvGraphicFramePr>
        <p:xfrm>
          <a:off x="8744463" y="3777650"/>
          <a:ext cx="177113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35F2F06-3289-C949-84F0-22381F5DE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649052"/>
              </p:ext>
            </p:extLst>
          </p:nvPr>
        </p:nvGraphicFramePr>
        <p:xfrm>
          <a:off x="8744463" y="4153753"/>
          <a:ext cx="1771136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999FC24-4570-D849-B9CE-1CE887263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74093"/>
              </p:ext>
            </p:extLst>
          </p:nvPr>
        </p:nvGraphicFramePr>
        <p:xfrm>
          <a:off x="8744463" y="4822352"/>
          <a:ext cx="177113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090D23-6B2A-744A-8EDF-7EC63F517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404306"/>
              </p:ext>
            </p:extLst>
          </p:nvPr>
        </p:nvGraphicFramePr>
        <p:xfrm>
          <a:off x="8744463" y="5186151"/>
          <a:ext cx="17711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44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N=12, </a:t>
            </a:r>
            <a:r>
              <a:rPr lang="en-US" dirty="0" err="1"/>
              <a:t>D</a:t>
            </a:r>
            <a:r>
              <a:rPr lang="en-US" baseline="-25000" dirty="0" err="1"/>
              <a:t>max</a:t>
            </a:r>
            <a:r>
              <a:rPr lang="en-US" dirty="0"/>
              <a:t> = 3, R =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ECF0C-7FD0-4F48-890B-CF1467CF5FCA}"/>
              </a:ext>
            </a:extLst>
          </p:cNvPr>
          <p:cNvSpPr txBox="1"/>
          <p:nvPr/>
        </p:nvSpPr>
        <p:spPr>
          <a:xfrm>
            <a:off x="902510" y="2365901"/>
            <a:ext cx="22637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 input strings to sort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D05D31-7C6C-D147-9BC4-83A548A1D5F7}"/>
              </a:ext>
            </a:extLst>
          </p:cNvPr>
          <p:cNvGraphicFramePr>
            <a:graphicFrameLocks noGrp="1"/>
          </p:cNvGraphicFramePr>
          <p:nvPr/>
        </p:nvGraphicFramePr>
        <p:xfrm>
          <a:off x="829190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3BB22C-FCB2-324A-9B15-8E3213F0A4B0}"/>
              </a:ext>
            </a:extLst>
          </p:cNvPr>
          <p:cNvSpPr txBox="1"/>
          <p:nvPr/>
        </p:nvSpPr>
        <p:spPr>
          <a:xfrm>
            <a:off x="3177480" y="2165660"/>
            <a:ext cx="2535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Partition via key-indexed counting on d=0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AE1B5E-956A-6A42-893C-961D8BFF5F3D}"/>
              </a:ext>
            </a:extLst>
          </p:cNvPr>
          <p:cNvGraphicFramePr>
            <a:graphicFrameLocks noGrp="1"/>
          </p:cNvGraphicFramePr>
          <p:nvPr/>
        </p:nvGraphicFramePr>
        <p:xfrm>
          <a:off x="3374684" y="2750435"/>
          <a:ext cx="177113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5A6449-8F35-ED40-B1A4-2D0D8C4C435D}"/>
              </a:ext>
            </a:extLst>
          </p:cNvPr>
          <p:cNvSpPr txBox="1"/>
          <p:nvPr/>
        </p:nvSpPr>
        <p:spPr>
          <a:xfrm>
            <a:off x="5741918" y="3046424"/>
            <a:ext cx="1343446" cy="33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count[]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AC6A308-83CD-2941-89D0-0AF1B4A5AD94}"/>
              </a:ext>
            </a:extLst>
          </p:cNvPr>
          <p:cNvGraphicFramePr>
            <a:graphicFrameLocks noGrp="1"/>
          </p:cNvGraphicFramePr>
          <p:nvPr/>
        </p:nvGraphicFramePr>
        <p:xfrm>
          <a:off x="5713342" y="3418830"/>
          <a:ext cx="1116083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218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88865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/ 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/ 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/ 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/ 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/ 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/ F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1116"/>
                  </a:ext>
                </a:extLst>
              </a:tr>
            </a:tbl>
          </a:graphicData>
        </a:graphic>
      </p:graphicFrame>
      <p:grpSp>
        <p:nvGrpSpPr>
          <p:cNvPr id="34" name="Group 33" descr="arrow showing where count[] point in partition">
            <a:extLst>
              <a:ext uri="{FF2B5EF4-FFF2-40B4-BE49-F238E27FC236}">
                <a16:creationId xmlns:a16="http://schemas.microsoft.com/office/drawing/2014/main" id="{4EEDEEE7-674D-B841-815C-52640F97AEA3}"/>
              </a:ext>
            </a:extLst>
          </p:cNvPr>
          <p:cNvGrpSpPr/>
          <p:nvPr/>
        </p:nvGrpSpPr>
        <p:grpSpPr>
          <a:xfrm>
            <a:off x="6818588" y="2351702"/>
            <a:ext cx="2082526" cy="3069846"/>
            <a:chOff x="6818588" y="2351702"/>
            <a:chExt cx="2082526" cy="306984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1C25571-7475-964E-8E45-9A85A03D8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3495" y="2351702"/>
              <a:ext cx="2067619" cy="123743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D3F297F-C717-ED40-9EA1-3DC68EE7B6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425" y="2995808"/>
              <a:ext cx="2071689" cy="8943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72405D6-A082-2C49-9F93-25A7F4364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9251" y="4052068"/>
              <a:ext cx="2051026" cy="1479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3AF0A0E-44FD-F849-B91D-7DAF7F5ECC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0193" y="4429986"/>
              <a:ext cx="2060084" cy="49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18E05BE-FF7C-534C-BD84-E680C19795A9}"/>
                </a:ext>
              </a:extLst>
            </p:cNvPr>
            <p:cNvCxnSpPr>
              <a:cxnSpLocks/>
            </p:cNvCxnSpPr>
            <p:nvPr/>
          </p:nvCxnSpPr>
          <p:spPr>
            <a:xfrm>
              <a:off x="6818588" y="4763353"/>
              <a:ext cx="2071689" cy="3076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07788F8-A13F-A842-883B-C4F4AE298319}"/>
                </a:ext>
              </a:extLst>
            </p:cNvPr>
            <p:cNvCxnSpPr>
              <a:cxnSpLocks/>
            </p:cNvCxnSpPr>
            <p:nvPr/>
          </p:nvCxnSpPr>
          <p:spPr>
            <a:xfrm>
              <a:off x="6839251" y="5086374"/>
              <a:ext cx="2051026" cy="33517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A5231B7-7D49-2D41-9762-8569B786C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493438"/>
              </p:ext>
            </p:extLst>
          </p:nvPr>
        </p:nvGraphicFramePr>
        <p:xfrm>
          <a:off x="8744463" y="2171057"/>
          <a:ext cx="1771136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18538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95635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AE7D9DB-C449-B846-891C-B6E5399EE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724997"/>
              </p:ext>
            </p:extLst>
          </p:nvPr>
        </p:nvGraphicFramePr>
        <p:xfrm>
          <a:off x="8744463" y="2856855"/>
          <a:ext cx="17711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1689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0261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594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BEE116C-3EFA-FC41-AA13-B8A49902D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85149"/>
              </p:ext>
            </p:extLst>
          </p:nvPr>
        </p:nvGraphicFramePr>
        <p:xfrm>
          <a:off x="8744463" y="3862192"/>
          <a:ext cx="177113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2984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35F2F06-3289-C949-84F0-22381F5DE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781214"/>
              </p:ext>
            </p:extLst>
          </p:nvPr>
        </p:nvGraphicFramePr>
        <p:xfrm>
          <a:off x="8738736" y="4240458"/>
          <a:ext cx="1771136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79044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1157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999FC24-4570-D849-B9CE-1CE887263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344582"/>
              </p:ext>
            </p:extLst>
          </p:nvPr>
        </p:nvGraphicFramePr>
        <p:xfrm>
          <a:off x="8738736" y="4918606"/>
          <a:ext cx="177113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6484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090D23-6B2A-744A-8EDF-7EC63F517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431223"/>
              </p:ext>
            </p:extLst>
          </p:nvPr>
        </p:nvGraphicFramePr>
        <p:xfrm>
          <a:off x="8738736" y="5299426"/>
          <a:ext cx="17711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84">
                  <a:extLst>
                    <a:ext uri="{9D8B030D-6E8A-4147-A177-3AD203B41FA5}">
                      <a16:colId xmlns:a16="http://schemas.microsoft.com/office/drawing/2014/main" val="1087957023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1405291557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3504870"/>
                    </a:ext>
                  </a:extLst>
                </a:gridCol>
                <a:gridCol w="442784">
                  <a:extLst>
                    <a:ext uri="{9D8B030D-6E8A-4147-A177-3AD203B41FA5}">
                      <a16:colId xmlns:a16="http://schemas.microsoft.com/office/drawing/2014/main" val="3743635270"/>
                    </a:ext>
                  </a:extLst>
                </a:gridCol>
              </a:tblGrid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6270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13332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8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548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B3F2-4172-5A4D-B7B5-B90D9DCC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D166-9331-FA44-852D-8CF2C685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893D6-1DAB-C344-BE06-069F8C54D00E}"/>
              </a:ext>
            </a:extLst>
          </p:cNvPr>
          <p:cNvSpPr txBox="1"/>
          <p:nvPr/>
        </p:nvSpPr>
        <p:spPr>
          <a:xfrm>
            <a:off x="1092984" y="2148109"/>
            <a:ext cx="9688871" cy="4524315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MSDsort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(a, aux, lo, hi, d):</a:t>
            </a:r>
          </a:p>
          <a:p>
            <a:r>
              <a:rPr lang="en-US" sz="1600" dirty="0">
                <a:latin typeface="Courier" pitchFamily="2" charset="0"/>
              </a:rPr>
              <a:t>    if (hi &lt;= lo) return</a:t>
            </a:r>
          </a:p>
          <a:p>
            <a:r>
              <a:rPr lang="en-US" sz="1600" dirty="0">
                <a:latin typeface="Courier" pitchFamily="2" charset="0"/>
              </a:rPr>
              <a:t>    count = [0 for _ in range(R+2)] 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# Steps 1-4 of key-indexed counting, now performed on each (sub)partition</a:t>
            </a:r>
          </a:p>
          <a:p>
            <a:r>
              <a:rPr lang="en-US" sz="1600" dirty="0">
                <a:latin typeface="Courier" pitchFamily="2" charset="0"/>
              </a:rPr>
              <a:t>    for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in range(</a:t>
            </a:r>
            <a:r>
              <a:rPr lang="en-US" sz="1600" b="1" dirty="0">
                <a:solidFill>
                  <a:srgbClr val="C00000"/>
                </a:solidFill>
                <a:latin typeface="Courier" pitchFamily="2" charset="0"/>
              </a:rPr>
              <a:t>lo, hi</a:t>
            </a:r>
            <a:r>
              <a:rPr lang="en-US" sz="1600" dirty="0">
                <a:latin typeface="Courier" pitchFamily="2" charset="0"/>
              </a:rPr>
              <a:t>):</a:t>
            </a:r>
          </a:p>
          <a:p>
            <a:r>
              <a:rPr lang="en-US" sz="1600" dirty="0">
                <a:latin typeface="Courier" pitchFamily="2" charset="0"/>
              </a:rPr>
              <a:t>        count[a[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][d]+2]++</a:t>
            </a:r>
          </a:p>
          <a:p>
            <a:r>
              <a:rPr lang="en-US" sz="1600" dirty="0">
                <a:latin typeface="Courier" pitchFamily="2" charset="0"/>
              </a:rPr>
              <a:t>    for r in range (0, R+1):</a:t>
            </a:r>
          </a:p>
          <a:p>
            <a:r>
              <a:rPr lang="en-US" sz="1600" dirty="0">
                <a:latin typeface="Courier" pitchFamily="2" charset="0"/>
              </a:rPr>
              <a:t>        count[r+1] = count[r+1] + count[r]</a:t>
            </a:r>
          </a:p>
          <a:p>
            <a:r>
              <a:rPr lang="en-US" sz="1600" dirty="0">
                <a:latin typeface="Courier" pitchFamily="2" charset="0"/>
              </a:rPr>
              <a:t>    for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in range (</a:t>
            </a:r>
            <a:r>
              <a:rPr lang="en-US" sz="1600" b="1" dirty="0">
                <a:solidFill>
                  <a:srgbClr val="C00000"/>
                </a:solidFill>
                <a:latin typeface="Courier" pitchFamily="2" charset="0"/>
              </a:rPr>
              <a:t>lo, hi</a:t>
            </a:r>
            <a:r>
              <a:rPr lang="en-US" sz="1600" dirty="0">
                <a:latin typeface="Courier" pitchFamily="2" charset="0"/>
              </a:rPr>
              <a:t>):</a:t>
            </a:r>
          </a:p>
          <a:p>
            <a:r>
              <a:rPr lang="en-US" sz="1600" dirty="0">
                <a:latin typeface="Courier" pitchFamily="2" charset="0"/>
              </a:rPr>
              <a:t>         aux[count[a[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][d]+1]] = a[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</a:t>
            </a:r>
          </a:p>
          <a:p>
            <a:r>
              <a:rPr lang="en-US" sz="1600" dirty="0">
                <a:latin typeface="Courier" pitchFamily="2" charset="0"/>
              </a:rPr>
              <a:t>         count[a[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][d]+1]++ </a:t>
            </a:r>
          </a:p>
          <a:p>
            <a:r>
              <a:rPr lang="en-US" sz="1600" dirty="0">
                <a:latin typeface="Courier" pitchFamily="2" charset="0"/>
              </a:rPr>
              <a:t>    for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in range(</a:t>
            </a:r>
            <a:r>
              <a:rPr lang="en-US" sz="1600" b="1" dirty="0">
                <a:solidFill>
                  <a:srgbClr val="C00000"/>
                </a:solidFill>
                <a:latin typeface="Courier" pitchFamily="2" charset="0"/>
              </a:rPr>
              <a:t>lo, hi</a:t>
            </a:r>
            <a:r>
              <a:rPr lang="en-US" sz="1600" dirty="0">
                <a:latin typeface="Courier" pitchFamily="2" charset="0"/>
              </a:rPr>
              <a:t>):</a:t>
            </a:r>
          </a:p>
          <a:p>
            <a:r>
              <a:rPr lang="en-US" sz="1600" dirty="0">
                <a:latin typeface="Courier" pitchFamily="2" charset="0"/>
              </a:rPr>
              <a:t>         a[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 = aux[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-lo]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# Sort R sub-partition recursively</a:t>
            </a:r>
          </a:p>
          <a:p>
            <a:r>
              <a:rPr lang="en-US" sz="1600" dirty="0">
                <a:latin typeface="Courier" pitchFamily="2" charset="0"/>
              </a:rPr>
              <a:t>    for r in range(0, R):</a:t>
            </a:r>
          </a:p>
          <a:p>
            <a:r>
              <a:rPr lang="en-US" sz="1600" dirty="0">
                <a:latin typeface="Courier" pitchFamily="2" charset="0"/>
              </a:rPr>
              <a:t>        sort(a, aux, lo + count[r], lo + count[r+1] - 1, d+1)</a:t>
            </a:r>
          </a:p>
        </p:txBody>
      </p:sp>
      <p:grpSp>
        <p:nvGrpSpPr>
          <p:cNvPr id="20" name="Group 19" descr="first recursive call is ">
            <a:extLst>
              <a:ext uri="{FF2B5EF4-FFF2-40B4-BE49-F238E27FC236}">
                <a16:creationId xmlns:a16="http://schemas.microsoft.com/office/drawing/2014/main" id="{22951A20-431C-344E-A6E5-7AD93E060C10}"/>
              </a:ext>
            </a:extLst>
          </p:cNvPr>
          <p:cNvGrpSpPr/>
          <p:nvPr/>
        </p:nvGrpSpPr>
        <p:grpSpPr>
          <a:xfrm>
            <a:off x="4986338" y="1544596"/>
            <a:ext cx="6341150" cy="733643"/>
            <a:chOff x="2304657" y="1552357"/>
            <a:chExt cx="6341150" cy="733643"/>
          </a:xfrm>
        </p:grpSpPr>
        <p:sp>
          <p:nvSpPr>
            <p:cNvPr id="6" name="TextBox 5" descr="first recursive call is sort(a, aux, 0, len(a), 0)">
              <a:extLst>
                <a:ext uri="{FF2B5EF4-FFF2-40B4-BE49-F238E27FC236}">
                  <a16:creationId xmlns:a16="http://schemas.microsoft.com/office/drawing/2014/main" id="{B313AE58-4DE9-EC48-8240-8EA6AE8F1BB6}"/>
                </a:ext>
              </a:extLst>
            </p:cNvPr>
            <p:cNvSpPr txBox="1"/>
            <p:nvPr/>
          </p:nvSpPr>
          <p:spPr>
            <a:xfrm>
              <a:off x="3889377" y="1552357"/>
              <a:ext cx="4756430" cy="369332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First call: </a:t>
              </a:r>
              <a:r>
                <a:rPr lang="en-US" dirty="0">
                  <a:latin typeface="Courier" pitchFamily="2" charset="0"/>
                  <a:cs typeface="Arial" panose="020B0604020202020204" pitchFamily="34" charset="0"/>
                </a:rPr>
                <a:t>sort(a, aux, 0, </a:t>
              </a:r>
              <a:r>
                <a:rPr lang="en-US" dirty="0" err="1">
                  <a:latin typeface="Courier" pitchFamily="2" charset="0"/>
                  <a:cs typeface="Arial" panose="020B0604020202020204" pitchFamily="34" charset="0"/>
                </a:rPr>
                <a:t>len</a:t>
              </a:r>
              <a:r>
                <a:rPr lang="en-US" dirty="0">
                  <a:latin typeface="Courier" pitchFamily="2" charset="0"/>
                  <a:cs typeface="Arial" panose="020B0604020202020204" pitchFamily="34" charset="0"/>
                </a:rPr>
                <a:t>(a), 0)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B48EF5A-7009-DF45-9630-BB7A5465B80C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2304657" y="1737023"/>
              <a:ext cx="1584720" cy="548977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 descr="Using R+2 to cater for end-of-string char">
            <a:extLst>
              <a:ext uri="{FF2B5EF4-FFF2-40B4-BE49-F238E27FC236}">
                <a16:creationId xmlns:a16="http://schemas.microsoft.com/office/drawing/2014/main" id="{05BF197A-EF88-D24D-ABA1-3C5A2190C0BB}"/>
              </a:ext>
            </a:extLst>
          </p:cNvPr>
          <p:cNvGrpSpPr/>
          <p:nvPr/>
        </p:nvGrpSpPr>
        <p:grpSpPr>
          <a:xfrm>
            <a:off x="5243514" y="2327754"/>
            <a:ext cx="4968284" cy="369332"/>
            <a:chOff x="5243514" y="2327754"/>
            <a:chExt cx="4968284" cy="369332"/>
          </a:xfrm>
        </p:grpSpPr>
        <p:sp>
          <p:nvSpPr>
            <p:cNvPr id="18" name="TextBox 17" descr="Using R+2 to cater for end-of-string char">
              <a:extLst>
                <a:ext uri="{FF2B5EF4-FFF2-40B4-BE49-F238E27FC236}">
                  <a16:creationId xmlns:a16="http://schemas.microsoft.com/office/drawing/2014/main" id="{5E3FDA5A-92E1-2744-9DE6-DAFAF2D60FC7}"/>
                </a:ext>
              </a:extLst>
            </p:cNvPr>
            <p:cNvSpPr txBox="1"/>
            <p:nvPr/>
          </p:nvSpPr>
          <p:spPr>
            <a:xfrm>
              <a:off x="6571058" y="2327754"/>
              <a:ext cx="3640740" cy="369332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+2 (to cater for end-of-string char)</a:t>
              </a:r>
              <a:endParaRPr lang="en-US" dirty="0">
                <a:latin typeface="Courier" pitchFamily="2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6FAE81F-DE8A-2649-A90A-574AB21CD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3514" y="2512420"/>
              <a:ext cx="1327544" cy="184666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6309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55BE-60C0-5B4F-B93B-BD1BC31D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MSD 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7BF9-D52E-8846-8017-3EF86F4D6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Cost:</a:t>
            </a:r>
            <a:r>
              <a:rPr lang="en-US" dirty="0"/>
              <a:t> depends on number of characters to be examined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pPr lvl="1"/>
            <a:endParaRPr lang="en-US" dirty="0"/>
          </a:p>
          <a:p>
            <a:pPr lvl="1"/>
            <a:r>
              <a:rPr lang="en-US" dirty="0">
                <a:highlight>
                  <a:srgbClr val="C0C0C0"/>
                </a:highlight>
              </a:rPr>
              <a:t>Time</a:t>
            </a:r>
            <a:r>
              <a:rPr lang="en-US" dirty="0"/>
              <a:t>. Worst case: linear (~ W*N). Average case: sublinear (~N </a:t>
            </a:r>
            <a:r>
              <a:rPr lang="en-US" dirty="0" err="1"/>
              <a:t>log</a:t>
            </a:r>
            <a:r>
              <a:rPr lang="en-US" baseline="-25000" dirty="0" err="1"/>
              <a:t>R</a:t>
            </a:r>
            <a:r>
              <a:rPr lang="en-US" dirty="0"/>
              <a:t> N)  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Space</a:t>
            </a:r>
            <a:r>
              <a:rPr lang="en-US" dirty="0"/>
              <a:t>. ~ N + D*R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D3F01B-DD26-584B-95A9-1B756D7AD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616366"/>
              </p:ext>
            </p:extLst>
          </p:nvPr>
        </p:nvGraphicFramePr>
        <p:xfrm>
          <a:off x="1644820" y="2160503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294027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537028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07014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Non-random 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021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AB1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CD2Q1KLT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seag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AB1CD2EF3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84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AB2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FG3R5TFR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AB1CD2EF3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3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AC8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RD3G2QGH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AB1CD2EF3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17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AD4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GT2O8YJK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AB1CD2EF3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54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AD9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FS2P0DKQ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urely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AB1CD2EF3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592209"/>
                  </a:ext>
                </a:extLst>
              </a:tr>
            </a:tbl>
          </a:graphicData>
        </a:graphic>
      </p:graphicFrame>
      <p:grpSp>
        <p:nvGrpSpPr>
          <p:cNvPr id="13" name="Group 12" descr="arrow highlighting role of W in formula (lentgh of strings)">
            <a:extLst>
              <a:ext uri="{FF2B5EF4-FFF2-40B4-BE49-F238E27FC236}">
                <a16:creationId xmlns:a16="http://schemas.microsoft.com/office/drawing/2014/main" id="{50ED5948-944B-2140-B03D-87FC8805A17B}"/>
              </a:ext>
            </a:extLst>
          </p:cNvPr>
          <p:cNvGrpSpPr/>
          <p:nvPr/>
        </p:nvGrpSpPr>
        <p:grpSpPr>
          <a:xfrm>
            <a:off x="4920340" y="4522479"/>
            <a:ext cx="2804435" cy="434554"/>
            <a:chOff x="-1979939" y="2311697"/>
            <a:chExt cx="2804435" cy="43455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379306-19A4-494B-B97C-5BB47C54105B}"/>
                </a:ext>
              </a:extLst>
            </p:cNvPr>
            <p:cNvSpPr txBox="1"/>
            <p:nvPr/>
          </p:nvSpPr>
          <p:spPr>
            <a:xfrm>
              <a:off x="-1469722" y="2311697"/>
              <a:ext cx="2294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 = length of strings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82715EC-419C-EB4E-A8A3-85EEE931B22A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-1979939" y="2496363"/>
              <a:ext cx="510217" cy="2498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9721ECAE-AF9A-5248-AB49-24EAC52C1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6191" y="4891811"/>
            <a:ext cx="324000" cy="542925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 descr="arrow highlighting role od D in formula (depth of recursion)">
            <a:extLst>
              <a:ext uri="{FF2B5EF4-FFF2-40B4-BE49-F238E27FC236}">
                <a16:creationId xmlns:a16="http://schemas.microsoft.com/office/drawing/2014/main" id="{5A76EF43-F15E-E84E-B707-324CDA714E00}"/>
              </a:ext>
            </a:extLst>
          </p:cNvPr>
          <p:cNvGrpSpPr/>
          <p:nvPr/>
        </p:nvGrpSpPr>
        <p:grpSpPr>
          <a:xfrm>
            <a:off x="1972891" y="5270540"/>
            <a:ext cx="3416320" cy="1490842"/>
            <a:chOff x="2011575" y="2572573"/>
            <a:chExt cx="3416320" cy="149084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A2A237-EA57-7646-91DD-1D89E6579ECD}"/>
                </a:ext>
              </a:extLst>
            </p:cNvPr>
            <p:cNvSpPr txBox="1"/>
            <p:nvPr/>
          </p:nvSpPr>
          <p:spPr>
            <a:xfrm>
              <a:off x="2011575" y="3417084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 = depth of recursion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(length of longest prefix match)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9199CD5-A3C5-DE4D-AB26-E9D1E4421445}"/>
                </a:ext>
              </a:extLst>
            </p:cNvPr>
            <p:cNvSpPr/>
            <p:nvPr/>
          </p:nvSpPr>
          <p:spPr>
            <a:xfrm>
              <a:off x="2864644" y="2572573"/>
              <a:ext cx="221456" cy="542925"/>
            </a:xfrm>
            <a:prstGeom prst="ellipse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DC54918-9BC6-424F-8E06-4FA6C86C1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1795" y="3144074"/>
              <a:ext cx="1" cy="258722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7551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string</a:t>
            </a:r>
          </a:p>
          <a:p>
            <a:r>
              <a:rPr lang="en-US" dirty="0"/>
              <a:t>String sorting algorithms</a:t>
            </a:r>
          </a:p>
          <a:p>
            <a:pPr lvl="1"/>
            <a:r>
              <a:rPr lang="en-US" dirty="0"/>
              <a:t>Key-indexed counting</a:t>
            </a:r>
          </a:p>
          <a:p>
            <a:pPr lvl="1"/>
            <a:r>
              <a:rPr lang="en-US" dirty="0"/>
              <a:t>LSD radix sort</a:t>
            </a:r>
          </a:p>
          <a:p>
            <a:pPr lvl="1"/>
            <a:r>
              <a:rPr lang="en-US" dirty="0"/>
              <a:t>MSD radix sort</a:t>
            </a:r>
          </a:p>
        </p:txBody>
      </p:sp>
    </p:spTree>
    <p:extLst>
      <p:ext uri="{BB962C8B-B14F-4D97-AF65-F5344CB8AC3E}">
        <p14:creationId xmlns:p14="http://schemas.microsoft.com/office/powerpoint/2010/main" val="1743049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4387</Words>
  <Application>Microsoft Macintosh PowerPoint</Application>
  <PresentationFormat>Widescreen</PresentationFormat>
  <Paragraphs>1960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5. String Algorithms</vt:lpstr>
      <vt:lpstr>CONTENT</vt:lpstr>
      <vt:lpstr>What is a String</vt:lpstr>
      <vt:lpstr>What is a String</vt:lpstr>
      <vt:lpstr>What is a String</vt:lpstr>
      <vt:lpstr>What is a String</vt:lpstr>
      <vt:lpstr>What is a String</vt:lpstr>
      <vt:lpstr>What is a String</vt:lpstr>
      <vt:lpstr>What is a String</vt:lpstr>
      <vt:lpstr>What is a String</vt:lpstr>
      <vt:lpstr>CONTENT RECAP</vt:lpstr>
      <vt:lpstr>CONTENT</vt:lpstr>
      <vt:lpstr>SORTING ALGORTIHMS RECAP</vt:lpstr>
      <vt:lpstr>KEY-INDEXed COUNTING</vt:lpstr>
      <vt:lpstr>KEY-INDEXed COUNTING</vt:lpstr>
      <vt:lpstr>KEY-INDEXed COUNTING</vt:lpstr>
      <vt:lpstr>KEY-INDEXed COUNTING</vt:lpstr>
      <vt:lpstr>KEY-INDEXed COUNTING</vt:lpstr>
      <vt:lpstr>KEY-INDEXed COUNTING</vt:lpstr>
      <vt:lpstr>KEY-INDEXed COUNTING</vt:lpstr>
      <vt:lpstr>KEY-INDEXed COUNTING</vt:lpstr>
      <vt:lpstr>KEY-INDEXed COUNTING</vt:lpstr>
      <vt:lpstr>KEY-INDEXed COUNTING</vt:lpstr>
      <vt:lpstr>KEY-INDEXed COUNTING</vt:lpstr>
      <vt:lpstr>CONTENT RECAP</vt:lpstr>
      <vt:lpstr>CONTENT</vt:lpstr>
      <vt:lpstr>LSD RADIX SORT</vt:lpstr>
      <vt:lpstr>LSD RADIX SORT</vt:lpstr>
      <vt:lpstr>LSD RADIX SORT</vt:lpstr>
      <vt:lpstr>LSD RADIX SORT</vt:lpstr>
      <vt:lpstr>LSD RADIX SORT</vt:lpstr>
      <vt:lpstr>CONTENT</vt:lpstr>
      <vt:lpstr>MSD RADIX SORT</vt:lpstr>
      <vt:lpstr>MSD RADIX SORT</vt:lpstr>
      <vt:lpstr>MSD RADIX SORT</vt:lpstr>
      <vt:lpstr>MSD RADIX SORT</vt:lpstr>
      <vt:lpstr>MSD RADIX SORT</vt:lpstr>
      <vt:lpstr>CONTENT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74</cp:revision>
  <dcterms:created xsi:type="dcterms:W3CDTF">2020-06-23T14:37:29Z</dcterms:created>
  <dcterms:modified xsi:type="dcterms:W3CDTF">2020-11-18T17:00:39Z</dcterms:modified>
</cp:coreProperties>
</file>