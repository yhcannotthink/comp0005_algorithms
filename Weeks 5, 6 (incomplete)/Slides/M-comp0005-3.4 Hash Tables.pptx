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37"/>
  </p:notesMasterIdLst>
  <p:sldIdLst>
    <p:sldId id="266" r:id="rId3"/>
    <p:sldId id="276" r:id="rId4"/>
    <p:sldId id="280" r:id="rId5"/>
    <p:sldId id="281" r:id="rId6"/>
    <p:sldId id="284" r:id="rId7"/>
    <p:sldId id="287" r:id="rId8"/>
    <p:sldId id="286" r:id="rId9"/>
    <p:sldId id="282" r:id="rId10"/>
    <p:sldId id="288" r:id="rId11"/>
    <p:sldId id="340" r:id="rId12"/>
    <p:sldId id="341" r:id="rId13"/>
    <p:sldId id="294" r:id="rId14"/>
    <p:sldId id="342" r:id="rId15"/>
    <p:sldId id="296" r:id="rId16"/>
    <p:sldId id="297" r:id="rId17"/>
    <p:sldId id="290" r:id="rId18"/>
    <p:sldId id="291" r:id="rId19"/>
    <p:sldId id="327" r:id="rId20"/>
    <p:sldId id="283" r:id="rId21"/>
    <p:sldId id="329" r:id="rId22"/>
    <p:sldId id="330" r:id="rId23"/>
    <p:sldId id="331" r:id="rId24"/>
    <p:sldId id="332" r:id="rId25"/>
    <p:sldId id="333" r:id="rId26"/>
    <p:sldId id="334" r:id="rId27"/>
    <p:sldId id="335" r:id="rId28"/>
    <p:sldId id="336" r:id="rId29"/>
    <p:sldId id="337" r:id="rId30"/>
    <p:sldId id="289" r:id="rId31"/>
    <p:sldId id="292" r:id="rId32"/>
    <p:sldId id="328" r:id="rId33"/>
    <p:sldId id="338" r:id="rId34"/>
    <p:sldId id="339" r:id="rId35"/>
    <p:sldId id="277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834"/>
    <p:restoredTop sz="63537"/>
  </p:normalViewPr>
  <p:slideViewPr>
    <p:cSldViewPr snapToGrid="0" snapToObjects="1">
      <p:cViewPr varScale="1">
        <p:scale>
          <a:sx n="79" d="100"/>
          <a:sy n="79" d="100"/>
        </p:scale>
        <p:origin x="1680" y="184"/>
      </p:cViewPr>
      <p:guideLst/>
    </p:cSldViewPr>
  </p:slideViewPr>
  <p:outlineViewPr>
    <p:cViewPr>
      <p:scale>
        <a:sx n="33" d="100"/>
        <a:sy n="33" d="100"/>
      </p:scale>
      <p:origin x="0" y="-2284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105A67-8926-CB42-854C-A7DAE0AE325F}" type="datetimeFigureOut">
              <a:rPr lang="en-US" smtClean="0"/>
              <a:t>2/24/22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FE9652-8391-5B4D-BBDF-BC776AB7EF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815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55201-7865-8744-8A9B-9F5FC03C5C4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049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4093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906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7187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3249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6906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30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31167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8064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9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7265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65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022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8945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5557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9328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856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56687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17059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250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2323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725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5113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2078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2916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4266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5328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01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0309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5583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71799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7491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FE9652-8391-5B4D-BBDF-BC776AB7EFB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59926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A8918F-5AD9-E04B-8904-1D5B7230DE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6567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5104-30DF-C243-B6F5-80F122C43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F9C87-B826-1B49-A847-710502CBD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F453F-4E94-824B-AFA6-EB4E86C0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2/24/22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2B56E-3BBC-654D-8FA9-E1F006DD6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88353-695E-914E-959B-1DE06138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34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7F73-75A7-BF4C-9B87-0E5DAA26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58" y="253106"/>
            <a:ext cx="10132541" cy="720000"/>
          </a:xfrm>
        </p:spPr>
        <p:txBody>
          <a:bodyPr/>
          <a:lstStyle>
            <a:lvl1pPr>
              <a:defRPr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49A81-21ED-634D-B435-4DA1AB93F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01684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1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C7776-6F62-7949-AC29-57711FE6F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DDEED-88CB-854F-A579-2E9F5C88E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43E4C-5521-A646-9E20-EDBF5E089B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2/24/22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4BB6D-FB51-F14E-96DC-CB799402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6CE9B-3262-4946-BA2B-2E15B1284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2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477B-0526-5246-ADF9-A09D32252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9C74B-6A3E-0D41-A414-968897748D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19A30-BEDD-4E4D-A469-75A32DB6A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90622-BD04-2F49-87BF-8F8A56A92F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2/24/22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36CA9-0AF2-6044-B7B9-D370C998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07945-78CB-FD48-A540-3D195554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23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105D-2311-6C4A-AFBA-C73806614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7611F-9F84-EF46-B687-F45096EE5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AFF43-7CB4-D043-A4E6-F7EBD5AD1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0651C7-134F-6D4C-B0C9-F97F16FCB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5B9679-8272-C842-80E7-7C2C35B6B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A03A7-9909-8849-989F-56035CE1F1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2/24/22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FF941C-DA96-0244-A4BD-DDC68807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82B1AB-E8BD-194D-A1B0-84EEEAD5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9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B65D-442A-8843-8F16-7ABEA571F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69297-1F38-2D41-BF9E-9074D73D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2/24/22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F6E31A-1A8B-DA41-96E1-AE81C5DA0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95C91-339E-644D-8D83-3DE22C83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42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3269F9-C47F-5B42-8277-D273C182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2/24/22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79E2E-0F80-CC4C-AC36-AEBFFC9C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C028F-9D1D-4246-9A8D-9B12841F5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14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C425B-9808-AA41-9609-755D86C88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59FAE-9E85-D84D-8A74-ADC02B429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05D49-C024-1643-8B1C-B03459C69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8C301-58C0-8443-A8FD-FE276F98D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2/24/22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AA141-96BB-DB4F-B27D-6F7AF7D75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4CBB8-298F-1246-BC42-25680FD0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39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C04D-5F03-AA4D-8037-39B8E663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0F1385-96F7-A140-AA79-83ACBA263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11CC3-A00C-784B-8C87-ECE428E1D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CC509-EA9D-234D-BD95-51099A8B9F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2/24/22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28714-646A-7642-ACC7-DBE604260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C2430-0B85-1D4C-B46F-FC7DD6A1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50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43C0C-A609-F342-919D-11DD78C44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19D3E-C74D-5148-A3E6-FF8D596BB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16387-CFBA-0342-A560-13C5D7882A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2/24/22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1E4AB-2F0E-DE42-A638-F24757D1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DB63D-2E4D-4241-83AC-C6A15648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70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4ADECF-14E8-3C41-B869-448FE504D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B74BE-C693-0E44-8F73-00799AB99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273F7-69F8-D743-8DD7-63377B1970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A94195-58C4-C848-90FD-8ABADCA47C32}" type="datetimeFigureOut">
              <a:rPr lang="en-US" smtClean="0"/>
              <a:t>2/24/22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162B8-7B1D-774A-AE0D-C751F2ACC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8F8AB-2631-7F49-804C-2B75DF4D3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840EBB-9F53-814B-8C4A-7F047AABF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79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2617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267" b="1">
                <a:solidFill>
                  <a:srgbClr val="D6D2C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74719"/>
            <a:ext cx="10515600" cy="27022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"/>
            <a:ext cx="12192000" cy="1646767"/>
            <a:chOff x="0" y="-66259"/>
            <a:chExt cx="9144000" cy="1235075"/>
          </a:xfrm>
        </p:grpSpPr>
        <p:sp>
          <p:nvSpPr>
            <p:cNvPr id="10" name="Freeform 24"/>
            <p:cNvSpPr>
              <a:spLocks/>
            </p:cNvSpPr>
            <p:nvPr/>
          </p:nvSpPr>
          <p:spPr bwMode="auto">
            <a:xfrm>
              <a:off x="0" y="-66259"/>
              <a:ext cx="9144000" cy="1235075"/>
            </a:xfrm>
            <a:custGeom>
              <a:avLst/>
              <a:gdLst>
                <a:gd name="T0" fmla="*/ 0 w 1123"/>
                <a:gd name="T1" fmla="*/ 0 h 151"/>
                <a:gd name="T2" fmla="*/ 0 w 1123"/>
                <a:gd name="T3" fmla="*/ 151 h 151"/>
                <a:gd name="T4" fmla="*/ 844 w 1123"/>
                <a:gd name="T5" fmla="*/ 151 h 151"/>
                <a:gd name="T6" fmla="*/ 841 w 1123"/>
                <a:gd name="T7" fmla="*/ 148 h 151"/>
                <a:gd name="T8" fmla="*/ 832 w 1123"/>
                <a:gd name="T9" fmla="*/ 122 h 151"/>
                <a:gd name="T10" fmla="*/ 832 w 1123"/>
                <a:gd name="T11" fmla="*/ 72 h 151"/>
                <a:gd name="T12" fmla="*/ 859 w 1123"/>
                <a:gd name="T13" fmla="*/ 72 h 151"/>
                <a:gd name="T14" fmla="*/ 859 w 1123"/>
                <a:gd name="T15" fmla="*/ 124 h 151"/>
                <a:gd name="T16" fmla="*/ 863 w 1123"/>
                <a:gd name="T17" fmla="*/ 135 h 151"/>
                <a:gd name="T18" fmla="*/ 871 w 1123"/>
                <a:gd name="T19" fmla="*/ 138 h 151"/>
                <a:gd name="T20" fmla="*/ 880 w 1123"/>
                <a:gd name="T21" fmla="*/ 135 h 151"/>
                <a:gd name="T22" fmla="*/ 883 w 1123"/>
                <a:gd name="T23" fmla="*/ 124 h 151"/>
                <a:gd name="T24" fmla="*/ 883 w 1123"/>
                <a:gd name="T25" fmla="*/ 72 h 151"/>
                <a:gd name="T26" fmla="*/ 910 w 1123"/>
                <a:gd name="T27" fmla="*/ 72 h 151"/>
                <a:gd name="T28" fmla="*/ 910 w 1123"/>
                <a:gd name="T29" fmla="*/ 117 h 151"/>
                <a:gd name="T30" fmla="*/ 900 w 1123"/>
                <a:gd name="T31" fmla="*/ 148 h 151"/>
                <a:gd name="T32" fmla="*/ 897 w 1123"/>
                <a:gd name="T33" fmla="*/ 151 h 151"/>
                <a:gd name="T34" fmla="*/ 937 w 1123"/>
                <a:gd name="T35" fmla="*/ 151 h 151"/>
                <a:gd name="T36" fmla="*/ 920 w 1123"/>
                <a:gd name="T37" fmla="*/ 114 h 151"/>
                <a:gd name="T38" fmla="*/ 964 w 1123"/>
                <a:gd name="T39" fmla="*/ 69 h 151"/>
                <a:gd name="T40" fmla="*/ 998 w 1123"/>
                <a:gd name="T41" fmla="*/ 82 h 151"/>
                <a:gd name="T42" fmla="*/ 1005 w 1123"/>
                <a:gd name="T43" fmla="*/ 92 h 151"/>
                <a:gd name="T44" fmla="*/ 982 w 1123"/>
                <a:gd name="T45" fmla="*/ 103 h 151"/>
                <a:gd name="T46" fmla="*/ 965 w 1123"/>
                <a:gd name="T47" fmla="*/ 89 h 151"/>
                <a:gd name="T48" fmla="*/ 953 w 1123"/>
                <a:gd name="T49" fmla="*/ 94 h 151"/>
                <a:gd name="T50" fmla="*/ 947 w 1123"/>
                <a:gd name="T51" fmla="*/ 113 h 151"/>
                <a:gd name="T52" fmla="*/ 965 w 1123"/>
                <a:gd name="T53" fmla="*/ 137 h 151"/>
                <a:gd name="T54" fmla="*/ 982 w 1123"/>
                <a:gd name="T55" fmla="*/ 123 h 151"/>
                <a:gd name="T56" fmla="*/ 1005 w 1123"/>
                <a:gd name="T57" fmla="*/ 134 h 151"/>
                <a:gd name="T58" fmla="*/ 997 w 1123"/>
                <a:gd name="T59" fmla="*/ 146 h 151"/>
                <a:gd name="T60" fmla="*/ 991 w 1123"/>
                <a:gd name="T61" fmla="*/ 151 h 151"/>
                <a:gd name="T62" fmla="*/ 1016 w 1123"/>
                <a:gd name="T63" fmla="*/ 151 h 151"/>
                <a:gd name="T64" fmla="*/ 1016 w 1123"/>
                <a:gd name="T65" fmla="*/ 72 h 151"/>
                <a:gd name="T66" fmla="*/ 1042 w 1123"/>
                <a:gd name="T67" fmla="*/ 72 h 151"/>
                <a:gd name="T68" fmla="*/ 1042 w 1123"/>
                <a:gd name="T69" fmla="*/ 134 h 151"/>
                <a:gd name="T70" fmla="*/ 1077 w 1123"/>
                <a:gd name="T71" fmla="*/ 134 h 151"/>
                <a:gd name="T72" fmla="*/ 1077 w 1123"/>
                <a:gd name="T73" fmla="*/ 151 h 151"/>
                <a:gd name="T74" fmla="*/ 1123 w 1123"/>
                <a:gd name="T75" fmla="*/ 151 h 151"/>
                <a:gd name="T76" fmla="*/ 1123 w 1123"/>
                <a:gd name="T77" fmla="*/ 0 h 151"/>
                <a:gd name="T78" fmla="*/ 0 w 1123"/>
                <a:gd name="T7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151">
                  <a:moveTo>
                    <a:pt x="0" y="0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844" y="151"/>
                    <a:pt x="844" y="151"/>
                    <a:pt x="844" y="151"/>
                  </a:cubicBezTo>
                  <a:cubicBezTo>
                    <a:pt x="843" y="150"/>
                    <a:pt x="842" y="149"/>
                    <a:pt x="841" y="148"/>
                  </a:cubicBezTo>
                  <a:cubicBezTo>
                    <a:pt x="833" y="140"/>
                    <a:pt x="833" y="131"/>
                    <a:pt x="832" y="122"/>
                  </a:cubicBezTo>
                  <a:cubicBezTo>
                    <a:pt x="832" y="72"/>
                    <a:pt x="832" y="72"/>
                    <a:pt x="832" y="72"/>
                  </a:cubicBezTo>
                  <a:cubicBezTo>
                    <a:pt x="859" y="72"/>
                    <a:pt x="859" y="72"/>
                    <a:pt x="859" y="72"/>
                  </a:cubicBezTo>
                  <a:cubicBezTo>
                    <a:pt x="859" y="124"/>
                    <a:pt x="859" y="124"/>
                    <a:pt x="859" y="124"/>
                  </a:cubicBezTo>
                  <a:cubicBezTo>
                    <a:pt x="859" y="128"/>
                    <a:pt x="860" y="132"/>
                    <a:pt x="863" y="135"/>
                  </a:cubicBezTo>
                  <a:cubicBezTo>
                    <a:pt x="865" y="137"/>
                    <a:pt x="868" y="138"/>
                    <a:pt x="871" y="138"/>
                  </a:cubicBezTo>
                  <a:cubicBezTo>
                    <a:pt x="875" y="138"/>
                    <a:pt x="878" y="136"/>
                    <a:pt x="880" y="135"/>
                  </a:cubicBezTo>
                  <a:cubicBezTo>
                    <a:pt x="883" y="132"/>
                    <a:pt x="883" y="128"/>
                    <a:pt x="883" y="124"/>
                  </a:cubicBezTo>
                  <a:cubicBezTo>
                    <a:pt x="883" y="72"/>
                    <a:pt x="883" y="72"/>
                    <a:pt x="883" y="72"/>
                  </a:cubicBezTo>
                  <a:cubicBezTo>
                    <a:pt x="910" y="72"/>
                    <a:pt x="910" y="72"/>
                    <a:pt x="910" y="72"/>
                  </a:cubicBezTo>
                  <a:cubicBezTo>
                    <a:pt x="910" y="117"/>
                    <a:pt x="910" y="117"/>
                    <a:pt x="910" y="117"/>
                  </a:cubicBezTo>
                  <a:cubicBezTo>
                    <a:pt x="910" y="126"/>
                    <a:pt x="910" y="139"/>
                    <a:pt x="900" y="148"/>
                  </a:cubicBezTo>
                  <a:cubicBezTo>
                    <a:pt x="899" y="149"/>
                    <a:pt x="898" y="150"/>
                    <a:pt x="897" y="151"/>
                  </a:cubicBezTo>
                  <a:cubicBezTo>
                    <a:pt x="937" y="151"/>
                    <a:pt x="937" y="151"/>
                    <a:pt x="937" y="151"/>
                  </a:cubicBezTo>
                  <a:cubicBezTo>
                    <a:pt x="925" y="142"/>
                    <a:pt x="920" y="128"/>
                    <a:pt x="920" y="114"/>
                  </a:cubicBezTo>
                  <a:cubicBezTo>
                    <a:pt x="920" y="92"/>
                    <a:pt x="935" y="69"/>
                    <a:pt x="964" y="69"/>
                  </a:cubicBezTo>
                  <a:cubicBezTo>
                    <a:pt x="976" y="69"/>
                    <a:pt x="989" y="73"/>
                    <a:pt x="998" y="82"/>
                  </a:cubicBezTo>
                  <a:cubicBezTo>
                    <a:pt x="1001" y="86"/>
                    <a:pt x="1003" y="89"/>
                    <a:pt x="1005" y="92"/>
                  </a:cubicBezTo>
                  <a:cubicBezTo>
                    <a:pt x="982" y="103"/>
                    <a:pt x="982" y="103"/>
                    <a:pt x="982" y="103"/>
                  </a:cubicBezTo>
                  <a:cubicBezTo>
                    <a:pt x="980" y="98"/>
                    <a:pt x="976" y="89"/>
                    <a:pt x="965" y="89"/>
                  </a:cubicBezTo>
                  <a:cubicBezTo>
                    <a:pt x="959" y="89"/>
                    <a:pt x="955" y="92"/>
                    <a:pt x="953" y="94"/>
                  </a:cubicBezTo>
                  <a:cubicBezTo>
                    <a:pt x="947" y="100"/>
                    <a:pt x="947" y="109"/>
                    <a:pt x="947" y="113"/>
                  </a:cubicBezTo>
                  <a:cubicBezTo>
                    <a:pt x="947" y="125"/>
                    <a:pt x="952" y="137"/>
                    <a:pt x="965" y="137"/>
                  </a:cubicBezTo>
                  <a:cubicBezTo>
                    <a:pt x="977" y="137"/>
                    <a:pt x="981" y="126"/>
                    <a:pt x="982" y="123"/>
                  </a:cubicBezTo>
                  <a:cubicBezTo>
                    <a:pt x="1005" y="134"/>
                    <a:pt x="1005" y="134"/>
                    <a:pt x="1005" y="134"/>
                  </a:cubicBezTo>
                  <a:cubicBezTo>
                    <a:pt x="1003" y="138"/>
                    <a:pt x="1001" y="142"/>
                    <a:pt x="997" y="146"/>
                  </a:cubicBezTo>
                  <a:cubicBezTo>
                    <a:pt x="995" y="148"/>
                    <a:pt x="993" y="150"/>
                    <a:pt x="991" y="151"/>
                  </a:cubicBezTo>
                  <a:cubicBezTo>
                    <a:pt x="1016" y="151"/>
                    <a:pt x="1016" y="151"/>
                    <a:pt x="1016" y="151"/>
                  </a:cubicBezTo>
                  <a:cubicBezTo>
                    <a:pt x="1016" y="72"/>
                    <a:pt x="1016" y="72"/>
                    <a:pt x="1016" y="72"/>
                  </a:cubicBezTo>
                  <a:cubicBezTo>
                    <a:pt x="1042" y="72"/>
                    <a:pt x="1042" y="72"/>
                    <a:pt x="1042" y="72"/>
                  </a:cubicBezTo>
                  <a:cubicBezTo>
                    <a:pt x="1042" y="134"/>
                    <a:pt x="1042" y="134"/>
                    <a:pt x="1042" y="134"/>
                  </a:cubicBezTo>
                  <a:cubicBezTo>
                    <a:pt x="1077" y="134"/>
                    <a:pt x="1077" y="134"/>
                    <a:pt x="1077" y="134"/>
                  </a:cubicBezTo>
                  <a:cubicBezTo>
                    <a:pt x="1077" y="151"/>
                    <a:pt x="1077" y="151"/>
                    <a:pt x="1077" y="151"/>
                  </a:cubicBezTo>
                  <a:cubicBezTo>
                    <a:pt x="1123" y="151"/>
                    <a:pt x="1123" y="151"/>
                    <a:pt x="1123" y="151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420182" y="514785"/>
              <a:ext cx="257986" cy="303133"/>
            </a:xfrm>
            <a:prstGeom prst="rect">
              <a:avLst/>
            </a:prstGeom>
          </p:spPr>
        </p:pic>
      </p:grp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3999" y="384000"/>
            <a:ext cx="7318611" cy="39072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1467" baseline="0">
                <a:solidFill>
                  <a:schemeClr val="tx1"/>
                </a:solidFill>
              </a:defRPr>
            </a:lvl1pPr>
            <a:lvl2pPr marL="0" indent="0">
              <a:lnSpc>
                <a:spcPct val="80000"/>
              </a:lnSpc>
              <a:buNone/>
              <a:defRPr sz="1467">
                <a:solidFill>
                  <a:schemeClr val="tx1"/>
                </a:solidFill>
              </a:defRPr>
            </a:lvl2pPr>
            <a:lvl3pPr marL="0" indent="0">
              <a:buNone/>
              <a:defRPr sz="1467">
                <a:solidFill>
                  <a:schemeClr val="tx1"/>
                </a:solidFill>
              </a:defRPr>
            </a:lvl3pPr>
            <a:lvl4pPr marL="0" indent="0">
              <a:buNone/>
              <a:defRPr sz="1467">
                <a:solidFill>
                  <a:schemeClr val="tx1"/>
                </a:solidFill>
              </a:defRPr>
            </a:lvl4pPr>
            <a:lvl5pPr marL="0" indent="0">
              <a:buNone/>
              <a:defRPr sz="14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FACULTY, SCHOOL, DEPARTMENT OR INSTITUTE NAME HERE</a:t>
            </a:r>
          </a:p>
          <a:p>
            <a:pPr lvl="1"/>
            <a:r>
              <a:rPr lang="en-US" dirty="0"/>
              <a:t>SECOND TIER INFORMATION HERE IF NEEDED</a:t>
            </a:r>
          </a:p>
        </p:txBody>
      </p:sp>
    </p:spTree>
    <p:extLst>
      <p:ext uri="{BB962C8B-B14F-4D97-AF65-F5344CB8AC3E}">
        <p14:creationId xmlns:p14="http://schemas.microsoft.com/office/powerpoint/2010/main" val="1942517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i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999" y="1326291"/>
            <a:ext cx="11146989" cy="4993416"/>
          </a:xfrm>
        </p:spPr>
        <p:txBody>
          <a:bodyPr>
            <a:normAutofit/>
          </a:bodyPr>
          <a:lstStyle>
            <a:lvl1pPr marL="0" indent="0">
              <a:buNone/>
              <a:defRPr sz="3200" b="0">
                <a:solidFill>
                  <a:schemeClr val="tx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-2117"/>
            <a:ext cx="12192000" cy="988484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 dirty="0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08617264-77E5-D84E-B0FF-1EA9D2C44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99" y="190218"/>
            <a:ext cx="9382171" cy="651911"/>
          </a:xfrm>
          <a:prstGeom prst="rect">
            <a:avLst/>
          </a:prstGeom>
        </p:spPr>
        <p:txBody>
          <a:bodyPr/>
          <a:lstStyle>
            <a:lvl1pPr>
              <a:defRPr sz="4267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454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2C065B9-79B2-2E46-992C-E436F6FDC61B}"/>
              </a:ext>
            </a:extLst>
          </p:cNvPr>
          <p:cNvPicPr>
            <a:picLocks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-11262"/>
            <a:ext cx="12192000" cy="132556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D3A9AA-7FD3-E641-8BB9-C7229D097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9347"/>
            <a:ext cx="10515600" cy="904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63258-2D95-1B4C-B09E-444B93AC6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7708" y="1668162"/>
            <a:ext cx="11294076" cy="4893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601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>
            <a:lumMod val="75000"/>
          </a:schemeClr>
        </a:buClr>
        <a:buFont typeface="Wingdings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9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00989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20249" y="220779"/>
            <a:ext cx="4289120" cy="93996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16933"/>
            <a:endParaRPr lang="en-GB" sz="1333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9540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9997" indent="-119997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7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119997" indent="-119997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333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838200" y="2462581"/>
            <a:ext cx="10515600" cy="1929476"/>
          </a:xfrm>
        </p:spPr>
        <p:txBody>
          <a:bodyPr/>
          <a:lstStyle/>
          <a:p>
            <a:r>
              <a:rPr lang="en-US" sz="5333" dirty="0">
                <a:solidFill>
                  <a:schemeClr val="tx1"/>
                </a:solidFill>
              </a:rPr>
              <a:t>COMP0005 – ALGORITHMS </a:t>
            </a:r>
            <a:br>
              <a:rPr lang="en-US" sz="5333" dirty="0">
                <a:solidFill>
                  <a:schemeClr val="tx1"/>
                </a:solidFill>
              </a:rPr>
            </a:br>
            <a:br>
              <a:rPr lang="en-US" sz="3733" dirty="0">
                <a:solidFill>
                  <a:schemeClr val="tx1"/>
                </a:solidFill>
              </a:rPr>
            </a:br>
            <a:r>
              <a:rPr lang="en-US" sz="3733" dirty="0">
                <a:solidFill>
                  <a:schemeClr val="tx1"/>
                </a:solidFill>
              </a:rPr>
              <a:t>3.4 Hash Tables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5189251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n-US" sz="2667" dirty="0"/>
              <a:t>Prof </a:t>
            </a:r>
            <a:r>
              <a:rPr lang="en-US" sz="2667" dirty="0" err="1"/>
              <a:t>Licia</a:t>
            </a:r>
            <a:r>
              <a:rPr lang="en-US" sz="2667" dirty="0"/>
              <a:t> Capra</a:t>
            </a:r>
          </a:p>
          <a:p>
            <a:pPr marL="0" indent="0">
              <a:buNone/>
            </a:pPr>
            <a:r>
              <a:rPr lang="en-US" sz="2133" dirty="0"/>
              <a:t>Dept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150363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Symbol Table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Binary Search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Balanced Search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Hash Table</a:t>
            </a:r>
          </a:p>
          <a:p>
            <a:pPr lvl="1"/>
            <a:r>
              <a:rPr lang="en-US" dirty="0"/>
              <a:t>Hash functions</a:t>
            </a:r>
          </a:p>
          <a:p>
            <a:pPr lvl="1"/>
            <a:r>
              <a:rPr lang="en-US" dirty="0"/>
              <a:t>Separate chaining</a:t>
            </a:r>
          </a:p>
          <a:p>
            <a:pPr lvl="1"/>
            <a:r>
              <a:rPr lang="en-US" dirty="0"/>
              <a:t>Linear probing</a:t>
            </a:r>
          </a:p>
        </p:txBody>
      </p:sp>
    </p:spTree>
    <p:extLst>
      <p:ext uri="{BB962C8B-B14F-4D97-AF65-F5344CB8AC3E}">
        <p14:creationId xmlns:p14="http://schemas.microsoft.com/office/powerpoint/2010/main" val="4121742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F963-72BE-DD42-83FF-87F8F824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334D-2E80-D949-9F05-8D01770E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Key idea</a:t>
            </a:r>
            <a:r>
              <a:rPr lang="en-US" dirty="0"/>
              <a:t>: reduce the symbol table ADT into an array ADT</a:t>
            </a:r>
          </a:p>
          <a:p>
            <a:r>
              <a:rPr lang="en-US" dirty="0">
                <a:highlight>
                  <a:srgbClr val="C0C0C0"/>
                </a:highlight>
              </a:rPr>
              <a:t>How</a:t>
            </a:r>
            <a:r>
              <a:rPr lang="en-US" dirty="0"/>
              <a:t>: use a hash function to transform </a:t>
            </a:r>
            <a:r>
              <a:rPr lang="en-US" i="1" dirty="0"/>
              <a:t>keys</a:t>
            </a:r>
            <a:r>
              <a:rPr lang="en-US" dirty="0"/>
              <a:t> to integers used as indexes in an array where the corresponding </a:t>
            </a:r>
            <a:r>
              <a:rPr lang="en-US" i="1" dirty="0"/>
              <a:t>values</a:t>
            </a:r>
            <a:r>
              <a:rPr lang="en-US" dirty="0"/>
              <a:t> are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552EEF8-BBE4-2045-979D-DFEAE20588EF}"/>
              </a:ext>
            </a:extLst>
          </p:cNvPr>
          <p:cNvGrpSpPr/>
          <p:nvPr/>
        </p:nvGrpSpPr>
        <p:grpSpPr>
          <a:xfrm>
            <a:off x="1132980" y="3633952"/>
            <a:ext cx="1872980" cy="2334396"/>
            <a:chOff x="1132980" y="3633952"/>
            <a:chExt cx="1872980" cy="2334396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8FA8F3E-6282-8F4D-BFFE-50FDA5BC2857}"/>
                </a:ext>
              </a:extLst>
            </p:cNvPr>
            <p:cNvGrpSpPr/>
            <p:nvPr/>
          </p:nvGrpSpPr>
          <p:grpSpPr>
            <a:xfrm>
              <a:off x="1132980" y="3633952"/>
              <a:ext cx="1872980" cy="1824849"/>
              <a:chOff x="1479821" y="3097924"/>
              <a:chExt cx="1872980" cy="1824849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A841275-318B-7348-BDC2-829B6E56667C}"/>
                  </a:ext>
                </a:extLst>
              </p:cNvPr>
              <p:cNvGrpSpPr/>
              <p:nvPr/>
            </p:nvGrpSpPr>
            <p:grpSpPr>
              <a:xfrm>
                <a:off x="1994641" y="3515046"/>
                <a:ext cx="788275" cy="394138"/>
                <a:chOff x="1324303" y="4875002"/>
                <a:chExt cx="788275" cy="394138"/>
              </a:xfrm>
            </p:grpSpPr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9C9937AD-F673-ED4F-A675-583AB13938C5}"/>
                    </a:ext>
                  </a:extLst>
                </p:cNvPr>
                <p:cNvSpPr/>
                <p:nvPr/>
              </p:nvSpPr>
              <p:spPr>
                <a:xfrm>
                  <a:off x="1324303" y="4875002"/>
                  <a:ext cx="394138" cy="394138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  <a:r>
                    <a:rPr lang="en-US" baseline="-250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D629902D-80DA-0E4F-B2A8-69BE775FD6D8}"/>
                    </a:ext>
                  </a:extLst>
                </p:cNvPr>
                <p:cNvSpPr/>
                <p:nvPr/>
              </p:nvSpPr>
              <p:spPr>
                <a:xfrm>
                  <a:off x="1718440" y="4875002"/>
                  <a:ext cx="394138" cy="394138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</a:t>
                  </a:r>
                  <a:r>
                    <a:rPr lang="en-US" baseline="-250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  <a:endPara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A1B2804F-F5CF-B94B-A887-2906E608C73E}"/>
                  </a:ext>
                </a:extLst>
              </p:cNvPr>
              <p:cNvGrpSpPr/>
              <p:nvPr/>
            </p:nvGrpSpPr>
            <p:grpSpPr>
              <a:xfrm>
                <a:off x="1993763" y="4026951"/>
                <a:ext cx="788275" cy="394138"/>
                <a:chOff x="2485696" y="4875002"/>
                <a:chExt cx="788275" cy="394138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87F3AB9F-D189-DB4C-B13D-474B6E903FFB}"/>
                    </a:ext>
                  </a:extLst>
                </p:cNvPr>
                <p:cNvSpPr/>
                <p:nvPr/>
              </p:nvSpPr>
              <p:spPr>
                <a:xfrm>
                  <a:off x="2485696" y="4875002"/>
                  <a:ext cx="394138" cy="394138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  <a:r>
                    <a:rPr lang="en-US" baseline="-250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endPara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116B27F2-EA15-C944-B621-C8848F5ED1A8}"/>
                    </a:ext>
                  </a:extLst>
                </p:cNvPr>
                <p:cNvSpPr/>
                <p:nvPr/>
              </p:nvSpPr>
              <p:spPr>
                <a:xfrm>
                  <a:off x="2879833" y="4875002"/>
                  <a:ext cx="394138" cy="394138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</a:t>
                  </a:r>
                  <a:r>
                    <a:rPr lang="en-US" baseline="-250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6D680902-6976-0E40-876C-BA923BB55E42}"/>
                  </a:ext>
                </a:extLst>
              </p:cNvPr>
              <p:cNvGrpSpPr/>
              <p:nvPr/>
            </p:nvGrpSpPr>
            <p:grpSpPr>
              <a:xfrm>
                <a:off x="1993763" y="4528635"/>
                <a:ext cx="788275" cy="394138"/>
                <a:chOff x="3678620" y="4875002"/>
                <a:chExt cx="788275" cy="394138"/>
              </a:xfrm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F55A0BEC-741A-3C40-9643-88791E48EAF8}"/>
                    </a:ext>
                  </a:extLst>
                </p:cNvPr>
                <p:cNvSpPr/>
                <p:nvPr/>
              </p:nvSpPr>
              <p:spPr>
                <a:xfrm>
                  <a:off x="3678620" y="4875002"/>
                  <a:ext cx="394138" cy="394138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  <a:r>
                    <a:rPr lang="en-US" baseline="-250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392A6EF8-56FB-3744-8A40-883893626923}"/>
                    </a:ext>
                  </a:extLst>
                </p:cNvPr>
                <p:cNvSpPr/>
                <p:nvPr/>
              </p:nvSpPr>
              <p:spPr>
                <a:xfrm>
                  <a:off x="4072757" y="4875002"/>
                  <a:ext cx="394138" cy="394138"/>
                </a:xfrm>
                <a:prstGeom prst="rect">
                  <a:avLst/>
                </a:prstGeom>
                <a:noFill/>
                <a:ln w="2857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</a:t>
                  </a:r>
                  <a:r>
                    <a:rPr lang="en-US" baseline="-250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</a:p>
              </p:txBody>
            </p: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2A4814-7217-7440-AC49-36CD22DC884D}"/>
                  </a:ext>
                </a:extLst>
              </p:cNvPr>
              <p:cNvSpPr txBox="1"/>
              <p:nvPr/>
            </p:nvSpPr>
            <p:spPr>
              <a:xfrm>
                <a:off x="1479821" y="3097924"/>
                <a:ext cx="18729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Key/value pairs</a:t>
                </a: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9B9B790-56CA-CB46-A183-D83589FF2F96}"/>
                </a:ext>
              </a:extLst>
            </p:cNvPr>
            <p:cNvSpPr txBox="1"/>
            <p:nvPr/>
          </p:nvSpPr>
          <p:spPr>
            <a:xfrm>
              <a:off x="1806864" y="559901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</p:grp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43822819-8AF7-B941-AC35-C6F1DD5AFF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243385"/>
              </p:ext>
            </p:extLst>
          </p:nvPr>
        </p:nvGraphicFramePr>
        <p:xfrm>
          <a:off x="6780143" y="3373575"/>
          <a:ext cx="1059786" cy="2927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893">
                  <a:extLst>
                    <a:ext uri="{9D8B030D-6E8A-4147-A177-3AD203B41FA5}">
                      <a16:colId xmlns:a16="http://schemas.microsoft.com/office/drawing/2014/main" val="1944876707"/>
                    </a:ext>
                  </a:extLst>
                </a:gridCol>
                <a:gridCol w="529893">
                  <a:extLst>
                    <a:ext uri="{9D8B030D-6E8A-4147-A177-3AD203B41FA5}">
                      <a16:colId xmlns:a16="http://schemas.microsoft.com/office/drawing/2014/main" val="1792254789"/>
                    </a:ext>
                  </a:extLst>
                </a:gridCol>
              </a:tblGrid>
              <a:tr h="48791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283821"/>
                  </a:ext>
                </a:extLst>
              </a:tr>
              <a:tr h="48791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034364"/>
                  </a:ext>
                </a:extLst>
              </a:tr>
              <a:tr h="48791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728488"/>
                  </a:ext>
                </a:extLst>
              </a:tr>
              <a:tr h="48791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88819"/>
                  </a:ext>
                </a:extLst>
              </a:tr>
              <a:tr h="48791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577091"/>
                  </a:ext>
                </a:extLst>
              </a:tr>
              <a:tr h="48791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37071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71CB4E36-4BAB-CE49-9224-8D60FA858A74}"/>
              </a:ext>
            </a:extLst>
          </p:cNvPr>
          <p:cNvSpPr txBox="1"/>
          <p:nvPr/>
        </p:nvSpPr>
        <p:spPr>
          <a:xfrm>
            <a:off x="3540612" y="4075880"/>
            <a:ext cx="1301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hash(k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)=3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41065B-D9DE-CB41-BF96-25DA9FA924A7}"/>
              </a:ext>
            </a:extLst>
          </p:cNvPr>
          <p:cNvSpPr txBox="1"/>
          <p:nvPr/>
        </p:nvSpPr>
        <p:spPr>
          <a:xfrm>
            <a:off x="3540612" y="4530310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hash(k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)=0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771C4E-C3DC-9D42-BC42-C182DB30E183}"/>
              </a:ext>
            </a:extLst>
          </p:cNvPr>
          <p:cNvSpPr txBox="1"/>
          <p:nvPr/>
        </p:nvSpPr>
        <p:spPr>
          <a:xfrm>
            <a:off x="7391823" y="4883876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4FA5DE-F484-B741-9F1D-538000CC58A2}"/>
              </a:ext>
            </a:extLst>
          </p:cNvPr>
          <p:cNvSpPr txBox="1"/>
          <p:nvPr/>
        </p:nvSpPr>
        <p:spPr>
          <a:xfrm>
            <a:off x="7394940" y="3446986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4DB02AE-4251-164B-9ED7-7BD920E3F13C}"/>
              </a:ext>
            </a:extLst>
          </p:cNvPr>
          <p:cNvGrpSpPr/>
          <p:nvPr/>
        </p:nvGrpSpPr>
        <p:grpSpPr>
          <a:xfrm>
            <a:off x="3543363" y="4883876"/>
            <a:ext cx="5602110" cy="846664"/>
            <a:chOff x="3543363" y="4883876"/>
            <a:chExt cx="5602110" cy="846664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35D2246-2D20-3A4A-9619-B8841342A394}"/>
                </a:ext>
              </a:extLst>
            </p:cNvPr>
            <p:cNvSpPr txBox="1"/>
            <p:nvPr/>
          </p:nvSpPr>
          <p:spPr>
            <a:xfrm>
              <a:off x="7973803" y="4883876"/>
              <a:ext cx="11716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baseline="-25000" dirty="0" err="1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???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522B666-B111-404B-8180-EA8AC88898FD}"/>
                </a:ext>
              </a:extLst>
            </p:cNvPr>
            <p:cNvGrpSpPr/>
            <p:nvPr/>
          </p:nvGrpSpPr>
          <p:grpSpPr>
            <a:xfrm>
              <a:off x="3543363" y="4957117"/>
              <a:ext cx="1301959" cy="773423"/>
              <a:chOff x="3543363" y="4957117"/>
              <a:chExt cx="1301959" cy="773423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EAE7905-70A3-534D-8C91-CAF74021E43D}"/>
                  </a:ext>
                </a:extLst>
              </p:cNvPr>
              <p:cNvSpPr txBox="1"/>
              <p:nvPr/>
            </p:nvSpPr>
            <p:spPr>
              <a:xfrm>
                <a:off x="3543363" y="5361208"/>
                <a:ext cx="13019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hash(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</a:t>
                </a:r>
                <a:r>
                  <a:rPr lang="en-US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)=3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BE01959-806E-C946-8695-F4D92AD4D325}"/>
                  </a:ext>
                </a:extLst>
              </p:cNvPr>
              <p:cNvSpPr txBox="1"/>
              <p:nvPr/>
            </p:nvSpPr>
            <p:spPr>
              <a:xfrm>
                <a:off x="3878006" y="4957117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A3D7D24-13F9-794B-84F6-50285E0E441C}"/>
                </a:ext>
              </a:extLst>
            </p:cNvPr>
            <p:cNvCxnSpPr>
              <a:stCxn id="34" idx="3"/>
            </p:cNvCxnSpPr>
            <p:nvPr/>
          </p:nvCxnSpPr>
          <p:spPr>
            <a:xfrm flipV="1">
              <a:off x="4845322" y="5064663"/>
              <a:ext cx="2146777" cy="48121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2936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Symbol Table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Binary Search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Balanced Search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Hash Table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Hash functions</a:t>
            </a:r>
          </a:p>
          <a:p>
            <a:pPr lvl="1"/>
            <a:r>
              <a:rPr lang="en-US" dirty="0"/>
              <a:t>Separate chaining</a:t>
            </a:r>
          </a:p>
          <a:p>
            <a:pPr lvl="1"/>
            <a:r>
              <a:rPr lang="en-US" dirty="0"/>
              <a:t>Linear probing</a:t>
            </a:r>
          </a:p>
        </p:txBody>
      </p:sp>
    </p:spTree>
    <p:extLst>
      <p:ext uri="{BB962C8B-B14F-4D97-AF65-F5344CB8AC3E}">
        <p14:creationId xmlns:p14="http://schemas.microsoft.com/office/powerpoint/2010/main" val="896569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BA278-00C2-D147-A2A3-EDE08D349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71CFB-D757-5D4C-8064-B8CDFCE69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Problem:</a:t>
            </a: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endParaRPr lang="en-US" dirty="0">
              <a:highlight>
                <a:srgbClr val="C0C0C0"/>
              </a:highlight>
            </a:endParaRPr>
          </a:p>
          <a:p>
            <a:r>
              <a:rPr lang="en-US" dirty="0">
                <a:highlight>
                  <a:srgbClr val="C0C0C0"/>
                </a:highlight>
              </a:rPr>
              <a:t>Properties</a:t>
            </a:r>
            <a:r>
              <a:rPr lang="en-US" dirty="0"/>
              <a:t>: scramble keys to produce an index in [0,M] so that:</a:t>
            </a:r>
          </a:p>
          <a:p>
            <a:pPr lvl="1"/>
            <a:r>
              <a:rPr lang="en-US" dirty="0"/>
              <a:t>The mapping is deterministic</a:t>
            </a:r>
          </a:p>
          <a:p>
            <a:pPr lvl="1"/>
            <a:r>
              <a:rPr lang="en-US" dirty="0"/>
              <a:t>The mapping can be computed very fast</a:t>
            </a:r>
          </a:p>
          <a:p>
            <a:pPr lvl="1"/>
            <a:r>
              <a:rPr lang="en-US" dirty="0"/>
              <a:t>The probability of collisions is very low</a:t>
            </a:r>
          </a:p>
          <a:p>
            <a:pPr lvl="1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C01477-E817-5E4A-AD0B-7D001FA109F8}"/>
              </a:ext>
            </a:extLst>
          </p:cNvPr>
          <p:cNvGrpSpPr/>
          <p:nvPr/>
        </p:nvGrpSpPr>
        <p:grpSpPr>
          <a:xfrm>
            <a:off x="579489" y="2246587"/>
            <a:ext cx="5659155" cy="914400"/>
            <a:chOff x="1967282" y="2333297"/>
            <a:chExt cx="5659155" cy="9144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0F344F8-EBDA-CE45-AA66-5709C956E405}"/>
                </a:ext>
              </a:extLst>
            </p:cNvPr>
            <p:cNvSpPr/>
            <p:nvPr/>
          </p:nvSpPr>
          <p:spPr>
            <a:xfrm>
              <a:off x="4587766" y="2333297"/>
              <a:ext cx="914400" cy="9144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6EAF1F5-B2A8-7B4C-B6FA-AF4BDD38A06D}"/>
                </a:ext>
              </a:extLst>
            </p:cNvPr>
            <p:cNvCxnSpPr>
              <a:cxnSpLocks/>
            </p:cNvCxnSpPr>
            <p:nvPr/>
          </p:nvCxnSpPr>
          <p:spPr>
            <a:xfrm>
              <a:off x="1967282" y="2806262"/>
              <a:ext cx="2620484" cy="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297A474-3A20-C847-95A9-25E531CBAB9A}"/>
                </a:ext>
              </a:extLst>
            </p:cNvPr>
            <p:cNvCxnSpPr>
              <a:cxnSpLocks/>
            </p:cNvCxnSpPr>
            <p:nvPr/>
          </p:nvCxnSpPr>
          <p:spPr>
            <a:xfrm>
              <a:off x="5507421" y="2806262"/>
              <a:ext cx="2119016" cy="22491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CB1FFDB-CFE8-274D-965A-0AA2804B6DB1}"/>
                </a:ext>
              </a:extLst>
            </p:cNvPr>
            <p:cNvSpPr txBox="1"/>
            <p:nvPr/>
          </p:nvSpPr>
          <p:spPr>
            <a:xfrm>
              <a:off x="2082325" y="2505587"/>
              <a:ext cx="239039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key (from</a:t>
              </a:r>
            </a:p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arbitrary sized space)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FB9C60C-A3AC-0442-A3CB-29BD850FBAA8}"/>
                </a:ext>
              </a:extLst>
            </p:cNvPr>
            <p:cNvSpPr txBox="1"/>
            <p:nvPr/>
          </p:nvSpPr>
          <p:spPr>
            <a:xfrm>
              <a:off x="5704256" y="2486460"/>
              <a:ext cx="16209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index in [0, M]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6662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BA278-00C2-D147-A2A3-EDE08D349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71CFB-D757-5D4C-8064-B8CDFCE69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Space-time trade-off</a:t>
            </a:r>
          </a:p>
          <a:p>
            <a:pPr lvl="1"/>
            <a:r>
              <a:rPr lang="en-US" dirty="0"/>
              <a:t>No space limitation: trivial function that uses key as index itself</a:t>
            </a:r>
          </a:p>
          <a:p>
            <a:pPr lvl="1"/>
            <a:r>
              <a:rPr lang="en-US" dirty="0"/>
              <a:t>No time limitation: trivial function that maps all keys to same index, then perform collusion resolution with a sequential search</a:t>
            </a:r>
          </a:p>
          <a:p>
            <a:pPr lvl="1"/>
            <a:r>
              <a:rPr lang="en-US" dirty="0"/>
              <a:t>Space </a:t>
            </a:r>
            <a:r>
              <a:rPr lang="en-US" i="1" dirty="0"/>
              <a:t>and</a:t>
            </a:r>
            <a:r>
              <a:rPr lang="en-US" dirty="0"/>
              <a:t> time limitations: hashing</a:t>
            </a:r>
          </a:p>
        </p:txBody>
      </p:sp>
    </p:spTree>
    <p:extLst>
      <p:ext uri="{BB962C8B-B14F-4D97-AF65-F5344CB8AC3E}">
        <p14:creationId xmlns:p14="http://schemas.microsoft.com/office/powerpoint/2010/main" val="2424133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BA278-00C2-D147-A2A3-EDE08D349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71CFB-D757-5D4C-8064-B8CDFCE69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practice: choose array size </a:t>
            </a:r>
            <a:r>
              <a:rPr lang="en-US" i="1" dirty="0"/>
              <a:t>M</a:t>
            </a:r>
            <a:r>
              <a:rPr lang="en-US" dirty="0"/>
              <a:t> to be a prime number, then use modular hashing</a:t>
            </a:r>
          </a:p>
          <a:p>
            <a:pPr lvl="1"/>
            <a:r>
              <a:rPr lang="en-US" dirty="0"/>
              <a:t>For integer keys </a:t>
            </a:r>
            <a:r>
              <a:rPr lang="en-US" i="1" dirty="0"/>
              <a:t>n</a:t>
            </a:r>
            <a:r>
              <a:rPr lang="en-US" dirty="0"/>
              <a:t>: </a:t>
            </a:r>
            <a:r>
              <a:rPr lang="en-US" i="1" dirty="0"/>
              <a:t>abs(n) % M</a:t>
            </a:r>
            <a:endParaRPr lang="en-US" dirty="0"/>
          </a:p>
          <a:p>
            <a:pPr lvl="1"/>
            <a:r>
              <a:rPr lang="en-US" dirty="0"/>
              <a:t>For double keys </a:t>
            </a:r>
            <a:r>
              <a:rPr lang="en-US" i="1" dirty="0"/>
              <a:t>x</a:t>
            </a:r>
            <a:r>
              <a:rPr lang="en-US" dirty="0"/>
              <a:t>: modular hashing on the binary representation of </a:t>
            </a:r>
            <a:r>
              <a:rPr lang="en-US" i="1" dirty="0"/>
              <a:t>x</a:t>
            </a:r>
          </a:p>
          <a:p>
            <a:pPr lvl="1"/>
            <a:r>
              <a:rPr lang="en-US" dirty="0"/>
              <a:t>For string keys </a:t>
            </a:r>
            <a:r>
              <a:rPr lang="en-US" i="1" dirty="0"/>
              <a:t>s</a:t>
            </a:r>
            <a:r>
              <a:rPr lang="en-US" dirty="0"/>
              <a:t>: treat </a:t>
            </a:r>
            <a:r>
              <a:rPr lang="en-US" i="1" dirty="0"/>
              <a:t>s</a:t>
            </a:r>
            <a:r>
              <a:rPr lang="en-US" dirty="0"/>
              <a:t> as huge integer and compute modular hashing as: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66B0BA-D349-714F-A518-A2BA52617D53}"/>
              </a:ext>
            </a:extLst>
          </p:cNvPr>
          <p:cNvSpPr txBox="1"/>
          <p:nvPr/>
        </p:nvSpPr>
        <p:spPr>
          <a:xfrm>
            <a:off x="2050588" y="3805624"/>
            <a:ext cx="5105885" cy="92333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GB" dirty="0">
                <a:latin typeface="Courier" pitchFamily="2" charset="0"/>
              </a:rPr>
              <a:t>hash = 0</a:t>
            </a:r>
          </a:p>
          <a:p>
            <a:r>
              <a:rPr lang="en-GB" dirty="0">
                <a:latin typeface="Courier" pitchFamily="2" charset="0"/>
              </a:rPr>
              <a:t>for </a:t>
            </a:r>
            <a:r>
              <a:rPr lang="en-GB" dirty="0" err="1">
                <a:latin typeface="Courier" pitchFamily="2" charset="0"/>
              </a:rPr>
              <a:t>i</a:t>
            </a:r>
            <a:r>
              <a:rPr lang="en-GB" dirty="0">
                <a:latin typeface="Courier" pitchFamily="2" charset="0"/>
              </a:rPr>
              <a:t> in range(0, </a:t>
            </a:r>
            <a:r>
              <a:rPr lang="en-GB" dirty="0" err="1">
                <a:latin typeface="Courier" pitchFamily="2" charset="0"/>
              </a:rPr>
              <a:t>len</a:t>
            </a:r>
            <a:r>
              <a:rPr lang="en-GB" dirty="0">
                <a:latin typeface="Courier" pitchFamily="2" charset="0"/>
              </a:rPr>
              <a:t>(s)) </a:t>
            </a:r>
          </a:p>
          <a:p>
            <a:r>
              <a:rPr lang="en-GB" dirty="0">
                <a:latin typeface="Courier" pitchFamily="2" charset="0"/>
              </a:rPr>
              <a:t>	hash = (R * hash + s[</a:t>
            </a:r>
            <a:r>
              <a:rPr lang="en-GB" dirty="0" err="1">
                <a:latin typeface="Courier" pitchFamily="2" charset="0"/>
              </a:rPr>
              <a:t>i</a:t>
            </a:r>
            <a:r>
              <a:rPr lang="en-GB" dirty="0">
                <a:latin typeface="Courier" pitchFamily="2" charset="0"/>
              </a:rPr>
              <a:t>]) % M;</a:t>
            </a:r>
            <a:endParaRPr lang="en-US" dirty="0">
              <a:latin typeface="Courier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051AF85-7843-F742-A2D8-94447E95193B}"/>
              </a:ext>
            </a:extLst>
          </p:cNvPr>
          <p:cNvGrpSpPr/>
          <p:nvPr/>
        </p:nvGrpSpPr>
        <p:grpSpPr>
          <a:xfrm>
            <a:off x="4035971" y="4355880"/>
            <a:ext cx="4306665" cy="1217821"/>
            <a:chOff x="4603531" y="5848738"/>
            <a:chExt cx="4306665" cy="12178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55C2A3B-805F-B14E-865B-4E2AFDF687E1}"/>
                </a:ext>
              </a:extLst>
            </p:cNvPr>
            <p:cNvSpPr txBox="1"/>
            <p:nvPr/>
          </p:nvSpPr>
          <p:spPr>
            <a:xfrm>
              <a:off x="6699334" y="6420228"/>
              <a:ext cx="221086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small prime number</a:t>
              </a: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(e.g., in Java 31)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9739482B-2257-0E48-9971-16BE3B1312AA}"/>
                </a:ext>
              </a:extLst>
            </p:cNvPr>
            <p:cNvCxnSpPr>
              <a:stCxn id="5" idx="1"/>
            </p:cNvCxnSpPr>
            <p:nvPr/>
          </p:nvCxnSpPr>
          <p:spPr>
            <a:xfrm flipH="1" flipV="1">
              <a:off x="4855780" y="6214420"/>
              <a:ext cx="1843554" cy="528974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37BA180-1C1B-EC49-A902-EACC25353066}"/>
                </a:ext>
              </a:extLst>
            </p:cNvPr>
            <p:cNvSpPr/>
            <p:nvPr/>
          </p:nvSpPr>
          <p:spPr>
            <a:xfrm>
              <a:off x="4603531" y="5848738"/>
              <a:ext cx="362607" cy="387996"/>
            </a:xfrm>
            <a:prstGeom prst="ellipse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7145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Symbol Table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Binary Search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Balanced Search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Hash Table</a:t>
            </a:r>
          </a:p>
          <a:p>
            <a:pPr lvl="1"/>
            <a:r>
              <a:rPr lang="en-US" dirty="0"/>
              <a:t>Hash functions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Separate chaining</a:t>
            </a:r>
          </a:p>
          <a:p>
            <a:pPr lvl="1"/>
            <a:r>
              <a:rPr lang="en-US" dirty="0"/>
              <a:t>Linear probing</a:t>
            </a:r>
          </a:p>
        </p:txBody>
      </p:sp>
    </p:spTree>
    <p:extLst>
      <p:ext uri="{BB962C8B-B14F-4D97-AF65-F5344CB8AC3E}">
        <p14:creationId xmlns:p14="http://schemas.microsoft.com/office/powerpoint/2010/main" val="617897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CEEF-A4A1-EC49-AA3D-637182AAF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Collision management via Separate chaining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7A34-41C5-2844-95BE-2E5D839DF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Data structure</a:t>
            </a:r>
            <a:r>
              <a:rPr lang="en-US" dirty="0"/>
              <a:t>: array of M (&lt;N) linked lists</a:t>
            </a:r>
          </a:p>
          <a:p>
            <a:r>
              <a:rPr lang="en-US" dirty="0">
                <a:highlight>
                  <a:srgbClr val="C0C0C0"/>
                </a:highlight>
              </a:rPr>
              <a:t>Operations</a:t>
            </a:r>
          </a:p>
          <a:p>
            <a:pPr lvl="1"/>
            <a:r>
              <a:rPr lang="en-US" dirty="0"/>
              <a:t>Hash &lt;</a:t>
            </a:r>
            <a:r>
              <a:rPr lang="en-US" i="1" dirty="0"/>
              <a:t>key</a:t>
            </a:r>
            <a:r>
              <a:rPr lang="en-US" dirty="0"/>
              <a:t>&gt;: map </a:t>
            </a:r>
            <a:r>
              <a:rPr lang="en-US" i="1" dirty="0"/>
              <a:t>key</a:t>
            </a:r>
            <a:r>
              <a:rPr lang="en-US" dirty="0"/>
              <a:t> to integer </a:t>
            </a:r>
            <a:r>
              <a:rPr lang="en-US" i="1" dirty="0" err="1"/>
              <a:t>i</a:t>
            </a:r>
            <a:r>
              <a:rPr lang="en-US" dirty="0"/>
              <a:t> in [0, M-1] </a:t>
            </a:r>
          </a:p>
          <a:p>
            <a:pPr lvl="1"/>
            <a:r>
              <a:rPr lang="en-US" dirty="0"/>
              <a:t>Insert &lt;</a:t>
            </a:r>
            <a:r>
              <a:rPr lang="en-US" i="1" dirty="0"/>
              <a:t>key</a:t>
            </a:r>
            <a:r>
              <a:rPr lang="en-US" dirty="0"/>
              <a:t>, </a:t>
            </a:r>
            <a:r>
              <a:rPr lang="en-US" i="1" dirty="0"/>
              <a:t>value</a:t>
            </a:r>
            <a:r>
              <a:rPr lang="en-US" dirty="0"/>
              <a:t>&gt;: put </a:t>
            </a:r>
            <a:r>
              <a:rPr lang="en-US" i="1" dirty="0"/>
              <a:t>value</a:t>
            </a:r>
            <a:r>
              <a:rPr lang="en-US" dirty="0"/>
              <a:t> at the front of </a:t>
            </a:r>
            <a:r>
              <a:rPr lang="en-US" i="1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chain (if not already there)</a:t>
            </a:r>
          </a:p>
          <a:p>
            <a:pPr lvl="1"/>
            <a:r>
              <a:rPr lang="en-US" dirty="0"/>
              <a:t>Search &lt;</a:t>
            </a:r>
            <a:r>
              <a:rPr lang="en-US" i="1" dirty="0"/>
              <a:t>key</a:t>
            </a:r>
            <a:r>
              <a:rPr lang="en-US" dirty="0"/>
              <a:t>&gt;: linearly scan the </a:t>
            </a:r>
            <a:r>
              <a:rPr lang="en-US" i="1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chain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C94473-3FCF-484A-A5FA-373A4D8864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315629"/>
              </p:ext>
            </p:extLst>
          </p:nvPr>
        </p:nvGraphicFramePr>
        <p:xfrm>
          <a:off x="849586" y="3891280"/>
          <a:ext cx="235081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435">
                  <a:extLst>
                    <a:ext uri="{9D8B030D-6E8A-4147-A177-3AD203B41FA5}">
                      <a16:colId xmlns:a16="http://schemas.microsoft.com/office/drawing/2014/main" val="3562028691"/>
                    </a:ext>
                  </a:extLst>
                </a:gridCol>
                <a:gridCol w="930165">
                  <a:extLst>
                    <a:ext uri="{9D8B030D-6E8A-4147-A177-3AD203B41FA5}">
                      <a16:colId xmlns:a16="http://schemas.microsoft.com/office/drawing/2014/main" val="3579387943"/>
                    </a:ext>
                  </a:extLst>
                </a:gridCol>
                <a:gridCol w="725214">
                  <a:extLst>
                    <a:ext uri="{9D8B030D-6E8A-4147-A177-3AD203B41FA5}">
                      <a16:colId xmlns:a16="http://schemas.microsoft.com/office/drawing/2014/main" val="1603897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071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56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760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50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351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203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55732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E8EC3C-EDF8-644E-9BF1-1FEEB33C7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94009"/>
              </p:ext>
            </p:extLst>
          </p:nvPr>
        </p:nvGraphicFramePr>
        <p:xfrm>
          <a:off x="5041532" y="4137822"/>
          <a:ext cx="80747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470">
                  <a:extLst>
                    <a:ext uri="{9D8B030D-6E8A-4147-A177-3AD203B41FA5}">
                      <a16:colId xmlns:a16="http://schemas.microsoft.com/office/drawing/2014/main" val="603509549"/>
                    </a:ext>
                  </a:extLst>
                </a:gridCol>
                <a:gridCol w="444005">
                  <a:extLst>
                    <a:ext uri="{9D8B030D-6E8A-4147-A177-3AD203B41FA5}">
                      <a16:colId xmlns:a16="http://schemas.microsoft.com/office/drawing/2014/main" val="979280631"/>
                    </a:ext>
                  </a:extLst>
                </a:gridCol>
              </a:tblGrid>
              <a:tr h="33249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ht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 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473785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264481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481304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72259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041231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04674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42E700B-A451-7141-8ECE-23E8073BD7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412980"/>
              </p:ext>
            </p:extLst>
          </p:nvPr>
        </p:nvGraphicFramePr>
        <p:xfrm>
          <a:off x="6747817" y="5127984"/>
          <a:ext cx="8074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61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850231-8A31-8749-9B10-5985F49CA981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5612524" y="5313404"/>
            <a:ext cx="1135293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6C6C59-678C-D343-8DCB-4293E32054D3}"/>
              </a:ext>
            </a:extLst>
          </p:cNvPr>
          <p:cNvCxnSpPr>
            <a:cxnSpLocks/>
          </p:cNvCxnSpPr>
          <p:nvPr/>
        </p:nvCxnSpPr>
        <p:spPr>
          <a:xfrm>
            <a:off x="296561" y="4446754"/>
            <a:ext cx="75223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768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CEEF-A4A1-EC49-AA3D-637182AAF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Collision management via Separate chaining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7A34-41C5-2844-95BE-2E5D839DF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Data structure</a:t>
            </a:r>
            <a:r>
              <a:rPr lang="en-US" dirty="0"/>
              <a:t>: array of M (&lt;N) linked lists</a:t>
            </a:r>
          </a:p>
          <a:p>
            <a:r>
              <a:rPr lang="en-US" dirty="0">
                <a:highlight>
                  <a:srgbClr val="C0C0C0"/>
                </a:highlight>
              </a:rPr>
              <a:t>Operations</a:t>
            </a:r>
          </a:p>
          <a:p>
            <a:pPr lvl="1"/>
            <a:r>
              <a:rPr lang="en-US" dirty="0"/>
              <a:t>Hash &lt;</a:t>
            </a:r>
            <a:r>
              <a:rPr lang="en-US" i="1" dirty="0"/>
              <a:t>key</a:t>
            </a:r>
            <a:r>
              <a:rPr lang="en-US" dirty="0"/>
              <a:t>&gt;: map </a:t>
            </a:r>
            <a:r>
              <a:rPr lang="en-US" i="1" dirty="0"/>
              <a:t>key</a:t>
            </a:r>
            <a:r>
              <a:rPr lang="en-US" dirty="0"/>
              <a:t> to integer </a:t>
            </a:r>
            <a:r>
              <a:rPr lang="en-US" i="1" dirty="0" err="1"/>
              <a:t>i</a:t>
            </a:r>
            <a:r>
              <a:rPr lang="en-US" dirty="0"/>
              <a:t> in [0, M-1] </a:t>
            </a:r>
          </a:p>
          <a:p>
            <a:pPr lvl="1"/>
            <a:r>
              <a:rPr lang="en-US" dirty="0"/>
              <a:t>Insert &lt;</a:t>
            </a:r>
            <a:r>
              <a:rPr lang="en-US" i="1" dirty="0"/>
              <a:t>key</a:t>
            </a:r>
            <a:r>
              <a:rPr lang="en-US" dirty="0"/>
              <a:t>, </a:t>
            </a:r>
            <a:r>
              <a:rPr lang="en-US" i="1" dirty="0"/>
              <a:t>value</a:t>
            </a:r>
            <a:r>
              <a:rPr lang="en-US" dirty="0"/>
              <a:t>&gt;: put </a:t>
            </a:r>
            <a:r>
              <a:rPr lang="en-US" i="1" dirty="0"/>
              <a:t>value</a:t>
            </a:r>
            <a:r>
              <a:rPr lang="en-US" dirty="0"/>
              <a:t> at the front of </a:t>
            </a:r>
            <a:r>
              <a:rPr lang="en-US" i="1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chain (if not already there)</a:t>
            </a:r>
          </a:p>
          <a:p>
            <a:pPr lvl="1"/>
            <a:r>
              <a:rPr lang="en-US" dirty="0"/>
              <a:t>Search &lt;</a:t>
            </a:r>
            <a:r>
              <a:rPr lang="en-US" i="1" dirty="0"/>
              <a:t>key</a:t>
            </a:r>
            <a:r>
              <a:rPr lang="en-US" dirty="0"/>
              <a:t>&gt;: linearly scan the </a:t>
            </a:r>
            <a:r>
              <a:rPr lang="en-US" i="1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chain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C94473-3FCF-484A-A5FA-373A4D8864F8}"/>
              </a:ext>
            </a:extLst>
          </p:cNvPr>
          <p:cNvGraphicFramePr>
            <a:graphicFrameLocks noGrp="1"/>
          </p:cNvGraphicFramePr>
          <p:nvPr/>
        </p:nvGraphicFramePr>
        <p:xfrm>
          <a:off x="849586" y="3891280"/>
          <a:ext cx="235081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435">
                  <a:extLst>
                    <a:ext uri="{9D8B030D-6E8A-4147-A177-3AD203B41FA5}">
                      <a16:colId xmlns:a16="http://schemas.microsoft.com/office/drawing/2014/main" val="3562028691"/>
                    </a:ext>
                  </a:extLst>
                </a:gridCol>
                <a:gridCol w="930165">
                  <a:extLst>
                    <a:ext uri="{9D8B030D-6E8A-4147-A177-3AD203B41FA5}">
                      <a16:colId xmlns:a16="http://schemas.microsoft.com/office/drawing/2014/main" val="3579387943"/>
                    </a:ext>
                  </a:extLst>
                </a:gridCol>
                <a:gridCol w="725214">
                  <a:extLst>
                    <a:ext uri="{9D8B030D-6E8A-4147-A177-3AD203B41FA5}">
                      <a16:colId xmlns:a16="http://schemas.microsoft.com/office/drawing/2014/main" val="1603897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071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56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760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50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351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203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55732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E8EC3C-EDF8-644E-9BF1-1FEEB33C7CB4}"/>
              </a:ext>
            </a:extLst>
          </p:cNvPr>
          <p:cNvGraphicFramePr>
            <a:graphicFrameLocks noGrp="1"/>
          </p:cNvGraphicFramePr>
          <p:nvPr/>
        </p:nvGraphicFramePr>
        <p:xfrm>
          <a:off x="5041532" y="4137822"/>
          <a:ext cx="80747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470">
                  <a:extLst>
                    <a:ext uri="{9D8B030D-6E8A-4147-A177-3AD203B41FA5}">
                      <a16:colId xmlns:a16="http://schemas.microsoft.com/office/drawing/2014/main" val="603509549"/>
                    </a:ext>
                  </a:extLst>
                </a:gridCol>
                <a:gridCol w="444005">
                  <a:extLst>
                    <a:ext uri="{9D8B030D-6E8A-4147-A177-3AD203B41FA5}">
                      <a16:colId xmlns:a16="http://schemas.microsoft.com/office/drawing/2014/main" val="979280631"/>
                    </a:ext>
                  </a:extLst>
                </a:gridCol>
              </a:tblGrid>
              <a:tr h="33249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ht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 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473785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264481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481304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72259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041231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04674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42E700B-A451-7141-8ECE-23E8073BD7A2}"/>
              </a:ext>
            </a:extLst>
          </p:cNvPr>
          <p:cNvGraphicFramePr>
            <a:graphicFrameLocks noGrp="1"/>
          </p:cNvGraphicFramePr>
          <p:nvPr/>
        </p:nvGraphicFramePr>
        <p:xfrm>
          <a:off x="6747817" y="5127984"/>
          <a:ext cx="8074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61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850231-8A31-8749-9B10-5985F49CA981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5612524" y="5313404"/>
            <a:ext cx="1135293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ABAD067-6837-7748-BF03-441116FD9BE5}"/>
              </a:ext>
            </a:extLst>
          </p:cNvPr>
          <p:cNvGraphicFramePr>
            <a:graphicFrameLocks noGrp="1"/>
          </p:cNvGraphicFramePr>
          <p:nvPr/>
        </p:nvGraphicFramePr>
        <p:xfrm>
          <a:off x="6765386" y="4471399"/>
          <a:ext cx="8074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61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6C6C59-678C-D343-8DCB-4293E32054D3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5630093" y="4656819"/>
            <a:ext cx="1135293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9720BE-E744-DF49-9FD2-D28F91525557}"/>
              </a:ext>
            </a:extLst>
          </p:cNvPr>
          <p:cNvCxnSpPr>
            <a:cxnSpLocks/>
          </p:cNvCxnSpPr>
          <p:nvPr/>
        </p:nvCxnSpPr>
        <p:spPr>
          <a:xfrm>
            <a:off x="296561" y="4817458"/>
            <a:ext cx="75223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353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CEEF-A4A1-EC49-AA3D-637182AAF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Collision management via Separate chaining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7A34-41C5-2844-95BE-2E5D839DF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Data structure</a:t>
            </a:r>
            <a:r>
              <a:rPr lang="en-US" dirty="0"/>
              <a:t>: array of M (&lt;&lt;N) linked lists</a:t>
            </a:r>
          </a:p>
          <a:p>
            <a:r>
              <a:rPr lang="en-US" dirty="0">
                <a:highlight>
                  <a:srgbClr val="C0C0C0"/>
                </a:highlight>
              </a:rPr>
              <a:t>Operations</a:t>
            </a:r>
          </a:p>
          <a:p>
            <a:pPr lvl="1"/>
            <a:r>
              <a:rPr lang="en-US" dirty="0"/>
              <a:t>Hash &lt;</a:t>
            </a:r>
            <a:r>
              <a:rPr lang="en-US" i="1" dirty="0"/>
              <a:t>key</a:t>
            </a:r>
            <a:r>
              <a:rPr lang="en-US" dirty="0"/>
              <a:t>&gt;: map </a:t>
            </a:r>
            <a:r>
              <a:rPr lang="en-US" i="1" dirty="0"/>
              <a:t>key</a:t>
            </a:r>
            <a:r>
              <a:rPr lang="en-US" dirty="0"/>
              <a:t> to integer </a:t>
            </a:r>
            <a:r>
              <a:rPr lang="en-US" i="1" dirty="0" err="1"/>
              <a:t>i</a:t>
            </a:r>
            <a:r>
              <a:rPr lang="en-US" dirty="0"/>
              <a:t> in [0, M-1] </a:t>
            </a:r>
          </a:p>
          <a:p>
            <a:pPr lvl="1"/>
            <a:r>
              <a:rPr lang="en-US" dirty="0"/>
              <a:t>Insert &lt;</a:t>
            </a:r>
            <a:r>
              <a:rPr lang="en-US" i="1" dirty="0"/>
              <a:t>key</a:t>
            </a:r>
            <a:r>
              <a:rPr lang="en-US" dirty="0"/>
              <a:t>, </a:t>
            </a:r>
            <a:r>
              <a:rPr lang="en-US" i="1" dirty="0"/>
              <a:t>value</a:t>
            </a:r>
            <a:r>
              <a:rPr lang="en-US" dirty="0"/>
              <a:t>&gt;: put </a:t>
            </a:r>
            <a:r>
              <a:rPr lang="en-US" i="1" dirty="0"/>
              <a:t>value</a:t>
            </a:r>
            <a:r>
              <a:rPr lang="en-US" dirty="0"/>
              <a:t> at the front of </a:t>
            </a:r>
            <a:r>
              <a:rPr lang="en-US" i="1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chain (if not already there)</a:t>
            </a:r>
          </a:p>
          <a:p>
            <a:pPr lvl="1"/>
            <a:r>
              <a:rPr lang="en-US" dirty="0"/>
              <a:t>Search &lt;</a:t>
            </a:r>
            <a:r>
              <a:rPr lang="en-US" i="1" dirty="0"/>
              <a:t>key</a:t>
            </a:r>
            <a:r>
              <a:rPr lang="en-US" dirty="0"/>
              <a:t>&gt;: linearly scan the </a:t>
            </a:r>
            <a:r>
              <a:rPr lang="en-US" i="1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chain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C94473-3FCF-484A-A5FA-373A4D8864F8}"/>
              </a:ext>
            </a:extLst>
          </p:cNvPr>
          <p:cNvGraphicFramePr>
            <a:graphicFrameLocks noGrp="1"/>
          </p:cNvGraphicFramePr>
          <p:nvPr/>
        </p:nvGraphicFramePr>
        <p:xfrm>
          <a:off x="849586" y="3891280"/>
          <a:ext cx="235081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435">
                  <a:extLst>
                    <a:ext uri="{9D8B030D-6E8A-4147-A177-3AD203B41FA5}">
                      <a16:colId xmlns:a16="http://schemas.microsoft.com/office/drawing/2014/main" val="3562028691"/>
                    </a:ext>
                  </a:extLst>
                </a:gridCol>
                <a:gridCol w="930165">
                  <a:extLst>
                    <a:ext uri="{9D8B030D-6E8A-4147-A177-3AD203B41FA5}">
                      <a16:colId xmlns:a16="http://schemas.microsoft.com/office/drawing/2014/main" val="3579387943"/>
                    </a:ext>
                  </a:extLst>
                </a:gridCol>
                <a:gridCol w="725214">
                  <a:extLst>
                    <a:ext uri="{9D8B030D-6E8A-4147-A177-3AD203B41FA5}">
                      <a16:colId xmlns:a16="http://schemas.microsoft.com/office/drawing/2014/main" val="1603897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071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56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760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50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351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203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55732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E8EC3C-EDF8-644E-9BF1-1FEEB33C7CB4}"/>
              </a:ext>
            </a:extLst>
          </p:cNvPr>
          <p:cNvGraphicFramePr>
            <a:graphicFrameLocks noGrp="1"/>
          </p:cNvGraphicFramePr>
          <p:nvPr/>
        </p:nvGraphicFramePr>
        <p:xfrm>
          <a:off x="5041532" y="4137822"/>
          <a:ext cx="80747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470">
                  <a:extLst>
                    <a:ext uri="{9D8B030D-6E8A-4147-A177-3AD203B41FA5}">
                      <a16:colId xmlns:a16="http://schemas.microsoft.com/office/drawing/2014/main" val="603509549"/>
                    </a:ext>
                  </a:extLst>
                </a:gridCol>
                <a:gridCol w="444005">
                  <a:extLst>
                    <a:ext uri="{9D8B030D-6E8A-4147-A177-3AD203B41FA5}">
                      <a16:colId xmlns:a16="http://schemas.microsoft.com/office/drawing/2014/main" val="979280631"/>
                    </a:ext>
                  </a:extLst>
                </a:gridCol>
              </a:tblGrid>
              <a:tr h="33249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ht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 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473785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264481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481304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72259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041231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04674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42E700B-A451-7141-8ECE-23E8073BD7A2}"/>
              </a:ext>
            </a:extLst>
          </p:cNvPr>
          <p:cNvGraphicFramePr>
            <a:graphicFrameLocks noGrp="1"/>
          </p:cNvGraphicFramePr>
          <p:nvPr/>
        </p:nvGraphicFramePr>
        <p:xfrm>
          <a:off x="6747817" y="5127984"/>
          <a:ext cx="8074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61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850231-8A31-8749-9B10-5985F49CA981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5612524" y="5313404"/>
            <a:ext cx="1135293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ABAD067-6837-7748-BF03-441116FD9BE5}"/>
              </a:ext>
            </a:extLst>
          </p:cNvPr>
          <p:cNvGraphicFramePr>
            <a:graphicFrameLocks noGrp="1"/>
          </p:cNvGraphicFramePr>
          <p:nvPr/>
        </p:nvGraphicFramePr>
        <p:xfrm>
          <a:off x="6765386" y="4471399"/>
          <a:ext cx="8074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61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6C6C59-678C-D343-8DCB-4293E32054D3}"/>
              </a:ext>
            </a:extLst>
          </p:cNvPr>
          <p:cNvCxnSpPr>
            <a:cxnSpLocks/>
          </p:cNvCxnSpPr>
          <p:nvPr/>
        </p:nvCxnSpPr>
        <p:spPr>
          <a:xfrm>
            <a:off x="5645859" y="4656819"/>
            <a:ext cx="1135293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E74C58A-EF63-594D-9885-F61C8D8F098E}"/>
              </a:ext>
            </a:extLst>
          </p:cNvPr>
          <p:cNvGraphicFramePr>
            <a:graphicFrameLocks noGrp="1"/>
          </p:cNvGraphicFramePr>
          <p:nvPr/>
        </p:nvGraphicFramePr>
        <p:xfrm>
          <a:off x="7945066" y="4489390"/>
          <a:ext cx="8074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61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3977F6-2984-034B-BABB-AC3B7B20F8A0}"/>
              </a:ext>
            </a:extLst>
          </p:cNvPr>
          <p:cNvCxnSpPr>
            <a:cxnSpLocks/>
          </p:cNvCxnSpPr>
          <p:nvPr/>
        </p:nvCxnSpPr>
        <p:spPr>
          <a:xfrm>
            <a:off x="7588627" y="4674810"/>
            <a:ext cx="341428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A68B7B4-7064-9C47-9093-8FDB7B28ECD0}"/>
              </a:ext>
            </a:extLst>
          </p:cNvPr>
          <p:cNvCxnSpPr>
            <a:cxnSpLocks/>
          </p:cNvCxnSpPr>
          <p:nvPr/>
        </p:nvCxnSpPr>
        <p:spPr>
          <a:xfrm>
            <a:off x="210064" y="5177412"/>
            <a:ext cx="75223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044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CEEF-A4A1-EC49-AA3D-637182AAF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Collision management via Separate chaining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7A34-41C5-2844-95BE-2E5D839DF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Data structure</a:t>
            </a:r>
            <a:r>
              <a:rPr lang="en-US" dirty="0"/>
              <a:t>: array of M (&lt;&lt;N) linked lists</a:t>
            </a:r>
          </a:p>
          <a:p>
            <a:r>
              <a:rPr lang="en-US" dirty="0">
                <a:highlight>
                  <a:srgbClr val="C0C0C0"/>
                </a:highlight>
              </a:rPr>
              <a:t>Operations</a:t>
            </a:r>
          </a:p>
          <a:p>
            <a:pPr lvl="1"/>
            <a:r>
              <a:rPr lang="en-US" dirty="0"/>
              <a:t>Hash &lt;</a:t>
            </a:r>
            <a:r>
              <a:rPr lang="en-US" i="1" dirty="0"/>
              <a:t>key</a:t>
            </a:r>
            <a:r>
              <a:rPr lang="en-US" dirty="0"/>
              <a:t>&gt;: map </a:t>
            </a:r>
            <a:r>
              <a:rPr lang="en-US" i="1" dirty="0"/>
              <a:t>key</a:t>
            </a:r>
            <a:r>
              <a:rPr lang="en-US" dirty="0"/>
              <a:t> to integer </a:t>
            </a:r>
            <a:r>
              <a:rPr lang="en-US" i="1" dirty="0" err="1"/>
              <a:t>i</a:t>
            </a:r>
            <a:r>
              <a:rPr lang="en-US" dirty="0"/>
              <a:t> in [0, M-1] </a:t>
            </a:r>
          </a:p>
          <a:p>
            <a:pPr lvl="1"/>
            <a:r>
              <a:rPr lang="en-US" dirty="0"/>
              <a:t>Insert &lt;</a:t>
            </a:r>
            <a:r>
              <a:rPr lang="en-US" i="1" dirty="0"/>
              <a:t>key</a:t>
            </a:r>
            <a:r>
              <a:rPr lang="en-US" dirty="0"/>
              <a:t>, </a:t>
            </a:r>
            <a:r>
              <a:rPr lang="en-US" i="1" dirty="0"/>
              <a:t>value</a:t>
            </a:r>
            <a:r>
              <a:rPr lang="en-US" dirty="0"/>
              <a:t>&gt;: put </a:t>
            </a:r>
            <a:r>
              <a:rPr lang="en-US" i="1" dirty="0"/>
              <a:t>value</a:t>
            </a:r>
            <a:r>
              <a:rPr lang="en-US" dirty="0"/>
              <a:t> at the front of </a:t>
            </a:r>
            <a:r>
              <a:rPr lang="en-US" i="1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chain (if not already there)</a:t>
            </a:r>
          </a:p>
          <a:p>
            <a:pPr lvl="1"/>
            <a:r>
              <a:rPr lang="en-US" dirty="0"/>
              <a:t>Search &lt;</a:t>
            </a:r>
            <a:r>
              <a:rPr lang="en-US" i="1" dirty="0"/>
              <a:t>key</a:t>
            </a:r>
            <a:r>
              <a:rPr lang="en-US" dirty="0"/>
              <a:t>&gt;: linearly scan the </a:t>
            </a:r>
            <a:r>
              <a:rPr lang="en-US" i="1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chain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C94473-3FCF-484A-A5FA-373A4D8864F8}"/>
              </a:ext>
            </a:extLst>
          </p:cNvPr>
          <p:cNvGraphicFramePr>
            <a:graphicFrameLocks noGrp="1"/>
          </p:cNvGraphicFramePr>
          <p:nvPr/>
        </p:nvGraphicFramePr>
        <p:xfrm>
          <a:off x="849586" y="3891280"/>
          <a:ext cx="235081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435">
                  <a:extLst>
                    <a:ext uri="{9D8B030D-6E8A-4147-A177-3AD203B41FA5}">
                      <a16:colId xmlns:a16="http://schemas.microsoft.com/office/drawing/2014/main" val="3562028691"/>
                    </a:ext>
                  </a:extLst>
                </a:gridCol>
                <a:gridCol w="930165">
                  <a:extLst>
                    <a:ext uri="{9D8B030D-6E8A-4147-A177-3AD203B41FA5}">
                      <a16:colId xmlns:a16="http://schemas.microsoft.com/office/drawing/2014/main" val="3579387943"/>
                    </a:ext>
                  </a:extLst>
                </a:gridCol>
                <a:gridCol w="725214">
                  <a:extLst>
                    <a:ext uri="{9D8B030D-6E8A-4147-A177-3AD203B41FA5}">
                      <a16:colId xmlns:a16="http://schemas.microsoft.com/office/drawing/2014/main" val="1603897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071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56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760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50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351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203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55732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E8EC3C-EDF8-644E-9BF1-1FEEB33C7CB4}"/>
              </a:ext>
            </a:extLst>
          </p:cNvPr>
          <p:cNvGraphicFramePr>
            <a:graphicFrameLocks noGrp="1"/>
          </p:cNvGraphicFramePr>
          <p:nvPr/>
        </p:nvGraphicFramePr>
        <p:xfrm>
          <a:off x="5041532" y="4137822"/>
          <a:ext cx="80747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470">
                  <a:extLst>
                    <a:ext uri="{9D8B030D-6E8A-4147-A177-3AD203B41FA5}">
                      <a16:colId xmlns:a16="http://schemas.microsoft.com/office/drawing/2014/main" val="603509549"/>
                    </a:ext>
                  </a:extLst>
                </a:gridCol>
                <a:gridCol w="444005">
                  <a:extLst>
                    <a:ext uri="{9D8B030D-6E8A-4147-A177-3AD203B41FA5}">
                      <a16:colId xmlns:a16="http://schemas.microsoft.com/office/drawing/2014/main" val="979280631"/>
                    </a:ext>
                  </a:extLst>
                </a:gridCol>
              </a:tblGrid>
              <a:tr h="33249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ht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 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473785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264481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481304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72259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041231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04674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42E700B-A451-7141-8ECE-23E8073BD7A2}"/>
              </a:ext>
            </a:extLst>
          </p:cNvPr>
          <p:cNvGraphicFramePr>
            <a:graphicFrameLocks noGrp="1"/>
          </p:cNvGraphicFramePr>
          <p:nvPr/>
        </p:nvGraphicFramePr>
        <p:xfrm>
          <a:off x="6747817" y="5127984"/>
          <a:ext cx="8074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61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850231-8A31-8749-9B10-5985F49CA981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5612524" y="5313404"/>
            <a:ext cx="1135293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ABAD067-6837-7748-BF03-441116FD9B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886277"/>
              </p:ext>
            </p:extLst>
          </p:nvPr>
        </p:nvGraphicFramePr>
        <p:xfrm>
          <a:off x="6765386" y="4471399"/>
          <a:ext cx="8074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61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6C6C59-678C-D343-8DCB-4293E32054D3}"/>
              </a:ext>
            </a:extLst>
          </p:cNvPr>
          <p:cNvCxnSpPr>
            <a:cxnSpLocks/>
          </p:cNvCxnSpPr>
          <p:nvPr/>
        </p:nvCxnSpPr>
        <p:spPr>
          <a:xfrm>
            <a:off x="5645859" y="4656819"/>
            <a:ext cx="1135293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E74C58A-EF63-594D-9885-F61C8D8F0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627468"/>
              </p:ext>
            </p:extLst>
          </p:nvPr>
        </p:nvGraphicFramePr>
        <p:xfrm>
          <a:off x="7945066" y="4489390"/>
          <a:ext cx="8074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61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3977F6-2984-034B-BABB-AC3B7B20F8A0}"/>
              </a:ext>
            </a:extLst>
          </p:cNvPr>
          <p:cNvCxnSpPr>
            <a:cxnSpLocks/>
          </p:cNvCxnSpPr>
          <p:nvPr/>
        </p:nvCxnSpPr>
        <p:spPr>
          <a:xfrm>
            <a:off x="7588627" y="4674810"/>
            <a:ext cx="341428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9A42AD0-6C71-5B4C-84CC-92AC7FCDD6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889128"/>
              </p:ext>
            </p:extLst>
          </p:nvPr>
        </p:nvGraphicFramePr>
        <p:xfrm>
          <a:off x="6747817" y="5809441"/>
          <a:ext cx="80469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080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D55C452-A872-2D45-9CCA-23EA40331D57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5612524" y="5994861"/>
            <a:ext cx="1135293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4DFA078-9BDB-2E4D-A21F-6FFE935FE0C9}"/>
              </a:ext>
            </a:extLst>
          </p:cNvPr>
          <p:cNvCxnSpPr>
            <a:cxnSpLocks/>
          </p:cNvCxnSpPr>
          <p:nvPr/>
        </p:nvCxnSpPr>
        <p:spPr>
          <a:xfrm>
            <a:off x="210064" y="5548117"/>
            <a:ext cx="75223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0856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CEEF-A4A1-EC49-AA3D-637182AAF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Collision management via Separate chaining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7A34-41C5-2844-95BE-2E5D839DF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Data structure</a:t>
            </a:r>
            <a:r>
              <a:rPr lang="en-US" dirty="0"/>
              <a:t>: array of M (&lt;&lt;N) linked lists</a:t>
            </a:r>
          </a:p>
          <a:p>
            <a:r>
              <a:rPr lang="en-US" dirty="0">
                <a:highlight>
                  <a:srgbClr val="C0C0C0"/>
                </a:highlight>
              </a:rPr>
              <a:t>Operations</a:t>
            </a:r>
          </a:p>
          <a:p>
            <a:pPr lvl="1"/>
            <a:r>
              <a:rPr lang="en-US" dirty="0"/>
              <a:t>Hash &lt;</a:t>
            </a:r>
            <a:r>
              <a:rPr lang="en-US" i="1" dirty="0"/>
              <a:t>key</a:t>
            </a:r>
            <a:r>
              <a:rPr lang="en-US" dirty="0"/>
              <a:t>&gt;: map </a:t>
            </a:r>
            <a:r>
              <a:rPr lang="en-US" i="1" dirty="0"/>
              <a:t>key</a:t>
            </a:r>
            <a:r>
              <a:rPr lang="en-US" dirty="0"/>
              <a:t> to integer </a:t>
            </a:r>
            <a:r>
              <a:rPr lang="en-US" i="1" dirty="0" err="1"/>
              <a:t>i</a:t>
            </a:r>
            <a:r>
              <a:rPr lang="en-US" dirty="0"/>
              <a:t> in [0, M-1] </a:t>
            </a:r>
          </a:p>
          <a:p>
            <a:pPr lvl="1"/>
            <a:r>
              <a:rPr lang="en-US" dirty="0"/>
              <a:t>Insert &lt;</a:t>
            </a:r>
            <a:r>
              <a:rPr lang="en-US" i="1" dirty="0"/>
              <a:t>key</a:t>
            </a:r>
            <a:r>
              <a:rPr lang="en-US" dirty="0"/>
              <a:t>, </a:t>
            </a:r>
            <a:r>
              <a:rPr lang="en-US" i="1" dirty="0"/>
              <a:t>value</a:t>
            </a:r>
            <a:r>
              <a:rPr lang="en-US" dirty="0"/>
              <a:t>&gt;: put </a:t>
            </a:r>
            <a:r>
              <a:rPr lang="en-US" i="1" dirty="0"/>
              <a:t>value</a:t>
            </a:r>
            <a:r>
              <a:rPr lang="en-US" dirty="0"/>
              <a:t> at the front of </a:t>
            </a:r>
            <a:r>
              <a:rPr lang="en-US" i="1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chain (if not already there)</a:t>
            </a:r>
          </a:p>
          <a:p>
            <a:pPr lvl="1"/>
            <a:r>
              <a:rPr lang="en-US" dirty="0"/>
              <a:t>Search &lt;</a:t>
            </a:r>
            <a:r>
              <a:rPr lang="en-US" i="1" dirty="0"/>
              <a:t>key</a:t>
            </a:r>
            <a:r>
              <a:rPr lang="en-US" dirty="0"/>
              <a:t>&gt;: linearly scan the </a:t>
            </a:r>
            <a:r>
              <a:rPr lang="en-US" i="1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chain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C94473-3FCF-484A-A5FA-373A4D8864F8}"/>
              </a:ext>
            </a:extLst>
          </p:cNvPr>
          <p:cNvGraphicFramePr>
            <a:graphicFrameLocks noGrp="1"/>
          </p:cNvGraphicFramePr>
          <p:nvPr/>
        </p:nvGraphicFramePr>
        <p:xfrm>
          <a:off x="849586" y="3891280"/>
          <a:ext cx="235081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435">
                  <a:extLst>
                    <a:ext uri="{9D8B030D-6E8A-4147-A177-3AD203B41FA5}">
                      <a16:colId xmlns:a16="http://schemas.microsoft.com/office/drawing/2014/main" val="3562028691"/>
                    </a:ext>
                  </a:extLst>
                </a:gridCol>
                <a:gridCol w="930165">
                  <a:extLst>
                    <a:ext uri="{9D8B030D-6E8A-4147-A177-3AD203B41FA5}">
                      <a16:colId xmlns:a16="http://schemas.microsoft.com/office/drawing/2014/main" val="3579387943"/>
                    </a:ext>
                  </a:extLst>
                </a:gridCol>
                <a:gridCol w="725214">
                  <a:extLst>
                    <a:ext uri="{9D8B030D-6E8A-4147-A177-3AD203B41FA5}">
                      <a16:colId xmlns:a16="http://schemas.microsoft.com/office/drawing/2014/main" val="1603897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071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56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760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50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351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203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55732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E8EC3C-EDF8-644E-9BF1-1FEEB33C7CB4}"/>
              </a:ext>
            </a:extLst>
          </p:cNvPr>
          <p:cNvGraphicFramePr>
            <a:graphicFrameLocks noGrp="1"/>
          </p:cNvGraphicFramePr>
          <p:nvPr/>
        </p:nvGraphicFramePr>
        <p:xfrm>
          <a:off x="5041532" y="4137822"/>
          <a:ext cx="80747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470">
                  <a:extLst>
                    <a:ext uri="{9D8B030D-6E8A-4147-A177-3AD203B41FA5}">
                      <a16:colId xmlns:a16="http://schemas.microsoft.com/office/drawing/2014/main" val="603509549"/>
                    </a:ext>
                  </a:extLst>
                </a:gridCol>
                <a:gridCol w="444005">
                  <a:extLst>
                    <a:ext uri="{9D8B030D-6E8A-4147-A177-3AD203B41FA5}">
                      <a16:colId xmlns:a16="http://schemas.microsoft.com/office/drawing/2014/main" val="979280631"/>
                    </a:ext>
                  </a:extLst>
                </a:gridCol>
              </a:tblGrid>
              <a:tr h="33249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ht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 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473785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264481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481304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72259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041231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04674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42E700B-A451-7141-8ECE-23E8073BD7A2}"/>
              </a:ext>
            </a:extLst>
          </p:cNvPr>
          <p:cNvGraphicFramePr>
            <a:graphicFrameLocks noGrp="1"/>
          </p:cNvGraphicFramePr>
          <p:nvPr/>
        </p:nvGraphicFramePr>
        <p:xfrm>
          <a:off x="6747817" y="5127984"/>
          <a:ext cx="8074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61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850231-8A31-8749-9B10-5985F49CA981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5612524" y="5313404"/>
            <a:ext cx="1135293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ABAD067-6837-7748-BF03-441116FD9BE5}"/>
              </a:ext>
            </a:extLst>
          </p:cNvPr>
          <p:cNvGraphicFramePr>
            <a:graphicFrameLocks noGrp="1"/>
          </p:cNvGraphicFramePr>
          <p:nvPr/>
        </p:nvGraphicFramePr>
        <p:xfrm>
          <a:off x="6765386" y="4471399"/>
          <a:ext cx="8074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61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6C6C59-678C-D343-8DCB-4293E32054D3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5630093" y="4656819"/>
            <a:ext cx="1135293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E74C58A-EF63-594D-9885-F61C8D8F098E}"/>
              </a:ext>
            </a:extLst>
          </p:cNvPr>
          <p:cNvGraphicFramePr>
            <a:graphicFrameLocks noGrp="1"/>
          </p:cNvGraphicFramePr>
          <p:nvPr/>
        </p:nvGraphicFramePr>
        <p:xfrm>
          <a:off x="7929300" y="4489390"/>
          <a:ext cx="8074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61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3977F6-2984-034B-BABB-AC3B7B20F8A0}"/>
              </a:ext>
            </a:extLst>
          </p:cNvPr>
          <p:cNvCxnSpPr>
            <a:cxnSpLocks/>
          </p:cNvCxnSpPr>
          <p:nvPr/>
        </p:nvCxnSpPr>
        <p:spPr>
          <a:xfrm>
            <a:off x="7588627" y="4674810"/>
            <a:ext cx="341428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9A42AD0-6C71-5B4C-84CC-92AC7FCDD6CB}"/>
              </a:ext>
            </a:extLst>
          </p:cNvPr>
          <p:cNvGraphicFramePr>
            <a:graphicFrameLocks noGrp="1"/>
          </p:cNvGraphicFramePr>
          <p:nvPr/>
        </p:nvGraphicFramePr>
        <p:xfrm>
          <a:off x="6747817" y="5809441"/>
          <a:ext cx="8074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61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D55C452-A872-2D45-9CCA-23EA40331D57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5612524" y="5994861"/>
            <a:ext cx="1135293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09B170B-54D0-B247-85FC-A8234B7A9AF4}"/>
              </a:ext>
            </a:extLst>
          </p:cNvPr>
          <p:cNvGraphicFramePr>
            <a:graphicFrameLocks noGrp="1"/>
          </p:cNvGraphicFramePr>
          <p:nvPr/>
        </p:nvGraphicFramePr>
        <p:xfrm>
          <a:off x="7929300" y="5810194"/>
          <a:ext cx="8074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61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D5DC0B8-8119-7E43-8C5C-0B6FFA5D8FC7}"/>
              </a:ext>
            </a:extLst>
          </p:cNvPr>
          <p:cNvCxnSpPr>
            <a:cxnSpLocks/>
          </p:cNvCxnSpPr>
          <p:nvPr/>
        </p:nvCxnSpPr>
        <p:spPr>
          <a:xfrm>
            <a:off x="7588627" y="5995614"/>
            <a:ext cx="341428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1194EFB-679B-644A-9F85-925780CB45CD}"/>
              </a:ext>
            </a:extLst>
          </p:cNvPr>
          <p:cNvCxnSpPr>
            <a:cxnSpLocks/>
          </p:cNvCxnSpPr>
          <p:nvPr/>
        </p:nvCxnSpPr>
        <p:spPr>
          <a:xfrm>
            <a:off x="210064" y="5931180"/>
            <a:ext cx="75223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2407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CEEF-A4A1-EC49-AA3D-637182AAF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Collision management via Separate chaining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7A34-41C5-2844-95BE-2E5D839DF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Data structure</a:t>
            </a:r>
            <a:r>
              <a:rPr lang="en-US" dirty="0"/>
              <a:t>: array of M (&lt;&lt;N) linked lists</a:t>
            </a:r>
          </a:p>
          <a:p>
            <a:r>
              <a:rPr lang="en-US" dirty="0">
                <a:highlight>
                  <a:srgbClr val="C0C0C0"/>
                </a:highlight>
              </a:rPr>
              <a:t>Operations</a:t>
            </a:r>
          </a:p>
          <a:p>
            <a:pPr lvl="1"/>
            <a:r>
              <a:rPr lang="en-US" dirty="0"/>
              <a:t>Hash &lt;</a:t>
            </a:r>
            <a:r>
              <a:rPr lang="en-US" i="1" dirty="0"/>
              <a:t>key</a:t>
            </a:r>
            <a:r>
              <a:rPr lang="en-US" dirty="0"/>
              <a:t>&gt;: map </a:t>
            </a:r>
            <a:r>
              <a:rPr lang="en-US" i="1" dirty="0"/>
              <a:t>key</a:t>
            </a:r>
            <a:r>
              <a:rPr lang="en-US" dirty="0"/>
              <a:t> to integer </a:t>
            </a:r>
            <a:r>
              <a:rPr lang="en-US" i="1" dirty="0" err="1"/>
              <a:t>i</a:t>
            </a:r>
            <a:r>
              <a:rPr lang="en-US" dirty="0"/>
              <a:t> in [0, M-1] </a:t>
            </a:r>
          </a:p>
          <a:p>
            <a:pPr lvl="1"/>
            <a:r>
              <a:rPr lang="en-US" dirty="0"/>
              <a:t>Insert &lt;</a:t>
            </a:r>
            <a:r>
              <a:rPr lang="en-US" i="1" dirty="0"/>
              <a:t>key</a:t>
            </a:r>
            <a:r>
              <a:rPr lang="en-US" dirty="0"/>
              <a:t>, </a:t>
            </a:r>
            <a:r>
              <a:rPr lang="en-US" i="1" dirty="0"/>
              <a:t>value</a:t>
            </a:r>
            <a:r>
              <a:rPr lang="en-US" dirty="0"/>
              <a:t>&gt;: put </a:t>
            </a:r>
            <a:r>
              <a:rPr lang="en-US" i="1" dirty="0"/>
              <a:t>value</a:t>
            </a:r>
            <a:r>
              <a:rPr lang="en-US" dirty="0"/>
              <a:t> at the front of </a:t>
            </a:r>
            <a:r>
              <a:rPr lang="en-US" i="1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chain (if not already there)</a:t>
            </a:r>
          </a:p>
          <a:p>
            <a:pPr lvl="1"/>
            <a:r>
              <a:rPr lang="en-US" dirty="0"/>
              <a:t>Search &lt;</a:t>
            </a:r>
            <a:r>
              <a:rPr lang="en-US" i="1" dirty="0"/>
              <a:t>key</a:t>
            </a:r>
            <a:r>
              <a:rPr lang="en-US" dirty="0"/>
              <a:t>&gt;: linearly scan the </a:t>
            </a:r>
            <a:r>
              <a:rPr lang="en-US" i="1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chain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C94473-3FCF-484A-A5FA-373A4D8864F8}"/>
              </a:ext>
            </a:extLst>
          </p:cNvPr>
          <p:cNvGraphicFramePr>
            <a:graphicFrameLocks noGrp="1"/>
          </p:cNvGraphicFramePr>
          <p:nvPr/>
        </p:nvGraphicFramePr>
        <p:xfrm>
          <a:off x="849586" y="3891280"/>
          <a:ext cx="235081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435">
                  <a:extLst>
                    <a:ext uri="{9D8B030D-6E8A-4147-A177-3AD203B41FA5}">
                      <a16:colId xmlns:a16="http://schemas.microsoft.com/office/drawing/2014/main" val="3562028691"/>
                    </a:ext>
                  </a:extLst>
                </a:gridCol>
                <a:gridCol w="930165">
                  <a:extLst>
                    <a:ext uri="{9D8B030D-6E8A-4147-A177-3AD203B41FA5}">
                      <a16:colId xmlns:a16="http://schemas.microsoft.com/office/drawing/2014/main" val="3579387943"/>
                    </a:ext>
                  </a:extLst>
                </a:gridCol>
                <a:gridCol w="725214">
                  <a:extLst>
                    <a:ext uri="{9D8B030D-6E8A-4147-A177-3AD203B41FA5}">
                      <a16:colId xmlns:a16="http://schemas.microsoft.com/office/drawing/2014/main" val="1603897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071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56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760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50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351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203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55732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E8EC3C-EDF8-644E-9BF1-1FEEB33C7CB4}"/>
              </a:ext>
            </a:extLst>
          </p:cNvPr>
          <p:cNvGraphicFramePr>
            <a:graphicFrameLocks noGrp="1"/>
          </p:cNvGraphicFramePr>
          <p:nvPr/>
        </p:nvGraphicFramePr>
        <p:xfrm>
          <a:off x="5041532" y="4137822"/>
          <a:ext cx="80747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470">
                  <a:extLst>
                    <a:ext uri="{9D8B030D-6E8A-4147-A177-3AD203B41FA5}">
                      <a16:colId xmlns:a16="http://schemas.microsoft.com/office/drawing/2014/main" val="603509549"/>
                    </a:ext>
                  </a:extLst>
                </a:gridCol>
                <a:gridCol w="444005">
                  <a:extLst>
                    <a:ext uri="{9D8B030D-6E8A-4147-A177-3AD203B41FA5}">
                      <a16:colId xmlns:a16="http://schemas.microsoft.com/office/drawing/2014/main" val="979280631"/>
                    </a:ext>
                  </a:extLst>
                </a:gridCol>
              </a:tblGrid>
              <a:tr h="33249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ht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 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473785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264481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481304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72259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041231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04674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42E700B-A451-7141-8ECE-23E8073BD7A2}"/>
              </a:ext>
            </a:extLst>
          </p:cNvPr>
          <p:cNvGraphicFramePr>
            <a:graphicFrameLocks noGrp="1"/>
          </p:cNvGraphicFramePr>
          <p:nvPr/>
        </p:nvGraphicFramePr>
        <p:xfrm>
          <a:off x="6747817" y="5127984"/>
          <a:ext cx="8074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61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850231-8A31-8749-9B10-5985F49CA981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5612524" y="5313404"/>
            <a:ext cx="1135293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ABAD067-6837-7748-BF03-441116FD9BE5}"/>
              </a:ext>
            </a:extLst>
          </p:cNvPr>
          <p:cNvGraphicFramePr>
            <a:graphicFrameLocks noGrp="1"/>
          </p:cNvGraphicFramePr>
          <p:nvPr/>
        </p:nvGraphicFramePr>
        <p:xfrm>
          <a:off x="6765386" y="4471399"/>
          <a:ext cx="8074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61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6C6C59-678C-D343-8DCB-4293E32054D3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5630093" y="4656819"/>
            <a:ext cx="1135293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E74C58A-EF63-594D-9885-F61C8D8F098E}"/>
              </a:ext>
            </a:extLst>
          </p:cNvPr>
          <p:cNvGraphicFramePr>
            <a:graphicFrameLocks noGrp="1"/>
          </p:cNvGraphicFramePr>
          <p:nvPr/>
        </p:nvGraphicFramePr>
        <p:xfrm>
          <a:off x="7929300" y="4489390"/>
          <a:ext cx="8074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61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3977F6-2984-034B-BABB-AC3B7B20F8A0}"/>
              </a:ext>
            </a:extLst>
          </p:cNvPr>
          <p:cNvCxnSpPr>
            <a:cxnSpLocks/>
          </p:cNvCxnSpPr>
          <p:nvPr/>
        </p:nvCxnSpPr>
        <p:spPr>
          <a:xfrm>
            <a:off x="7588627" y="4674810"/>
            <a:ext cx="341428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9A42AD0-6C71-5B4C-84CC-92AC7FCDD6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817670"/>
              </p:ext>
            </p:extLst>
          </p:nvPr>
        </p:nvGraphicFramePr>
        <p:xfrm>
          <a:off x="7929300" y="5778662"/>
          <a:ext cx="8074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61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D55C452-A872-2D45-9CCA-23EA40331D57}"/>
              </a:ext>
            </a:extLst>
          </p:cNvPr>
          <p:cNvCxnSpPr>
            <a:cxnSpLocks/>
          </p:cNvCxnSpPr>
          <p:nvPr/>
        </p:nvCxnSpPr>
        <p:spPr>
          <a:xfrm>
            <a:off x="5630093" y="5953786"/>
            <a:ext cx="1135293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09B170B-54D0-B247-85FC-A8234B7A9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683111"/>
              </p:ext>
            </p:extLst>
          </p:nvPr>
        </p:nvGraphicFramePr>
        <p:xfrm>
          <a:off x="9110783" y="5779415"/>
          <a:ext cx="8074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61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D5DC0B8-8119-7E43-8C5C-0B6FFA5D8FC7}"/>
              </a:ext>
            </a:extLst>
          </p:cNvPr>
          <p:cNvCxnSpPr>
            <a:cxnSpLocks/>
          </p:cNvCxnSpPr>
          <p:nvPr/>
        </p:nvCxnSpPr>
        <p:spPr>
          <a:xfrm>
            <a:off x="8770110" y="5964835"/>
            <a:ext cx="341428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5BA1BDE-1A91-6346-970D-9E93DFFEC9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438534"/>
              </p:ext>
            </p:extLst>
          </p:nvPr>
        </p:nvGraphicFramePr>
        <p:xfrm>
          <a:off x="6765009" y="5798258"/>
          <a:ext cx="8074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61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76A9643-6858-1049-B6AD-FE982DCA9577}"/>
              </a:ext>
            </a:extLst>
          </p:cNvPr>
          <p:cNvCxnSpPr>
            <a:cxnSpLocks/>
          </p:cNvCxnSpPr>
          <p:nvPr/>
        </p:nvCxnSpPr>
        <p:spPr>
          <a:xfrm>
            <a:off x="7588250" y="6001669"/>
            <a:ext cx="341428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CDB1CFD-8F09-A743-96CA-D8F1DA58F809}"/>
              </a:ext>
            </a:extLst>
          </p:cNvPr>
          <p:cNvCxnSpPr>
            <a:cxnSpLocks/>
          </p:cNvCxnSpPr>
          <p:nvPr/>
        </p:nvCxnSpPr>
        <p:spPr>
          <a:xfrm>
            <a:off x="210064" y="6277169"/>
            <a:ext cx="75223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9533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CEEF-A4A1-EC49-AA3D-637182AAF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Collision management via Separate chaining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7A34-41C5-2844-95BE-2E5D839DF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Data structure</a:t>
            </a:r>
            <a:r>
              <a:rPr lang="en-US" dirty="0"/>
              <a:t>: array of M (&lt;&lt;N) linked lists</a:t>
            </a:r>
          </a:p>
          <a:p>
            <a:r>
              <a:rPr lang="en-US" dirty="0">
                <a:highlight>
                  <a:srgbClr val="C0C0C0"/>
                </a:highlight>
              </a:rPr>
              <a:t>Operations</a:t>
            </a:r>
          </a:p>
          <a:p>
            <a:pPr lvl="1"/>
            <a:r>
              <a:rPr lang="en-US" dirty="0"/>
              <a:t>Hash &lt;</a:t>
            </a:r>
            <a:r>
              <a:rPr lang="en-US" i="1" dirty="0"/>
              <a:t>key</a:t>
            </a:r>
            <a:r>
              <a:rPr lang="en-US" dirty="0"/>
              <a:t>&gt;: map </a:t>
            </a:r>
            <a:r>
              <a:rPr lang="en-US" i="1" dirty="0"/>
              <a:t>key</a:t>
            </a:r>
            <a:r>
              <a:rPr lang="en-US" dirty="0"/>
              <a:t> to integer </a:t>
            </a:r>
            <a:r>
              <a:rPr lang="en-US" i="1" dirty="0" err="1"/>
              <a:t>i</a:t>
            </a:r>
            <a:r>
              <a:rPr lang="en-US" dirty="0"/>
              <a:t> in [0, M-1] </a:t>
            </a:r>
          </a:p>
          <a:p>
            <a:pPr lvl="1"/>
            <a:r>
              <a:rPr lang="en-US" dirty="0"/>
              <a:t>Insert &lt;</a:t>
            </a:r>
            <a:r>
              <a:rPr lang="en-US" i="1" dirty="0"/>
              <a:t>key</a:t>
            </a:r>
            <a:r>
              <a:rPr lang="en-US" dirty="0"/>
              <a:t>, </a:t>
            </a:r>
            <a:r>
              <a:rPr lang="en-US" i="1" dirty="0"/>
              <a:t>value</a:t>
            </a:r>
            <a:r>
              <a:rPr lang="en-US" dirty="0"/>
              <a:t>&gt;: put </a:t>
            </a:r>
            <a:r>
              <a:rPr lang="en-US" i="1" dirty="0"/>
              <a:t>value</a:t>
            </a:r>
            <a:r>
              <a:rPr lang="en-US" dirty="0"/>
              <a:t> at the front of </a:t>
            </a:r>
            <a:r>
              <a:rPr lang="en-US" i="1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chain (if not already there)</a:t>
            </a:r>
          </a:p>
          <a:p>
            <a:pPr lvl="1"/>
            <a:r>
              <a:rPr lang="en-US" dirty="0"/>
              <a:t>Search &lt;</a:t>
            </a:r>
            <a:r>
              <a:rPr lang="en-US" i="1" dirty="0"/>
              <a:t>key</a:t>
            </a:r>
            <a:r>
              <a:rPr lang="en-US" dirty="0"/>
              <a:t>&gt;: linearly scan the </a:t>
            </a:r>
            <a:r>
              <a:rPr lang="en-US" i="1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chain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C94473-3FCF-484A-A5FA-373A4D8864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597825"/>
              </p:ext>
            </p:extLst>
          </p:nvPr>
        </p:nvGraphicFramePr>
        <p:xfrm>
          <a:off x="849586" y="3891280"/>
          <a:ext cx="235081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435">
                  <a:extLst>
                    <a:ext uri="{9D8B030D-6E8A-4147-A177-3AD203B41FA5}">
                      <a16:colId xmlns:a16="http://schemas.microsoft.com/office/drawing/2014/main" val="3562028691"/>
                    </a:ext>
                  </a:extLst>
                </a:gridCol>
                <a:gridCol w="930165">
                  <a:extLst>
                    <a:ext uri="{9D8B030D-6E8A-4147-A177-3AD203B41FA5}">
                      <a16:colId xmlns:a16="http://schemas.microsoft.com/office/drawing/2014/main" val="3579387943"/>
                    </a:ext>
                  </a:extLst>
                </a:gridCol>
                <a:gridCol w="725214">
                  <a:extLst>
                    <a:ext uri="{9D8B030D-6E8A-4147-A177-3AD203B41FA5}">
                      <a16:colId xmlns:a16="http://schemas.microsoft.com/office/drawing/2014/main" val="1603897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071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56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760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50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351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203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557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53663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E8EC3C-EDF8-644E-9BF1-1FEEB33C7CB4}"/>
              </a:ext>
            </a:extLst>
          </p:cNvPr>
          <p:cNvGraphicFramePr>
            <a:graphicFrameLocks noGrp="1"/>
          </p:cNvGraphicFramePr>
          <p:nvPr/>
        </p:nvGraphicFramePr>
        <p:xfrm>
          <a:off x="5041532" y="4137822"/>
          <a:ext cx="80747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470">
                  <a:extLst>
                    <a:ext uri="{9D8B030D-6E8A-4147-A177-3AD203B41FA5}">
                      <a16:colId xmlns:a16="http://schemas.microsoft.com/office/drawing/2014/main" val="603509549"/>
                    </a:ext>
                  </a:extLst>
                </a:gridCol>
                <a:gridCol w="444005">
                  <a:extLst>
                    <a:ext uri="{9D8B030D-6E8A-4147-A177-3AD203B41FA5}">
                      <a16:colId xmlns:a16="http://schemas.microsoft.com/office/drawing/2014/main" val="979280631"/>
                    </a:ext>
                  </a:extLst>
                </a:gridCol>
              </a:tblGrid>
              <a:tr h="33249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ht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ourier" pitchFamily="2" charset="0"/>
                          <a:cs typeface="Arial" panose="020B0604020202020204" pitchFamily="34" charset="0"/>
                        </a:rPr>
                        <a:t>[ 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473785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264481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481304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72259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041231"/>
                  </a:ext>
                </a:extLst>
              </a:tr>
              <a:tr h="332494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04674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42E700B-A451-7141-8ECE-23E8073BD7A2}"/>
              </a:ext>
            </a:extLst>
          </p:cNvPr>
          <p:cNvGraphicFramePr>
            <a:graphicFrameLocks noGrp="1"/>
          </p:cNvGraphicFramePr>
          <p:nvPr/>
        </p:nvGraphicFramePr>
        <p:xfrm>
          <a:off x="6747817" y="5127984"/>
          <a:ext cx="8074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61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850231-8A31-8749-9B10-5985F49CA981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5612524" y="5313404"/>
            <a:ext cx="1135293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ABAD067-6837-7748-BF03-441116FD9BE5}"/>
              </a:ext>
            </a:extLst>
          </p:cNvPr>
          <p:cNvGraphicFramePr>
            <a:graphicFrameLocks noGrp="1"/>
          </p:cNvGraphicFramePr>
          <p:nvPr/>
        </p:nvGraphicFramePr>
        <p:xfrm>
          <a:off x="6765386" y="4471399"/>
          <a:ext cx="8074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61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6C6C59-678C-D343-8DCB-4293E32054D3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5630093" y="4656819"/>
            <a:ext cx="1135293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E74C58A-EF63-594D-9885-F61C8D8F098E}"/>
              </a:ext>
            </a:extLst>
          </p:cNvPr>
          <p:cNvGraphicFramePr>
            <a:graphicFrameLocks noGrp="1"/>
          </p:cNvGraphicFramePr>
          <p:nvPr/>
        </p:nvGraphicFramePr>
        <p:xfrm>
          <a:off x="7929300" y="4489390"/>
          <a:ext cx="8074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61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3977F6-2984-034B-BABB-AC3B7B20F8A0}"/>
              </a:ext>
            </a:extLst>
          </p:cNvPr>
          <p:cNvCxnSpPr>
            <a:cxnSpLocks/>
          </p:cNvCxnSpPr>
          <p:nvPr/>
        </p:nvCxnSpPr>
        <p:spPr>
          <a:xfrm>
            <a:off x="7588627" y="4674810"/>
            <a:ext cx="341428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9A42AD0-6C71-5B4C-84CC-92AC7FCDD6CB}"/>
              </a:ext>
            </a:extLst>
          </p:cNvPr>
          <p:cNvGraphicFramePr>
            <a:graphicFrameLocks noGrp="1"/>
          </p:cNvGraphicFramePr>
          <p:nvPr/>
        </p:nvGraphicFramePr>
        <p:xfrm>
          <a:off x="7929300" y="5778662"/>
          <a:ext cx="8074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61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D55C452-A872-2D45-9CCA-23EA40331D57}"/>
              </a:ext>
            </a:extLst>
          </p:cNvPr>
          <p:cNvCxnSpPr>
            <a:cxnSpLocks/>
          </p:cNvCxnSpPr>
          <p:nvPr/>
        </p:nvCxnSpPr>
        <p:spPr>
          <a:xfrm>
            <a:off x="5630093" y="5953786"/>
            <a:ext cx="1135293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09B170B-54D0-B247-85FC-A8234B7A9AF4}"/>
              </a:ext>
            </a:extLst>
          </p:cNvPr>
          <p:cNvGraphicFramePr>
            <a:graphicFrameLocks noGrp="1"/>
          </p:cNvGraphicFramePr>
          <p:nvPr/>
        </p:nvGraphicFramePr>
        <p:xfrm>
          <a:off x="9110783" y="5779415"/>
          <a:ext cx="8074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61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D5DC0B8-8119-7E43-8C5C-0B6FFA5D8FC7}"/>
              </a:ext>
            </a:extLst>
          </p:cNvPr>
          <p:cNvCxnSpPr>
            <a:cxnSpLocks/>
          </p:cNvCxnSpPr>
          <p:nvPr/>
        </p:nvCxnSpPr>
        <p:spPr>
          <a:xfrm>
            <a:off x="8770110" y="5964835"/>
            <a:ext cx="341428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5BA1BDE-1A91-6346-970D-9E93DFFEC91B}"/>
              </a:ext>
            </a:extLst>
          </p:cNvPr>
          <p:cNvGraphicFramePr>
            <a:graphicFrameLocks noGrp="1"/>
          </p:cNvGraphicFramePr>
          <p:nvPr/>
        </p:nvGraphicFramePr>
        <p:xfrm>
          <a:off x="6765009" y="5798258"/>
          <a:ext cx="8074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61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76A9643-6858-1049-B6AD-FE982DCA9577}"/>
              </a:ext>
            </a:extLst>
          </p:cNvPr>
          <p:cNvCxnSpPr>
            <a:cxnSpLocks/>
          </p:cNvCxnSpPr>
          <p:nvPr/>
        </p:nvCxnSpPr>
        <p:spPr>
          <a:xfrm>
            <a:off x="7588250" y="6001669"/>
            <a:ext cx="341428" cy="0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F57866E-7916-F246-8130-45C09A67EB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25723"/>
              </p:ext>
            </p:extLst>
          </p:nvPr>
        </p:nvGraphicFramePr>
        <p:xfrm>
          <a:off x="7931103" y="4489390"/>
          <a:ext cx="8074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61">
                  <a:extLst>
                    <a:ext uri="{9D8B030D-6E8A-4147-A177-3AD203B41FA5}">
                      <a16:colId xmlns:a16="http://schemas.microsoft.com/office/drawing/2014/main" val="797291814"/>
                    </a:ext>
                  </a:extLst>
                </a:gridCol>
                <a:gridCol w="418614">
                  <a:extLst>
                    <a:ext uri="{9D8B030D-6E8A-4147-A177-3AD203B41FA5}">
                      <a16:colId xmlns:a16="http://schemas.microsoft.com/office/drawing/2014/main" val="388081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548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7489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0F8F74A-AFB8-EC4D-9331-AAE11B103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7" y="1544596"/>
            <a:ext cx="11479427" cy="5016842"/>
          </a:xfrm>
        </p:spPr>
        <p:txBody>
          <a:bodyPr/>
          <a:lstStyle/>
          <a:p>
            <a:r>
              <a:rPr lang="en-US" dirty="0"/>
              <a:t>Pseudocode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CDCEEF-A4A1-EC49-AA3D-637182AAF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Collision management via Separate chaining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4B6AA4-D54D-EF4D-804F-DC9B87EF23C8}"/>
              </a:ext>
            </a:extLst>
          </p:cNvPr>
          <p:cNvSpPr txBox="1"/>
          <p:nvPr/>
        </p:nvSpPr>
        <p:spPr>
          <a:xfrm>
            <a:off x="514866" y="2190253"/>
            <a:ext cx="5150639" cy="3785652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class </a:t>
            </a:r>
            <a:r>
              <a:rPr lang="en-GB" sz="1600" dirty="0" err="1">
                <a:highlight>
                  <a:srgbClr val="C0C0C0"/>
                </a:highlight>
                <a:latin typeface="Courier" pitchFamily="2" charset="0"/>
              </a:rPr>
              <a:t>SeparateChainingHashTable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:</a:t>
            </a:r>
          </a:p>
          <a:p>
            <a:endParaRPr lang="en-GB" sz="1600" dirty="0">
              <a:highlight>
                <a:srgbClr val="C0C0C0"/>
              </a:highlight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class Node: </a:t>
            </a:r>
          </a:p>
          <a:p>
            <a:r>
              <a:rPr lang="en-GB" sz="1600" dirty="0">
                <a:latin typeface="Courier" pitchFamily="2" charset="0"/>
              </a:rPr>
              <a:t>        def __</a:t>
            </a:r>
            <a:r>
              <a:rPr lang="en-GB" sz="1600" dirty="0" err="1">
                <a:latin typeface="Courier" pitchFamily="2" charset="0"/>
              </a:rPr>
              <a:t>init</a:t>
            </a:r>
            <a:r>
              <a:rPr lang="en-GB" sz="1600" dirty="0">
                <a:latin typeface="Courier" pitchFamily="2" charset="0"/>
              </a:rPr>
              <a:t>__(self, key, value): </a:t>
            </a:r>
          </a:p>
          <a:p>
            <a:r>
              <a:rPr lang="en-GB" sz="1600" dirty="0">
                <a:latin typeface="Courier" pitchFamily="2" charset="0"/>
              </a:rPr>
              <a:t>            </a:t>
            </a:r>
            <a:r>
              <a:rPr lang="en-GB" sz="1600" dirty="0" err="1">
                <a:latin typeface="Courier" pitchFamily="2" charset="0"/>
              </a:rPr>
              <a:t>self.key</a:t>
            </a:r>
            <a:r>
              <a:rPr lang="en-GB" sz="1600" dirty="0">
                <a:latin typeface="Courier" pitchFamily="2" charset="0"/>
              </a:rPr>
              <a:t> = key</a:t>
            </a:r>
          </a:p>
          <a:p>
            <a:r>
              <a:rPr lang="en-GB" sz="1600" dirty="0">
                <a:latin typeface="Courier" pitchFamily="2" charset="0"/>
              </a:rPr>
              <a:t>            </a:t>
            </a:r>
            <a:r>
              <a:rPr lang="en-GB" sz="1600" dirty="0" err="1">
                <a:latin typeface="Courier" pitchFamily="2" charset="0"/>
              </a:rPr>
              <a:t>self.value</a:t>
            </a:r>
            <a:r>
              <a:rPr lang="en-GB" sz="1600" dirty="0">
                <a:latin typeface="Courier" pitchFamily="2" charset="0"/>
              </a:rPr>
              <a:t> = value</a:t>
            </a:r>
          </a:p>
          <a:p>
            <a:r>
              <a:rPr lang="en-GB" sz="1600" dirty="0">
                <a:latin typeface="Courier" pitchFamily="2" charset="0"/>
              </a:rPr>
              <a:t>            </a:t>
            </a:r>
            <a:r>
              <a:rPr lang="en-GB" sz="1600" dirty="0" err="1">
                <a:latin typeface="Courier" pitchFamily="2" charset="0"/>
              </a:rPr>
              <a:t>self.next</a:t>
            </a:r>
            <a:r>
              <a:rPr lang="en-GB" sz="1600" dirty="0">
                <a:latin typeface="Courier" pitchFamily="2" charset="0"/>
              </a:rPr>
              <a:t> = None </a:t>
            </a:r>
          </a:p>
          <a:p>
            <a:endParaRPr lang="en-GB" sz="1600" dirty="0">
              <a:highlight>
                <a:srgbClr val="C0C0C0"/>
              </a:highlight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M = 97 # number of chains</a:t>
            </a: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 err="1">
                <a:latin typeface="Courier" pitchFamily="2" charset="0"/>
              </a:rPr>
              <a:t>ht</a:t>
            </a:r>
            <a:r>
              <a:rPr lang="en-GB" sz="1600" dirty="0">
                <a:latin typeface="Courier" pitchFamily="2" charset="0"/>
              </a:rPr>
              <a:t> = Node[M] # array of chains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def hash(self, key): </a:t>
            </a:r>
          </a:p>
          <a:p>
            <a:r>
              <a:rPr lang="en-GB" sz="1600" dirty="0">
                <a:latin typeface="Courier" pitchFamily="2" charset="0"/>
              </a:rPr>
              <a:t>        return key % </a:t>
            </a:r>
            <a:r>
              <a:rPr lang="en-GB" sz="1600" dirty="0" err="1">
                <a:latin typeface="Courier" pitchFamily="2" charset="0"/>
              </a:rPr>
              <a:t>self.M</a:t>
            </a:r>
            <a:r>
              <a:rPr lang="en-GB" sz="1600" dirty="0">
                <a:latin typeface="Courier" pitchFamily="2" charset="0"/>
              </a:rPr>
              <a:t> 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. . 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A2BD49-66D7-C049-9AF3-CBD64D0103B4}"/>
              </a:ext>
            </a:extLst>
          </p:cNvPr>
          <p:cNvSpPr txBox="1"/>
          <p:nvPr/>
        </p:nvSpPr>
        <p:spPr>
          <a:xfrm>
            <a:off x="5732042" y="2190253"/>
            <a:ext cx="6398173" cy="4524315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 </a:t>
            </a: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def get(self, key):</a:t>
            </a:r>
          </a:p>
          <a:p>
            <a:r>
              <a:rPr lang="en-GB" sz="1600" dirty="0">
                <a:latin typeface="Courier" pitchFamily="2" charset="0"/>
              </a:rPr>
              <a:t>        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 = </a:t>
            </a:r>
            <a:r>
              <a:rPr lang="en-GB" sz="1600" dirty="0" err="1">
                <a:latin typeface="Courier" pitchFamily="2" charset="0"/>
              </a:rPr>
              <a:t>self.hash</a:t>
            </a:r>
            <a:r>
              <a:rPr lang="en-GB" sz="1600" dirty="0">
                <a:latin typeface="Courier" pitchFamily="2" charset="0"/>
              </a:rPr>
              <a:t>(self, key)</a:t>
            </a:r>
          </a:p>
          <a:p>
            <a:r>
              <a:rPr lang="en-GB" sz="1600" dirty="0">
                <a:latin typeface="Courier" pitchFamily="2" charset="0"/>
              </a:rPr>
              <a:t>        x = </a:t>
            </a:r>
            <a:r>
              <a:rPr lang="en-GB" sz="1600" dirty="0" err="1">
                <a:latin typeface="Courier" pitchFamily="2" charset="0"/>
              </a:rPr>
              <a:t>self.ht</a:t>
            </a:r>
            <a:r>
              <a:rPr lang="en-GB" sz="1600" dirty="0">
                <a:latin typeface="Courier" pitchFamily="2" charset="0"/>
              </a:rPr>
              <a:t>[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]</a:t>
            </a:r>
          </a:p>
          <a:p>
            <a:r>
              <a:rPr lang="en-GB" sz="1600" dirty="0">
                <a:latin typeface="Courier" pitchFamily="2" charset="0"/>
              </a:rPr>
              <a:t>        while (x!=None):</a:t>
            </a:r>
          </a:p>
          <a:p>
            <a:r>
              <a:rPr lang="en-GB" sz="1600" dirty="0">
                <a:latin typeface="Courier" pitchFamily="2" charset="0"/>
              </a:rPr>
              <a:t>            if (</a:t>
            </a:r>
            <a:r>
              <a:rPr lang="en-GB" sz="1600" dirty="0" err="1">
                <a:latin typeface="Courier" pitchFamily="2" charset="0"/>
              </a:rPr>
              <a:t>x.key</a:t>
            </a:r>
            <a:r>
              <a:rPr lang="en-GB" sz="1600" dirty="0">
                <a:latin typeface="Courier" pitchFamily="2" charset="0"/>
              </a:rPr>
              <a:t>==key) return </a:t>
            </a:r>
            <a:r>
              <a:rPr lang="en-GB" sz="1600" dirty="0" err="1">
                <a:latin typeface="Courier" pitchFamily="2" charset="0"/>
              </a:rPr>
              <a:t>x.value</a:t>
            </a:r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        else x = </a:t>
            </a:r>
            <a:r>
              <a:rPr lang="en-GB" sz="1600" dirty="0" err="1">
                <a:latin typeface="Courier" pitchFamily="2" charset="0"/>
              </a:rPr>
              <a:t>x.next</a:t>
            </a:r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    return None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def put(self, key, value): </a:t>
            </a:r>
          </a:p>
          <a:p>
            <a:r>
              <a:rPr lang="en-GB" sz="1600" dirty="0">
                <a:latin typeface="Courier" pitchFamily="2" charset="0"/>
              </a:rPr>
              <a:t>        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 = </a:t>
            </a:r>
            <a:r>
              <a:rPr lang="en-GB" sz="1600" dirty="0" err="1">
                <a:latin typeface="Courier" pitchFamily="2" charset="0"/>
              </a:rPr>
              <a:t>self.hash</a:t>
            </a:r>
            <a:r>
              <a:rPr lang="en-GB" sz="1600" dirty="0">
                <a:latin typeface="Courier" pitchFamily="2" charset="0"/>
              </a:rPr>
              <a:t>(self, key)</a:t>
            </a:r>
          </a:p>
          <a:p>
            <a:r>
              <a:rPr lang="en-GB" sz="1600" dirty="0">
                <a:latin typeface="Courier" pitchFamily="2" charset="0"/>
              </a:rPr>
              <a:t>        x = </a:t>
            </a:r>
            <a:r>
              <a:rPr lang="en-GB" sz="1600" dirty="0" err="1">
                <a:latin typeface="Courier" pitchFamily="2" charset="0"/>
              </a:rPr>
              <a:t>self.ht</a:t>
            </a:r>
            <a:r>
              <a:rPr lang="en-GB" sz="1600" dirty="0">
                <a:latin typeface="Courier" pitchFamily="2" charset="0"/>
              </a:rPr>
              <a:t>[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]</a:t>
            </a:r>
          </a:p>
          <a:p>
            <a:r>
              <a:rPr lang="en-GB" sz="1600" dirty="0">
                <a:latin typeface="Courier" pitchFamily="2" charset="0"/>
              </a:rPr>
              <a:t>        while (x!=None):</a:t>
            </a:r>
          </a:p>
          <a:p>
            <a:r>
              <a:rPr lang="en-GB" sz="1600" dirty="0">
                <a:latin typeface="Courier" pitchFamily="2" charset="0"/>
              </a:rPr>
              <a:t>            if (</a:t>
            </a:r>
            <a:r>
              <a:rPr lang="en-GB" sz="1600" dirty="0" err="1">
                <a:latin typeface="Courier" pitchFamily="2" charset="0"/>
              </a:rPr>
              <a:t>x.key</a:t>
            </a:r>
            <a:r>
              <a:rPr lang="en-GB" sz="1600" dirty="0">
                <a:latin typeface="Courier" pitchFamily="2" charset="0"/>
              </a:rPr>
              <a:t>==key) </a:t>
            </a:r>
          </a:p>
          <a:p>
            <a:r>
              <a:rPr lang="en-GB" sz="1600" dirty="0">
                <a:latin typeface="Courier" pitchFamily="2" charset="0"/>
              </a:rPr>
              <a:t>		</a:t>
            </a:r>
            <a:r>
              <a:rPr lang="en-GB" sz="1600" dirty="0" err="1">
                <a:latin typeface="Courier" pitchFamily="2" charset="0"/>
              </a:rPr>
              <a:t>x.value</a:t>
            </a:r>
            <a:r>
              <a:rPr lang="en-GB" sz="1600" dirty="0">
                <a:latin typeface="Courier" pitchFamily="2" charset="0"/>
              </a:rPr>
              <a:t> = value</a:t>
            </a:r>
          </a:p>
          <a:p>
            <a:r>
              <a:rPr lang="en-GB" sz="1600" dirty="0">
                <a:latin typeface="Courier" pitchFamily="2" charset="0"/>
              </a:rPr>
              <a:t>		return</a:t>
            </a:r>
          </a:p>
          <a:p>
            <a:r>
              <a:rPr lang="en-GB" sz="1600" dirty="0">
                <a:latin typeface="Courier" pitchFamily="2" charset="0"/>
              </a:rPr>
              <a:t>            else x = </a:t>
            </a:r>
            <a:r>
              <a:rPr lang="en-GB" sz="1600" dirty="0" err="1">
                <a:latin typeface="Courier" pitchFamily="2" charset="0"/>
              </a:rPr>
              <a:t>x.next</a:t>
            </a:r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    </a:t>
            </a:r>
            <a:r>
              <a:rPr lang="en-GB" sz="1600" dirty="0" err="1">
                <a:latin typeface="Courier" pitchFamily="2" charset="0"/>
              </a:rPr>
              <a:t>self.ht</a:t>
            </a:r>
            <a:r>
              <a:rPr lang="en-GB" sz="1600" dirty="0">
                <a:latin typeface="Courier" pitchFamily="2" charset="0"/>
              </a:rPr>
              <a:t>[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] = Node(key, value, </a:t>
            </a:r>
            <a:r>
              <a:rPr lang="en-GB" sz="1600" dirty="0" err="1">
                <a:latin typeface="Courier" pitchFamily="2" charset="0"/>
              </a:rPr>
              <a:t>self.ht</a:t>
            </a:r>
            <a:r>
              <a:rPr lang="en-GB" sz="1600" dirty="0">
                <a:latin typeface="Courier" pitchFamily="2" charset="0"/>
              </a:rPr>
              <a:t>[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626915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CEEF-A4A1-EC49-AA3D-637182AAF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Collision management via Separate chaining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7A34-41C5-2844-95BE-2E5D839DF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Performance analysis</a:t>
            </a:r>
          </a:p>
          <a:p>
            <a:pPr lvl="1"/>
            <a:r>
              <a:rPr lang="en-US" dirty="0"/>
              <a:t>Performance of search/insert is proportional to the number of keys in a chain</a:t>
            </a:r>
          </a:p>
          <a:p>
            <a:pPr lvl="1"/>
            <a:r>
              <a:rPr lang="en-US" dirty="0"/>
              <a:t>Under uniform hashing </a:t>
            </a:r>
            <a:r>
              <a:rPr lang="en-US" i="1" dirty="0"/>
              <a:t>assumption</a:t>
            </a:r>
            <a:r>
              <a:rPr lang="en-US" dirty="0"/>
              <a:t>, the probability that the number of keys in a chain is within a constant factor of N/M is close to 1</a:t>
            </a:r>
          </a:p>
          <a:p>
            <a:pPr lvl="1"/>
            <a:endParaRPr lang="en-US" dirty="0"/>
          </a:p>
          <a:p>
            <a:r>
              <a:rPr lang="en-US" dirty="0"/>
              <a:t>How to choose M</a:t>
            </a:r>
          </a:p>
          <a:p>
            <a:pPr lvl="1"/>
            <a:r>
              <a:rPr lang="en-US" dirty="0"/>
              <a:t>M too large </a:t>
            </a:r>
            <a:r>
              <a:rPr lang="en-US" dirty="0">
                <a:sym typeface="Wingdings" pitchFamily="2" charset="2"/>
              </a:rPr>
              <a:t> space waste (too many empty chains)</a:t>
            </a:r>
          </a:p>
          <a:p>
            <a:pPr lvl="1"/>
            <a:r>
              <a:rPr lang="en-US" dirty="0">
                <a:sym typeface="Wingdings" pitchFamily="2" charset="2"/>
              </a:rPr>
              <a:t>M too small  time waste (chains too long)</a:t>
            </a:r>
          </a:p>
          <a:p>
            <a:pPr lvl="1"/>
            <a:r>
              <a:rPr lang="en-US" dirty="0">
                <a:sym typeface="Wingdings" pitchFamily="2" charset="2"/>
              </a:rPr>
              <a:t>M ~ N/5  constant time search/insert operations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881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SYMBLE TABLE IMPLEMENTATION recap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37A2B6-45C1-9A43-A053-F27B49790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072565"/>
              </p:ext>
            </p:extLst>
          </p:nvPr>
        </p:nvGraphicFramePr>
        <p:xfrm>
          <a:off x="729521" y="1639832"/>
          <a:ext cx="10732958" cy="4453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8989">
                  <a:extLst>
                    <a:ext uri="{9D8B030D-6E8A-4147-A177-3AD203B41FA5}">
                      <a16:colId xmlns:a16="http://schemas.microsoft.com/office/drawing/2014/main" val="3837284985"/>
                    </a:ext>
                  </a:extLst>
                </a:gridCol>
                <a:gridCol w="1274598">
                  <a:extLst>
                    <a:ext uri="{9D8B030D-6E8A-4147-A177-3AD203B41FA5}">
                      <a16:colId xmlns:a16="http://schemas.microsoft.com/office/drawing/2014/main" val="3488044769"/>
                    </a:ext>
                  </a:extLst>
                </a:gridCol>
                <a:gridCol w="1198766">
                  <a:extLst>
                    <a:ext uri="{9D8B030D-6E8A-4147-A177-3AD203B41FA5}">
                      <a16:colId xmlns:a16="http://schemas.microsoft.com/office/drawing/2014/main" val="927896190"/>
                    </a:ext>
                  </a:extLst>
                </a:gridCol>
                <a:gridCol w="1593655">
                  <a:extLst>
                    <a:ext uri="{9D8B030D-6E8A-4147-A177-3AD203B41FA5}">
                      <a16:colId xmlns:a16="http://schemas.microsoft.com/office/drawing/2014/main" val="1353745324"/>
                    </a:ext>
                  </a:extLst>
                </a:gridCol>
                <a:gridCol w="1509035">
                  <a:extLst>
                    <a:ext uri="{9D8B030D-6E8A-4147-A177-3AD203B41FA5}">
                      <a16:colId xmlns:a16="http://schemas.microsoft.com/office/drawing/2014/main" val="1561951519"/>
                    </a:ext>
                  </a:extLst>
                </a:gridCol>
                <a:gridCol w="1294635">
                  <a:extLst>
                    <a:ext uri="{9D8B030D-6E8A-4147-A177-3AD203B41FA5}">
                      <a16:colId xmlns:a16="http://schemas.microsoft.com/office/drawing/2014/main" val="2253204784"/>
                    </a:ext>
                  </a:extLst>
                </a:gridCol>
                <a:gridCol w="1533280">
                  <a:extLst>
                    <a:ext uri="{9D8B030D-6E8A-4147-A177-3AD203B41FA5}">
                      <a16:colId xmlns:a16="http://schemas.microsoft.com/office/drawing/2014/main" val="4061373923"/>
                    </a:ext>
                  </a:extLst>
                </a:gridCol>
              </a:tblGrid>
              <a:tr h="717215">
                <a:tc rowSpan="2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Worst Case</a:t>
                      </a:r>
                    </a:p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(after N inserts)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Case</a:t>
                      </a:r>
                    </a:p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(after N random insets)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17167"/>
                  </a:ext>
                </a:extLst>
              </a:tr>
              <a:tr h="415529">
                <a:tc vMerge="1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Search (hit)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292001"/>
                  </a:ext>
                </a:extLst>
              </a:tr>
              <a:tr h="717215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Sequential search (unordered list)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481123"/>
                  </a:ext>
                </a:extLst>
              </a:tr>
              <a:tr h="717215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Binary Search (ordered array)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000670"/>
                  </a:ext>
                </a:extLst>
              </a:tr>
              <a:tr h="415529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√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472761"/>
                  </a:ext>
                </a:extLst>
              </a:tr>
              <a:tr h="415529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 Search Tree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63048"/>
                  </a:ext>
                </a:extLst>
              </a:tr>
              <a:tr h="415529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LLRB BST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262348"/>
                  </a:ext>
                </a:extLst>
              </a:tr>
              <a:tr h="415529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 table with separate chaining (*)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1879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301D955-268E-5A47-9619-D77495B59D5D}"/>
              </a:ext>
            </a:extLst>
          </p:cNvPr>
          <p:cNvSpPr txBox="1"/>
          <p:nvPr/>
        </p:nvSpPr>
        <p:spPr>
          <a:xfrm>
            <a:off x="729521" y="6235562"/>
            <a:ext cx="4147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(*) under uniform hashing assumptions</a:t>
            </a:r>
          </a:p>
        </p:txBody>
      </p:sp>
    </p:spTree>
    <p:extLst>
      <p:ext uri="{BB962C8B-B14F-4D97-AF65-F5344CB8AC3E}">
        <p14:creationId xmlns:p14="http://schemas.microsoft.com/office/powerpoint/2010/main" val="3210385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Symbol Table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Binary Search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Balanced Search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ighlight>
                  <a:srgbClr val="C0C0C0"/>
                </a:highlight>
              </a:rPr>
              <a:t>Hash Table</a:t>
            </a:r>
          </a:p>
          <a:p>
            <a:pPr lvl="1"/>
            <a:r>
              <a:rPr lang="en-US" dirty="0"/>
              <a:t>Hash functions</a:t>
            </a:r>
          </a:p>
          <a:p>
            <a:pPr lvl="1"/>
            <a:r>
              <a:rPr lang="en-US" dirty="0"/>
              <a:t>Separate chaining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Linear probing</a:t>
            </a:r>
          </a:p>
        </p:txBody>
      </p:sp>
    </p:spTree>
    <p:extLst>
      <p:ext uri="{BB962C8B-B14F-4D97-AF65-F5344CB8AC3E}">
        <p14:creationId xmlns:p14="http://schemas.microsoft.com/office/powerpoint/2010/main" val="2961677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CEEF-A4A1-EC49-AA3D-637182AAF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Collision management via via 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7A34-41C5-2844-95BE-2E5D839DF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Data structure</a:t>
            </a:r>
            <a:r>
              <a:rPr lang="en-US" dirty="0"/>
              <a:t>: two arrays of size M &gt; N (one for keys, one for values)</a:t>
            </a:r>
          </a:p>
          <a:p>
            <a:r>
              <a:rPr lang="en-US" dirty="0">
                <a:highlight>
                  <a:srgbClr val="C0C0C0"/>
                </a:highlight>
              </a:rPr>
              <a:t>Operations</a:t>
            </a:r>
          </a:p>
          <a:p>
            <a:pPr lvl="1"/>
            <a:r>
              <a:rPr lang="en-US" dirty="0"/>
              <a:t>Hash &lt;</a:t>
            </a:r>
            <a:r>
              <a:rPr lang="en-US" i="1" dirty="0"/>
              <a:t>key</a:t>
            </a:r>
            <a:r>
              <a:rPr lang="en-US" dirty="0"/>
              <a:t>&gt;: map </a:t>
            </a:r>
            <a:r>
              <a:rPr lang="en-US" i="1" dirty="0"/>
              <a:t>key</a:t>
            </a:r>
            <a:r>
              <a:rPr lang="en-US" dirty="0"/>
              <a:t> to integer </a:t>
            </a:r>
            <a:r>
              <a:rPr lang="en-US" i="1" dirty="0" err="1"/>
              <a:t>i</a:t>
            </a:r>
            <a:r>
              <a:rPr lang="en-US" dirty="0"/>
              <a:t> in [0, M-1] </a:t>
            </a:r>
          </a:p>
          <a:p>
            <a:pPr lvl="1"/>
            <a:r>
              <a:rPr lang="en-US" dirty="0"/>
              <a:t>Insert &lt;</a:t>
            </a:r>
            <a:r>
              <a:rPr lang="en-US" i="1" dirty="0"/>
              <a:t>key</a:t>
            </a:r>
            <a:r>
              <a:rPr lang="en-US" dirty="0"/>
              <a:t>, </a:t>
            </a:r>
            <a:r>
              <a:rPr lang="en-US" i="1" dirty="0"/>
              <a:t>value</a:t>
            </a:r>
            <a:r>
              <a:rPr lang="en-US" dirty="0"/>
              <a:t>&gt;: put </a:t>
            </a:r>
            <a:r>
              <a:rPr lang="en-US" i="1" dirty="0"/>
              <a:t>value</a:t>
            </a:r>
            <a:r>
              <a:rPr lang="en-US" dirty="0"/>
              <a:t> at index </a:t>
            </a:r>
            <a:r>
              <a:rPr lang="en-US" i="1" dirty="0" err="1"/>
              <a:t>i</a:t>
            </a:r>
            <a:r>
              <a:rPr lang="en-US" dirty="0"/>
              <a:t> if available, or else try </a:t>
            </a:r>
            <a:r>
              <a:rPr lang="en-US" i="1" dirty="0"/>
              <a:t>i+1, i+2</a:t>
            </a:r>
            <a:r>
              <a:rPr lang="en-US" dirty="0"/>
              <a:t>, etc.</a:t>
            </a:r>
          </a:p>
          <a:p>
            <a:pPr lvl="1"/>
            <a:r>
              <a:rPr lang="en-US" dirty="0"/>
              <a:t>Search &lt;</a:t>
            </a:r>
            <a:r>
              <a:rPr lang="en-US" i="1" dirty="0"/>
              <a:t>key</a:t>
            </a:r>
            <a:r>
              <a:rPr lang="en-US" dirty="0"/>
              <a:t>&gt;: access table index </a:t>
            </a:r>
            <a:r>
              <a:rPr lang="en-US" i="1" dirty="0" err="1"/>
              <a:t>i</a:t>
            </a:r>
            <a:r>
              <a:rPr lang="en-US" dirty="0"/>
              <a:t>; if occupied but no match, try </a:t>
            </a:r>
            <a:r>
              <a:rPr lang="en-US" i="1" dirty="0"/>
              <a:t>i+1, i+2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C94473-3FCF-484A-A5FA-373A4D8864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245237"/>
              </p:ext>
            </p:extLst>
          </p:nvPr>
        </p:nvGraphicFramePr>
        <p:xfrm>
          <a:off x="849462" y="3830044"/>
          <a:ext cx="235081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435">
                  <a:extLst>
                    <a:ext uri="{9D8B030D-6E8A-4147-A177-3AD203B41FA5}">
                      <a16:colId xmlns:a16="http://schemas.microsoft.com/office/drawing/2014/main" val="3562028691"/>
                    </a:ext>
                  </a:extLst>
                </a:gridCol>
                <a:gridCol w="930165">
                  <a:extLst>
                    <a:ext uri="{9D8B030D-6E8A-4147-A177-3AD203B41FA5}">
                      <a16:colId xmlns:a16="http://schemas.microsoft.com/office/drawing/2014/main" val="3579387943"/>
                    </a:ext>
                  </a:extLst>
                </a:gridCol>
                <a:gridCol w="725214">
                  <a:extLst>
                    <a:ext uri="{9D8B030D-6E8A-4147-A177-3AD203B41FA5}">
                      <a16:colId xmlns:a16="http://schemas.microsoft.com/office/drawing/2014/main" val="1603897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071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56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760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50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351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203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557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53663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157461-0F3E-C541-AB8F-46271C37F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608353"/>
              </p:ext>
            </p:extLst>
          </p:nvPr>
        </p:nvGraphicFramePr>
        <p:xfrm>
          <a:off x="5202627" y="5003800"/>
          <a:ext cx="613277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525">
                  <a:extLst>
                    <a:ext uri="{9D8B030D-6E8A-4147-A177-3AD203B41FA5}">
                      <a16:colId xmlns:a16="http://schemas.microsoft.com/office/drawing/2014/main" val="1731199203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75863266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145646136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3281879288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2354043568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605112573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4169349268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3108238622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272979074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435048703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2416660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475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305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2636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9C0D458-5528-3642-A719-80CCBC0F8D12}"/>
              </a:ext>
            </a:extLst>
          </p:cNvPr>
          <p:cNvSpPr txBox="1"/>
          <p:nvPr/>
        </p:nvSpPr>
        <p:spPr>
          <a:xfrm>
            <a:off x="3852031" y="5339763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ht_keys</a:t>
            </a:r>
            <a:r>
              <a:rPr lang="en-US" dirty="0">
                <a:latin typeface="Courier" pitchFamily="2" charset="0"/>
              </a:rPr>
              <a:t>[]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218BC1-C686-3149-A4AB-B98DDF8DB860}"/>
              </a:ext>
            </a:extLst>
          </p:cNvPr>
          <p:cNvSpPr txBox="1"/>
          <p:nvPr/>
        </p:nvSpPr>
        <p:spPr>
          <a:xfrm>
            <a:off x="3584009" y="5746988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ht_values</a:t>
            </a:r>
            <a:r>
              <a:rPr lang="en-US" dirty="0">
                <a:latin typeface="Courier" pitchFamily="2" charset="0"/>
              </a:rPr>
              <a:t>[]</a:t>
            </a:r>
          </a:p>
        </p:txBody>
      </p:sp>
    </p:spTree>
    <p:extLst>
      <p:ext uri="{BB962C8B-B14F-4D97-AF65-F5344CB8AC3E}">
        <p14:creationId xmlns:p14="http://schemas.microsoft.com/office/powerpoint/2010/main" val="4127242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CEEF-A4A1-EC49-AA3D-637182AAF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Collision management via via 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7A34-41C5-2844-95BE-2E5D839DF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Data structure</a:t>
            </a:r>
            <a:r>
              <a:rPr lang="en-US" dirty="0"/>
              <a:t>: two arrays of size M &gt; N (one for keys, one for values)</a:t>
            </a:r>
          </a:p>
          <a:p>
            <a:r>
              <a:rPr lang="en-US" dirty="0">
                <a:highlight>
                  <a:srgbClr val="C0C0C0"/>
                </a:highlight>
              </a:rPr>
              <a:t>Operations</a:t>
            </a:r>
          </a:p>
          <a:p>
            <a:pPr lvl="1"/>
            <a:r>
              <a:rPr lang="en-US" dirty="0"/>
              <a:t>Hash &lt;</a:t>
            </a:r>
            <a:r>
              <a:rPr lang="en-US" i="1" dirty="0"/>
              <a:t>key</a:t>
            </a:r>
            <a:r>
              <a:rPr lang="en-US" dirty="0"/>
              <a:t>&gt;: map </a:t>
            </a:r>
            <a:r>
              <a:rPr lang="en-US" i="1" dirty="0"/>
              <a:t>key</a:t>
            </a:r>
            <a:r>
              <a:rPr lang="en-US" dirty="0"/>
              <a:t> to integer </a:t>
            </a:r>
            <a:r>
              <a:rPr lang="en-US" i="1" dirty="0" err="1"/>
              <a:t>i</a:t>
            </a:r>
            <a:r>
              <a:rPr lang="en-US" dirty="0"/>
              <a:t> in [0, M-1] </a:t>
            </a:r>
          </a:p>
          <a:p>
            <a:pPr lvl="1"/>
            <a:r>
              <a:rPr lang="en-US" dirty="0"/>
              <a:t>Insert &lt;</a:t>
            </a:r>
            <a:r>
              <a:rPr lang="en-US" i="1" dirty="0"/>
              <a:t>key</a:t>
            </a:r>
            <a:r>
              <a:rPr lang="en-US" dirty="0"/>
              <a:t>, </a:t>
            </a:r>
            <a:r>
              <a:rPr lang="en-US" i="1" dirty="0"/>
              <a:t>value</a:t>
            </a:r>
            <a:r>
              <a:rPr lang="en-US" dirty="0"/>
              <a:t>&gt;: put </a:t>
            </a:r>
            <a:r>
              <a:rPr lang="en-US" i="1" dirty="0"/>
              <a:t>value</a:t>
            </a:r>
            <a:r>
              <a:rPr lang="en-US" dirty="0"/>
              <a:t> at index </a:t>
            </a:r>
            <a:r>
              <a:rPr lang="en-US" i="1" dirty="0" err="1"/>
              <a:t>i</a:t>
            </a:r>
            <a:r>
              <a:rPr lang="en-US" dirty="0"/>
              <a:t> if available, or else try </a:t>
            </a:r>
            <a:r>
              <a:rPr lang="en-US" i="1" dirty="0"/>
              <a:t>i+1, i+2</a:t>
            </a:r>
            <a:r>
              <a:rPr lang="en-US" dirty="0"/>
              <a:t>, etc.</a:t>
            </a:r>
          </a:p>
          <a:p>
            <a:pPr lvl="1"/>
            <a:r>
              <a:rPr lang="en-US" dirty="0"/>
              <a:t>Search &lt;</a:t>
            </a:r>
            <a:r>
              <a:rPr lang="en-US" i="1" dirty="0"/>
              <a:t>key</a:t>
            </a:r>
            <a:r>
              <a:rPr lang="en-US" dirty="0"/>
              <a:t>&gt;: access table index </a:t>
            </a:r>
            <a:r>
              <a:rPr lang="en-US" i="1" dirty="0" err="1"/>
              <a:t>i</a:t>
            </a:r>
            <a:r>
              <a:rPr lang="en-US" dirty="0"/>
              <a:t>; if occupied but no match, try </a:t>
            </a:r>
            <a:r>
              <a:rPr lang="en-US" i="1" dirty="0"/>
              <a:t>i+1, i+2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C94473-3FCF-484A-A5FA-373A4D8864F8}"/>
              </a:ext>
            </a:extLst>
          </p:cNvPr>
          <p:cNvGraphicFramePr>
            <a:graphicFrameLocks noGrp="1"/>
          </p:cNvGraphicFramePr>
          <p:nvPr/>
        </p:nvGraphicFramePr>
        <p:xfrm>
          <a:off x="849462" y="3830044"/>
          <a:ext cx="235081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435">
                  <a:extLst>
                    <a:ext uri="{9D8B030D-6E8A-4147-A177-3AD203B41FA5}">
                      <a16:colId xmlns:a16="http://schemas.microsoft.com/office/drawing/2014/main" val="3562028691"/>
                    </a:ext>
                  </a:extLst>
                </a:gridCol>
                <a:gridCol w="930165">
                  <a:extLst>
                    <a:ext uri="{9D8B030D-6E8A-4147-A177-3AD203B41FA5}">
                      <a16:colId xmlns:a16="http://schemas.microsoft.com/office/drawing/2014/main" val="3579387943"/>
                    </a:ext>
                  </a:extLst>
                </a:gridCol>
                <a:gridCol w="725214">
                  <a:extLst>
                    <a:ext uri="{9D8B030D-6E8A-4147-A177-3AD203B41FA5}">
                      <a16:colId xmlns:a16="http://schemas.microsoft.com/office/drawing/2014/main" val="1603897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071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56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760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50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351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203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557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53663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157461-0F3E-C541-AB8F-46271C37F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088325"/>
              </p:ext>
            </p:extLst>
          </p:nvPr>
        </p:nvGraphicFramePr>
        <p:xfrm>
          <a:off x="5202627" y="5003800"/>
          <a:ext cx="613277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525">
                  <a:extLst>
                    <a:ext uri="{9D8B030D-6E8A-4147-A177-3AD203B41FA5}">
                      <a16:colId xmlns:a16="http://schemas.microsoft.com/office/drawing/2014/main" val="1731199203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75863266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145646136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3281879288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2354043568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605112573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4169349268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3108238622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272979074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435048703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2416660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475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305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2636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9C0D458-5528-3642-A719-80CCBC0F8D12}"/>
              </a:ext>
            </a:extLst>
          </p:cNvPr>
          <p:cNvSpPr txBox="1"/>
          <p:nvPr/>
        </p:nvSpPr>
        <p:spPr>
          <a:xfrm>
            <a:off x="3852031" y="5339763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ht_keys</a:t>
            </a:r>
            <a:r>
              <a:rPr lang="en-US" dirty="0">
                <a:latin typeface="Courier" pitchFamily="2" charset="0"/>
              </a:rPr>
              <a:t>[]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218BC1-C686-3149-A4AB-B98DDF8DB860}"/>
              </a:ext>
            </a:extLst>
          </p:cNvPr>
          <p:cNvSpPr txBox="1"/>
          <p:nvPr/>
        </p:nvSpPr>
        <p:spPr>
          <a:xfrm>
            <a:off x="3584009" y="5746988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ht_values</a:t>
            </a:r>
            <a:r>
              <a:rPr lang="en-US" dirty="0">
                <a:latin typeface="Courier" pitchFamily="2" charset="0"/>
              </a:rPr>
              <a:t>[]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7D8D1B2-F854-5640-91DE-0A6D36989BF8}"/>
              </a:ext>
            </a:extLst>
          </p:cNvPr>
          <p:cNvCxnSpPr>
            <a:cxnSpLocks/>
          </p:cNvCxnSpPr>
          <p:nvPr/>
        </p:nvCxnSpPr>
        <p:spPr>
          <a:xfrm>
            <a:off x="383058" y="4385799"/>
            <a:ext cx="625935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583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CEEF-A4A1-EC49-AA3D-637182AAF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Collision management via via 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7A34-41C5-2844-95BE-2E5D839DF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Data structure</a:t>
            </a:r>
            <a:r>
              <a:rPr lang="en-US" dirty="0"/>
              <a:t>: two arrays of size M &gt; N (one for keys, one for values)</a:t>
            </a:r>
          </a:p>
          <a:p>
            <a:r>
              <a:rPr lang="en-US" dirty="0">
                <a:highlight>
                  <a:srgbClr val="C0C0C0"/>
                </a:highlight>
              </a:rPr>
              <a:t>Operations</a:t>
            </a:r>
          </a:p>
          <a:p>
            <a:pPr lvl="1"/>
            <a:r>
              <a:rPr lang="en-US" dirty="0"/>
              <a:t>Hash &lt;</a:t>
            </a:r>
            <a:r>
              <a:rPr lang="en-US" i="1" dirty="0"/>
              <a:t>key</a:t>
            </a:r>
            <a:r>
              <a:rPr lang="en-US" dirty="0"/>
              <a:t>&gt;: map </a:t>
            </a:r>
            <a:r>
              <a:rPr lang="en-US" i="1" dirty="0"/>
              <a:t>key</a:t>
            </a:r>
            <a:r>
              <a:rPr lang="en-US" dirty="0"/>
              <a:t> to integer </a:t>
            </a:r>
            <a:r>
              <a:rPr lang="en-US" i="1" dirty="0" err="1"/>
              <a:t>i</a:t>
            </a:r>
            <a:r>
              <a:rPr lang="en-US" dirty="0"/>
              <a:t> in [0, M-1] </a:t>
            </a:r>
          </a:p>
          <a:p>
            <a:pPr lvl="1"/>
            <a:r>
              <a:rPr lang="en-US" dirty="0"/>
              <a:t>Insert &lt;</a:t>
            </a:r>
            <a:r>
              <a:rPr lang="en-US" i="1" dirty="0"/>
              <a:t>key</a:t>
            </a:r>
            <a:r>
              <a:rPr lang="en-US" dirty="0"/>
              <a:t>, </a:t>
            </a:r>
            <a:r>
              <a:rPr lang="en-US" i="1" dirty="0"/>
              <a:t>value</a:t>
            </a:r>
            <a:r>
              <a:rPr lang="en-US" dirty="0"/>
              <a:t>&gt;: put </a:t>
            </a:r>
            <a:r>
              <a:rPr lang="en-US" i="1" dirty="0"/>
              <a:t>value</a:t>
            </a:r>
            <a:r>
              <a:rPr lang="en-US" dirty="0"/>
              <a:t> at index </a:t>
            </a:r>
            <a:r>
              <a:rPr lang="en-US" i="1" dirty="0" err="1"/>
              <a:t>i</a:t>
            </a:r>
            <a:r>
              <a:rPr lang="en-US" dirty="0"/>
              <a:t> if available, or else try </a:t>
            </a:r>
            <a:r>
              <a:rPr lang="en-US" i="1" dirty="0"/>
              <a:t>i+1, i+2</a:t>
            </a:r>
            <a:r>
              <a:rPr lang="en-US" dirty="0"/>
              <a:t>, etc.</a:t>
            </a:r>
          </a:p>
          <a:p>
            <a:pPr lvl="1"/>
            <a:r>
              <a:rPr lang="en-US" dirty="0"/>
              <a:t>Search &lt;</a:t>
            </a:r>
            <a:r>
              <a:rPr lang="en-US" i="1" dirty="0"/>
              <a:t>key</a:t>
            </a:r>
            <a:r>
              <a:rPr lang="en-US" dirty="0"/>
              <a:t>&gt;: access table index </a:t>
            </a:r>
            <a:r>
              <a:rPr lang="en-US" i="1" dirty="0" err="1"/>
              <a:t>i</a:t>
            </a:r>
            <a:r>
              <a:rPr lang="en-US" dirty="0"/>
              <a:t>; if occupied but no match, try </a:t>
            </a:r>
            <a:r>
              <a:rPr lang="en-US" i="1" dirty="0"/>
              <a:t>i+1, i+2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C94473-3FCF-484A-A5FA-373A4D8864F8}"/>
              </a:ext>
            </a:extLst>
          </p:cNvPr>
          <p:cNvGraphicFramePr>
            <a:graphicFrameLocks noGrp="1"/>
          </p:cNvGraphicFramePr>
          <p:nvPr/>
        </p:nvGraphicFramePr>
        <p:xfrm>
          <a:off x="849462" y="3830044"/>
          <a:ext cx="235081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435">
                  <a:extLst>
                    <a:ext uri="{9D8B030D-6E8A-4147-A177-3AD203B41FA5}">
                      <a16:colId xmlns:a16="http://schemas.microsoft.com/office/drawing/2014/main" val="3562028691"/>
                    </a:ext>
                  </a:extLst>
                </a:gridCol>
                <a:gridCol w="930165">
                  <a:extLst>
                    <a:ext uri="{9D8B030D-6E8A-4147-A177-3AD203B41FA5}">
                      <a16:colId xmlns:a16="http://schemas.microsoft.com/office/drawing/2014/main" val="3579387943"/>
                    </a:ext>
                  </a:extLst>
                </a:gridCol>
                <a:gridCol w="725214">
                  <a:extLst>
                    <a:ext uri="{9D8B030D-6E8A-4147-A177-3AD203B41FA5}">
                      <a16:colId xmlns:a16="http://schemas.microsoft.com/office/drawing/2014/main" val="1603897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071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56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760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50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351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203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557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53663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157461-0F3E-C541-AB8F-46271C37F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309490"/>
              </p:ext>
            </p:extLst>
          </p:nvPr>
        </p:nvGraphicFramePr>
        <p:xfrm>
          <a:off x="5202627" y="5003800"/>
          <a:ext cx="613277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525">
                  <a:extLst>
                    <a:ext uri="{9D8B030D-6E8A-4147-A177-3AD203B41FA5}">
                      <a16:colId xmlns:a16="http://schemas.microsoft.com/office/drawing/2014/main" val="1731199203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75863266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145646136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3281879288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2354043568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605112573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4169349268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3108238622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272979074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435048703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2416660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475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305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2636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9C0D458-5528-3642-A719-80CCBC0F8D12}"/>
              </a:ext>
            </a:extLst>
          </p:cNvPr>
          <p:cNvSpPr txBox="1"/>
          <p:nvPr/>
        </p:nvSpPr>
        <p:spPr>
          <a:xfrm>
            <a:off x="3852031" y="5339763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ht_keys</a:t>
            </a:r>
            <a:r>
              <a:rPr lang="en-US" dirty="0">
                <a:latin typeface="Courier" pitchFamily="2" charset="0"/>
              </a:rPr>
              <a:t>[]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218BC1-C686-3149-A4AB-B98DDF8DB860}"/>
              </a:ext>
            </a:extLst>
          </p:cNvPr>
          <p:cNvSpPr txBox="1"/>
          <p:nvPr/>
        </p:nvSpPr>
        <p:spPr>
          <a:xfrm>
            <a:off x="3584009" y="5746988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ht_values</a:t>
            </a:r>
            <a:r>
              <a:rPr lang="en-US" dirty="0">
                <a:latin typeface="Courier" pitchFamily="2" charset="0"/>
              </a:rPr>
              <a:t>[]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7D8D1B2-F854-5640-91DE-0A6D36989BF8}"/>
              </a:ext>
            </a:extLst>
          </p:cNvPr>
          <p:cNvCxnSpPr>
            <a:cxnSpLocks/>
          </p:cNvCxnSpPr>
          <p:nvPr/>
        </p:nvCxnSpPr>
        <p:spPr>
          <a:xfrm>
            <a:off x="383058" y="4716875"/>
            <a:ext cx="625935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9506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CEEF-A4A1-EC49-AA3D-637182AAF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Collision management via via 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7A34-41C5-2844-95BE-2E5D839DF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Data structure</a:t>
            </a:r>
            <a:r>
              <a:rPr lang="en-US" dirty="0"/>
              <a:t>: two arrays of size M &gt; N (one for keys, one for values)</a:t>
            </a:r>
          </a:p>
          <a:p>
            <a:r>
              <a:rPr lang="en-US" dirty="0">
                <a:highlight>
                  <a:srgbClr val="C0C0C0"/>
                </a:highlight>
              </a:rPr>
              <a:t>Operations</a:t>
            </a:r>
          </a:p>
          <a:p>
            <a:pPr lvl="1"/>
            <a:r>
              <a:rPr lang="en-US" dirty="0"/>
              <a:t>Hash &lt;</a:t>
            </a:r>
            <a:r>
              <a:rPr lang="en-US" i="1" dirty="0"/>
              <a:t>key</a:t>
            </a:r>
            <a:r>
              <a:rPr lang="en-US" dirty="0"/>
              <a:t>&gt;: map </a:t>
            </a:r>
            <a:r>
              <a:rPr lang="en-US" i="1" dirty="0"/>
              <a:t>key</a:t>
            </a:r>
            <a:r>
              <a:rPr lang="en-US" dirty="0"/>
              <a:t> to integer </a:t>
            </a:r>
            <a:r>
              <a:rPr lang="en-US" i="1" dirty="0" err="1"/>
              <a:t>i</a:t>
            </a:r>
            <a:r>
              <a:rPr lang="en-US" dirty="0"/>
              <a:t> in [0, M-1] </a:t>
            </a:r>
          </a:p>
          <a:p>
            <a:pPr lvl="1"/>
            <a:r>
              <a:rPr lang="en-US" dirty="0"/>
              <a:t>Insert &lt;</a:t>
            </a:r>
            <a:r>
              <a:rPr lang="en-US" i="1" dirty="0"/>
              <a:t>key</a:t>
            </a:r>
            <a:r>
              <a:rPr lang="en-US" dirty="0"/>
              <a:t>, </a:t>
            </a:r>
            <a:r>
              <a:rPr lang="en-US" i="1" dirty="0"/>
              <a:t>value</a:t>
            </a:r>
            <a:r>
              <a:rPr lang="en-US" dirty="0"/>
              <a:t>&gt;: put </a:t>
            </a:r>
            <a:r>
              <a:rPr lang="en-US" i="1" dirty="0"/>
              <a:t>value</a:t>
            </a:r>
            <a:r>
              <a:rPr lang="en-US" dirty="0"/>
              <a:t> at index </a:t>
            </a:r>
            <a:r>
              <a:rPr lang="en-US" i="1" dirty="0" err="1"/>
              <a:t>i</a:t>
            </a:r>
            <a:r>
              <a:rPr lang="en-US" dirty="0"/>
              <a:t> if available, or else try </a:t>
            </a:r>
            <a:r>
              <a:rPr lang="en-US" i="1" dirty="0"/>
              <a:t>i+1, i+2</a:t>
            </a:r>
            <a:r>
              <a:rPr lang="en-US" dirty="0"/>
              <a:t>, etc.</a:t>
            </a:r>
          </a:p>
          <a:p>
            <a:pPr lvl="1"/>
            <a:r>
              <a:rPr lang="en-US" dirty="0"/>
              <a:t>Search &lt;</a:t>
            </a:r>
            <a:r>
              <a:rPr lang="en-US" i="1" dirty="0"/>
              <a:t>key</a:t>
            </a:r>
            <a:r>
              <a:rPr lang="en-US" dirty="0"/>
              <a:t>&gt;: access table index </a:t>
            </a:r>
            <a:r>
              <a:rPr lang="en-US" i="1" dirty="0" err="1"/>
              <a:t>i</a:t>
            </a:r>
            <a:r>
              <a:rPr lang="en-US" dirty="0"/>
              <a:t>; if occupied but no match, try </a:t>
            </a:r>
            <a:r>
              <a:rPr lang="en-US" i="1" dirty="0"/>
              <a:t>i+1, i+2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C94473-3FCF-484A-A5FA-373A4D8864F8}"/>
              </a:ext>
            </a:extLst>
          </p:cNvPr>
          <p:cNvGraphicFramePr>
            <a:graphicFrameLocks noGrp="1"/>
          </p:cNvGraphicFramePr>
          <p:nvPr/>
        </p:nvGraphicFramePr>
        <p:xfrm>
          <a:off x="849462" y="3830044"/>
          <a:ext cx="235081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435">
                  <a:extLst>
                    <a:ext uri="{9D8B030D-6E8A-4147-A177-3AD203B41FA5}">
                      <a16:colId xmlns:a16="http://schemas.microsoft.com/office/drawing/2014/main" val="3562028691"/>
                    </a:ext>
                  </a:extLst>
                </a:gridCol>
                <a:gridCol w="930165">
                  <a:extLst>
                    <a:ext uri="{9D8B030D-6E8A-4147-A177-3AD203B41FA5}">
                      <a16:colId xmlns:a16="http://schemas.microsoft.com/office/drawing/2014/main" val="3579387943"/>
                    </a:ext>
                  </a:extLst>
                </a:gridCol>
                <a:gridCol w="725214">
                  <a:extLst>
                    <a:ext uri="{9D8B030D-6E8A-4147-A177-3AD203B41FA5}">
                      <a16:colId xmlns:a16="http://schemas.microsoft.com/office/drawing/2014/main" val="1603897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071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56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760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50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351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203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557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53663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157461-0F3E-C541-AB8F-46271C37F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038430"/>
              </p:ext>
            </p:extLst>
          </p:nvPr>
        </p:nvGraphicFramePr>
        <p:xfrm>
          <a:off x="5202627" y="5003800"/>
          <a:ext cx="613277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525">
                  <a:extLst>
                    <a:ext uri="{9D8B030D-6E8A-4147-A177-3AD203B41FA5}">
                      <a16:colId xmlns:a16="http://schemas.microsoft.com/office/drawing/2014/main" val="1731199203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75863266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145646136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3281879288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2354043568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605112573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4169349268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3108238622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272979074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435048703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2416660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475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305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2636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9C0D458-5528-3642-A719-80CCBC0F8D12}"/>
              </a:ext>
            </a:extLst>
          </p:cNvPr>
          <p:cNvSpPr txBox="1"/>
          <p:nvPr/>
        </p:nvSpPr>
        <p:spPr>
          <a:xfrm>
            <a:off x="3852031" y="5339763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ht_keys</a:t>
            </a:r>
            <a:r>
              <a:rPr lang="en-US" dirty="0">
                <a:latin typeface="Courier" pitchFamily="2" charset="0"/>
              </a:rPr>
              <a:t>[]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218BC1-C686-3149-A4AB-B98DDF8DB860}"/>
              </a:ext>
            </a:extLst>
          </p:cNvPr>
          <p:cNvSpPr txBox="1"/>
          <p:nvPr/>
        </p:nvSpPr>
        <p:spPr>
          <a:xfrm>
            <a:off x="3584009" y="5746988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ht_values</a:t>
            </a:r>
            <a:r>
              <a:rPr lang="en-US" dirty="0">
                <a:latin typeface="Courier" pitchFamily="2" charset="0"/>
              </a:rPr>
              <a:t>[]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7D8D1B2-F854-5640-91DE-0A6D36989BF8}"/>
              </a:ext>
            </a:extLst>
          </p:cNvPr>
          <p:cNvCxnSpPr>
            <a:cxnSpLocks/>
          </p:cNvCxnSpPr>
          <p:nvPr/>
        </p:nvCxnSpPr>
        <p:spPr>
          <a:xfrm>
            <a:off x="383058" y="5085615"/>
            <a:ext cx="625935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786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CEEF-A4A1-EC49-AA3D-637182AAF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Collision management via via 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7A34-41C5-2844-95BE-2E5D839DF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Data structure</a:t>
            </a:r>
            <a:r>
              <a:rPr lang="en-US" dirty="0"/>
              <a:t>: two arrays of size M &gt; N (one for keys, one for values)</a:t>
            </a:r>
          </a:p>
          <a:p>
            <a:r>
              <a:rPr lang="en-US" dirty="0">
                <a:highlight>
                  <a:srgbClr val="C0C0C0"/>
                </a:highlight>
              </a:rPr>
              <a:t>Operations</a:t>
            </a:r>
          </a:p>
          <a:p>
            <a:pPr lvl="1"/>
            <a:r>
              <a:rPr lang="en-US" dirty="0"/>
              <a:t>Hash &lt;</a:t>
            </a:r>
            <a:r>
              <a:rPr lang="en-US" i="1" dirty="0"/>
              <a:t>key</a:t>
            </a:r>
            <a:r>
              <a:rPr lang="en-US" dirty="0"/>
              <a:t>&gt;: map </a:t>
            </a:r>
            <a:r>
              <a:rPr lang="en-US" i="1" dirty="0"/>
              <a:t>key</a:t>
            </a:r>
            <a:r>
              <a:rPr lang="en-US" dirty="0"/>
              <a:t> to integer </a:t>
            </a:r>
            <a:r>
              <a:rPr lang="en-US" i="1" dirty="0" err="1"/>
              <a:t>i</a:t>
            </a:r>
            <a:r>
              <a:rPr lang="en-US" dirty="0"/>
              <a:t> in [0, M-1] </a:t>
            </a:r>
          </a:p>
          <a:p>
            <a:pPr lvl="1"/>
            <a:r>
              <a:rPr lang="en-US" dirty="0"/>
              <a:t>Insert &lt;</a:t>
            </a:r>
            <a:r>
              <a:rPr lang="en-US" i="1" dirty="0"/>
              <a:t>key</a:t>
            </a:r>
            <a:r>
              <a:rPr lang="en-US" dirty="0"/>
              <a:t>, </a:t>
            </a:r>
            <a:r>
              <a:rPr lang="en-US" i="1" dirty="0"/>
              <a:t>value</a:t>
            </a:r>
            <a:r>
              <a:rPr lang="en-US" dirty="0"/>
              <a:t>&gt;: put </a:t>
            </a:r>
            <a:r>
              <a:rPr lang="en-US" i="1" dirty="0"/>
              <a:t>value</a:t>
            </a:r>
            <a:r>
              <a:rPr lang="en-US" dirty="0"/>
              <a:t> at index </a:t>
            </a:r>
            <a:r>
              <a:rPr lang="en-US" i="1" dirty="0" err="1"/>
              <a:t>i</a:t>
            </a:r>
            <a:r>
              <a:rPr lang="en-US" dirty="0"/>
              <a:t> if available, or else try </a:t>
            </a:r>
            <a:r>
              <a:rPr lang="en-US" i="1" dirty="0"/>
              <a:t>i+1, i+2</a:t>
            </a:r>
            <a:r>
              <a:rPr lang="en-US" dirty="0"/>
              <a:t>, etc.</a:t>
            </a:r>
          </a:p>
          <a:p>
            <a:pPr lvl="1"/>
            <a:r>
              <a:rPr lang="en-US" dirty="0"/>
              <a:t>Search &lt;</a:t>
            </a:r>
            <a:r>
              <a:rPr lang="en-US" i="1" dirty="0"/>
              <a:t>key</a:t>
            </a:r>
            <a:r>
              <a:rPr lang="en-US" dirty="0"/>
              <a:t>&gt;: access table index </a:t>
            </a:r>
            <a:r>
              <a:rPr lang="en-US" i="1" dirty="0" err="1"/>
              <a:t>i</a:t>
            </a:r>
            <a:r>
              <a:rPr lang="en-US" dirty="0"/>
              <a:t>; if occupied but no match, try </a:t>
            </a:r>
            <a:r>
              <a:rPr lang="en-US" i="1" dirty="0"/>
              <a:t>i+1, i+2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C94473-3FCF-484A-A5FA-373A4D8864F8}"/>
              </a:ext>
            </a:extLst>
          </p:cNvPr>
          <p:cNvGraphicFramePr>
            <a:graphicFrameLocks noGrp="1"/>
          </p:cNvGraphicFramePr>
          <p:nvPr/>
        </p:nvGraphicFramePr>
        <p:xfrm>
          <a:off x="849462" y="3830044"/>
          <a:ext cx="235081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435">
                  <a:extLst>
                    <a:ext uri="{9D8B030D-6E8A-4147-A177-3AD203B41FA5}">
                      <a16:colId xmlns:a16="http://schemas.microsoft.com/office/drawing/2014/main" val="3562028691"/>
                    </a:ext>
                  </a:extLst>
                </a:gridCol>
                <a:gridCol w="930165">
                  <a:extLst>
                    <a:ext uri="{9D8B030D-6E8A-4147-A177-3AD203B41FA5}">
                      <a16:colId xmlns:a16="http://schemas.microsoft.com/office/drawing/2014/main" val="3579387943"/>
                    </a:ext>
                  </a:extLst>
                </a:gridCol>
                <a:gridCol w="725214">
                  <a:extLst>
                    <a:ext uri="{9D8B030D-6E8A-4147-A177-3AD203B41FA5}">
                      <a16:colId xmlns:a16="http://schemas.microsoft.com/office/drawing/2014/main" val="1603897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071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56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760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50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351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203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557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53663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157461-0F3E-C541-AB8F-46271C37F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507190"/>
              </p:ext>
            </p:extLst>
          </p:nvPr>
        </p:nvGraphicFramePr>
        <p:xfrm>
          <a:off x="5202627" y="5003800"/>
          <a:ext cx="613277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525">
                  <a:extLst>
                    <a:ext uri="{9D8B030D-6E8A-4147-A177-3AD203B41FA5}">
                      <a16:colId xmlns:a16="http://schemas.microsoft.com/office/drawing/2014/main" val="1731199203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75863266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145646136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3281879288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2354043568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605112573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4169349268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3108238622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272979074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435048703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2416660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475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305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2636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9C0D458-5528-3642-A719-80CCBC0F8D12}"/>
              </a:ext>
            </a:extLst>
          </p:cNvPr>
          <p:cNvSpPr txBox="1"/>
          <p:nvPr/>
        </p:nvSpPr>
        <p:spPr>
          <a:xfrm>
            <a:off x="3852031" y="5339763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ht_keys</a:t>
            </a:r>
            <a:r>
              <a:rPr lang="en-US" dirty="0">
                <a:latin typeface="Courier" pitchFamily="2" charset="0"/>
              </a:rPr>
              <a:t>[]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218BC1-C686-3149-A4AB-B98DDF8DB860}"/>
              </a:ext>
            </a:extLst>
          </p:cNvPr>
          <p:cNvSpPr txBox="1"/>
          <p:nvPr/>
        </p:nvSpPr>
        <p:spPr>
          <a:xfrm>
            <a:off x="3584009" y="5746988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ht_values</a:t>
            </a:r>
            <a:r>
              <a:rPr lang="en-US" dirty="0">
                <a:latin typeface="Courier" pitchFamily="2" charset="0"/>
              </a:rPr>
              <a:t>[]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7D8D1B2-F854-5640-91DE-0A6D36989BF8}"/>
              </a:ext>
            </a:extLst>
          </p:cNvPr>
          <p:cNvCxnSpPr>
            <a:cxnSpLocks/>
          </p:cNvCxnSpPr>
          <p:nvPr/>
        </p:nvCxnSpPr>
        <p:spPr>
          <a:xfrm>
            <a:off x="383058" y="5495518"/>
            <a:ext cx="625935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761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CEEF-A4A1-EC49-AA3D-637182AAF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Collision management via via 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7A34-41C5-2844-95BE-2E5D839DF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Data structure</a:t>
            </a:r>
            <a:r>
              <a:rPr lang="en-US" dirty="0"/>
              <a:t>: two arrays of size M &gt; N (one for keys, one for values)</a:t>
            </a:r>
          </a:p>
          <a:p>
            <a:r>
              <a:rPr lang="en-US" dirty="0">
                <a:highlight>
                  <a:srgbClr val="C0C0C0"/>
                </a:highlight>
              </a:rPr>
              <a:t>Operations</a:t>
            </a:r>
          </a:p>
          <a:p>
            <a:pPr lvl="1"/>
            <a:r>
              <a:rPr lang="en-US" dirty="0"/>
              <a:t>Hash &lt;</a:t>
            </a:r>
            <a:r>
              <a:rPr lang="en-US" i="1" dirty="0"/>
              <a:t>key</a:t>
            </a:r>
            <a:r>
              <a:rPr lang="en-US" dirty="0"/>
              <a:t>&gt;: map </a:t>
            </a:r>
            <a:r>
              <a:rPr lang="en-US" i="1" dirty="0"/>
              <a:t>key</a:t>
            </a:r>
            <a:r>
              <a:rPr lang="en-US" dirty="0"/>
              <a:t> to integer </a:t>
            </a:r>
            <a:r>
              <a:rPr lang="en-US" i="1" dirty="0" err="1"/>
              <a:t>i</a:t>
            </a:r>
            <a:r>
              <a:rPr lang="en-US" dirty="0"/>
              <a:t> in [0, M-1] </a:t>
            </a:r>
          </a:p>
          <a:p>
            <a:pPr lvl="1"/>
            <a:r>
              <a:rPr lang="en-US" dirty="0"/>
              <a:t>Insert &lt;</a:t>
            </a:r>
            <a:r>
              <a:rPr lang="en-US" i="1" dirty="0"/>
              <a:t>key</a:t>
            </a:r>
            <a:r>
              <a:rPr lang="en-US" dirty="0"/>
              <a:t>, </a:t>
            </a:r>
            <a:r>
              <a:rPr lang="en-US" i="1" dirty="0"/>
              <a:t>value</a:t>
            </a:r>
            <a:r>
              <a:rPr lang="en-US" dirty="0"/>
              <a:t>&gt;: put </a:t>
            </a:r>
            <a:r>
              <a:rPr lang="en-US" i="1" dirty="0"/>
              <a:t>value</a:t>
            </a:r>
            <a:r>
              <a:rPr lang="en-US" dirty="0"/>
              <a:t> at index </a:t>
            </a:r>
            <a:r>
              <a:rPr lang="en-US" i="1" dirty="0" err="1"/>
              <a:t>i</a:t>
            </a:r>
            <a:r>
              <a:rPr lang="en-US" dirty="0"/>
              <a:t> if available, or else try </a:t>
            </a:r>
            <a:r>
              <a:rPr lang="en-US" i="1" dirty="0"/>
              <a:t>i+1, i+2</a:t>
            </a:r>
            <a:r>
              <a:rPr lang="en-US" dirty="0"/>
              <a:t>, etc.</a:t>
            </a:r>
          </a:p>
          <a:p>
            <a:pPr lvl="1"/>
            <a:r>
              <a:rPr lang="en-US" dirty="0"/>
              <a:t>Search &lt;</a:t>
            </a:r>
            <a:r>
              <a:rPr lang="en-US" i="1" dirty="0"/>
              <a:t>key</a:t>
            </a:r>
            <a:r>
              <a:rPr lang="en-US" dirty="0"/>
              <a:t>&gt;: access table index </a:t>
            </a:r>
            <a:r>
              <a:rPr lang="en-US" i="1" dirty="0" err="1"/>
              <a:t>i</a:t>
            </a:r>
            <a:r>
              <a:rPr lang="en-US" dirty="0"/>
              <a:t>; if occupied but no match, try </a:t>
            </a:r>
            <a:r>
              <a:rPr lang="en-US" i="1" dirty="0"/>
              <a:t>i+1, i+2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C94473-3FCF-484A-A5FA-373A4D8864F8}"/>
              </a:ext>
            </a:extLst>
          </p:cNvPr>
          <p:cNvGraphicFramePr>
            <a:graphicFrameLocks noGrp="1"/>
          </p:cNvGraphicFramePr>
          <p:nvPr/>
        </p:nvGraphicFramePr>
        <p:xfrm>
          <a:off x="849462" y="3830044"/>
          <a:ext cx="235081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435">
                  <a:extLst>
                    <a:ext uri="{9D8B030D-6E8A-4147-A177-3AD203B41FA5}">
                      <a16:colId xmlns:a16="http://schemas.microsoft.com/office/drawing/2014/main" val="3562028691"/>
                    </a:ext>
                  </a:extLst>
                </a:gridCol>
                <a:gridCol w="930165">
                  <a:extLst>
                    <a:ext uri="{9D8B030D-6E8A-4147-A177-3AD203B41FA5}">
                      <a16:colId xmlns:a16="http://schemas.microsoft.com/office/drawing/2014/main" val="3579387943"/>
                    </a:ext>
                  </a:extLst>
                </a:gridCol>
                <a:gridCol w="725214">
                  <a:extLst>
                    <a:ext uri="{9D8B030D-6E8A-4147-A177-3AD203B41FA5}">
                      <a16:colId xmlns:a16="http://schemas.microsoft.com/office/drawing/2014/main" val="1603897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071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56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760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50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351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203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557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53663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157461-0F3E-C541-AB8F-46271C37F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037996"/>
              </p:ext>
            </p:extLst>
          </p:nvPr>
        </p:nvGraphicFramePr>
        <p:xfrm>
          <a:off x="5202627" y="5003800"/>
          <a:ext cx="613277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525">
                  <a:extLst>
                    <a:ext uri="{9D8B030D-6E8A-4147-A177-3AD203B41FA5}">
                      <a16:colId xmlns:a16="http://schemas.microsoft.com/office/drawing/2014/main" val="1731199203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75863266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145646136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3281879288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2354043568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605112573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4169349268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3108238622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272979074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435048703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2416660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475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305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2636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9C0D458-5528-3642-A719-80CCBC0F8D12}"/>
              </a:ext>
            </a:extLst>
          </p:cNvPr>
          <p:cNvSpPr txBox="1"/>
          <p:nvPr/>
        </p:nvSpPr>
        <p:spPr>
          <a:xfrm>
            <a:off x="3852031" y="5339763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ht_keys</a:t>
            </a:r>
            <a:r>
              <a:rPr lang="en-US" dirty="0">
                <a:latin typeface="Courier" pitchFamily="2" charset="0"/>
              </a:rPr>
              <a:t>[]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218BC1-C686-3149-A4AB-B98DDF8DB860}"/>
              </a:ext>
            </a:extLst>
          </p:cNvPr>
          <p:cNvSpPr txBox="1"/>
          <p:nvPr/>
        </p:nvSpPr>
        <p:spPr>
          <a:xfrm>
            <a:off x="3584009" y="5746988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ht_values</a:t>
            </a:r>
            <a:r>
              <a:rPr lang="en-US" dirty="0">
                <a:latin typeface="Courier" pitchFamily="2" charset="0"/>
              </a:rPr>
              <a:t>[]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7D8D1B2-F854-5640-91DE-0A6D36989BF8}"/>
              </a:ext>
            </a:extLst>
          </p:cNvPr>
          <p:cNvCxnSpPr>
            <a:cxnSpLocks/>
          </p:cNvCxnSpPr>
          <p:nvPr/>
        </p:nvCxnSpPr>
        <p:spPr>
          <a:xfrm>
            <a:off x="383058" y="5858124"/>
            <a:ext cx="625935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0621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CEEF-A4A1-EC49-AA3D-637182AAF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Collision management via via 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7A34-41C5-2844-95BE-2E5D839DF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Data structure</a:t>
            </a:r>
            <a:r>
              <a:rPr lang="en-US" dirty="0"/>
              <a:t>: two arrays of size M &gt; N (one for keys, one for values)</a:t>
            </a:r>
          </a:p>
          <a:p>
            <a:r>
              <a:rPr lang="en-US" dirty="0">
                <a:highlight>
                  <a:srgbClr val="C0C0C0"/>
                </a:highlight>
              </a:rPr>
              <a:t>Operations</a:t>
            </a:r>
          </a:p>
          <a:p>
            <a:pPr lvl="1"/>
            <a:r>
              <a:rPr lang="en-US" dirty="0"/>
              <a:t>Hash &lt;</a:t>
            </a:r>
            <a:r>
              <a:rPr lang="en-US" i="1" dirty="0"/>
              <a:t>key</a:t>
            </a:r>
            <a:r>
              <a:rPr lang="en-US" dirty="0"/>
              <a:t>&gt;: map </a:t>
            </a:r>
            <a:r>
              <a:rPr lang="en-US" i="1" dirty="0"/>
              <a:t>key</a:t>
            </a:r>
            <a:r>
              <a:rPr lang="en-US" dirty="0"/>
              <a:t> to integer </a:t>
            </a:r>
            <a:r>
              <a:rPr lang="en-US" i="1" dirty="0" err="1"/>
              <a:t>i</a:t>
            </a:r>
            <a:r>
              <a:rPr lang="en-US" dirty="0"/>
              <a:t> in [0, M-1] </a:t>
            </a:r>
          </a:p>
          <a:p>
            <a:pPr lvl="1"/>
            <a:r>
              <a:rPr lang="en-US" dirty="0"/>
              <a:t>Insert &lt;</a:t>
            </a:r>
            <a:r>
              <a:rPr lang="en-US" i="1" dirty="0"/>
              <a:t>key</a:t>
            </a:r>
            <a:r>
              <a:rPr lang="en-US" dirty="0"/>
              <a:t>, </a:t>
            </a:r>
            <a:r>
              <a:rPr lang="en-US" i="1" dirty="0"/>
              <a:t>value</a:t>
            </a:r>
            <a:r>
              <a:rPr lang="en-US" dirty="0"/>
              <a:t>&gt;: put </a:t>
            </a:r>
            <a:r>
              <a:rPr lang="en-US" i="1" dirty="0"/>
              <a:t>value</a:t>
            </a:r>
            <a:r>
              <a:rPr lang="en-US" dirty="0"/>
              <a:t> at index </a:t>
            </a:r>
            <a:r>
              <a:rPr lang="en-US" i="1" dirty="0" err="1"/>
              <a:t>i</a:t>
            </a:r>
            <a:r>
              <a:rPr lang="en-US" dirty="0"/>
              <a:t> if available, or else try </a:t>
            </a:r>
            <a:r>
              <a:rPr lang="en-US" i="1" dirty="0"/>
              <a:t>i+1, i+2</a:t>
            </a:r>
            <a:r>
              <a:rPr lang="en-US" dirty="0"/>
              <a:t>, etc.</a:t>
            </a:r>
          </a:p>
          <a:p>
            <a:pPr lvl="1"/>
            <a:r>
              <a:rPr lang="en-US" dirty="0"/>
              <a:t>Search &lt;</a:t>
            </a:r>
            <a:r>
              <a:rPr lang="en-US" i="1" dirty="0"/>
              <a:t>key</a:t>
            </a:r>
            <a:r>
              <a:rPr lang="en-US" dirty="0"/>
              <a:t>&gt;: access table index </a:t>
            </a:r>
            <a:r>
              <a:rPr lang="en-US" i="1" dirty="0" err="1"/>
              <a:t>i</a:t>
            </a:r>
            <a:r>
              <a:rPr lang="en-US" dirty="0"/>
              <a:t>; if occupied but no match, try </a:t>
            </a:r>
            <a:r>
              <a:rPr lang="en-US" i="1" dirty="0"/>
              <a:t>i+1, i+2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C94473-3FCF-484A-A5FA-373A4D8864F8}"/>
              </a:ext>
            </a:extLst>
          </p:cNvPr>
          <p:cNvGraphicFramePr>
            <a:graphicFrameLocks noGrp="1"/>
          </p:cNvGraphicFramePr>
          <p:nvPr/>
        </p:nvGraphicFramePr>
        <p:xfrm>
          <a:off x="849462" y="3830044"/>
          <a:ext cx="235081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435">
                  <a:extLst>
                    <a:ext uri="{9D8B030D-6E8A-4147-A177-3AD203B41FA5}">
                      <a16:colId xmlns:a16="http://schemas.microsoft.com/office/drawing/2014/main" val="3562028691"/>
                    </a:ext>
                  </a:extLst>
                </a:gridCol>
                <a:gridCol w="930165">
                  <a:extLst>
                    <a:ext uri="{9D8B030D-6E8A-4147-A177-3AD203B41FA5}">
                      <a16:colId xmlns:a16="http://schemas.microsoft.com/office/drawing/2014/main" val="3579387943"/>
                    </a:ext>
                  </a:extLst>
                </a:gridCol>
                <a:gridCol w="725214">
                  <a:extLst>
                    <a:ext uri="{9D8B030D-6E8A-4147-A177-3AD203B41FA5}">
                      <a16:colId xmlns:a16="http://schemas.microsoft.com/office/drawing/2014/main" val="1603897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071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56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760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50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351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203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557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53663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157461-0F3E-C541-AB8F-46271C37F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615239"/>
              </p:ext>
            </p:extLst>
          </p:nvPr>
        </p:nvGraphicFramePr>
        <p:xfrm>
          <a:off x="5202627" y="5003800"/>
          <a:ext cx="613277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525">
                  <a:extLst>
                    <a:ext uri="{9D8B030D-6E8A-4147-A177-3AD203B41FA5}">
                      <a16:colId xmlns:a16="http://schemas.microsoft.com/office/drawing/2014/main" val="1731199203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75863266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145646136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3281879288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2354043568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605112573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4169349268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3108238622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272979074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435048703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2416660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475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305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2636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9C0D458-5528-3642-A719-80CCBC0F8D12}"/>
              </a:ext>
            </a:extLst>
          </p:cNvPr>
          <p:cNvSpPr txBox="1"/>
          <p:nvPr/>
        </p:nvSpPr>
        <p:spPr>
          <a:xfrm>
            <a:off x="3852031" y="5339763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ht_keys</a:t>
            </a:r>
            <a:r>
              <a:rPr lang="en-US" dirty="0">
                <a:latin typeface="Courier" pitchFamily="2" charset="0"/>
              </a:rPr>
              <a:t>[]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218BC1-C686-3149-A4AB-B98DDF8DB860}"/>
              </a:ext>
            </a:extLst>
          </p:cNvPr>
          <p:cNvSpPr txBox="1"/>
          <p:nvPr/>
        </p:nvSpPr>
        <p:spPr>
          <a:xfrm>
            <a:off x="3584009" y="5746988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ht_values</a:t>
            </a:r>
            <a:r>
              <a:rPr lang="en-US" dirty="0">
                <a:latin typeface="Courier" pitchFamily="2" charset="0"/>
              </a:rPr>
              <a:t>[]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7D8D1B2-F854-5640-91DE-0A6D36989BF8}"/>
              </a:ext>
            </a:extLst>
          </p:cNvPr>
          <p:cNvCxnSpPr>
            <a:cxnSpLocks/>
          </p:cNvCxnSpPr>
          <p:nvPr/>
        </p:nvCxnSpPr>
        <p:spPr>
          <a:xfrm>
            <a:off x="383058" y="6236496"/>
            <a:ext cx="625935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423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CEEF-A4A1-EC49-AA3D-637182AAF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Collision management via via 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7A34-41C5-2844-95BE-2E5D839DF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Data structure</a:t>
            </a:r>
            <a:r>
              <a:rPr lang="en-US" dirty="0"/>
              <a:t>: two arrays of size M &gt; N (one for keys, one for values)</a:t>
            </a:r>
          </a:p>
          <a:p>
            <a:r>
              <a:rPr lang="en-US" dirty="0">
                <a:highlight>
                  <a:srgbClr val="C0C0C0"/>
                </a:highlight>
              </a:rPr>
              <a:t>Operations</a:t>
            </a:r>
          </a:p>
          <a:p>
            <a:pPr lvl="1"/>
            <a:r>
              <a:rPr lang="en-US" dirty="0"/>
              <a:t>Hash &lt;</a:t>
            </a:r>
            <a:r>
              <a:rPr lang="en-US" i="1" dirty="0"/>
              <a:t>key</a:t>
            </a:r>
            <a:r>
              <a:rPr lang="en-US" dirty="0"/>
              <a:t>&gt;: map </a:t>
            </a:r>
            <a:r>
              <a:rPr lang="en-US" i="1" dirty="0"/>
              <a:t>key</a:t>
            </a:r>
            <a:r>
              <a:rPr lang="en-US" dirty="0"/>
              <a:t> to integer </a:t>
            </a:r>
            <a:r>
              <a:rPr lang="en-US" i="1" dirty="0" err="1"/>
              <a:t>i</a:t>
            </a:r>
            <a:r>
              <a:rPr lang="en-US" dirty="0"/>
              <a:t> in [0, M-1] </a:t>
            </a:r>
          </a:p>
          <a:p>
            <a:pPr lvl="1"/>
            <a:r>
              <a:rPr lang="en-US" dirty="0"/>
              <a:t>Insert &lt;</a:t>
            </a:r>
            <a:r>
              <a:rPr lang="en-US" i="1" dirty="0"/>
              <a:t>key</a:t>
            </a:r>
            <a:r>
              <a:rPr lang="en-US" dirty="0"/>
              <a:t>, </a:t>
            </a:r>
            <a:r>
              <a:rPr lang="en-US" i="1" dirty="0"/>
              <a:t>value</a:t>
            </a:r>
            <a:r>
              <a:rPr lang="en-US" dirty="0"/>
              <a:t>&gt;: put </a:t>
            </a:r>
            <a:r>
              <a:rPr lang="en-US" i="1" dirty="0"/>
              <a:t>value</a:t>
            </a:r>
            <a:r>
              <a:rPr lang="en-US" dirty="0"/>
              <a:t> at index </a:t>
            </a:r>
            <a:r>
              <a:rPr lang="en-US" i="1" dirty="0" err="1"/>
              <a:t>i</a:t>
            </a:r>
            <a:r>
              <a:rPr lang="en-US" dirty="0"/>
              <a:t> if available, or else try </a:t>
            </a:r>
            <a:r>
              <a:rPr lang="en-US" i="1" dirty="0"/>
              <a:t>i+1, i+2</a:t>
            </a:r>
            <a:r>
              <a:rPr lang="en-US" dirty="0"/>
              <a:t>, etc.</a:t>
            </a:r>
          </a:p>
          <a:p>
            <a:pPr lvl="1"/>
            <a:r>
              <a:rPr lang="en-US" dirty="0"/>
              <a:t>Search &lt;</a:t>
            </a:r>
            <a:r>
              <a:rPr lang="en-US" i="1" dirty="0"/>
              <a:t>key</a:t>
            </a:r>
            <a:r>
              <a:rPr lang="en-US" dirty="0"/>
              <a:t>&gt;: access table index </a:t>
            </a:r>
            <a:r>
              <a:rPr lang="en-US" i="1" dirty="0" err="1"/>
              <a:t>i</a:t>
            </a:r>
            <a:r>
              <a:rPr lang="en-US" dirty="0"/>
              <a:t>; if occupied but no match, try </a:t>
            </a:r>
            <a:r>
              <a:rPr lang="en-US" i="1" dirty="0"/>
              <a:t>i+1, i+2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C94473-3FCF-484A-A5FA-373A4D8864F8}"/>
              </a:ext>
            </a:extLst>
          </p:cNvPr>
          <p:cNvGraphicFramePr>
            <a:graphicFrameLocks noGrp="1"/>
          </p:cNvGraphicFramePr>
          <p:nvPr/>
        </p:nvGraphicFramePr>
        <p:xfrm>
          <a:off x="849462" y="3830044"/>
          <a:ext cx="235081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435">
                  <a:extLst>
                    <a:ext uri="{9D8B030D-6E8A-4147-A177-3AD203B41FA5}">
                      <a16:colId xmlns:a16="http://schemas.microsoft.com/office/drawing/2014/main" val="3562028691"/>
                    </a:ext>
                  </a:extLst>
                </a:gridCol>
                <a:gridCol w="930165">
                  <a:extLst>
                    <a:ext uri="{9D8B030D-6E8A-4147-A177-3AD203B41FA5}">
                      <a16:colId xmlns:a16="http://schemas.microsoft.com/office/drawing/2014/main" val="3579387943"/>
                    </a:ext>
                  </a:extLst>
                </a:gridCol>
                <a:gridCol w="725214">
                  <a:extLst>
                    <a:ext uri="{9D8B030D-6E8A-4147-A177-3AD203B41FA5}">
                      <a16:colId xmlns:a16="http://schemas.microsoft.com/office/drawing/2014/main" val="1603897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071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56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760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50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351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203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557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53663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157461-0F3E-C541-AB8F-46271C37F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838918"/>
              </p:ext>
            </p:extLst>
          </p:nvPr>
        </p:nvGraphicFramePr>
        <p:xfrm>
          <a:off x="5202627" y="5003800"/>
          <a:ext cx="613277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525">
                  <a:extLst>
                    <a:ext uri="{9D8B030D-6E8A-4147-A177-3AD203B41FA5}">
                      <a16:colId xmlns:a16="http://schemas.microsoft.com/office/drawing/2014/main" val="1731199203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75863266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145646136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3281879288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2354043568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605112573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4169349268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3108238622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272979074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435048703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2416660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475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305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2636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9C0D458-5528-3642-A719-80CCBC0F8D12}"/>
              </a:ext>
            </a:extLst>
          </p:cNvPr>
          <p:cNvSpPr txBox="1"/>
          <p:nvPr/>
        </p:nvSpPr>
        <p:spPr>
          <a:xfrm>
            <a:off x="3852031" y="5339763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ht_keys</a:t>
            </a:r>
            <a:r>
              <a:rPr lang="en-US" dirty="0">
                <a:latin typeface="Courier" pitchFamily="2" charset="0"/>
              </a:rPr>
              <a:t>[]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218BC1-C686-3149-A4AB-B98DDF8DB860}"/>
              </a:ext>
            </a:extLst>
          </p:cNvPr>
          <p:cNvSpPr txBox="1"/>
          <p:nvPr/>
        </p:nvSpPr>
        <p:spPr>
          <a:xfrm>
            <a:off x="3584009" y="5746988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ht_values</a:t>
            </a:r>
            <a:r>
              <a:rPr lang="en-US" dirty="0">
                <a:latin typeface="Courier" pitchFamily="2" charset="0"/>
              </a:rPr>
              <a:t>[]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7D8D1B2-F854-5640-91DE-0A6D36989BF8}"/>
              </a:ext>
            </a:extLst>
          </p:cNvPr>
          <p:cNvCxnSpPr>
            <a:cxnSpLocks/>
          </p:cNvCxnSpPr>
          <p:nvPr/>
        </p:nvCxnSpPr>
        <p:spPr>
          <a:xfrm>
            <a:off x="383058" y="6561438"/>
            <a:ext cx="625935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0123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CEEF-A4A1-EC49-AA3D-637182AAF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Collision management via via 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7A34-41C5-2844-95BE-2E5D839DF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C0C0C0"/>
                </a:highlight>
              </a:rPr>
              <a:t>Data structure</a:t>
            </a:r>
            <a:r>
              <a:rPr lang="en-US" dirty="0"/>
              <a:t>: two arrays of size M &gt; N (one for keys, one for values)</a:t>
            </a:r>
          </a:p>
          <a:p>
            <a:r>
              <a:rPr lang="en-US" dirty="0">
                <a:highlight>
                  <a:srgbClr val="C0C0C0"/>
                </a:highlight>
              </a:rPr>
              <a:t>Operations</a:t>
            </a:r>
          </a:p>
          <a:p>
            <a:pPr lvl="1"/>
            <a:r>
              <a:rPr lang="en-US" dirty="0"/>
              <a:t>Hash &lt;</a:t>
            </a:r>
            <a:r>
              <a:rPr lang="en-US" i="1" dirty="0"/>
              <a:t>key</a:t>
            </a:r>
            <a:r>
              <a:rPr lang="en-US" dirty="0"/>
              <a:t>&gt;: map </a:t>
            </a:r>
            <a:r>
              <a:rPr lang="en-US" i="1" dirty="0"/>
              <a:t>key</a:t>
            </a:r>
            <a:r>
              <a:rPr lang="en-US" dirty="0"/>
              <a:t> to integer </a:t>
            </a:r>
            <a:r>
              <a:rPr lang="en-US" i="1" dirty="0" err="1"/>
              <a:t>i</a:t>
            </a:r>
            <a:r>
              <a:rPr lang="en-US" dirty="0"/>
              <a:t> in [0, M-1] </a:t>
            </a:r>
          </a:p>
          <a:p>
            <a:pPr lvl="1"/>
            <a:r>
              <a:rPr lang="en-US" dirty="0"/>
              <a:t>Insert &lt;</a:t>
            </a:r>
            <a:r>
              <a:rPr lang="en-US" i="1" dirty="0"/>
              <a:t>key</a:t>
            </a:r>
            <a:r>
              <a:rPr lang="en-US" dirty="0"/>
              <a:t>, </a:t>
            </a:r>
            <a:r>
              <a:rPr lang="en-US" i="1" dirty="0"/>
              <a:t>value</a:t>
            </a:r>
            <a:r>
              <a:rPr lang="en-US" dirty="0"/>
              <a:t>&gt;: put </a:t>
            </a:r>
            <a:r>
              <a:rPr lang="en-US" i="1" dirty="0"/>
              <a:t>value</a:t>
            </a:r>
            <a:r>
              <a:rPr lang="en-US" dirty="0"/>
              <a:t> at index </a:t>
            </a:r>
            <a:r>
              <a:rPr lang="en-US" i="1" dirty="0" err="1"/>
              <a:t>i</a:t>
            </a:r>
            <a:r>
              <a:rPr lang="en-US" dirty="0"/>
              <a:t> if available, or else try </a:t>
            </a:r>
            <a:r>
              <a:rPr lang="en-US" i="1" dirty="0"/>
              <a:t>i+1, i+2</a:t>
            </a:r>
            <a:r>
              <a:rPr lang="en-US" dirty="0"/>
              <a:t>, etc.</a:t>
            </a:r>
          </a:p>
          <a:p>
            <a:pPr lvl="1"/>
            <a:r>
              <a:rPr lang="en-US" dirty="0"/>
              <a:t>Search &lt;</a:t>
            </a:r>
            <a:r>
              <a:rPr lang="en-US" i="1" dirty="0"/>
              <a:t>key</a:t>
            </a:r>
            <a:r>
              <a:rPr lang="en-US" dirty="0"/>
              <a:t>&gt;: access table index </a:t>
            </a:r>
            <a:r>
              <a:rPr lang="en-US" i="1" dirty="0" err="1"/>
              <a:t>i</a:t>
            </a:r>
            <a:r>
              <a:rPr lang="en-US" dirty="0"/>
              <a:t>; if occupied but no match, try </a:t>
            </a:r>
            <a:r>
              <a:rPr lang="en-US" i="1" dirty="0"/>
              <a:t>i+1, i+2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C94473-3FCF-484A-A5FA-373A4D8864F8}"/>
              </a:ext>
            </a:extLst>
          </p:cNvPr>
          <p:cNvGraphicFramePr>
            <a:graphicFrameLocks noGrp="1"/>
          </p:cNvGraphicFramePr>
          <p:nvPr/>
        </p:nvGraphicFramePr>
        <p:xfrm>
          <a:off x="849462" y="3830044"/>
          <a:ext cx="235081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435">
                  <a:extLst>
                    <a:ext uri="{9D8B030D-6E8A-4147-A177-3AD203B41FA5}">
                      <a16:colId xmlns:a16="http://schemas.microsoft.com/office/drawing/2014/main" val="3562028691"/>
                    </a:ext>
                  </a:extLst>
                </a:gridCol>
                <a:gridCol w="930165">
                  <a:extLst>
                    <a:ext uri="{9D8B030D-6E8A-4147-A177-3AD203B41FA5}">
                      <a16:colId xmlns:a16="http://schemas.microsoft.com/office/drawing/2014/main" val="3579387943"/>
                    </a:ext>
                  </a:extLst>
                </a:gridCol>
                <a:gridCol w="725214">
                  <a:extLst>
                    <a:ext uri="{9D8B030D-6E8A-4147-A177-3AD203B41FA5}">
                      <a16:colId xmlns:a16="http://schemas.microsoft.com/office/drawing/2014/main" val="1603897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071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56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760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500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351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203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557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53663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157461-0F3E-C541-AB8F-46271C37F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984594"/>
              </p:ext>
            </p:extLst>
          </p:nvPr>
        </p:nvGraphicFramePr>
        <p:xfrm>
          <a:off x="5202627" y="5003800"/>
          <a:ext cx="613277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525">
                  <a:extLst>
                    <a:ext uri="{9D8B030D-6E8A-4147-A177-3AD203B41FA5}">
                      <a16:colId xmlns:a16="http://schemas.microsoft.com/office/drawing/2014/main" val="1731199203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75863266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145646136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3281879288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2354043568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605112573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4169349268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3108238622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272979074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1435048703"/>
                    </a:ext>
                  </a:extLst>
                </a:gridCol>
                <a:gridCol w="557525">
                  <a:extLst>
                    <a:ext uri="{9D8B030D-6E8A-4147-A177-3AD203B41FA5}">
                      <a16:colId xmlns:a16="http://schemas.microsoft.com/office/drawing/2014/main" val="2416660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475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305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2636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9C0D458-5528-3642-A719-80CCBC0F8D12}"/>
              </a:ext>
            </a:extLst>
          </p:cNvPr>
          <p:cNvSpPr txBox="1"/>
          <p:nvPr/>
        </p:nvSpPr>
        <p:spPr>
          <a:xfrm>
            <a:off x="3852031" y="5339763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ht_keys</a:t>
            </a:r>
            <a:r>
              <a:rPr lang="en-US" dirty="0">
                <a:latin typeface="Courier" pitchFamily="2" charset="0"/>
              </a:rPr>
              <a:t>[]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218BC1-C686-3149-A4AB-B98DDF8DB860}"/>
              </a:ext>
            </a:extLst>
          </p:cNvPr>
          <p:cNvSpPr txBox="1"/>
          <p:nvPr/>
        </p:nvSpPr>
        <p:spPr>
          <a:xfrm>
            <a:off x="3584009" y="5746988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ht_values</a:t>
            </a:r>
            <a:r>
              <a:rPr lang="en-US" dirty="0">
                <a:latin typeface="Courier" pitchFamily="2" charset="0"/>
              </a:rPr>
              <a:t>[]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F3F72B-C8A3-D849-AFFB-81567A49B569}"/>
              </a:ext>
            </a:extLst>
          </p:cNvPr>
          <p:cNvSpPr txBox="1"/>
          <p:nvPr/>
        </p:nvSpPr>
        <p:spPr>
          <a:xfrm>
            <a:off x="5202627" y="4348723"/>
            <a:ext cx="1197764" cy="369332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search(C)</a:t>
            </a:r>
          </a:p>
        </p:txBody>
      </p:sp>
    </p:spTree>
    <p:extLst>
      <p:ext uri="{BB962C8B-B14F-4D97-AF65-F5344CB8AC3E}">
        <p14:creationId xmlns:p14="http://schemas.microsoft.com/office/powerpoint/2010/main" val="21956676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F25A1-B7C7-F649-AB62-0C3CE4747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management via 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EFA37-312A-3E46-80FB-B4AC306C5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Pseudocode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CF05F2-DA14-0B4C-9A27-28538DF2DCA2}"/>
              </a:ext>
            </a:extLst>
          </p:cNvPr>
          <p:cNvSpPr txBox="1"/>
          <p:nvPr/>
        </p:nvSpPr>
        <p:spPr>
          <a:xfrm>
            <a:off x="514866" y="2190253"/>
            <a:ext cx="6043589" cy="4031873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class </a:t>
            </a:r>
            <a:r>
              <a:rPr lang="en-GB" sz="1600" dirty="0" err="1">
                <a:highlight>
                  <a:srgbClr val="C0C0C0"/>
                </a:highlight>
                <a:latin typeface="Courier" pitchFamily="2" charset="0"/>
              </a:rPr>
              <a:t>LinearProbingHashTable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:</a:t>
            </a:r>
          </a:p>
          <a:p>
            <a:endParaRPr lang="en-GB" sz="1600" dirty="0">
              <a:highlight>
                <a:srgbClr val="C0C0C0"/>
              </a:highlight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M = N*2 + 1 #rule of thumb</a:t>
            </a: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 err="1">
                <a:latin typeface="Courier" pitchFamily="2" charset="0"/>
              </a:rPr>
              <a:t>ht_keys</a:t>
            </a:r>
            <a:r>
              <a:rPr lang="en-GB" sz="1600" dirty="0">
                <a:latin typeface="Courier" pitchFamily="2" charset="0"/>
              </a:rPr>
              <a:t> = Key[M] # array of keys</a:t>
            </a: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 err="1">
                <a:latin typeface="Courier" pitchFamily="2" charset="0"/>
              </a:rPr>
              <a:t>ht_values</a:t>
            </a:r>
            <a:r>
              <a:rPr lang="en-GB" sz="1600" dirty="0">
                <a:latin typeface="Courier" pitchFamily="2" charset="0"/>
              </a:rPr>
              <a:t> = Value[M] # array of values</a:t>
            </a:r>
          </a:p>
          <a:p>
            <a:r>
              <a:rPr lang="en-GB" sz="1600" dirty="0">
                <a:latin typeface="Courier" pitchFamily="2" charset="0"/>
              </a:rPr>
              <a:t>    </a:t>
            </a: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def hash(self, key): </a:t>
            </a:r>
          </a:p>
          <a:p>
            <a:r>
              <a:rPr lang="en-GB" sz="1600" dirty="0">
                <a:latin typeface="Courier" pitchFamily="2" charset="0"/>
              </a:rPr>
              <a:t>        return key % </a:t>
            </a:r>
            <a:r>
              <a:rPr lang="en-GB" sz="1600" dirty="0" err="1">
                <a:latin typeface="Courier" pitchFamily="2" charset="0"/>
              </a:rPr>
              <a:t>self.M</a:t>
            </a:r>
            <a:r>
              <a:rPr lang="en-GB" sz="1600" dirty="0">
                <a:latin typeface="Courier" pitchFamily="2" charset="0"/>
              </a:rPr>
              <a:t> </a:t>
            </a:r>
          </a:p>
          <a:p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def get(self, key):</a:t>
            </a:r>
          </a:p>
          <a:p>
            <a:r>
              <a:rPr lang="en-GB" sz="1600" dirty="0">
                <a:latin typeface="Courier" pitchFamily="2" charset="0"/>
              </a:rPr>
              <a:t>        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 = </a:t>
            </a:r>
            <a:r>
              <a:rPr lang="en-GB" sz="1600" dirty="0" err="1">
                <a:latin typeface="Courier" pitchFamily="2" charset="0"/>
              </a:rPr>
              <a:t>self.hash</a:t>
            </a:r>
            <a:r>
              <a:rPr lang="en-GB" sz="1600" dirty="0">
                <a:latin typeface="Courier" pitchFamily="2" charset="0"/>
              </a:rPr>
              <a:t>(self, key)</a:t>
            </a:r>
          </a:p>
          <a:p>
            <a:r>
              <a:rPr lang="en-GB" sz="1600" dirty="0">
                <a:latin typeface="Courier" pitchFamily="2" charset="0"/>
              </a:rPr>
              <a:t>        while (</a:t>
            </a:r>
            <a:r>
              <a:rPr lang="en-GB" sz="1600" dirty="0" err="1">
                <a:latin typeface="Courier" pitchFamily="2" charset="0"/>
              </a:rPr>
              <a:t>self.ht_keys</a:t>
            </a:r>
            <a:r>
              <a:rPr lang="en-GB" sz="1600" dirty="0">
                <a:latin typeface="Courier" pitchFamily="2" charset="0"/>
              </a:rPr>
              <a:t>[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]!=None):</a:t>
            </a:r>
          </a:p>
          <a:p>
            <a:r>
              <a:rPr lang="en-GB" sz="1600" dirty="0">
                <a:latin typeface="Courier" pitchFamily="2" charset="0"/>
              </a:rPr>
              <a:t>            if (self.</a:t>
            </a:r>
            <a:r>
              <a:rPr lang="en-GB" sz="1600" err="1">
                <a:latin typeface="Courier" pitchFamily="2" charset="0"/>
              </a:rPr>
              <a:t>ht</a:t>
            </a:r>
            <a:r>
              <a:rPr lang="en-GB" sz="1600">
                <a:latin typeface="Courier" pitchFamily="2" charset="0"/>
              </a:rPr>
              <a:t>_keys</a:t>
            </a:r>
            <a:r>
              <a:rPr lang="en-GB" sz="1600" dirty="0">
                <a:latin typeface="Courier" pitchFamily="2" charset="0"/>
              </a:rPr>
              <a:t>[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]==key) </a:t>
            </a:r>
          </a:p>
          <a:p>
            <a:r>
              <a:rPr lang="en-GB" sz="1600" dirty="0">
                <a:latin typeface="Courier" pitchFamily="2" charset="0"/>
              </a:rPr>
              <a:t>                return </a:t>
            </a:r>
            <a:r>
              <a:rPr lang="en-GB" sz="1600" dirty="0" err="1">
                <a:latin typeface="Courier" pitchFamily="2" charset="0"/>
              </a:rPr>
              <a:t>self.ht_values</a:t>
            </a:r>
            <a:r>
              <a:rPr lang="en-GB" sz="1600" dirty="0">
                <a:latin typeface="Courier" pitchFamily="2" charset="0"/>
              </a:rPr>
              <a:t>[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]</a:t>
            </a:r>
          </a:p>
          <a:p>
            <a:r>
              <a:rPr lang="en-GB" sz="1600" dirty="0">
                <a:latin typeface="Courier" pitchFamily="2" charset="0"/>
              </a:rPr>
              <a:t>            else 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=(i+1)%</a:t>
            </a:r>
            <a:r>
              <a:rPr lang="en-GB" sz="1600" dirty="0" err="1">
                <a:latin typeface="Courier" pitchFamily="2" charset="0"/>
              </a:rPr>
              <a:t>self.M</a:t>
            </a:r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    return None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A84310-4E6C-7B44-ABC8-CDF8B6B05111}"/>
              </a:ext>
            </a:extLst>
          </p:cNvPr>
          <p:cNvSpPr txBox="1"/>
          <p:nvPr/>
        </p:nvSpPr>
        <p:spPr>
          <a:xfrm>
            <a:off x="6776758" y="2190253"/>
            <a:ext cx="5316386" cy="2308324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     </a:t>
            </a:r>
            <a:r>
              <a:rPr lang="en-GB" sz="1600" dirty="0">
                <a:highlight>
                  <a:srgbClr val="C0C0C0"/>
                </a:highlight>
                <a:latin typeface="Courier" pitchFamily="2" charset="0"/>
              </a:rPr>
              <a:t>def put(key, value): </a:t>
            </a:r>
          </a:p>
          <a:p>
            <a:r>
              <a:rPr lang="en-GB" sz="1600" dirty="0">
                <a:latin typeface="Courier" pitchFamily="2" charset="0"/>
              </a:rPr>
              <a:t>        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 = </a:t>
            </a:r>
            <a:r>
              <a:rPr lang="en-GB" sz="1600" dirty="0" err="1">
                <a:latin typeface="Courier" pitchFamily="2" charset="0"/>
              </a:rPr>
              <a:t>self.hash</a:t>
            </a:r>
            <a:r>
              <a:rPr lang="en-GB" sz="1600" dirty="0">
                <a:latin typeface="Courier" pitchFamily="2" charset="0"/>
              </a:rPr>
              <a:t>(self, key)</a:t>
            </a:r>
          </a:p>
          <a:p>
            <a:r>
              <a:rPr lang="en-GB" sz="1600" dirty="0">
                <a:latin typeface="Courier" pitchFamily="2" charset="0"/>
              </a:rPr>
              <a:t>        while (</a:t>
            </a:r>
            <a:r>
              <a:rPr lang="en-GB" sz="1600" dirty="0" err="1">
                <a:latin typeface="Courier" pitchFamily="2" charset="0"/>
              </a:rPr>
              <a:t>self.ht_keys</a:t>
            </a:r>
            <a:r>
              <a:rPr lang="en-GB" sz="1600" dirty="0">
                <a:latin typeface="Courier" pitchFamily="2" charset="0"/>
              </a:rPr>
              <a:t>[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]!=None):</a:t>
            </a:r>
          </a:p>
          <a:p>
            <a:r>
              <a:rPr lang="en-GB" sz="1600" dirty="0">
                <a:latin typeface="Courier" pitchFamily="2" charset="0"/>
              </a:rPr>
              <a:t>            if (</a:t>
            </a:r>
            <a:r>
              <a:rPr lang="en-GB" sz="1600" dirty="0" err="1">
                <a:latin typeface="Courier" pitchFamily="2" charset="0"/>
              </a:rPr>
              <a:t>self.ht_keys</a:t>
            </a:r>
            <a:r>
              <a:rPr lang="en-GB" sz="1600" dirty="0">
                <a:latin typeface="Courier" pitchFamily="2" charset="0"/>
              </a:rPr>
              <a:t>[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]==key) </a:t>
            </a:r>
          </a:p>
          <a:p>
            <a:r>
              <a:rPr lang="en-GB" sz="1600" dirty="0">
                <a:latin typeface="Courier" pitchFamily="2" charset="0"/>
              </a:rPr>
              <a:t>		</a:t>
            </a:r>
            <a:r>
              <a:rPr lang="en-GB" sz="1600" dirty="0" err="1">
                <a:latin typeface="Courier" pitchFamily="2" charset="0"/>
              </a:rPr>
              <a:t>self.ht_values</a:t>
            </a:r>
            <a:r>
              <a:rPr lang="en-GB" sz="1600" dirty="0">
                <a:latin typeface="Courier" pitchFamily="2" charset="0"/>
              </a:rPr>
              <a:t>[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] = value</a:t>
            </a:r>
          </a:p>
          <a:p>
            <a:r>
              <a:rPr lang="en-GB" sz="1600" dirty="0">
                <a:latin typeface="Courier" pitchFamily="2" charset="0"/>
              </a:rPr>
              <a:t>		return</a:t>
            </a:r>
          </a:p>
          <a:p>
            <a:r>
              <a:rPr lang="en-GB" sz="1600" dirty="0">
                <a:latin typeface="Courier" pitchFamily="2" charset="0"/>
              </a:rPr>
              <a:t>            else 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=(i+1)%</a:t>
            </a:r>
            <a:r>
              <a:rPr lang="en-GB" sz="1600" dirty="0" err="1">
                <a:latin typeface="Courier" pitchFamily="2" charset="0"/>
              </a:rPr>
              <a:t>self.M</a:t>
            </a:r>
            <a:endParaRPr lang="en-GB" sz="1600" dirty="0">
              <a:latin typeface="Courier" pitchFamily="2" charset="0"/>
            </a:endParaRPr>
          </a:p>
          <a:p>
            <a:r>
              <a:rPr lang="en-GB" sz="1600" dirty="0">
                <a:latin typeface="Courier" pitchFamily="2" charset="0"/>
              </a:rPr>
              <a:t>        </a:t>
            </a:r>
            <a:r>
              <a:rPr lang="en-GB" sz="1600" dirty="0" err="1">
                <a:latin typeface="Courier" pitchFamily="2" charset="0"/>
              </a:rPr>
              <a:t>self.ht_keys</a:t>
            </a:r>
            <a:r>
              <a:rPr lang="en-GB" sz="1600" dirty="0">
                <a:latin typeface="Courier" pitchFamily="2" charset="0"/>
              </a:rPr>
              <a:t>[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] = key</a:t>
            </a:r>
          </a:p>
          <a:p>
            <a:r>
              <a:rPr lang="en-GB" sz="1600" dirty="0">
                <a:latin typeface="Courier" pitchFamily="2" charset="0"/>
              </a:rPr>
              <a:t>        </a:t>
            </a:r>
            <a:r>
              <a:rPr lang="en-GB" sz="1600" dirty="0" err="1">
                <a:latin typeface="Courier" pitchFamily="2" charset="0"/>
              </a:rPr>
              <a:t>self.ht_values</a:t>
            </a:r>
            <a:r>
              <a:rPr lang="en-GB" sz="1600" dirty="0">
                <a:latin typeface="Courier" pitchFamily="2" charset="0"/>
              </a:rPr>
              <a:t>[</a:t>
            </a:r>
            <a:r>
              <a:rPr lang="en-GB" sz="1600" dirty="0" err="1">
                <a:latin typeface="Courier" pitchFamily="2" charset="0"/>
              </a:rPr>
              <a:t>i</a:t>
            </a:r>
            <a:r>
              <a:rPr lang="en-GB" sz="1600" dirty="0">
                <a:latin typeface="Courier" pitchFamily="2" charset="0"/>
              </a:rPr>
              <a:t>] = value</a:t>
            </a:r>
          </a:p>
        </p:txBody>
      </p:sp>
    </p:spTree>
    <p:extLst>
      <p:ext uri="{BB962C8B-B14F-4D97-AF65-F5344CB8AC3E}">
        <p14:creationId xmlns:p14="http://schemas.microsoft.com/office/powerpoint/2010/main" val="3906401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F25A1-B7C7-F649-AB62-0C3CE4747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management via 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EFA37-312A-3E46-80FB-B4AC306C5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Performance analysis</a:t>
            </a:r>
          </a:p>
          <a:p>
            <a:pPr lvl="1"/>
            <a:r>
              <a:rPr lang="en-US" dirty="0"/>
              <a:t>Performance of search/insert is proportional to the displacement length</a:t>
            </a:r>
          </a:p>
          <a:p>
            <a:pPr lvl="1"/>
            <a:r>
              <a:rPr lang="en-US" dirty="0"/>
              <a:t>When array is half-full, mean displacement is ~ 3/2</a:t>
            </a:r>
          </a:p>
          <a:p>
            <a:pPr lvl="1"/>
            <a:endParaRPr lang="en-US" dirty="0"/>
          </a:p>
          <a:p>
            <a:r>
              <a:rPr lang="en-US" dirty="0"/>
              <a:t>How to choose M</a:t>
            </a:r>
          </a:p>
          <a:p>
            <a:pPr lvl="1"/>
            <a:r>
              <a:rPr lang="en-US" dirty="0"/>
              <a:t>M too large </a:t>
            </a:r>
            <a:r>
              <a:rPr lang="en-US" dirty="0">
                <a:sym typeface="Wingdings" pitchFamily="2" charset="2"/>
              </a:rPr>
              <a:t> space waste (too many empty array entries)</a:t>
            </a:r>
          </a:p>
          <a:p>
            <a:pPr lvl="1"/>
            <a:r>
              <a:rPr lang="en-US" dirty="0">
                <a:sym typeface="Wingdings" pitchFamily="2" charset="2"/>
              </a:rPr>
              <a:t>M too small  search time blows up</a:t>
            </a:r>
          </a:p>
          <a:p>
            <a:pPr lvl="1"/>
            <a:r>
              <a:rPr lang="en-US" dirty="0">
                <a:sym typeface="Wingdings" pitchFamily="2" charset="2"/>
              </a:rPr>
              <a:t>M ~ 2*N  constant time search/insert operations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9947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SYMBLE TABLE IMPLEMENTATION recap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37A2B6-45C1-9A43-A053-F27B49790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548917"/>
              </p:ext>
            </p:extLst>
          </p:nvPr>
        </p:nvGraphicFramePr>
        <p:xfrm>
          <a:off x="729521" y="1377413"/>
          <a:ext cx="10732958" cy="5093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8989">
                  <a:extLst>
                    <a:ext uri="{9D8B030D-6E8A-4147-A177-3AD203B41FA5}">
                      <a16:colId xmlns:a16="http://schemas.microsoft.com/office/drawing/2014/main" val="3837284985"/>
                    </a:ext>
                  </a:extLst>
                </a:gridCol>
                <a:gridCol w="1274598">
                  <a:extLst>
                    <a:ext uri="{9D8B030D-6E8A-4147-A177-3AD203B41FA5}">
                      <a16:colId xmlns:a16="http://schemas.microsoft.com/office/drawing/2014/main" val="3488044769"/>
                    </a:ext>
                  </a:extLst>
                </a:gridCol>
                <a:gridCol w="1198766">
                  <a:extLst>
                    <a:ext uri="{9D8B030D-6E8A-4147-A177-3AD203B41FA5}">
                      <a16:colId xmlns:a16="http://schemas.microsoft.com/office/drawing/2014/main" val="927896190"/>
                    </a:ext>
                  </a:extLst>
                </a:gridCol>
                <a:gridCol w="1593655">
                  <a:extLst>
                    <a:ext uri="{9D8B030D-6E8A-4147-A177-3AD203B41FA5}">
                      <a16:colId xmlns:a16="http://schemas.microsoft.com/office/drawing/2014/main" val="1353745324"/>
                    </a:ext>
                  </a:extLst>
                </a:gridCol>
                <a:gridCol w="1509035">
                  <a:extLst>
                    <a:ext uri="{9D8B030D-6E8A-4147-A177-3AD203B41FA5}">
                      <a16:colId xmlns:a16="http://schemas.microsoft.com/office/drawing/2014/main" val="1561951519"/>
                    </a:ext>
                  </a:extLst>
                </a:gridCol>
                <a:gridCol w="1294635">
                  <a:extLst>
                    <a:ext uri="{9D8B030D-6E8A-4147-A177-3AD203B41FA5}">
                      <a16:colId xmlns:a16="http://schemas.microsoft.com/office/drawing/2014/main" val="2253204784"/>
                    </a:ext>
                  </a:extLst>
                </a:gridCol>
                <a:gridCol w="1533280">
                  <a:extLst>
                    <a:ext uri="{9D8B030D-6E8A-4147-A177-3AD203B41FA5}">
                      <a16:colId xmlns:a16="http://schemas.microsoft.com/office/drawing/2014/main" val="4061373923"/>
                    </a:ext>
                  </a:extLst>
                </a:gridCol>
              </a:tblGrid>
              <a:tr h="717215">
                <a:tc rowSpan="2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Worst Case</a:t>
                      </a:r>
                    </a:p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(after N inserts)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Case</a:t>
                      </a:r>
                    </a:p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(after N random insets)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17167"/>
                  </a:ext>
                </a:extLst>
              </a:tr>
              <a:tr h="415529">
                <a:tc vMerge="1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Search (hit)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292001"/>
                  </a:ext>
                </a:extLst>
              </a:tr>
              <a:tr h="717215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Sequential search (unordered list)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481123"/>
                  </a:ext>
                </a:extLst>
              </a:tr>
              <a:tr h="717215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Binary Search (ordered array)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000670"/>
                  </a:ext>
                </a:extLst>
              </a:tr>
              <a:tr h="415529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√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472761"/>
                  </a:ext>
                </a:extLst>
              </a:tr>
              <a:tr h="415529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2-3 Search Tree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63048"/>
                  </a:ext>
                </a:extLst>
              </a:tr>
              <a:tr h="415529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LLRB BST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262348"/>
                  </a:ext>
                </a:extLst>
              </a:tr>
              <a:tr h="415529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 table with separate chaining (*)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lg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187913"/>
                  </a:ext>
                </a:extLst>
              </a:tr>
              <a:tr h="415529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 table with linear probing (*)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US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49521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301D955-268E-5A47-9619-D77495B59D5D}"/>
              </a:ext>
            </a:extLst>
          </p:cNvPr>
          <p:cNvSpPr txBox="1"/>
          <p:nvPr/>
        </p:nvSpPr>
        <p:spPr>
          <a:xfrm>
            <a:off x="729521" y="6467526"/>
            <a:ext cx="4147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(*) under uniform hashing assumptions</a:t>
            </a:r>
          </a:p>
        </p:txBody>
      </p:sp>
    </p:spTree>
    <p:extLst>
      <p:ext uri="{BB962C8B-B14F-4D97-AF65-F5344CB8AC3E}">
        <p14:creationId xmlns:p14="http://schemas.microsoft.com/office/powerpoint/2010/main" val="25999788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20B44-7306-CA40-8C70-AB2D48579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chaining vs 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0C86-9FE6-774B-A97F-5F6817643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Separate chaining</a:t>
            </a:r>
          </a:p>
          <a:p>
            <a:pPr lvl="1"/>
            <a:r>
              <a:rPr lang="en-US" dirty="0"/>
              <a:t>Easier to implement</a:t>
            </a:r>
          </a:p>
          <a:p>
            <a:pPr lvl="1"/>
            <a:r>
              <a:rPr lang="en-US" dirty="0"/>
              <a:t>Performance degrades more gracefully</a:t>
            </a:r>
          </a:p>
          <a:p>
            <a:pPr lvl="1"/>
            <a:r>
              <a:rPr lang="en-US" dirty="0"/>
              <a:t>Less sensitive to poorly-designed hash function</a:t>
            </a:r>
          </a:p>
          <a:p>
            <a:pPr lvl="1"/>
            <a:endParaRPr lang="en-US" dirty="0"/>
          </a:p>
          <a:p>
            <a:r>
              <a:rPr lang="en-US" dirty="0"/>
              <a:t>Linear probing (with dynamic array resizing)</a:t>
            </a:r>
          </a:p>
          <a:p>
            <a:pPr lvl="1"/>
            <a:r>
              <a:rPr lang="en-US" dirty="0"/>
              <a:t>Less wasted space</a:t>
            </a:r>
          </a:p>
          <a:p>
            <a:pPr lvl="1"/>
            <a:r>
              <a:rPr lang="en-US" dirty="0"/>
              <a:t>Better performance on huge tables</a:t>
            </a:r>
          </a:p>
        </p:txBody>
      </p:sp>
    </p:spTree>
    <p:extLst>
      <p:ext uri="{BB962C8B-B14F-4D97-AF65-F5344CB8AC3E}">
        <p14:creationId xmlns:p14="http://schemas.microsoft.com/office/powerpoint/2010/main" val="17264689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20B44-7306-CA40-8C70-AB2D48579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HASH TABLES VS BALANCED SEARCH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0C86-9FE6-774B-A97F-5F6817643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Hash tables</a:t>
            </a:r>
          </a:p>
          <a:p>
            <a:pPr lvl="1"/>
            <a:r>
              <a:rPr lang="en-US" dirty="0"/>
              <a:t>Simpler to code</a:t>
            </a:r>
          </a:p>
          <a:p>
            <a:pPr lvl="1"/>
            <a:r>
              <a:rPr lang="en-US" dirty="0"/>
              <a:t>Faster for simple keys (e.g., int and strings)</a:t>
            </a:r>
          </a:p>
          <a:p>
            <a:pPr lvl="1"/>
            <a:r>
              <a:rPr lang="en-US" dirty="0"/>
              <a:t>No support for ordered operations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Balanced search trees.</a:t>
            </a:r>
          </a:p>
          <a:p>
            <a:pPr lvl="1"/>
            <a:r>
              <a:rPr lang="en-US" dirty="0"/>
              <a:t>Stronger performance guarantees</a:t>
            </a:r>
          </a:p>
          <a:p>
            <a:pPr lvl="1"/>
            <a:r>
              <a:rPr lang="en-US" dirty="0"/>
              <a:t>Support for ordered ST operations</a:t>
            </a:r>
          </a:p>
        </p:txBody>
      </p:sp>
    </p:spTree>
    <p:extLst>
      <p:ext uri="{BB962C8B-B14F-4D97-AF65-F5344CB8AC3E}">
        <p14:creationId xmlns:p14="http://schemas.microsoft.com/office/powerpoint/2010/main" val="27292227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2280-947B-B54D-BD85-25446873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– recap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283B-D74E-0649-A65D-235B6239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Symbol Table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Binary Search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Balanced Search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Hash Table</a:t>
            </a:r>
          </a:p>
        </p:txBody>
      </p:sp>
    </p:spTree>
    <p:extLst>
      <p:ext uri="{BB962C8B-B14F-4D97-AF65-F5344CB8AC3E}">
        <p14:creationId xmlns:p14="http://schemas.microsoft.com/office/powerpoint/2010/main" val="3441983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2035</TotalTime>
  <Words>3343</Words>
  <Application>Microsoft Macintosh PowerPoint</Application>
  <PresentationFormat>Widescreen</PresentationFormat>
  <Paragraphs>1083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Courier</vt:lpstr>
      <vt:lpstr>Courier New</vt:lpstr>
      <vt:lpstr>Wingdings</vt:lpstr>
      <vt:lpstr>Office Theme</vt:lpstr>
      <vt:lpstr>4_Custom Design</vt:lpstr>
      <vt:lpstr>COMP0005 – ALGORITHMS   3.4 Hash Tables</vt:lpstr>
      <vt:lpstr>CONTENT</vt:lpstr>
      <vt:lpstr>Hash table</vt:lpstr>
      <vt:lpstr>CONTENT</vt:lpstr>
      <vt:lpstr>Hash function</vt:lpstr>
      <vt:lpstr>Hash function</vt:lpstr>
      <vt:lpstr>Hash function</vt:lpstr>
      <vt:lpstr>CONTENT</vt:lpstr>
      <vt:lpstr>Collision management via Separate chaining</vt:lpstr>
      <vt:lpstr>Collision management via Separate chaining</vt:lpstr>
      <vt:lpstr>Collision management via Separate chaining</vt:lpstr>
      <vt:lpstr>Collision management via Separate chaining</vt:lpstr>
      <vt:lpstr>Collision management via Separate chaining</vt:lpstr>
      <vt:lpstr>Collision management via Separate chaining</vt:lpstr>
      <vt:lpstr>Collision management via Separate chaining</vt:lpstr>
      <vt:lpstr>Collision management via Separate chaining</vt:lpstr>
      <vt:lpstr>Collision management via Separate chaining</vt:lpstr>
      <vt:lpstr>SYMBLE TABLE IMPLEMENTATION recap </vt:lpstr>
      <vt:lpstr>CONTENT</vt:lpstr>
      <vt:lpstr>Collision management via via linear probing</vt:lpstr>
      <vt:lpstr>Collision management via via linear probing</vt:lpstr>
      <vt:lpstr>Collision management via via linear probing</vt:lpstr>
      <vt:lpstr>Collision management via via linear probing</vt:lpstr>
      <vt:lpstr>Collision management via via linear probing</vt:lpstr>
      <vt:lpstr>Collision management via via linear probing</vt:lpstr>
      <vt:lpstr>Collision management via via linear probing</vt:lpstr>
      <vt:lpstr>Collision management via via linear probing</vt:lpstr>
      <vt:lpstr>Collision management via via linear probing</vt:lpstr>
      <vt:lpstr>Collision management via linear probing</vt:lpstr>
      <vt:lpstr>Collision management via linear probing</vt:lpstr>
      <vt:lpstr>SYMBLE TABLE IMPLEMENTATION recap </vt:lpstr>
      <vt:lpstr>Separate chaining vs linear probing</vt:lpstr>
      <vt:lpstr>HASH TABLES VS BALANCED SEARCH TREES</vt:lpstr>
      <vt:lpstr>CONTENT – recap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Capra, Licia</dc:creator>
  <cp:lastModifiedBy>Capra, Licia</cp:lastModifiedBy>
  <cp:revision>86</cp:revision>
  <dcterms:created xsi:type="dcterms:W3CDTF">2020-06-23T14:37:29Z</dcterms:created>
  <dcterms:modified xsi:type="dcterms:W3CDTF">2022-02-24T16:43:09Z</dcterms:modified>
</cp:coreProperties>
</file>