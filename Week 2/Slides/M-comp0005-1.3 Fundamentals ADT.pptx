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5" r:id="rId1"/>
  </p:sldMasterIdLst>
  <p:notesMasterIdLst>
    <p:notesMasterId r:id="rId38"/>
  </p:notesMasterIdLst>
  <p:sldIdLst>
    <p:sldId id="266" r:id="rId2"/>
    <p:sldId id="278" r:id="rId3"/>
    <p:sldId id="281" r:id="rId4"/>
    <p:sldId id="283" r:id="rId5"/>
    <p:sldId id="299" r:id="rId6"/>
    <p:sldId id="300" r:id="rId7"/>
    <p:sldId id="284" r:id="rId8"/>
    <p:sldId id="301" r:id="rId9"/>
    <p:sldId id="285" r:id="rId10"/>
    <p:sldId id="302" r:id="rId11"/>
    <p:sldId id="303" r:id="rId12"/>
    <p:sldId id="286" r:id="rId13"/>
    <p:sldId id="287" r:id="rId14"/>
    <p:sldId id="288" r:id="rId15"/>
    <p:sldId id="318" r:id="rId16"/>
    <p:sldId id="280" r:id="rId17"/>
    <p:sldId id="289" r:id="rId18"/>
    <p:sldId id="296" r:id="rId19"/>
    <p:sldId id="304" r:id="rId20"/>
    <p:sldId id="305" r:id="rId21"/>
    <p:sldId id="306" r:id="rId22"/>
    <p:sldId id="307" r:id="rId23"/>
    <p:sldId id="309" r:id="rId24"/>
    <p:sldId id="310" r:id="rId25"/>
    <p:sldId id="311" r:id="rId26"/>
    <p:sldId id="297" r:id="rId27"/>
    <p:sldId id="292" r:id="rId28"/>
    <p:sldId id="312" r:id="rId29"/>
    <p:sldId id="293" r:id="rId30"/>
    <p:sldId id="316" r:id="rId31"/>
    <p:sldId id="317" r:id="rId32"/>
    <p:sldId id="314" r:id="rId33"/>
    <p:sldId id="315" r:id="rId34"/>
    <p:sldId id="294" r:id="rId35"/>
    <p:sldId id="295" r:id="rId36"/>
    <p:sldId id="279" r:id="rId37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D2C4"/>
    <a:srgbClr val="8DB9CA"/>
    <a:srgbClr val="F6BE00"/>
    <a:srgbClr val="B2E2ED"/>
    <a:srgbClr val="00FFFF"/>
    <a:srgbClr val="00FDFF"/>
    <a:srgbClr val="A4DBE8"/>
    <a:srgbClr val="BBC5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646"/>
    <p:restoredTop sz="41905"/>
  </p:normalViewPr>
  <p:slideViewPr>
    <p:cSldViewPr snapToGrid="0" snapToObjects="1">
      <p:cViewPr varScale="1">
        <p:scale>
          <a:sx n="66" d="100"/>
          <a:sy n="66" d="100"/>
        </p:scale>
        <p:origin x="2800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9" d="100"/>
        <a:sy n="7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BEE1CD-6EDF-5C43-ACE9-942F6C137C3E}" type="datetimeFigureOut">
              <a:rPr lang="en-US" smtClean="0"/>
              <a:t>10/28/20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455201-7865-8744-8A9B-9F5FC03C5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107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7127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2105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9807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5285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8842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9862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4103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8632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9819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7348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4272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4748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5484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9027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7476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2030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0713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6646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6874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81162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10880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10863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29154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17665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88480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70110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41034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22019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52572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07197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32615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02831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10387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44451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30128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4615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524463"/>
            <a:ext cx="7886700" cy="994172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D6D2C4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606039"/>
            <a:ext cx="7886700" cy="202668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0" y="0"/>
            <a:ext cx="9144000" cy="1235075"/>
            <a:chOff x="0" y="-66259"/>
            <a:chExt cx="9144000" cy="1235075"/>
          </a:xfrm>
        </p:grpSpPr>
        <p:sp>
          <p:nvSpPr>
            <p:cNvPr id="10" name="Freeform 24"/>
            <p:cNvSpPr>
              <a:spLocks/>
            </p:cNvSpPr>
            <p:nvPr/>
          </p:nvSpPr>
          <p:spPr bwMode="auto">
            <a:xfrm>
              <a:off x="0" y="-66259"/>
              <a:ext cx="9144000" cy="1235075"/>
            </a:xfrm>
            <a:custGeom>
              <a:avLst/>
              <a:gdLst>
                <a:gd name="T0" fmla="*/ 0 w 1123"/>
                <a:gd name="T1" fmla="*/ 0 h 151"/>
                <a:gd name="T2" fmla="*/ 0 w 1123"/>
                <a:gd name="T3" fmla="*/ 151 h 151"/>
                <a:gd name="T4" fmla="*/ 844 w 1123"/>
                <a:gd name="T5" fmla="*/ 151 h 151"/>
                <a:gd name="T6" fmla="*/ 841 w 1123"/>
                <a:gd name="T7" fmla="*/ 148 h 151"/>
                <a:gd name="T8" fmla="*/ 832 w 1123"/>
                <a:gd name="T9" fmla="*/ 122 h 151"/>
                <a:gd name="T10" fmla="*/ 832 w 1123"/>
                <a:gd name="T11" fmla="*/ 72 h 151"/>
                <a:gd name="T12" fmla="*/ 859 w 1123"/>
                <a:gd name="T13" fmla="*/ 72 h 151"/>
                <a:gd name="T14" fmla="*/ 859 w 1123"/>
                <a:gd name="T15" fmla="*/ 124 h 151"/>
                <a:gd name="T16" fmla="*/ 863 w 1123"/>
                <a:gd name="T17" fmla="*/ 135 h 151"/>
                <a:gd name="T18" fmla="*/ 871 w 1123"/>
                <a:gd name="T19" fmla="*/ 138 h 151"/>
                <a:gd name="T20" fmla="*/ 880 w 1123"/>
                <a:gd name="T21" fmla="*/ 135 h 151"/>
                <a:gd name="T22" fmla="*/ 883 w 1123"/>
                <a:gd name="T23" fmla="*/ 124 h 151"/>
                <a:gd name="T24" fmla="*/ 883 w 1123"/>
                <a:gd name="T25" fmla="*/ 72 h 151"/>
                <a:gd name="T26" fmla="*/ 910 w 1123"/>
                <a:gd name="T27" fmla="*/ 72 h 151"/>
                <a:gd name="T28" fmla="*/ 910 w 1123"/>
                <a:gd name="T29" fmla="*/ 117 h 151"/>
                <a:gd name="T30" fmla="*/ 900 w 1123"/>
                <a:gd name="T31" fmla="*/ 148 h 151"/>
                <a:gd name="T32" fmla="*/ 897 w 1123"/>
                <a:gd name="T33" fmla="*/ 151 h 151"/>
                <a:gd name="T34" fmla="*/ 937 w 1123"/>
                <a:gd name="T35" fmla="*/ 151 h 151"/>
                <a:gd name="T36" fmla="*/ 920 w 1123"/>
                <a:gd name="T37" fmla="*/ 114 h 151"/>
                <a:gd name="T38" fmla="*/ 964 w 1123"/>
                <a:gd name="T39" fmla="*/ 69 h 151"/>
                <a:gd name="T40" fmla="*/ 998 w 1123"/>
                <a:gd name="T41" fmla="*/ 82 h 151"/>
                <a:gd name="T42" fmla="*/ 1005 w 1123"/>
                <a:gd name="T43" fmla="*/ 92 h 151"/>
                <a:gd name="T44" fmla="*/ 982 w 1123"/>
                <a:gd name="T45" fmla="*/ 103 h 151"/>
                <a:gd name="T46" fmla="*/ 965 w 1123"/>
                <a:gd name="T47" fmla="*/ 89 h 151"/>
                <a:gd name="T48" fmla="*/ 953 w 1123"/>
                <a:gd name="T49" fmla="*/ 94 h 151"/>
                <a:gd name="T50" fmla="*/ 947 w 1123"/>
                <a:gd name="T51" fmla="*/ 113 h 151"/>
                <a:gd name="T52" fmla="*/ 965 w 1123"/>
                <a:gd name="T53" fmla="*/ 137 h 151"/>
                <a:gd name="T54" fmla="*/ 982 w 1123"/>
                <a:gd name="T55" fmla="*/ 123 h 151"/>
                <a:gd name="T56" fmla="*/ 1005 w 1123"/>
                <a:gd name="T57" fmla="*/ 134 h 151"/>
                <a:gd name="T58" fmla="*/ 997 w 1123"/>
                <a:gd name="T59" fmla="*/ 146 h 151"/>
                <a:gd name="T60" fmla="*/ 991 w 1123"/>
                <a:gd name="T61" fmla="*/ 151 h 151"/>
                <a:gd name="T62" fmla="*/ 1016 w 1123"/>
                <a:gd name="T63" fmla="*/ 151 h 151"/>
                <a:gd name="T64" fmla="*/ 1016 w 1123"/>
                <a:gd name="T65" fmla="*/ 72 h 151"/>
                <a:gd name="T66" fmla="*/ 1042 w 1123"/>
                <a:gd name="T67" fmla="*/ 72 h 151"/>
                <a:gd name="T68" fmla="*/ 1042 w 1123"/>
                <a:gd name="T69" fmla="*/ 134 h 151"/>
                <a:gd name="T70" fmla="*/ 1077 w 1123"/>
                <a:gd name="T71" fmla="*/ 134 h 151"/>
                <a:gd name="T72" fmla="*/ 1077 w 1123"/>
                <a:gd name="T73" fmla="*/ 151 h 151"/>
                <a:gd name="T74" fmla="*/ 1123 w 1123"/>
                <a:gd name="T75" fmla="*/ 151 h 151"/>
                <a:gd name="T76" fmla="*/ 1123 w 1123"/>
                <a:gd name="T77" fmla="*/ 0 h 151"/>
                <a:gd name="T78" fmla="*/ 0 w 1123"/>
                <a:gd name="T79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123" h="151">
                  <a:moveTo>
                    <a:pt x="0" y="0"/>
                  </a:moveTo>
                  <a:cubicBezTo>
                    <a:pt x="0" y="151"/>
                    <a:pt x="0" y="151"/>
                    <a:pt x="0" y="151"/>
                  </a:cubicBezTo>
                  <a:cubicBezTo>
                    <a:pt x="844" y="151"/>
                    <a:pt x="844" y="151"/>
                    <a:pt x="844" y="151"/>
                  </a:cubicBezTo>
                  <a:cubicBezTo>
                    <a:pt x="843" y="150"/>
                    <a:pt x="842" y="149"/>
                    <a:pt x="841" y="148"/>
                  </a:cubicBezTo>
                  <a:cubicBezTo>
                    <a:pt x="833" y="140"/>
                    <a:pt x="833" y="131"/>
                    <a:pt x="832" y="122"/>
                  </a:cubicBezTo>
                  <a:cubicBezTo>
                    <a:pt x="832" y="72"/>
                    <a:pt x="832" y="72"/>
                    <a:pt x="832" y="72"/>
                  </a:cubicBezTo>
                  <a:cubicBezTo>
                    <a:pt x="859" y="72"/>
                    <a:pt x="859" y="72"/>
                    <a:pt x="859" y="72"/>
                  </a:cubicBezTo>
                  <a:cubicBezTo>
                    <a:pt x="859" y="124"/>
                    <a:pt x="859" y="124"/>
                    <a:pt x="859" y="124"/>
                  </a:cubicBezTo>
                  <a:cubicBezTo>
                    <a:pt x="859" y="128"/>
                    <a:pt x="860" y="132"/>
                    <a:pt x="863" y="135"/>
                  </a:cubicBezTo>
                  <a:cubicBezTo>
                    <a:pt x="865" y="137"/>
                    <a:pt x="868" y="138"/>
                    <a:pt x="871" y="138"/>
                  </a:cubicBezTo>
                  <a:cubicBezTo>
                    <a:pt x="875" y="138"/>
                    <a:pt x="878" y="136"/>
                    <a:pt x="880" y="135"/>
                  </a:cubicBezTo>
                  <a:cubicBezTo>
                    <a:pt x="883" y="132"/>
                    <a:pt x="883" y="128"/>
                    <a:pt x="883" y="124"/>
                  </a:cubicBezTo>
                  <a:cubicBezTo>
                    <a:pt x="883" y="72"/>
                    <a:pt x="883" y="72"/>
                    <a:pt x="883" y="72"/>
                  </a:cubicBezTo>
                  <a:cubicBezTo>
                    <a:pt x="910" y="72"/>
                    <a:pt x="910" y="72"/>
                    <a:pt x="910" y="72"/>
                  </a:cubicBezTo>
                  <a:cubicBezTo>
                    <a:pt x="910" y="117"/>
                    <a:pt x="910" y="117"/>
                    <a:pt x="910" y="117"/>
                  </a:cubicBezTo>
                  <a:cubicBezTo>
                    <a:pt x="910" y="126"/>
                    <a:pt x="910" y="139"/>
                    <a:pt x="900" y="148"/>
                  </a:cubicBezTo>
                  <a:cubicBezTo>
                    <a:pt x="899" y="149"/>
                    <a:pt x="898" y="150"/>
                    <a:pt x="897" y="151"/>
                  </a:cubicBezTo>
                  <a:cubicBezTo>
                    <a:pt x="937" y="151"/>
                    <a:pt x="937" y="151"/>
                    <a:pt x="937" y="151"/>
                  </a:cubicBezTo>
                  <a:cubicBezTo>
                    <a:pt x="925" y="142"/>
                    <a:pt x="920" y="128"/>
                    <a:pt x="920" y="114"/>
                  </a:cubicBezTo>
                  <a:cubicBezTo>
                    <a:pt x="920" y="92"/>
                    <a:pt x="935" y="69"/>
                    <a:pt x="964" y="69"/>
                  </a:cubicBezTo>
                  <a:cubicBezTo>
                    <a:pt x="976" y="69"/>
                    <a:pt x="989" y="73"/>
                    <a:pt x="998" y="82"/>
                  </a:cubicBezTo>
                  <a:cubicBezTo>
                    <a:pt x="1001" y="86"/>
                    <a:pt x="1003" y="89"/>
                    <a:pt x="1005" y="92"/>
                  </a:cubicBezTo>
                  <a:cubicBezTo>
                    <a:pt x="982" y="103"/>
                    <a:pt x="982" y="103"/>
                    <a:pt x="982" y="103"/>
                  </a:cubicBezTo>
                  <a:cubicBezTo>
                    <a:pt x="980" y="98"/>
                    <a:pt x="976" y="89"/>
                    <a:pt x="965" y="89"/>
                  </a:cubicBezTo>
                  <a:cubicBezTo>
                    <a:pt x="959" y="89"/>
                    <a:pt x="955" y="92"/>
                    <a:pt x="953" y="94"/>
                  </a:cubicBezTo>
                  <a:cubicBezTo>
                    <a:pt x="947" y="100"/>
                    <a:pt x="947" y="109"/>
                    <a:pt x="947" y="113"/>
                  </a:cubicBezTo>
                  <a:cubicBezTo>
                    <a:pt x="947" y="125"/>
                    <a:pt x="952" y="137"/>
                    <a:pt x="965" y="137"/>
                  </a:cubicBezTo>
                  <a:cubicBezTo>
                    <a:pt x="977" y="137"/>
                    <a:pt x="981" y="126"/>
                    <a:pt x="982" y="123"/>
                  </a:cubicBezTo>
                  <a:cubicBezTo>
                    <a:pt x="1005" y="134"/>
                    <a:pt x="1005" y="134"/>
                    <a:pt x="1005" y="134"/>
                  </a:cubicBezTo>
                  <a:cubicBezTo>
                    <a:pt x="1003" y="138"/>
                    <a:pt x="1001" y="142"/>
                    <a:pt x="997" y="146"/>
                  </a:cubicBezTo>
                  <a:cubicBezTo>
                    <a:pt x="995" y="148"/>
                    <a:pt x="993" y="150"/>
                    <a:pt x="991" y="151"/>
                  </a:cubicBezTo>
                  <a:cubicBezTo>
                    <a:pt x="1016" y="151"/>
                    <a:pt x="1016" y="151"/>
                    <a:pt x="1016" y="151"/>
                  </a:cubicBezTo>
                  <a:cubicBezTo>
                    <a:pt x="1016" y="72"/>
                    <a:pt x="1016" y="72"/>
                    <a:pt x="1016" y="72"/>
                  </a:cubicBezTo>
                  <a:cubicBezTo>
                    <a:pt x="1042" y="72"/>
                    <a:pt x="1042" y="72"/>
                    <a:pt x="1042" y="72"/>
                  </a:cubicBezTo>
                  <a:cubicBezTo>
                    <a:pt x="1042" y="134"/>
                    <a:pt x="1042" y="134"/>
                    <a:pt x="1042" y="134"/>
                  </a:cubicBezTo>
                  <a:cubicBezTo>
                    <a:pt x="1077" y="134"/>
                    <a:pt x="1077" y="134"/>
                    <a:pt x="1077" y="134"/>
                  </a:cubicBezTo>
                  <a:cubicBezTo>
                    <a:pt x="1077" y="151"/>
                    <a:pt x="1077" y="151"/>
                    <a:pt x="1077" y="151"/>
                  </a:cubicBezTo>
                  <a:cubicBezTo>
                    <a:pt x="1123" y="151"/>
                    <a:pt x="1123" y="151"/>
                    <a:pt x="1123" y="151"/>
                  </a:cubicBezTo>
                  <a:cubicBezTo>
                    <a:pt x="1123" y="0"/>
                    <a:pt x="1123" y="0"/>
                    <a:pt x="112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6D2C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6420182" y="514785"/>
              <a:ext cx="257986" cy="303133"/>
            </a:xfrm>
            <a:prstGeom prst="rect">
              <a:avLst/>
            </a:prstGeom>
          </p:spPr>
        </p:pic>
      </p:grpSp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287999" y="288000"/>
            <a:ext cx="5488958" cy="293044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80000"/>
              </a:lnSpc>
              <a:buNone/>
              <a:defRPr sz="1100" baseline="0">
                <a:solidFill>
                  <a:schemeClr val="tx1"/>
                </a:solidFill>
              </a:defRPr>
            </a:lvl1pPr>
            <a:lvl2pPr marL="0" indent="0">
              <a:lnSpc>
                <a:spcPct val="80000"/>
              </a:lnSpc>
              <a:buNone/>
              <a:defRPr sz="1100">
                <a:solidFill>
                  <a:schemeClr val="tx1"/>
                </a:solidFill>
              </a:defRPr>
            </a:lvl2pPr>
            <a:lvl3pPr marL="0" indent="0">
              <a:buNone/>
              <a:defRPr sz="1100">
                <a:solidFill>
                  <a:schemeClr val="tx1"/>
                </a:solidFill>
              </a:defRPr>
            </a:lvl3pPr>
            <a:lvl4pPr marL="0" indent="0">
              <a:buNone/>
              <a:defRPr sz="1100">
                <a:solidFill>
                  <a:schemeClr val="tx1"/>
                </a:solidFill>
              </a:defRPr>
            </a:lvl4pPr>
            <a:lvl5pPr marL="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FACULTY, SCHOOL, DEPARTMENT OR INSTITUTE NAME HERE</a:t>
            </a:r>
          </a:p>
          <a:p>
            <a:pPr lvl="1"/>
            <a:r>
              <a:rPr lang="en-US" dirty="0"/>
              <a:t>SECOND TIER INFORMATION HERE IF NEEDED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in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7999" y="994718"/>
            <a:ext cx="8360242" cy="3745062"/>
          </a:xfrm>
        </p:spPr>
        <p:txBody>
          <a:bodyPr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-1588"/>
            <a:ext cx="9144000" cy="741363"/>
            <a:chOff x="0" y="-1588"/>
            <a:chExt cx="9144000" cy="741363"/>
          </a:xfrm>
          <a:solidFill>
            <a:srgbClr val="D6D2C4"/>
          </a:solidFill>
        </p:grpSpPr>
        <p:sp>
          <p:nvSpPr>
            <p:cNvPr id="8" name="Freeform 5"/>
            <p:cNvSpPr>
              <a:spLocks/>
            </p:cNvSpPr>
            <p:nvPr/>
          </p:nvSpPr>
          <p:spPr bwMode="auto">
            <a:xfrm>
              <a:off x="0" y="-1588"/>
              <a:ext cx="9144000" cy="741363"/>
            </a:xfrm>
            <a:custGeom>
              <a:avLst/>
              <a:gdLst>
                <a:gd name="T0" fmla="*/ 0 w 1123"/>
                <a:gd name="T1" fmla="*/ 0 h 90"/>
                <a:gd name="T2" fmla="*/ 0 w 1123"/>
                <a:gd name="T3" fmla="*/ 90 h 90"/>
                <a:gd name="T4" fmla="*/ 957 w 1123"/>
                <a:gd name="T5" fmla="*/ 90 h 90"/>
                <a:gd name="T6" fmla="*/ 955 w 1123"/>
                <a:gd name="T7" fmla="*/ 89 h 90"/>
                <a:gd name="T8" fmla="*/ 949 w 1123"/>
                <a:gd name="T9" fmla="*/ 73 h 90"/>
                <a:gd name="T10" fmla="*/ 949 w 1123"/>
                <a:gd name="T11" fmla="*/ 43 h 90"/>
                <a:gd name="T12" fmla="*/ 966 w 1123"/>
                <a:gd name="T13" fmla="*/ 43 h 90"/>
                <a:gd name="T14" fmla="*/ 966 w 1123"/>
                <a:gd name="T15" fmla="*/ 74 h 90"/>
                <a:gd name="T16" fmla="*/ 967 w 1123"/>
                <a:gd name="T17" fmla="*/ 80 h 90"/>
                <a:gd name="T18" fmla="*/ 973 w 1123"/>
                <a:gd name="T19" fmla="*/ 82 h 90"/>
                <a:gd name="T20" fmla="*/ 978 w 1123"/>
                <a:gd name="T21" fmla="*/ 80 h 90"/>
                <a:gd name="T22" fmla="*/ 980 w 1123"/>
                <a:gd name="T23" fmla="*/ 74 h 90"/>
                <a:gd name="T24" fmla="*/ 980 w 1123"/>
                <a:gd name="T25" fmla="*/ 43 h 90"/>
                <a:gd name="T26" fmla="*/ 996 w 1123"/>
                <a:gd name="T27" fmla="*/ 43 h 90"/>
                <a:gd name="T28" fmla="*/ 996 w 1123"/>
                <a:gd name="T29" fmla="*/ 70 h 90"/>
                <a:gd name="T30" fmla="*/ 990 w 1123"/>
                <a:gd name="T31" fmla="*/ 89 h 90"/>
                <a:gd name="T32" fmla="*/ 988 w 1123"/>
                <a:gd name="T33" fmla="*/ 90 h 90"/>
                <a:gd name="T34" fmla="*/ 1012 w 1123"/>
                <a:gd name="T35" fmla="*/ 90 h 90"/>
                <a:gd name="T36" fmla="*/ 1002 w 1123"/>
                <a:gd name="T37" fmla="*/ 68 h 90"/>
                <a:gd name="T38" fmla="*/ 1028 w 1123"/>
                <a:gd name="T39" fmla="*/ 41 h 90"/>
                <a:gd name="T40" fmla="*/ 1048 w 1123"/>
                <a:gd name="T41" fmla="*/ 49 h 90"/>
                <a:gd name="T42" fmla="*/ 1052 w 1123"/>
                <a:gd name="T43" fmla="*/ 55 h 90"/>
                <a:gd name="T44" fmla="*/ 1039 w 1123"/>
                <a:gd name="T45" fmla="*/ 62 h 90"/>
                <a:gd name="T46" fmla="*/ 1028 w 1123"/>
                <a:gd name="T47" fmla="*/ 53 h 90"/>
                <a:gd name="T48" fmla="*/ 1022 w 1123"/>
                <a:gd name="T49" fmla="*/ 56 h 90"/>
                <a:gd name="T50" fmla="*/ 1018 w 1123"/>
                <a:gd name="T51" fmla="*/ 67 h 90"/>
                <a:gd name="T52" fmla="*/ 1028 w 1123"/>
                <a:gd name="T53" fmla="*/ 82 h 90"/>
                <a:gd name="T54" fmla="*/ 1039 w 1123"/>
                <a:gd name="T55" fmla="*/ 74 h 90"/>
                <a:gd name="T56" fmla="*/ 1052 w 1123"/>
                <a:gd name="T57" fmla="*/ 80 h 90"/>
                <a:gd name="T58" fmla="*/ 1047 w 1123"/>
                <a:gd name="T59" fmla="*/ 87 h 90"/>
                <a:gd name="T60" fmla="*/ 1044 w 1123"/>
                <a:gd name="T61" fmla="*/ 90 h 90"/>
                <a:gd name="T62" fmla="*/ 1059 w 1123"/>
                <a:gd name="T63" fmla="*/ 90 h 90"/>
                <a:gd name="T64" fmla="*/ 1059 w 1123"/>
                <a:gd name="T65" fmla="*/ 43 h 90"/>
                <a:gd name="T66" fmla="*/ 1075 w 1123"/>
                <a:gd name="T67" fmla="*/ 43 h 90"/>
                <a:gd name="T68" fmla="*/ 1075 w 1123"/>
                <a:gd name="T69" fmla="*/ 80 h 90"/>
                <a:gd name="T70" fmla="*/ 1096 w 1123"/>
                <a:gd name="T71" fmla="*/ 80 h 90"/>
                <a:gd name="T72" fmla="*/ 1096 w 1123"/>
                <a:gd name="T73" fmla="*/ 90 h 90"/>
                <a:gd name="T74" fmla="*/ 1123 w 1123"/>
                <a:gd name="T75" fmla="*/ 90 h 90"/>
                <a:gd name="T76" fmla="*/ 1123 w 1123"/>
                <a:gd name="T77" fmla="*/ 0 h 90"/>
                <a:gd name="T78" fmla="*/ 0 w 1123"/>
                <a:gd name="T79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123" h="90">
                  <a:moveTo>
                    <a:pt x="0" y="0"/>
                  </a:moveTo>
                  <a:cubicBezTo>
                    <a:pt x="0" y="90"/>
                    <a:pt x="0" y="90"/>
                    <a:pt x="0" y="90"/>
                  </a:cubicBezTo>
                  <a:cubicBezTo>
                    <a:pt x="957" y="90"/>
                    <a:pt x="957" y="90"/>
                    <a:pt x="957" y="90"/>
                  </a:cubicBezTo>
                  <a:cubicBezTo>
                    <a:pt x="956" y="90"/>
                    <a:pt x="955" y="89"/>
                    <a:pt x="955" y="89"/>
                  </a:cubicBezTo>
                  <a:cubicBezTo>
                    <a:pt x="950" y="84"/>
                    <a:pt x="950" y="78"/>
                    <a:pt x="949" y="73"/>
                  </a:cubicBezTo>
                  <a:cubicBezTo>
                    <a:pt x="949" y="43"/>
                    <a:pt x="949" y="43"/>
                    <a:pt x="949" y="43"/>
                  </a:cubicBezTo>
                  <a:cubicBezTo>
                    <a:pt x="966" y="43"/>
                    <a:pt x="966" y="43"/>
                    <a:pt x="966" y="43"/>
                  </a:cubicBezTo>
                  <a:cubicBezTo>
                    <a:pt x="966" y="74"/>
                    <a:pt x="966" y="74"/>
                    <a:pt x="966" y="74"/>
                  </a:cubicBezTo>
                  <a:cubicBezTo>
                    <a:pt x="966" y="76"/>
                    <a:pt x="966" y="79"/>
                    <a:pt x="967" y="80"/>
                  </a:cubicBezTo>
                  <a:cubicBezTo>
                    <a:pt x="969" y="82"/>
                    <a:pt x="971" y="82"/>
                    <a:pt x="973" y="82"/>
                  </a:cubicBezTo>
                  <a:cubicBezTo>
                    <a:pt x="975" y="82"/>
                    <a:pt x="977" y="81"/>
                    <a:pt x="978" y="80"/>
                  </a:cubicBezTo>
                  <a:cubicBezTo>
                    <a:pt x="979" y="79"/>
                    <a:pt x="980" y="76"/>
                    <a:pt x="980" y="74"/>
                  </a:cubicBezTo>
                  <a:cubicBezTo>
                    <a:pt x="980" y="43"/>
                    <a:pt x="980" y="43"/>
                    <a:pt x="980" y="43"/>
                  </a:cubicBezTo>
                  <a:cubicBezTo>
                    <a:pt x="996" y="43"/>
                    <a:pt x="996" y="43"/>
                    <a:pt x="996" y="43"/>
                  </a:cubicBezTo>
                  <a:cubicBezTo>
                    <a:pt x="996" y="70"/>
                    <a:pt x="996" y="70"/>
                    <a:pt x="996" y="70"/>
                  </a:cubicBezTo>
                  <a:cubicBezTo>
                    <a:pt x="996" y="75"/>
                    <a:pt x="996" y="83"/>
                    <a:pt x="990" y="89"/>
                  </a:cubicBezTo>
                  <a:cubicBezTo>
                    <a:pt x="989" y="89"/>
                    <a:pt x="989" y="90"/>
                    <a:pt x="988" y="90"/>
                  </a:cubicBezTo>
                  <a:cubicBezTo>
                    <a:pt x="1012" y="90"/>
                    <a:pt x="1012" y="90"/>
                    <a:pt x="1012" y="90"/>
                  </a:cubicBezTo>
                  <a:cubicBezTo>
                    <a:pt x="1005" y="85"/>
                    <a:pt x="1002" y="76"/>
                    <a:pt x="1002" y="68"/>
                  </a:cubicBezTo>
                  <a:cubicBezTo>
                    <a:pt x="1002" y="55"/>
                    <a:pt x="1011" y="41"/>
                    <a:pt x="1028" y="41"/>
                  </a:cubicBezTo>
                  <a:cubicBezTo>
                    <a:pt x="1035" y="41"/>
                    <a:pt x="1043" y="44"/>
                    <a:pt x="1048" y="49"/>
                  </a:cubicBezTo>
                  <a:cubicBezTo>
                    <a:pt x="1050" y="51"/>
                    <a:pt x="1051" y="53"/>
                    <a:pt x="1052" y="55"/>
                  </a:cubicBezTo>
                  <a:cubicBezTo>
                    <a:pt x="1039" y="62"/>
                    <a:pt x="1039" y="62"/>
                    <a:pt x="1039" y="62"/>
                  </a:cubicBezTo>
                  <a:cubicBezTo>
                    <a:pt x="1038" y="59"/>
                    <a:pt x="1035" y="53"/>
                    <a:pt x="1028" y="53"/>
                  </a:cubicBezTo>
                  <a:cubicBezTo>
                    <a:pt x="1025" y="53"/>
                    <a:pt x="1023" y="55"/>
                    <a:pt x="1022" y="56"/>
                  </a:cubicBezTo>
                  <a:cubicBezTo>
                    <a:pt x="1018" y="60"/>
                    <a:pt x="1018" y="65"/>
                    <a:pt x="1018" y="67"/>
                  </a:cubicBezTo>
                  <a:cubicBezTo>
                    <a:pt x="1018" y="75"/>
                    <a:pt x="1021" y="82"/>
                    <a:pt x="1028" y="82"/>
                  </a:cubicBezTo>
                  <a:cubicBezTo>
                    <a:pt x="1036" y="82"/>
                    <a:pt x="1038" y="75"/>
                    <a:pt x="1039" y="74"/>
                  </a:cubicBezTo>
                  <a:cubicBezTo>
                    <a:pt x="1052" y="80"/>
                    <a:pt x="1052" y="80"/>
                    <a:pt x="1052" y="80"/>
                  </a:cubicBezTo>
                  <a:cubicBezTo>
                    <a:pt x="1051" y="83"/>
                    <a:pt x="1050" y="85"/>
                    <a:pt x="1047" y="87"/>
                  </a:cubicBezTo>
                  <a:cubicBezTo>
                    <a:pt x="1046" y="88"/>
                    <a:pt x="1045" y="89"/>
                    <a:pt x="1044" y="90"/>
                  </a:cubicBezTo>
                  <a:cubicBezTo>
                    <a:pt x="1059" y="90"/>
                    <a:pt x="1059" y="90"/>
                    <a:pt x="1059" y="90"/>
                  </a:cubicBezTo>
                  <a:cubicBezTo>
                    <a:pt x="1059" y="43"/>
                    <a:pt x="1059" y="43"/>
                    <a:pt x="1059" y="43"/>
                  </a:cubicBezTo>
                  <a:cubicBezTo>
                    <a:pt x="1075" y="43"/>
                    <a:pt x="1075" y="43"/>
                    <a:pt x="1075" y="43"/>
                  </a:cubicBezTo>
                  <a:cubicBezTo>
                    <a:pt x="1075" y="80"/>
                    <a:pt x="1075" y="80"/>
                    <a:pt x="1075" y="80"/>
                  </a:cubicBezTo>
                  <a:cubicBezTo>
                    <a:pt x="1096" y="80"/>
                    <a:pt x="1096" y="80"/>
                    <a:pt x="1096" y="80"/>
                  </a:cubicBezTo>
                  <a:cubicBezTo>
                    <a:pt x="1096" y="90"/>
                    <a:pt x="1096" y="90"/>
                    <a:pt x="1096" y="90"/>
                  </a:cubicBezTo>
                  <a:cubicBezTo>
                    <a:pt x="1123" y="90"/>
                    <a:pt x="1123" y="90"/>
                    <a:pt x="1123" y="90"/>
                  </a:cubicBezTo>
                  <a:cubicBezTo>
                    <a:pt x="1123" y="0"/>
                    <a:pt x="1123" y="0"/>
                    <a:pt x="112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6D2C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24000" y="360000"/>
              <a:ext cx="147064" cy="172800"/>
            </a:xfrm>
            <a:prstGeom prst="rect">
              <a:avLst/>
            </a:prstGeom>
            <a:noFill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08617264-77E5-D84E-B0FF-1EA9D2C44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42663"/>
            <a:ext cx="7036628" cy="488933"/>
          </a:xfrm>
          <a:prstGeom prst="rect">
            <a:avLst/>
          </a:prstGeom>
        </p:spPr>
        <p:txBody>
          <a:bodyPr/>
          <a:lstStyle>
            <a:lvl1pPr>
              <a:defRPr sz="3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749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00742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1"/>
          <p:cNvSpPr txBox="1">
            <a:spLocks/>
          </p:cNvSpPr>
          <p:nvPr userDrawn="1"/>
        </p:nvSpPr>
        <p:spPr>
          <a:xfrm>
            <a:off x="165187" y="165584"/>
            <a:ext cx="3216840" cy="704975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12700"/>
            <a:endParaRPr lang="en-GB" sz="1000" dirty="0">
              <a:solidFill>
                <a:schemeClr val="bg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8303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811" r:id="rId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0000" indent="-9000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Arial" charset="0"/>
          <a:ea typeface="Arial" charset="0"/>
          <a:cs typeface="Arial" charset="0"/>
        </a:defRPr>
      </a:lvl1pPr>
      <a:lvl2pPr marL="90000" indent="-9000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2pPr>
      <a:lvl3pPr marL="90000" indent="-9000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b="1" kern="1200">
          <a:solidFill>
            <a:schemeClr val="tx1"/>
          </a:solidFill>
          <a:latin typeface="Arial" charset="0"/>
          <a:ea typeface="Arial" charset="0"/>
          <a:cs typeface="Arial" charset="0"/>
        </a:defRPr>
      </a:lvl3pPr>
      <a:lvl4pPr marL="90000" indent="-9000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90000" indent="-9000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00" b="1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628650" y="1846935"/>
            <a:ext cx="7886700" cy="1447107"/>
          </a:xfrm>
        </p:spPr>
        <p:txBody>
          <a:bodyPr/>
          <a:lstStyle/>
          <a:p>
            <a:r>
              <a:rPr lang="en-US" sz="4000" dirty="0">
                <a:solidFill>
                  <a:schemeClr val="tx1"/>
                </a:solidFill>
              </a:rPr>
              <a:t>COMP0005 – ALGORITHMS </a:t>
            </a:r>
            <a:br>
              <a:rPr lang="en-US" sz="4000" dirty="0">
                <a:solidFill>
                  <a:schemeClr val="tx1"/>
                </a:solidFill>
              </a:rPr>
            </a:br>
            <a:br>
              <a:rPr lang="en-US" sz="2800" dirty="0">
                <a:solidFill>
                  <a:schemeClr val="tx1"/>
                </a:solidFill>
              </a:rPr>
            </a:br>
            <a:r>
              <a:rPr lang="en-US" sz="2800" dirty="0">
                <a:solidFill>
                  <a:schemeClr val="tx1"/>
                </a:solidFill>
              </a:rPr>
              <a:t>1.3 Abstract Data Types (</a:t>
            </a:r>
            <a:r>
              <a:rPr lang="en-US" sz="2800">
                <a:solidFill>
                  <a:schemeClr val="tx1"/>
                </a:solidFill>
              </a:rPr>
              <a:t>ADTs)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628650" y="3891938"/>
            <a:ext cx="7886700" cy="994172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Prof </a:t>
            </a:r>
            <a:r>
              <a:rPr lang="en-US" sz="2000" dirty="0" err="1"/>
              <a:t>Licia</a:t>
            </a:r>
            <a:r>
              <a:rPr lang="en-US" sz="2000" dirty="0"/>
              <a:t> Capra</a:t>
            </a:r>
          </a:p>
          <a:p>
            <a:pPr marL="0" indent="0">
              <a:buNone/>
            </a:pPr>
            <a:r>
              <a:rPr lang="en-US" sz="1600" dirty="0"/>
              <a:t>Dept of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3046740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AA6CFDE-766B-7349-AA0B-59C4F135E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4A0025B-81E2-5342-9A46-24B1F5F8A49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US" dirty="0"/>
              <a:t>Steps to developing algorithms</a:t>
            </a:r>
          </a:p>
          <a:p>
            <a:pPr marL="457200" indent="-457200">
              <a:buAutoNum type="arabicPeriod"/>
            </a:pPr>
            <a:r>
              <a:rPr lang="en-US" dirty="0"/>
              <a:t>Analysis of algorithms</a:t>
            </a:r>
          </a:p>
          <a:p>
            <a:pPr marL="457200" indent="-457200">
              <a:buAutoNum type="arabicPeriod"/>
            </a:pPr>
            <a:r>
              <a:rPr lang="en-US" dirty="0">
                <a:highlight>
                  <a:srgbClr val="D6D2C4"/>
                </a:highlight>
              </a:rPr>
              <a:t>Abstract Data Types (ADTs)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2837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ACF15A9-963E-8440-935D-46DEA37DE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 DATA TYPES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CE98C6C-5429-9241-972F-BBD500027A9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342900" indent="-342900">
              <a:buFont typeface="Wingdings" pitchFamily="2" charset="2"/>
              <a:buChar char="§"/>
            </a:pPr>
            <a:r>
              <a:rPr lang="en-US" dirty="0"/>
              <a:t>Array (fixed number of items, indexable)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dirty="0"/>
              <a:t>List (dynamic number of items)</a:t>
            </a:r>
          </a:p>
          <a:p>
            <a:pPr marL="685800" lvl="1" indent="-342900">
              <a:buFont typeface="Courier New" panose="02070309020205020404" pitchFamily="49" charset="0"/>
              <a:buChar char="o"/>
            </a:pPr>
            <a:r>
              <a:rPr lang="en-US" sz="2000" dirty="0"/>
              <a:t>Linear</a:t>
            </a:r>
          </a:p>
          <a:p>
            <a:pPr marL="1028700" lvl="2" indent="-342900">
              <a:buFont typeface="Arial" panose="020B0604020202020204" pitchFamily="34" charset="0"/>
              <a:buChar char="•"/>
            </a:pPr>
            <a:r>
              <a:rPr lang="en-US" sz="1600" b="0" dirty="0"/>
              <a:t>Stack</a:t>
            </a:r>
          </a:p>
          <a:p>
            <a:pPr marL="1028700" lvl="2" indent="-342900">
              <a:buFont typeface="Arial" panose="020B0604020202020204" pitchFamily="34" charset="0"/>
              <a:buChar char="•"/>
            </a:pPr>
            <a:r>
              <a:rPr lang="en-US" sz="1600" b="0" dirty="0"/>
              <a:t>Queue</a:t>
            </a:r>
          </a:p>
          <a:p>
            <a:pPr marL="1028700" lvl="2" indent="-342900">
              <a:buFont typeface="Arial" panose="020B0604020202020204" pitchFamily="34" charset="0"/>
              <a:buChar char="•"/>
            </a:pPr>
            <a:r>
              <a:rPr lang="en-US" sz="1600" b="0" dirty="0"/>
              <a:t>Set &amp; Multiset</a:t>
            </a:r>
          </a:p>
          <a:p>
            <a:pPr marL="1028700" lvl="2" indent="-342900">
              <a:buFont typeface="Arial" panose="020B0604020202020204" pitchFamily="34" charset="0"/>
              <a:buChar char="•"/>
            </a:pPr>
            <a:r>
              <a:rPr lang="en-US" sz="1600" b="0" dirty="0"/>
              <a:t>Map</a:t>
            </a:r>
          </a:p>
          <a:p>
            <a:pPr marL="1028700" lvl="2" indent="-342900">
              <a:buFont typeface="Arial" panose="020B0604020202020204" pitchFamily="34" charset="0"/>
              <a:buChar char="•"/>
            </a:pPr>
            <a:r>
              <a:rPr lang="en-US" sz="1600" b="0" dirty="0"/>
              <a:t>Priority Queue</a:t>
            </a:r>
          </a:p>
          <a:p>
            <a:pPr marL="685800" lvl="1" indent="-342900">
              <a:buFont typeface="Courier New" panose="02070309020205020404" pitchFamily="49" charset="0"/>
              <a:buChar char="o"/>
            </a:pPr>
            <a:r>
              <a:rPr lang="en-US" sz="2000" dirty="0"/>
              <a:t>Non-linear</a:t>
            </a:r>
          </a:p>
          <a:p>
            <a:pPr marL="1028700" lvl="2" indent="-342900">
              <a:buFont typeface="Arial" panose="020B0604020202020204" pitchFamily="34" charset="0"/>
              <a:buChar char="•"/>
            </a:pPr>
            <a:r>
              <a:rPr lang="en-US" sz="1600" b="0" dirty="0"/>
              <a:t>Tree</a:t>
            </a:r>
          </a:p>
          <a:p>
            <a:pPr marL="1028700" lvl="2" indent="-342900">
              <a:buFont typeface="Arial" panose="020B0604020202020204" pitchFamily="34" charset="0"/>
              <a:buChar char="•"/>
            </a:pPr>
            <a:r>
              <a:rPr lang="en-US" sz="1600" b="0" dirty="0"/>
              <a:t>Graph</a:t>
            </a:r>
          </a:p>
          <a:p>
            <a:pPr marL="685800" lvl="1" indent="-342900">
              <a:buFont typeface="Courier New" panose="02070309020205020404" pitchFamily="49" charset="0"/>
              <a:buChar char="o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41679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605ADF-0D06-474E-A88B-EF307AFC5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ADT: ARRAY 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A450EEA-7E0D-384E-90C8-1A7FDE4D99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87999" y="994718"/>
            <a:ext cx="8360242" cy="391256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array is an ADT that holds a fixed-size collection of elements </a:t>
            </a:r>
            <a:r>
              <a:rPr lang="en-US" dirty="0">
                <a:highlight>
                  <a:srgbClr val="D6D2C4"/>
                </a:highlight>
              </a:rPr>
              <a:t>accessible by an index</a:t>
            </a:r>
          </a:p>
          <a:p>
            <a:endParaRPr lang="en-US" dirty="0">
              <a:highlight>
                <a:srgbClr val="D6D2C4"/>
              </a:highlight>
            </a:endParaRPr>
          </a:p>
          <a:p>
            <a:endParaRPr lang="en-US" dirty="0">
              <a:highlight>
                <a:srgbClr val="D6D2C4"/>
              </a:highlight>
            </a:endParaRPr>
          </a:p>
          <a:p>
            <a:endParaRPr lang="en-US" dirty="0">
              <a:highlight>
                <a:srgbClr val="D6D2C4"/>
              </a:highlight>
            </a:endParaRPr>
          </a:p>
          <a:p>
            <a:endParaRPr lang="en-US" dirty="0">
              <a:highlight>
                <a:srgbClr val="D6D2C4"/>
              </a:highlight>
            </a:endParaRPr>
          </a:p>
          <a:p>
            <a:endParaRPr lang="en-US" dirty="0"/>
          </a:p>
          <a:p>
            <a:r>
              <a:rPr lang="en-US" dirty="0"/>
              <a:t>Basic operations:</a:t>
            </a:r>
          </a:p>
          <a:p>
            <a:pPr marL="685800" lvl="1" indent="-342900">
              <a:buFont typeface="Courier New" panose="02070309020205020404" pitchFamily="49" charset="0"/>
              <a:buChar char="o"/>
            </a:pPr>
            <a:r>
              <a:rPr lang="en-US" sz="2000" dirty="0"/>
              <a:t>set(index, element)</a:t>
            </a:r>
          </a:p>
          <a:p>
            <a:pPr marL="685800" lvl="1" indent="-342900">
              <a:buFont typeface="Courier New" panose="02070309020205020404" pitchFamily="49" charset="0"/>
              <a:buChar char="o"/>
            </a:pPr>
            <a:r>
              <a:rPr lang="en-US" sz="2000" dirty="0"/>
              <a:t>get(index)</a:t>
            </a:r>
          </a:p>
        </p:txBody>
      </p:sp>
      <p:grpSp>
        <p:nvGrpSpPr>
          <p:cNvPr id="28" name="Group 27" descr="graphical representation of an array">
            <a:extLst>
              <a:ext uri="{FF2B5EF4-FFF2-40B4-BE49-F238E27FC236}">
                <a16:creationId xmlns:a16="http://schemas.microsoft.com/office/drawing/2014/main" id="{8BA1367B-DDC7-2845-95B0-F9F658812782}"/>
              </a:ext>
            </a:extLst>
          </p:cNvPr>
          <p:cNvGrpSpPr/>
          <p:nvPr/>
        </p:nvGrpSpPr>
        <p:grpSpPr>
          <a:xfrm>
            <a:off x="579121" y="1819152"/>
            <a:ext cx="4850010" cy="1649153"/>
            <a:chOff x="1036321" y="1837174"/>
            <a:chExt cx="4850010" cy="1649153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D82AC26-A219-0A44-8152-3D7BE9EF9C6B}"/>
                </a:ext>
              </a:extLst>
            </p:cNvPr>
            <p:cNvGrpSpPr>
              <a:grpSpLocks/>
            </p:cNvGrpSpPr>
            <p:nvPr/>
          </p:nvGrpSpPr>
          <p:grpSpPr>
            <a:xfrm>
              <a:off x="1036321" y="2407921"/>
              <a:ext cx="2924251" cy="729691"/>
              <a:chOff x="1036320" y="2407920"/>
              <a:chExt cx="4873752" cy="1216152"/>
            </a:xfrm>
          </p:grpSpPr>
          <p:sp>
            <p:nvSpPr>
              <p:cNvPr id="4" name="Cube 3">
                <a:extLst>
                  <a:ext uri="{FF2B5EF4-FFF2-40B4-BE49-F238E27FC236}">
                    <a16:creationId xmlns:a16="http://schemas.microsoft.com/office/drawing/2014/main" id="{28AD556A-9842-F64D-AB96-AB1D4577322E}"/>
                  </a:ext>
                </a:extLst>
              </p:cNvPr>
              <p:cNvSpPr/>
              <p:nvPr/>
            </p:nvSpPr>
            <p:spPr>
              <a:xfrm>
                <a:off x="1036320" y="2407920"/>
                <a:ext cx="1216152" cy="1216152"/>
              </a:xfrm>
              <a:prstGeom prst="cube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Cube 4">
                <a:extLst>
                  <a:ext uri="{FF2B5EF4-FFF2-40B4-BE49-F238E27FC236}">
                    <a16:creationId xmlns:a16="http://schemas.microsoft.com/office/drawing/2014/main" id="{8C563142-2EFA-BC49-A9F3-E6A10FD6BC4A}"/>
                  </a:ext>
                </a:extLst>
              </p:cNvPr>
              <p:cNvSpPr/>
              <p:nvPr/>
            </p:nvSpPr>
            <p:spPr>
              <a:xfrm>
                <a:off x="1950720" y="2407920"/>
                <a:ext cx="1216152" cy="1216152"/>
              </a:xfrm>
              <a:prstGeom prst="cube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Cube 5">
                <a:extLst>
                  <a:ext uri="{FF2B5EF4-FFF2-40B4-BE49-F238E27FC236}">
                    <a16:creationId xmlns:a16="http://schemas.microsoft.com/office/drawing/2014/main" id="{957AE4CE-1DFE-1448-8C3F-EB55B164B13B}"/>
                  </a:ext>
                </a:extLst>
              </p:cNvPr>
              <p:cNvSpPr/>
              <p:nvPr/>
            </p:nvSpPr>
            <p:spPr>
              <a:xfrm>
                <a:off x="2865120" y="2407920"/>
                <a:ext cx="1216152" cy="1216152"/>
              </a:xfrm>
              <a:prstGeom prst="cube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Cube 6">
                <a:extLst>
                  <a:ext uri="{FF2B5EF4-FFF2-40B4-BE49-F238E27FC236}">
                    <a16:creationId xmlns:a16="http://schemas.microsoft.com/office/drawing/2014/main" id="{C21B807B-A0C2-4546-9C3E-02C90F0C8852}"/>
                  </a:ext>
                </a:extLst>
              </p:cNvPr>
              <p:cNvSpPr/>
              <p:nvPr/>
            </p:nvSpPr>
            <p:spPr>
              <a:xfrm>
                <a:off x="3779520" y="2407920"/>
                <a:ext cx="1216152" cy="1216152"/>
              </a:xfrm>
              <a:prstGeom prst="cube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Cube 7">
                <a:extLst>
                  <a:ext uri="{FF2B5EF4-FFF2-40B4-BE49-F238E27FC236}">
                    <a16:creationId xmlns:a16="http://schemas.microsoft.com/office/drawing/2014/main" id="{C41BB3BB-A1FC-E348-AFBB-17D947835BDD}"/>
                  </a:ext>
                </a:extLst>
              </p:cNvPr>
              <p:cNvSpPr/>
              <p:nvPr/>
            </p:nvSpPr>
            <p:spPr>
              <a:xfrm>
                <a:off x="4693920" y="2407920"/>
                <a:ext cx="1216152" cy="1216152"/>
              </a:xfrm>
              <a:prstGeom prst="cube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359C21B-EFE8-2F4B-9D14-720330D7C32E}"/>
                </a:ext>
              </a:extLst>
            </p:cNvPr>
            <p:cNvCxnSpPr>
              <a:cxnSpLocks/>
            </p:cNvCxnSpPr>
            <p:nvPr/>
          </p:nvCxnSpPr>
          <p:spPr>
            <a:xfrm>
              <a:off x="1513841" y="2021840"/>
              <a:ext cx="2783839" cy="1016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10EF37C3-8119-4D4B-B3EA-DF8D52603703}"/>
                </a:ext>
              </a:extLst>
            </p:cNvPr>
            <p:cNvCxnSpPr/>
            <p:nvPr/>
          </p:nvCxnSpPr>
          <p:spPr>
            <a:xfrm>
              <a:off x="1524001" y="2032000"/>
              <a:ext cx="0" cy="38608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29D30210-BCC0-E348-A338-75EFFD806114}"/>
                </a:ext>
              </a:extLst>
            </p:cNvPr>
            <p:cNvCxnSpPr/>
            <p:nvPr/>
          </p:nvCxnSpPr>
          <p:spPr>
            <a:xfrm>
              <a:off x="2040636" y="2032000"/>
              <a:ext cx="0" cy="38608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9B1E14F1-306F-3145-9EAF-59F9C6F839C4}"/>
                </a:ext>
              </a:extLst>
            </p:cNvPr>
            <p:cNvCxnSpPr/>
            <p:nvPr/>
          </p:nvCxnSpPr>
          <p:spPr>
            <a:xfrm>
              <a:off x="2579116" y="2032000"/>
              <a:ext cx="0" cy="38608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E6825758-A35D-D747-A4B1-F07C56955412}"/>
                </a:ext>
              </a:extLst>
            </p:cNvPr>
            <p:cNvCxnSpPr/>
            <p:nvPr/>
          </p:nvCxnSpPr>
          <p:spPr>
            <a:xfrm>
              <a:off x="3047086" y="2021840"/>
              <a:ext cx="0" cy="38608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8AFB44E4-85C4-FE4A-9413-22C5B7BB1639}"/>
                </a:ext>
              </a:extLst>
            </p:cNvPr>
            <p:cNvCxnSpPr/>
            <p:nvPr/>
          </p:nvCxnSpPr>
          <p:spPr>
            <a:xfrm>
              <a:off x="3603606" y="2032000"/>
              <a:ext cx="0" cy="38608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F7DF31D-9D9A-EC42-9A64-A84C12054D33}"/>
                </a:ext>
              </a:extLst>
            </p:cNvPr>
            <p:cNvSpPr txBox="1"/>
            <p:nvPr/>
          </p:nvSpPr>
          <p:spPr>
            <a:xfrm>
              <a:off x="4343921" y="1837174"/>
              <a:ext cx="154241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array elements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F214DFC-0A63-C944-BBD1-AF6816761597}"/>
                </a:ext>
              </a:extLst>
            </p:cNvPr>
            <p:cNvSpPr txBox="1"/>
            <p:nvPr/>
          </p:nvSpPr>
          <p:spPr>
            <a:xfrm>
              <a:off x="4349764" y="3119200"/>
              <a:ext cx="14157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array indexes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1441670-91F9-6245-B655-C615471E4B03}"/>
                </a:ext>
              </a:extLst>
            </p:cNvPr>
            <p:cNvSpPr txBox="1"/>
            <p:nvPr/>
          </p:nvSpPr>
          <p:spPr>
            <a:xfrm>
              <a:off x="1132864" y="3147773"/>
              <a:ext cx="265810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0        1        2        3        4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BF7B6ED8-7C20-6045-9C5C-A137AB8F4B60}"/>
                </a:ext>
              </a:extLst>
            </p:cNvPr>
            <p:cNvCxnSpPr/>
            <p:nvPr/>
          </p:nvCxnSpPr>
          <p:spPr>
            <a:xfrm flipH="1">
              <a:off x="3806313" y="3288477"/>
              <a:ext cx="506716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89730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605ADF-0D06-474E-A88B-EF307AFC5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ADT: LIST 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A450EEA-7E0D-384E-90C8-1A7FDE4D99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87999" y="994718"/>
            <a:ext cx="8360242" cy="3912562"/>
          </a:xfrm>
        </p:spPr>
        <p:txBody>
          <a:bodyPr>
            <a:normAutofit/>
          </a:bodyPr>
          <a:lstStyle/>
          <a:p>
            <a:r>
              <a:rPr lang="en-US" dirty="0"/>
              <a:t>The list is an ADT for storing </a:t>
            </a:r>
            <a:r>
              <a:rPr lang="en-US" dirty="0">
                <a:highlight>
                  <a:srgbClr val="D6D2C4"/>
                </a:highlight>
              </a:rPr>
              <a:t>sequential elements</a:t>
            </a:r>
            <a:r>
              <a:rPr lang="en-US" dirty="0"/>
              <a:t>.</a:t>
            </a:r>
            <a:endParaRPr lang="en-US" dirty="0">
              <a:highlight>
                <a:srgbClr val="D6D2C4"/>
              </a:highlight>
            </a:endParaRPr>
          </a:p>
          <a:p>
            <a:endParaRPr lang="en-US" dirty="0">
              <a:highlight>
                <a:srgbClr val="D6D2C4"/>
              </a:highlight>
            </a:endParaRPr>
          </a:p>
          <a:p>
            <a:endParaRPr lang="en-US" dirty="0">
              <a:highlight>
                <a:srgbClr val="D6D2C4"/>
              </a:highlight>
            </a:endParaRPr>
          </a:p>
          <a:p>
            <a:endParaRPr lang="en-US" dirty="0">
              <a:highlight>
                <a:srgbClr val="D6D2C4"/>
              </a:highlight>
            </a:endParaRPr>
          </a:p>
          <a:p>
            <a:endParaRPr lang="en-US" dirty="0">
              <a:highlight>
                <a:srgbClr val="D6D2C4"/>
              </a:highlight>
            </a:endParaRPr>
          </a:p>
          <a:p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E4A4030-BB05-4D41-A8F7-E3B0067E43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9258784"/>
              </p:ext>
            </p:extLst>
          </p:nvPr>
        </p:nvGraphicFramePr>
        <p:xfrm>
          <a:off x="416560" y="1535430"/>
          <a:ext cx="2288540" cy="297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960">
                  <a:extLst>
                    <a:ext uri="{9D8B030D-6E8A-4147-A177-3AD203B41FA5}">
                      <a16:colId xmlns:a16="http://schemas.microsoft.com/office/drawing/2014/main" val="3129656701"/>
                    </a:ext>
                  </a:extLst>
                </a:gridCol>
                <a:gridCol w="325120">
                  <a:extLst>
                    <a:ext uri="{9D8B030D-6E8A-4147-A177-3AD203B41FA5}">
                      <a16:colId xmlns:a16="http://schemas.microsoft.com/office/drawing/2014/main" val="3739791129"/>
                    </a:ext>
                  </a:extLst>
                </a:gridCol>
                <a:gridCol w="335280">
                  <a:extLst>
                    <a:ext uri="{9D8B030D-6E8A-4147-A177-3AD203B41FA5}">
                      <a16:colId xmlns:a16="http://schemas.microsoft.com/office/drawing/2014/main" val="307128918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742289551"/>
                    </a:ext>
                  </a:extLst>
                </a:gridCol>
                <a:gridCol w="355600">
                  <a:extLst>
                    <a:ext uri="{9D8B030D-6E8A-4147-A177-3AD203B41FA5}">
                      <a16:colId xmlns:a16="http://schemas.microsoft.com/office/drawing/2014/main" val="183181231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519545988"/>
                    </a:ext>
                  </a:extLst>
                </a:gridCol>
                <a:gridCol w="287020">
                  <a:extLst>
                    <a:ext uri="{9D8B030D-6E8A-4147-A177-3AD203B41FA5}">
                      <a16:colId xmlns:a16="http://schemas.microsoft.com/office/drawing/2014/main" val="2402617490"/>
                    </a:ext>
                  </a:extLst>
                </a:gridCol>
              </a:tblGrid>
              <a:tr h="27699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4143806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EAC230D4-F7DE-7A43-B70B-D5384D74188D}"/>
              </a:ext>
            </a:extLst>
          </p:cNvPr>
          <p:cNvSpPr txBox="1"/>
          <p:nvPr/>
        </p:nvSpPr>
        <p:spPr>
          <a:xfrm>
            <a:off x="303661" y="1974081"/>
            <a:ext cx="5245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head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8E7A974-EDC4-474B-ADE9-D620F0A24EAE}"/>
              </a:ext>
            </a:extLst>
          </p:cNvPr>
          <p:cNvSpPr txBox="1"/>
          <p:nvPr/>
        </p:nvSpPr>
        <p:spPr>
          <a:xfrm>
            <a:off x="1530174" y="1974081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tail</a:t>
            </a:r>
          </a:p>
        </p:txBody>
      </p:sp>
      <p:sp>
        <p:nvSpPr>
          <p:cNvPr id="18" name="Left Brace 17" descr="graphical representation of  a list">
            <a:extLst>
              <a:ext uri="{FF2B5EF4-FFF2-40B4-BE49-F238E27FC236}">
                <a16:creationId xmlns:a16="http://schemas.microsoft.com/office/drawing/2014/main" id="{06FE72CA-D5B0-9843-94C3-9B0FBEFA5F87}"/>
              </a:ext>
            </a:extLst>
          </p:cNvPr>
          <p:cNvSpPr/>
          <p:nvPr/>
        </p:nvSpPr>
        <p:spPr>
          <a:xfrm rot="16200000">
            <a:off x="1623367" y="950267"/>
            <a:ext cx="193847" cy="1969618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Left Brace 24" descr="graphical representation of  a list">
            <a:extLst>
              <a:ext uri="{FF2B5EF4-FFF2-40B4-BE49-F238E27FC236}">
                <a16:creationId xmlns:a16="http://schemas.microsoft.com/office/drawing/2014/main" id="{D960EC5E-2FA6-D94E-ABF0-6A85CED51550}"/>
              </a:ext>
            </a:extLst>
          </p:cNvPr>
          <p:cNvSpPr/>
          <p:nvPr/>
        </p:nvSpPr>
        <p:spPr>
          <a:xfrm rot="16200000">
            <a:off x="485484" y="1782000"/>
            <a:ext cx="181078" cy="318921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CFAD115E-7297-2448-8F79-A6FE67F50B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5855116"/>
              </p:ext>
            </p:extLst>
          </p:nvPr>
        </p:nvGraphicFramePr>
        <p:xfrm>
          <a:off x="735480" y="2308452"/>
          <a:ext cx="1969620" cy="297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320">
                  <a:extLst>
                    <a:ext uri="{9D8B030D-6E8A-4147-A177-3AD203B41FA5}">
                      <a16:colId xmlns:a16="http://schemas.microsoft.com/office/drawing/2014/main" val="3129656701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3071289180"/>
                    </a:ext>
                  </a:extLst>
                </a:gridCol>
                <a:gridCol w="335280">
                  <a:extLst>
                    <a:ext uri="{9D8B030D-6E8A-4147-A177-3AD203B41FA5}">
                      <a16:colId xmlns:a16="http://schemas.microsoft.com/office/drawing/2014/main" val="2742289551"/>
                    </a:ext>
                  </a:extLst>
                </a:gridCol>
                <a:gridCol w="345440">
                  <a:extLst>
                    <a:ext uri="{9D8B030D-6E8A-4147-A177-3AD203B41FA5}">
                      <a16:colId xmlns:a16="http://schemas.microsoft.com/office/drawing/2014/main" val="1831812312"/>
                    </a:ext>
                  </a:extLst>
                </a:gridCol>
                <a:gridCol w="335280">
                  <a:extLst>
                    <a:ext uri="{9D8B030D-6E8A-4147-A177-3AD203B41FA5}">
                      <a16:colId xmlns:a16="http://schemas.microsoft.com/office/drawing/2014/main" val="1519545988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2402617490"/>
                    </a:ext>
                  </a:extLst>
                </a:gridCol>
              </a:tblGrid>
              <a:tr h="27699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4143806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824E2CA-7DE3-5D4F-B92E-BB569964D384}"/>
              </a:ext>
            </a:extLst>
          </p:cNvPr>
          <p:cNvSpPr txBox="1"/>
          <p:nvPr/>
        </p:nvSpPr>
        <p:spPr>
          <a:xfrm>
            <a:off x="638942" y="2754054"/>
            <a:ext cx="5245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head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A425E7A-5DC1-5F49-867E-38B84D623608}"/>
              </a:ext>
            </a:extLst>
          </p:cNvPr>
          <p:cNvSpPr txBox="1"/>
          <p:nvPr/>
        </p:nvSpPr>
        <p:spPr>
          <a:xfrm>
            <a:off x="1865455" y="2754054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tail</a:t>
            </a:r>
          </a:p>
        </p:txBody>
      </p:sp>
      <p:sp>
        <p:nvSpPr>
          <p:cNvPr id="31" name="Left Brace 30" descr="graphical representation of  a list">
            <a:extLst>
              <a:ext uri="{FF2B5EF4-FFF2-40B4-BE49-F238E27FC236}">
                <a16:creationId xmlns:a16="http://schemas.microsoft.com/office/drawing/2014/main" id="{434E266C-8F29-9A48-8FD9-644CA241B038}"/>
              </a:ext>
            </a:extLst>
          </p:cNvPr>
          <p:cNvSpPr/>
          <p:nvPr/>
        </p:nvSpPr>
        <p:spPr>
          <a:xfrm rot="16200000">
            <a:off x="1791009" y="1897879"/>
            <a:ext cx="193848" cy="1634339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Left Brace 31" descr="graphical representation of  a list">
            <a:extLst>
              <a:ext uri="{FF2B5EF4-FFF2-40B4-BE49-F238E27FC236}">
                <a16:creationId xmlns:a16="http://schemas.microsoft.com/office/drawing/2014/main" id="{5AEDF057-6C5D-5A4C-BC27-033585FBF5A2}"/>
              </a:ext>
            </a:extLst>
          </p:cNvPr>
          <p:cNvSpPr/>
          <p:nvPr/>
        </p:nvSpPr>
        <p:spPr>
          <a:xfrm rot="16200000">
            <a:off x="820765" y="2561973"/>
            <a:ext cx="181078" cy="318921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9DAB864-D398-6741-988A-18DD12F29499}"/>
              </a:ext>
            </a:extLst>
          </p:cNvPr>
          <p:cNvSpPr txBox="1"/>
          <p:nvPr/>
        </p:nvSpPr>
        <p:spPr>
          <a:xfrm>
            <a:off x="1005671" y="3514663"/>
            <a:ext cx="5245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head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9FFBA60-2ADB-3147-B213-ED132A35B465}"/>
              </a:ext>
            </a:extLst>
          </p:cNvPr>
          <p:cNvSpPr txBox="1"/>
          <p:nvPr/>
        </p:nvSpPr>
        <p:spPr>
          <a:xfrm>
            <a:off x="1887931" y="3514662"/>
            <a:ext cx="380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tail</a:t>
            </a:r>
          </a:p>
        </p:txBody>
      </p:sp>
      <p:sp>
        <p:nvSpPr>
          <p:cNvPr id="35" name="Left Brace 34" descr="graphical representation of  a list">
            <a:extLst>
              <a:ext uri="{FF2B5EF4-FFF2-40B4-BE49-F238E27FC236}">
                <a16:creationId xmlns:a16="http://schemas.microsoft.com/office/drawing/2014/main" id="{09311364-5F76-1E46-94AA-386C26516B02}"/>
              </a:ext>
            </a:extLst>
          </p:cNvPr>
          <p:cNvSpPr/>
          <p:nvPr/>
        </p:nvSpPr>
        <p:spPr>
          <a:xfrm rot="16200000">
            <a:off x="1972378" y="2833688"/>
            <a:ext cx="187677" cy="1277770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Left Brace 35" descr="graphical representation of  a list">
            <a:extLst>
              <a:ext uri="{FF2B5EF4-FFF2-40B4-BE49-F238E27FC236}">
                <a16:creationId xmlns:a16="http://schemas.microsoft.com/office/drawing/2014/main" id="{16DC1F93-7F66-C84D-8311-7BB3BEFF4A66}"/>
              </a:ext>
            </a:extLst>
          </p:cNvPr>
          <p:cNvSpPr/>
          <p:nvPr/>
        </p:nvSpPr>
        <p:spPr>
          <a:xfrm rot="16200000">
            <a:off x="1146854" y="3322582"/>
            <a:ext cx="181078" cy="318921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11153A2E-7248-6940-858F-25C8E80450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3424618"/>
              </p:ext>
            </p:extLst>
          </p:nvPr>
        </p:nvGraphicFramePr>
        <p:xfrm>
          <a:off x="1070761" y="3040603"/>
          <a:ext cx="1634340" cy="297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999">
                  <a:extLst>
                    <a:ext uri="{9D8B030D-6E8A-4147-A177-3AD203B41FA5}">
                      <a16:colId xmlns:a16="http://schemas.microsoft.com/office/drawing/2014/main" val="3129656701"/>
                    </a:ext>
                  </a:extLst>
                </a:gridCol>
                <a:gridCol w="314960">
                  <a:extLst>
                    <a:ext uri="{9D8B030D-6E8A-4147-A177-3AD203B41FA5}">
                      <a16:colId xmlns:a16="http://schemas.microsoft.com/office/drawing/2014/main" val="3071289180"/>
                    </a:ext>
                  </a:extLst>
                </a:gridCol>
                <a:gridCol w="325120">
                  <a:extLst>
                    <a:ext uri="{9D8B030D-6E8A-4147-A177-3AD203B41FA5}">
                      <a16:colId xmlns:a16="http://schemas.microsoft.com/office/drawing/2014/main" val="2742289551"/>
                    </a:ext>
                  </a:extLst>
                </a:gridCol>
                <a:gridCol w="386080">
                  <a:extLst>
                    <a:ext uri="{9D8B030D-6E8A-4147-A177-3AD203B41FA5}">
                      <a16:colId xmlns:a16="http://schemas.microsoft.com/office/drawing/2014/main" val="1831812312"/>
                    </a:ext>
                  </a:extLst>
                </a:gridCol>
                <a:gridCol w="297181">
                  <a:extLst>
                    <a:ext uri="{9D8B030D-6E8A-4147-A177-3AD203B41FA5}">
                      <a16:colId xmlns:a16="http://schemas.microsoft.com/office/drawing/2014/main" val="1519545988"/>
                    </a:ext>
                  </a:extLst>
                </a:gridCol>
              </a:tblGrid>
              <a:tr h="27699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4143806"/>
                  </a:ext>
                </a:extLst>
              </a:tr>
            </a:tbl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2DDBE819-2F11-464D-8974-174D2F26AEE9}"/>
              </a:ext>
            </a:extLst>
          </p:cNvPr>
          <p:cNvSpPr txBox="1"/>
          <p:nvPr/>
        </p:nvSpPr>
        <p:spPr>
          <a:xfrm>
            <a:off x="2302325" y="4693190"/>
            <a:ext cx="5245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head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9178CC1-78AF-AC4D-A42B-F78F562654D5}"/>
              </a:ext>
            </a:extLst>
          </p:cNvPr>
          <p:cNvSpPr txBox="1"/>
          <p:nvPr/>
        </p:nvSpPr>
        <p:spPr>
          <a:xfrm>
            <a:off x="2755408" y="4693189"/>
            <a:ext cx="9444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tail (empty)</a:t>
            </a:r>
          </a:p>
        </p:txBody>
      </p:sp>
      <p:sp>
        <p:nvSpPr>
          <p:cNvPr id="40" name="Left Brace 39" descr="graphical representation of  a list">
            <a:extLst>
              <a:ext uri="{FF2B5EF4-FFF2-40B4-BE49-F238E27FC236}">
                <a16:creationId xmlns:a16="http://schemas.microsoft.com/office/drawing/2014/main" id="{BA8D9765-D1BD-6C48-9629-9FA19BCBFC52}"/>
              </a:ext>
            </a:extLst>
          </p:cNvPr>
          <p:cNvSpPr/>
          <p:nvPr/>
        </p:nvSpPr>
        <p:spPr>
          <a:xfrm rot="16200000">
            <a:off x="2817179" y="4464068"/>
            <a:ext cx="193847" cy="380234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Left Brace 40" descr="graphical representation of  a list">
            <a:extLst>
              <a:ext uri="{FF2B5EF4-FFF2-40B4-BE49-F238E27FC236}">
                <a16:creationId xmlns:a16="http://schemas.microsoft.com/office/drawing/2014/main" id="{2E8EAA80-3B4B-6348-BBC8-ED4B568C198C}"/>
              </a:ext>
            </a:extLst>
          </p:cNvPr>
          <p:cNvSpPr/>
          <p:nvPr/>
        </p:nvSpPr>
        <p:spPr>
          <a:xfrm rot="16200000">
            <a:off x="2443508" y="4501109"/>
            <a:ext cx="181078" cy="318921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80DED7A8-AED1-A844-8DC2-D3A9E32AEA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8297853"/>
              </p:ext>
            </p:extLst>
          </p:nvPr>
        </p:nvGraphicFramePr>
        <p:xfrm>
          <a:off x="2367415" y="4219130"/>
          <a:ext cx="356570" cy="297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570">
                  <a:extLst>
                    <a:ext uri="{9D8B030D-6E8A-4147-A177-3AD203B41FA5}">
                      <a16:colId xmlns:a16="http://schemas.microsoft.com/office/drawing/2014/main" val="3129656701"/>
                    </a:ext>
                  </a:extLst>
                </a:gridCol>
              </a:tblGrid>
              <a:tr h="27699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4143806"/>
                  </a:ext>
                </a:extLst>
              </a:tr>
            </a:tbl>
          </a:graphicData>
        </a:graphic>
      </p:graphicFrame>
      <p:sp>
        <p:nvSpPr>
          <p:cNvPr id="43" name="TextBox 42">
            <a:extLst>
              <a:ext uri="{FF2B5EF4-FFF2-40B4-BE49-F238E27FC236}">
                <a16:creationId xmlns:a16="http://schemas.microsoft.com/office/drawing/2014/main" id="{CFA51397-5AD4-CE42-8881-944A8EBDAEE1}"/>
              </a:ext>
            </a:extLst>
          </p:cNvPr>
          <p:cNvSpPr txBox="1"/>
          <p:nvPr/>
        </p:nvSpPr>
        <p:spPr>
          <a:xfrm>
            <a:off x="1783384" y="3890860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B50F9CC-C591-724F-B9B9-843A6DB2D78E}"/>
              </a:ext>
            </a:extLst>
          </p:cNvPr>
          <p:cNvSpPr txBox="1"/>
          <p:nvPr/>
        </p:nvSpPr>
        <p:spPr>
          <a:xfrm>
            <a:off x="4886960" y="1662137"/>
            <a:ext cx="2587568" cy="16927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Basic operations: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append(item)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prepend(item)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head()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tail()</a:t>
            </a:r>
          </a:p>
        </p:txBody>
      </p:sp>
    </p:spTree>
    <p:extLst>
      <p:ext uri="{BB962C8B-B14F-4D97-AF65-F5344CB8AC3E}">
        <p14:creationId xmlns:p14="http://schemas.microsoft.com/office/powerpoint/2010/main" val="4024231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EFAABE3-414F-CD44-836A-3822DA62D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ADT: STACK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294670-593C-F04E-9C0A-0EE1CCEE19B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The stack is a list that places restrictions on where you can add/remove elements (</a:t>
            </a:r>
            <a:r>
              <a:rPr lang="en-US" dirty="0">
                <a:highlight>
                  <a:srgbClr val="D6D2C4"/>
                </a:highlight>
              </a:rPr>
              <a:t>LIFO: last-in, first-out</a:t>
            </a:r>
            <a:r>
              <a:rPr lang="en-US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407DEA-FCCB-884F-8D8A-A45EEB423D9E}"/>
              </a:ext>
            </a:extLst>
          </p:cNvPr>
          <p:cNvSpPr txBox="1"/>
          <p:nvPr/>
        </p:nvSpPr>
        <p:spPr>
          <a:xfrm>
            <a:off x="4897120" y="1905977"/>
            <a:ext cx="2547492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Basic operations: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push (item)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pop()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isEmpty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</p:txBody>
      </p:sp>
      <p:grpSp>
        <p:nvGrpSpPr>
          <p:cNvPr id="12" name="Group 11" descr="graphical representation of  a stack">
            <a:extLst>
              <a:ext uri="{FF2B5EF4-FFF2-40B4-BE49-F238E27FC236}">
                <a16:creationId xmlns:a16="http://schemas.microsoft.com/office/drawing/2014/main" id="{C98952E5-A5EE-4440-9064-6DCF37CDC338}"/>
              </a:ext>
            </a:extLst>
          </p:cNvPr>
          <p:cNvGrpSpPr/>
          <p:nvPr/>
        </p:nvGrpSpPr>
        <p:grpSpPr>
          <a:xfrm>
            <a:off x="386080" y="2068795"/>
            <a:ext cx="3515360" cy="1127339"/>
            <a:chOff x="386080" y="2068795"/>
            <a:chExt cx="3515360" cy="1127339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8FC9C2B-7D81-8644-B848-824C0FAEA402}"/>
                </a:ext>
              </a:extLst>
            </p:cNvPr>
            <p:cNvGrpSpPr/>
            <p:nvPr/>
          </p:nvGrpSpPr>
          <p:grpSpPr>
            <a:xfrm>
              <a:off x="386080" y="2068795"/>
              <a:ext cx="2436876" cy="608076"/>
              <a:chOff x="477520" y="2357120"/>
              <a:chExt cx="3652520" cy="914400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B2ECCE7-2B0F-554A-8991-C598FA25048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77520" y="2357120"/>
                <a:ext cx="914400" cy="9144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62862B4-E014-3240-BDF3-34DAEE53FF3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391920" y="2357120"/>
                <a:ext cx="914400" cy="9144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B3193FE-C778-B24A-942B-93DA40859A2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306320" y="2357120"/>
                <a:ext cx="914400" cy="9144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6691B69-B58D-B344-8F82-CA8F3A954A8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15640" y="2357120"/>
                <a:ext cx="914400" cy="9144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BC9998C-54B1-6B4F-BDC6-9D056AB80109}"/>
                </a:ext>
              </a:extLst>
            </p:cNvPr>
            <p:cNvSpPr txBox="1"/>
            <p:nvPr/>
          </p:nvSpPr>
          <p:spPr>
            <a:xfrm>
              <a:off x="2319933" y="2895868"/>
              <a:ext cx="39786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top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B5AF7C3-3A73-5441-8601-B3043EA4520E}"/>
                </a:ext>
              </a:extLst>
            </p:cNvPr>
            <p:cNvSpPr txBox="1"/>
            <p:nvPr/>
          </p:nvSpPr>
          <p:spPr>
            <a:xfrm>
              <a:off x="441871" y="2919135"/>
              <a:ext cx="65434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bottom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397418BB-300D-9D42-B0CC-B38769829500}"/>
                </a:ext>
              </a:extLst>
            </p:cNvPr>
            <p:cNvCxnSpPr>
              <a:cxnSpLocks/>
              <a:endCxn id="5" idx="2"/>
            </p:cNvCxnSpPr>
            <p:nvPr/>
          </p:nvCxnSpPr>
          <p:spPr>
            <a:xfrm flipV="1">
              <a:off x="691113" y="2676871"/>
              <a:ext cx="0" cy="30632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441CF9FB-155F-9343-8469-4A7F17612D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17923" y="2676871"/>
              <a:ext cx="0" cy="30632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ED771D21-0CB6-424C-89C2-128DE9CB163B}"/>
                </a:ext>
              </a:extLst>
            </p:cNvPr>
            <p:cNvCxnSpPr>
              <a:cxnSpLocks/>
            </p:cNvCxnSpPr>
            <p:nvPr/>
          </p:nvCxnSpPr>
          <p:spPr>
            <a:xfrm>
              <a:off x="3391683" y="2372833"/>
              <a:ext cx="50975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E25E640-95A2-A84D-9C4D-3531BFADD8B6}"/>
                </a:ext>
              </a:extLst>
            </p:cNvPr>
            <p:cNvSpPr txBox="1"/>
            <p:nvPr/>
          </p:nvSpPr>
          <p:spPr>
            <a:xfrm>
              <a:off x="2908386" y="2234333"/>
              <a:ext cx="3385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98459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EFAABE3-414F-CD44-836A-3822DA62D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ADT: STACK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294670-593C-F04E-9C0A-0EE1CCEE19B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The stack is a list that places restrictions on where you can add/remove elements (</a:t>
            </a:r>
            <a:r>
              <a:rPr lang="en-US" dirty="0">
                <a:highlight>
                  <a:srgbClr val="D6D2C4"/>
                </a:highlight>
              </a:rPr>
              <a:t>LIFO: last-in, first-out</a:t>
            </a:r>
            <a:r>
              <a:rPr lang="en-US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407DEA-FCCB-884F-8D8A-A45EEB423D9E}"/>
              </a:ext>
            </a:extLst>
          </p:cNvPr>
          <p:cNvSpPr txBox="1"/>
          <p:nvPr/>
        </p:nvSpPr>
        <p:spPr>
          <a:xfrm>
            <a:off x="4897120" y="1905977"/>
            <a:ext cx="2547492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Basic operations: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push (item)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pop()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isEmpty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</p:txBody>
      </p:sp>
      <p:grpSp>
        <p:nvGrpSpPr>
          <p:cNvPr id="12" name="Group 11" descr="graphical representation of  a push operation on a stack">
            <a:extLst>
              <a:ext uri="{FF2B5EF4-FFF2-40B4-BE49-F238E27FC236}">
                <a16:creationId xmlns:a16="http://schemas.microsoft.com/office/drawing/2014/main" id="{95E84433-EA60-A441-885D-C8A8EBDA5CEC}"/>
              </a:ext>
            </a:extLst>
          </p:cNvPr>
          <p:cNvGrpSpPr/>
          <p:nvPr/>
        </p:nvGrpSpPr>
        <p:grpSpPr>
          <a:xfrm>
            <a:off x="287999" y="2068795"/>
            <a:ext cx="3867441" cy="2868343"/>
            <a:chOff x="287999" y="2068795"/>
            <a:chExt cx="3867441" cy="2868343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8FC9C2B-7D81-8644-B848-824C0FAEA402}"/>
                </a:ext>
              </a:extLst>
            </p:cNvPr>
            <p:cNvGrpSpPr/>
            <p:nvPr/>
          </p:nvGrpSpPr>
          <p:grpSpPr>
            <a:xfrm>
              <a:off x="386080" y="2068795"/>
              <a:ext cx="2436876" cy="608076"/>
              <a:chOff x="477520" y="2357120"/>
              <a:chExt cx="3652520" cy="914400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B2ECCE7-2B0F-554A-8991-C598FA25048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77520" y="2357120"/>
                <a:ext cx="914400" cy="9144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62862B4-E014-3240-BDF3-34DAEE53FF3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391920" y="2357120"/>
                <a:ext cx="914400" cy="9144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B3193FE-C778-B24A-942B-93DA40859A2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306320" y="2357120"/>
                <a:ext cx="914400" cy="9144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6691B69-B58D-B344-8F82-CA8F3A954A8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15640" y="2357120"/>
                <a:ext cx="914400" cy="9144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BC9998C-54B1-6B4F-BDC6-9D056AB80109}"/>
                </a:ext>
              </a:extLst>
            </p:cNvPr>
            <p:cNvSpPr txBox="1"/>
            <p:nvPr/>
          </p:nvSpPr>
          <p:spPr>
            <a:xfrm>
              <a:off x="2319933" y="2895868"/>
              <a:ext cx="39786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top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B5AF7C3-3A73-5441-8601-B3043EA4520E}"/>
                </a:ext>
              </a:extLst>
            </p:cNvPr>
            <p:cNvSpPr txBox="1"/>
            <p:nvPr/>
          </p:nvSpPr>
          <p:spPr>
            <a:xfrm>
              <a:off x="441871" y="2919135"/>
              <a:ext cx="65434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bottom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397418BB-300D-9D42-B0CC-B38769829500}"/>
                </a:ext>
              </a:extLst>
            </p:cNvPr>
            <p:cNvCxnSpPr>
              <a:cxnSpLocks/>
              <a:endCxn id="5" idx="2"/>
            </p:cNvCxnSpPr>
            <p:nvPr/>
          </p:nvCxnSpPr>
          <p:spPr>
            <a:xfrm flipV="1">
              <a:off x="691113" y="2676871"/>
              <a:ext cx="0" cy="30632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441CF9FB-155F-9343-8469-4A7F17612D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17923" y="2676871"/>
              <a:ext cx="0" cy="30632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ED771D21-0CB6-424C-89C2-128DE9CB163B}"/>
                </a:ext>
              </a:extLst>
            </p:cNvPr>
            <p:cNvCxnSpPr>
              <a:cxnSpLocks/>
            </p:cNvCxnSpPr>
            <p:nvPr/>
          </p:nvCxnSpPr>
          <p:spPr>
            <a:xfrm>
              <a:off x="3391683" y="2372833"/>
              <a:ext cx="50975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E25E640-95A2-A84D-9C4D-3531BFADD8B6}"/>
                </a:ext>
              </a:extLst>
            </p:cNvPr>
            <p:cNvSpPr txBox="1"/>
            <p:nvPr/>
          </p:nvSpPr>
          <p:spPr>
            <a:xfrm>
              <a:off x="2908386" y="2234333"/>
              <a:ext cx="3385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44F3CFBB-1B93-C341-B021-6E0B4D80A5C5}"/>
                </a:ext>
              </a:extLst>
            </p:cNvPr>
            <p:cNvGrpSpPr/>
            <p:nvPr/>
          </p:nvGrpSpPr>
          <p:grpSpPr>
            <a:xfrm>
              <a:off x="287999" y="3450995"/>
              <a:ext cx="3144806" cy="1486143"/>
              <a:chOff x="287999" y="3450995"/>
              <a:chExt cx="3144806" cy="1486143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9C79FACA-DF88-6045-BBBD-263C6615C4F2}"/>
                  </a:ext>
                </a:extLst>
              </p:cNvPr>
              <p:cNvGrpSpPr/>
              <p:nvPr/>
            </p:nvGrpSpPr>
            <p:grpSpPr>
              <a:xfrm>
                <a:off x="387774" y="3809799"/>
                <a:ext cx="2436876" cy="608076"/>
                <a:chOff x="477520" y="2357120"/>
                <a:chExt cx="3652520" cy="914400"/>
              </a:xfrm>
            </p:grpSpPr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6D177329-618C-0348-8D46-584014C8203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77520" y="2357120"/>
                  <a:ext cx="914400" cy="9144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3F2C1217-C4BB-D64E-9C5F-4F4E9AB0AAF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1920" y="2357120"/>
                  <a:ext cx="914400" cy="9144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E7D3344E-AC95-2147-8F40-221FBCC506D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306320" y="2357120"/>
                  <a:ext cx="914400" cy="9144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C5C5C9F0-185C-3443-AE86-6ABE2C4DB25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215640" y="2357120"/>
                  <a:ext cx="914400" cy="9144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885339A-26CF-E14D-85AC-F07C61505741}"/>
                  </a:ext>
                </a:extLst>
              </p:cNvPr>
              <p:cNvSpPr txBox="1"/>
              <p:nvPr/>
            </p:nvSpPr>
            <p:spPr>
              <a:xfrm>
                <a:off x="2898163" y="4648639"/>
                <a:ext cx="39786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top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D5EC03E-B02E-7D4F-91F8-C35C878E7D92}"/>
                  </a:ext>
                </a:extLst>
              </p:cNvPr>
              <p:cNvSpPr txBox="1"/>
              <p:nvPr/>
            </p:nvSpPr>
            <p:spPr>
              <a:xfrm>
                <a:off x="443565" y="4660139"/>
                <a:ext cx="65434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bottom</a:t>
                </a:r>
              </a:p>
            </p:txBody>
          </p: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D97F0178-A71E-D44D-93A4-D0231D3F283B}"/>
                  </a:ext>
                </a:extLst>
              </p:cNvPr>
              <p:cNvCxnSpPr>
                <a:cxnSpLocks/>
                <a:endCxn id="22" idx="2"/>
              </p:cNvCxnSpPr>
              <p:nvPr/>
            </p:nvCxnSpPr>
            <p:spPr>
              <a:xfrm flipV="1">
                <a:off x="692807" y="4417875"/>
                <a:ext cx="0" cy="306324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97EA8F17-7F14-254D-8C4A-E70195815E2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96153" y="4429642"/>
                <a:ext cx="0" cy="306324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6D77B976-378E-394C-8FED-5D1F54DE72F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822739" y="3809799"/>
                <a:ext cx="610066" cy="6080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B7E0B41-1A4E-3A4B-9018-FF0BE65F7485}"/>
                  </a:ext>
                </a:extLst>
              </p:cNvPr>
              <p:cNvSpPr txBox="1"/>
              <p:nvPr/>
            </p:nvSpPr>
            <p:spPr>
              <a:xfrm>
                <a:off x="287999" y="3450995"/>
                <a:ext cx="181492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Example: push(X)</a:t>
                </a:r>
              </a:p>
            </p:txBody>
          </p:sp>
        </p:grp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8E12CB13-97FA-464B-A02B-6CA5B688B618}"/>
                </a:ext>
              </a:extLst>
            </p:cNvPr>
            <p:cNvCxnSpPr>
              <a:cxnSpLocks/>
            </p:cNvCxnSpPr>
            <p:nvPr/>
          </p:nvCxnSpPr>
          <p:spPr>
            <a:xfrm>
              <a:off x="3645683" y="4089873"/>
              <a:ext cx="50975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34653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EFAABE3-414F-CD44-836A-3822DA62D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ADT: STACK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294670-593C-F04E-9C0A-0EE1CCEE19B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The stack is a list that places restrictions on where you can add/remove elements (</a:t>
            </a:r>
            <a:r>
              <a:rPr lang="en-US" dirty="0">
                <a:highlight>
                  <a:srgbClr val="D6D2C4"/>
                </a:highlight>
              </a:rPr>
              <a:t>LIFO: last-in, first-out</a:t>
            </a:r>
            <a:r>
              <a:rPr lang="en-US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407DEA-FCCB-884F-8D8A-A45EEB423D9E}"/>
              </a:ext>
            </a:extLst>
          </p:cNvPr>
          <p:cNvSpPr txBox="1"/>
          <p:nvPr/>
        </p:nvSpPr>
        <p:spPr>
          <a:xfrm>
            <a:off x="4897120" y="1905977"/>
            <a:ext cx="2547492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Basic operations: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push (item)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pop()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isEmpty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</p:txBody>
      </p:sp>
      <p:grpSp>
        <p:nvGrpSpPr>
          <p:cNvPr id="12" name="Group 11" descr="graphical representation of  a pop operation on a stack">
            <a:extLst>
              <a:ext uri="{FF2B5EF4-FFF2-40B4-BE49-F238E27FC236}">
                <a16:creationId xmlns:a16="http://schemas.microsoft.com/office/drawing/2014/main" id="{77837067-A3A1-A44C-97F2-03DD1B371587}"/>
              </a:ext>
            </a:extLst>
          </p:cNvPr>
          <p:cNvGrpSpPr/>
          <p:nvPr/>
        </p:nvGrpSpPr>
        <p:grpSpPr>
          <a:xfrm>
            <a:off x="287999" y="2068795"/>
            <a:ext cx="3613441" cy="2868343"/>
            <a:chOff x="287999" y="2068795"/>
            <a:chExt cx="3613441" cy="2868343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8FC9C2B-7D81-8644-B848-824C0FAEA402}"/>
                </a:ext>
              </a:extLst>
            </p:cNvPr>
            <p:cNvGrpSpPr/>
            <p:nvPr/>
          </p:nvGrpSpPr>
          <p:grpSpPr>
            <a:xfrm>
              <a:off x="386080" y="2068795"/>
              <a:ext cx="2436876" cy="608076"/>
              <a:chOff x="477520" y="2357120"/>
              <a:chExt cx="3652520" cy="914400"/>
            </a:xfrm>
            <a:noFill/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B2ECCE7-2B0F-554A-8991-C598FA25048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77520" y="2357120"/>
                <a:ext cx="914400" cy="914400"/>
              </a:xfrm>
              <a:prstGeom prst="rect">
                <a:avLst/>
              </a:prstGeom>
              <a:grp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62862B4-E014-3240-BDF3-34DAEE53FF3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391920" y="2357120"/>
                <a:ext cx="914400" cy="914400"/>
              </a:xfrm>
              <a:prstGeom prst="rect">
                <a:avLst/>
              </a:prstGeom>
              <a:grp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B3193FE-C778-B24A-942B-93DA40859A2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306320" y="2357120"/>
                <a:ext cx="914400" cy="914400"/>
              </a:xfrm>
              <a:prstGeom prst="rect">
                <a:avLst/>
              </a:prstGeom>
              <a:grp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6691B69-B58D-B344-8F82-CA8F3A954A8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15640" y="2357120"/>
                <a:ext cx="914400" cy="914400"/>
              </a:xfrm>
              <a:prstGeom prst="rect">
                <a:avLst/>
              </a:prstGeom>
              <a:grp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BC9998C-54B1-6B4F-BDC6-9D056AB80109}"/>
                </a:ext>
              </a:extLst>
            </p:cNvPr>
            <p:cNvSpPr txBox="1"/>
            <p:nvPr/>
          </p:nvSpPr>
          <p:spPr>
            <a:xfrm>
              <a:off x="2319933" y="2895868"/>
              <a:ext cx="39786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top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B5AF7C3-3A73-5441-8601-B3043EA4520E}"/>
                </a:ext>
              </a:extLst>
            </p:cNvPr>
            <p:cNvSpPr txBox="1"/>
            <p:nvPr/>
          </p:nvSpPr>
          <p:spPr>
            <a:xfrm>
              <a:off x="441871" y="2919135"/>
              <a:ext cx="65434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bottom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397418BB-300D-9D42-B0CC-B38769829500}"/>
                </a:ext>
              </a:extLst>
            </p:cNvPr>
            <p:cNvCxnSpPr>
              <a:cxnSpLocks/>
              <a:endCxn id="5" idx="2"/>
            </p:cNvCxnSpPr>
            <p:nvPr/>
          </p:nvCxnSpPr>
          <p:spPr>
            <a:xfrm flipV="1">
              <a:off x="691113" y="2676871"/>
              <a:ext cx="0" cy="30632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441CF9FB-155F-9343-8469-4A7F17612D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17923" y="2676871"/>
              <a:ext cx="0" cy="30632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ED771D21-0CB6-424C-89C2-128DE9CB163B}"/>
                </a:ext>
              </a:extLst>
            </p:cNvPr>
            <p:cNvCxnSpPr>
              <a:cxnSpLocks/>
            </p:cNvCxnSpPr>
            <p:nvPr/>
          </p:nvCxnSpPr>
          <p:spPr>
            <a:xfrm>
              <a:off x="3391683" y="2372833"/>
              <a:ext cx="50975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E25E640-95A2-A84D-9C4D-3531BFADD8B6}"/>
                </a:ext>
              </a:extLst>
            </p:cNvPr>
            <p:cNvSpPr txBox="1"/>
            <p:nvPr/>
          </p:nvSpPr>
          <p:spPr>
            <a:xfrm>
              <a:off x="2908386" y="2234333"/>
              <a:ext cx="3385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44F3CFBB-1B93-C341-B021-6E0B4D80A5C5}"/>
                </a:ext>
              </a:extLst>
            </p:cNvPr>
            <p:cNvGrpSpPr/>
            <p:nvPr/>
          </p:nvGrpSpPr>
          <p:grpSpPr>
            <a:xfrm>
              <a:off x="287999" y="3450995"/>
              <a:ext cx="1929974" cy="1486143"/>
              <a:chOff x="287999" y="3450995"/>
              <a:chExt cx="1929974" cy="1486143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9C79FACA-DF88-6045-BBBD-263C6615C4F2}"/>
                  </a:ext>
                </a:extLst>
              </p:cNvPr>
              <p:cNvGrpSpPr/>
              <p:nvPr/>
            </p:nvGrpSpPr>
            <p:grpSpPr>
              <a:xfrm>
                <a:off x="387774" y="3809799"/>
                <a:ext cx="1830199" cy="608076"/>
                <a:chOff x="477520" y="2357120"/>
                <a:chExt cx="2743200" cy="914400"/>
              </a:xfrm>
            </p:grpSpPr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6D177329-618C-0348-8D46-584014C8203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77520" y="2357120"/>
                  <a:ext cx="914400" cy="9144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3F2C1217-C4BB-D64E-9C5F-4F4E9AB0AAF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1920" y="2357120"/>
                  <a:ext cx="914400" cy="9144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E7D3344E-AC95-2147-8F40-221FBCC506D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306320" y="2357120"/>
                  <a:ext cx="914400" cy="9144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885339A-26CF-E14D-85AC-F07C61505741}"/>
                  </a:ext>
                </a:extLst>
              </p:cNvPr>
              <p:cNvSpPr txBox="1"/>
              <p:nvPr/>
            </p:nvSpPr>
            <p:spPr>
              <a:xfrm>
                <a:off x="1662912" y="4660138"/>
                <a:ext cx="39786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top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D5EC03E-B02E-7D4F-91F8-C35C878E7D92}"/>
                  </a:ext>
                </a:extLst>
              </p:cNvPr>
              <p:cNvSpPr txBox="1"/>
              <p:nvPr/>
            </p:nvSpPr>
            <p:spPr>
              <a:xfrm>
                <a:off x="443565" y="4660139"/>
                <a:ext cx="65434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bottom</a:t>
                </a:r>
              </a:p>
            </p:txBody>
          </p: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D97F0178-A71E-D44D-93A4-D0231D3F283B}"/>
                  </a:ext>
                </a:extLst>
              </p:cNvPr>
              <p:cNvCxnSpPr>
                <a:cxnSpLocks/>
                <a:endCxn id="22" idx="2"/>
              </p:cNvCxnSpPr>
              <p:nvPr/>
            </p:nvCxnSpPr>
            <p:spPr>
              <a:xfrm flipV="1">
                <a:off x="692807" y="4417875"/>
                <a:ext cx="0" cy="306324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97EA8F17-7F14-254D-8C4A-E70195815E2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64071" y="4417875"/>
                <a:ext cx="0" cy="306324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B7E0B41-1A4E-3A4B-9018-FF0BE65F7485}"/>
                  </a:ext>
                </a:extLst>
              </p:cNvPr>
              <p:cNvSpPr txBox="1"/>
              <p:nvPr/>
            </p:nvSpPr>
            <p:spPr>
              <a:xfrm>
                <a:off x="287999" y="3450995"/>
                <a:ext cx="157607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Example: pop()</a:t>
                </a:r>
              </a:p>
            </p:txBody>
          </p:sp>
        </p:grp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A2B1B63C-46D6-104E-93CB-45740957776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00166" y="3809799"/>
              <a:ext cx="610066" cy="608076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BE23A855-8B79-D44B-A26D-83FF2E527B84}"/>
                </a:ext>
              </a:extLst>
            </p:cNvPr>
            <p:cNvCxnSpPr>
              <a:cxnSpLocks/>
            </p:cNvCxnSpPr>
            <p:nvPr/>
          </p:nvCxnSpPr>
          <p:spPr>
            <a:xfrm>
              <a:off x="2319933" y="4119390"/>
              <a:ext cx="50975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917821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FD6B2C2-B67D-284D-A412-E712FE5F7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ADT: QUEUE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78F9AFF-77E4-5446-B4D9-35BFF38534F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The queue is a list that also places restrictions on where you can add/remove elements (</a:t>
            </a:r>
            <a:r>
              <a:rPr lang="en-US" dirty="0">
                <a:highlight>
                  <a:srgbClr val="D6D2C4"/>
                </a:highlight>
              </a:rPr>
              <a:t>FIFO: first-in, first-out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441A02-73D0-A443-B9DC-4598900BED75}"/>
              </a:ext>
            </a:extLst>
          </p:cNvPr>
          <p:cNvSpPr txBox="1"/>
          <p:nvPr/>
        </p:nvSpPr>
        <p:spPr>
          <a:xfrm>
            <a:off x="4897120" y="1905977"/>
            <a:ext cx="271580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Basic operations: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enqueue (item)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dequeue()</a:t>
            </a:r>
          </a:p>
        </p:txBody>
      </p:sp>
      <p:grpSp>
        <p:nvGrpSpPr>
          <p:cNvPr id="17" name="Group 16" descr="graphical representation of  a queue">
            <a:extLst>
              <a:ext uri="{FF2B5EF4-FFF2-40B4-BE49-F238E27FC236}">
                <a16:creationId xmlns:a16="http://schemas.microsoft.com/office/drawing/2014/main" id="{9E45F05B-186A-3D47-9B7C-740DB973D4A4}"/>
              </a:ext>
            </a:extLst>
          </p:cNvPr>
          <p:cNvGrpSpPr/>
          <p:nvPr/>
        </p:nvGrpSpPr>
        <p:grpSpPr>
          <a:xfrm>
            <a:off x="441871" y="2010371"/>
            <a:ext cx="3665016" cy="1181507"/>
            <a:chOff x="441871" y="2010371"/>
            <a:chExt cx="3665016" cy="118150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58AF402-E40C-E34F-B9B4-3E08D6C3F976}"/>
                </a:ext>
              </a:extLst>
            </p:cNvPr>
            <p:cNvGrpSpPr/>
            <p:nvPr/>
          </p:nvGrpSpPr>
          <p:grpSpPr>
            <a:xfrm>
              <a:off x="1058654" y="2010371"/>
              <a:ext cx="2436876" cy="608076"/>
              <a:chOff x="477520" y="2357120"/>
              <a:chExt cx="3652520" cy="914400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13C0934-84D8-A04E-B102-846B779DAC6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77520" y="2357120"/>
                <a:ext cx="914400" cy="9144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7386668-C461-5B4A-9AAF-F600C741587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391920" y="2357120"/>
                <a:ext cx="914400" cy="9144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0B18C01-EB17-B14A-85A1-2F7E9B29098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306320" y="2357120"/>
                <a:ext cx="914400" cy="9144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2A506DE-7BE9-4940-A891-2FA03F37D0C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15640" y="2357120"/>
                <a:ext cx="914400" cy="9144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ECD8BE9-4FBB-DD4F-9723-3B5D8869DBD9}"/>
                </a:ext>
              </a:extLst>
            </p:cNvPr>
            <p:cNvSpPr txBox="1"/>
            <p:nvPr/>
          </p:nvSpPr>
          <p:spPr>
            <a:xfrm>
              <a:off x="2933363" y="2882060"/>
              <a:ext cx="52450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head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9E90257-AA4E-F145-A60D-149F36751EAB}"/>
                </a:ext>
              </a:extLst>
            </p:cNvPr>
            <p:cNvSpPr txBox="1"/>
            <p:nvPr/>
          </p:nvSpPr>
          <p:spPr>
            <a:xfrm>
              <a:off x="1124178" y="2914879"/>
              <a:ext cx="3802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tail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28B10E1-A18C-9643-AF4B-75F1C6685E78}"/>
                </a:ext>
              </a:extLst>
            </p:cNvPr>
            <p:cNvCxnSpPr>
              <a:cxnSpLocks/>
              <a:endCxn id="6" idx="2"/>
            </p:cNvCxnSpPr>
            <p:nvPr/>
          </p:nvCxnSpPr>
          <p:spPr>
            <a:xfrm flipV="1">
              <a:off x="1363687" y="2618447"/>
              <a:ext cx="0" cy="30632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1485644-720C-DE4B-B676-308ED92D02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31353" y="2663063"/>
              <a:ext cx="0" cy="30632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D9827D0B-BB4C-E540-9262-8709C1239F3E}"/>
                </a:ext>
              </a:extLst>
            </p:cNvPr>
            <p:cNvCxnSpPr>
              <a:cxnSpLocks/>
            </p:cNvCxnSpPr>
            <p:nvPr/>
          </p:nvCxnSpPr>
          <p:spPr>
            <a:xfrm>
              <a:off x="3597130" y="2322979"/>
              <a:ext cx="50975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E01EA3CD-797F-144D-B078-86D1BB144F01}"/>
                </a:ext>
              </a:extLst>
            </p:cNvPr>
            <p:cNvCxnSpPr>
              <a:cxnSpLocks/>
            </p:cNvCxnSpPr>
            <p:nvPr/>
          </p:nvCxnSpPr>
          <p:spPr>
            <a:xfrm>
              <a:off x="441871" y="2332193"/>
              <a:ext cx="50975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616088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FD6B2C2-B67D-284D-A412-E712FE5F7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ADT: QUEUE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78F9AFF-77E4-5446-B4D9-35BFF38534F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The queue is a list that also places restrictions on where you can add/remove elements (</a:t>
            </a:r>
            <a:r>
              <a:rPr lang="en-US" dirty="0">
                <a:highlight>
                  <a:srgbClr val="D6D2C4"/>
                </a:highlight>
              </a:rPr>
              <a:t>FIFO: first-in, first-out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441A02-73D0-A443-B9DC-4598900BED75}"/>
              </a:ext>
            </a:extLst>
          </p:cNvPr>
          <p:cNvSpPr txBox="1"/>
          <p:nvPr/>
        </p:nvSpPr>
        <p:spPr>
          <a:xfrm>
            <a:off x="4897120" y="1905977"/>
            <a:ext cx="271580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Basic operations: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enqueue (item)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dequeue()</a:t>
            </a:r>
          </a:p>
        </p:txBody>
      </p:sp>
      <p:grpSp>
        <p:nvGrpSpPr>
          <p:cNvPr id="31" name="Group 30" descr="graphical representation of  a enqueue operation on a queue">
            <a:extLst>
              <a:ext uri="{FF2B5EF4-FFF2-40B4-BE49-F238E27FC236}">
                <a16:creationId xmlns:a16="http://schemas.microsoft.com/office/drawing/2014/main" id="{11DE2C35-43D0-0844-83B3-1A3A47B4F6A9}"/>
              </a:ext>
            </a:extLst>
          </p:cNvPr>
          <p:cNvGrpSpPr/>
          <p:nvPr/>
        </p:nvGrpSpPr>
        <p:grpSpPr>
          <a:xfrm>
            <a:off x="91440" y="2010371"/>
            <a:ext cx="4015447" cy="2916607"/>
            <a:chOff x="91440" y="2010371"/>
            <a:chExt cx="4015447" cy="291660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58AF402-E40C-E34F-B9B4-3E08D6C3F976}"/>
                </a:ext>
              </a:extLst>
            </p:cNvPr>
            <p:cNvGrpSpPr/>
            <p:nvPr/>
          </p:nvGrpSpPr>
          <p:grpSpPr>
            <a:xfrm>
              <a:off x="1058654" y="2010371"/>
              <a:ext cx="2436876" cy="608076"/>
              <a:chOff x="477520" y="2357120"/>
              <a:chExt cx="3652520" cy="914400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13C0934-84D8-A04E-B102-846B779DAC6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77520" y="2357120"/>
                <a:ext cx="914400" cy="9144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7386668-C461-5B4A-9AAF-F600C741587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391920" y="2357120"/>
                <a:ext cx="914400" cy="9144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0B18C01-EB17-B14A-85A1-2F7E9B29098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306320" y="2357120"/>
                <a:ext cx="914400" cy="9144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2A506DE-7BE9-4940-A891-2FA03F37D0C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15640" y="2357120"/>
                <a:ext cx="914400" cy="9144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ECD8BE9-4FBB-DD4F-9723-3B5D8869DBD9}"/>
                </a:ext>
              </a:extLst>
            </p:cNvPr>
            <p:cNvSpPr txBox="1"/>
            <p:nvPr/>
          </p:nvSpPr>
          <p:spPr>
            <a:xfrm>
              <a:off x="2933363" y="2882060"/>
              <a:ext cx="52450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head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9E90257-AA4E-F145-A60D-149F36751EAB}"/>
                </a:ext>
              </a:extLst>
            </p:cNvPr>
            <p:cNvSpPr txBox="1"/>
            <p:nvPr/>
          </p:nvSpPr>
          <p:spPr>
            <a:xfrm>
              <a:off x="1124178" y="2914879"/>
              <a:ext cx="3802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tail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28B10E1-A18C-9643-AF4B-75F1C6685E78}"/>
                </a:ext>
              </a:extLst>
            </p:cNvPr>
            <p:cNvCxnSpPr>
              <a:cxnSpLocks/>
              <a:endCxn id="6" idx="2"/>
            </p:cNvCxnSpPr>
            <p:nvPr/>
          </p:nvCxnSpPr>
          <p:spPr>
            <a:xfrm flipV="1">
              <a:off x="1363687" y="2618447"/>
              <a:ext cx="0" cy="30632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1485644-720C-DE4B-B676-308ED92D02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31353" y="2663063"/>
              <a:ext cx="0" cy="30632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D9827D0B-BB4C-E540-9262-8709C1239F3E}"/>
                </a:ext>
              </a:extLst>
            </p:cNvPr>
            <p:cNvCxnSpPr>
              <a:cxnSpLocks/>
            </p:cNvCxnSpPr>
            <p:nvPr/>
          </p:nvCxnSpPr>
          <p:spPr>
            <a:xfrm>
              <a:off x="3597130" y="2322979"/>
              <a:ext cx="50975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E01EA3CD-797F-144D-B078-86D1BB144F01}"/>
                </a:ext>
              </a:extLst>
            </p:cNvPr>
            <p:cNvCxnSpPr>
              <a:cxnSpLocks/>
            </p:cNvCxnSpPr>
            <p:nvPr/>
          </p:nvCxnSpPr>
          <p:spPr>
            <a:xfrm>
              <a:off x="441871" y="2332193"/>
              <a:ext cx="50975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" name="Group 14" descr="graphical representation of  a enqueue operation on a queue">
              <a:extLst>
                <a:ext uri="{FF2B5EF4-FFF2-40B4-BE49-F238E27FC236}">
                  <a16:creationId xmlns:a16="http://schemas.microsoft.com/office/drawing/2014/main" id="{CE9A7CD5-14D5-4C4E-A0AF-B7F0273FF632}"/>
                </a:ext>
              </a:extLst>
            </p:cNvPr>
            <p:cNvGrpSpPr/>
            <p:nvPr/>
          </p:nvGrpSpPr>
          <p:grpSpPr>
            <a:xfrm>
              <a:off x="91440" y="3440835"/>
              <a:ext cx="3969751" cy="1486143"/>
              <a:chOff x="91440" y="3440835"/>
              <a:chExt cx="3969751" cy="1486143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1B09AB53-F159-D545-BEBE-77AB2A7B4AFA}"/>
                  </a:ext>
                </a:extLst>
              </p:cNvPr>
              <p:cNvGrpSpPr/>
              <p:nvPr/>
            </p:nvGrpSpPr>
            <p:grpSpPr>
              <a:xfrm>
                <a:off x="369279" y="3440835"/>
                <a:ext cx="3105605" cy="1486143"/>
                <a:chOff x="287999" y="3450995"/>
                <a:chExt cx="3105605" cy="1486143"/>
              </a:xfrm>
            </p:grpSpPr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D05F1BCD-B6E1-BB44-B4E6-BF701C157AC6}"/>
                    </a:ext>
                  </a:extLst>
                </p:cNvPr>
                <p:cNvGrpSpPr/>
                <p:nvPr/>
              </p:nvGrpSpPr>
              <p:grpSpPr>
                <a:xfrm>
                  <a:off x="387774" y="3809799"/>
                  <a:ext cx="1830199" cy="608076"/>
                  <a:chOff x="477520" y="2357120"/>
                  <a:chExt cx="2743200" cy="914400"/>
                </a:xfrm>
              </p:grpSpPr>
              <p:sp>
                <p:nvSpPr>
                  <p:cNvPr id="24" name="Rectangle 23">
                    <a:extLst>
                      <a:ext uri="{FF2B5EF4-FFF2-40B4-BE49-F238E27FC236}">
                        <a16:creationId xmlns:a16="http://schemas.microsoft.com/office/drawing/2014/main" id="{74832A1E-153E-284E-BECC-A5AA383A9E0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77520" y="2357120"/>
                    <a:ext cx="914400" cy="914400"/>
                  </a:xfrm>
                  <a:prstGeom prst="rect">
                    <a:avLst/>
                  </a:prstGeom>
                  <a:noFill/>
                  <a:ln w="254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X</a:t>
                    </a:r>
                  </a:p>
                </p:txBody>
              </p:sp>
              <p:sp>
                <p:nvSpPr>
                  <p:cNvPr id="25" name="Rectangle 24">
                    <a:extLst>
                      <a:ext uri="{FF2B5EF4-FFF2-40B4-BE49-F238E27FC236}">
                        <a16:creationId xmlns:a16="http://schemas.microsoft.com/office/drawing/2014/main" id="{70D04C99-BA4C-0D41-9B7A-BBDF5ACB91D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91920" y="2357120"/>
                    <a:ext cx="914400" cy="914400"/>
                  </a:xfrm>
                  <a:prstGeom prst="rect">
                    <a:avLst/>
                  </a:prstGeom>
                  <a:noFill/>
                  <a:ln w="254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6" name="Rectangle 25">
                    <a:extLst>
                      <a:ext uri="{FF2B5EF4-FFF2-40B4-BE49-F238E27FC236}">
                        <a16:creationId xmlns:a16="http://schemas.microsoft.com/office/drawing/2014/main" id="{983036A3-443C-C248-BEAF-312A7EDD9B5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306320" y="2357120"/>
                    <a:ext cx="914400" cy="914400"/>
                  </a:xfrm>
                  <a:prstGeom prst="rect">
                    <a:avLst/>
                  </a:prstGeom>
                  <a:noFill/>
                  <a:ln w="254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51D80F6D-FEB3-6E42-9D77-2E6B69D1E21B}"/>
                    </a:ext>
                  </a:extLst>
                </p:cNvPr>
                <p:cNvSpPr txBox="1"/>
                <p:nvPr/>
              </p:nvSpPr>
              <p:spPr>
                <a:xfrm>
                  <a:off x="2869101" y="4635303"/>
                  <a:ext cx="5245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head</a:t>
                  </a: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FAD6E7FB-2BC7-CD47-86B0-FA1307A17031}"/>
                    </a:ext>
                  </a:extLst>
                </p:cNvPr>
                <p:cNvSpPr txBox="1"/>
                <p:nvPr/>
              </p:nvSpPr>
              <p:spPr>
                <a:xfrm>
                  <a:off x="443565" y="4660139"/>
                  <a:ext cx="38023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tail</a:t>
                  </a:r>
                </a:p>
              </p:txBody>
            </p:sp>
            <p:cxnSp>
              <p:nvCxnSpPr>
                <p:cNvPr id="21" name="Straight Arrow Connector 20">
                  <a:extLst>
                    <a:ext uri="{FF2B5EF4-FFF2-40B4-BE49-F238E27FC236}">
                      <a16:creationId xmlns:a16="http://schemas.microsoft.com/office/drawing/2014/main" id="{9E8FC67B-CC00-4E40-BBDD-AAEB43ECD7B5}"/>
                    </a:ext>
                  </a:extLst>
                </p:cNvPr>
                <p:cNvCxnSpPr>
                  <a:cxnSpLocks/>
                  <a:endCxn id="24" idx="2"/>
                </p:cNvCxnSpPr>
                <p:nvPr/>
              </p:nvCxnSpPr>
              <p:spPr>
                <a:xfrm flipV="1">
                  <a:off x="692807" y="4417875"/>
                  <a:ext cx="0" cy="306324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Arrow Connector 21">
                  <a:extLst>
                    <a:ext uri="{FF2B5EF4-FFF2-40B4-BE49-F238E27FC236}">
                      <a16:creationId xmlns:a16="http://schemas.microsoft.com/office/drawing/2014/main" id="{A979F9BE-E786-AC4D-88E4-0E20E65C855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31353" y="4417875"/>
                  <a:ext cx="0" cy="306324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D25E95A4-9CA7-3F45-88A3-D11656FFCA55}"/>
                    </a:ext>
                  </a:extLst>
                </p:cNvPr>
                <p:cNvSpPr txBox="1"/>
                <p:nvPr/>
              </p:nvSpPr>
              <p:spPr>
                <a:xfrm>
                  <a:off x="287999" y="3450995"/>
                  <a:ext cx="2167581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Example: enqueue(X)</a:t>
                  </a:r>
                </a:p>
              </p:txBody>
            </p:sp>
          </p:grp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D5E5DA7B-6076-904E-9A83-47297AD039C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299252" y="3799639"/>
                <a:ext cx="610066" cy="6080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265A7162-2751-2E4F-BE08-872A169C54C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907600" y="3797865"/>
                <a:ext cx="610066" cy="6080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FA844E36-1D3F-2049-9083-2FB2F2AF2F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51434" y="4101903"/>
                <a:ext cx="509757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77E588A6-351A-5749-8EC4-332352F310B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1440" y="4089006"/>
                <a:ext cx="277839" cy="1289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060090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FD6B2C2-B67D-284D-A412-E712FE5F7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ADT: QUEUE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78F9AFF-77E4-5446-B4D9-35BFF38534F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The queue is a list that also places restrictions on where you can add/remove elements (</a:t>
            </a:r>
            <a:r>
              <a:rPr lang="en-US" dirty="0">
                <a:highlight>
                  <a:srgbClr val="D6D2C4"/>
                </a:highlight>
              </a:rPr>
              <a:t>FIFO: first-in, first-out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441A02-73D0-A443-B9DC-4598900BED75}"/>
              </a:ext>
            </a:extLst>
          </p:cNvPr>
          <p:cNvSpPr txBox="1"/>
          <p:nvPr/>
        </p:nvSpPr>
        <p:spPr>
          <a:xfrm>
            <a:off x="4897120" y="1905977"/>
            <a:ext cx="271580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Basic operations: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enqueue (item)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dequeue()</a:t>
            </a:r>
          </a:p>
        </p:txBody>
      </p:sp>
      <p:grpSp>
        <p:nvGrpSpPr>
          <p:cNvPr id="15" name="Group 14" descr="graphical representation of  a dequeue operation on a queue">
            <a:extLst>
              <a:ext uri="{FF2B5EF4-FFF2-40B4-BE49-F238E27FC236}">
                <a16:creationId xmlns:a16="http://schemas.microsoft.com/office/drawing/2014/main" id="{EBEBEB20-81B2-8449-92D7-0DDAC3A9DC7B}"/>
              </a:ext>
            </a:extLst>
          </p:cNvPr>
          <p:cNvGrpSpPr/>
          <p:nvPr/>
        </p:nvGrpSpPr>
        <p:grpSpPr>
          <a:xfrm>
            <a:off x="441871" y="2010371"/>
            <a:ext cx="4126280" cy="2877625"/>
            <a:chOff x="441871" y="2010371"/>
            <a:chExt cx="4126280" cy="2877625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58AF402-E40C-E34F-B9B4-3E08D6C3F976}"/>
                </a:ext>
              </a:extLst>
            </p:cNvPr>
            <p:cNvGrpSpPr/>
            <p:nvPr/>
          </p:nvGrpSpPr>
          <p:grpSpPr>
            <a:xfrm>
              <a:off x="1058654" y="2010371"/>
              <a:ext cx="2436876" cy="608076"/>
              <a:chOff x="477520" y="2357120"/>
              <a:chExt cx="3652520" cy="914400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13C0934-84D8-A04E-B102-846B779DAC6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77520" y="2357120"/>
                <a:ext cx="914400" cy="9144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7386668-C461-5B4A-9AAF-F600C741587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391920" y="2357120"/>
                <a:ext cx="914400" cy="9144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0B18C01-EB17-B14A-85A1-2F7E9B29098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306320" y="2357120"/>
                <a:ext cx="914400" cy="9144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2A506DE-7BE9-4940-A891-2FA03F37D0C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15640" y="2357120"/>
                <a:ext cx="914400" cy="9144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ECD8BE9-4FBB-DD4F-9723-3B5D8869DBD9}"/>
                </a:ext>
              </a:extLst>
            </p:cNvPr>
            <p:cNvSpPr txBox="1"/>
            <p:nvPr/>
          </p:nvSpPr>
          <p:spPr>
            <a:xfrm>
              <a:off x="2933363" y="2882060"/>
              <a:ext cx="52450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head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9E90257-AA4E-F145-A60D-149F36751EAB}"/>
                </a:ext>
              </a:extLst>
            </p:cNvPr>
            <p:cNvSpPr txBox="1"/>
            <p:nvPr/>
          </p:nvSpPr>
          <p:spPr>
            <a:xfrm>
              <a:off x="1124178" y="2914879"/>
              <a:ext cx="3802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tail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28B10E1-A18C-9643-AF4B-75F1C6685E78}"/>
                </a:ext>
              </a:extLst>
            </p:cNvPr>
            <p:cNvCxnSpPr>
              <a:cxnSpLocks/>
              <a:endCxn id="6" idx="2"/>
            </p:cNvCxnSpPr>
            <p:nvPr/>
          </p:nvCxnSpPr>
          <p:spPr>
            <a:xfrm flipV="1">
              <a:off x="1363687" y="2618447"/>
              <a:ext cx="0" cy="30632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1485644-720C-DE4B-B676-308ED92D02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31353" y="2663063"/>
              <a:ext cx="0" cy="30632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D9827D0B-BB4C-E540-9262-8709C1239F3E}"/>
                </a:ext>
              </a:extLst>
            </p:cNvPr>
            <p:cNvCxnSpPr>
              <a:cxnSpLocks/>
            </p:cNvCxnSpPr>
            <p:nvPr/>
          </p:nvCxnSpPr>
          <p:spPr>
            <a:xfrm>
              <a:off x="3597130" y="2322979"/>
              <a:ext cx="50975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E01EA3CD-797F-144D-B078-86D1BB144F01}"/>
                </a:ext>
              </a:extLst>
            </p:cNvPr>
            <p:cNvCxnSpPr>
              <a:cxnSpLocks/>
            </p:cNvCxnSpPr>
            <p:nvPr/>
          </p:nvCxnSpPr>
          <p:spPr>
            <a:xfrm>
              <a:off x="441871" y="2332193"/>
              <a:ext cx="50975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066CEF57-54FB-C947-84CA-62B281C9FA53}"/>
                </a:ext>
              </a:extLst>
            </p:cNvPr>
            <p:cNvGrpSpPr/>
            <p:nvPr/>
          </p:nvGrpSpPr>
          <p:grpSpPr>
            <a:xfrm>
              <a:off x="1057865" y="3760657"/>
              <a:ext cx="1830199" cy="608076"/>
              <a:chOff x="477520" y="2357120"/>
              <a:chExt cx="2743200" cy="914400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C112AA72-AB46-C744-9DE2-FE1DE284162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77520" y="2357120"/>
                <a:ext cx="914400" cy="9144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362140C9-C6D5-4E4C-AE23-9B710A898A9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391920" y="2357120"/>
                <a:ext cx="914400" cy="9144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07C40E34-9BE2-724B-972A-74ADD3954C6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306320" y="2357120"/>
                <a:ext cx="914400" cy="9144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794DCD7-DD37-594B-9934-C71E5A11F9C2}"/>
                </a:ext>
              </a:extLst>
            </p:cNvPr>
            <p:cNvSpPr txBox="1"/>
            <p:nvPr/>
          </p:nvSpPr>
          <p:spPr>
            <a:xfrm>
              <a:off x="2333003" y="4610996"/>
              <a:ext cx="52450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head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AA66B2A-AB85-514F-BF83-7B01289ACE2D}"/>
                </a:ext>
              </a:extLst>
            </p:cNvPr>
            <p:cNvSpPr txBox="1"/>
            <p:nvPr/>
          </p:nvSpPr>
          <p:spPr>
            <a:xfrm>
              <a:off x="1113656" y="4610997"/>
              <a:ext cx="3802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tail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FDB793C7-69FB-904E-B24F-3F3B3A82A855}"/>
                </a:ext>
              </a:extLst>
            </p:cNvPr>
            <p:cNvCxnSpPr>
              <a:cxnSpLocks/>
              <a:endCxn id="24" idx="2"/>
            </p:cNvCxnSpPr>
            <p:nvPr/>
          </p:nvCxnSpPr>
          <p:spPr>
            <a:xfrm flipV="1">
              <a:off x="1362898" y="4368733"/>
              <a:ext cx="0" cy="30632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25EBC304-C272-804C-80C9-E679C10E5D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34162" y="4368733"/>
              <a:ext cx="0" cy="30632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67A811E-3FF1-1049-A1DF-03CA92D118B9}"/>
                </a:ext>
              </a:extLst>
            </p:cNvPr>
            <p:cNvSpPr txBox="1"/>
            <p:nvPr/>
          </p:nvSpPr>
          <p:spPr>
            <a:xfrm>
              <a:off x="958090" y="3401853"/>
              <a:ext cx="203132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Example: dequeue()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F3C25A0E-7104-764E-8B2B-D839F63F6161}"/>
                </a:ext>
              </a:extLst>
            </p:cNvPr>
            <p:cNvCxnSpPr>
              <a:cxnSpLocks/>
            </p:cNvCxnSpPr>
            <p:nvPr/>
          </p:nvCxnSpPr>
          <p:spPr>
            <a:xfrm>
              <a:off x="448333" y="4039768"/>
              <a:ext cx="50975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4A75604B-77D3-2F4F-A716-8D79B210519C}"/>
                </a:ext>
              </a:extLst>
            </p:cNvPr>
            <p:cNvCxnSpPr>
              <a:cxnSpLocks/>
            </p:cNvCxnSpPr>
            <p:nvPr/>
          </p:nvCxnSpPr>
          <p:spPr>
            <a:xfrm>
              <a:off x="2948109" y="4071194"/>
              <a:ext cx="50975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76048DB-42A6-D142-92CE-8F8465E5659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958085" y="3767156"/>
              <a:ext cx="610066" cy="608076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2A34A47C-A89B-2C4F-8740-6EBB9C83D3FA}"/>
              </a:ext>
            </a:extLst>
          </p:cNvPr>
          <p:cNvSpPr>
            <a:spLocks noChangeAspect="1"/>
          </p:cNvSpPr>
          <p:nvPr/>
        </p:nvSpPr>
        <p:spPr>
          <a:xfrm>
            <a:off x="2885464" y="2018941"/>
            <a:ext cx="610066" cy="608076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E9675FA-DB6D-E64B-97EC-B94E91B4F46D}"/>
              </a:ext>
            </a:extLst>
          </p:cNvPr>
          <p:cNvSpPr>
            <a:spLocks noChangeAspect="1"/>
          </p:cNvSpPr>
          <p:nvPr/>
        </p:nvSpPr>
        <p:spPr>
          <a:xfrm>
            <a:off x="3958085" y="3767156"/>
            <a:ext cx="610066" cy="608076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20667145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7425341-929C-7F40-8FD5-954D626FC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ADT: SET &amp; MULTISET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275A945-6F55-9E49-9AE9-AEE8375B08D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The set is an ADT to store </a:t>
            </a:r>
            <a:r>
              <a:rPr lang="en-US" dirty="0">
                <a:highlight>
                  <a:srgbClr val="D6D2C4"/>
                </a:highlight>
              </a:rPr>
              <a:t>unindexed, unordered unrepeated elements</a:t>
            </a:r>
          </a:p>
          <a:p>
            <a:r>
              <a:rPr lang="en-US" dirty="0"/>
              <a:t>The bag (or multi-set) is an ADT to store </a:t>
            </a:r>
            <a:r>
              <a:rPr lang="en-US" dirty="0">
                <a:highlight>
                  <a:srgbClr val="D6D2C4"/>
                </a:highlight>
              </a:rPr>
              <a:t>unindexed, unordered, possibly duplicated elements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5B71F9-D256-E943-A054-F416BCD32524}"/>
              </a:ext>
            </a:extLst>
          </p:cNvPr>
          <p:cNvSpPr txBox="1"/>
          <p:nvPr/>
        </p:nvSpPr>
        <p:spPr>
          <a:xfrm>
            <a:off x="4897120" y="3175977"/>
            <a:ext cx="260199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Basic operations: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insert (item)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remove(item)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contains(item)</a:t>
            </a:r>
          </a:p>
        </p:txBody>
      </p:sp>
      <p:grpSp>
        <p:nvGrpSpPr>
          <p:cNvPr id="11" name="Group 10" descr="graphical representation of  a set">
            <a:extLst>
              <a:ext uri="{FF2B5EF4-FFF2-40B4-BE49-F238E27FC236}">
                <a16:creationId xmlns:a16="http://schemas.microsoft.com/office/drawing/2014/main" id="{821050AC-A1D6-074E-BCAF-4661C29DD697}"/>
              </a:ext>
            </a:extLst>
          </p:cNvPr>
          <p:cNvGrpSpPr/>
          <p:nvPr/>
        </p:nvGrpSpPr>
        <p:grpSpPr>
          <a:xfrm>
            <a:off x="629919" y="2674209"/>
            <a:ext cx="3472639" cy="2235653"/>
            <a:chOff x="629919" y="2674209"/>
            <a:chExt cx="3472639" cy="2235653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6F712559-9415-5B4F-8C48-E131723985C8}"/>
                </a:ext>
              </a:extLst>
            </p:cNvPr>
            <p:cNvSpPr/>
            <p:nvPr/>
          </p:nvSpPr>
          <p:spPr>
            <a:xfrm>
              <a:off x="629919" y="2674209"/>
              <a:ext cx="3472639" cy="2235653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2E1DC6F-2109-C541-99FC-9AE8C95FD50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690921" y="4020954"/>
              <a:ext cx="366040" cy="364846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F256891-EE2A-C843-8ED4-3A57D819EDE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419578" y="3966359"/>
              <a:ext cx="366040" cy="364846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9D26735-945C-D94D-819D-ECC4C5CA0CE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649387" y="2998786"/>
              <a:ext cx="366040" cy="364846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7C3817C-9787-5A4E-ACE1-56E5766CF92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218407" y="3344820"/>
              <a:ext cx="366040" cy="364846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1BD9A7F-7C91-354A-A8D6-BAD963895BF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91822" y="3571006"/>
              <a:ext cx="366040" cy="364846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806800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39B33CD-3AFC-B548-98DC-3A8AF27B4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ADT: MAP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CA8375-32FF-4442-8ABD-38E21AD3D93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The map (or dictionary, or associative array) is a list that can hold data in </a:t>
            </a:r>
            <a:r>
              <a:rPr lang="en-US" i="1" dirty="0">
                <a:highlight>
                  <a:srgbClr val="D6D2C4"/>
                </a:highlight>
              </a:rPr>
              <a:t>(key, value)</a:t>
            </a:r>
            <a:r>
              <a:rPr lang="en-US" dirty="0">
                <a:highlight>
                  <a:srgbClr val="D6D2C4"/>
                </a:highlight>
              </a:rPr>
              <a:t> pairs</a:t>
            </a:r>
            <a:r>
              <a:rPr lang="en-US" dirty="0"/>
              <a:t>. Keys are unique, and can only hold one value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03B6E3D-0DB1-584C-8981-C927E49E09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911222"/>
              </p:ext>
            </p:extLst>
          </p:nvPr>
        </p:nvGraphicFramePr>
        <p:xfrm>
          <a:off x="495759" y="2417772"/>
          <a:ext cx="2948481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5521">
                  <a:extLst>
                    <a:ext uri="{9D8B030D-6E8A-4147-A177-3AD203B41FA5}">
                      <a16:colId xmlns:a16="http://schemas.microsoft.com/office/drawing/2014/main" val="505534386"/>
                    </a:ext>
                  </a:extLst>
                </a:gridCol>
                <a:gridCol w="2092960">
                  <a:extLst>
                    <a:ext uri="{9D8B030D-6E8A-4147-A177-3AD203B41FA5}">
                      <a16:colId xmlns:a16="http://schemas.microsoft.com/office/drawing/2014/main" val="3925937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7007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k</a:t>
                      </a:r>
                      <a:r>
                        <a:rPr lang="en-US" baseline="-250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8126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k</a:t>
                      </a:r>
                      <a:r>
                        <a:rPr lang="en-US" baseline="-250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680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k</a:t>
                      </a:r>
                      <a:r>
                        <a:rPr lang="en-US" baseline="-250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9551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k</a:t>
                      </a:r>
                      <a:r>
                        <a:rPr lang="en-US" baseline="-2500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322775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7B0011C-931E-A745-BFBF-1C1C0E9FD969}"/>
              </a:ext>
            </a:extLst>
          </p:cNvPr>
          <p:cNvSpPr txBox="1"/>
          <p:nvPr/>
        </p:nvSpPr>
        <p:spPr>
          <a:xfrm>
            <a:off x="4114800" y="2417772"/>
            <a:ext cx="3081485" cy="16927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Basic operations: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insert (key, value)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remove(key)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update(key, value)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lookup(key)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FD5C9F-420D-FA42-BF04-03B94D91D61E}"/>
              </a:ext>
            </a:extLst>
          </p:cNvPr>
          <p:cNvSpPr txBox="1"/>
          <p:nvPr/>
        </p:nvSpPr>
        <p:spPr>
          <a:xfrm>
            <a:off x="395460" y="4539725"/>
            <a:ext cx="25555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Property: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sz="20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&lt;&gt;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sz="20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∀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j</a:t>
            </a:r>
            <a:endParaRPr lang="en-US" sz="20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14048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6904B62-C225-074F-8917-2C5225FF3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ADT: PRIORITY QUEUE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77608369-3E76-704C-A4DB-30E4D461F3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87999" y="994718"/>
            <a:ext cx="8360242" cy="3745062"/>
          </a:xfrm>
        </p:spPr>
        <p:txBody>
          <a:bodyPr/>
          <a:lstStyle/>
          <a:p>
            <a:r>
              <a:rPr lang="en-US" dirty="0"/>
              <a:t>The priority queue is a queue where items are inserted/removed based on a given </a:t>
            </a:r>
            <a:r>
              <a:rPr lang="en-US" dirty="0">
                <a:highlight>
                  <a:srgbClr val="D6D2C4"/>
                </a:highlight>
              </a:rPr>
              <a:t>priority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110EC7-DF2E-F14A-8797-CD21AE933C49}"/>
              </a:ext>
            </a:extLst>
          </p:cNvPr>
          <p:cNvSpPr txBox="1"/>
          <p:nvPr/>
        </p:nvSpPr>
        <p:spPr>
          <a:xfrm>
            <a:off x="4897120" y="1905977"/>
            <a:ext cx="355578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Basic operations: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enqueue(item, priority)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dequeue()</a:t>
            </a:r>
          </a:p>
        </p:txBody>
      </p:sp>
      <p:grpSp>
        <p:nvGrpSpPr>
          <p:cNvPr id="2" name="Group 1" descr="graphical representation of  a priority queue">
            <a:extLst>
              <a:ext uri="{FF2B5EF4-FFF2-40B4-BE49-F238E27FC236}">
                <a16:creationId xmlns:a16="http://schemas.microsoft.com/office/drawing/2014/main" id="{E04241F9-6832-6349-8071-09A2A64BADEC}"/>
              </a:ext>
            </a:extLst>
          </p:cNvPr>
          <p:cNvGrpSpPr/>
          <p:nvPr/>
        </p:nvGrpSpPr>
        <p:grpSpPr>
          <a:xfrm>
            <a:off x="187876" y="1860146"/>
            <a:ext cx="3547681" cy="1302357"/>
            <a:chOff x="187876" y="1860146"/>
            <a:chExt cx="3547681" cy="1302357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A56F584-4E23-0742-B637-0150979CEBFC}"/>
                </a:ext>
              </a:extLst>
            </p:cNvPr>
            <p:cNvGrpSpPr/>
            <p:nvPr/>
          </p:nvGrpSpPr>
          <p:grpSpPr>
            <a:xfrm>
              <a:off x="941067" y="1980996"/>
              <a:ext cx="2794490" cy="1181507"/>
              <a:chOff x="701040" y="2010371"/>
              <a:chExt cx="2794490" cy="1181507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D8D65908-0478-7045-A75A-9B78202C6BAB}"/>
                  </a:ext>
                </a:extLst>
              </p:cNvPr>
              <p:cNvGrpSpPr/>
              <p:nvPr/>
            </p:nvGrpSpPr>
            <p:grpSpPr>
              <a:xfrm>
                <a:off x="1058654" y="2010371"/>
                <a:ext cx="2436876" cy="608076"/>
                <a:chOff x="477520" y="2357120"/>
                <a:chExt cx="3652520" cy="914400"/>
              </a:xfrm>
            </p:grpSpPr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96E39F05-9E8F-9B44-B6A8-7BAA554EC47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77520" y="2357120"/>
                  <a:ext cx="914400" cy="9144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06C9228A-86BD-3443-8BAE-995E8613648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1920" y="2357120"/>
                  <a:ext cx="914400" cy="9144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CFE7B9AA-2319-5E49-ACCA-76F196CC545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306320" y="2357120"/>
                  <a:ext cx="914400" cy="9144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26D7AB6D-E391-434D-887A-BDAA811FBC0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215640" y="2357120"/>
                  <a:ext cx="914400" cy="9144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A4604EC-46CB-B244-A681-CFAA4A6E8A0A}"/>
                  </a:ext>
                </a:extLst>
              </p:cNvPr>
              <p:cNvSpPr txBox="1"/>
              <p:nvPr/>
            </p:nvSpPr>
            <p:spPr>
              <a:xfrm>
                <a:off x="2933363" y="2882060"/>
                <a:ext cx="52450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head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8F2712D-6C24-FF4D-BF64-914736040B0B}"/>
                  </a:ext>
                </a:extLst>
              </p:cNvPr>
              <p:cNvSpPr txBox="1"/>
              <p:nvPr/>
            </p:nvSpPr>
            <p:spPr>
              <a:xfrm>
                <a:off x="1124178" y="2914879"/>
                <a:ext cx="38023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tail</a:t>
                </a:r>
              </a:p>
            </p:txBody>
          </p: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28F0CEE2-390C-3C40-AF96-0D3E0CD3CCE8}"/>
                  </a:ext>
                </a:extLst>
              </p:cNvPr>
              <p:cNvCxnSpPr>
                <a:cxnSpLocks/>
                <a:endCxn id="16" idx="2"/>
              </p:cNvCxnSpPr>
              <p:nvPr/>
            </p:nvCxnSpPr>
            <p:spPr>
              <a:xfrm flipV="1">
                <a:off x="1363687" y="2618447"/>
                <a:ext cx="0" cy="306324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15D01EA2-8687-D348-A896-6ADE3A19DAC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31353" y="2663063"/>
                <a:ext cx="0" cy="306324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0A6FFC65-0C47-7849-879F-37DD1A77FB7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01040" y="2455059"/>
                <a:ext cx="357614" cy="116691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1B1EADE3-C446-1145-87DB-037254D93D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1040" y="2010371"/>
                <a:ext cx="357614" cy="14910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D1955BC-BD8C-8040-8548-9C66CAD30B43}"/>
                </a:ext>
              </a:extLst>
            </p:cNvPr>
            <p:cNvCxnSpPr>
              <a:stCxn id="16" idx="1"/>
              <a:endCxn id="19" idx="3"/>
            </p:cNvCxnSpPr>
            <p:nvPr/>
          </p:nvCxnSpPr>
          <p:spPr>
            <a:xfrm>
              <a:off x="1298681" y="2285034"/>
              <a:ext cx="2436876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79CCD4F-EF27-BC45-A161-57F3456997A9}"/>
                </a:ext>
              </a:extLst>
            </p:cNvPr>
            <p:cNvSpPr txBox="1"/>
            <p:nvPr/>
          </p:nvSpPr>
          <p:spPr>
            <a:xfrm>
              <a:off x="320358" y="1860146"/>
              <a:ext cx="5517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items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15261EB-C43D-1748-B29F-C90315049821}"/>
                </a:ext>
              </a:extLst>
            </p:cNvPr>
            <p:cNvSpPr txBox="1"/>
            <p:nvPr/>
          </p:nvSpPr>
          <p:spPr>
            <a:xfrm>
              <a:off x="187876" y="2433250"/>
              <a:ext cx="76335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priorities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0A10998-3EAD-774D-8F5A-35FF3C9D0B4E}"/>
                </a:ext>
              </a:extLst>
            </p:cNvPr>
            <p:cNvSpPr txBox="1"/>
            <p:nvPr/>
          </p:nvSpPr>
          <p:spPr>
            <a:xfrm>
              <a:off x="1392183" y="2287184"/>
              <a:ext cx="2226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  <a:r>
                <a:rPr lang="en-US" sz="12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            p</a:t>
              </a:r>
              <a:r>
                <a:rPr lang="en-US" sz="12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           p</a:t>
              </a:r>
              <a:r>
                <a:rPr lang="en-US" sz="12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           p</a:t>
              </a:r>
              <a:r>
                <a:rPr lang="en-US" sz="12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6B190DA4-9E64-4F42-84D2-E185B5AFE2BC}"/>
              </a:ext>
            </a:extLst>
          </p:cNvPr>
          <p:cNvSpPr txBox="1"/>
          <p:nvPr/>
        </p:nvSpPr>
        <p:spPr>
          <a:xfrm>
            <a:off x="436100" y="3545759"/>
            <a:ext cx="22894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Property: p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&lt;= p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i+1</a:t>
            </a:r>
          </a:p>
        </p:txBody>
      </p:sp>
    </p:spTree>
    <p:extLst>
      <p:ext uri="{BB962C8B-B14F-4D97-AF65-F5344CB8AC3E}">
        <p14:creationId xmlns:p14="http://schemas.microsoft.com/office/powerpoint/2010/main" val="22177428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1FB01D8-E344-8E4E-A57A-6B5812198EA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Abstract Data Types </a:t>
            </a:r>
            <a:r>
              <a:rPr lang="en-US" dirty="0">
                <a:highlight>
                  <a:srgbClr val="D6D2C4"/>
                </a:highlight>
              </a:rPr>
              <a:t>(what)</a:t>
            </a:r>
            <a:r>
              <a:rPr lang="en-US" dirty="0"/>
              <a:t>: </a:t>
            </a:r>
          </a:p>
          <a:p>
            <a:pPr marL="685800" lvl="1" indent="-342900">
              <a:buFont typeface="Courier New" panose="02070309020205020404" pitchFamily="49" charset="0"/>
              <a:buChar char="o"/>
            </a:pPr>
            <a:r>
              <a:rPr lang="en-US" sz="2000" dirty="0"/>
              <a:t>way of classifying data structures based on behavior they provide</a:t>
            </a:r>
          </a:p>
          <a:p>
            <a:pPr marL="685800" lvl="1" indent="-342900">
              <a:buFont typeface="Courier New" panose="02070309020205020404" pitchFamily="49" charset="0"/>
              <a:buChar char="o"/>
            </a:pPr>
            <a:r>
              <a:rPr lang="en-US" sz="2000" dirty="0"/>
              <a:t>point of view of a user</a:t>
            </a:r>
          </a:p>
          <a:p>
            <a:r>
              <a:rPr lang="en-US" dirty="0"/>
              <a:t>Data Structures </a:t>
            </a:r>
            <a:r>
              <a:rPr lang="en-US" dirty="0">
                <a:highlight>
                  <a:srgbClr val="D6D2C4"/>
                </a:highlight>
              </a:rPr>
              <a:t>(how): </a:t>
            </a:r>
          </a:p>
          <a:p>
            <a:pPr marL="685800" lvl="1" indent="-342900">
              <a:buFont typeface="Courier New" panose="02070309020205020404" pitchFamily="49" charset="0"/>
              <a:buChar char="o"/>
            </a:pPr>
            <a:r>
              <a:rPr lang="en-US" sz="2000" dirty="0"/>
              <a:t>concrete representations of data</a:t>
            </a:r>
          </a:p>
          <a:p>
            <a:pPr marL="685800" lvl="1" indent="-342900">
              <a:buFont typeface="Courier New" panose="02070309020205020404" pitchFamily="49" charset="0"/>
              <a:buChar char="o"/>
            </a:pPr>
            <a:r>
              <a:rPr lang="en-US" sz="2000" dirty="0"/>
              <a:t>point of view of an implementer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0605538-CD50-2645-AF61-670D290DE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ADTs vs DATA STRUCTURES</a:t>
            </a:r>
          </a:p>
        </p:txBody>
      </p:sp>
    </p:spTree>
    <p:extLst>
      <p:ext uri="{BB962C8B-B14F-4D97-AF65-F5344CB8AC3E}">
        <p14:creationId xmlns:p14="http://schemas.microsoft.com/office/powerpoint/2010/main" val="9658130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97470B7-6000-6C4E-8B59-36948B2F6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ADTs vs DATA STRUCTURES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BEECCDC-2E61-CE49-95BC-135C96EB6C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6417032"/>
              </p:ext>
            </p:extLst>
          </p:nvPr>
        </p:nvGraphicFramePr>
        <p:xfrm>
          <a:off x="392552" y="1389707"/>
          <a:ext cx="8131686" cy="33286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0562">
                  <a:extLst>
                    <a:ext uri="{9D8B030D-6E8A-4147-A177-3AD203B41FA5}">
                      <a16:colId xmlns:a16="http://schemas.microsoft.com/office/drawing/2014/main" val="781480518"/>
                    </a:ext>
                  </a:extLst>
                </a:gridCol>
                <a:gridCol w="2710562">
                  <a:extLst>
                    <a:ext uri="{9D8B030D-6E8A-4147-A177-3AD203B41FA5}">
                      <a16:colId xmlns:a16="http://schemas.microsoft.com/office/drawing/2014/main" val="2289478400"/>
                    </a:ext>
                  </a:extLst>
                </a:gridCol>
                <a:gridCol w="2710562">
                  <a:extLst>
                    <a:ext uri="{9D8B030D-6E8A-4147-A177-3AD203B41FA5}">
                      <a16:colId xmlns:a16="http://schemas.microsoft.com/office/drawing/2014/main" val="2606120354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Common Implementations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Examples in Java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5533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Array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>
                        <a:alpha val="5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array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&lt;type&gt;[]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85417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>
                        <a:alpha val="5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array, linked list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ArrayList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LinkedList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6171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Queue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>
                        <a:alpha val="5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array, linked list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LinkedList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3265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Stack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>
                        <a:alpha val="5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array, linked list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Stack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1397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Set &amp; Bag (multi-set)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>
                        <a:alpha val="5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hash table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HashSet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4901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Associative Array (Map, Dictionary)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>
                        <a:alpha val="5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hash table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HashMap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6976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Priority Queue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>
                        <a:alpha val="5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heap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PriorityQueue</a:t>
                      </a:r>
                      <a:endParaRPr lang="en-US" sz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8480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>
                        <a:alpha val="5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37839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01735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0F0ED07-FB17-D841-B39F-0A7ADB5AE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ADT IMPLEMENTATION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A92F95F-3A86-244C-8F2F-8E691E374E7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Linear ADTs are commonly implemented in one of two ways: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dirty="0"/>
              <a:t>Array data structure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US" dirty="0"/>
              <a:t>Linked List data structure</a:t>
            </a:r>
          </a:p>
          <a:p>
            <a:pPr marL="342900" indent="-342900">
              <a:buFont typeface="Wingdings" pitchFamily="2" charset="2"/>
              <a:buChar char="§"/>
            </a:pPr>
            <a:endParaRPr lang="en-US" dirty="0"/>
          </a:p>
          <a:p>
            <a:r>
              <a:rPr lang="en-US" dirty="0"/>
              <a:t>Time complexity for the same ADT may vary substantially depending on its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15344504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0F0ED07-FB17-D841-B39F-0A7ADB5AE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ADT IMPLEMENTATION: ARRAY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A92F95F-3A86-244C-8F2F-8E691E374E7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An array data structure is a linear data structure used to store </a:t>
            </a:r>
            <a:r>
              <a:rPr lang="en-US" dirty="0">
                <a:highlight>
                  <a:srgbClr val="D6D2C4"/>
                </a:highlight>
              </a:rPr>
              <a:t>homogeneous items in contiguous memory</a:t>
            </a:r>
            <a:r>
              <a:rPr lang="en-US" dirty="0"/>
              <a:t>. It is often used to implement Arrays (ADT) and Stacks.</a:t>
            </a:r>
          </a:p>
          <a:p>
            <a:endParaRPr lang="en-US" dirty="0"/>
          </a:p>
          <a:p>
            <a:r>
              <a:rPr lang="en-US" b="0" dirty="0"/>
              <a:t>For Arrays (ADT):</a:t>
            </a:r>
            <a:endParaRPr lang="en-US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grpSp>
        <p:nvGrpSpPr>
          <p:cNvPr id="4" name="Group 3" descr="graphical representation of  a array">
            <a:extLst>
              <a:ext uri="{FF2B5EF4-FFF2-40B4-BE49-F238E27FC236}">
                <a16:creationId xmlns:a16="http://schemas.microsoft.com/office/drawing/2014/main" id="{810F9293-7D4C-7C49-B65E-0E5EAF275812}"/>
              </a:ext>
            </a:extLst>
          </p:cNvPr>
          <p:cNvGrpSpPr/>
          <p:nvPr/>
        </p:nvGrpSpPr>
        <p:grpSpPr>
          <a:xfrm>
            <a:off x="287999" y="3572931"/>
            <a:ext cx="3618964" cy="1397129"/>
            <a:chOff x="727358" y="2324854"/>
            <a:chExt cx="3618964" cy="1397129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37DF45B-A762-BC42-8BDB-41F94C65002F}"/>
                </a:ext>
              </a:extLst>
            </p:cNvPr>
            <p:cNvGrpSpPr>
              <a:grpSpLocks/>
            </p:cNvGrpSpPr>
            <p:nvPr/>
          </p:nvGrpSpPr>
          <p:grpSpPr>
            <a:xfrm>
              <a:off x="1036321" y="2407921"/>
              <a:ext cx="2924251" cy="729691"/>
              <a:chOff x="1036320" y="2407920"/>
              <a:chExt cx="4873752" cy="1216152"/>
            </a:xfrm>
          </p:grpSpPr>
          <p:sp>
            <p:nvSpPr>
              <p:cNvPr id="16" name="Cube 15">
                <a:extLst>
                  <a:ext uri="{FF2B5EF4-FFF2-40B4-BE49-F238E27FC236}">
                    <a16:creationId xmlns:a16="http://schemas.microsoft.com/office/drawing/2014/main" id="{8853AD39-023E-F940-8014-8F5AC2A53C1A}"/>
                  </a:ext>
                </a:extLst>
              </p:cNvPr>
              <p:cNvSpPr/>
              <p:nvPr/>
            </p:nvSpPr>
            <p:spPr>
              <a:xfrm>
                <a:off x="1036320" y="2407920"/>
                <a:ext cx="1216152" cy="1216152"/>
              </a:xfrm>
              <a:prstGeom prst="cube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Cube 16">
                <a:extLst>
                  <a:ext uri="{FF2B5EF4-FFF2-40B4-BE49-F238E27FC236}">
                    <a16:creationId xmlns:a16="http://schemas.microsoft.com/office/drawing/2014/main" id="{579DD145-DDA9-C648-BAAA-0A11E4AE875B}"/>
                  </a:ext>
                </a:extLst>
              </p:cNvPr>
              <p:cNvSpPr/>
              <p:nvPr/>
            </p:nvSpPr>
            <p:spPr>
              <a:xfrm>
                <a:off x="1950720" y="2407920"/>
                <a:ext cx="1216152" cy="1216152"/>
              </a:xfrm>
              <a:prstGeom prst="cube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Cube 17">
                <a:extLst>
                  <a:ext uri="{FF2B5EF4-FFF2-40B4-BE49-F238E27FC236}">
                    <a16:creationId xmlns:a16="http://schemas.microsoft.com/office/drawing/2014/main" id="{E9A0494C-D753-EB49-8651-DF0EDD9D03B5}"/>
                  </a:ext>
                </a:extLst>
              </p:cNvPr>
              <p:cNvSpPr/>
              <p:nvPr/>
            </p:nvSpPr>
            <p:spPr>
              <a:xfrm>
                <a:off x="2865120" y="2407920"/>
                <a:ext cx="1216152" cy="1216152"/>
              </a:xfrm>
              <a:prstGeom prst="cube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Cube 18">
                <a:extLst>
                  <a:ext uri="{FF2B5EF4-FFF2-40B4-BE49-F238E27FC236}">
                    <a16:creationId xmlns:a16="http://schemas.microsoft.com/office/drawing/2014/main" id="{A9A09156-2936-FF4D-8750-E8D1892D9486}"/>
                  </a:ext>
                </a:extLst>
              </p:cNvPr>
              <p:cNvSpPr/>
              <p:nvPr/>
            </p:nvSpPr>
            <p:spPr>
              <a:xfrm>
                <a:off x="3779520" y="2407920"/>
                <a:ext cx="1216152" cy="1216152"/>
              </a:xfrm>
              <a:prstGeom prst="cube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Cube 19">
                <a:extLst>
                  <a:ext uri="{FF2B5EF4-FFF2-40B4-BE49-F238E27FC236}">
                    <a16:creationId xmlns:a16="http://schemas.microsoft.com/office/drawing/2014/main" id="{31317E92-5CDF-684F-BB01-FF4B11124948}"/>
                  </a:ext>
                </a:extLst>
              </p:cNvPr>
              <p:cNvSpPr/>
              <p:nvPr/>
            </p:nvSpPr>
            <p:spPr>
              <a:xfrm>
                <a:off x="4693920" y="2407920"/>
                <a:ext cx="1216152" cy="1216152"/>
              </a:xfrm>
              <a:prstGeom prst="cube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39892BB-6A0E-A942-9D40-E43905B8C506}"/>
                </a:ext>
              </a:extLst>
            </p:cNvPr>
            <p:cNvSpPr txBox="1"/>
            <p:nvPr/>
          </p:nvSpPr>
          <p:spPr>
            <a:xfrm>
              <a:off x="4161591" y="2324854"/>
              <a:ext cx="18473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CEDC700-006E-A44E-BC7C-DDFEC3266313}"/>
                </a:ext>
              </a:extLst>
            </p:cNvPr>
            <p:cNvSpPr txBox="1"/>
            <p:nvPr/>
          </p:nvSpPr>
          <p:spPr>
            <a:xfrm>
              <a:off x="727358" y="3414206"/>
              <a:ext cx="140775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base address b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11437233-CC84-A043-81BF-7E31AD6B4A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5796" y="3137612"/>
              <a:ext cx="0" cy="32014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62D1FAF8-82BD-3948-BB55-1FA7DDD780FC}"/>
              </a:ext>
            </a:extLst>
          </p:cNvPr>
          <p:cNvSpPr txBox="1"/>
          <p:nvPr/>
        </p:nvSpPr>
        <p:spPr>
          <a:xfrm>
            <a:off x="3906963" y="2713360"/>
            <a:ext cx="32464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memory address m of array element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 = b+(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*size)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A84F3059-3987-A54B-A961-D0230AC409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1172260"/>
              </p:ext>
            </p:extLst>
          </p:nvPr>
        </p:nvGraphicFramePr>
        <p:xfrm>
          <a:off x="3999590" y="3431920"/>
          <a:ext cx="324639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3199">
                  <a:extLst>
                    <a:ext uri="{9D8B030D-6E8A-4147-A177-3AD203B41FA5}">
                      <a16:colId xmlns:a16="http://schemas.microsoft.com/office/drawing/2014/main" val="2945187315"/>
                    </a:ext>
                  </a:extLst>
                </a:gridCol>
                <a:gridCol w="1623199">
                  <a:extLst>
                    <a:ext uri="{9D8B030D-6E8A-4147-A177-3AD203B41FA5}">
                      <a16:colId xmlns:a16="http://schemas.microsoft.com/office/drawing/2014/main" val="186877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Complexity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5756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O(1)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2606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O(1)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8784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90816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0F0ED07-FB17-D841-B39F-0A7ADB5AE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ADT IMPLEMENTATION: ARRAY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A92F95F-3A86-244C-8F2F-8E691E374E7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An array data structure is a linear data structure used to store </a:t>
            </a:r>
            <a:r>
              <a:rPr lang="en-US" dirty="0">
                <a:highlight>
                  <a:srgbClr val="D6D2C4"/>
                </a:highlight>
              </a:rPr>
              <a:t>homogeneous items in contiguous memory</a:t>
            </a:r>
            <a:r>
              <a:rPr lang="en-US" dirty="0"/>
              <a:t>. It is often used to implement Arrays (ADT) and Stacks.</a:t>
            </a:r>
          </a:p>
          <a:p>
            <a:endParaRPr lang="en-US" dirty="0"/>
          </a:p>
          <a:p>
            <a:r>
              <a:rPr lang="en-US" b="0" dirty="0"/>
              <a:t>For Stacks (ADT):</a:t>
            </a:r>
            <a:endParaRPr lang="en-US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A84F3059-3987-A54B-A961-D0230AC409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0295624"/>
              </p:ext>
            </p:extLst>
          </p:nvPr>
        </p:nvGraphicFramePr>
        <p:xfrm>
          <a:off x="5552663" y="3122473"/>
          <a:ext cx="32464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3200">
                  <a:extLst>
                    <a:ext uri="{9D8B030D-6E8A-4147-A177-3AD203B41FA5}">
                      <a16:colId xmlns:a16="http://schemas.microsoft.com/office/drawing/2014/main" val="2945187315"/>
                    </a:ext>
                  </a:extLst>
                </a:gridCol>
                <a:gridCol w="1623200">
                  <a:extLst>
                    <a:ext uri="{9D8B030D-6E8A-4147-A177-3AD203B41FA5}">
                      <a16:colId xmlns:a16="http://schemas.microsoft.com/office/drawing/2014/main" val="186877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Complexity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5756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push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O(1)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2606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O(1)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8784011"/>
                  </a:ext>
                </a:extLst>
              </a:tr>
            </a:tbl>
          </a:graphicData>
        </a:graphic>
      </p:graphicFrame>
      <p:grpSp>
        <p:nvGrpSpPr>
          <p:cNvPr id="4" name="Group 3" descr="graphical representation of  a array">
            <a:extLst>
              <a:ext uri="{FF2B5EF4-FFF2-40B4-BE49-F238E27FC236}">
                <a16:creationId xmlns:a16="http://schemas.microsoft.com/office/drawing/2014/main" id="{6E5E59BC-7A85-3C4C-933D-1699DD525479}"/>
              </a:ext>
            </a:extLst>
          </p:cNvPr>
          <p:cNvGrpSpPr/>
          <p:nvPr/>
        </p:nvGrpSpPr>
        <p:grpSpPr>
          <a:xfrm>
            <a:off x="386115" y="3417101"/>
            <a:ext cx="4871264" cy="1221017"/>
            <a:chOff x="386115" y="3417101"/>
            <a:chExt cx="4871264" cy="1221017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0561D4FC-D957-F24C-A6AE-640F0E442A5A}"/>
                </a:ext>
              </a:extLst>
            </p:cNvPr>
            <p:cNvGrpSpPr/>
            <p:nvPr/>
          </p:nvGrpSpPr>
          <p:grpSpPr>
            <a:xfrm>
              <a:off x="386115" y="3417101"/>
              <a:ext cx="2946365" cy="1221017"/>
              <a:chOff x="386080" y="2068795"/>
              <a:chExt cx="2946365" cy="1221017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3F86A8CE-029F-EC4B-8C2A-96404EAEF6F2}"/>
                  </a:ext>
                </a:extLst>
              </p:cNvPr>
              <p:cNvGrpSpPr/>
              <p:nvPr/>
            </p:nvGrpSpPr>
            <p:grpSpPr>
              <a:xfrm>
                <a:off x="386080" y="2068795"/>
                <a:ext cx="2436876" cy="608076"/>
                <a:chOff x="477520" y="2357120"/>
                <a:chExt cx="3652520" cy="914400"/>
              </a:xfrm>
            </p:grpSpPr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E0FD0B93-BB07-5E42-B23C-C8CB82279C0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77520" y="2357120"/>
                  <a:ext cx="914400" cy="9144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7401C1BC-63C2-7043-9092-74B2F257E63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1920" y="2357120"/>
                  <a:ext cx="914400" cy="9144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602E96CF-7BC5-E44B-9714-DAF4D529DF1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306320" y="2357120"/>
                  <a:ext cx="914400" cy="9144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53A6FB4C-209A-9A4E-955E-CB27F70C307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215640" y="2357120"/>
                  <a:ext cx="914400" cy="9144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51AEE00-4FD8-F94A-99DA-5ABDC6A7D8D1}"/>
                  </a:ext>
                </a:extLst>
              </p:cNvPr>
              <p:cNvSpPr txBox="1"/>
              <p:nvPr/>
            </p:nvSpPr>
            <p:spPr>
              <a:xfrm>
                <a:off x="2319933" y="2895868"/>
                <a:ext cx="39786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top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5943424-650A-734C-984B-BD6819A4BE48}"/>
                  </a:ext>
                </a:extLst>
              </p:cNvPr>
              <p:cNvSpPr txBox="1"/>
              <p:nvPr/>
            </p:nvSpPr>
            <p:spPr>
              <a:xfrm>
                <a:off x="441871" y="2919135"/>
                <a:ext cx="65434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bottom</a:t>
                </a:r>
              </a:p>
            </p:txBody>
          </p: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058C4C8C-B4C1-B145-B2DD-C8A0B723ACB4}"/>
                  </a:ext>
                </a:extLst>
              </p:cNvPr>
              <p:cNvCxnSpPr>
                <a:cxnSpLocks/>
                <a:endCxn id="31" idx="2"/>
              </p:cNvCxnSpPr>
              <p:nvPr/>
            </p:nvCxnSpPr>
            <p:spPr>
              <a:xfrm flipV="1">
                <a:off x="691113" y="2676871"/>
                <a:ext cx="0" cy="306324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40941078-9C51-8B47-9C7C-230215C034C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17923" y="2676871"/>
                <a:ext cx="0" cy="306324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05D81563-8288-A54C-A62E-580F0128D73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17923" y="3289812"/>
                <a:ext cx="814522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43D33206-7445-E343-AEB9-2B02A092A3E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22993" y="3417101"/>
              <a:ext cx="610066" cy="608076"/>
            </a:xfrm>
            <a:prstGeom prst="rect">
              <a:avLst/>
            </a:prstGeom>
            <a:pattFill prst="dkDnDiag">
              <a:fgClr>
                <a:schemeClr val="bg1">
                  <a:lumMod val="50000"/>
                </a:schemeClr>
              </a:fgClr>
              <a:bgClr>
                <a:schemeClr val="bg1"/>
              </a:bgClr>
            </a:patt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3090A59B-3AF0-1F47-B33E-04C691411AC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29670" y="3417101"/>
              <a:ext cx="610066" cy="608076"/>
            </a:xfrm>
            <a:prstGeom prst="rect">
              <a:avLst/>
            </a:prstGeom>
            <a:pattFill prst="dkDnDiag">
              <a:fgClr>
                <a:schemeClr val="bg1">
                  <a:lumMod val="50000"/>
                </a:schemeClr>
              </a:fgClr>
              <a:bgClr>
                <a:schemeClr val="bg1"/>
              </a:bgClr>
            </a:patt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1CA77F77-357C-174E-A68E-6D128E2EAA0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40636" y="3417101"/>
              <a:ext cx="610066" cy="608076"/>
            </a:xfrm>
            <a:prstGeom prst="rect">
              <a:avLst/>
            </a:prstGeom>
            <a:pattFill prst="dkDnDiag">
              <a:fgClr>
                <a:schemeClr val="bg1">
                  <a:lumMod val="50000"/>
                </a:schemeClr>
              </a:fgClr>
              <a:bgClr>
                <a:schemeClr val="bg1"/>
              </a:bgClr>
            </a:patt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ED14186-8238-9B45-AA95-B819F2DFBD8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47313" y="3417101"/>
              <a:ext cx="610066" cy="608076"/>
            </a:xfrm>
            <a:prstGeom prst="rect">
              <a:avLst/>
            </a:prstGeom>
            <a:pattFill prst="dkDnDiag">
              <a:fgClr>
                <a:schemeClr val="bg1">
                  <a:lumMod val="50000"/>
                </a:schemeClr>
              </a:fgClr>
              <a:bgClr>
                <a:schemeClr val="bg1"/>
              </a:bgClr>
            </a:patt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849396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0F0ED07-FB17-D841-B39F-0A7ADB5AE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ADT IMPLEMENTATION: ARRAY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A92F95F-3A86-244C-8F2F-8E691E374E7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An array data structure is a linear data structure used to store </a:t>
            </a:r>
            <a:r>
              <a:rPr lang="en-US" dirty="0">
                <a:highlight>
                  <a:srgbClr val="D6D2C4"/>
                </a:highlight>
              </a:rPr>
              <a:t>homogeneous items in contiguous memory</a:t>
            </a:r>
            <a:r>
              <a:rPr lang="en-US" dirty="0"/>
              <a:t>. It is often used to implement Arrays (ADT) and Stacks.</a:t>
            </a:r>
          </a:p>
          <a:p>
            <a:endParaRPr lang="en-US" dirty="0"/>
          </a:p>
          <a:p>
            <a:r>
              <a:rPr lang="en-US" b="0" dirty="0"/>
              <a:t>For Queues (ADT)?</a:t>
            </a:r>
            <a:endParaRPr lang="en-US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grpSp>
        <p:nvGrpSpPr>
          <p:cNvPr id="21" name="Group 20" descr="graphical representation of  a array">
            <a:extLst>
              <a:ext uri="{FF2B5EF4-FFF2-40B4-BE49-F238E27FC236}">
                <a16:creationId xmlns:a16="http://schemas.microsoft.com/office/drawing/2014/main" id="{0561D4FC-D957-F24C-A6AE-640F0E442A5A}"/>
              </a:ext>
            </a:extLst>
          </p:cNvPr>
          <p:cNvGrpSpPr/>
          <p:nvPr/>
        </p:nvGrpSpPr>
        <p:grpSpPr>
          <a:xfrm>
            <a:off x="344937" y="3033659"/>
            <a:ext cx="2910402" cy="1127339"/>
            <a:chOff x="386080" y="2068795"/>
            <a:chExt cx="2910402" cy="1127339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3F86A8CE-029F-EC4B-8C2A-96404EAEF6F2}"/>
                </a:ext>
              </a:extLst>
            </p:cNvPr>
            <p:cNvGrpSpPr/>
            <p:nvPr/>
          </p:nvGrpSpPr>
          <p:grpSpPr>
            <a:xfrm>
              <a:off x="386080" y="2068795"/>
              <a:ext cx="2436876" cy="608076"/>
              <a:chOff x="477520" y="2357120"/>
              <a:chExt cx="3652520" cy="914400"/>
            </a:xfrm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E0FD0B93-BB07-5E42-B23C-C8CB82279C0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77520" y="2357120"/>
                <a:ext cx="914400" cy="9144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7401C1BC-63C2-7043-9092-74B2F257E63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391920" y="2357120"/>
                <a:ext cx="914400" cy="9144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602E96CF-7BC5-E44B-9714-DAF4D529DF1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306320" y="2357120"/>
                <a:ext cx="914400" cy="9144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53A6FB4C-209A-9A4E-955E-CB27F70C307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15640" y="2357120"/>
                <a:ext cx="914400" cy="9144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51AEE00-4FD8-F94A-99DA-5ABDC6A7D8D1}"/>
                </a:ext>
              </a:extLst>
            </p:cNvPr>
            <p:cNvSpPr txBox="1"/>
            <p:nvPr/>
          </p:nvSpPr>
          <p:spPr>
            <a:xfrm>
              <a:off x="2319933" y="2895868"/>
              <a:ext cx="97654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head (read)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5943424-650A-734C-984B-BD6819A4BE48}"/>
                </a:ext>
              </a:extLst>
            </p:cNvPr>
            <p:cNvSpPr txBox="1"/>
            <p:nvPr/>
          </p:nvSpPr>
          <p:spPr>
            <a:xfrm>
              <a:off x="441871" y="2919135"/>
              <a:ext cx="84991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tail (write)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058C4C8C-B4C1-B145-B2DD-C8A0B723ACB4}"/>
                </a:ext>
              </a:extLst>
            </p:cNvPr>
            <p:cNvCxnSpPr>
              <a:cxnSpLocks/>
              <a:endCxn id="31" idx="2"/>
            </p:cNvCxnSpPr>
            <p:nvPr/>
          </p:nvCxnSpPr>
          <p:spPr>
            <a:xfrm flipV="1">
              <a:off x="691113" y="2676871"/>
              <a:ext cx="0" cy="30632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40941078-9C51-8B47-9C7C-230215C034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17923" y="2676871"/>
              <a:ext cx="0" cy="30632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821387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0F0ED07-FB17-D841-B39F-0A7ADB5AE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ADT IMPLEMENTATION: ARRAY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A92F95F-3A86-244C-8F2F-8E691E374E7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An array data structure is a linear data structure used to store </a:t>
            </a:r>
            <a:r>
              <a:rPr lang="en-US" dirty="0">
                <a:highlight>
                  <a:srgbClr val="D6D2C4"/>
                </a:highlight>
              </a:rPr>
              <a:t>homogeneous items in contiguous memory</a:t>
            </a:r>
            <a:r>
              <a:rPr lang="en-US" dirty="0"/>
              <a:t>. It is often used to implement Arrays (ADT) and Stacks.</a:t>
            </a:r>
          </a:p>
          <a:p>
            <a:endParaRPr lang="en-US" dirty="0"/>
          </a:p>
          <a:p>
            <a:r>
              <a:rPr lang="en-US" b="0" dirty="0"/>
              <a:t>For Queues (ADT)?</a:t>
            </a:r>
            <a:endParaRPr lang="en-US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A84F3059-3987-A54B-A961-D0230AC409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1629136"/>
              </p:ext>
            </p:extLst>
          </p:nvPr>
        </p:nvGraphicFramePr>
        <p:xfrm>
          <a:off x="5552663" y="3122473"/>
          <a:ext cx="32464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3200">
                  <a:extLst>
                    <a:ext uri="{9D8B030D-6E8A-4147-A177-3AD203B41FA5}">
                      <a16:colId xmlns:a16="http://schemas.microsoft.com/office/drawing/2014/main" val="2945187315"/>
                    </a:ext>
                  </a:extLst>
                </a:gridCol>
                <a:gridCol w="1623200">
                  <a:extLst>
                    <a:ext uri="{9D8B030D-6E8A-4147-A177-3AD203B41FA5}">
                      <a16:colId xmlns:a16="http://schemas.microsoft.com/office/drawing/2014/main" val="186877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Complexity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5756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push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O(1)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2606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O(1)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8784011"/>
                  </a:ext>
                </a:extLst>
              </a:tr>
            </a:tbl>
          </a:graphicData>
        </a:graphic>
      </p:graphicFrame>
      <p:grpSp>
        <p:nvGrpSpPr>
          <p:cNvPr id="6" name="Group 5" descr="graphical representation of  a array">
            <a:extLst>
              <a:ext uri="{FF2B5EF4-FFF2-40B4-BE49-F238E27FC236}">
                <a16:creationId xmlns:a16="http://schemas.microsoft.com/office/drawing/2014/main" id="{76F39B9A-2BA4-3748-8D0A-9A1EFB3CCAE5}"/>
              </a:ext>
            </a:extLst>
          </p:cNvPr>
          <p:cNvGrpSpPr/>
          <p:nvPr/>
        </p:nvGrpSpPr>
        <p:grpSpPr>
          <a:xfrm>
            <a:off x="400728" y="3118644"/>
            <a:ext cx="4978889" cy="1393348"/>
            <a:chOff x="400728" y="3118644"/>
            <a:chExt cx="4978889" cy="1393348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51AEE00-4FD8-F94A-99DA-5ABDC6A7D8D1}"/>
                </a:ext>
              </a:extLst>
            </p:cNvPr>
            <p:cNvSpPr txBox="1"/>
            <p:nvPr/>
          </p:nvSpPr>
          <p:spPr>
            <a:xfrm>
              <a:off x="4403068" y="4234993"/>
              <a:ext cx="97654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head (read)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5943424-650A-734C-984B-BD6819A4BE48}"/>
                </a:ext>
              </a:extLst>
            </p:cNvPr>
            <p:cNvSpPr txBox="1"/>
            <p:nvPr/>
          </p:nvSpPr>
          <p:spPr>
            <a:xfrm>
              <a:off x="4403068" y="4068578"/>
              <a:ext cx="84991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tail (write)</a:t>
              </a: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40941078-9C51-8B47-9C7C-230215C034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75190" y="3744487"/>
              <a:ext cx="0" cy="30632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963CD33-7E93-BB46-BE7D-8E09BF38BD90}"/>
                </a:ext>
              </a:extLst>
            </p:cNvPr>
            <p:cNvGrpSpPr/>
            <p:nvPr/>
          </p:nvGrpSpPr>
          <p:grpSpPr>
            <a:xfrm>
              <a:off x="400728" y="3118644"/>
              <a:ext cx="4272340" cy="608076"/>
              <a:chOff x="128178" y="3004365"/>
              <a:chExt cx="4272340" cy="608076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4ED334F3-247F-F344-97DD-860409405A52}"/>
                  </a:ext>
                </a:extLst>
              </p:cNvPr>
              <p:cNvGrpSpPr/>
              <p:nvPr/>
            </p:nvGrpSpPr>
            <p:grpSpPr>
              <a:xfrm>
                <a:off x="2572809" y="3004365"/>
                <a:ext cx="1827709" cy="608076"/>
                <a:chOff x="2822993" y="3417101"/>
                <a:chExt cx="1827709" cy="608076"/>
              </a:xfrm>
            </p:grpSpPr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43D33206-7445-E343-AEB9-2B02A092A3E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822993" y="3417101"/>
                  <a:ext cx="610066" cy="608076"/>
                </a:xfrm>
                <a:prstGeom prst="rect">
                  <a:avLst/>
                </a:prstGeom>
                <a:pattFill prst="dkDnDiag">
                  <a:fgClr>
                    <a:schemeClr val="bg1">
                      <a:lumMod val="50000"/>
                    </a:schemeClr>
                  </a:fgClr>
                  <a:bgClr>
                    <a:schemeClr val="bg1"/>
                  </a:bgClr>
                </a:patt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3090A59B-3AF0-1F47-B33E-04C691411AC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429670" y="3417101"/>
                  <a:ext cx="610066" cy="608076"/>
                </a:xfrm>
                <a:prstGeom prst="rect">
                  <a:avLst/>
                </a:prstGeom>
                <a:pattFill prst="dkDnDiag">
                  <a:fgClr>
                    <a:schemeClr val="bg1">
                      <a:lumMod val="50000"/>
                    </a:schemeClr>
                  </a:fgClr>
                  <a:bgClr>
                    <a:schemeClr val="bg1"/>
                  </a:bgClr>
                </a:patt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1CA77F77-357C-174E-A68E-6D128E2EAA0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040636" y="3417101"/>
                  <a:ext cx="610066" cy="608076"/>
                </a:xfrm>
                <a:prstGeom prst="rect">
                  <a:avLst/>
                </a:prstGeom>
                <a:pattFill prst="dkDnDiag">
                  <a:fgClr>
                    <a:schemeClr val="bg1">
                      <a:lumMod val="50000"/>
                    </a:schemeClr>
                  </a:fgClr>
                  <a:bgClr>
                    <a:schemeClr val="bg1"/>
                  </a:bgClr>
                </a:patt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254C6704-C0D3-9B40-97D7-57141D69C6B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28178" y="3004365"/>
                <a:ext cx="610066" cy="608076"/>
              </a:xfrm>
              <a:prstGeom prst="rect">
                <a:avLst/>
              </a:prstGeom>
              <a:pattFill prst="dkDnDiag">
                <a:fgClr>
                  <a:schemeClr val="bg1">
                    <a:lumMod val="50000"/>
                  </a:schemeClr>
                </a:fgClr>
                <a:bgClr>
                  <a:schemeClr val="bg1"/>
                </a:bgClr>
              </a:patt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73BC78F7-AA12-124C-B49E-F9EE12F2788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38244" y="3004365"/>
                <a:ext cx="610066" cy="608076"/>
              </a:xfrm>
              <a:prstGeom prst="rect">
                <a:avLst/>
              </a:prstGeom>
              <a:pattFill prst="dkDnDiag">
                <a:fgClr>
                  <a:schemeClr val="bg1">
                    <a:lumMod val="50000"/>
                  </a:schemeClr>
                </a:fgClr>
                <a:bgClr>
                  <a:schemeClr val="bg1"/>
                </a:bgClr>
              </a:patt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ED19E119-7D6A-6C4A-8D06-6B909D4F747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348311" y="3004365"/>
                <a:ext cx="610066" cy="608076"/>
              </a:xfrm>
              <a:prstGeom prst="rect">
                <a:avLst/>
              </a:prstGeom>
              <a:pattFill prst="dkDnDiag">
                <a:fgClr>
                  <a:schemeClr val="bg1">
                    <a:lumMod val="50000"/>
                  </a:schemeClr>
                </a:fgClr>
                <a:bgClr>
                  <a:schemeClr val="bg1"/>
                </a:bgClr>
              </a:patt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D012A72E-4E43-314C-A52F-CB2D53D5DEE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65148" y="3004365"/>
                <a:ext cx="610066" cy="608076"/>
              </a:xfrm>
              <a:prstGeom prst="rect">
                <a:avLst/>
              </a:prstGeom>
              <a:pattFill prst="dkDnDiag">
                <a:fgClr>
                  <a:schemeClr val="bg1">
                    <a:lumMod val="50000"/>
                  </a:schemeClr>
                </a:fgClr>
                <a:bgClr>
                  <a:schemeClr val="bg1"/>
                </a:bgClr>
              </a:patt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215883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0F0ED07-FB17-D841-B39F-0A7ADB5AE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ADT IMPLEMENTATION: ARRAY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A92F95F-3A86-244C-8F2F-8E691E374E7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An array data structure is a linear data structure used to store </a:t>
            </a:r>
            <a:r>
              <a:rPr lang="en-US" dirty="0">
                <a:highlight>
                  <a:srgbClr val="D6D2C4"/>
                </a:highlight>
              </a:rPr>
              <a:t>homogeneous items in contiguous memory</a:t>
            </a:r>
            <a:r>
              <a:rPr lang="en-US" dirty="0"/>
              <a:t>. It is often used to implement Arrays (ADT) and Stacks.</a:t>
            </a:r>
          </a:p>
          <a:p>
            <a:endParaRPr lang="en-US" dirty="0"/>
          </a:p>
          <a:p>
            <a:r>
              <a:rPr lang="en-US" b="0" dirty="0"/>
              <a:t>For Queues (ADT)?</a:t>
            </a:r>
            <a:endParaRPr lang="en-US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A84F3059-3987-A54B-A961-D0230AC409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7061511"/>
              </p:ext>
            </p:extLst>
          </p:nvPr>
        </p:nvGraphicFramePr>
        <p:xfrm>
          <a:off x="5552663" y="3122473"/>
          <a:ext cx="32464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3200">
                  <a:extLst>
                    <a:ext uri="{9D8B030D-6E8A-4147-A177-3AD203B41FA5}">
                      <a16:colId xmlns:a16="http://schemas.microsoft.com/office/drawing/2014/main" val="2945187315"/>
                    </a:ext>
                  </a:extLst>
                </a:gridCol>
                <a:gridCol w="1623200">
                  <a:extLst>
                    <a:ext uri="{9D8B030D-6E8A-4147-A177-3AD203B41FA5}">
                      <a16:colId xmlns:a16="http://schemas.microsoft.com/office/drawing/2014/main" val="186877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Complexity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5756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push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O(1)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2606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O(1)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8784011"/>
                  </a:ext>
                </a:extLst>
              </a:tr>
            </a:tbl>
          </a:graphicData>
        </a:graphic>
      </p:graphicFrame>
      <p:grpSp>
        <p:nvGrpSpPr>
          <p:cNvPr id="6" name="Group 5" descr="graphical representation of  a array">
            <a:extLst>
              <a:ext uri="{FF2B5EF4-FFF2-40B4-BE49-F238E27FC236}">
                <a16:creationId xmlns:a16="http://schemas.microsoft.com/office/drawing/2014/main" id="{9EDD38D6-0A65-BF4F-8D51-74DEE0F2081A}"/>
              </a:ext>
            </a:extLst>
          </p:cNvPr>
          <p:cNvGrpSpPr/>
          <p:nvPr/>
        </p:nvGrpSpPr>
        <p:grpSpPr>
          <a:xfrm>
            <a:off x="400728" y="3118644"/>
            <a:ext cx="4760614" cy="1295289"/>
            <a:chOff x="400728" y="3118644"/>
            <a:chExt cx="4760614" cy="1295289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51AEE00-4FD8-F94A-99DA-5ABDC6A7D8D1}"/>
                </a:ext>
              </a:extLst>
            </p:cNvPr>
            <p:cNvSpPr txBox="1"/>
            <p:nvPr/>
          </p:nvSpPr>
          <p:spPr>
            <a:xfrm>
              <a:off x="4184793" y="4136934"/>
              <a:ext cx="97654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head (read)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5943424-650A-734C-984B-BD6819A4BE48}"/>
                </a:ext>
              </a:extLst>
            </p:cNvPr>
            <p:cNvSpPr txBox="1"/>
            <p:nvPr/>
          </p:nvSpPr>
          <p:spPr>
            <a:xfrm>
              <a:off x="2725435" y="4127179"/>
              <a:ext cx="84991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tail (write)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058C4C8C-B4C1-B145-B2DD-C8A0B723AC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45359" y="3762254"/>
              <a:ext cx="0" cy="30632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40941078-9C51-8B47-9C7C-230215C034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75190" y="3744487"/>
              <a:ext cx="0" cy="30632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963CD33-7E93-BB46-BE7D-8E09BF38BD90}"/>
                </a:ext>
              </a:extLst>
            </p:cNvPr>
            <p:cNvGrpSpPr/>
            <p:nvPr/>
          </p:nvGrpSpPr>
          <p:grpSpPr>
            <a:xfrm>
              <a:off x="400728" y="3118644"/>
              <a:ext cx="4272340" cy="608076"/>
              <a:chOff x="128178" y="3004365"/>
              <a:chExt cx="4272340" cy="608076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4ED334F3-247F-F344-97DD-860409405A52}"/>
                  </a:ext>
                </a:extLst>
              </p:cNvPr>
              <p:cNvGrpSpPr/>
              <p:nvPr/>
            </p:nvGrpSpPr>
            <p:grpSpPr>
              <a:xfrm>
                <a:off x="2572809" y="3004365"/>
                <a:ext cx="1827709" cy="608076"/>
                <a:chOff x="2822993" y="3417101"/>
                <a:chExt cx="1827709" cy="608076"/>
              </a:xfrm>
            </p:grpSpPr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43D33206-7445-E343-AEB9-2B02A092A3E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822993" y="3417101"/>
                  <a:ext cx="610066" cy="6080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3090A59B-3AF0-1F47-B33E-04C691411AC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429670" y="3417101"/>
                  <a:ext cx="610066" cy="6080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1CA77F77-357C-174E-A68E-6D128E2EAA0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040636" y="3417101"/>
                  <a:ext cx="610066" cy="6080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254C6704-C0D3-9B40-97D7-57141D69C6B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28178" y="3004365"/>
                <a:ext cx="610066" cy="608076"/>
              </a:xfrm>
              <a:prstGeom prst="rect">
                <a:avLst/>
              </a:prstGeom>
              <a:pattFill prst="dkDnDiag">
                <a:fgClr>
                  <a:schemeClr val="bg1">
                    <a:lumMod val="50000"/>
                  </a:schemeClr>
                </a:fgClr>
                <a:bgClr>
                  <a:schemeClr val="bg1"/>
                </a:bgClr>
              </a:patt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73BC78F7-AA12-124C-B49E-F9EE12F2788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38244" y="3004365"/>
                <a:ext cx="610066" cy="608076"/>
              </a:xfrm>
              <a:prstGeom prst="rect">
                <a:avLst/>
              </a:prstGeom>
              <a:pattFill prst="dkDnDiag">
                <a:fgClr>
                  <a:schemeClr val="bg1">
                    <a:lumMod val="50000"/>
                  </a:schemeClr>
                </a:fgClr>
                <a:bgClr>
                  <a:schemeClr val="bg1"/>
                </a:bgClr>
              </a:patt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ED19E119-7D6A-6C4A-8D06-6B909D4F747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348311" y="3004365"/>
                <a:ext cx="610066" cy="608076"/>
              </a:xfrm>
              <a:prstGeom prst="rect">
                <a:avLst/>
              </a:prstGeom>
              <a:pattFill prst="dkDnDiag">
                <a:fgClr>
                  <a:schemeClr val="bg1">
                    <a:lumMod val="50000"/>
                  </a:schemeClr>
                </a:fgClr>
                <a:bgClr>
                  <a:schemeClr val="bg1"/>
                </a:bgClr>
              </a:patt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D012A72E-4E43-314C-A52F-CB2D53D5DEE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65148" y="3004365"/>
                <a:ext cx="610066" cy="608076"/>
              </a:xfrm>
              <a:prstGeom prst="rect">
                <a:avLst/>
              </a:prstGeom>
              <a:pattFill prst="dkDnDiag">
                <a:fgClr>
                  <a:schemeClr val="bg1">
                    <a:lumMod val="50000"/>
                  </a:schemeClr>
                </a:fgClr>
                <a:bgClr>
                  <a:schemeClr val="bg1"/>
                </a:bgClr>
              </a:patt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294845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0F0ED07-FB17-D841-B39F-0A7ADB5AE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ADT IMPLEMENTATION: ARRAY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A92F95F-3A86-244C-8F2F-8E691E374E7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An array data structure is a linear data structure used to store </a:t>
            </a:r>
            <a:r>
              <a:rPr lang="en-US" dirty="0">
                <a:highlight>
                  <a:srgbClr val="D6D2C4"/>
                </a:highlight>
              </a:rPr>
              <a:t>homogeneous items in contiguous memory</a:t>
            </a:r>
            <a:r>
              <a:rPr lang="en-US" dirty="0"/>
              <a:t>. It is often used to implement Arrays (ADT) and Stacks.</a:t>
            </a:r>
          </a:p>
          <a:p>
            <a:endParaRPr lang="en-US" dirty="0"/>
          </a:p>
          <a:p>
            <a:r>
              <a:rPr lang="en-US" b="0" dirty="0"/>
              <a:t>For Queues (ADT)?</a:t>
            </a:r>
            <a:endParaRPr lang="en-US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grpSp>
        <p:nvGrpSpPr>
          <p:cNvPr id="6" name="Group 5" descr="graphical representation of  a array">
            <a:extLst>
              <a:ext uri="{FF2B5EF4-FFF2-40B4-BE49-F238E27FC236}">
                <a16:creationId xmlns:a16="http://schemas.microsoft.com/office/drawing/2014/main" id="{0DE0267B-A7C6-EF42-A2CD-E4643EE5E6AD}"/>
              </a:ext>
            </a:extLst>
          </p:cNvPr>
          <p:cNvGrpSpPr/>
          <p:nvPr/>
        </p:nvGrpSpPr>
        <p:grpSpPr>
          <a:xfrm>
            <a:off x="400728" y="3118644"/>
            <a:ext cx="4382134" cy="1285534"/>
            <a:chOff x="400728" y="3118644"/>
            <a:chExt cx="4382134" cy="1285534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51AEE00-4FD8-F94A-99DA-5ABDC6A7D8D1}"/>
                </a:ext>
              </a:extLst>
            </p:cNvPr>
            <p:cNvSpPr txBox="1"/>
            <p:nvPr/>
          </p:nvSpPr>
          <p:spPr>
            <a:xfrm>
              <a:off x="3806313" y="4127178"/>
              <a:ext cx="97654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head (read)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5943424-650A-734C-984B-BD6819A4BE48}"/>
                </a:ext>
              </a:extLst>
            </p:cNvPr>
            <p:cNvSpPr txBox="1"/>
            <p:nvPr/>
          </p:nvSpPr>
          <p:spPr>
            <a:xfrm>
              <a:off x="2725435" y="4127179"/>
              <a:ext cx="84991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tail (write)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058C4C8C-B4C1-B145-B2DD-C8A0B723AC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45359" y="3762254"/>
              <a:ext cx="0" cy="30632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40941078-9C51-8B47-9C7C-230215C034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62102" y="3726720"/>
              <a:ext cx="0" cy="30632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963CD33-7E93-BB46-BE7D-8E09BF38BD90}"/>
                </a:ext>
              </a:extLst>
            </p:cNvPr>
            <p:cNvGrpSpPr/>
            <p:nvPr/>
          </p:nvGrpSpPr>
          <p:grpSpPr>
            <a:xfrm>
              <a:off x="400728" y="3118644"/>
              <a:ext cx="4272340" cy="608076"/>
              <a:chOff x="128178" y="3004365"/>
              <a:chExt cx="4272340" cy="608076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4ED334F3-247F-F344-97DD-860409405A52}"/>
                  </a:ext>
                </a:extLst>
              </p:cNvPr>
              <p:cNvGrpSpPr/>
              <p:nvPr/>
            </p:nvGrpSpPr>
            <p:grpSpPr>
              <a:xfrm>
                <a:off x="2572809" y="3004365"/>
                <a:ext cx="1827709" cy="608076"/>
                <a:chOff x="2822993" y="3417101"/>
                <a:chExt cx="1827709" cy="608076"/>
              </a:xfrm>
            </p:grpSpPr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43D33206-7445-E343-AEB9-2B02A092A3E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822993" y="3417101"/>
                  <a:ext cx="610066" cy="6080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3090A59B-3AF0-1F47-B33E-04C691411AC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429670" y="3417101"/>
                  <a:ext cx="610066" cy="6080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1CA77F77-357C-174E-A68E-6D128E2EAA0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040636" y="3417101"/>
                  <a:ext cx="610066" cy="608076"/>
                </a:xfrm>
                <a:prstGeom prst="rect">
                  <a:avLst/>
                </a:prstGeom>
                <a:pattFill prst="dkDnDiag">
                  <a:fgClr>
                    <a:schemeClr val="bg1">
                      <a:lumMod val="50000"/>
                    </a:schemeClr>
                  </a:fgClr>
                  <a:bgClr>
                    <a:schemeClr val="bg1"/>
                  </a:bgClr>
                </a:patt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254C6704-C0D3-9B40-97D7-57141D69C6B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28178" y="3004365"/>
                <a:ext cx="610066" cy="608076"/>
              </a:xfrm>
              <a:prstGeom prst="rect">
                <a:avLst/>
              </a:prstGeom>
              <a:pattFill prst="dkDnDiag">
                <a:fgClr>
                  <a:schemeClr val="bg1">
                    <a:lumMod val="50000"/>
                  </a:schemeClr>
                </a:fgClr>
                <a:bgClr>
                  <a:schemeClr val="bg1"/>
                </a:bgClr>
              </a:patt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73BC78F7-AA12-124C-B49E-F9EE12F2788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38244" y="3004365"/>
                <a:ext cx="610066" cy="608076"/>
              </a:xfrm>
              <a:prstGeom prst="rect">
                <a:avLst/>
              </a:prstGeom>
              <a:pattFill prst="dkDnDiag">
                <a:fgClr>
                  <a:schemeClr val="bg1">
                    <a:lumMod val="50000"/>
                  </a:schemeClr>
                </a:fgClr>
                <a:bgClr>
                  <a:schemeClr val="bg1"/>
                </a:bgClr>
              </a:patt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ED19E119-7D6A-6C4A-8D06-6B909D4F747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348311" y="3004365"/>
                <a:ext cx="610066" cy="608076"/>
              </a:xfrm>
              <a:prstGeom prst="rect">
                <a:avLst/>
              </a:prstGeom>
              <a:pattFill prst="dkDnDiag">
                <a:fgClr>
                  <a:schemeClr val="bg1">
                    <a:lumMod val="50000"/>
                  </a:schemeClr>
                </a:fgClr>
                <a:bgClr>
                  <a:schemeClr val="bg1"/>
                </a:bgClr>
              </a:patt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D012A72E-4E43-314C-A52F-CB2D53D5DEE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65148" y="3004365"/>
                <a:ext cx="610066" cy="608076"/>
              </a:xfrm>
              <a:prstGeom prst="rect">
                <a:avLst/>
              </a:prstGeom>
              <a:pattFill prst="dkDnDiag">
                <a:fgClr>
                  <a:schemeClr val="bg1">
                    <a:lumMod val="50000"/>
                  </a:schemeClr>
                </a:fgClr>
                <a:bgClr>
                  <a:schemeClr val="bg1"/>
                </a:bgClr>
              </a:patt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293415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0F0ED07-FB17-D841-B39F-0A7ADB5AE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ADT IMPLEMENTATION: ARRAY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A92F95F-3A86-244C-8F2F-8E691E374E7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An array data structure is a linear data structure used to store </a:t>
            </a:r>
            <a:r>
              <a:rPr lang="en-US" dirty="0">
                <a:highlight>
                  <a:srgbClr val="D6D2C4"/>
                </a:highlight>
              </a:rPr>
              <a:t>homogeneous items in contiguous memory</a:t>
            </a:r>
            <a:r>
              <a:rPr lang="en-US" dirty="0"/>
              <a:t>. It is often used to implement Arrays (ADT) and Stacks.</a:t>
            </a:r>
          </a:p>
          <a:p>
            <a:endParaRPr lang="en-US" dirty="0"/>
          </a:p>
          <a:p>
            <a:r>
              <a:rPr lang="en-US" b="0" dirty="0"/>
              <a:t>For Queues (ADT)?</a:t>
            </a:r>
            <a:endParaRPr lang="en-US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grpSp>
        <p:nvGrpSpPr>
          <p:cNvPr id="6" name="Group 5" descr="graphical representation of  a array">
            <a:extLst>
              <a:ext uri="{FF2B5EF4-FFF2-40B4-BE49-F238E27FC236}">
                <a16:creationId xmlns:a16="http://schemas.microsoft.com/office/drawing/2014/main" id="{723AA1B6-9D27-F741-BD50-B8E0300640CB}"/>
              </a:ext>
            </a:extLst>
          </p:cNvPr>
          <p:cNvGrpSpPr/>
          <p:nvPr/>
        </p:nvGrpSpPr>
        <p:grpSpPr>
          <a:xfrm>
            <a:off x="367084" y="2926550"/>
            <a:ext cx="4717775" cy="2128803"/>
            <a:chOff x="367084" y="2926550"/>
            <a:chExt cx="4717775" cy="2128803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51AEE00-4FD8-F94A-99DA-5ABDC6A7D8D1}"/>
                </a:ext>
              </a:extLst>
            </p:cNvPr>
            <p:cNvSpPr txBox="1"/>
            <p:nvPr/>
          </p:nvSpPr>
          <p:spPr>
            <a:xfrm>
              <a:off x="2237698" y="3662611"/>
              <a:ext cx="97654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head (read)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5943424-650A-734C-984B-BD6819A4BE48}"/>
                </a:ext>
              </a:extLst>
            </p:cNvPr>
            <p:cNvSpPr txBox="1"/>
            <p:nvPr/>
          </p:nvSpPr>
          <p:spPr>
            <a:xfrm>
              <a:off x="400728" y="3651037"/>
              <a:ext cx="84991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tail (write)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058C4C8C-B4C1-B145-B2DD-C8A0B723AC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3226" y="3534626"/>
              <a:ext cx="0" cy="30632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40941078-9C51-8B47-9C7C-230215C034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40196" y="3534626"/>
              <a:ext cx="0" cy="30632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963CD33-7E93-BB46-BE7D-8E09BF38BD90}"/>
                </a:ext>
              </a:extLst>
            </p:cNvPr>
            <p:cNvGrpSpPr/>
            <p:nvPr/>
          </p:nvGrpSpPr>
          <p:grpSpPr>
            <a:xfrm>
              <a:off x="400728" y="2926550"/>
              <a:ext cx="4272340" cy="608076"/>
              <a:chOff x="128178" y="3004365"/>
              <a:chExt cx="4272340" cy="608076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4ED334F3-247F-F344-97DD-860409405A52}"/>
                  </a:ext>
                </a:extLst>
              </p:cNvPr>
              <p:cNvGrpSpPr/>
              <p:nvPr/>
            </p:nvGrpSpPr>
            <p:grpSpPr>
              <a:xfrm>
                <a:off x="2572809" y="3004365"/>
                <a:ext cx="1827709" cy="608076"/>
                <a:chOff x="2822993" y="3417101"/>
                <a:chExt cx="1827709" cy="608076"/>
              </a:xfrm>
            </p:grpSpPr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43D33206-7445-E343-AEB9-2B02A092A3E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822993" y="3417101"/>
                  <a:ext cx="610066" cy="608076"/>
                </a:xfrm>
                <a:prstGeom prst="rect">
                  <a:avLst/>
                </a:prstGeom>
                <a:pattFill prst="dkDnDiag">
                  <a:fgClr>
                    <a:schemeClr val="bg1">
                      <a:lumMod val="50000"/>
                    </a:schemeClr>
                  </a:fgClr>
                  <a:bgClr>
                    <a:schemeClr val="bg1"/>
                  </a:bgClr>
                </a:patt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3090A59B-3AF0-1F47-B33E-04C691411AC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429670" y="3417101"/>
                  <a:ext cx="610066" cy="608076"/>
                </a:xfrm>
                <a:prstGeom prst="rect">
                  <a:avLst/>
                </a:prstGeom>
                <a:pattFill prst="dkDnDiag">
                  <a:fgClr>
                    <a:schemeClr val="bg1">
                      <a:lumMod val="50000"/>
                    </a:schemeClr>
                  </a:fgClr>
                  <a:bgClr>
                    <a:schemeClr val="bg1"/>
                  </a:bgClr>
                </a:patt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1CA77F77-357C-174E-A68E-6D128E2EAA0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040636" y="3417101"/>
                  <a:ext cx="610066" cy="608076"/>
                </a:xfrm>
                <a:prstGeom prst="rect">
                  <a:avLst/>
                </a:prstGeom>
                <a:pattFill prst="dkDnDiag">
                  <a:fgClr>
                    <a:schemeClr val="bg1">
                      <a:lumMod val="50000"/>
                    </a:schemeClr>
                  </a:fgClr>
                  <a:bgClr>
                    <a:schemeClr val="bg1"/>
                  </a:bgClr>
                </a:patt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254C6704-C0D3-9B40-97D7-57141D69C6B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28178" y="3004365"/>
                <a:ext cx="610066" cy="6080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73BC78F7-AA12-124C-B49E-F9EE12F2788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38244" y="3004365"/>
                <a:ext cx="610066" cy="6080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ED19E119-7D6A-6C4A-8D06-6B909D4F747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348311" y="3004365"/>
                <a:ext cx="610066" cy="6080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D012A72E-4E43-314C-A52F-CB2D53D5DEE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65148" y="3004365"/>
                <a:ext cx="610066" cy="608076"/>
              </a:xfrm>
              <a:prstGeom prst="rect">
                <a:avLst/>
              </a:prstGeom>
              <a:pattFill prst="dkDnDiag">
                <a:fgClr>
                  <a:schemeClr val="bg1">
                    <a:lumMod val="50000"/>
                  </a:schemeClr>
                </a:fgClr>
                <a:bgClr>
                  <a:schemeClr val="bg1"/>
                </a:bgClr>
              </a:patt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572668AE-7F7E-4344-A652-0CAE5C035396}"/>
                </a:ext>
              </a:extLst>
            </p:cNvPr>
            <p:cNvGrpSpPr/>
            <p:nvPr/>
          </p:nvGrpSpPr>
          <p:grpSpPr>
            <a:xfrm>
              <a:off x="367084" y="4025554"/>
              <a:ext cx="4717775" cy="1029799"/>
              <a:chOff x="4791094" y="3118644"/>
              <a:chExt cx="4717775" cy="1029799"/>
            </a:xfrm>
          </p:grpSpPr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DDD4D2E7-4C73-B940-9BBA-36DDFB9B29C4}"/>
                  </a:ext>
                </a:extLst>
              </p:cNvPr>
              <p:cNvSpPr txBox="1"/>
              <p:nvPr/>
            </p:nvSpPr>
            <p:spPr>
              <a:xfrm>
                <a:off x="8532320" y="3819519"/>
                <a:ext cx="97654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head (read)</a:t>
                </a: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C3DC1AE0-9728-E640-AE31-9A086101AC9F}"/>
                  </a:ext>
                </a:extLst>
              </p:cNvPr>
              <p:cNvSpPr txBox="1"/>
              <p:nvPr/>
            </p:nvSpPr>
            <p:spPr>
              <a:xfrm>
                <a:off x="7249572" y="3819520"/>
                <a:ext cx="84991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tail (write)</a:t>
                </a:r>
              </a:p>
            </p:txBody>
          </p: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2F038055-DBDA-4645-A581-886D7DED0C5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35725" y="3842119"/>
                <a:ext cx="0" cy="306324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Arrow Connector 67">
                <a:extLst>
                  <a:ext uri="{FF2B5EF4-FFF2-40B4-BE49-F238E27FC236}">
                    <a16:creationId xmlns:a16="http://schemas.microsoft.com/office/drawing/2014/main" id="{ADCCC14E-EE56-B54E-846E-88459F985C6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52468" y="3819520"/>
                <a:ext cx="0" cy="306324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D9AA657D-6000-FE41-A83C-912F361C44EC}"/>
                  </a:ext>
                </a:extLst>
              </p:cNvPr>
              <p:cNvGrpSpPr/>
              <p:nvPr/>
            </p:nvGrpSpPr>
            <p:grpSpPr>
              <a:xfrm>
                <a:off x="4791094" y="3118644"/>
                <a:ext cx="4272340" cy="608076"/>
                <a:chOff x="128178" y="3004365"/>
                <a:chExt cx="4272340" cy="608076"/>
              </a:xfrm>
            </p:grpSpPr>
            <p:grpSp>
              <p:nvGrpSpPr>
                <p:cNvPr id="70" name="Group 69">
                  <a:extLst>
                    <a:ext uri="{FF2B5EF4-FFF2-40B4-BE49-F238E27FC236}">
                      <a16:creationId xmlns:a16="http://schemas.microsoft.com/office/drawing/2014/main" id="{0D1C79F0-FDCC-184F-BDB1-A9885A11FFA7}"/>
                    </a:ext>
                  </a:extLst>
                </p:cNvPr>
                <p:cNvGrpSpPr/>
                <p:nvPr/>
              </p:nvGrpSpPr>
              <p:grpSpPr>
                <a:xfrm>
                  <a:off x="2572809" y="3004365"/>
                  <a:ext cx="1827709" cy="608076"/>
                  <a:chOff x="2822993" y="3417101"/>
                  <a:chExt cx="1827709" cy="608076"/>
                </a:xfrm>
              </p:grpSpPr>
              <p:sp>
                <p:nvSpPr>
                  <p:cNvPr id="75" name="Rectangle 74">
                    <a:extLst>
                      <a:ext uri="{FF2B5EF4-FFF2-40B4-BE49-F238E27FC236}">
                        <a16:creationId xmlns:a16="http://schemas.microsoft.com/office/drawing/2014/main" id="{F293170F-B899-1444-8AE2-7F4BDE247FD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822993" y="3417101"/>
                    <a:ext cx="610066" cy="608076"/>
                  </a:xfrm>
                  <a:prstGeom prst="rect">
                    <a:avLst/>
                  </a:prstGeom>
                  <a:noFill/>
                  <a:ln w="254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6" name="Rectangle 75">
                    <a:extLst>
                      <a:ext uri="{FF2B5EF4-FFF2-40B4-BE49-F238E27FC236}">
                        <a16:creationId xmlns:a16="http://schemas.microsoft.com/office/drawing/2014/main" id="{5B9E97A3-B05B-5641-93D5-2BA018FDC81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429670" y="3417101"/>
                    <a:ext cx="610066" cy="608076"/>
                  </a:xfrm>
                  <a:prstGeom prst="rect">
                    <a:avLst/>
                  </a:prstGeom>
                  <a:noFill/>
                  <a:ln w="254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7" name="Rectangle 76">
                    <a:extLst>
                      <a:ext uri="{FF2B5EF4-FFF2-40B4-BE49-F238E27FC236}">
                        <a16:creationId xmlns:a16="http://schemas.microsoft.com/office/drawing/2014/main" id="{173F926D-B120-FE46-A1CD-87A35C5F5AD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4040636" y="3417101"/>
                    <a:ext cx="610066" cy="608076"/>
                  </a:xfrm>
                  <a:prstGeom prst="rect">
                    <a:avLst/>
                  </a:prstGeom>
                  <a:noFill/>
                  <a:ln w="254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id="{73C44127-DECB-9847-863E-6948DF17CF6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8178" y="3004365"/>
                  <a:ext cx="610066" cy="608076"/>
                </a:xfrm>
                <a:prstGeom prst="rect">
                  <a:avLst/>
                </a:prstGeom>
                <a:pattFill prst="dkDnDiag">
                  <a:fgClr>
                    <a:schemeClr val="bg1">
                      <a:lumMod val="50000"/>
                    </a:schemeClr>
                  </a:fgClr>
                  <a:bgClr>
                    <a:schemeClr val="bg1"/>
                  </a:bgClr>
                </a:patt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2" name="Rectangle 71">
                  <a:extLst>
                    <a:ext uri="{FF2B5EF4-FFF2-40B4-BE49-F238E27FC236}">
                      <a16:creationId xmlns:a16="http://schemas.microsoft.com/office/drawing/2014/main" id="{485DB334-80B8-B249-9713-B48141155D7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38244" y="3004365"/>
                  <a:ext cx="610066" cy="608076"/>
                </a:xfrm>
                <a:prstGeom prst="rect">
                  <a:avLst/>
                </a:prstGeom>
                <a:pattFill prst="dkDnDiag">
                  <a:fgClr>
                    <a:schemeClr val="bg1">
                      <a:lumMod val="50000"/>
                    </a:schemeClr>
                  </a:fgClr>
                  <a:bgClr>
                    <a:schemeClr val="bg1"/>
                  </a:bgClr>
                </a:patt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3" name="Rectangle 72">
                  <a:extLst>
                    <a:ext uri="{FF2B5EF4-FFF2-40B4-BE49-F238E27FC236}">
                      <a16:creationId xmlns:a16="http://schemas.microsoft.com/office/drawing/2014/main" id="{F58837F8-10C4-4242-9E6D-25CD4893B07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48311" y="3004365"/>
                  <a:ext cx="610066" cy="608076"/>
                </a:xfrm>
                <a:prstGeom prst="rect">
                  <a:avLst/>
                </a:prstGeom>
                <a:pattFill prst="dkDnDiag">
                  <a:fgClr>
                    <a:schemeClr val="bg1">
                      <a:lumMod val="50000"/>
                    </a:schemeClr>
                  </a:fgClr>
                  <a:bgClr>
                    <a:schemeClr val="bg1"/>
                  </a:bgClr>
                </a:patt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4" name="Rectangle 73">
                  <a:extLst>
                    <a:ext uri="{FF2B5EF4-FFF2-40B4-BE49-F238E27FC236}">
                      <a16:creationId xmlns:a16="http://schemas.microsoft.com/office/drawing/2014/main" id="{666F009C-1630-7441-A141-1D0CD655D40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965148" y="3004365"/>
                  <a:ext cx="610066" cy="608076"/>
                </a:xfrm>
                <a:prstGeom prst="rect">
                  <a:avLst/>
                </a:prstGeom>
                <a:pattFill prst="dkDnDiag">
                  <a:fgClr>
                    <a:schemeClr val="bg1">
                      <a:lumMod val="50000"/>
                    </a:schemeClr>
                  </a:fgClr>
                  <a:bgClr>
                    <a:schemeClr val="bg1"/>
                  </a:bgClr>
                </a:patt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2596241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0F0ED07-FB17-D841-B39F-0A7ADB5AE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ADT IMPLEMENTATION: ARRAY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A92F95F-3A86-244C-8F2F-8E691E374E7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An array data structure is a linear data structure used to store </a:t>
            </a:r>
            <a:r>
              <a:rPr lang="en-US" dirty="0">
                <a:highlight>
                  <a:srgbClr val="D6D2C4"/>
                </a:highlight>
              </a:rPr>
              <a:t>homogeneous items in contiguous memory</a:t>
            </a:r>
            <a:r>
              <a:rPr lang="en-US" dirty="0"/>
              <a:t>. It is often used to implement Arrays (ADT) and Stacks.</a:t>
            </a:r>
          </a:p>
          <a:p>
            <a:endParaRPr lang="en-US" dirty="0"/>
          </a:p>
          <a:p>
            <a:r>
              <a:rPr lang="en-US" b="0" dirty="0"/>
              <a:t>For Queues (ADT)?</a:t>
            </a:r>
            <a:endParaRPr lang="en-US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grpSp>
        <p:nvGrpSpPr>
          <p:cNvPr id="4" name="Group 3" descr="graphical representation of  a array">
            <a:extLst>
              <a:ext uri="{FF2B5EF4-FFF2-40B4-BE49-F238E27FC236}">
                <a16:creationId xmlns:a16="http://schemas.microsoft.com/office/drawing/2014/main" id="{5AC6B0B2-F204-9445-B11F-CA89D2267454}"/>
              </a:ext>
            </a:extLst>
          </p:cNvPr>
          <p:cNvGrpSpPr/>
          <p:nvPr/>
        </p:nvGrpSpPr>
        <p:grpSpPr>
          <a:xfrm>
            <a:off x="4598986" y="2209940"/>
            <a:ext cx="4407816" cy="2529840"/>
            <a:chOff x="4598986" y="2209940"/>
            <a:chExt cx="4407816" cy="2529840"/>
          </a:xfrm>
        </p:grpSpPr>
        <p:sp>
          <p:nvSpPr>
            <p:cNvPr id="6" name="Doughnut 5">
              <a:extLst>
                <a:ext uri="{FF2B5EF4-FFF2-40B4-BE49-F238E27FC236}">
                  <a16:creationId xmlns:a16="http://schemas.microsoft.com/office/drawing/2014/main" id="{8B6745B3-1F01-1643-8129-59EE4A060241}"/>
                </a:ext>
              </a:extLst>
            </p:cNvPr>
            <p:cNvSpPr/>
            <p:nvPr/>
          </p:nvSpPr>
          <p:spPr>
            <a:xfrm>
              <a:off x="5520910" y="2209940"/>
              <a:ext cx="2612296" cy="2529840"/>
            </a:xfrm>
            <a:prstGeom prst="donu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0B52D2E-5EC1-7A49-9576-3B4F54213D3E}"/>
                </a:ext>
              </a:extLst>
            </p:cNvPr>
            <p:cNvCxnSpPr/>
            <p:nvPr/>
          </p:nvCxnSpPr>
          <p:spPr>
            <a:xfrm>
              <a:off x="6827058" y="2209940"/>
              <a:ext cx="0" cy="64502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7EEDD69-00D7-5445-AE8A-D0C64126B139}"/>
                </a:ext>
              </a:extLst>
            </p:cNvPr>
            <p:cNvCxnSpPr>
              <a:cxnSpLocks/>
              <a:stCxn id="6" idx="1"/>
            </p:cNvCxnSpPr>
            <p:nvPr/>
          </p:nvCxnSpPr>
          <p:spPr>
            <a:xfrm>
              <a:off x="5903472" y="2580426"/>
              <a:ext cx="456688" cy="40922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5CFF4EC-37A9-A848-BDBA-4833A2F2515F}"/>
                </a:ext>
              </a:extLst>
            </p:cNvPr>
            <p:cNvCxnSpPr>
              <a:cxnSpLocks/>
            </p:cNvCxnSpPr>
            <p:nvPr/>
          </p:nvCxnSpPr>
          <p:spPr>
            <a:xfrm>
              <a:off x="5540235" y="3556140"/>
              <a:ext cx="591581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3EE321B-1C94-044B-840F-46034CB4C095}"/>
                </a:ext>
              </a:extLst>
            </p:cNvPr>
            <p:cNvCxnSpPr>
              <a:cxnSpLocks/>
            </p:cNvCxnSpPr>
            <p:nvPr/>
          </p:nvCxnSpPr>
          <p:spPr>
            <a:xfrm>
              <a:off x="7020098" y="4094760"/>
              <a:ext cx="304529" cy="55852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12E76A5-C921-3441-885A-1B2DC72680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48984" y="3960071"/>
              <a:ext cx="319153" cy="56112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18F4DC1-A9FB-BC44-8E0A-7839B2785F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86672" y="2671720"/>
              <a:ext cx="458947" cy="44692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9FC282E-1523-C745-977A-A7FDE9EAE5B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470610" y="3726720"/>
              <a:ext cx="539323" cy="233351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BAFA1071-8E4C-3343-9082-CE43FAF4532E}"/>
                </a:ext>
              </a:extLst>
            </p:cNvPr>
            <p:cNvSpPr txBox="1"/>
            <p:nvPr/>
          </p:nvSpPr>
          <p:spPr>
            <a:xfrm>
              <a:off x="4598986" y="3978074"/>
              <a:ext cx="84991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tail (write)</a:t>
              </a:r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9D201989-47C4-3B48-B8F2-E3CA38D4A7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68240" y="3556140"/>
              <a:ext cx="571995" cy="40393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11D8872F-38A6-9544-9E7E-BF6DFA781B42}"/>
                </a:ext>
              </a:extLst>
            </p:cNvPr>
            <p:cNvSpPr txBox="1"/>
            <p:nvPr/>
          </p:nvSpPr>
          <p:spPr>
            <a:xfrm>
              <a:off x="8030253" y="4286942"/>
              <a:ext cx="97654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head (read)</a:t>
              </a:r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7915FE9D-E9E6-414F-8323-1F7F221559B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30253" y="3978075"/>
              <a:ext cx="350836" cy="30886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A4F112AA-EA27-994E-9061-6C50BA106DF1}"/>
                </a:ext>
              </a:extLst>
            </p:cNvPr>
            <p:cNvSpPr/>
            <p:nvPr/>
          </p:nvSpPr>
          <p:spPr>
            <a:xfrm>
              <a:off x="5842000" y="2509708"/>
              <a:ext cx="1999326" cy="1361252"/>
            </a:xfrm>
            <a:custGeom>
              <a:avLst/>
              <a:gdLst>
                <a:gd name="connsiteX0" fmla="*/ 0 w 1999326"/>
                <a:gd name="connsiteY0" fmla="*/ 1036132 h 1361252"/>
                <a:gd name="connsiteX1" fmla="*/ 589280 w 1999326"/>
                <a:gd name="connsiteY1" fmla="*/ 20132 h 1361252"/>
                <a:gd name="connsiteX2" fmla="*/ 1859280 w 1999326"/>
                <a:gd name="connsiteY2" fmla="*/ 436692 h 1361252"/>
                <a:gd name="connsiteX3" fmla="*/ 1910080 w 1999326"/>
                <a:gd name="connsiteY3" fmla="*/ 1361252 h 1361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99326" h="1361252">
                  <a:moveTo>
                    <a:pt x="0" y="1036132"/>
                  </a:moveTo>
                  <a:cubicBezTo>
                    <a:pt x="139700" y="578085"/>
                    <a:pt x="279400" y="120039"/>
                    <a:pt x="589280" y="20132"/>
                  </a:cubicBezTo>
                  <a:cubicBezTo>
                    <a:pt x="899160" y="-79775"/>
                    <a:pt x="1639147" y="213172"/>
                    <a:pt x="1859280" y="436692"/>
                  </a:cubicBezTo>
                  <a:cubicBezTo>
                    <a:pt x="2079413" y="660212"/>
                    <a:pt x="1994746" y="1010732"/>
                    <a:pt x="1910080" y="1361252"/>
                  </a:cubicBezTo>
                </a:path>
              </a:pathLst>
            </a:custGeom>
            <a:noFill/>
            <a:ln w="127000">
              <a:gradFill flip="none" rotWithShape="1">
                <a:gsLst>
                  <a:gs pos="0">
                    <a:schemeClr val="accent3">
                      <a:lumMod val="89000"/>
                    </a:schemeClr>
                  </a:gs>
                  <a:gs pos="23000">
                    <a:schemeClr val="accent3">
                      <a:lumMod val="89000"/>
                    </a:schemeClr>
                  </a:gs>
                  <a:gs pos="69000">
                    <a:schemeClr val="accent3">
                      <a:lumMod val="75000"/>
                    </a:schemeClr>
                  </a:gs>
                  <a:gs pos="97000">
                    <a:schemeClr val="accent3">
                      <a:lumMod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C160FA1C-DB19-9A4E-9D4A-26E37C99FB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2617973"/>
              </p:ext>
            </p:extLst>
          </p:nvPr>
        </p:nvGraphicFramePr>
        <p:xfrm>
          <a:off x="359331" y="3118644"/>
          <a:ext cx="3246400" cy="119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3200">
                  <a:extLst>
                    <a:ext uri="{9D8B030D-6E8A-4147-A177-3AD203B41FA5}">
                      <a16:colId xmlns:a16="http://schemas.microsoft.com/office/drawing/2014/main" val="2945187315"/>
                    </a:ext>
                  </a:extLst>
                </a:gridCol>
                <a:gridCol w="1623200">
                  <a:extLst>
                    <a:ext uri="{9D8B030D-6E8A-4147-A177-3AD203B41FA5}">
                      <a16:colId xmlns:a16="http://schemas.microsoft.com/office/drawing/2014/main" val="186877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Complexity (with circular array)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5756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enqueue()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O(1)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2606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dequeue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O(1)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8784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76527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0F0ED07-FB17-D841-B39F-0A7ADB5AE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ADT IMPLEMENTATION: ARRAY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A92F95F-3A86-244C-8F2F-8E691E374E7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Resizing array to implement a Stack ADT</a:t>
            </a:r>
          </a:p>
          <a:p>
            <a:pPr marL="685800" lvl="1" indent="-342900">
              <a:buFont typeface="Courier New" panose="02070309020205020404" pitchFamily="49" charset="0"/>
              <a:buChar char="o"/>
            </a:pPr>
            <a:r>
              <a:rPr lang="en-US" sz="2000" dirty="0"/>
              <a:t>Grow: if array is full, create a new array twice the size and copy items over</a:t>
            </a:r>
          </a:p>
          <a:p>
            <a:pPr marL="685800" lvl="1" indent="-342900">
              <a:buFont typeface="Courier New" panose="02070309020205020404" pitchFamily="49" charset="0"/>
              <a:buChar char="o"/>
            </a:pPr>
            <a:r>
              <a:rPr lang="en-US" sz="2000" dirty="0"/>
              <a:t>Shrink: if array is one-quarter full, halve the size</a:t>
            </a:r>
          </a:p>
          <a:p>
            <a:pPr marL="685800" lvl="1" indent="-342900">
              <a:buFont typeface="Courier New" panose="02070309020205020404" pitchFamily="49" charset="0"/>
              <a:buChar char="o"/>
            </a:pPr>
            <a:r>
              <a:rPr lang="en-US" sz="2000" dirty="0"/>
              <a:t>Property: array is between 25% and 100% full at any time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AEB9A61-148C-EA46-B6E7-4F580878C4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4017476"/>
              </p:ext>
            </p:extLst>
          </p:nvPr>
        </p:nvGraphicFramePr>
        <p:xfrm>
          <a:off x="584784" y="3036262"/>
          <a:ext cx="6273215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7034">
                  <a:extLst>
                    <a:ext uri="{9D8B030D-6E8A-4147-A177-3AD203B41FA5}">
                      <a16:colId xmlns:a16="http://schemas.microsoft.com/office/drawing/2014/main" val="2945187315"/>
                    </a:ext>
                  </a:extLst>
                </a:gridCol>
                <a:gridCol w="1551709">
                  <a:extLst>
                    <a:ext uri="{9D8B030D-6E8A-4147-A177-3AD203B41FA5}">
                      <a16:colId xmlns:a16="http://schemas.microsoft.com/office/drawing/2014/main" val="18687730"/>
                    </a:ext>
                  </a:extLst>
                </a:gridCol>
                <a:gridCol w="1607128">
                  <a:extLst>
                    <a:ext uri="{9D8B030D-6E8A-4147-A177-3AD203B41FA5}">
                      <a16:colId xmlns:a16="http://schemas.microsoft.com/office/drawing/2014/main" val="3425226528"/>
                    </a:ext>
                  </a:extLst>
                </a:gridCol>
                <a:gridCol w="1967344">
                  <a:extLst>
                    <a:ext uri="{9D8B030D-6E8A-4147-A177-3AD203B41FA5}">
                      <a16:colId xmlns:a16="http://schemas.microsoft.com/office/drawing/2014/main" val="23574407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Complexity (best)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Complexity (worst)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Complexity (amortized)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5756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push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O(1)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O(N)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O(1)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2606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O(1)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O(N)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O(1)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8784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67020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0F0ED07-FB17-D841-B39F-0A7ADB5AE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ADT IMPLEMENTATION: LINKED LIST</a:t>
            </a:r>
          </a:p>
        </p:txBody>
      </p:sp>
      <p:sp>
        <p:nvSpPr>
          <p:cNvPr id="77" name="Text Placeholder 1">
            <a:extLst>
              <a:ext uri="{FF2B5EF4-FFF2-40B4-BE49-F238E27FC236}">
                <a16:creationId xmlns:a16="http://schemas.microsoft.com/office/drawing/2014/main" id="{5DDEF22F-74E5-724B-9C38-A17B9A6DE8C9}"/>
              </a:ext>
            </a:extLst>
          </p:cNvPr>
          <p:cNvSpPr txBox="1">
            <a:spLocks/>
          </p:cNvSpPr>
          <p:nvPr/>
        </p:nvSpPr>
        <p:spPr>
          <a:xfrm>
            <a:off x="287999" y="994718"/>
            <a:ext cx="8360242" cy="37450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400" b="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b="1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 linked list is a data structure used to maintain a </a:t>
            </a:r>
            <a:r>
              <a:rPr lang="en-US" dirty="0">
                <a:highlight>
                  <a:srgbClr val="D6D2C4"/>
                </a:highlight>
              </a:rPr>
              <a:t>dynamic collection of heterogeneous items</a:t>
            </a:r>
            <a:r>
              <a:rPr lang="en-US" dirty="0"/>
              <a:t>. It is often used to implement Stacks and Queues ADTs.</a:t>
            </a:r>
          </a:p>
          <a:p>
            <a:r>
              <a:rPr lang="en-US" sz="2000" dirty="0">
                <a:highlight>
                  <a:srgbClr val="D6D2C4"/>
                </a:highlight>
              </a:rPr>
              <a:t>Singly linked list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65D98649-6A17-9246-8B4B-11AFECEF7312}"/>
              </a:ext>
            </a:extLst>
          </p:cNvPr>
          <p:cNvSpPr txBox="1">
            <a:spLocks noGrp="1"/>
          </p:cNvSpPr>
          <p:nvPr>
            <p:ph type="body" sz="half" idx="2"/>
          </p:nvPr>
        </p:nvSpPr>
        <p:spPr>
          <a:xfrm>
            <a:off x="4891127" y="4348651"/>
            <a:ext cx="463588" cy="286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null</a:t>
            </a:r>
          </a:p>
        </p:txBody>
      </p:sp>
      <p:grpSp>
        <p:nvGrpSpPr>
          <p:cNvPr id="19" name="Group 18" descr="graphical representation of  a linked list">
            <a:extLst>
              <a:ext uri="{FF2B5EF4-FFF2-40B4-BE49-F238E27FC236}">
                <a16:creationId xmlns:a16="http://schemas.microsoft.com/office/drawing/2014/main" id="{67E80B17-D66B-484B-A144-903A7F84D9BF}"/>
              </a:ext>
            </a:extLst>
          </p:cNvPr>
          <p:cNvGrpSpPr/>
          <p:nvPr/>
        </p:nvGrpSpPr>
        <p:grpSpPr>
          <a:xfrm>
            <a:off x="287999" y="2609836"/>
            <a:ext cx="4617950" cy="2533664"/>
            <a:chOff x="287999" y="2609836"/>
            <a:chExt cx="4617950" cy="2533664"/>
          </a:xfrm>
        </p:grpSpPr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E4F4410E-B25D-3D45-9BB6-C9A3FE92E923}"/>
                </a:ext>
              </a:extLst>
            </p:cNvPr>
            <p:cNvGrpSpPr/>
            <p:nvPr/>
          </p:nvGrpSpPr>
          <p:grpSpPr>
            <a:xfrm>
              <a:off x="4051166" y="4117170"/>
              <a:ext cx="548640" cy="471639"/>
              <a:chOff x="4023360" y="2637031"/>
              <a:chExt cx="548640" cy="471639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B111031C-05F9-3848-807F-3849348F0CC6}"/>
                  </a:ext>
                </a:extLst>
              </p:cNvPr>
              <p:cNvSpPr/>
              <p:nvPr/>
            </p:nvSpPr>
            <p:spPr>
              <a:xfrm>
                <a:off x="4023360" y="2637031"/>
                <a:ext cx="548640" cy="279133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FD8847B4-971D-134A-A0BA-DF8343F5CE4A}"/>
                  </a:ext>
                </a:extLst>
              </p:cNvPr>
              <p:cNvSpPr/>
              <p:nvPr/>
            </p:nvSpPr>
            <p:spPr>
              <a:xfrm>
                <a:off x="4023360" y="2925790"/>
                <a:ext cx="548640" cy="18288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4DB9B0BB-3120-B441-97AE-59A54D93A0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96257" y="4250190"/>
              <a:ext cx="758982" cy="22700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5B777597-638C-EA49-91C5-415331B2D353}"/>
                </a:ext>
              </a:extLst>
            </p:cNvPr>
            <p:cNvSpPr/>
            <p:nvPr/>
          </p:nvSpPr>
          <p:spPr>
            <a:xfrm flipH="1" flipV="1">
              <a:off x="4243867" y="4453236"/>
              <a:ext cx="85061" cy="77062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3C79DE91-DC22-9344-9A3B-32AC8EDE8DD9}"/>
                </a:ext>
              </a:extLst>
            </p:cNvPr>
            <p:cNvCxnSpPr/>
            <p:nvPr/>
          </p:nvCxnSpPr>
          <p:spPr>
            <a:xfrm>
              <a:off x="4340993" y="4495911"/>
              <a:ext cx="564956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291DBD3B-D932-0B49-AD19-80634D013160}"/>
                </a:ext>
              </a:extLst>
            </p:cNvPr>
            <p:cNvGrpSpPr/>
            <p:nvPr/>
          </p:nvGrpSpPr>
          <p:grpSpPr>
            <a:xfrm>
              <a:off x="287999" y="2609836"/>
              <a:ext cx="3570111" cy="1973371"/>
              <a:chOff x="287999" y="2609836"/>
              <a:chExt cx="3570111" cy="1973371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FFFF56C3-A834-2A4E-A8CA-09DEC329DA95}"/>
                  </a:ext>
                </a:extLst>
              </p:cNvPr>
              <p:cNvGrpSpPr/>
              <p:nvPr/>
            </p:nvGrpSpPr>
            <p:grpSpPr>
              <a:xfrm>
                <a:off x="287999" y="3890141"/>
                <a:ext cx="3262191" cy="693066"/>
                <a:chOff x="287999" y="3890141"/>
                <a:chExt cx="3262191" cy="693066"/>
              </a:xfrm>
            </p:grpSpPr>
            <p:grpSp>
              <p:nvGrpSpPr>
                <p:cNvPr id="70" name="Group 69">
                  <a:extLst>
                    <a:ext uri="{FF2B5EF4-FFF2-40B4-BE49-F238E27FC236}">
                      <a16:creationId xmlns:a16="http://schemas.microsoft.com/office/drawing/2014/main" id="{DD1ABCD8-AD31-F649-BF47-342161470C22}"/>
                    </a:ext>
                  </a:extLst>
                </p:cNvPr>
                <p:cNvGrpSpPr/>
                <p:nvPr/>
              </p:nvGrpSpPr>
              <p:grpSpPr>
                <a:xfrm>
                  <a:off x="1956684" y="4111568"/>
                  <a:ext cx="548640" cy="471639"/>
                  <a:chOff x="1928878" y="2631429"/>
                  <a:chExt cx="548640" cy="471639"/>
                </a:xfrm>
              </p:grpSpPr>
              <p:grpSp>
                <p:nvGrpSpPr>
                  <p:cNvPr id="10" name="Group 9">
                    <a:extLst>
                      <a:ext uri="{FF2B5EF4-FFF2-40B4-BE49-F238E27FC236}">
                        <a16:creationId xmlns:a16="http://schemas.microsoft.com/office/drawing/2014/main" id="{2A9AD72F-7015-EF4C-AF79-22E24771C58C}"/>
                      </a:ext>
                    </a:extLst>
                  </p:cNvPr>
                  <p:cNvGrpSpPr/>
                  <p:nvPr/>
                </p:nvGrpSpPr>
                <p:grpSpPr>
                  <a:xfrm>
                    <a:off x="1928878" y="2631429"/>
                    <a:ext cx="548640" cy="471639"/>
                    <a:chOff x="587141" y="1799924"/>
                    <a:chExt cx="548640" cy="471639"/>
                  </a:xfrm>
                </p:grpSpPr>
                <p:sp>
                  <p:nvSpPr>
                    <p:cNvPr id="12" name="Rectangle 11">
                      <a:extLst>
                        <a:ext uri="{FF2B5EF4-FFF2-40B4-BE49-F238E27FC236}">
                          <a16:creationId xmlns:a16="http://schemas.microsoft.com/office/drawing/2014/main" id="{2CDB45A5-F896-7946-8538-A0D8F9259A5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7141" y="1799924"/>
                      <a:ext cx="548640" cy="279133"/>
                    </a:xfrm>
                    <a:prstGeom prst="rect">
                      <a:avLst/>
                    </a:prstGeom>
                    <a:noFill/>
                    <a:ln w="254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3" name="Rectangle 12">
                      <a:extLst>
                        <a:ext uri="{FF2B5EF4-FFF2-40B4-BE49-F238E27FC236}">
                          <a16:creationId xmlns:a16="http://schemas.microsoft.com/office/drawing/2014/main" id="{8194AB48-0BCB-BD4C-92D8-3DDA5573942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7141" y="2088683"/>
                      <a:ext cx="548640" cy="182880"/>
                    </a:xfrm>
                    <a:prstGeom prst="rect">
                      <a:avLst/>
                    </a:prstGeom>
                    <a:noFill/>
                    <a:ln w="254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sp>
                <p:nvSpPr>
                  <p:cNvPr id="11" name="Oval 10">
                    <a:extLst>
                      <a:ext uri="{FF2B5EF4-FFF2-40B4-BE49-F238E27FC236}">
                        <a16:creationId xmlns:a16="http://schemas.microsoft.com/office/drawing/2014/main" id="{079D6959-AF3E-D343-A791-3D9D96AAAE35}"/>
                      </a:ext>
                    </a:extLst>
                  </p:cNvPr>
                  <p:cNvSpPr/>
                  <p:nvPr/>
                </p:nvSpPr>
                <p:spPr>
                  <a:xfrm flipH="1" flipV="1">
                    <a:off x="2150034" y="2965398"/>
                    <a:ext cx="85061" cy="77062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69" name="Group 68">
                  <a:extLst>
                    <a:ext uri="{FF2B5EF4-FFF2-40B4-BE49-F238E27FC236}">
                      <a16:creationId xmlns:a16="http://schemas.microsoft.com/office/drawing/2014/main" id="{3EEF4148-D154-5A4E-87E3-B0FA3F9015A0}"/>
                    </a:ext>
                  </a:extLst>
                </p:cNvPr>
                <p:cNvGrpSpPr/>
                <p:nvPr/>
              </p:nvGrpSpPr>
              <p:grpSpPr>
                <a:xfrm>
                  <a:off x="3001550" y="4105638"/>
                  <a:ext cx="548640" cy="471639"/>
                  <a:chOff x="2973744" y="2625499"/>
                  <a:chExt cx="548640" cy="471639"/>
                </a:xfrm>
              </p:grpSpPr>
              <p:grpSp>
                <p:nvGrpSpPr>
                  <p:cNvPr id="15" name="Group 14">
                    <a:extLst>
                      <a:ext uri="{FF2B5EF4-FFF2-40B4-BE49-F238E27FC236}">
                        <a16:creationId xmlns:a16="http://schemas.microsoft.com/office/drawing/2014/main" id="{88BFB934-8946-5A42-B568-2B4697A27F10}"/>
                      </a:ext>
                    </a:extLst>
                  </p:cNvPr>
                  <p:cNvGrpSpPr/>
                  <p:nvPr/>
                </p:nvGrpSpPr>
                <p:grpSpPr>
                  <a:xfrm>
                    <a:off x="2973744" y="2625499"/>
                    <a:ext cx="548640" cy="471639"/>
                    <a:chOff x="587141" y="1799924"/>
                    <a:chExt cx="548640" cy="471639"/>
                  </a:xfrm>
                </p:grpSpPr>
                <p:sp>
                  <p:nvSpPr>
                    <p:cNvPr id="17" name="Rectangle 16">
                      <a:extLst>
                        <a:ext uri="{FF2B5EF4-FFF2-40B4-BE49-F238E27FC236}">
                          <a16:creationId xmlns:a16="http://schemas.microsoft.com/office/drawing/2014/main" id="{45F8EE45-1A6E-0D42-ABCB-B50DA3DEFE1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7141" y="1799924"/>
                      <a:ext cx="548640" cy="279133"/>
                    </a:xfrm>
                    <a:prstGeom prst="rect">
                      <a:avLst/>
                    </a:prstGeom>
                    <a:noFill/>
                    <a:ln w="254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8" name="Rectangle 17">
                      <a:extLst>
                        <a:ext uri="{FF2B5EF4-FFF2-40B4-BE49-F238E27FC236}">
                          <a16:creationId xmlns:a16="http://schemas.microsoft.com/office/drawing/2014/main" id="{187254E9-B6D2-5341-B468-C94732EE5C5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7141" y="2088683"/>
                      <a:ext cx="548640" cy="182880"/>
                    </a:xfrm>
                    <a:prstGeom prst="rect">
                      <a:avLst/>
                    </a:prstGeom>
                    <a:noFill/>
                    <a:ln w="254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sp>
                <p:nvSpPr>
                  <p:cNvPr id="16" name="Oval 15">
                    <a:extLst>
                      <a:ext uri="{FF2B5EF4-FFF2-40B4-BE49-F238E27FC236}">
                        <a16:creationId xmlns:a16="http://schemas.microsoft.com/office/drawing/2014/main" id="{F2A5C5FF-DC5E-0941-8D10-BB016C2DDBE3}"/>
                      </a:ext>
                    </a:extLst>
                  </p:cNvPr>
                  <p:cNvSpPr/>
                  <p:nvPr/>
                </p:nvSpPr>
                <p:spPr>
                  <a:xfrm flipH="1" flipV="1">
                    <a:off x="3194900" y="2959468"/>
                    <a:ext cx="85061" cy="77062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cxnSp>
              <p:nvCxnSpPr>
                <p:cNvPr id="26" name="Straight Arrow Connector 25">
                  <a:extLst>
                    <a:ext uri="{FF2B5EF4-FFF2-40B4-BE49-F238E27FC236}">
                      <a16:creationId xmlns:a16="http://schemas.microsoft.com/office/drawing/2014/main" id="{20F36135-84D1-0B4B-8096-204E2ACCCB3C}"/>
                    </a:ext>
                  </a:extLst>
                </p:cNvPr>
                <p:cNvCxnSpPr>
                  <a:cxnSpLocks/>
                  <a:endCxn id="12" idx="1"/>
                </p:cNvCxnSpPr>
                <p:nvPr/>
              </p:nvCxnSpPr>
              <p:spPr>
                <a:xfrm flipV="1">
                  <a:off x="1197702" y="4251135"/>
                  <a:ext cx="758982" cy="227003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Arrow Connector 32">
                  <a:extLst>
                    <a:ext uri="{FF2B5EF4-FFF2-40B4-BE49-F238E27FC236}">
                      <a16:creationId xmlns:a16="http://schemas.microsoft.com/office/drawing/2014/main" id="{5DA96B0C-B5A4-0247-9960-F0688EDEC71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262901" y="4255221"/>
                  <a:ext cx="758982" cy="227003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8" name="Group 7">
                  <a:extLst>
                    <a:ext uri="{FF2B5EF4-FFF2-40B4-BE49-F238E27FC236}">
                      <a16:creationId xmlns:a16="http://schemas.microsoft.com/office/drawing/2014/main" id="{9CF41DB7-C12E-D847-9B16-07A4E3E81B8A}"/>
                    </a:ext>
                  </a:extLst>
                </p:cNvPr>
                <p:cNvGrpSpPr/>
                <p:nvPr/>
              </p:nvGrpSpPr>
              <p:grpSpPr>
                <a:xfrm>
                  <a:off x="287999" y="3890141"/>
                  <a:ext cx="1152126" cy="693066"/>
                  <a:chOff x="287999" y="3890141"/>
                  <a:chExt cx="1152126" cy="693066"/>
                </a:xfrm>
              </p:grpSpPr>
              <p:grpSp>
                <p:nvGrpSpPr>
                  <p:cNvPr id="71" name="Group 70">
                    <a:extLst>
                      <a:ext uri="{FF2B5EF4-FFF2-40B4-BE49-F238E27FC236}">
                        <a16:creationId xmlns:a16="http://schemas.microsoft.com/office/drawing/2014/main" id="{469E3A7F-98EE-174E-8830-BF034A697F27}"/>
                      </a:ext>
                    </a:extLst>
                  </p:cNvPr>
                  <p:cNvGrpSpPr/>
                  <p:nvPr/>
                </p:nvGrpSpPr>
                <p:grpSpPr>
                  <a:xfrm>
                    <a:off x="891485" y="4111568"/>
                    <a:ext cx="548640" cy="471639"/>
                    <a:chOff x="863679" y="2631429"/>
                    <a:chExt cx="548640" cy="471639"/>
                  </a:xfrm>
                </p:grpSpPr>
                <p:grpSp>
                  <p:nvGrpSpPr>
                    <p:cNvPr id="6" name="Group 5">
                      <a:extLst>
                        <a:ext uri="{FF2B5EF4-FFF2-40B4-BE49-F238E27FC236}">
                          <a16:creationId xmlns:a16="http://schemas.microsoft.com/office/drawing/2014/main" id="{864573FF-0063-8243-972D-889E5AC7510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63679" y="2631429"/>
                      <a:ext cx="548640" cy="471639"/>
                      <a:chOff x="587141" y="1799924"/>
                      <a:chExt cx="548640" cy="471639"/>
                    </a:xfrm>
                  </p:grpSpPr>
                  <p:sp>
                    <p:nvSpPr>
                      <p:cNvPr id="4" name="Rectangle 3">
                        <a:extLst>
                          <a:ext uri="{FF2B5EF4-FFF2-40B4-BE49-F238E27FC236}">
                            <a16:creationId xmlns:a16="http://schemas.microsoft.com/office/drawing/2014/main" id="{22EF469D-1B7D-9D49-AFB0-E74A6779D79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7141" y="1799924"/>
                        <a:ext cx="548640" cy="279133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5" name="Rectangle 4">
                        <a:extLst>
                          <a:ext uri="{FF2B5EF4-FFF2-40B4-BE49-F238E27FC236}">
                            <a16:creationId xmlns:a16="http://schemas.microsoft.com/office/drawing/2014/main" id="{3B93E9FC-D570-6F4B-8584-3409BF7E5FF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7141" y="2088683"/>
                        <a:ext cx="548640" cy="182880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sp>
                  <p:nvSpPr>
                    <p:cNvPr id="7" name="Oval 6">
                      <a:extLst>
                        <a:ext uri="{FF2B5EF4-FFF2-40B4-BE49-F238E27FC236}">
                          <a16:creationId xmlns:a16="http://schemas.microsoft.com/office/drawing/2014/main" id="{FE46932C-1F8A-A341-BE23-263948E1F2C4}"/>
                        </a:ext>
                      </a:extLst>
                    </p:cNvPr>
                    <p:cNvSpPr/>
                    <p:nvPr/>
                  </p:nvSpPr>
                  <p:spPr>
                    <a:xfrm flipH="1" flipV="1">
                      <a:off x="1084835" y="2965398"/>
                      <a:ext cx="85061" cy="77062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cxnSp>
                <p:nvCxnSpPr>
                  <p:cNvPr id="25" name="Straight Arrow Connector 24">
                    <a:extLst>
                      <a:ext uri="{FF2B5EF4-FFF2-40B4-BE49-F238E27FC236}">
                        <a16:creationId xmlns:a16="http://schemas.microsoft.com/office/drawing/2014/main" id="{D509014E-243C-8543-91F7-0F02981C8F4A}"/>
                      </a:ext>
                    </a:extLst>
                  </p:cNvPr>
                  <p:cNvCxnSpPr/>
                  <p:nvPr/>
                </p:nvCxnSpPr>
                <p:spPr>
                  <a:xfrm>
                    <a:off x="326529" y="4245204"/>
                    <a:ext cx="564956" cy="0"/>
                  </a:xfrm>
                  <a:prstGeom prst="straightConnector1">
                    <a:avLst/>
                  </a:prstGeom>
                  <a:ln w="25400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id="{1740F7F1-5F9A-E549-8E0A-C077396730B4}"/>
                      </a:ext>
                    </a:extLst>
                  </p:cNvPr>
                  <p:cNvSpPr txBox="1"/>
                  <p:nvPr/>
                </p:nvSpPr>
                <p:spPr>
                  <a:xfrm>
                    <a:off x="287999" y="3890141"/>
                    <a:ext cx="582211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head</a:t>
                    </a:r>
                  </a:p>
                </p:txBody>
              </p:sp>
            </p:grpSp>
          </p:grpSp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188870DF-EF73-034F-AA75-FBE12094A4BB}"/>
                  </a:ext>
                </a:extLst>
              </p:cNvPr>
              <p:cNvGrpSpPr/>
              <p:nvPr/>
            </p:nvGrpSpPr>
            <p:grpSpPr>
              <a:xfrm>
                <a:off x="853434" y="2609836"/>
                <a:ext cx="3004676" cy="1069984"/>
                <a:chOff x="853434" y="2609836"/>
                <a:chExt cx="3004676" cy="1069984"/>
              </a:xfrm>
            </p:grpSpPr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CDE20421-F365-934D-93BF-6865DD4E68A6}"/>
                    </a:ext>
                  </a:extLst>
                </p:cNvPr>
                <p:cNvSpPr txBox="1"/>
                <p:nvPr/>
              </p:nvSpPr>
              <p:spPr>
                <a:xfrm>
                  <a:off x="853434" y="2609836"/>
                  <a:ext cx="582211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node</a:t>
                  </a:r>
                </a:p>
              </p:txBody>
            </p:sp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4A5F6FCA-9A8B-AE4C-93BB-1A53D777064B}"/>
                    </a:ext>
                  </a:extLst>
                </p:cNvPr>
                <p:cNvSpPr txBox="1"/>
                <p:nvPr/>
              </p:nvSpPr>
              <p:spPr>
                <a:xfrm>
                  <a:off x="1893314" y="2736676"/>
                  <a:ext cx="920445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data item</a:t>
                  </a:r>
                </a:p>
              </p:txBody>
            </p:sp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44F2647-8164-6E45-9E88-2E25F37E860F}"/>
                    </a:ext>
                  </a:extLst>
                </p:cNvPr>
                <p:cNvSpPr txBox="1"/>
                <p:nvPr/>
              </p:nvSpPr>
              <p:spPr>
                <a:xfrm>
                  <a:off x="1884493" y="3372043"/>
                  <a:ext cx="1973617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reference to next node</a:t>
                  </a:r>
                </a:p>
              </p:txBody>
            </p:sp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439270DC-15AF-0F42-9ED2-C373FC76203A}"/>
                    </a:ext>
                  </a:extLst>
                </p:cNvPr>
                <p:cNvGrpSpPr/>
                <p:nvPr/>
              </p:nvGrpSpPr>
              <p:grpSpPr>
                <a:xfrm>
                  <a:off x="891485" y="2919093"/>
                  <a:ext cx="548640" cy="471639"/>
                  <a:chOff x="852955" y="1895618"/>
                  <a:chExt cx="548640" cy="471639"/>
                </a:xfrm>
              </p:grpSpPr>
              <p:grpSp>
                <p:nvGrpSpPr>
                  <p:cNvPr id="60" name="Group 59">
                    <a:extLst>
                      <a:ext uri="{FF2B5EF4-FFF2-40B4-BE49-F238E27FC236}">
                        <a16:creationId xmlns:a16="http://schemas.microsoft.com/office/drawing/2014/main" id="{5ED87E62-E8DF-9D4D-965A-3A29A834D8C9}"/>
                      </a:ext>
                    </a:extLst>
                  </p:cNvPr>
                  <p:cNvGrpSpPr/>
                  <p:nvPr/>
                </p:nvGrpSpPr>
                <p:grpSpPr>
                  <a:xfrm>
                    <a:off x="852955" y="1895618"/>
                    <a:ext cx="548640" cy="471639"/>
                    <a:chOff x="587141" y="1799924"/>
                    <a:chExt cx="548640" cy="471639"/>
                  </a:xfrm>
                </p:grpSpPr>
                <p:sp>
                  <p:nvSpPr>
                    <p:cNvPr id="62" name="Rectangle 61">
                      <a:extLst>
                        <a:ext uri="{FF2B5EF4-FFF2-40B4-BE49-F238E27FC236}">
                          <a16:creationId xmlns:a16="http://schemas.microsoft.com/office/drawing/2014/main" id="{66CEA20A-867D-4649-BB7E-02593E64A48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7141" y="1799924"/>
                      <a:ext cx="548640" cy="279133"/>
                    </a:xfrm>
                    <a:prstGeom prst="rect">
                      <a:avLst/>
                    </a:prstGeom>
                    <a:noFill/>
                    <a:ln w="254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63" name="Rectangle 62">
                      <a:extLst>
                        <a:ext uri="{FF2B5EF4-FFF2-40B4-BE49-F238E27FC236}">
                          <a16:creationId xmlns:a16="http://schemas.microsoft.com/office/drawing/2014/main" id="{C8E4F11A-DD47-B44E-A200-18A33EF3D8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87141" y="2088683"/>
                      <a:ext cx="548640" cy="182880"/>
                    </a:xfrm>
                    <a:prstGeom prst="rect">
                      <a:avLst/>
                    </a:prstGeom>
                    <a:noFill/>
                    <a:ln w="254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sp>
                <p:nvSpPr>
                  <p:cNvPr id="61" name="Oval 60">
                    <a:extLst>
                      <a:ext uri="{FF2B5EF4-FFF2-40B4-BE49-F238E27FC236}">
                        <a16:creationId xmlns:a16="http://schemas.microsoft.com/office/drawing/2014/main" id="{B3E328C9-24D5-5840-B9DA-003EE8C73775}"/>
                      </a:ext>
                    </a:extLst>
                  </p:cNvPr>
                  <p:cNvSpPr/>
                  <p:nvPr/>
                </p:nvSpPr>
                <p:spPr>
                  <a:xfrm flipH="1" flipV="1">
                    <a:off x="1074111" y="2229587"/>
                    <a:ext cx="85061" cy="77062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cxnSp>
              <p:nvCxnSpPr>
                <p:cNvPr id="65" name="Straight Arrow Connector 64">
                  <a:extLst>
                    <a:ext uri="{FF2B5EF4-FFF2-40B4-BE49-F238E27FC236}">
                      <a16:creationId xmlns:a16="http://schemas.microsoft.com/office/drawing/2014/main" id="{704894A2-C5A9-824F-9AA3-2C75683B4ECB}"/>
                    </a:ext>
                  </a:extLst>
                </p:cNvPr>
                <p:cNvCxnSpPr>
                  <a:cxnSpLocks/>
                  <a:endCxn id="62" idx="3"/>
                </p:cNvCxnSpPr>
                <p:nvPr/>
              </p:nvCxnSpPr>
              <p:spPr>
                <a:xfrm flipH="1">
                  <a:off x="1440125" y="2926940"/>
                  <a:ext cx="453189" cy="131720"/>
                </a:xfrm>
                <a:prstGeom prst="straightConnector1">
                  <a:avLst/>
                </a:prstGeom>
                <a:ln w="22225">
                  <a:solidFill>
                    <a:schemeClr val="bg1">
                      <a:lumMod val="5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Arrow Connector 66">
                  <a:extLst>
                    <a:ext uri="{FF2B5EF4-FFF2-40B4-BE49-F238E27FC236}">
                      <a16:creationId xmlns:a16="http://schemas.microsoft.com/office/drawing/2014/main" id="{792ECA6B-8EC4-8944-880A-2AC89AD19174}"/>
                    </a:ext>
                  </a:extLst>
                </p:cNvPr>
                <p:cNvCxnSpPr>
                  <a:stCxn id="56" idx="1"/>
                  <a:endCxn id="63" idx="3"/>
                </p:cNvCxnSpPr>
                <p:nvPr/>
              </p:nvCxnSpPr>
              <p:spPr>
                <a:xfrm flipH="1" flipV="1">
                  <a:off x="1440125" y="3299292"/>
                  <a:ext cx="444368" cy="226640"/>
                </a:xfrm>
                <a:prstGeom prst="straightConnector1">
                  <a:avLst/>
                </a:prstGeom>
                <a:ln w="22225">
                  <a:solidFill>
                    <a:schemeClr val="bg1">
                      <a:lumMod val="5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E5A24235-EA21-9648-B60C-F32E824EFCC8}"/>
                </a:ext>
              </a:extLst>
            </p:cNvPr>
            <p:cNvSpPr txBox="1"/>
            <p:nvPr/>
          </p:nvSpPr>
          <p:spPr>
            <a:xfrm>
              <a:off x="3990576" y="4620280"/>
              <a:ext cx="91082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tail (last) </a:t>
              </a:r>
            </a:p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node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739506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0F0ED07-FB17-D841-B39F-0A7ADB5AE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ADT IMPLEMENTATION: LINKED LIST</a:t>
            </a:r>
          </a:p>
        </p:txBody>
      </p:sp>
      <p:sp>
        <p:nvSpPr>
          <p:cNvPr id="77" name="Text Placeholder 1">
            <a:extLst>
              <a:ext uri="{FF2B5EF4-FFF2-40B4-BE49-F238E27FC236}">
                <a16:creationId xmlns:a16="http://schemas.microsoft.com/office/drawing/2014/main" id="{5DDEF22F-74E5-724B-9C38-A17B9A6DE8C9}"/>
              </a:ext>
            </a:extLst>
          </p:cNvPr>
          <p:cNvSpPr txBox="1">
            <a:spLocks/>
          </p:cNvSpPr>
          <p:nvPr/>
        </p:nvSpPr>
        <p:spPr>
          <a:xfrm>
            <a:off x="287999" y="994718"/>
            <a:ext cx="8360242" cy="37450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400" b="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b="1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 linked list is a data structure used to maintain a </a:t>
            </a:r>
            <a:r>
              <a:rPr lang="en-US" dirty="0">
                <a:highlight>
                  <a:srgbClr val="D6D2C4"/>
                </a:highlight>
              </a:rPr>
              <a:t>dynamic collection of heterogeneous items</a:t>
            </a:r>
            <a:r>
              <a:rPr lang="en-US" dirty="0"/>
              <a:t>. It is often used to implement Stacks and Queues ADTs.</a:t>
            </a:r>
          </a:p>
          <a:p>
            <a:r>
              <a:rPr lang="en-US" sz="2000" dirty="0">
                <a:highlight>
                  <a:srgbClr val="D6D2C4"/>
                </a:highlight>
              </a:rPr>
              <a:t>Doubly linked list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65D98649-6A17-9246-8B4B-11AFECEF7312}"/>
              </a:ext>
            </a:extLst>
          </p:cNvPr>
          <p:cNvSpPr txBox="1">
            <a:spLocks noGrp="1"/>
          </p:cNvSpPr>
          <p:nvPr>
            <p:ph type="body" sz="half" idx="2"/>
          </p:nvPr>
        </p:nvSpPr>
        <p:spPr>
          <a:xfrm>
            <a:off x="4040052" y="4618384"/>
            <a:ext cx="463588" cy="286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null</a:t>
            </a:r>
          </a:p>
        </p:txBody>
      </p:sp>
      <p:grpSp>
        <p:nvGrpSpPr>
          <p:cNvPr id="4" name="Group 3" descr="graphical representation of  a linked list">
            <a:extLst>
              <a:ext uri="{FF2B5EF4-FFF2-40B4-BE49-F238E27FC236}">
                <a16:creationId xmlns:a16="http://schemas.microsoft.com/office/drawing/2014/main" id="{DE65FFAD-DC1E-BF48-87B9-D4B07C4C4A60}"/>
              </a:ext>
            </a:extLst>
          </p:cNvPr>
          <p:cNvGrpSpPr/>
          <p:nvPr/>
        </p:nvGrpSpPr>
        <p:grpSpPr>
          <a:xfrm>
            <a:off x="287999" y="2607453"/>
            <a:ext cx="3760494" cy="2198927"/>
            <a:chOff x="287999" y="2607453"/>
            <a:chExt cx="3760494" cy="2198927"/>
          </a:xfrm>
        </p:grpSpPr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B8B22E7E-017F-7644-85BC-76E2F90291D6}"/>
                </a:ext>
              </a:extLst>
            </p:cNvPr>
            <p:cNvCxnSpPr>
              <a:cxnSpLocks/>
            </p:cNvCxnSpPr>
            <p:nvPr/>
          </p:nvCxnSpPr>
          <p:spPr>
            <a:xfrm>
              <a:off x="3435498" y="4728511"/>
              <a:ext cx="612995" cy="911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" name="Group 1" descr="graphical representation of  a linked list">
              <a:extLst>
                <a:ext uri="{FF2B5EF4-FFF2-40B4-BE49-F238E27FC236}">
                  <a16:creationId xmlns:a16="http://schemas.microsoft.com/office/drawing/2014/main" id="{CF92A9C5-DB40-A64B-88E2-7F592688668B}"/>
                </a:ext>
              </a:extLst>
            </p:cNvPr>
            <p:cNvGrpSpPr/>
            <p:nvPr/>
          </p:nvGrpSpPr>
          <p:grpSpPr>
            <a:xfrm>
              <a:off x="287999" y="2607453"/>
              <a:ext cx="3549839" cy="2198927"/>
              <a:chOff x="287999" y="2607453"/>
              <a:chExt cx="3549839" cy="2198927"/>
            </a:xfrm>
          </p:grpSpPr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DE20421-F365-934D-93BF-6865DD4E68A6}"/>
                  </a:ext>
                </a:extLst>
              </p:cNvPr>
              <p:cNvSpPr txBox="1"/>
              <p:nvPr/>
            </p:nvSpPr>
            <p:spPr>
              <a:xfrm>
                <a:off x="550027" y="2607453"/>
                <a:ext cx="58221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node</a:t>
                </a:r>
              </a:p>
            </p:txBody>
          </p: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3C79DE91-DC22-9344-9A3B-32AC8EDE8DD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85214" y="4733922"/>
                <a:ext cx="763561" cy="128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344F2647-8164-6E45-9E88-2E25F37E860F}"/>
                  </a:ext>
                </a:extLst>
              </p:cNvPr>
              <p:cNvSpPr txBox="1"/>
              <p:nvPr/>
            </p:nvSpPr>
            <p:spPr>
              <a:xfrm>
                <a:off x="1525987" y="2879655"/>
                <a:ext cx="2311851" cy="7386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reference to previous node</a:t>
                </a:r>
              </a:p>
              <a:p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data item</a:t>
                </a:r>
              </a:p>
              <a:p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reference to next node</a:t>
                </a: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1740F7F1-5F9A-E549-8E0A-C077396730B4}"/>
                  </a:ext>
                </a:extLst>
              </p:cNvPr>
              <p:cNvSpPr txBox="1"/>
              <p:nvPr/>
            </p:nvSpPr>
            <p:spPr>
              <a:xfrm>
                <a:off x="873786" y="3868343"/>
                <a:ext cx="58221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head</a:t>
                </a:r>
              </a:p>
            </p:txBody>
          </p:sp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5ED87E62-E8DF-9D4D-965A-3A29A834D8C9}"/>
                  </a:ext>
                </a:extLst>
              </p:cNvPr>
              <p:cNvGrpSpPr/>
              <p:nvPr/>
            </p:nvGrpSpPr>
            <p:grpSpPr>
              <a:xfrm>
                <a:off x="552020" y="3100792"/>
                <a:ext cx="548640" cy="461006"/>
                <a:chOff x="587141" y="1799924"/>
                <a:chExt cx="548640" cy="461006"/>
              </a:xfrm>
            </p:grpSpPr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66CEA20A-867D-4649-BB7E-02593E64A489}"/>
                    </a:ext>
                  </a:extLst>
                </p:cNvPr>
                <p:cNvSpPr/>
                <p:nvPr/>
              </p:nvSpPr>
              <p:spPr>
                <a:xfrm>
                  <a:off x="587141" y="1799924"/>
                  <a:ext cx="548640" cy="279133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3" name="Rectangle 62">
                  <a:extLst>
                    <a:ext uri="{FF2B5EF4-FFF2-40B4-BE49-F238E27FC236}">
                      <a16:creationId xmlns:a16="http://schemas.microsoft.com/office/drawing/2014/main" id="{C8E4F11A-DD47-B44E-A200-18A33EF3D8EE}"/>
                    </a:ext>
                  </a:extLst>
                </p:cNvPr>
                <p:cNvSpPr/>
                <p:nvPr/>
              </p:nvSpPr>
              <p:spPr>
                <a:xfrm>
                  <a:off x="587141" y="2078050"/>
                  <a:ext cx="548640" cy="18288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1B795237-F6FE-0545-A8C4-B1C34276D777}"/>
                  </a:ext>
                </a:extLst>
              </p:cNvPr>
              <p:cNvSpPr/>
              <p:nvPr/>
            </p:nvSpPr>
            <p:spPr>
              <a:xfrm flipH="1" flipV="1">
                <a:off x="765453" y="3445211"/>
                <a:ext cx="85061" cy="7706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B3E328C9-24D5-5840-B9DA-003EE8C73775}"/>
                  </a:ext>
                </a:extLst>
              </p:cNvPr>
              <p:cNvSpPr/>
              <p:nvPr/>
            </p:nvSpPr>
            <p:spPr>
              <a:xfrm flipH="1" flipV="1">
                <a:off x="785570" y="2969718"/>
                <a:ext cx="85061" cy="7706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904EDC9C-EBF2-B743-BE43-1E3989E6C5E0}"/>
                  </a:ext>
                </a:extLst>
              </p:cNvPr>
              <p:cNvSpPr/>
              <p:nvPr/>
            </p:nvSpPr>
            <p:spPr>
              <a:xfrm>
                <a:off x="550027" y="2918948"/>
                <a:ext cx="550800" cy="18288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E7A2CBD2-E819-1741-8213-C72A338A324C}"/>
                  </a:ext>
                </a:extLst>
              </p:cNvPr>
              <p:cNvSpPr txBox="1"/>
              <p:nvPr/>
            </p:nvSpPr>
            <p:spPr>
              <a:xfrm>
                <a:off x="3192965" y="3830368"/>
                <a:ext cx="41389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tail</a:t>
                </a:r>
              </a:p>
            </p:txBody>
          </p:sp>
          <p:cxnSp>
            <p:nvCxnSpPr>
              <p:cNvPr id="74" name="Straight Arrow Connector 73">
                <a:extLst>
                  <a:ext uri="{FF2B5EF4-FFF2-40B4-BE49-F238E27FC236}">
                    <a16:creationId xmlns:a16="http://schemas.microsoft.com/office/drawing/2014/main" id="{77F16165-B1E4-E048-B03A-4C0E0F8DC9B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99375" y="3009281"/>
                <a:ext cx="459475" cy="1"/>
              </a:xfrm>
              <a:prstGeom prst="straightConnector1">
                <a:avLst/>
              </a:prstGeom>
              <a:ln w="22225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Arrow Connector 77">
                <a:extLst>
                  <a:ext uri="{FF2B5EF4-FFF2-40B4-BE49-F238E27FC236}">
                    <a16:creationId xmlns:a16="http://schemas.microsoft.com/office/drawing/2014/main" id="{2FCAF161-8DA5-0F42-A349-139619A959C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07520" y="3238353"/>
                <a:ext cx="459475" cy="1"/>
              </a:xfrm>
              <a:prstGeom prst="straightConnector1">
                <a:avLst/>
              </a:prstGeom>
              <a:ln w="22225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Arrow Connector 80">
                <a:extLst>
                  <a:ext uri="{FF2B5EF4-FFF2-40B4-BE49-F238E27FC236}">
                    <a16:creationId xmlns:a16="http://schemas.microsoft.com/office/drawing/2014/main" id="{3B039FF9-685D-6C47-8457-26241D54081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99375" y="3471435"/>
                <a:ext cx="459475" cy="1"/>
              </a:xfrm>
              <a:prstGeom prst="straightConnector1">
                <a:avLst/>
              </a:prstGeom>
              <a:ln w="22225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2" name="Group 81">
                <a:extLst>
                  <a:ext uri="{FF2B5EF4-FFF2-40B4-BE49-F238E27FC236}">
                    <a16:creationId xmlns:a16="http://schemas.microsoft.com/office/drawing/2014/main" id="{84D3AAFC-77CB-9446-BF92-3A02C1769784}"/>
                  </a:ext>
                </a:extLst>
              </p:cNvPr>
              <p:cNvGrpSpPr/>
              <p:nvPr/>
            </p:nvGrpSpPr>
            <p:grpSpPr>
              <a:xfrm>
                <a:off x="891485" y="4345374"/>
                <a:ext cx="548640" cy="461006"/>
                <a:chOff x="587141" y="1799924"/>
                <a:chExt cx="548640" cy="461006"/>
              </a:xfrm>
            </p:grpSpPr>
            <p:sp>
              <p:nvSpPr>
                <p:cNvPr id="83" name="Rectangle 82">
                  <a:extLst>
                    <a:ext uri="{FF2B5EF4-FFF2-40B4-BE49-F238E27FC236}">
                      <a16:creationId xmlns:a16="http://schemas.microsoft.com/office/drawing/2014/main" id="{ABCB8A42-DF76-D047-A3DE-30C5F1945769}"/>
                    </a:ext>
                  </a:extLst>
                </p:cNvPr>
                <p:cNvSpPr/>
                <p:nvPr/>
              </p:nvSpPr>
              <p:spPr>
                <a:xfrm>
                  <a:off x="587141" y="1799924"/>
                  <a:ext cx="548640" cy="279133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4" name="Rectangle 83">
                  <a:extLst>
                    <a:ext uri="{FF2B5EF4-FFF2-40B4-BE49-F238E27FC236}">
                      <a16:creationId xmlns:a16="http://schemas.microsoft.com/office/drawing/2014/main" id="{02A9A58A-DF25-FA45-97B8-08C1BC159938}"/>
                    </a:ext>
                  </a:extLst>
                </p:cNvPr>
                <p:cNvSpPr/>
                <p:nvPr/>
              </p:nvSpPr>
              <p:spPr>
                <a:xfrm>
                  <a:off x="587141" y="2078050"/>
                  <a:ext cx="548640" cy="18288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2B982003-0735-3A4B-921A-D46690A7AEF8}"/>
                  </a:ext>
                </a:extLst>
              </p:cNvPr>
              <p:cNvSpPr/>
              <p:nvPr/>
            </p:nvSpPr>
            <p:spPr>
              <a:xfrm flipH="1" flipV="1">
                <a:off x="1104918" y="4689793"/>
                <a:ext cx="85061" cy="7706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B69377E1-8C95-9044-9926-9232679B7055}"/>
                  </a:ext>
                </a:extLst>
              </p:cNvPr>
              <p:cNvSpPr/>
              <p:nvPr/>
            </p:nvSpPr>
            <p:spPr>
              <a:xfrm flipH="1" flipV="1">
                <a:off x="1125035" y="4214300"/>
                <a:ext cx="85061" cy="7706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0C70912C-4FAD-BD4A-9948-9A059A59E2AD}"/>
                  </a:ext>
                </a:extLst>
              </p:cNvPr>
              <p:cNvSpPr/>
              <p:nvPr/>
            </p:nvSpPr>
            <p:spPr>
              <a:xfrm>
                <a:off x="889492" y="4163530"/>
                <a:ext cx="550800" cy="18288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88" name="Group 87">
                <a:extLst>
                  <a:ext uri="{FF2B5EF4-FFF2-40B4-BE49-F238E27FC236}">
                    <a16:creationId xmlns:a16="http://schemas.microsoft.com/office/drawing/2014/main" id="{F4040B08-1796-8847-A556-2948EE151B90}"/>
                  </a:ext>
                </a:extLst>
              </p:cNvPr>
              <p:cNvGrpSpPr/>
              <p:nvPr/>
            </p:nvGrpSpPr>
            <p:grpSpPr>
              <a:xfrm>
                <a:off x="1985043" y="4345374"/>
                <a:ext cx="548640" cy="461006"/>
                <a:chOff x="587141" y="1799924"/>
                <a:chExt cx="548640" cy="461006"/>
              </a:xfrm>
            </p:grpSpPr>
            <p:sp>
              <p:nvSpPr>
                <p:cNvPr id="89" name="Rectangle 88">
                  <a:extLst>
                    <a:ext uri="{FF2B5EF4-FFF2-40B4-BE49-F238E27FC236}">
                      <a16:creationId xmlns:a16="http://schemas.microsoft.com/office/drawing/2014/main" id="{6DDDB861-3A82-604C-B5B9-EE6E28D67946}"/>
                    </a:ext>
                  </a:extLst>
                </p:cNvPr>
                <p:cNvSpPr/>
                <p:nvPr/>
              </p:nvSpPr>
              <p:spPr>
                <a:xfrm>
                  <a:off x="587141" y="1799924"/>
                  <a:ext cx="548640" cy="279133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0" name="Rectangle 89">
                  <a:extLst>
                    <a:ext uri="{FF2B5EF4-FFF2-40B4-BE49-F238E27FC236}">
                      <a16:creationId xmlns:a16="http://schemas.microsoft.com/office/drawing/2014/main" id="{AD7F3588-ECA8-8648-9839-4161BB9F4130}"/>
                    </a:ext>
                  </a:extLst>
                </p:cNvPr>
                <p:cNvSpPr/>
                <p:nvPr/>
              </p:nvSpPr>
              <p:spPr>
                <a:xfrm>
                  <a:off x="587141" y="2078050"/>
                  <a:ext cx="548640" cy="18288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06EBC1FD-0085-F841-892B-34A9E8FA7BE0}"/>
                  </a:ext>
                </a:extLst>
              </p:cNvPr>
              <p:cNvSpPr/>
              <p:nvPr/>
            </p:nvSpPr>
            <p:spPr>
              <a:xfrm flipH="1" flipV="1">
                <a:off x="2198476" y="4689793"/>
                <a:ext cx="85061" cy="7706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53FD097B-2D09-294A-9243-495BC168F306}"/>
                  </a:ext>
                </a:extLst>
              </p:cNvPr>
              <p:cNvSpPr/>
              <p:nvPr/>
            </p:nvSpPr>
            <p:spPr>
              <a:xfrm flipH="1" flipV="1">
                <a:off x="2218593" y="4214300"/>
                <a:ext cx="85061" cy="7706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FF682568-F414-5E40-8982-B951385EB382}"/>
                  </a:ext>
                </a:extLst>
              </p:cNvPr>
              <p:cNvSpPr/>
              <p:nvPr/>
            </p:nvSpPr>
            <p:spPr>
              <a:xfrm>
                <a:off x="1983050" y="4163530"/>
                <a:ext cx="550800" cy="18288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94" name="Group 93">
                <a:extLst>
                  <a:ext uri="{FF2B5EF4-FFF2-40B4-BE49-F238E27FC236}">
                    <a16:creationId xmlns:a16="http://schemas.microsoft.com/office/drawing/2014/main" id="{D4E831CF-FB10-4741-B637-1E49740368A0}"/>
                  </a:ext>
                </a:extLst>
              </p:cNvPr>
              <p:cNvGrpSpPr/>
              <p:nvPr/>
            </p:nvGrpSpPr>
            <p:grpSpPr>
              <a:xfrm>
                <a:off x="3146737" y="4345374"/>
                <a:ext cx="548640" cy="461006"/>
                <a:chOff x="587141" y="1799924"/>
                <a:chExt cx="548640" cy="461006"/>
              </a:xfrm>
            </p:grpSpPr>
            <p:sp>
              <p:nvSpPr>
                <p:cNvPr id="95" name="Rectangle 94">
                  <a:extLst>
                    <a:ext uri="{FF2B5EF4-FFF2-40B4-BE49-F238E27FC236}">
                      <a16:creationId xmlns:a16="http://schemas.microsoft.com/office/drawing/2014/main" id="{0ACB4E9E-F157-6044-831D-9D95F9507B6D}"/>
                    </a:ext>
                  </a:extLst>
                </p:cNvPr>
                <p:cNvSpPr/>
                <p:nvPr/>
              </p:nvSpPr>
              <p:spPr>
                <a:xfrm>
                  <a:off x="587141" y="1799924"/>
                  <a:ext cx="548640" cy="279133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6" name="Rectangle 95">
                  <a:extLst>
                    <a:ext uri="{FF2B5EF4-FFF2-40B4-BE49-F238E27FC236}">
                      <a16:creationId xmlns:a16="http://schemas.microsoft.com/office/drawing/2014/main" id="{95A1EFB7-B3D4-2A4B-896C-9D89972EA9CB}"/>
                    </a:ext>
                  </a:extLst>
                </p:cNvPr>
                <p:cNvSpPr/>
                <p:nvPr/>
              </p:nvSpPr>
              <p:spPr>
                <a:xfrm>
                  <a:off x="587141" y="2078050"/>
                  <a:ext cx="548640" cy="18288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30E476A2-BB2B-1647-828B-E0A445751B7A}"/>
                  </a:ext>
                </a:extLst>
              </p:cNvPr>
              <p:cNvSpPr/>
              <p:nvPr/>
            </p:nvSpPr>
            <p:spPr>
              <a:xfrm flipH="1" flipV="1">
                <a:off x="3360170" y="4689793"/>
                <a:ext cx="85061" cy="7706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63833744-D87F-B947-9DD6-F01136636DDA}"/>
                  </a:ext>
                </a:extLst>
              </p:cNvPr>
              <p:cNvSpPr/>
              <p:nvPr/>
            </p:nvSpPr>
            <p:spPr>
              <a:xfrm flipH="1" flipV="1">
                <a:off x="3380287" y="4214300"/>
                <a:ext cx="85061" cy="7706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0A4A9525-198B-3941-93E5-35D2F07A0497}"/>
                  </a:ext>
                </a:extLst>
              </p:cNvPr>
              <p:cNvSpPr/>
              <p:nvPr/>
            </p:nvSpPr>
            <p:spPr>
              <a:xfrm>
                <a:off x="3144744" y="4163530"/>
                <a:ext cx="550800" cy="18288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78373A0D-C2B3-C143-981B-2ABD85A656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69379" y="4734292"/>
                <a:ext cx="841090" cy="91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Arrow Connector 101">
                <a:extLst>
                  <a:ext uri="{FF2B5EF4-FFF2-40B4-BE49-F238E27FC236}">
                    <a16:creationId xmlns:a16="http://schemas.microsoft.com/office/drawing/2014/main" id="{B4F92566-93A0-7C4C-AA3F-CB44537C8842}"/>
                  </a:ext>
                </a:extLst>
              </p:cNvPr>
              <p:cNvCxnSpPr>
                <a:cxnSpLocks/>
                <a:endCxn id="93" idx="3"/>
              </p:cNvCxnSpPr>
              <p:nvPr/>
            </p:nvCxnSpPr>
            <p:spPr>
              <a:xfrm flipH="1">
                <a:off x="2533850" y="4252831"/>
                <a:ext cx="846438" cy="213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Arrow Connector 105">
                <a:extLst>
                  <a:ext uri="{FF2B5EF4-FFF2-40B4-BE49-F238E27FC236}">
                    <a16:creationId xmlns:a16="http://schemas.microsoft.com/office/drawing/2014/main" id="{3A8D75DA-798C-8046-AD38-C5300C91399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11190" y="4267583"/>
                <a:ext cx="846438" cy="213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Arrow Connector 106">
                <a:extLst>
                  <a:ext uri="{FF2B5EF4-FFF2-40B4-BE49-F238E27FC236}">
                    <a16:creationId xmlns:a16="http://schemas.microsoft.com/office/drawing/2014/main" id="{EF28E2D1-A7B9-F841-A9C5-303CECFAD50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7999" y="4259677"/>
                <a:ext cx="846438" cy="213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8" name="Text Placeholder 56">
                <a:extLst>
                  <a:ext uri="{FF2B5EF4-FFF2-40B4-BE49-F238E27FC236}">
                    <a16:creationId xmlns:a16="http://schemas.microsoft.com/office/drawing/2014/main" id="{74306E29-FE07-4A42-93A1-31482BDA097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5985" y="4005130"/>
                <a:ext cx="463588" cy="286232"/>
              </a:xfrm>
              <a:prstGeom prst="rect">
                <a:avLst/>
              </a:prstGeom>
              <a:noFill/>
            </p:spPr>
            <p:txBody>
              <a:bodyPr vert="horz" wrap="none" lIns="91440" tIns="45720" rIns="91440" bIns="45720" rtlCol="0">
                <a:spAutoFit/>
              </a:bodyPr>
              <a:lstStyle>
                <a:lvl1pPr marL="0" indent="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None/>
                  <a:defRPr sz="2400" b="0" kern="120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1pPr>
                <a:lvl2pPr marL="3429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50" kern="120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2pPr>
                <a:lvl3pPr marL="6858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900" b="1" kern="120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3pPr>
                <a:lvl4pPr marL="10287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750" kern="120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4pPr>
                <a:lvl5pPr marL="13716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750" b="1" kern="1200"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5pPr>
                <a:lvl6pPr marL="17145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7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7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7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7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400" i="1">
                    <a:latin typeface="Arial" panose="020B0604020202020204" pitchFamily="34" charset="0"/>
                    <a:cs typeface="Arial" panose="020B0604020202020204" pitchFamily="34" charset="0"/>
                  </a:rPr>
                  <a:t>null</a:t>
                </a:r>
                <a:endParaRPr lang="en-US" sz="14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544732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0F0ED07-FB17-D841-B39F-0A7ADB5AE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ADT IMPLEMENTATION: LINKED LIST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A92F95F-3A86-244C-8F2F-8E691E374E7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Singly-linked list: insert (append/prepend)</a:t>
            </a:r>
          </a:p>
        </p:txBody>
      </p:sp>
      <p:sp>
        <p:nvSpPr>
          <p:cNvPr id="29" name="Text Placeholder 56">
            <a:extLst>
              <a:ext uri="{FF2B5EF4-FFF2-40B4-BE49-F238E27FC236}">
                <a16:creationId xmlns:a16="http://schemas.microsoft.com/office/drawing/2014/main" id="{59BF86EE-CC56-C94F-B34D-D832F0114DCD}"/>
              </a:ext>
            </a:extLst>
          </p:cNvPr>
          <p:cNvSpPr txBox="1">
            <a:spLocks/>
          </p:cNvSpPr>
          <p:nvPr/>
        </p:nvSpPr>
        <p:spPr>
          <a:xfrm>
            <a:off x="4891127" y="2026633"/>
            <a:ext cx="463588" cy="286232"/>
          </a:xfrm>
          <a:prstGeom prst="rect">
            <a:avLst/>
          </a:prstGeom>
          <a:noFill/>
        </p:spPr>
        <p:txBody>
          <a:bodyPr vert="horz" wrap="none" lIns="91440" tIns="45720" rIns="91440" bIns="45720" rtlCol="0">
            <a:sp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400" b="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b="1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i="1">
                <a:latin typeface="Arial" panose="020B0604020202020204" pitchFamily="34" charset="0"/>
                <a:cs typeface="Arial" panose="020B0604020202020204" pitchFamily="34" charset="0"/>
              </a:rPr>
              <a:t>null</a:t>
            </a:r>
            <a:endParaRPr 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Group 3" descr="graphical representation of  a linked list">
            <a:extLst>
              <a:ext uri="{FF2B5EF4-FFF2-40B4-BE49-F238E27FC236}">
                <a16:creationId xmlns:a16="http://schemas.microsoft.com/office/drawing/2014/main" id="{92BC93A3-E259-7943-BF0F-70B1A087C150}"/>
              </a:ext>
            </a:extLst>
          </p:cNvPr>
          <p:cNvGrpSpPr/>
          <p:nvPr/>
        </p:nvGrpSpPr>
        <p:grpSpPr>
          <a:xfrm>
            <a:off x="834855" y="1783620"/>
            <a:ext cx="4071094" cy="1115194"/>
            <a:chOff x="834855" y="1783620"/>
            <a:chExt cx="4071094" cy="111519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17CD2A5-703F-1244-A030-0C1465D6C2DB}"/>
                </a:ext>
              </a:extLst>
            </p:cNvPr>
            <p:cNvGrpSpPr/>
            <p:nvPr/>
          </p:nvGrpSpPr>
          <p:grpSpPr>
            <a:xfrm>
              <a:off x="891485" y="1789550"/>
              <a:ext cx="548640" cy="471639"/>
              <a:chOff x="863679" y="2631429"/>
              <a:chExt cx="548640" cy="471639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87907DC6-8431-6443-815F-196E9A005CC5}"/>
                  </a:ext>
                </a:extLst>
              </p:cNvPr>
              <p:cNvGrpSpPr/>
              <p:nvPr/>
            </p:nvGrpSpPr>
            <p:grpSpPr>
              <a:xfrm>
                <a:off x="863679" y="2631429"/>
                <a:ext cx="548640" cy="471639"/>
                <a:chOff x="587141" y="1799924"/>
                <a:chExt cx="548640" cy="471639"/>
              </a:xfrm>
            </p:grpSpPr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3857A889-DB58-FB48-86BD-19F81A4FDEEE}"/>
                    </a:ext>
                  </a:extLst>
                </p:cNvPr>
                <p:cNvSpPr/>
                <p:nvPr/>
              </p:nvSpPr>
              <p:spPr>
                <a:xfrm>
                  <a:off x="587141" y="1799924"/>
                  <a:ext cx="548640" cy="279133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CA72C18C-0151-524A-9886-8E74AB0322C7}"/>
                    </a:ext>
                  </a:extLst>
                </p:cNvPr>
                <p:cNvSpPr/>
                <p:nvPr/>
              </p:nvSpPr>
              <p:spPr>
                <a:xfrm>
                  <a:off x="587141" y="2088683"/>
                  <a:ext cx="548640" cy="18288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742309A3-3A33-5F45-AD75-442C3982A916}"/>
                  </a:ext>
                </a:extLst>
              </p:cNvPr>
              <p:cNvSpPr/>
              <p:nvPr/>
            </p:nvSpPr>
            <p:spPr>
              <a:xfrm flipH="1" flipV="1">
                <a:off x="1084835" y="2965398"/>
                <a:ext cx="85061" cy="7706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203559FE-4F33-B44A-8110-B4E2DA523D9D}"/>
                </a:ext>
              </a:extLst>
            </p:cNvPr>
            <p:cNvGrpSpPr/>
            <p:nvPr/>
          </p:nvGrpSpPr>
          <p:grpSpPr>
            <a:xfrm>
              <a:off x="1956684" y="1789550"/>
              <a:ext cx="548640" cy="471639"/>
              <a:chOff x="1928878" y="2631429"/>
              <a:chExt cx="548640" cy="471639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C8DA1ADA-51E3-614F-8C24-E437F2320DF8}"/>
                  </a:ext>
                </a:extLst>
              </p:cNvPr>
              <p:cNvGrpSpPr/>
              <p:nvPr/>
            </p:nvGrpSpPr>
            <p:grpSpPr>
              <a:xfrm>
                <a:off x="1928878" y="2631429"/>
                <a:ext cx="548640" cy="471639"/>
                <a:chOff x="587141" y="1799924"/>
                <a:chExt cx="548640" cy="471639"/>
              </a:xfrm>
            </p:grpSpPr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D958078C-304F-8048-8F69-7576FF53D6DB}"/>
                    </a:ext>
                  </a:extLst>
                </p:cNvPr>
                <p:cNvSpPr/>
                <p:nvPr/>
              </p:nvSpPr>
              <p:spPr>
                <a:xfrm>
                  <a:off x="587141" y="1799924"/>
                  <a:ext cx="548640" cy="279133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C785F85D-70D3-494B-A88A-CB344CAADEFC}"/>
                    </a:ext>
                  </a:extLst>
                </p:cNvPr>
                <p:cNvSpPr/>
                <p:nvPr/>
              </p:nvSpPr>
              <p:spPr>
                <a:xfrm>
                  <a:off x="587141" y="2088683"/>
                  <a:ext cx="548640" cy="18288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A9BCAD22-2843-D047-8577-96E20BB7605A}"/>
                  </a:ext>
                </a:extLst>
              </p:cNvPr>
              <p:cNvSpPr/>
              <p:nvPr/>
            </p:nvSpPr>
            <p:spPr>
              <a:xfrm flipH="1" flipV="1">
                <a:off x="2150034" y="2965398"/>
                <a:ext cx="85061" cy="7706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7196A47-91DF-C14F-AE37-588185905D83}"/>
                </a:ext>
              </a:extLst>
            </p:cNvPr>
            <p:cNvGrpSpPr/>
            <p:nvPr/>
          </p:nvGrpSpPr>
          <p:grpSpPr>
            <a:xfrm>
              <a:off x="3001550" y="1783620"/>
              <a:ext cx="548640" cy="471639"/>
              <a:chOff x="2973744" y="2625499"/>
              <a:chExt cx="548640" cy="471639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C8B65DCA-5EA6-1947-8783-65FFD866C327}"/>
                  </a:ext>
                </a:extLst>
              </p:cNvPr>
              <p:cNvGrpSpPr/>
              <p:nvPr/>
            </p:nvGrpSpPr>
            <p:grpSpPr>
              <a:xfrm>
                <a:off x="2973744" y="2625499"/>
                <a:ext cx="548640" cy="471639"/>
                <a:chOff x="587141" y="1799924"/>
                <a:chExt cx="548640" cy="471639"/>
              </a:xfrm>
            </p:grpSpPr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ADABCAD0-CDCA-FC45-AC0A-71C484F64239}"/>
                    </a:ext>
                  </a:extLst>
                </p:cNvPr>
                <p:cNvSpPr/>
                <p:nvPr/>
              </p:nvSpPr>
              <p:spPr>
                <a:xfrm>
                  <a:off x="587141" y="1799924"/>
                  <a:ext cx="548640" cy="279133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F7BAA376-9F43-D24D-B3C1-A9BE1FEC2314}"/>
                    </a:ext>
                  </a:extLst>
                </p:cNvPr>
                <p:cNvSpPr/>
                <p:nvPr/>
              </p:nvSpPr>
              <p:spPr>
                <a:xfrm>
                  <a:off x="587141" y="2088683"/>
                  <a:ext cx="548640" cy="18288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3BC462C9-15FD-FC4A-88C6-050CE8F42B4F}"/>
                  </a:ext>
                </a:extLst>
              </p:cNvPr>
              <p:cNvSpPr/>
              <p:nvPr/>
            </p:nvSpPr>
            <p:spPr>
              <a:xfrm flipH="1" flipV="1">
                <a:off x="3194900" y="2959468"/>
                <a:ext cx="85061" cy="7706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01E1029F-4771-DD4B-AA7D-3C15952D056B}"/>
                </a:ext>
              </a:extLst>
            </p:cNvPr>
            <p:cNvGrpSpPr/>
            <p:nvPr/>
          </p:nvGrpSpPr>
          <p:grpSpPr>
            <a:xfrm>
              <a:off x="4051166" y="1795152"/>
              <a:ext cx="548640" cy="471639"/>
              <a:chOff x="4023360" y="2637031"/>
              <a:chExt cx="548640" cy="471639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DB09A6CD-C822-A641-8EEE-2DF204325EC9}"/>
                  </a:ext>
                </a:extLst>
              </p:cNvPr>
              <p:cNvSpPr/>
              <p:nvPr/>
            </p:nvSpPr>
            <p:spPr>
              <a:xfrm>
                <a:off x="4023360" y="2637031"/>
                <a:ext cx="548640" cy="279133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1E320126-8DA5-314F-B7CB-41F68E3A0880}"/>
                  </a:ext>
                </a:extLst>
              </p:cNvPr>
              <p:cNvSpPr/>
              <p:nvPr/>
            </p:nvSpPr>
            <p:spPr>
              <a:xfrm>
                <a:off x="4023360" y="2925790"/>
                <a:ext cx="548640" cy="18288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3B87788C-68B7-4748-8620-EC538EBF75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41609" y="2261189"/>
              <a:ext cx="334" cy="348180"/>
            </a:xfrm>
            <a:prstGeom prst="straightConnector1">
              <a:avLst/>
            </a:prstGeom>
            <a:ln w="254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AA46FA93-5F00-3A49-98B5-CFED27BFB3AD}"/>
                </a:ext>
              </a:extLst>
            </p:cNvPr>
            <p:cNvCxnSpPr>
              <a:cxnSpLocks/>
              <a:endCxn id="13" idx="1"/>
            </p:cNvCxnSpPr>
            <p:nvPr/>
          </p:nvCxnSpPr>
          <p:spPr>
            <a:xfrm flipV="1">
              <a:off x="1197702" y="1929117"/>
              <a:ext cx="758982" cy="22700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3BF1B6D9-A507-1848-8E8E-281CF06CD3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62901" y="1933203"/>
              <a:ext cx="758982" cy="22700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8ACC59FB-ADA6-D243-B7FA-5F5289CE92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96257" y="1928172"/>
              <a:ext cx="758982" cy="22700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D7CDBA24-DBA7-0F47-AE82-F271FE204626}"/>
                </a:ext>
              </a:extLst>
            </p:cNvPr>
            <p:cNvSpPr/>
            <p:nvPr/>
          </p:nvSpPr>
          <p:spPr>
            <a:xfrm flipH="1" flipV="1">
              <a:off x="4243867" y="2131218"/>
              <a:ext cx="85061" cy="77062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2692036E-18CB-8347-A004-7EC9D7249A1C}"/>
                </a:ext>
              </a:extLst>
            </p:cNvPr>
            <p:cNvCxnSpPr/>
            <p:nvPr/>
          </p:nvCxnSpPr>
          <p:spPr>
            <a:xfrm>
              <a:off x="4340993" y="2173893"/>
              <a:ext cx="564956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E618D62-B7B3-D54D-8DCE-D87687DC28BE}"/>
                </a:ext>
              </a:extLst>
            </p:cNvPr>
            <p:cNvSpPr txBox="1"/>
            <p:nvPr/>
          </p:nvSpPr>
          <p:spPr>
            <a:xfrm>
              <a:off x="834855" y="2591037"/>
              <a:ext cx="5822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head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3A0B057-F9DF-F04A-9F79-B0BC588B6A56}"/>
                </a:ext>
              </a:extLst>
            </p:cNvPr>
            <p:cNvSpPr txBox="1"/>
            <p:nvPr/>
          </p:nvSpPr>
          <p:spPr>
            <a:xfrm>
              <a:off x="4112386" y="2591037"/>
              <a:ext cx="41389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tail</a:t>
              </a: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DC3C2954-4DFC-DA42-9025-EBF62B3EC6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86397" y="2261189"/>
              <a:ext cx="334" cy="348180"/>
            </a:xfrm>
            <a:prstGeom prst="straightConnector1">
              <a:avLst/>
            </a:prstGeom>
            <a:ln w="254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A5A3E5B5-A8A5-FA4A-96F4-6115285108EB}"/>
              </a:ext>
            </a:extLst>
          </p:cNvPr>
          <p:cNvSpPr txBox="1"/>
          <p:nvPr/>
        </p:nvSpPr>
        <p:spPr>
          <a:xfrm>
            <a:off x="2505324" y="3187091"/>
            <a:ext cx="284805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Append(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newItem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dirty="0"/>
              <a:t>:</a:t>
            </a:r>
          </a:p>
          <a:p>
            <a:r>
              <a:rPr lang="en-US" sz="1600" dirty="0">
                <a:latin typeface="Courier" pitchFamily="2" charset="0"/>
              </a:rPr>
              <a:t>  </a:t>
            </a:r>
            <a:r>
              <a:rPr lang="en-US" sz="1600" dirty="0" err="1">
                <a:latin typeface="Courier" pitchFamily="2" charset="0"/>
              </a:rPr>
              <a:t>tail.next</a:t>
            </a:r>
            <a:r>
              <a:rPr lang="en-US" sz="1600" dirty="0">
                <a:latin typeface="Courier" pitchFamily="2" charset="0"/>
              </a:rPr>
              <a:t>=</a:t>
            </a:r>
            <a:r>
              <a:rPr lang="en-US" sz="1600" dirty="0" err="1">
                <a:latin typeface="Courier" pitchFamily="2" charset="0"/>
              </a:rPr>
              <a:t>newItem</a:t>
            </a:r>
            <a:endParaRPr lang="en-US" sz="1600" dirty="0">
              <a:latin typeface="Courier" pitchFamily="2" charset="0"/>
            </a:endParaRPr>
          </a:p>
          <a:p>
            <a:r>
              <a:rPr lang="en-US" sz="1600" dirty="0">
                <a:latin typeface="Courier" pitchFamily="2" charset="0"/>
              </a:rPr>
              <a:t>  </a:t>
            </a:r>
            <a:r>
              <a:rPr lang="en-US" sz="1600" dirty="0" err="1">
                <a:latin typeface="Courier" pitchFamily="2" charset="0"/>
              </a:rPr>
              <a:t>newItem.next</a:t>
            </a:r>
            <a:r>
              <a:rPr lang="en-US" sz="1600" dirty="0">
                <a:latin typeface="Courier" pitchFamily="2" charset="0"/>
              </a:rPr>
              <a:t>=null</a:t>
            </a:r>
          </a:p>
          <a:p>
            <a:r>
              <a:rPr lang="en-US" sz="1600" dirty="0">
                <a:latin typeface="Courier" pitchFamily="2" charset="0"/>
              </a:rPr>
              <a:t>  tail= </a:t>
            </a:r>
            <a:r>
              <a:rPr lang="en-US" sz="1600" dirty="0" err="1">
                <a:latin typeface="Courier" pitchFamily="2" charset="0"/>
              </a:rPr>
              <a:t>newItem</a:t>
            </a:r>
            <a:endParaRPr lang="en-US" sz="1600" dirty="0">
              <a:latin typeface="Courier" pitchFamily="2" charset="0"/>
            </a:endParaRPr>
          </a:p>
          <a:p>
            <a:endParaRPr lang="en-US" dirty="0"/>
          </a:p>
        </p:txBody>
      </p:sp>
      <p:grpSp>
        <p:nvGrpSpPr>
          <p:cNvPr id="32" name="Group 31" descr="graphical representation of  a list node">
            <a:extLst>
              <a:ext uri="{FF2B5EF4-FFF2-40B4-BE49-F238E27FC236}">
                <a16:creationId xmlns:a16="http://schemas.microsoft.com/office/drawing/2014/main" id="{FD64D7C0-2AE5-3D47-8BB5-8F16FE1E8EC7}"/>
              </a:ext>
            </a:extLst>
          </p:cNvPr>
          <p:cNvGrpSpPr/>
          <p:nvPr/>
        </p:nvGrpSpPr>
        <p:grpSpPr>
          <a:xfrm>
            <a:off x="794212" y="3583477"/>
            <a:ext cx="861133" cy="1109264"/>
            <a:chOff x="794212" y="3583477"/>
            <a:chExt cx="861133" cy="1109264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8180ACD3-1696-7847-B59D-3F55351F7010}"/>
                </a:ext>
              </a:extLst>
            </p:cNvPr>
            <p:cNvGrpSpPr/>
            <p:nvPr/>
          </p:nvGrpSpPr>
          <p:grpSpPr>
            <a:xfrm>
              <a:off x="891485" y="3583477"/>
              <a:ext cx="548640" cy="471639"/>
              <a:chOff x="863679" y="2631429"/>
              <a:chExt cx="548640" cy="471639"/>
            </a:xfrm>
          </p:grpSpPr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6714B5A3-8091-2C4B-BFA2-7C32DBE46B3D}"/>
                  </a:ext>
                </a:extLst>
              </p:cNvPr>
              <p:cNvGrpSpPr/>
              <p:nvPr/>
            </p:nvGrpSpPr>
            <p:grpSpPr>
              <a:xfrm>
                <a:off x="863679" y="2631429"/>
                <a:ext cx="548640" cy="471639"/>
                <a:chOff x="587141" y="1799924"/>
                <a:chExt cx="548640" cy="471639"/>
              </a:xfrm>
            </p:grpSpPr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E9548046-771E-B940-9205-BC70C0D6361E}"/>
                    </a:ext>
                  </a:extLst>
                </p:cNvPr>
                <p:cNvSpPr/>
                <p:nvPr/>
              </p:nvSpPr>
              <p:spPr>
                <a:xfrm>
                  <a:off x="587141" y="1799924"/>
                  <a:ext cx="548640" cy="279133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B00C6729-4CB9-4A42-9BC1-D5552557EAEC}"/>
                    </a:ext>
                  </a:extLst>
                </p:cNvPr>
                <p:cNvSpPr/>
                <p:nvPr/>
              </p:nvSpPr>
              <p:spPr>
                <a:xfrm>
                  <a:off x="587141" y="2088683"/>
                  <a:ext cx="548640" cy="18288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E814D84C-0F2F-3047-A261-FE05F02956B5}"/>
                  </a:ext>
                </a:extLst>
              </p:cNvPr>
              <p:cNvSpPr/>
              <p:nvPr/>
            </p:nvSpPr>
            <p:spPr>
              <a:xfrm flipH="1" flipV="1">
                <a:off x="1084835" y="2965398"/>
                <a:ext cx="85061" cy="7706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DD152340-889F-5D47-9470-3AAF7831F4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1766" y="4055116"/>
              <a:ext cx="334" cy="348180"/>
            </a:xfrm>
            <a:prstGeom prst="straightConnector1">
              <a:avLst/>
            </a:prstGeom>
            <a:ln w="254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B0A52B1-02C6-B348-B364-A521B4F64DCE}"/>
                </a:ext>
              </a:extLst>
            </p:cNvPr>
            <p:cNvSpPr txBox="1"/>
            <p:nvPr/>
          </p:nvSpPr>
          <p:spPr>
            <a:xfrm>
              <a:off x="794212" y="4384964"/>
              <a:ext cx="86113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>
                  <a:latin typeface="Arial" panose="020B0604020202020204" pitchFamily="34" charset="0"/>
                  <a:cs typeface="Arial" panose="020B0604020202020204" pitchFamily="34" charset="0"/>
                </a:rPr>
                <a:t>newItem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15DD278B-8D98-D349-8D7B-35E8BB280738}"/>
              </a:ext>
            </a:extLst>
          </p:cNvPr>
          <p:cNvSpPr txBox="1"/>
          <p:nvPr/>
        </p:nvSpPr>
        <p:spPr>
          <a:xfrm>
            <a:off x="5404460" y="3187091"/>
            <a:ext cx="2848055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Prepend(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newItem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dirty="0"/>
              <a:t>:</a:t>
            </a:r>
          </a:p>
          <a:p>
            <a:r>
              <a:rPr lang="en-US" sz="1600" dirty="0">
                <a:latin typeface="Courier" pitchFamily="2" charset="0"/>
              </a:rPr>
              <a:t>  </a:t>
            </a:r>
            <a:r>
              <a:rPr lang="en-US" sz="1600" dirty="0" err="1">
                <a:latin typeface="Courier" pitchFamily="2" charset="0"/>
              </a:rPr>
              <a:t>newItem.next</a:t>
            </a:r>
            <a:r>
              <a:rPr lang="en-US" sz="1600" dirty="0">
                <a:latin typeface="Courier" pitchFamily="2" charset="0"/>
              </a:rPr>
              <a:t>=head</a:t>
            </a:r>
          </a:p>
          <a:p>
            <a:r>
              <a:rPr lang="en-US" sz="1600" dirty="0">
                <a:latin typeface="Courier" pitchFamily="2" charset="0"/>
              </a:rPr>
              <a:t>  head= </a:t>
            </a:r>
            <a:r>
              <a:rPr lang="en-US" sz="1600" dirty="0" err="1">
                <a:latin typeface="Courier" pitchFamily="2" charset="0"/>
              </a:rPr>
              <a:t>newItem</a:t>
            </a:r>
            <a:endParaRPr lang="en-US" sz="1600" dirty="0">
              <a:latin typeface="Courier" pitchFamily="2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9875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0F0ED07-FB17-D841-B39F-0A7ADB5AE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ADT IMPLEMENTATION: LINKED LIST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A92F95F-3A86-244C-8F2F-8E691E374E7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Singly-linked list: delete</a:t>
            </a:r>
          </a:p>
        </p:txBody>
      </p:sp>
      <p:sp>
        <p:nvSpPr>
          <p:cNvPr id="29" name="Text Placeholder 56">
            <a:extLst>
              <a:ext uri="{FF2B5EF4-FFF2-40B4-BE49-F238E27FC236}">
                <a16:creationId xmlns:a16="http://schemas.microsoft.com/office/drawing/2014/main" id="{59BF86EE-CC56-C94F-B34D-D832F0114DCD}"/>
              </a:ext>
            </a:extLst>
          </p:cNvPr>
          <p:cNvSpPr txBox="1">
            <a:spLocks/>
          </p:cNvSpPr>
          <p:nvPr/>
        </p:nvSpPr>
        <p:spPr>
          <a:xfrm>
            <a:off x="4891127" y="2026633"/>
            <a:ext cx="463588" cy="286232"/>
          </a:xfrm>
          <a:prstGeom prst="rect">
            <a:avLst/>
          </a:prstGeom>
          <a:noFill/>
        </p:spPr>
        <p:txBody>
          <a:bodyPr vert="horz" wrap="none" lIns="91440" tIns="45720" rIns="91440" bIns="45720" rtlCol="0">
            <a:sp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400" b="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b="1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i="1">
                <a:latin typeface="Arial" panose="020B0604020202020204" pitchFamily="34" charset="0"/>
                <a:cs typeface="Arial" panose="020B0604020202020204" pitchFamily="34" charset="0"/>
              </a:rPr>
              <a:t>null</a:t>
            </a:r>
            <a:endParaRPr 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5A3E5B5-A8A5-FA4A-96F4-6115285108EB}"/>
              </a:ext>
            </a:extLst>
          </p:cNvPr>
          <p:cNvSpPr txBox="1"/>
          <p:nvPr/>
        </p:nvSpPr>
        <p:spPr>
          <a:xfrm>
            <a:off x="702135" y="3278834"/>
            <a:ext cx="7171865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delete 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targetNode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dirty="0"/>
              <a:t>:</a:t>
            </a:r>
          </a:p>
          <a:p>
            <a:r>
              <a:rPr lang="en-US" sz="1600" dirty="0">
                <a:latin typeface="Courier" pitchFamily="2" charset="0"/>
              </a:rPr>
              <a:t>  </a:t>
            </a:r>
            <a:r>
              <a:rPr lang="en-US" sz="1600" dirty="0" err="1">
                <a:latin typeface="Courier" pitchFamily="2" charset="0"/>
              </a:rPr>
              <a:t>curNode</a:t>
            </a:r>
            <a:r>
              <a:rPr lang="en-US" sz="1600" dirty="0">
                <a:latin typeface="Courier" pitchFamily="2" charset="0"/>
              </a:rPr>
              <a:t> = head</a:t>
            </a:r>
          </a:p>
          <a:p>
            <a:r>
              <a:rPr lang="en-US" sz="1600" dirty="0">
                <a:latin typeface="Courier" pitchFamily="2" charset="0"/>
              </a:rPr>
              <a:t>  while (</a:t>
            </a:r>
            <a:r>
              <a:rPr lang="en-US" sz="1600" dirty="0" err="1">
                <a:latin typeface="Courier" pitchFamily="2" charset="0"/>
              </a:rPr>
              <a:t>curNode.next</a:t>
            </a:r>
            <a:r>
              <a:rPr lang="en-US" sz="1600" dirty="0">
                <a:latin typeface="Courier" pitchFamily="2" charset="0"/>
              </a:rPr>
              <a:t> != </a:t>
            </a:r>
            <a:r>
              <a:rPr lang="en-US" sz="1600" dirty="0" err="1">
                <a:latin typeface="Courier" pitchFamily="2" charset="0"/>
              </a:rPr>
              <a:t>targetNode</a:t>
            </a:r>
            <a:r>
              <a:rPr lang="en-US" sz="1600" dirty="0">
                <a:latin typeface="Courier" pitchFamily="2" charset="0"/>
              </a:rPr>
              <a:t>)</a:t>
            </a:r>
          </a:p>
          <a:p>
            <a:r>
              <a:rPr lang="en-US" sz="1600" dirty="0">
                <a:latin typeface="Courier" pitchFamily="2" charset="0"/>
              </a:rPr>
              <a:t>	</a:t>
            </a:r>
            <a:r>
              <a:rPr lang="en-US" sz="1600" dirty="0" err="1">
                <a:latin typeface="Courier" pitchFamily="2" charset="0"/>
              </a:rPr>
              <a:t>curNode</a:t>
            </a:r>
            <a:r>
              <a:rPr lang="en-US" sz="1600" dirty="0">
                <a:latin typeface="Courier" pitchFamily="2" charset="0"/>
              </a:rPr>
              <a:t> = </a:t>
            </a:r>
            <a:r>
              <a:rPr lang="en-US" sz="1600" dirty="0" err="1">
                <a:latin typeface="Courier" pitchFamily="2" charset="0"/>
              </a:rPr>
              <a:t>curNode.next</a:t>
            </a:r>
            <a:endParaRPr lang="en-US" sz="1600" dirty="0">
              <a:latin typeface="Courier" pitchFamily="2" charset="0"/>
            </a:endParaRPr>
          </a:p>
          <a:p>
            <a:r>
              <a:rPr lang="en-US" sz="1600" dirty="0">
                <a:latin typeface="Courier" pitchFamily="2" charset="0"/>
              </a:rPr>
              <a:t>  </a:t>
            </a:r>
            <a:r>
              <a:rPr lang="en-US" sz="1600" dirty="0" err="1">
                <a:latin typeface="Courier" pitchFamily="2" charset="0"/>
              </a:rPr>
              <a:t>curNode.next</a:t>
            </a:r>
            <a:r>
              <a:rPr lang="en-US" sz="1600" dirty="0">
                <a:latin typeface="Courier" pitchFamily="2" charset="0"/>
              </a:rPr>
              <a:t>=</a:t>
            </a:r>
            <a:r>
              <a:rPr lang="en-US" sz="1600" dirty="0" err="1">
                <a:latin typeface="Courier" pitchFamily="2" charset="0"/>
              </a:rPr>
              <a:t>targetNode.next</a:t>
            </a:r>
            <a:endParaRPr lang="en-US" dirty="0"/>
          </a:p>
        </p:txBody>
      </p:sp>
      <p:grpSp>
        <p:nvGrpSpPr>
          <p:cNvPr id="4" name="Group 3" descr="graphical representation of  a linked list">
            <a:extLst>
              <a:ext uri="{FF2B5EF4-FFF2-40B4-BE49-F238E27FC236}">
                <a16:creationId xmlns:a16="http://schemas.microsoft.com/office/drawing/2014/main" id="{D8466DD0-B233-044F-B5F6-405D593DE653}"/>
              </a:ext>
            </a:extLst>
          </p:cNvPr>
          <p:cNvGrpSpPr/>
          <p:nvPr/>
        </p:nvGrpSpPr>
        <p:grpSpPr>
          <a:xfrm>
            <a:off x="834855" y="1783620"/>
            <a:ext cx="4071094" cy="1132702"/>
            <a:chOff x="834855" y="1783620"/>
            <a:chExt cx="4071094" cy="113270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17CD2A5-703F-1244-A030-0C1465D6C2DB}"/>
                </a:ext>
              </a:extLst>
            </p:cNvPr>
            <p:cNvGrpSpPr/>
            <p:nvPr/>
          </p:nvGrpSpPr>
          <p:grpSpPr>
            <a:xfrm>
              <a:off x="891485" y="1789550"/>
              <a:ext cx="548640" cy="471639"/>
              <a:chOff x="863679" y="2631429"/>
              <a:chExt cx="548640" cy="471639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87907DC6-8431-6443-815F-196E9A005CC5}"/>
                  </a:ext>
                </a:extLst>
              </p:cNvPr>
              <p:cNvGrpSpPr/>
              <p:nvPr/>
            </p:nvGrpSpPr>
            <p:grpSpPr>
              <a:xfrm>
                <a:off x="863679" y="2631429"/>
                <a:ext cx="548640" cy="471639"/>
                <a:chOff x="587141" y="1799924"/>
                <a:chExt cx="548640" cy="471639"/>
              </a:xfrm>
            </p:grpSpPr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3857A889-DB58-FB48-86BD-19F81A4FDEEE}"/>
                    </a:ext>
                  </a:extLst>
                </p:cNvPr>
                <p:cNvSpPr/>
                <p:nvPr/>
              </p:nvSpPr>
              <p:spPr>
                <a:xfrm>
                  <a:off x="587141" y="1799924"/>
                  <a:ext cx="548640" cy="279133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CA72C18C-0151-524A-9886-8E74AB0322C7}"/>
                    </a:ext>
                  </a:extLst>
                </p:cNvPr>
                <p:cNvSpPr/>
                <p:nvPr/>
              </p:nvSpPr>
              <p:spPr>
                <a:xfrm>
                  <a:off x="587141" y="2088683"/>
                  <a:ext cx="548640" cy="18288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742309A3-3A33-5F45-AD75-442C3982A916}"/>
                  </a:ext>
                </a:extLst>
              </p:cNvPr>
              <p:cNvSpPr/>
              <p:nvPr/>
            </p:nvSpPr>
            <p:spPr>
              <a:xfrm flipH="1" flipV="1">
                <a:off x="1084835" y="2965398"/>
                <a:ext cx="85061" cy="7706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203559FE-4F33-B44A-8110-B4E2DA523D9D}"/>
                </a:ext>
              </a:extLst>
            </p:cNvPr>
            <p:cNvGrpSpPr/>
            <p:nvPr/>
          </p:nvGrpSpPr>
          <p:grpSpPr>
            <a:xfrm>
              <a:off x="1956684" y="1789550"/>
              <a:ext cx="548640" cy="471639"/>
              <a:chOff x="1928878" y="2631429"/>
              <a:chExt cx="548640" cy="471639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C8DA1ADA-51E3-614F-8C24-E437F2320DF8}"/>
                  </a:ext>
                </a:extLst>
              </p:cNvPr>
              <p:cNvGrpSpPr/>
              <p:nvPr/>
            </p:nvGrpSpPr>
            <p:grpSpPr>
              <a:xfrm>
                <a:off x="1928878" y="2631429"/>
                <a:ext cx="548640" cy="471639"/>
                <a:chOff x="587141" y="1799924"/>
                <a:chExt cx="548640" cy="471639"/>
              </a:xfrm>
            </p:grpSpPr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D958078C-304F-8048-8F69-7576FF53D6DB}"/>
                    </a:ext>
                  </a:extLst>
                </p:cNvPr>
                <p:cNvSpPr/>
                <p:nvPr/>
              </p:nvSpPr>
              <p:spPr>
                <a:xfrm>
                  <a:off x="587141" y="1799924"/>
                  <a:ext cx="548640" cy="279133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C785F85D-70D3-494B-A88A-CB344CAADEFC}"/>
                    </a:ext>
                  </a:extLst>
                </p:cNvPr>
                <p:cNvSpPr/>
                <p:nvPr/>
              </p:nvSpPr>
              <p:spPr>
                <a:xfrm>
                  <a:off x="587141" y="2088683"/>
                  <a:ext cx="548640" cy="18288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A9BCAD22-2843-D047-8577-96E20BB7605A}"/>
                  </a:ext>
                </a:extLst>
              </p:cNvPr>
              <p:cNvSpPr/>
              <p:nvPr/>
            </p:nvSpPr>
            <p:spPr>
              <a:xfrm flipH="1" flipV="1">
                <a:off x="2150034" y="2965398"/>
                <a:ext cx="85061" cy="7706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7196A47-91DF-C14F-AE37-588185905D83}"/>
                </a:ext>
              </a:extLst>
            </p:cNvPr>
            <p:cNvGrpSpPr/>
            <p:nvPr/>
          </p:nvGrpSpPr>
          <p:grpSpPr>
            <a:xfrm>
              <a:off x="3001550" y="1783620"/>
              <a:ext cx="548640" cy="471639"/>
              <a:chOff x="2973744" y="2625499"/>
              <a:chExt cx="548640" cy="471639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C8B65DCA-5EA6-1947-8783-65FFD866C327}"/>
                  </a:ext>
                </a:extLst>
              </p:cNvPr>
              <p:cNvGrpSpPr/>
              <p:nvPr/>
            </p:nvGrpSpPr>
            <p:grpSpPr>
              <a:xfrm>
                <a:off x="2973744" y="2625499"/>
                <a:ext cx="548640" cy="471639"/>
                <a:chOff x="587141" y="1799924"/>
                <a:chExt cx="548640" cy="471639"/>
              </a:xfrm>
            </p:grpSpPr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ADABCAD0-CDCA-FC45-AC0A-71C484F64239}"/>
                    </a:ext>
                  </a:extLst>
                </p:cNvPr>
                <p:cNvSpPr/>
                <p:nvPr/>
              </p:nvSpPr>
              <p:spPr>
                <a:xfrm>
                  <a:off x="587141" y="1799924"/>
                  <a:ext cx="548640" cy="279133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F7BAA376-9F43-D24D-B3C1-A9BE1FEC2314}"/>
                    </a:ext>
                  </a:extLst>
                </p:cNvPr>
                <p:cNvSpPr/>
                <p:nvPr/>
              </p:nvSpPr>
              <p:spPr>
                <a:xfrm>
                  <a:off x="587141" y="2088683"/>
                  <a:ext cx="548640" cy="18288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3BC462C9-15FD-FC4A-88C6-050CE8F42B4F}"/>
                  </a:ext>
                </a:extLst>
              </p:cNvPr>
              <p:cNvSpPr/>
              <p:nvPr/>
            </p:nvSpPr>
            <p:spPr>
              <a:xfrm flipH="1" flipV="1">
                <a:off x="3194900" y="2959468"/>
                <a:ext cx="85061" cy="7706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01E1029F-4771-DD4B-AA7D-3C15952D056B}"/>
                </a:ext>
              </a:extLst>
            </p:cNvPr>
            <p:cNvGrpSpPr/>
            <p:nvPr/>
          </p:nvGrpSpPr>
          <p:grpSpPr>
            <a:xfrm>
              <a:off x="4051166" y="1795152"/>
              <a:ext cx="548640" cy="471639"/>
              <a:chOff x="4023360" y="2637031"/>
              <a:chExt cx="548640" cy="471639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DB09A6CD-C822-A641-8EEE-2DF204325EC9}"/>
                  </a:ext>
                </a:extLst>
              </p:cNvPr>
              <p:cNvSpPr/>
              <p:nvPr/>
            </p:nvSpPr>
            <p:spPr>
              <a:xfrm>
                <a:off x="4023360" y="2637031"/>
                <a:ext cx="548640" cy="279133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1E320126-8DA5-314F-B7CB-41F68E3A0880}"/>
                  </a:ext>
                </a:extLst>
              </p:cNvPr>
              <p:cNvSpPr/>
              <p:nvPr/>
            </p:nvSpPr>
            <p:spPr>
              <a:xfrm>
                <a:off x="4023360" y="2925790"/>
                <a:ext cx="548640" cy="18288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3B87788C-68B7-4748-8620-EC538EBF75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41609" y="2261189"/>
              <a:ext cx="334" cy="348180"/>
            </a:xfrm>
            <a:prstGeom prst="straightConnector1">
              <a:avLst/>
            </a:prstGeom>
            <a:ln w="254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AA46FA93-5F00-3A49-98B5-CFED27BFB3AD}"/>
                </a:ext>
              </a:extLst>
            </p:cNvPr>
            <p:cNvCxnSpPr>
              <a:cxnSpLocks/>
              <a:endCxn id="13" idx="1"/>
            </p:cNvCxnSpPr>
            <p:nvPr/>
          </p:nvCxnSpPr>
          <p:spPr>
            <a:xfrm flipV="1">
              <a:off x="1197702" y="1929117"/>
              <a:ext cx="758982" cy="22700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3BF1B6D9-A507-1848-8E8E-281CF06CD3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62901" y="1933203"/>
              <a:ext cx="758982" cy="227003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8ACC59FB-ADA6-D243-B7FA-5F5289CE92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96257" y="1928172"/>
              <a:ext cx="758982" cy="22700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D7CDBA24-DBA7-0F47-AE82-F271FE204626}"/>
                </a:ext>
              </a:extLst>
            </p:cNvPr>
            <p:cNvSpPr/>
            <p:nvPr/>
          </p:nvSpPr>
          <p:spPr>
            <a:xfrm flipH="1" flipV="1">
              <a:off x="4243867" y="2131218"/>
              <a:ext cx="85061" cy="77062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2692036E-18CB-8347-A004-7EC9D7249A1C}"/>
                </a:ext>
              </a:extLst>
            </p:cNvPr>
            <p:cNvCxnSpPr/>
            <p:nvPr/>
          </p:nvCxnSpPr>
          <p:spPr>
            <a:xfrm>
              <a:off x="4340993" y="2173893"/>
              <a:ext cx="564956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E618D62-B7B3-D54D-8DCE-D87687DC28BE}"/>
                </a:ext>
              </a:extLst>
            </p:cNvPr>
            <p:cNvSpPr txBox="1"/>
            <p:nvPr/>
          </p:nvSpPr>
          <p:spPr>
            <a:xfrm>
              <a:off x="834855" y="2591037"/>
              <a:ext cx="5822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head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3A0B057-F9DF-F04A-9F79-B0BC588B6A56}"/>
                </a:ext>
              </a:extLst>
            </p:cNvPr>
            <p:cNvSpPr txBox="1"/>
            <p:nvPr/>
          </p:nvSpPr>
          <p:spPr>
            <a:xfrm>
              <a:off x="4112386" y="2591037"/>
              <a:ext cx="41389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tail</a:t>
              </a: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DC3C2954-4DFC-DA42-9025-EBF62B3EC6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86397" y="2261189"/>
              <a:ext cx="334" cy="348180"/>
            </a:xfrm>
            <a:prstGeom prst="straightConnector1">
              <a:avLst/>
            </a:prstGeom>
            <a:ln w="254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DD152340-889F-5D47-9470-3AAF7831F4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60562" y="2278400"/>
              <a:ext cx="334" cy="348180"/>
            </a:xfrm>
            <a:prstGeom prst="straightConnector1">
              <a:avLst/>
            </a:prstGeom>
            <a:ln w="254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B0A52B1-02C6-B348-B364-A521B4F64DCE}"/>
                </a:ext>
              </a:extLst>
            </p:cNvPr>
            <p:cNvSpPr txBox="1"/>
            <p:nvPr/>
          </p:nvSpPr>
          <p:spPr>
            <a:xfrm>
              <a:off x="2885378" y="2608545"/>
              <a:ext cx="106952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>
                  <a:latin typeface="Arial" panose="020B0604020202020204" pitchFamily="34" charset="0"/>
                  <a:cs typeface="Arial" panose="020B0604020202020204" pitchFamily="34" charset="0"/>
                </a:rPr>
                <a:t>targetNode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425779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0F0ED07-FB17-D841-B39F-0A7ADB5AE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ADT IMPLEMENTATION: LINKED LIST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A92F95F-3A86-244C-8F2F-8E691E374E7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Doubly-linked list: delete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5A3E5B5-A8A5-FA4A-96F4-6115285108EB}"/>
              </a:ext>
            </a:extLst>
          </p:cNvPr>
          <p:cNvSpPr txBox="1"/>
          <p:nvPr/>
        </p:nvSpPr>
        <p:spPr>
          <a:xfrm>
            <a:off x="702135" y="3278834"/>
            <a:ext cx="7171865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delete 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targetNode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dirty="0"/>
              <a:t>:</a:t>
            </a:r>
          </a:p>
          <a:p>
            <a:r>
              <a:rPr lang="en-US" sz="1600" dirty="0">
                <a:latin typeface="Courier" pitchFamily="2" charset="0"/>
              </a:rPr>
              <a:t>  </a:t>
            </a:r>
            <a:r>
              <a:rPr lang="en-US" sz="1600" dirty="0" err="1">
                <a:latin typeface="Courier" pitchFamily="2" charset="0"/>
              </a:rPr>
              <a:t>prevNode</a:t>
            </a:r>
            <a:r>
              <a:rPr lang="en-US" sz="1600" dirty="0">
                <a:latin typeface="Courier" pitchFamily="2" charset="0"/>
              </a:rPr>
              <a:t> = </a:t>
            </a:r>
            <a:r>
              <a:rPr lang="en-US" sz="1600" dirty="0" err="1">
                <a:latin typeface="Courier" pitchFamily="2" charset="0"/>
              </a:rPr>
              <a:t>targetNode.prev</a:t>
            </a:r>
            <a:endParaRPr lang="en-US" sz="1600" dirty="0">
              <a:latin typeface="Courier" pitchFamily="2" charset="0"/>
            </a:endParaRPr>
          </a:p>
          <a:p>
            <a:r>
              <a:rPr lang="en-US" sz="1600" dirty="0">
                <a:latin typeface="Courier" pitchFamily="2" charset="0"/>
              </a:rPr>
              <a:t>  </a:t>
            </a:r>
            <a:r>
              <a:rPr lang="en-US" sz="1600" dirty="0" err="1">
                <a:latin typeface="Courier" pitchFamily="2" charset="0"/>
              </a:rPr>
              <a:t>nextNode</a:t>
            </a:r>
            <a:r>
              <a:rPr lang="en-US" sz="1600" dirty="0">
                <a:latin typeface="Courier" pitchFamily="2" charset="0"/>
              </a:rPr>
              <a:t> = </a:t>
            </a:r>
            <a:r>
              <a:rPr lang="en-US" sz="1600" dirty="0" err="1">
                <a:latin typeface="Courier" pitchFamily="2" charset="0"/>
              </a:rPr>
              <a:t>targetNode.next</a:t>
            </a:r>
            <a:endParaRPr lang="en-US" sz="1600" dirty="0">
              <a:latin typeface="Courier" pitchFamily="2" charset="0"/>
            </a:endParaRPr>
          </a:p>
          <a:p>
            <a:r>
              <a:rPr lang="en-US" sz="1600" dirty="0">
                <a:latin typeface="Courier" pitchFamily="2" charset="0"/>
              </a:rPr>
              <a:t>  </a:t>
            </a:r>
            <a:r>
              <a:rPr lang="en-US" sz="1600" dirty="0" err="1">
                <a:latin typeface="Courier" pitchFamily="2" charset="0"/>
              </a:rPr>
              <a:t>prevNode.next</a:t>
            </a:r>
            <a:r>
              <a:rPr lang="en-US" sz="1600" dirty="0">
                <a:latin typeface="Courier" pitchFamily="2" charset="0"/>
              </a:rPr>
              <a:t> = </a:t>
            </a:r>
            <a:r>
              <a:rPr lang="en-US" sz="1600" dirty="0" err="1">
                <a:latin typeface="Courier" pitchFamily="2" charset="0"/>
              </a:rPr>
              <a:t>nextNode</a:t>
            </a:r>
            <a:endParaRPr lang="en-US" sz="1600" dirty="0">
              <a:latin typeface="Courier" pitchFamily="2" charset="0"/>
            </a:endParaRPr>
          </a:p>
          <a:p>
            <a:r>
              <a:rPr lang="en-US" sz="1600" dirty="0">
                <a:latin typeface="Courier" pitchFamily="2" charset="0"/>
              </a:rPr>
              <a:t>  </a:t>
            </a:r>
            <a:r>
              <a:rPr lang="en-US" sz="1600" dirty="0" err="1">
                <a:latin typeface="Courier" pitchFamily="2" charset="0"/>
              </a:rPr>
              <a:t>nextNode.prev</a:t>
            </a:r>
            <a:r>
              <a:rPr lang="en-US" sz="1600" dirty="0">
                <a:latin typeface="Courier" pitchFamily="2" charset="0"/>
              </a:rPr>
              <a:t> = </a:t>
            </a:r>
            <a:r>
              <a:rPr lang="en-US" sz="1600" dirty="0" err="1">
                <a:latin typeface="Courier" pitchFamily="2" charset="0"/>
              </a:rPr>
              <a:t>prevNode</a:t>
            </a:r>
            <a:endParaRPr lang="en-US" sz="1600" dirty="0">
              <a:latin typeface="Courier" pitchFamily="2" charset="0"/>
            </a:endParaRPr>
          </a:p>
        </p:txBody>
      </p:sp>
      <p:sp>
        <p:nvSpPr>
          <p:cNvPr id="38" name="Text Placeholder 56">
            <a:extLst>
              <a:ext uri="{FF2B5EF4-FFF2-40B4-BE49-F238E27FC236}">
                <a16:creationId xmlns:a16="http://schemas.microsoft.com/office/drawing/2014/main" id="{E32A1D39-9AA6-CC4B-9B46-06B362360868}"/>
              </a:ext>
            </a:extLst>
          </p:cNvPr>
          <p:cNvSpPr txBox="1">
            <a:spLocks/>
          </p:cNvSpPr>
          <p:nvPr/>
        </p:nvSpPr>
        <p:spPr>
          <a:xfrm>
            <a:off x="4973672" y="1894124"/>
            <a:ext cx="463588" cy="286232"/>
          </a:xfrm>
          <a:prstGeom prst="rect">
            <a:avLst/>
          </a:prstGeom>
          <a:noFill/>
        </p:spPr>
        <p:txBody>
          <a:bodyPr vert="horz" wrap="none" lIns="91440" tIns="45720" rIns="91440" bIns="45720" rtlCol="0">
            <a:sp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400" b="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b="1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null</a:t>
            </a:r>
          </a:p>
        </p:txBody>
      </p:sp>
      <p:sp>
        <p:nvSpPr>
          <p:cNvPr id="66" name="Text Placeholder 56">
            <a:extLst>
              <a:ext uri="{FF2B5EF4-FFF2-40B4-BE49-F238E27FC236}">
                <a16:creationId xmlns:a16="http://schemas.microsoft.com/office/drawing/2014/main" id="{5C826EAA-6860-194C-877A-2908FDA60F2A}"/>
              </a:ext>
            </a:extLst>
          </p:cNvPr>
          <p:cNvSpPr txBox="1">
            <a:spLocks/>
          </p:cNvSpPr>
          <p:nvPr/>
        </p:nvSpPr>
        <p:spPr>
          <a:xfrm>
            <a:off x="385985" y="1442879"/>
            <a:ext cx="463588" cy="286232"/>
          </a:xfrm>
          <a:prstGeom prst="rect">
            <a:avLst/>
          </a:prstGeom>
          <a:noFill/>
        </p:spPr>
        <p:txBody>
          <a:bodyPr vert="horz" wrap="none" lIns="91440" tIns="45720" rIns="91440" bIns="45720" rtlCol="0">
            <a:sp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400" b="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b="1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i="1">
                <a:latin typeface="Arial" panose="020B0604020202020204" pitchFamily="34" charset="0"/>
                <a:cs typeface="Arial" panose="020B0604020202020204" pitchFamily="34" charset="0"/>
              </a:rPr>
              <a:t>null</a:t>
            </a:r>
            <a:endParaRPr 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" name="Group 4" descr="graphical representation of  a linked list">
            <a:extLst>
              <a:ext uri="{FF2B5EF4-FFF2-40B4-BE49-F238E27FC236}">
                <a16:creationId xmlns:a16="http://schemas.microsoft.com/office/drawing/2014/main" id="{D77607CC-5F00-814B-A532-B83B66AD976D}"/>
              </a:ext>
            </a:extLst>
          </p:cNvPr>
          <p:cNvGrpSpPr/>
          <p:nvPr/>
        </p:nvGrpSpPr>
        <p:grpSpPr>
          <a:xfrm>
            <a:off x="287999" y="1585654"/>
            <a:ext cx="5180890" cy="1330668"/>
            <a:chOff x="287999" y="1585654"/>
            <a:chExt cx="5180890" cy="1330668"/>
          </a:xfrm>
        </p:grpSpPr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CA36867F-03F8-8C4F-9387-71FEDCFE6B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7999" y="1697426"/>
              <a:ext cx="846438" cy="213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20823CD7-F2AB-924F-BF18-2F1964E78FBB}"/>
                </a:ext>
              </a:extLst>
            </p:cNvPr>
            <p:cNvCxnSpPr>
              <a:cxnSpLocks/>
            </p:cNvCxnSpPr>
            <p:nvPr/>
          </p:nvCxnSpPr>
          <p:spPr>
            <a:xfrm>
              <a:off x="4855894" y="2140879"/>
              <a:ext cx="612995" cy="911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CAD8210-6111-464F-A7C1-BD0D863225BA}"/>
                </a:ext>
              </a:extLst>
            </p:cNvPr>
            <p:cNvGrpSpPr/>
            <p:nvPr/>
          </p:nvGrpSpPr>
          <p:grpSpPr>
            <a:xfrm>
              <a:off x="834855" y="1585654"/>
              <a:ext cx="4020390" cy="1330668"/>
              <a:chOff x="834855" y="1585654"/>
              <a:chExt cx="4020390" cy="1330668"/>
            </a:xfrm>
          </p:grpSpPr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3B87788C-68B7-4748-8620-EC538EBF75D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41609" y="2261189"/>
                <a:ext cx="334" cy="348180"/>
              </a:xfrm>
              <a:prstGeom prst="straightConnector1">
                <a:avLst/>
              </a:prstGeom>
              <a:ln w="254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E618D62-B7B3-D54D-8DCE-D87687DC28BE}"/>
                  </a:ext>
                </a:extLst>
              </p:cNvPr>
              <p:cNvSpPr txBox="1"/>
              <p:nvPr/>
            </p:nvSpPr>
            <p:spPr>
              <a:xfrm>
                <a:off x="834855" y="2591037"/>
                <a:ext cx="58221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head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3A0B057-F9DF-F04A-9F79-B0BC588B6A56}"/>
                  </a:ext>
                </a:extLst>
              </p:cNvPr>
              <p:cNvSpPr txBox="1"/>
              <p:nvPr/>
            </p:nvSpPr>
            <p:spPr>
              <a:xfrm>
                <a:off x="4393945" y="2581313"/>
                <a:ext cx="41389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tail</a:t>
                </a:r>
              </a:p>
            </p:txBody>
          </p: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DC3C2954-4DFC-DA42-9025-EBF62B3EC66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567956" y="2251465"/>
                <a:ext cx="334" cy="348180"/>
              </a:xfrm>
              <a:prstGeom prst="straightConnector1">
                <a:avLst/>
              </a:prstGeom>
              <a:ln w="254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DD152340-889F-5D47-9470-3AAF7831F44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375679" y="2278612"/>
                <a:ext cx="334" cy="348180"/>
              </a:xfrm>
              <a:prstGeom prst="straightConnector1">
                <a:avLst/>
              </a:prstGeom>
              <a:ln w="254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B0A52B1-02C6-B348-B364-A521B4F64DCE}"/>
                  </a:ext>
                </a:extLst>
              </p:cNvPr>
              <p:cNvSpPr txBox="1"/>
              <p:nvPr/>
            </p:nvSpPr>
            <p:spPr>
              <a:xfrm>
                <a:off x="2885378" y="2608545"/>
                <a:ext cx="106952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targetNode</a:t>
                </a:r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C00155C6-41CC-974A-B144-C0679A8618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85214" y="2171671"/>
                <a:ext cx="763561" cy="128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A897FFF9-0AA7-FC46-8E65-703F334D304C}"/>
                  </a:ext>
                </a:extLst>
              </p:cNvPr>
              <p:cNvGrpSpPr/>
              <p:nvPr/>
            </p:nvGrpSpPr>
            <p:grpSpPr>
              <a:xfrm>
                <a:off x="891485" y="1783123"/>
                <a:ext cx="548640" cy="461006"/>
                <a:chOff x="587141" y="1799924"/>
                <a:chExt cx="548640" cy="461006"/>
              </a:xfrm>
            </p:grpSpPr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CED3D109-4BFB-B44B-ACCF-FE016C98ACDC}"/>
                    </a:ext>
                  </a:extLst>
                </p:cNvPr>
                <p:cNvSpPr/>
                <p:nvPr/>
              </p:nvSpPr>
              <p:spPr>
                <a:xfrm>
                  <a:off x="587141" y="1799924"/>
                  <a:ext cx="548640" cy="279133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A1931781-4A3D-3841-9375-65ECD2E43320}"/>
                    </a:ext>
                  </a:extLst>
                </p:cNvPr>
                <p:cNvSpPr/>
                <p:nvPr/>
              </p:nvSpPr>
              <p:spPr>
                <a:xfrm>
                  <a:off x="587141" y="2078050"/>
                  <a:ext cx="548640" cy="18288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617410EF-CD76-A646-B2D2-AE17D8DC9E03}"/>
                  </a:ext>
                </a:extLst>
              </p:cNvPr>
              <p:cNvSpPr/>
              <p:nvPr/>
            </p:nvSpPr>
            <p:spPr>
              <a:xfrm flipH="1" flipV="1">
                <a:off x="1104918" y="2127542"/>
                <a:ext cx="85061" cy="7706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42544BD7-B208-B54E-8D39-37F86ED5362C}"/>
                  </a:ext>
                </a:extLst>
              </p:cNvPr>
              <p:cNvSpPr/>
              <p:nvPr/>
            </p:nvSpPr>
            <p:spPr>
              <a:xfrm flipH="1" flipV="1">
                <a:off x="1125035" y="1652049"/>
                <a:ext cx="85061" cy="7706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12BD4BB8-60D8-CA45-B516-7F2E97312AE1}"/>
                  </a:ext>
                </a:extLst>
              </p:cNvPr>
              <p:cNvSpPr/>
              <p:nvPr/>
            </p:nvSpPr>
            <p:spPr>
              <a:xfrm>
                <a:off x="889492" y="1601279"/>
                <a:ext cx="550800" cy="18288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A43DD104-CF9E-4D4D-855A-F892DFBC67CF}"/>
                  </a:ext>
                </a:extLst>
              </p:cNvPr>
              <p:cNvGrpSpPr/>
              <p:nvPr/>
            </p:nvGrpSpPr>
            <p:grpSpPr>
              <a:xfrm>
                <a:off x="1985043" y="1783123"/>
                <a:ext cx="548640" cy="461006"/>
                <a:chOff x="587141" y="1799924"/>
                <a:chExt cx="548640" cy="461006"/>
              </a:xfrm>
            </p:grpSpPr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C6332526-1DBE-F741-9FCF-8995C8A1CDB6}"/>
                    </a:ext>
                  </a:extLst>
                </p:cNvPr>
                <p:cNvSpPr/>
                <p:nvPr/>
              </p:nvSpPr>
              <p:spPr>
                <a:xfrm>
                  <a:off x="587141" y="1799924"/>
                  <a:ext cx="548640" cy="279133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A0FED694-24E3-5144-BB46-1B1F7BCBDE06}"/>
                    </a:ext>
                  </a:extLst>
                </p:cNvPr>
                <p:cNvSpPr/>
                <p:nvPr/>
              </p:nvSpPr>
              <p:spPr>
                <a:xfrm>
                  <a:off x="587141" y="2078050"/>
                  <a:ext cx="548640" cy="18288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C73BF27A-98D0-A241-84D5-721DF2DC6A72}"/>
                  </a:ext>
                </a:extLst>
              </p:cNvPr>
              <p:cNvSpPr/>
              <p:nvPr/>
            </p:nvSpPr>
            <p:spPr>
              <a:xfrm flipH="1" flipV="1">
                <a:off x="2198476" y="2127542"/>
                <a:ext cx="85061" cy="7706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8447A4D0-674E-6844-9B5D-C90DCD28F7E7}"/>
                  </a:ext>
                </a:extLst>
              </p:cNvPr>
              <p:cNvSpPr/>
              <p:nvPr/>
            </p:nvSpPr>
            <p:spPr>
              <a:xfrm flipH="1" flipV="1">
                <a:off x="2218593" y="1652049"/>
                <a:ext cx="85061" cy="7706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F4EF9B8E-4856-6748-B39D-94CA83217B9B}"/>
                  </a:ext>
                </a:extLst>
              </p:cNvPr>
              <p:cNvSpPr/>
              <p:nvPr/>
            </p:nvSpPr>
            <p:spPr>
              <a:xfrm>
                <a:off x="1983050" y="1601279"/>
                <a:ext cx="550800" cy="18288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1462F9CE-A964-314D-8FC8-3B3A33935254}"/>
                  </a:ext>
                </a:extLst>
              </p:cNvPr>
              <p:cNvGrpSpPr/>
              <p:nvPr/>
            </p:nvGrpSpPr>
            <p:grpSpPr>
              <a:xfrm>
                <a:off x="3146737" y="1783123"/>
                <a:ext cx="548640" cy="461006"/>
                <a:chOff x="587141" y="1799924"/>
                <a:chExt cx="548640" cy="461006"/>
              </a:xfrm>
            </p:grpSpPr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C4198A07-948A-E146-ADCD-1934EE2ED862}"/>
                    </a:ext>
                  </a:extLst>
                </p:cNvPr>
                <p:cNvSpPr/>
                <p:nvPr/>
              </p:nvSpPr>
              <p:spPr>
                <a:xfrm>
                  <a:off x="587141" y="1799924"/>
                  <a:ext cx="548640" cy="279133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7" name="Rectangle 56">
                  <a:extLst>
                    <a:ext uri="{FF2B5EF4-FFF2-40B4-BE49-F238E27FC236}">
                      <a16:creationId xmlns:a16="http://schemas.microsoft.com/office/drawing/2014/main" id="{8BDE30C8-038A-1D45-9D69-5693AE831846}"/>
                    </a:ext>
                  </a:extLst>
                </p:cNvPr>
                <p:cNvSpPr/>
                <p:nvPr/>
              </p:nvSpPr>
              <p:spPr>
                <a:xfrm>
                  <a:off x="587141" y="2078050"/>
                  <a:ext cx="548640" cy="18288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EAA6CA88-0280-E74C-B87D-D6A1E95252DD}"/>
                  </a:ext>
                </a:extLst>
              </p:cNvPr>
              <p:cNvSpPr/>
              <p:nvPr/>
            </p:nvSpPr>
            <p:spPr>
              <a:xfrm flipH="1" flipV="1">
                <a:off x="3360170" y="2127542"/>
                <a:ext cx="85061" cy="7706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AD94EFFB-4F63-D846-B070-FD53664B20CA}"/>
                  </a:ext>
                </a:extLst>
              </p:cNvPr>
              <p:cNvSpPr/>
              <p:nvPr/>
            </p:nvSpPr>
            <p:spPr>
              <a:xfrm flipH="1" flipV="1">
                <a:off x="3380287" y="1652049"/>
                <a:ext cx="85061" cy="7706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9FC349C0-55BA-8140-8EDC-425C514B9EB6}"/>
                  </a:ext>
                </a:extLst>
              </p:cNvPr>
              <p:cNvSpPr/>
              <p:nvPr/>
            </p:nvSpPr>
            <p:spPr>
              <a:xfrm>
                <a:off x="3144744" y="1601279"/>
                <a:ext cx="550800" cy="18288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58BC880B-3779-9342-A05A-ABA8BCEF217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69379" y="2172041"/>
                <a:ext cx="841090" cy="917"/>
              </a:xfrm>
              <a:prstGeom prst="straightConnector1">
                <a:avLst/>
              </a:prstGeom>
              <a:ln w="254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Arrow Connector 61">
                <a:extLst>
                  <a:ext uri="{FF2B5EF4-FFF2-40B4-BE49-F238E27FC236}">
                    <a16:creationId xmlns:a16="http://schemas.microsoft.com/office/drawing/2014/main" id="{6CB443D2-1FC2-2B4F-A9C8-70F30B558F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67283" y="2152660"/>
                <a:ext cx="612995" cy="911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Arrow Connector 62">
                <a:extLst>
                  <a:ext uri="{FF2B5EF4-FFF2-40B4-BE49-F238E27FC236}">
                    <a16:creationId xmlns:a16="http://schemas.microsoft.com/office/drawing/2014/main" id="{33DE331A-10B5-6A4B-830B-491929D0C491}"/>
                  </a:ext>
                </a:extLst>
              </p:cNvPr>
              <p:cNvCxnSpPr>
                <a:cxnSpLocks/>
                <a:endCxn id="54" idx="3"/>
              </p:cNvCxnSpPr>
              <p:nvPr/>
            </p:nvCxnSpPr>
            <p:spPr>
              <a:xfrm flipH="1">
                <a:off x="2533850" y="1690580"/>
                <a:ext cx="846438" cy="213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Arrow Connector 63">
                <a:extLst>
                  <a:ext uri="{FF2B5EF4-FFF2-40B4-BE49-F238E27FC236}">
                    <a16:creationId xmlns:a16="http://schemas.microsoft.com/office/drawing/2014/main" id="{DF26D00E-AB02-C243-A84D-80E8E4A0F66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11190" y="1705332"/>
                <a:ext cx="846438" cy="213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F0CC57F7-5860-834F-A1C3-157A44E9B559}"/>
                  </a:ext>
                </a:extLst>
              </p:cNvPr>
              <p:cNvGrpSpPr/>
              <p:nvPr/>
            </p:nvGrpSpPr>
            <p:grpSpPr>
              <a:xfrm>
                <a:off x="4306438" y="1767498"/>
                <a:ext cx="548640" cy="461006"/>
                <a:chOff x="587141" y="1799924"/>
                <a:chExt cx="548640" cy="461006"/>
              </a:xfrm>
            </p:grpSpPr>
            <p:sp>
              <p:nvSpPr>
                <p:cNvPr id="68" name="Rectangle 67">
                  <a:extLst>
                    <a:ext uri="{FF2B5EF4-FFF2-40B4-BE49-F238E27FC236}">
                      <a16:creationId xmlns:a16="http://schemas.microsoft.com/office/drawing/2014/main" id="{57F384A1-5718-044A-A627-5A0E9CAADFBA}"/>
                    </a:ext>
                  </a:extLst>
                </p:cNvPr>
                <p:cNvSpPr/>
                <p:nvPr/>
              </p:nvSpPr>
              <p:spPr>
                <a:xfrm>
                  <a:off x="587141" y="1799924"/>
                  <a:ext cx="548640" cy="279133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9" name="Rectangle 68">
                  <a:extLst>
                    <a:ext uri="{FF2B5EF4-FFF2-40B4-BE49-F238E27FC236}">
                      <a16:creationId xmlns:a16="http://schemas.microsoft.com/office/drawing/2014/main" id="{F1F9D136-6266-B045-AACF-AC4922A591CB}"/>
                    </a:ext>
                  </a:extLst>
                </p:cNvPr>
                <p:cNvSpPr/>
                <p:nvPr/>
              </p:nvSpPr>
              <p:spPr>
                <a:xfrm>
                  <a:off x="587141" y="2078050"/>
                  <a:ext cx="548640" cy="18288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C87CBB36-8ACE-0F48-B46E-4350DA0C2E3C}"/>
                  </a:ext>
                </a:extLst>
              </p:cNvPr>
              <p:cNvSpPr/>
              <p:nvPr/>
            </p:nvSpPr>
            <p:spPr>
              <a:xfrm flipH="1" flipV="1">
                <a:off x="4519871" y="2111917"/>
                <a:ext cx="85061" cy="7706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698BA591-B7DE-D045-A29D-94CC4C7715CE}"/>
                  </a:ext>
                </a:extLst>
              </p:cNvPr>
              <p:cNvSpPr/>
              <p:nvPr/>
            </p:nvSpPr>
            <p:spPr>
              <a:xfrm flipH="1" flipV="1">
                <a:off x="4539988" y="1636424"/>
                <a:ext cx="85061" cy="7706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7BBA7039-0A4A-B244-8037-D8161619E856}"/>
                  </a:ext>
                </a:extLst>
              </p:cNvPr>
              <p:cNvSpPr/>
              <p:nvPr/>
            </p:nvSpPr>
            <p:spPr>
              <a:xfrm>
                <a:off x="4304445" y="1585654"/>
                <a:ext cx="550800" cy="18288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4" name="Straight Arrow Connector 73">
                <a:extLst>
                  <a:ext uri="{FF2B5EF4-FFF2-40B4-BE49-F238E27FC236}">
                    <a16:creationId xmlns:a16="http://schemas.microsoft.com/office/drawing/2014/main" id="{681AA735-E9A0-6444-BD37-95B37B388F4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673433" y="1690580"/>
                <a:ext cx="846438" cy="2139"/>
              </a:xfrm>
              <a:prstGeom prst="straightConnector1">
                <a:avLst/>
              </a:prstGeom>
              <a:ln w="254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40649431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A92F95F-3A86-244C-8F2F-8E691E374E7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Singly-linked list: access n</a:t>
            </a:r>
            <a:r>
              <a:rPr lang="en-US" baseline="30000" dirty="0"/>
              <a:t>th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0F0ED07-FB17-D841-B39F-0A7ADB5AE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ADT IMPLEMENTATION: LINKED LIST</a:t>
            </a:r>
          </a:p>
        </p:txBody>
      </p:sp>
      <p:sp>
        <p:nvSpPr>
          <p:cNvPr id="29" name="Text Placeholder 56">
            <a:extLst>
              <a:ext uri="{FF2B5EF4-FFF2-40B4-BE49-F238E27FC236}">
                <a16:creationId xmlns:a16="http://schemas.microsoft.com/office/drawing/2014/main" id="{538A30E5-586D-6046-A616-C18655F3E021}"/>
              </a:ext>
            </a:extLst>
          </p:cNvPr>
          <p:cNvSpPr txBox="1">
            <a:spLocks/>
          </p:cNvSpPr>
          <p:nvPr/>
        </p:nvSpPr>
        <p:spPr>
          <a:xfrm>
            <a:off x="4891127" y="2026633"/>
            <a:ext cx="463588" cy="286232"/>
          </a:xfrm>
          <a:prstGeom prst="rect">
            <a:avLst/>
          </a:prstGeom>
          <a:noFill/>
        </p:spPr>
        <p:txBody>
          <a:bodyPr vert="horz" wrap="none" lIns="91440" tIns="45720" rIns="91440" bIns="45720" rtlCol="0">
            <a:sp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400" b="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b="1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i="1">
                <a:latin typeface="Arial" panose="020B0604020202020204" pitchFamily="34" charset="0"/>
                <a:cs typeface="Arial" panose="020B0604020202020204" pitchFamily="34" charset="0"/>
              </a:rPr>
              <a:t>null</a:t>
            </a:r>
            <a:endParaRPr 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Group 3" descr="graphical representation of  a linked list">
            <a:extLst>
              <a:ext uri="{FF2B5EF4-FFF2-40B4-BE49-F238E27FC236}">
                <a16:creationId xmlns:a16="http://schemas.microsoft.com/office/drawing/2014/main" id="{151CAA83-3A5F-CA46-9081-81F9088229F7}"/>
              </a:ext>
            </a:extLst>
          </p:cNvPr>
          <p:cNvGrpSpPr/>
          <p:nvPr/>
        </p:nvGrpSpPr>
        <p:grpSpPr>
          <a:xfrm>
            <a:off x="834855" y="1783620"/>
            <a:ext cx="4071094" cy="1132702"/>
            <a:chOff x="834855" y="1783620"/>
            <a:chExt cx="4071094" cy="113270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86DC89C-8CB0-6747-AB87-B682A92B2C51}"/>
                </a:ext>
              </a:extLst>
            </p:cNvPr>
            <p:cNvGrpSpPr/>
            <p:nvPr/>
          </p:nvGrpSpPr>
          <p:grpSpPr>
            <a:xfrm>
              <a:off x="891485" y="1789550"/>
              <a:ext cx="548640" cy="471639"/>
              <a:chOff x="863679" y="2631429"/>
              <a:chExt cx="548640" cy="471639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5C8B4E08-9518-D64D-8D12-6699F16DE2B7}"/>
                  </a:ext>
                </a:extLst>
              </p:cNvPr>
              <p:cNvGrpSpPr/>
              <p:nvPr/>
            </p:nvGrpSpPr>
            <p:grpSpPr>
              <a:xfrm>
                <a:off x="863679" y="2631429"/>
                <a:ext cx="548640" cy="471639"/>
                <a:chOff x="587141" y="1799924"/>
                <a:chExt cx="548640" cy="471639"/>
              </a:xfrm>
            </p:grpSpPr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F9880F23-B1AB-5C4B-8922-8AD41C481C5E}"/>
                    </a:ext>
                  </a:extLst>
                </p:cNvPr>
                <p:cNvSpPr/>
                <p:nvPr/>
              </p:nvSpPr>
              <p:spPr>
                <a:xfrm>
                  <a:off x="587141" y="1799924"/>
                  <a:ext cx="548640" cy="279133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1F4DF040-7289-8446-89B1-5F4EC4DAF64A}"/>
                    </a:ext>
                  </a:extLst>
                </p:cNvPr>
                <p:cNvSpPr/>
                <p:nvPr/>
              </p:nvSpPr>
              <p:spPr>
                <a:xfrm>
                  <a:off x="587141" y="2088683"/>
                  <a:ext cx="548640" cy="18288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CE805F43-6EC7-BA4B-B4A6-10BE79CC6269}"/>
                  </a:ext>
                </a:extLst>
              </p:cNvPr>
              <p:cNvSpPr/>
              <p:nvPr/>
            </p:nvSpPr>
            <p:spPr>
              <a:xfrm flipH="1" flipV="1">
                <a:off x="1084835" y="2965398"/>
                <a:ext cx="85061" cy="7706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82AE260-982D-0C47-AA3B-A32E6156CC91}"/>
                </a:ext>
              </a:extLst>
            </p:cNvPr>
            <p:cNvGrpSpPr/>
            <p:nvPr/>
          </p:nvGrpSpPr>
          <p:grpSpPr>
            <a:xfrm>
              <a:off x="1956684" y="1789550"/>
              <a:ext cx="548640" cy="471639"/>
              <a:chOff x="1928878" y="2631429"/>
              <a:chExt cx="548640" cy="471639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4120BF95-A81E-0E40-A06B-304FE054C268}"/>
                  </a:ext>
                </a:extLst>
              </p:cNvPr>
              <p:cNvGrpSpPr/>
              <p:nvPr/>
            </p:nvGrpSpPr>
            <p:grpSpPr>
              <a:xfrm>
                <a:off x="1928878" y="2631429"/>
                <a:ext cx="548640" cy="471639"/>
                <a:chOff x="587141" y="1799924"/>
                <a:chExt cx="548640" cy="471639"/>
              </a:xfrm>
            </p:grpSpPr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4915DBD4-7567-AC41-B60C-469FAF366F9B}"/>
                    </a:ext>
                  </a:extLst>
                </p:cNvPr>
                <p:cNvSpPr/>
                <p:nvPr/>
              </p:nvSpPr>
              <p:spPr>
                <a:xfrm>
                  <a:off x="587141" y="1799924"/>
                  <a:ext cx="548640" cy="279133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3FCE5BA0-8053-E945-A622-EF8F1B6766EA}"/>
                    </a:ext>
                  </a:extLst>
                </p:cNvPr>
                <p:cNvSpPr/>
                <p:nvPr/>
              </p:nvSpPr>
              <p:spPr>
                <a:xfrm>
                  <a:off x="587141" y="2088683"/>
                  <a:ext cx="548640" cy="18288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CA77EF36-701A-534F-B2F8-9380B35E5963}"/>
                  </a:ext>
                </a:extLst>
              </p:cNvPr>
              <p:cNvSpPr/>
              <p:nvPr/>
            </p:nvSpPr>
            <p:spPr>
              <a:xfrm flipH="1" flipV="1">
                <a:off x="2150034" y="2965398"/>
                <a:ext cx="85061" cy="7706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AE6ACE4-3E92-8348-B07F-73D098380D0E}"/>
                </a:ext>
              </a:extLst>
            </p:cNvPr>
            <p:cNvGrpSpPr/>
            <p:nvPr/>
          </p:nvGrpSpPr>
          <p:grpSpPr>
            <a:xfrm>
              <a:off x="3001550" y="1783620"/>
              <a:ext cx="548640" cy="471639"/>
              <a:chOff x="2973744" y="2625499"/>
              <a:chExt cx="548640" cy="471639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AF30A086-7B6C-6443-8957-8324A294E718}"/>
                  </a:ext>
                </a:extLst>
              </p:cNvPr>
              <p:cNvGrpSpPr/>
              <p:nvPr/>
            </p:nvGrpSpPr>
            <p:grpSpPr>
              <a:xfrm>
                <a:off x="2973744" y="2625499"/>
                <a:ext cx="548640" cy="471639"/>
                <a:chOff x="587141" y="1799924"/>
                <a:chExt cx="548640" cy="471639"/>
              </a:xfrm>
            </p:grpSpPr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BC974545-CFBB-7849-94EC-8CB4F8680D2C}"/>
                    </a:ext>
                  </a:extLst>
                </p:cNvPr>
                <p:cNvSpPr/>
                <p:nvPr/>
              </p:nvSpPr>
              <p:spPr>
                <a:xfrm>
                  <a:off x="587141" y="1799924"/>
                  <a:ext cx="548640" cy="279133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5811101D-1629-794C-9717-BD2FD2330304}"/>
                    </a:ext>
                  </a:extLst>
                </p:cNvPr>
                <p:cNvSpPr/>
                <p:nvPr/>
              </p:nvSpPr>
              <p:spPr>
                <a:xfrm>
                  <a:off x="587141" y="2088683"/>
                  <a:ext cx="548640" cy="18288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1D70F476-4136-5B4B-918F-78F589F7FD82}"/>
                  </a:ext>
                </a:extLst>
              </p:cNvPr>
              <p:cNvSpPr/>
              <p:nvPr/>
            </p:nvSpPr>
            <p:spPr>
              <a:xfrm flipH="1" flipV="1">
                <a:off x="3194900" y="2959468"/>
                <a:ext cx="85061" cy="7706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0D376320-948B-A148-B6E6-E8FE2269C1E4}"/>
                </a:ext>
              </a:extLst>
            </p:cNvPr>
            <p:cNvGrpSpPr/>
            <p:nvPr/>
          </p:nvGrpSpPr>
          <p:grpSpPr>
            <a:xfrm>
              <a:off x="4051166" y="1795152"/>
              <a:ext cx="548640" cy="471639"/>
              <a:chOff x="4023360" y="2637031"/>
              <a:chExt cx="548640" cy="471639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27D0F6D3-6AB8-8548-BD69-246544148864}"/>
                  </a:ext>
                </a:extLst>
              </p:cNvPr>
              <p:cNvSpPr/>
              <p:nvPr/>
            </p:nvSpPr>
            <p:spPr>
              <a:xfrm>
                <a:off x="4023360" y="2637031"/>
                <a:ext cx="548640" cy="279133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9692EBE4-42A4-B64E-AE0F-3A270E881067}"/>
                  </a:ext>
                </a:extLst>
              </p:cNvPr>
              <p:cNvSpPr/>
              <p:nvPr/>
            </p:nvSpPr>
            <p:spPr>
              <a:xfrm>
                <a:off x="4023360" y="2925790"/>
                <a:ext cx="548640" cy="18288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3A522614-7E8B-9C41-914A-A1A060866E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41609" y="2261189"/>
              <a:ext cx="334" cy="348180"/>
            </a:xfrm>
            <a:prstGeom prst="straightConnector1">
              <a:avLst/>
            </a:prstGeom>
            <a:ln w="254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250E7291-56AC-D24B-B849-4024E9809AE0}"/>
                </a:ext>
              </a:extLst>
            </p:cNvPr>
            <p:cNvCxnSpPr>
              <a:cxnSpLocks/>
              <a:endCxn id="13" idx="1"/>
            </p:cNvCxnSpPr>
            <p:nvPr/>
          </p:nvCxnSpPr>
          <p:spPr>
            <a:xfrm flipV="1">
              <a:off x="1197702" y="1929117"/>
              <a:ext cx="758982" cy="22700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A08544EE-E640-AD43-BA8A-150FA046F2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62901" y="1933203"/>
              <a:ext cx="758982" cy="22700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D78A2805-AAA9-034F-9C7F-DFE1DCA48A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96257" y="1928172"/>
              <a:ext cx="758982" cy="22700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412A0D59-BF2F-5941-9BE7-D963526ECCA3}"/>
                </a:ext>
              </a:extLst>
            </p:cNvPr>
            <p:cNvSpPr/>
            <p:nvPr/>
          </p:nvSpPr>
          <p:spPr>
            <a:xfrm flipH="1" flipV="1">
              <a:off x="4243867" y="2131218"/>
              <a:ext cx="85061" cy="77062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C320CF4E-DE3D-E545-B09F-223242C20764}"/>
                </a:ext>
              </a:extLst>
            </p:cNvPr>
            <p:cNvCxnSpPr/>
            <p:nvPr/>
          </p:nvCxnSpPr>
          <p:spPr>
            <a:xfrm>
              <a:off x="4340993" y="2173893"/>
              <a:ext cx="564956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DEF1A74-5EFF-3E44-9848-AE9880560FBB}"/>
                </a:ext>
              </a:extLst>
            </p:cNvPr>
            <p:cNvSpPr txBox="1"/>
            <p:nvPr/>
          </p:nvSpPr>
          <p:spPr>
            <a:xfrm>
              <a:off x="834855" y="2591037"/>
              <a:ext cx="5822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head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7303AC7-8A06-9F43-9180-E773DFE7DF1F}"/>
                </a:ext>
              </a:extLst>
            </p:cNvPr>
            <p:cNvSpPr txBox="1"/>
            <p:nvPr/>
          </p:nvSpPr>
          <p:spPr>
            <a:xfrm>
              <a:off x="4112386" y="2591037"/>
              <a:ext cx="41389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tail</a:t>
              </a: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78E39C9A-84C0-C949-A9B1-D566C8E17A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86397" y="2261189"/>
              <a:ext cx="334" cy="348180"/>
            </a:xfrm>
            <a:prstGeom prst="straightConnector1">
              <a:avLst/>
            </a:prstGeom>
            <a:ln w="254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796F8588-D949-9549-997D-E503679250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60562" y="2278400"/>
              <a:ext cx="334" cy="348180"/>
            </a:xfrm>
            <a:prstGeom prst="straightConnector1">
              <a:avLst/>
            </a:prstGeom>
            <a:ln w="254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7CA4E48-6B29-D44C-B981-BB17D443B8C5}"/>
                </a:ext>
              </a:extLst>
            </p:cNvPr>
            <p:cNvSpPr txBox="1"/>
            <p:nvPr/>
          </p:nvSpPr>
          <p:spPr>
            <a:xfrm>
              <a:off x="2885378" y="2608545"/>
              <a:ext cx="83227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r>
                <a:rPr lang="en-US" sz="14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th</a:t>
              </a:r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 node</a:t>
              </a: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5055931E-4506-714E-A5F7-7C6EF222B749}"/>
              </a:ext>
            </a:extLst>
          </p:cNvPr>
          <p:cNvSpPr txBox="1"/>
          <p:nvPr/>
        </p:nvSpPr>
        <p:spPr>
          <a:xfrm>
            <a:off x="702135" y="3278834"/>
            <a:ext cx="7171865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access (int n)</a:t>
            </a:r>
            <a:r>
              <a:rPr lang="en-US" dirty="0"/>
              <a:t>:</a:t>
            </a:r>
          </a:p>
          <a:p>
            <a:r>
              <a:rPr lang="en-US" sz="1600" dirty="0">
                <a:latin typeface="Courier" pitchFamily="2" charset="0"/>
              </a:rPr>
              <a:t>  </a:t>
            </a:r>
            <a:r>
              <a:rPr lang="en-US" sz="1600" dirty="0" err="1">
                <a:latin typeface="Courier" pitchFamily="2" charset="0"/>
              </a:rPr>
              <a:t>curNode</a:t>
            </a:r>
            <a:r>
              <a:rPr lang="en-US" sz="1600" dirty="0">
                <a:latin typeface="Courier" pitchFamily="2" charset="0"/>
              </a:rPr>
              <a:t> = head</a:t>
            </a:r>
          </a:p>
          <a:p>
            <a:r>
              <a:rPr lang="en-US" sz="1600" dirty="0">
                <a:latin typeface="Courier" pitchFamily="2" charset="0"/>
              </a:rPr>
              <a:t>  count = 0</a:t>
            </a:r>
          </a:p>
          <a:p>
            <a:r>
              <a:rPr lang="en-US" sz="1600" dirty="0">
                <a:latin typeface="Courier" pitchFamily="2" charset="0"/>
              </a:rPr>
              <a:t>  while (count &lt; n)</a:t>
            </a:r>
          </a:p>
          <a:p>
            <a:r>
              <a:rPr lang="en-US" sz="1600" dirty="0">
                <a:latin typeface="Courier" pitchFamily="2" charset="0"/>
              </a:rPr>
              <a:t>	</a:t>
            </a:r>
            <a:r>
              <a:rPr lang="en-US" sz="1600" dirty="0" err="1">
                <a:latin typeface="Courier" pitchFamily="2" charset="0"/>
              </a:rPr>
              <a:t>curNode</a:t>
            </a:r>
            <a:r>
              <a:rPr lang="en-US" sz="1600" dirty="0">
                <a:latin typeface="Courier" pitchFamily="2" charset="0"/>
              </a:rPr>
              <a:t> = </a:t>
            </a:r>
            <a:r>
              <a:rPr lang="en-US" sz="1600" dirty="0" err="1">
                <a:latin typeface="Courier" pitchFamily="2" charset="0"/>
              </a:rPr>
              <a:t>curNode.next</a:t>
            </a:r>
            <a:endParaRPr lang="en-US" sz="1600" dirty="0">
              <a:latin typeface="Courier" pitchFamily="2" charset="0"/>
            </a:endParaRPr>
          </a:p>
          <a:p>
            <a:r>
              <a:rPr lang="en-US" sz="1600" dirty="0">
                <a:latin typeface="Courier" pitchFamily="2" charset="0"/>
              </a:rPr>
              <a:t>	count++</a:t>
            </a:r>
          </a:p>
          <a:p>
            <a:r>
              <a:rPr lang="en-US" sz="1600" dirty="0">
                <a:latin typeface="Courier" pitchFamily="2" charset="0"/>
              </a:rPr>
              <a:t>  return </a:t>
            </a:r>
            <a:r>
              <a:rPr lang="en-US" sz="1600" dirty="0" err="1">
                <a:latin typeface="Courier" pitchFamily="2" charset="0"/>
              </a:rPr>
              <a:t>curNode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65173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0F0ED07-FB17-D841-B39F-0A7ADB5AE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ADT IMPLEMENTATION: LINKED LIST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A92F95F-3A86-244C-8F2F-8E691E374E7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>
                <a:highlight>
                  <a:srgbClr val="D6D2C4"/>
                </a:highlight>
              </a:rPr>
              <a:t>Stack ADT </a:t>
            </a:r>
            <a:r>
              <a:rPr lang="en-US" dirty="0"/>
              <a:t>implemented as a Linked List 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943F11-98BF-D84B-8E05-1EE47E35F160}"/>
              </a:ext>
            </a:extLst>
          </p:cNvPr>
          <p:cNvSpPr txBox="1"/>
          <p:nvPr/>
        </p:nvSpPr>
        <p:spPr>
          <a:xfrm>
            <a:off x="3426046" y="1922928"/>
            <a:ext cx="2916891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pop ()</a:t>
            </a:r>
            <a:r>
              <a:rPr lang="en-US" dirty="0"/>
              <a:t>:</a:t>
            </a:r>
          </a:p>
          <a:p>
            <a:r>
              <a:rPr lang="en-US" sz="1600" dirty="0">
                <a:latin typeface="Courier" pitchFamily="2" charset="0"/>
              </a:rPr>
              <a:t>  </a:t>
            </a:r>
            <a:r>
              <a:rPr lang="en-US" sz="1600" dirty="0" err="1">
                <a:latin typeface="Courier" pitchFamily="2" charset="0"/>
              </a:rPr>
              <a:t>targetNode</a:t>
            </a:r>
            <a:r>
              <a:rPr lang="en-US" sz="1600" dirty="0">
                <a:latin typeface="Courier" pitchFamily="2" charset="0"/>
              </a:rPr>
              <a:t> = head</a:t>
            </a:r>
          </a:p>
          <a:p>
            <a:r>
              <a:rPr lang="en-US" sz="1600" dirty="0">
                <a:latin typeface="Courier" pitchFamily="2" charset="0"/>
              </a:rPr>
              <a:t>  head = </a:t>
            </a:r>
            <a:r>
              <a:rPr lang="en-US" sz="1600" dirty="0" err="1">
                <a:latin typeface="Courier" pitchFamily="2" charset="0"/>
              </a:rPr>
              <a:t>head.next</a:t>
            </a:r>
            <a:endParaRPr lang="en-US" sz="1600" dirty="0">
              <a:latin typeface="Courier" pitchFamily="2" charset="0"/>
            </a:endParaRPr>
          </a:p>
          <a:p>
            <a:r>
              <a:rPr lang="en-US" sz="1600" dirty="0">
                <a:latin typeface="Courier" pitchFamily="2" charset="0"/>
              </a:rPr>
              <a:t>  return </a:t>
            </a:r>
            <a:r>
              <a:rPr lang="en-US" sz="1600" dirty="0" err="1">
                <a:latin typeface="Courier" pitchFamily="2" charset="0"/>
              </a:rPr>
              <a:t>targetNode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247034-A6DB-6A4F-94A2-8109DAD9072C}"/>
              </a:ext>
            </a:extLst>
          </p:cNvPr>
          <p:cNvSpPr txBox="1"/>
          <p:nvPr/>
        </p:nvSpPr>
        <p:spPr>
          <a:xfrm>
            <a:off x="287999" y="1922928"/>
            <a:ext cx="278428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push 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newNode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dirty="0"/>
              <a:t>:</a:t>
            </a:r>
          </a:p>
          <a:p>
            <a:r>
              <a:rPr lang="en-US" sz="1600" dirty="0">
                <a:latin typeface="Courier" pitchFamily="2" charset="0"/>
              </a:rPr>
              <a:t>  </a:t>
            </a:r>
            <a:r>
              <a:rPr lang="en-US" sz="1600" dirty="0" err="1">
                <a:latin typeface="Courier" pitchFamily="2" charset="0"/>
              </a:rPr>
              <a:t>newNode.next</a:t>
            </a:r>
            <a:r>
              <a:rPr lang="en-US" sz="1600" dirty="0">
                <a:latin typeface="Courier" pitchFamily="2" charset="0"/>
              </a:rPr>
              <a:t> = head</a:t>
            </a:r>
          </a:p>
          <a:p>
            <a:r>
              <a:rPr lang="en-US" sz="1600" dirty="0">
                <a:latin typeface="Courier" pitchFamily="2" charset="0"/>
              </a:rPr>
              <a:t>  head = </a:t>
            </a:r>
            <a:r>
              <a:rPr lang="en-US" sz="1600" dirty="0" err="1">
                <a:latin typeface="Courier" pitchFamily="2" charset="0"/>
              </a:rPr>
              <a:t>newNode</a:t>
            </a:r>
            <a:endParaRPr lang="en-US" dirty="0"/>
          </a:p>
        </p:txBody>
      </p:sp>
      <p:sp>
        <p:nvSpPr>
          <p:cNvPr id="30" name="Text Placeholder 56">
            <a:extLst>
              <a:ext uri="{FF2B5EF4-FFF2-40B4-BE49-F238E27FC236}">
                <a16:creationId xmlns:a16="http://schemas.microsoft.com/office/drawing/2014/main" id="{A4B1A85B-9985-1A41-9352-E0137BEFAD13}"/>
              </a:ext>
            </a:extLst>
          </p:cNvPr>
          <p:cNvSpPr txBox="1">
            <a:spLocks/>
          </p:cNvSpPr>
          <p:nvPr/>
        </p:nvSpPr>
        <p:spPr>
          <a:xfrm>
            <a:off x="6139333" y="3647338"/>
            <a:ext cx="463588" cy="286232"/>
          </a:xfrm>
          <a:prstGeom prst="rect">
            <a:avLst/>
          </a:prstGeom>
          <a:noFill/>
        </p:spPr>
        <p:txBody>
          <a:bodyPr vert="horz" wrap="none" lIns="91440" tIns="45720" rIns="91440" bIns="45720" rtlCol="0">
            <a:sp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400" b="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b="1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i="1">
                <a:latin typeface="Arial" panose="020B0604020202020204" pitchFamily="34" charset="0"/>
                <a:cs typeface="Arial" panose="020B0604020202020204" pitchFamily="34" charset="0"/>
              </a:rPr>
              <a:t>null</a:t>
            </a:r>
            <a:endParaRPr 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2" name="Group 31" descr="graphical representation of  a linked list">
            <a:extLst>
              <a:ext uri="{FF2B5EF4-FFF2-40B4-BE49-F238E27FC236}">
                <a16:creationId xmlns:a16="http://schemas.microsoft.com/office/drawing/2014/main" id="{5377A203-0E85-9F44-9B49-63B8974C9406}"/>
              </a:ext>
            </a:extLst>
          </p:cNvPr>
          <p:cNvGrpSpPr/>
          <p:nvPr/>
        </p:nvGrpSpPr>
        <p:grpSpPr>
          <a:xfrm>
            <a:off x="501963" y="3404325"/>
            <a:ext cx="5652192" cy="1330637"/>
            <a:chOff x="501963" y="3404325"/>
            <a:chExt cx="5652192" cy="1330637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C288C76-A8B2-7343-B0D0-5466F2C2BBC9}"/>
                </a:ext>
              </a:extLst>
            </p:cNvPr>
            <p:cNvGrpSpPr/>
            <p:nvPr/>
          </p:nvGrpSpPr>
          <p:grpSpPr>
            <a:xfrm>
              <a:off x="2139691" y="3410255"/>
              <a:ext cx="548640" cy="471639"/>
              <a:chOff x="863679" y="2631429"/>
              <a:chExt cx="548640" cy="471639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41C52869-3B71-2241-88E2-AC242F23AA2D}"/>
                  </a:ext>
                </a:extLst>
              </p:cNvPr>
              <p:cNvGrpSpPr/>
              <p:nvPr/>
            </p:nvGrpSpPr>
            <p:grpSpPr>
              <a:xfrm>
                <a:off x="863679" y="2631429"/>
                <a:ext cx="548640" cy="471639"/>
                <a:chOff x="587141" y="1799924"/>
                <a:chExt cx="548640" cy="471639"/>
              </a:xfrm>
            </p:grpSpPr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48B83184-4FA4-5A4D-8D3A-BA94A3021AA4}"/>
                    </a:ext>
                  </a:extLst>
                </p:cNvPr>
                <p:cNvSpPr/>
                <p:nvPr/>
              </p:nvSpPr>
              <p:spPr>
                <a:xfrm>
                  <a:off x="587141" y="1799924"/>
                  <a:ext cx="548640" cy="279133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B2935EC8-8A1F-C745-9978-79F596781DBB}"/>
                    </a:ext>
                  </a:extLst>
                </p:cNvPr>
                <p:cNvSpPr/>
                <p:nvPr/>
              </p:nvSpPr>
              <p:spPr>
                <a:xfrm>
                  <a:off x="587141" y="2088683"/>
                  <a:ext cx="548640" cy="18288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A9935C83-E8BB-FE46-B654-631E49FADE0C}"/>
                  </a:ext>
                </a:extLst>
              </p:cNvPr>
              <p:cNvSpPr/>
              <p:nvPr/>
            </p:nvSpPr>
            <p:spPr>
              <a:xfrm flipH="1" flipV="1">
                <a:off x="1084835" y="2965398"/>
                <a:ext cx="85061" cy="7706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AAE0DC47-B10B-9C46-9408-AD32DF512045}"/>
                </a:ext>
              </a:extLst>
            </p:cNvPr>
            <p:cNvGrpSpPr/>
            <p:nvPr/>
          </p:nvGrpSpPr>
          <p:grpSpPr>
            <a:xfrm>
              <a:off x="3204890" y="3410255"/>
              <a:ext cx="548640" cy="471639"/>
              <a:chOff x="1928878" y="2631429"/>
              <a:chExt cx="548640" cy="471639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455F30E5-DB37-4E40-A283-82E4B66B07DB}"/>
                  </a:ext>
                </a:extLst>
              </p:cNvPr>
              <p:cNvGrpSpPr/>
              <p:nvPr/>
            </p:nvGrpSpPr>
            <p:grpSpPr>
              <a:xfrm>
                <a:off x="1928878" y="2631429"/>
                <a:ext cx="548640" cy="471639"/>
                <a:chOff x="587141" y="1799924"/>
                <a:chExt cx="548640" cy="471639"/>
              </a:xfrm>
            </p:grpSpPr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9FF700DF-C701-D845-AD0B-D6C2596C11FA}"/>
                    </a:ext>
                  </a:extLst>
                </p:cNvPr>
                <p:cNvSpPr/>
                <p:nvPr/>
              </p:nvSpPr>
              <p:spPr>
                <a:xfrm>
                  <a:off x="587141" y="1799924"/>
                  <a:ext cx="548640" cy="279133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B6BFDB56-6304-4E47-BDCD-8AD3494B1B84}"/>
                    </a:ext>
                  </a:extLst>
                </p:cNvPr>
                <p:cNvSpPr/>
                <p:nvPr/>
              </p:nvSpPr>
              <p:spPr>
                <a:xfrm>
                  <a:off x="587141" y="2088683"/>
                  <a:ext cx="548640" cy="18288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C50F9DC7-EBAC-CE48-8162-09199857E39C}"/>
                  </a:ext>
                </a:extLst>
              </p:cNvPr>
              <p:cNvSpPr/>
              <p:nvPr/>
            </p:nvSpPr>
            <p:spPr>
              <a:xfrm flipH="1" flipV="1">
                <a:off x="2150034" y="2965398"/>
                <a:ext cx="85061" cy="7706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7E2B389-39EC-EE44-883F-77E6AE6840CD}"/>
                </a:ext>
              </a:extLst>
            </p:cNvPr>
            <p:cNvGrpSpPr/>
            <p:nvPr/>
          </p:nvGrpSpPr>
          <p:grpSpPr>
            <a:xfrm>
              <a:off x="4249756" y="3404325"/>
              <a:ext cx="548640" cy="471639"/>
              <a:chOff x="2973744" y="2625499"/>
              <a:chExt cx="548640" cy="471639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03E5451B-3AC0-FB4F-973D-DCBEA5B8BE89}"/>
                  </a:ext>
                </a:extLst>
              </p:cNvPr>
              <p:cNvGrpSpPr/>
              <p:nvPr/>
            </p:nvGrpSpPr>
            <p:grpSpPr>
              <a:xfrm>
                <a:off x="2973744" y="2625499"/>
                <a:ext cx="548640" cy="471639"/>
                <a:chOff x="587141" y="1799924"/>
                <a:chExt cx="548640" cy="471639"/>
              </a:xfrm>
            </p:grpSpPr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10D1BB7B-F021-8042-BBEF-E439FA1A6428}"/>
                    </a:ext>
                  </a:extLst>
                </p:cNvPr>
                <p:cNvSpPr/>
                <p:nvPr/>
              </p:nvSpPr>
              <p:spPr>
                <a:xfrm>
                  <a:off x="587141" y="1799924"/>
                  <a:ext cx="548640" cy="279133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100B3621-CAD4-1B46-9FE6-EB531957A0B8}"/>
                    </a:ext>
                  </a:extLst>
                </p:cNvPr>
                <p:cNvSpPr/>
                <p:nvPr/>
              </p:nvSpPr>
              <p:spPr>
                <a:xfrm>
                  <a:off x="587141" y="2088683"/>
                  <a:ext cx="548640" cy="18288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7AF5F45D-64D0-4046-9277-18DE4FDE20B2}"/>
                  </a:ext>
                </a:extLst>
              </p:cNvPr>
              <p:cNvSpPr/>
              <p:nvPr/>
            </p:nvSpPr>
            <p:spPr>
              <a:xfrm flipH="1" flipV="1">
                <a:off x="3194900" y="2959468"/>
                <a:ext cx="85061" cy="7706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9406D91-6E55-A34E-88FF-F596A8670BF3}"/>
                </a:ext>
              </a:extLst>
            </p:cNvPr>
            <p:cNvGrpSpPr/>
            <p:nvPr/>
          </p:nvGrpSpPr>
          <p:grpSpPr>
            <a:xfrm>
              <a:off x="5299372" y="3415857"/>
              <a:ext cx="548640" cy="471639"/>
              <a:chOff x="4023360" y="2637031"/>
              <a:chExt cx="548640" cy="471639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94E8DB44-A713-3A46-8896-78667D94EFEA}"/>
                  </a:ext>
                </a:extLst>
              </p:cNvPr>
              <p:cNvSpPr/>
              <p:nvPr/>
            </p:nvSpPr>
            <p:spPr>
              <a:xfrm>
                <a:off x="4023360" y="2637031"/>
                <a:ext cx="548640" cy="279133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F8A55436-FE0D-5149-BF0E-588AAA447484}"/>
                  </a:ext>
                </a:extLst>
              </p:cNvPr>
              <p:cNvSpPr/>
              <p:nvPr/>
            </p:nvSpPr>
            <p:spPr>
              <a:xfrm>
                <a:off x="4023360" y="2925790"/>
                <a:ext cx="548640" cy="18288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C7EB8EDC-6C39-F642-9819-AF85B6F26D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89815" y="3881894"/>
              <a:ext cx="334" cy="348180"/>
            </a:xfrm>
            <a:prstGeom prst="straightConnector1">
              <a:avLst/>
            </a:prstGeom>
            <a:ln w="254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CB8A48F2-42AD-A641-9F21-01F36021D344}"/>
                </a:ext>
              </a:extLst>
            </p:cNvPr>
            <p:cNvCxnSpPr>
              <a:cxnSpLocks/>
              <a:endCxn id="14" idx="1"/>
            </p:cNvCxnSpPr>
            <p:nvPr/>
          </p:nvCxnSpPr>
          <p:spPr>
            <a:xfrm flipV="1">
              <a:off x="2445908" y="3549822"/>
              <a:ext cx="758982" cy="22700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EB4BDE13-9076-D94D-8C67-E48ECB07D5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11107" y="3553908"/>
              <a:ext cx="758982" cy="22700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A24474B6-8B53-2244-AF6D-7896E64EAA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44463" y="3548877"/>
              <a:ext cx="758982" cy="22700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0DCD2423-EF99-874B-9471-5BB98C7C78EE}"/>
                </a:ext>
              </a:extLst>
            </p:cNvPr>
            <p:cNvSpPr/>
            <p:nvPr/>
          </p:nvSpPr>
          <p:spPr>
            <a:xfrm flipH="1" flipV="1">
              <a:off x="5492073" y="3751923"/>
              <a:ext cx="85061" cy="77062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E3951E09-6EF1-DE4B-8BD2-54D6E60711BE}"/>
                </a:ext>
              </a:extLst>
            </p:cNvPr>
            <p:cNvCxnSpPr/>
            <p:nvPr/>
          </p:nvCxnSpPr>
          <p:spPr>
            <a:xfrm>
              <a:off x="5589199" y="3794598"/>
              <a:ext cx="564956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4F6FF50-E38B-2847-A671-8A5BF6361B88}"/>
                </a:ext>
              </a:extLst>
            </p:cNvPr>
            <p:cNvSpPr txBox="1"/>
            <p:nvPr/>
          </p:nvSpPr>
          <p:spPr>
            <a:xfrm>
              <a:off x="2083061" y="4211742"/>
              <a:ext cx="58221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head</a:t>
              </a:r>
            </a:p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(top)</a:t>
              </a:r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1A8D6739-D97A-6E43-BE7B-E15623ED0E15}"/>
                </a:ext>
              </a:extLst>
            </p:cNvPr>
            <p:cNvGrpSpPr/>
            <p:nvPr/>
          </p:nvGrpSpPr>
          <p:grpSpPr>
            <a:xfrm>
              <a:off x="566106" y="3411518"/>
              <a:ext cx="548640" cy="471639"/>
              <a:chOff x="863679" y="2631429"/>
              <a:chExt cx="548640" cy="471639"/>
            </a:xfrm>
          </p:grpSpPr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FD095172-0CF6-5042-8857-F321664DFE85}"/>
                  </a:ext>
                </a:extLst>
              </p:cNvPr>
              <p:cNvGrpSpPr/>
              <p:nvPr/>
            </p:nvGrpSpPr>
            <p:grpSpPr>
              <a:xfrm>
                <a:off x="863679" y="2631429"/>
                <a:ext cx="548640" cy="471639"/>
                <a:chOff x="587141" y="1799924"/>
                <a:chExt cx="548640" cy="471639"/>
              </a:xfrm>
            </p:grpSpPr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58F71E04-7A0B-FF47-B867-17F99E45DD0E}"/>
                    </a:ext>
                  </a:extLst>
                </p:cNvPr>
                <p:cNvSpPr/>
                <p:nvPr/>
              </p:nvSpPr>
              <p:spPr>
                <a:xfrm>
                  <a:off x="587141" y="1799924"/>
                  <a:ext cx="548640" cy="279133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54FA8E22-2F7F-AB44-94E1-AFACA217E9A0}"/>
                    </a:ext>
                  </a:extLst>
                </p:cNvPr>
                <p:cNvSpPr/>
                <p:nvPr/>
              </p:nvSpPr>
              <p:spPr>
                <a:xfrm>
                  <a:off x="587141" y="2088683"/>
                  <a:ext cx="548640" cy="18288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BA445831-43FE-854D-BDD0-11358BD62016}"/>
                  </a:ext>
                </a:extLst>
              </p:cNvPr>
              <p:cNvSpPr/>
              <p:nvPr/>
            </p:nvSpPr>
            <p:spPr>
              <a:xfrm flipH="1" flipV="1">
                <a:off x="1084835" y="2965398"/>
                <a:ext cx="85061" cy="7706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A159BA8-055C-7E4E-A067-B909E62E301B}"/>
                </a:ext>
              </a:extLst>
            </p:cNvPr>
            <p:cNvSpPr txBox="1"/>
            <p:nvPr/>
          </p:nvSpPr>
          <p:spPr>
            <a:xfrm>
              <a:off x="501963" y="4185671"/>
              <a:ext cx="94128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>
                  <a:latin typeface="Arial" panose="020B0604020202020204" pitchFamily="34" charset="0"/>
                  <a:cs typeface="Arial" panose="020B0604020202020204" pitchFamily="34" charset="0"/>
                </a:rPr>
                <a:t>newNode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17E39CD8-4224-3A4A-A947-6FBA51FB72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0426" y="3928367"/>
              <a:ext cx="334" cy="348180"/>
            </a:xfrm>
            <a:prstGeom prst="straightConnector1">
              <a:avLst/>
            </a:prstGeom>
            <a:ln w="254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BD553215-2F11-5642-BDF4-CE270AF805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6913088"/>
              </p:ext>
            </p:extLst>
          </p:nvPr>
        </p:nvGraphicFramePr>
        <p:xfrm>
          <a:off x="6371127" y="2034068"/>
          <a:ext cx="2562745" cy="101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9546">
                  <a:extLst>
                    <a:ext uri="{9D8B030D-6E8A-4147-A177-3AD203B41FA5}">
                      <a16:colId xmlns:a16="http://schemas.microsoft.com/office/drawing/2014/main" val="2945187315"/>
                    </a:ext>
                  </a:extLst>
                </a:gridCol>
                <a:gridCol w="1623199">
                  <a:extLst>
                    <a:ext uri="{9D8B030D-6E8A-4147-A177-3AD203B41FA5}">
                      <a16:colId xmlns:a16="http://schemas.microsoft.com/office/drawing/2014/main" val="18687730"/>
                    </a:ext>
                  </a:extLst>
                </a:gridCol>
              </a:tblGrid>
              <a:tr h="168910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Complexity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5756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push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O(1)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2606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O(1)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8784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74746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A92F95F-3A86-244C-8F2F-8E691E374E7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>
                <a:highlight>
                  <a:srgbClr val="D6D2C4"/>
                </a:highlight>
              </a:rPr>
              <a:t>Queue ADT </a:t>
            </a:r>
            <a:r>
              <a:rPr lang="en-US" dirty="0"/>
              <a:t>implemented as a Linked List DS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0F0ED07-FB17-D841-B39F-0A7ADB5AE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ADT IMPLEMENTATION: LINKED LIST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22F203-73A4-1D4F-845A-0AE365A3A8B5}"/>
              </a:ext>
            </a:extLst>
          </p:cNvPr>
          <p:cNvSpPr txBox="1"/>
          <p:nvPr/>
        </p:nvSpPr>
        <p:spPr>
          <a:xfrm>
            <a:off x="3426046" y="1922928"/>
            <a:ext cx="2916891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dequeue ()</a:t>
            </a:r>
            <a:r>
              <a:rPr lang="en-US" dirty="0"/>
              <a:t>:</a:t>
            </a:r>
          </a:p>
          <a:p>
            <a:r>
              <a:rPr lang="en-US" sz="1600" dirty="0">
                <a:latin typeface="Courier" pitchFamily="2" charset="0"/>
              </a:rPr>
              <a:t>  </a:t>
            </a:r>
            <a:r>
              <a:rPr lang="en-US" sz="1600" dirty="0" err="1">
                <a:latin typeface="Courier" pitchFamily="2" charset="0"/>
              </a:rPr>
              <a:t>targetNode</a:t>
            </a:r>
            <a:r>
              <a:rPr lang="en-US" sz="1600" dirty="0">
                <a:latin typeface="Courier" pitchFamily="2" charset="0"/>
              </a:rPr>
              <a:t> = head</a:t>
            </a:r>
          </a:p>
          <a:p>
            <a:r>
              <a:rPr lang="en-US" sz="1600" dirty="0">
                <a:latin typeface="Courier" pitchFamily="2" charset="0"/>
              </a:rPr>
              <a:t>  head = </a:t>
            </a:r>
            <a:r>
              <a:rPr lang="en-US" sz="1600" dirty="0" err="1">
                <a:latin typeface="Courier" pitchFamily="2" charset="0"/>
              </a:rPr>
              <a:t>head.next</a:t>
            </a:r>
            <a:endParaRPr lang="en-US" sz="1600" dirty="0">
              <a:latin typeface="Courier" pitchFamily="2" charset="0"/>
            </a:endParaRPr>
          </a:p>
          <a:p>
            <a:r>
              <a:rPr lang="en-US" sz="1600" dirty="0">
                <a:latin typeface="Courier" pitchFamily="2" charset="0"/>
              </a:rPr>
              <a:t>  return </a:t>
            </a:r>
            <a:r>
              <a:rPr lang="en-US" sz="1600" dirty="0" err="1">
                <a:latin typeface="Courier" pitchFamily="2" charset="0"/>
              </a:rPr>
              <a:t>targetNode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700780-415E-8647-92CA-1A4510C2BB00}"/>
              </a:ext>
            </a:extLst>
          </p:cNvPr>
          <p:cNvSpPr txBox="1"/>
          <p:nvPr/>
        </p:nvSpPr>
        <p:spPr>
          <a:xfrm>
            <a:off x="287999" y="1926818"/>
            <a:ext cx="27842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enqueue 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newNode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dirty="0"/>
              <a:t>:</a:t>
            </a:r>
          </a:p>
          <a:p>
            <a:r>
              <a:rPr lang="en-US" sz="1600" dirty="0">
                <a:latin typeface="Courier" pitchFamily="2" charset="0"/>
              </a:rPr>
              <a:t>  </a:t>
            </a:r>
            <a:r>
              <a:rPr lang="en-US" sz="1600" dirty="0" err="1">
                <a:latin typeface="Courier" pitchFamily="2" charset="0"/>
              </a:rPr>
              <a:t>tail.next</a:t>
            </a:r>
            <a:r>
              <a:rPr lang="en-US" sz="1600" dirty="0">
                <a:latin typeface="Courier" pitchFamily="2" charset="0"/>
              </a:rPr>
              <a:t> = </a:t>
            </a:r>
            <a:r>
              <a:rPr lang="en-US" sz="1600" dirty="0" err="1">
                <a:latin typeface="Courier" pitchFamily="2" charset="0"/>
              </a:rPr>
              <a:t>newNode</a:t>
            </a:r>
            <a:endParaRPr lang="en-US" sz="1600" dirty="0">
              <a:latin typeface="Courier" pitchFamily="2" charset="0"/>
            </a:endParaRPr>
          </a:p>
          <a:p>
            <a:r>
              <a:rPr lang="en-US" sz="1600" dirty="0">
                <a:latin typeface="Courier" pitchFamily="2" charset="0"/>
              </a:rPr>
              <a:t>  </a:t>
            </a:r>
            <a:r>
              <a:rPr lang="en-US" sz="1600" dirty="0" err="1">
                <a:latin typeface="Courier" pitchFamily="2" charset="0"/>
              </a:rPr>
              <a:t>newNode.next</a:t>
            </a:r>
            <a:r>
              <a:rPr lang="en-US" sz="1600" dirty="0">
                <a:latin typeface="Courier" pitchFamily="2" charset="0"/>
              </a:rPr>
              <a:t> = null</a:t>
            </a:r>
          </a:p>
          <a:p>
            <a:r>
              <a:rPr lang="en-US" sz="1600" dirty="0">
                <a:latin typeface="Courier" pitchFamily="2" charset="0"/>
              </a:rPr>
              <a:t>  tail = </a:t>
            </a:r>
            <a:r>
              <a:rPr lang="en-US" sz="1600" dirty="0" err="1">
                <a:latin typeface="Courier" pitchFamily="2" charset="0"/>
              </a:rPr>
              <a:t>newNode</a:t>
            </a:r>
            <a:endParaRPr lang="en-US" dirty="0"/>
          </a:p>
        </p:txBody>
      </p:sp>
      <p:sp>
        <p:nvSpPr>
          <p:cNvPr id="30" name="Text Placeholder 56">
            <a:extLst>
              <a:ext uri="{FF2B5EF4-FFF2-40B4-BE49-F238E27FC236}">
                <a16:creationId xmlns:a16="http://schemas.microsoft.com/office/drawing/2014/main" id="{45B3F505-0BAC-E548-AB33-49BA3869661F}"/>
              </a:ext>
            </a:extLst>
          </p:cNvPr>
          <p:cNvSpPr txBox="1">
            <a:spLocks/>
          </p:cNvSpPr>
          <p:nvPr/>
        </p:nvSpPr>
        <p:spPr>
          <a:xfrm>
            <a:off x="6139333" y="3647338"/>
            <a:ext cx="463588" cy="286232"/>
          </a:xfrm>
          <a:prstGeom prst="rect">
            <a:avLst/>
          </a:prstGeom>
          <a:noFill/>
        </p:spPr>
        <p:txBody>
          <a:bodyPr vert="horz" wrap="none" lIns="91440" tIns="45720" rIns="91440" bIns="45720" rtlCol="0">
            <a:sp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400" b="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900" b="1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b="1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i="1">
                <a:latin typeface="Arial" panose="020B0604020202020204" pitchFamily="34" charset="0"/>
                <a:cs typeface="Arial" panose="020B0604020202020204" pitchFamily="34" charset="0"/>
              </a:rPr>
              <a:t>null</a:t>
            </a:r>
            <a:endParaRPr lang="en-US" sz="1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2" name="Group 41" descr="graphical representation of  a linked list">
            <a:extLst>
              <a:ext uri="{FF2B5EF4-FFF2-40B4-BE49-F238E27FC236}">
                <a16:creationId xmlns:a16="http://schemas.microsoft.com/office/drawing/2014/main" id="{A301C11D-CB42-0346-8250-A4F3409B58FC}"/>
              </a:ext>
            </a:extLst>
          </p:cNvPr>
          <p:cNvGrpSpPr/>
          <p:nvPr/>
        </p:nvGrpSpPr>
        <p:grpSpPr>
          <a:xfrm>
            <a:off x="501963" y="3404325"/>
            <a:ext cx="5652192" cy="1115194"/>
            <a:chOff x="501963" y="3404325"/>
            <a:chExt cx="5652192" cy="1115194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3E38375-832B-6947-B3FF-CDC91ECF0B6A}"/>
                </a:ext>
              </a:extLst>
            </p:cNvPr>
            <p:cNvGrpSpPr/>
            <p:nvPr/>
          </p:nvGrpSpPr>
          <p:grpSpPr>
            <a:xfrm>
              <a:off x="2139691" y="3410255"/>
              <a:ext cx="548640" cy="471639"/>
              <a:chOff x="863679" y="2631429"/>
              <a:chExt cx="548640" cy="471639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4AC97265-098C-AA49-96EB-EE4D2C307EE5}"/>
                  </a:ext>
                </a:extLst>
              </p:cNvPr>
              <p:cNvGrpSpPr/>
              <p:nvPr/>
            </p:nvGrpSpPr>
            <p:grpSpPr>
              <a:xfrm>
                <a:off x="863679" y="2631429"/>
                <a:ext cx="548640" cy="471639"/>
                <a:chOff x="587141" y="1799924"/>
                <a:chExt cx="548640" cy="471639"/>
              </a:xfrm>
            </p:grpSpPr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FD65C934-372C-D34E-9CBA-E078E5712FEA}"/>
                    </a:ext>
                  </a:extLst>
                </p:cNvPr>
                <p:cNvSpPr/>
                <p:nvPr/>
              </p:nvSpPr>
              <p:spPr>
                <a:xfrm>
                  <a:off x="587141" y="1799924"/>
                  <a:ext cx="548640" cy="279133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BF8C5D57-AFAE-F34A-BDEA-FB152B50F200}"/>
                    </a:ext>
                  </a:extLst>
                </p:cNvPr>
                <p:cNvSpPr/>
                <p:nvPr/>
              </p:nvSpPr>
              <p:spPr>
                <a:xfrm>
                  <a:off x="587141" y="2088683"/>
                  <a:ext cx="548640" cy="18288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B56C60B-A180-CB48-A3E1-32B939FF7935}"/>
                  </a:ext>
                </a:extLst>
              </p:cNvPr>
              <p:cNvSpPr/>
              <p:nvPr/>
            </p:nvSpPr>
            <p:spPr>
              <a:xfrm flipH="1" flipV="1">
                <a:off x="1084835" y="2965398"/>
                <a:ext cx="85061" cy="7706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A7CD327C-0F28-0542-8015-EDF9D68DDDBE}"/>
                </a:ext>
              </a:extLst>
            </p:cNvPr>
            <p:cNvGrpSpPr/>
            <p:nvPr/>
          </p:nvGrpSpPr>
          <p:grpSpPr>
            <a:xfrm>
              <a:off x="3204890" y="3410255"/>
              <a:ext cx="548640" cy="471639"/>
              <a:chOff x="1928878" y="2631429"/>
              <a:chExt cx="548640" cy="471639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5FD4E3B7-B14C-1043-A807-9C50399E8D1E}"/>
                  </a:ext>
                </a:extLst>
              </p:cNvPr>
              <p:cNvGrpSpPr/>
              <p:nvPr/>
            </p:nvGrpSpPr>
            <p:grpSpPr>
              <a:xfrm>
                <a:off x="1928878" y="2631429"/>
                <a:ext cx="548640" cy="471639"/>
                <a:chOff x="587141" y="1799924"/>
                <a:chExt cx="548640" cy="471639"/>
              </a:xfrm>
            </p:grpSpPr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E84D2311-9BEB-734E-8F20-5C7FE9E89F90}"/>
                    </a:ext>
                  </a:extLst>
                </p:cNvPr>
                <p:cNvSpPr/>
                <p:nvPr/>
              </p:nvSpPr>
              <p:spPr>
                <a:xfrm>
                  <a:off x="587141" y="1799924"/>
                  <a:ext cx="548640" cy="279133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26E1F016-FD75-8647-A389-B3748DC1E978}"/>
                    </a:ext>
                  </a:extLst>
                </p:cNvPr>
                <p:cNvSpPr/>
                <p:nvPr/>
              </p:nvSpPr>
              <p:spPr>
                <a:xfrm>
                  <a:off x="587141" y="2088683"/>
                  <a:ext cx="548640" cy="18288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8597437D-9006-B440-A060-CEB4AF75F621}"/>
                  </a:ext>
                </a:extLst>
              </p:cNvPr>
              <p:cNvSpPr/>
              <p:nvPr/>
            </p:nvSpPr>
            <p:spPr>
              <a:xfrm flipH="1" flipV="1">
                <a:off x="2150034" y="2965398"/>
                <a:ext cx="85061" cy="7706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EE62557-DE96-AF4B-B2C9-708173510553}"/>
                </a:ext>
              </a:extLst>
            </p:cNvPr>
            <p:cNvGrpSpPr/>
            <p:nvPr/>
          </p:nvGrpSpPr>
          <p:grpSpPr>
            <a:xfrm>
              <a:off x="4249756" y="3404325"/>
              <a:ext cx="548640" cy="471639"/>
              <a:chOff x="2973744" y="2625499"/>
              <a:chExt cx="548640" cy="471639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E593E5D7-5A58-FC4E-8568-67881243C40C}"/>
                  </a:ext>
                </a:extLst>
              </p:cNvPr>
              <p:cNvGrpSpPr/>
              <p:nvPr/>
            </p:nvGrpSpPr>
            <p:grpSpPr>
              <a:xfrm>
                <a:off x="2973744" y="2625499"/>
                <a:ext cx="548640" cy="471639"/>
                <a:chOff x="587141" y="1799924"/>
                <a:chExt cx="548640" cy="471639"/>
              </a:xfrm>
            </p:grpSpPr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9482C2ED-4674-6C43-A78D-62FB88A45232}"/>
                    </a:ext>
                  </a:extLst>
                </p:cNvPr>
                <p:cNvSpPr/>
                <p:nvPr/>
              </p:nvSpPr>
              <p:spPr>
                <a:xfrm>
                  <a:off x="587141" y="1799924"/>
                  <a:ext cx="548640" cy="279133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E2AD692B-1DEE-6043-95A1-F39852F60D77}"/>
                    </a:ext>
                  </a:extLst>
                </p:cNvPr>
                <p:cNvSpPr/>
                <p:nvPr/>
              </p:nvSpPr>
              <p:spPr>
                <a:xfrm>
                  <a:off x="587141" y="2088683"/>
                  <a:ext cx="548640" cy="18288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DB5DCEA5-D27F-8447-B3FF-6101E00C0C63}"/>
                  </a:ext>
                </a:extLst>
              </p:cNvPr>
              <p:cNvSpPr/>
              <p:nvPr/>
            </p:nvSpPr>
            <p:spPr>
              <a:xfrm flipH="1" flipV="1">
                <a:off x="3194900" y="2959468"/>
                <a:ext cx="85061" cy="7706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AC881216-8608-E942-B769-37B1EB5F5627}"/>
                </a:ext>
              </a:extLst>
            </p:cNvPr>
            <p:cNvGrpSpPr/>
            <p:nvPr/>
          </p:nvGrpSpPr>
          <p:grpSpPr>
            <a:xfrm>
              <a:off x="5299372" y="3415857"/>
              <a:ext cx="548640" cy="471639"/>
              <a:chOff x="4023360" y="2637031"/>
              <a:chExt cx="548640" cy="471639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630C2A87-B2D2-4D47-AEEB-10E7AABD13C3}"/>
                  </a:ext>
                </a:extLst>
              </p:cNvPr>
              <p:cNvSpPr/>
              <p:nvPr/>
            </p:nvSpPr>
            <p:spPr>
              <a:xfrm>
                <a:off x="4023360" y="2637031"/>
                <a:ext cx="548640" cy="279133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EC6817A5-310F-634B-9B65-64184605A099}"/>
                  </a:ext>
                </a:extLst>
              </p:cNvPr>
              <p:cNvSpPr/>
              <p:nvPr/>
            </p:nvSpPr>
            <p:spPr>
              <a:xfrm>
                <a:off x="4023360" y="2925790"/>
                <a:ext cx="548640" cy="18288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8549F622-4ABE-FE42-9511-D5A8157538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89815" y="3881894"/>
              <a:ext cx="334" cy="348180"/>
            </a:xfrm>
            <a:prstGeom prst="straightConnector1">
              <a:avLst/>
            </a:prstGeom>
            <a:ln w="254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AAF9C4D8-8F92-A442-89DB-5E3F75E8DA2E}"/>
                </a:ext>
              </a:extLst>
            </p:cNvPr>
            <p:cNvCxnSpPr>
              <a:cxnSpLocks/>
              <a:endCxn id="14" idx="1"/>
            </p:cNvCxnSpPr>
            <p:nvPr/>
          </p:nvCxnSpPr>
          <p:spPr>
            <a:xfrm flipV="1">
              <a:off x="2445908" y="3549822"/>
              <a:ext cx="758982" cy="22700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A61D63E9-F688-504C-879E-7852B321AB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11107" y="3553908"/>
              <a:ext cx="758982" cy="22700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0686563E-6E0E-CD47-BAA5-DD2B869F0A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44463" y="3548877"/>
              <a:ext cx="758982" cy="22700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5623E6C-EFCD-464C-B623-CFDD998226AC}"/>
                </a:ext>
              </a:extLst>
            </p:cNvPr>
            <p:cNvSpPr/>
            <p:nvPr/>
          </p:nvSpPr>
          <p:spPr>
            <a:xfrm flipH="1" flipV="1">
              <a:off x="5492073" y="3751923"/>
              <a:ext cx="85061" cy="77062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1B4105A7-90B0-F048-81BA-00CDB6A00F29}"/>
                </a:ext>
              </a:extLst>
            </p:cNvPr>
            <p:cNvCxnSpPr/>
            <p:nvPr/>
          </p:nvCxnSpPr>
          <p:spPr>
            <a:xfrm>
              <a:off x="5589199" y="3794598"/>
              <a:ext cx="564956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D6C3BC8-439C-5B4C-97BE-B6FF3E881E23}"/>
                </a:ext>
              </a:extLst>
            </p:cNvPr>
            <p:cNvSpPr txBox="1"/>
            <p:nvPr/>
          </p:nvSpPr>
          <p:spPr>
            <a:xfrm>
              <a:off x="2083061" y="4211742"/>
              <a:ext cx="5822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head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BD7E898-CC8F-0C44-80C6-62F28DFC40D1}"/>
                </a:ext>
              </a:extLst>
            </p:cNvPr>
            <p:cNvSpPr txBox="1"/>
            <p:nvPr/>
          </p:nvSpPr>
          <p:spPr>
            <a:xfrm>
              <a:off x="5360592" y="4211742"/>
              <a:ext cx="41389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tail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0BE187F0-AD89-3F45-8B40-B70FE964AC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34603" y="3881894"/>
              <a:ext cx="334" cy="348180"/>
            </a:xfrm>
            <a:prstGeom prst="straightConnector1">
              <a:avLst/>
            </a:prstGeom>
            <a:ln w="254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3AE2A85E-AFD8-BA4D-9E9A-13F6308C86D5}"/>
                </a:ext>
              </a:extLst>
            </p:cNvPr>
            <p:cNvGrpSpPr/>
            <p:nvPr/>
          </p:nvGrpSpPr>
          <p:grpSpPr>
            <a:xfrm>
              <a:off x="566106" y="3411518"/>
              <a:ext cx="548640" cy="471639"/>
              <a:chOff x="863679" y="2631429"/>
              <a:chExt cx="548640" cy="471639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0218311B-E5D8-9C43-BF0F-7B11AA8D0DE0}"/>
                  </a:ext>
                </a:extLst>
              </p:cNvPr>
              <p:cNvGrpSpPr/>
              <p:nvPr/>
            </p:nvGrpSpPr>
            <p:grpSpPr>
              <a:xfrm>
                <a:off x="863679" y="2631429"/>
                <a:ext cx="548640" cy="471639"/>
                <a:chOff x="587141" y="1799924"/>
                <a:chExt cx="548640" cy="471639"/>
              </a:xfrm>
            </p:grpSpPr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174F961B-0C8F-C740-83E5-11705E02EB44}"/>
                    </a:ext>
                  </a:extLst>
                </p:cNvPr>
                <p:cNvSpPr/>
                <p:nvPr/>
              </p:nvSpPr>
              <p:spPr>
                <a:xfrm>
                  <a:off x="587141" y="1799924"/>
                  <a:ext cx="548640" cy="279133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21727872-9673-3C45-83B7-4AB80A4F397A}"/>
                    </a:ext>
                  </a:extLst>
                </p:cNvPr>
                <p:cNvSpPr/>
                <p:nvPr/>
              </p:nvSpPr>
              <p:spPr>
                <a:xfrm>
                  <a:off x="587141" y="2088683"/>
                  <a:ext cx="548640" cy="18288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EC435E81-5D26-6140-80EA-F10D37461561}"/>
                  </a:ext>
                </a:extLst>
              </p:cNvPr>
              <p:cNvSpPr/>
              <p:nvPr/>
            </p:nvSpPr>
            <p:spPr>
              <a:xfrm flipH="1" flipV="1">
                <a:off x="1084835" y="2965398"/>
                <a:ext cx="85061" cy="7706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D018FA6-24F2-9043-AEE6-7DA42E0D0FE3}"/>
                </a:ext>
              </a:extLst>
            </p:cNvPr>
            <p:cNvSpPr txBox="1"/>
            <p:nvPr/>
          </p:nvSpPr>
          <p:spPr>
            <a:xfrm>
              <a:off x="501963" y="4185671"/>
              <a:ext cx="94128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>
                  <a:latin typeface="Arial" panose="020B0604020202020204" pitchFamily="34" charset="0"/>
                  <a:cs typeface="Arial" panose="020B0604020202020204" pitchFamily="34" charset="0"/>
                </a:rPr>
                <a:t>newNode</a:t>
              </a:r>
              <a:endParaRPr 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2EA07DF1-23B0-6A47-9A5C-D18F72B2CE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0426" y="3928367"/>
              <a:ext cx="334" cy="348180"/>
            </a:xfrm>
            <a:prstGeom prst="straightConnector1">
              <a:avLst/>
            </a:prstGeom>
            <a:ln w="254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189E9717-1F8E-4F4A-8EBF-5AB895F5CB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3587995"/>
              </p:ext>
            </p:extLst>
          </p:nvPr>
        </p:nvGraphicFramePr>
        <p:xfrm>
          <a:off x="6371127" y="2034068"/>
          <a:ext cx="2569667" cy="101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468">
                  <a:extLst>
                    <a:ext uri="{9D8B030D-6E8A-4147-A177-3AD203B41FA5}">
                      <a16:colId xmlns:a16="http://schemas.microsoft.com/office/drawing/2014/main" val="2945187315"/>
                    </a:ext>
                  </a:extLst>
                </a:gridCol>
                <a:gridCol w="1623199">
                  <a:extLst>
                    <a:ext uri="{9D8B030D-6E8A-4147-A177-3AD203B41FA5}">
                      <a16:colId xmlns:a16="http://schemas.microsoft.com/office/drawing/2014/main" val="18687730"/>
                    </a:ext>
                  </a:extLst>
                </a:gridCol>
              </a:tblGrid>
              <a:tr h="168910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Complexity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5756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enqueue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O(1)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2606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dequeue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O(1)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8784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85253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0F0ED07-FB17-D841-B39F-0A7ADB5AE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OTHER ADT IMPLEMENTATIONS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A92F95F-3A86-244C-8F2F-8E691E374E7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>
                <a:highlight>
                  <a:srgbClr val="D6D2C4"/>
                </a:highlight>
              </a:rPr>
              <a:t>Map (Dictionary / Associative Array) ADT</a:t>
            </a:r>
          </a:p>
          <a:p>
            <a:pPr marL="685800" lvl="1" indent="-342900">
              <a:buFont typeface="Courier New" panose="02070309020205020404" pitchFamily="49" charset="0"/>
              <a:buChar char="o"/>
            </a:pPr>
            <a:r>
              <a:rPr lang="en-US" sz="2000" dirty="0"/>
              <a:t>via Array DS. Time complexity O(N).</a:t>
            </a:r>
          </a:p>
          <a:p>
            <a:pPr marL="685800" lvl="1" indent="-342900">
              <a:buFont typeface="Courier New" panose="02070309020205020404" pitchFamily="49" charset="0"/>
              <a:buChar char="o"/>
            </a:pPr>
            <a:r>
              <a:rPr lang="en-US" sz="2000" dirty="0"/>
              <a:t>via Hash Table DS. Time Complexity O(1) average case.</a:t>
            </a:r>
          </a:p>
          <a:p>
            <a:endParaRPr lang="en-US" dirty="0"/>
          </a:p>
          <a:p>
            <a:r>
              <a:rPr lang="en-US" dirty="0">
                <a:highlight>
                  <a:srgbClr val="D6D2C4"/>
                </a:highlight>
              </a:rPr>
              <a:t>Priority Queue ADT</a:t>
            </a:r>
          </a:p>
          <a:p>
            <a:pPr marL="685800" lvl="1" indent="-342900">
              <a:buFont typeface="Courier New" panose="02070309020205020404" pitchFamily="49" charset="0"/>
              <a:buChar char="o"/>
            </a:pPr>
            <a:r>
              <a:rPr lang="en-US" sz="2000" dirty="0"/>
              <a:t>via Array DS. Time complexity O(N).</a:t>
            </a:r>
          </a:p>
          <a:p>
            <a:pPr marL="685800" lvl="1" indent="-342900">
              <a:buFont typeface="Courier New" panose="02070309020205020404" pitchFamily="49" charset="0"/>
              <a:buChar char="o"/>
            </a:pPr>
            <a:r>
              <a:rPr lang="en-US" sz="2000" dirty="0"/>
              <a:t>via Heap DS. Time complexity O(log N).</a:t>
            </a:r>
          </a:p>
        </p:txBody>
      </p:sp>
    </p:spTree>
    <p:extLst>
      <p:ext uri="{BB962C8B-B14F-4D97-AF65-F5344CB8AC3E}">
        <p14:creationId xmlns:p14="http://schemas.microsoft.com/office/powerpoint/2010/main" val="26255535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AA6CFDE-766B-7349-AA0B-59C4F135E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ADTs </a:t>
            </a:r>
            <a:r>
              <a:rPr lang="en-US" dirty="0"/>
              <a:t>– RECAP 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4A0025B-81E2-5342-9A46-24B1F5F8A49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US" dirty="0"/>
              <a:t>Steps to developing algorithms</a:t>
            </a:r>
          </a:p>
          <a:p>
            <a:pPr marL="457200" indent="-457200">
              <a:buAutoNum type="arabicPeriod"/>
            </a:pPr>
            <a:r>
              <a:rPr lang="en-US" dirty="0"/>
              <a:t>Analysis of algorithms</a:t>
            </a:r>
          </a:p>
          <a:p>
            <a:pPr marL="457200" indent="-457200">
              <a:buAutoNum type="arabicPeriod"/>
            </a:pPr>
            <a:r>
              <a:rPr lang="en-US" dirty="0">
                <a:highlight>
                  <a:srgbClr val="D6D2C4"/>
                </a:highlight>
              </a:rPr>
              <a:t>Abstract Data Types (ADTs)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5289837"/>
      </p:ext>
    </p:extLst>
  </p:cSld>
  <p:clrMapOvr>
    <a:masterClrMapping/>
  </p:clrMapOvr>
</p:sld>
</file>

<file path=ppt/theme/theme1.xml><?xml version="1.0" encoding="utf-8"?>
<a:theme xmlns:a="http://schemas.openxmlformats.org/drawingml/2006/main" name="4_Custom Desig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5182</TotalTime>
  <Words>1800</Words>
  <Application>Microsoft Macintosh PowerPoint</Application>
  <PresentationFormat>On-screen Show (16:9)</PresentationFormat>
  <Paragraphs>447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Arial</vt:lpstr>
      <vt:lpstr>Calibri</vt:lpstr>
      <vt:lpstr>Courier</vt:lpstr>
      <vt:lpstr>Courier New</vt:lpstr>
      <vt:lpstr>Wingdings</vt:lpstr>
      <vt:lpstr>4_Custom Design</vt:lpstr>
      <vt:lpstr>COMP0005 – ALGORITHMS   1.3 Abstract Data Types (ADTs)</vt:lpstr>
      <vt:lpstr>CONTENT</vt:lpstr>
      <vt:lpstr>ABSTRACT DATA TYPES</vt:lpstr>
      <vt:lpstr>ADT: ARRAY </vt:lpstr>
      <vt:lpstr>ADT: LIST </vt:lpstr>
      <vt:lpstr>ADT: STACK</vt:lpstr>
      <vt:lpstr>ADT: STACK</vt:lpstr>
      <vt:lpstr>ADT: STACK</vt:lpstr>
      <vt:lpstr>ADT: QUEUE</vt:lpstr>
      <vt:lpstr>ADT: QUEUE</vt:lpstr>
      <vt:lpstr>ADT: QUEUE</vt:lpstr>
      <vt:lpstr>ADT: SET &amp; MULTISET</vt:lpstr>
      <vt:lpstr>ADT: MAP</vt:lpstr>
      <vt:lpstr>ADT: PRIORITY QUEUE</vt:lpstr>
      <vt:lpstr>ADTs vs DATA STRUCTURES</vt:lpstr>
      <vt:lpstr>ADTs vs DATA STRUCTURES</vt:lpstr>
      <vt:lpstr>ADT IMPLEMENTATION</vt:lpstr>
      <vt:lpstr>ADT IMPLEMENTATION: ARRAY</vt:lpstr>
      <vt:lpstr>ADT IMPLEMENTATION: ARRAY</vt:lpstr>
      <vt:lpstr>ADT IMPLEMENTATION: ARRAY</vt:lpstr>
      <vt:lpstr>ADT IMPLEMENTATION: ARRAY</vt:lpstr>
      <vt:lpstr>ADT IMPLEMENTATION: ARRAY</vt:lpstr>
      <vt:lpstr>ADT IMPLEMENTATION: ARRAY</vt:lpstr>
      <vt:lpstr>ADT IMPLEMENTATION: ARRAY</vt:lpstr>
      <vt:lpstr>ADT IMPLEMENTATION: ARRAY</vt:lpstr>
      <vt:lpstr>ADT IMPLEMENTATION: ARRAY</vt:lpstr>
      <vt:lpstr>ADT IMPLEMENTATION: LINKED LIST</vt:lpstr>
      <vt:lpstr>ADT IMPLEMENTATION: LINKED LIST</vt:lpstr>
      <vt:lpstr>ADT IMPLEMENTATION: LINKED LIST</vt:lpstr>
      <vt:lpstr>ADT IMPLEMENTATION: LINKED LIST</vt:lpstr>
      <vt:lpstr>ADT IMPLEMENTATION: LINKED LIST</vt:lpstr>
      <vt:lpstr>ADT IMPLEMENTATION: LINKED LIST</vt:lpstr>
      <vt:lpstr>ADT IMPLEMENTATION: LINKED LIST</vt:lpstr>
      <vt:lpstr>ADT IMPLEMENTATION: LINKED LIST</vt:lpstr>
      <vt:lpstr>OTHER ADT IMPLEMENTATIONS</vt:lpstr>
      <vt:lpstr>ADTs – RECAP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UCL 16:9 PP Plain - STONE</dc:title>
  <dc:subject/>
  <dc:creator>Clayton, Janine</dc:creator>
  <cp:keywords/>
  <dc:description/>
  <cp:lastModifiedBy>Capra, Licia</cp:lastModifiedBy>
  <cp:revision>297</cp:revision>
  <dcterms:created xsi:type="dcterms:W3CDTF">2016-12-07T10:36:45Z</dcterms:created>
  <dcterms:modified xsi:type="dcterms:W3CDTF">2020-10-28T17:24:51Z</dcterms:modified>
  <cp:category/>
</cp:coreProperties>
</file>