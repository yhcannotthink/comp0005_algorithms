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9"/>
  </p:notesMasterIdLst>
  <p:sldIdLst>
    <p:sldId id="266" r:id="rId3"/>
    <p:sldId id="310" r:id="rId4"/>
    <p:sldId id="302" r:id="rId5"/>
    <p:sldId id="288" r:id="rId6"/>
    <p:sldId id="313" r:id="rId7"/>
    <p:sldId id="311" r:id="rId8"/>
    <p:sldId id="312" r:id="rId9"/>
    <p:sldId id="314" r:id="rId10"/>
    <p:sldId id="315" r:id="rId11"/>
    <p:sldId id="316" r:id="rId12"/>
    <p:sldId id="317" r:id="rId13"/>
    <p:sldId id="318" r:id="rId14"/>
    <p:sldId id="319" r:id="rId15"/>
    <p:sldId id="322" r:id="rId16"/>
    <p:sldId id="323" r:id="rId17"/>
    <p:sldId id="329" r:id="rId18"/>
    <p:sldId id="330" r:id="rId19"/>
    <p:sldId id="320" r:id="rId20"/>
    <p:sldId id="324" r:id="rId21"/>
    <p:sldId id="325" r:id="rId22"/>
    <p:sldId id="326" r:id="rId23"/>
    <p:sldId id="328" r:id="rId24"/>
    <p:sldId id="327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50" r:id="rId37"/>
    <p:sldId id="349" r:id="rId38"/>
    <p:sldId id="343" r:id="rId39"/>
    <p:sldId id="344" r:id="rId40"/>
    <p:sldId id="345" r:id="rId41"/>
    <p:sldId id="348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257" r:id="rId50"/>
    <p:sldId id="358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0" r:id="rId72"/>
    <p:sldId id="381" r:id="rId73"/>
    <p:sldId id="382" r:id="rId74"/>
    <p:sldId id="383" r:id="rId75"/>
    <p:sldId id="384" r:id="rId76"/>
    <p:sldId id="385" r:id="rId77"/>
    <p:sldId id="386" r:id="rId78"/>
    <p:sldId id="387" r:id="rId79"/>
    <p:sldId id="388" r:id="rId80"/>
    <p:sldId id="389" r:id="rId81"/>
    <p:sldId id="390" r:id="rId82"/>
    <p:sldId id="391" r:id="rId83"/>
    <p:sldId id="267" r:id="rId84"/>
    <p:sldId id="268" r:id="rId85"/>
    <p:sldId id="269" r:id="rId86"/>
    <p:sldId id="392" r:id="rId87"/>
    <p:sldId id="271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0"/>
    <p:restoredTop sz="52653"/>
  </p:normalViewPr>
  <p:slideViewPr>
    <p:cSldViewPr snapToGrid="0" snapToObjects="1">
      <p:cViewPr varScale="1">
        <p:scale>
          <a:sx n="64" d="100"/>
          <a:sy n="64" d="100"/>
        </p:scale>
        <p:origin x="2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3815A-4642-054F-9DCB-06468736115A}" type="datetimeFigureOut">
              <a:rPr lang="en-US" smtClean="0"/>
              <a:t>11/4/20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8918F-5AD9-E04B-8904-1D5B7230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13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691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81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84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518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42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12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40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26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72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90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46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68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64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70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025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59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742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6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000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4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44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36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109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12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31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059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144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859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310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057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726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14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23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925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821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913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212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44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965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833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781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920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646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893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747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415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782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702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442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493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918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097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042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701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816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4201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264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991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176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1138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050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0079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7986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033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81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3539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166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81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6705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6548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0583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6051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116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6910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2106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614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9056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8059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026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9974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504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677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5826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9604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88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328022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51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81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2.4 Heap Sort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66861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MergeSort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QuickSort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highlight>
                  <a:srgbClr val="C0C0C0"/>
                </a:highlight>
              </a:rPr>
              <a:t>HeapSort</a:t>
            </a:r>
            <a:endParaRPr lang="en-US" dirty="0">
              <a:highlight>
                <a:srgbClr val="C0C0C0"/>
              </a:highlight>
            </a:endParaRPr>
          </a:p>
          <a:p>
            <a:pPr lvl="1"/>
            <a:r>
              <a:rPr lang="en-US" dirty="0"/>
              <a:t>Priority Queue Abstract Data Type</a:t>
            </a:r>
          </a:p>
          <a:p>
            <a:pPr lvl="1"/>
            <a:r>
              <a:rPr lang="en-US" dirty="0"/>
              <a:t>Binary Heap Data Structure</a:t>
            </a:r>
          </a:p>
          <a:p>
            <a:pPr lvl="1"/>
            <a:r>
              <a:rPr lang="en-US" dirty="0"/>
              <a:t>Heap Sort Algorithm</a:t>
            </a:r>
          </a:p>
        </p:txBody>
      </p:sp>
    </p:spTree>
    <p:extLst>
      <p:ext uri="{BB962C8B-B14F-4D97-AF65-F5344CB8AC3E}">
        <p14:creationId xmlns:p14="http://schemas.microsoft.com/office/powerpoint/2010/main" val="36267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6B2C2-B67D-284D-A412-E712FE5F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vs PRIORITY QUEUE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8F9AFF-77E4-5446-B4D9-35BFF3853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Recap: the queue is a list that places restrictions on where you can add/remove elements (</a:t>
            </a:r>
            <a:r>
              <a:rPr lang="en-US" dirty="0">
                <a:highlight>
                  <a:srgbClr val="D6D2C4"/>
                </a:highlight>
              </a:rPr>
              <a:t>FIFO: first-in, first-out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grpSp>
        <p:nvGrpSpPr>
          <p:cNvPr id="61" name="Group 60" descr="visual representation of a queue">
            <a:extLst>
              <a:ext uri="{FF2B5EF4-FFF2-40B4-BE49-F238E27FC236}">
                <a16:creationId xmlns:a16="http://schemas.microsoft.com/office/drawing/2014/main" id="{B4E072D6-DFEB-3246-BDB5-F87858BBD6AC}"/>
              </a:ext>
            </a:extLst>
          </p:cNvPr>
          <p:cNvGrpSpPr/>
          <p:nvPr/>
        </p:nvGrpSpPr>
        <p:grpSpPr>
          <a:xfrm>
            <a:off x="589162" y="2680495"/>
            <a:ext cx="4886688" cy="1544564"/>
            <a:chOff x="589162" y="2680495"/>
            <a:chExt cx="4886688" cy="15445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8AF402-E40C-E34F-B9B4-3E08D6C3F976}"/>
                </a:ext>
              </a:extLst>
            </p:cNvPr>
            <p:cNvGrpSpPr/>
            <p:nvPr/>
          </p:nvGrpSpPr>
          <p:grpSpPr>
            <a:xfrm>
              <a:off x="1411540" y="2680495"/>
              <a:ext cx="3249168" cy="810768"/>
              <a:chOff x="477520" y="2357120"/>
              <a:chExt cx="3652520" cy="9144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13C0934-84D8-A04E-B102-846B779DAC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en-US" sz="24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386668-C461-5B4A-9AAF-F600C74158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en-US" sz="24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B18C01-EB17-B14A-85A1-2F7E9B2909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en-US" sz="24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A506DE-7BE9-4940-A891-2FA03F37D0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en-US" sz="24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CD8BE9-4FBB-DD4F-9723-3B5D8869DBD9}"/>
                </a:ext>
              </a:extLst>
            </p:cNvPr>
            <p:cNvSpPr txBox="1"/>
            <p:nvPr/>
          </p:nvSpPr>
          <p:spPr>
            <a:xfrm>
              <a:off x="3911151" y="3842747"/>
              <a:ext cx="639919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en-US" sz="16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E90257-AA4E-F145-A60D-149F36751EAB}"/>
                </a:ext>
              </a:extLst>
            </p:cNvPr>
            <p:cNvSpPr txBox="1"/>
            <p:nvPr/>
          </p:nvSpPr>
          <p:spPr>
            <a:xfrm>
              <a:off x="1498905" y="3886506"/>
              <a:ext cx="445956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en-US" sz="16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28B10E1-A18C-9643-AF4B-75F1C6685E78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1818250" y="3491263"/>
              <a:ext cx="0" cy="4084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1485644-720C-DE4B-B676-308ED92D02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5138" y="3520770"/>
              <a:ext cx="0" cy="4084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9827D0B-BB4C-E540-9262-8709C1239F3E}"/>
                </a:ext>
              </a:extLst>
            </p:cNvPr>
            <p:cNvCxnSpPr>
              <a:cxnSpLocks/>
            </p:cNvCxnSpPr>
            <p:nvPr/>
          </p:nvCxnSpPr>
          <p:spPr>
            <a:xfrm>
              <a:off x="4796174" y="3097306"/>
              <a:ext cx="67967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1EA3CD-797F-144D-B078-86D1BB144F01}"/>
                </a:ext>
              </a:extLst>
            </p:cNvPr>
            <p:cNvCxnSpPr>
              <a:cxnSpLocks/>
            </p:cNvCxnSpPr>
            <p:nvPr/>
          </p:nvCxnSpPr>
          <p:spPr>
            <a:xfrm>
              <a:off x="589162" y="3109591"/>
              <a:ext cx="67967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9441A02-73D0-A443-B9DC-4598900BED75}"/>
              </a:ext>
            </a:extLst>
          </p:cNvPr>
          <p:cNvSpPr txBox="1"/>
          <p:nvPr/>
        </p:nvSpPr>
        <p:spPr>
          <a:xfrm>
            <a:off x="6529493" y="2541303"/>
            <a:ext cx="3565400" cy="140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1066773" lvl="1" indent="-457189" defTabSz="1219170">
              <a:buFont typeface="Courier New" panose="02070309020205020404" pitchFamily="49" charset="0"/>
              <a:buChar char="o"/>
            </a:pPr>
            <a:r>
              <a:rPr lang="en-US" sz="26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enqueue (item)</a:t>
            </a:r>
          </a:p>
          <a:p>
            <a:pPr marL="1066773" lvl="1" indent="-457189" defTabSz="1219170">
              <a:buFont typeface="Courier New" panose="02070309020205020404" pitchFamily="49" charset="0"/>
              <a:buChar char="o"/>
            </a:pPr>
            <a:r>
              <a:rPr lang="en-US" sz="26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grpSp>
        <p:nvGrpSpPr>
          <p:cNvPr id="15" name="Group 14" descr="graphical representation of  a enqueue operation on a queue">
            <a:extLst>
              <a:ext uri="{FF2B5EF4-FFF2-40B4-BE49-F238E27FC236}">
                <a16:creationId xmlns:a16="http://schemas.microsoft.com/office/drawing/2014/main" id="{CE9A7CD5-14D5-4C4E-A0AF-B7F0273FF632}"/>
              </a:ext>
            </a:extLst>
          </p:cNvPr>
          <p:cNvGrpSpPr/>
          <p:nvPr/>
        </p:nvGrpSpPr>
        <p:grpSpPr>
          <a:xfrm>
            <a:off x="121921" y="4587780"/>
            <a:ext cx="5293001" cy="1950746"/>
            <a:chOff x="91440" y="3440835"/>
            <a:chExt cx="3969751" cy="146305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B09AB53-F159-D545-BEBE-77AB2A7B4AFA}"/>
                </a:ext>
              </a:extLst>
            </p:cNvPr>
            <p:cNvGrpSpPr/>
            <p:nvPr/>
          </p:nvGrpSpPr>
          <p:grpSpPr>
            <a:xfrm>
              <a:off x="369279" y="3440835"/>
              <a:ext cx="3061041" cy="1463059"/>
              <a:chOff x="287999" y="3450995"/>
              <a:chExt cx="3061041" cy="146305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05F1BCD-B6E1-BB44-B4E6-BF701C157AC6}"/>
                  </a:ext>
                </a:extLst>
              </p:cNvPr>
              <p:cNvGrpSpPr/>
              <p:nvPr/>
            </p:nvGrpSpPr>
            <p:grpSpPr>
              <a:xfrm>
                <a:off x="387774" y="3809799"/>
                <a:ext cx="1830199" cy="608076"/>
                <a:chOff x="477520" y="2357120"/>
                <a:chExt cx="2743200" cy="914400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4832A1E-153E-284E-BECC-A5AA383A9E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5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/>
                  <a:r>
                    <a:rPr lang="en-US" sz="2400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70D04C99-BA4C-0D41-9B7A-BBDF5ACB91D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19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/>
                  <a:endParaRPr lang="en-US" sz="24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83036A3-443C-C248-BEAF-312A7EDD9B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63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/>
                  <a:endParaRPr lang="en-US" sz="240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D80F6D-FEB3-6E42-9D77-2E6B69D1E21B}"/>
                  </a:ext>
                </a:extLst>
              </p:cNvPr>
              <p:cNvSpPr txBox="1"/>
              <p:nvPr/>
            </p:nvSpPr>
            <p:spPr>
              <a:xfrm>
                <a:off x="2869101" y="4635303"/>
                <a:ext cx="479939" cy="2539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head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D6E7FB-2BC7-CD47-86B0-FA1307A17031}"/>
                  </a:ext>
                </a:extLst>
              </p:cNvPr>
              <p:cNvSpPr txBox="1"/>
              <p:nvPr/>
            </p:nvSpPr>
            <p:spPr>
              <a:xfrm>
                <a:off x="443565" y="4660139"/>
                <a:ext cx="334467" cy="2539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tail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E8FC67B-CC00-4E40-BBDD-AAEB43ECD7B5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692807" y="4417875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A979F9BE-E786-AC4D-88E4-0E20E65C85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1353" y="4417875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5E95A4-9CA7-3F45-88A3-D11656FFCA55}"/>
                  </a:ext>
                </a:extLst>
              </p:cNvPr>
              <p:cNvSpPr txBox="1"/>
              <p:nvPr/>
            </p:nvSpPr>
            <p:spPr>
              <a:xfrm>
                <a:off x="287999" y="3450995"/>
                <a:ext cx="2123418" cy="3154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en-US" sz="2133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 enqueue(X)</a:t>
                </a:r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E5DA7B-6076-904E-9A83-47297AD039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99252" y="3799639"/>
              <a:ext cx="610066" cy="60807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65A7162-2751-2E4F-BE08-872A169C54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07600" y="3797865"/>
              <a:ext cx="610066" cy="60807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A844E36-1D3F-2049-9083-2FB2F2AF2F69}"/>
                </a:ext>
              </a:extLst>
            </p:cNvPr>
            <p:cNvCxnSpPr>
              <a:cxnSpLocks/>
            </p:cNvCxnSpPr>
            <p:nvPr/>
          </p:nvCxnSpPr>
          <p:spPr>
            <a:xfrm>
              <a:off x="3551434" y="410190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7E588A6-351A-5749-8EC4-332352F31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0" y="4089006"/>
              <a:ext cx="277839" cy="128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 descr="graphical representation of  a dequeue operation on a queue">
            <a:extLst>
              <a:ext uri="{FF2B5EF4-FFF2-40B4-BE49-F238E27FC236}">
                <a16:creationId xmlns:a16="http://schemas.microsoft.com/office/drawing/2014/main" id="{9DD29F02-1DEB-C045-BF83-D11D3A509317}"/>
              </a:ext>
            </a:extLst>
          </p:cNvPr>
          <p:cNvGrpSpPr/>
          <p:nvPr/>
        </p:nvGrpSpPr>
        <p:grpSpPr>
          <a:xfrm>
            <a:off x="7066371" y="4497988"/>
            <a:ext cx="4464618" cy="1972412"/>
            <a:chOff x="6019736" y="4566114"/>
            <a:chExt cx="4464618" cy="197241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D33C7F-A995-3A40-8D92-DA371F25E0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5329" y="5063644"/>
              <a:ext cx="813599" cy="81094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0C5A62B-7E51-4E42-906D-6BFA3369F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954" y="5063644"/>
              <a:ext cx="813599" cy="81094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2749C41-9C3A-3648-AD9C-2E53406D40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9304" y="5060484"/>
              <a:ext cx="813599" cy="81094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CBD8F3-D682-A645-BD79-8756DA3C4908}"/>
                </a:ext>
              </a:extLst>
            </p:cNvPr>
            <p:cNvSpPr txBox="1"/>
            <p:nvPr/>
          </p:nvSpPr>
          <p:spPr>
            <a:xfrm>
              <a:off x="6559380" y="4566114"/>
              <a:ext cx="2648482" cy="420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0" dirty="0">
                  <a:latin typeface="Arial" panose="020B0604020202020204" pitchFamily="34" charset="0"/>
                  <a:cs typeface="Arial" panose="020B0604020202020204" pitchFamily="34" charset="0"/>
                </a:rPr>
                <a:t>Example: dequeue()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07C5FDD-6E6F-6344-938E-E7083840E58F}"/>
                </a:ext>
              </a:extLst>
            </p:cNvPr>
            <p:cNvCxnSpPr>
              <a:cxnSpLocks/>
            </p:cNvCxnSpPr>
            <p:nvPr/>
          </p:nvCxnSpPr>
          <p:spPr>
            <a:xfrm>
              <a:off x="6019736" y="5470391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1C37F19-7D63-AB4D-BCCE-6A380F560CFB}"/>
                </a:ext>
              </a:extLst>
            </p:cNvPr>
            <p:cNvCxnSpPr>
              <a:cxnSpLocks/>
            </p:cNvCxnSpPr>
            <p:nvPr/>
          </p:nvCxnSpPr>
          <p:spPr>
            <a:xfrm>
              <a:off x="9022903" y="5452008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C73AA8-3838-EB41-A5F1-18CA8F6BCC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70755" y="5063644"/>
              <a:ext cx="813599" cy="81094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49D069E-3D0B-4944-B336-C902D0CC2098}"/>
                </a:ext>
              </a:extLst>
            </p:cNvPr>
            <p:cNvSpPr txBox="1"/>
            <p:nvPr/>
          </p:nvSpPr>
          <p:spPr>
            <a:xfrm>
              <a:off x="8270622" y="6173300"/>
              <a:ext cx="639919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en-US" sz="16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9BD15BA-3832-5748-82EA-19833CF40191}"/>
                </a:ext>
              </a:extLst>
            </p:cNvPr>
            <p:cNvSpPr txBox="1"/>
            <p:nvPr/>
          </p:nvSpPr>
          <p:spPr>
            <a:xfrm>
              <a:off x="6650062" y="6199973"/>
              <a:ext cx="445956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en-US" sz="16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A4573AF-B16F-4148-B66C-414429150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2385" y="5876954"/>
              <a:ext cx="0" cy="4084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99628E4-49F8-964C-BF62-B0D556EA6D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0292" y="5883396"/>
              <a:ext cx="0" cy="4084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6F5C5496-5846-8F49-9EEA-18B00A572021}"/>
              </a:ext>
            </a:extLst>
          </p:cNvPr>
          <p:cNvSpPr>
            <a:spLocks noChangeAspect="1"/>
          </p:cNvSpPr>
          <p:nvPr/>
        </p:nvSpPr>
        <p:spPr>
          <a:xfrm>
            <a:off x="3858872" y="2674126"/>
            <a:ext cx="813422" cy="81076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142DE64-6B94-0045-8039-D0CCBFEEAB03}"/>
              </a:ext>
            </a:extLst>
          </p:cNvPr>
          <p:cNvSpPr>
            <a:spLocks noChangeAspect="1"/>
          </p:cNvSpPr>
          <p:nvPr/>
        </p:nvSpPr>
        <p:spPr>
          <a:xfrm>
            <a:off x="3894983" y="5078280"/>
            <a:ext cx="813422" cy="81076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9C7466-EC16-0348-B3AA-AD6EC454C132}"/>
              </a:ext>
            </a:extLst>
          </p:cNvPr>
          <p:cNvSpPr>
            <a:spLocks noChangeAspect="1"/>
          </p:cNvSpPr>
          <p:nvPr/>
        </p:nvSpPr>
        <p:spPr>
          <a:xfrm>
            <a:off x="10733458" y="4992534"/>
            <a:ext cx="813422" cy="81076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81915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904B62-C225-074F-8917-2C5225FF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vs PRIORITY QUEUE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7608369-3E76-704C-A4DB-30E4D461F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/>
          <a:lstStyle/>
          <a:p>
            <a:r>
              <a:rPr lang="en-US" dirty="0"/>
              <a:t>Recap: the priority queue is a queue where items are inserted/removed based on a given </a:t>
            </a:r>
            <a:r>
              <a:rPr lang="en-US" dirty="0">
                <a:highlight>
                  <a:srgbClr val="D6D2C4"/>
                </a:highlight>
              </a:rPr>
              <a:t>priority/order </a:t>
            </a:r>
            <a:r>
              <a:rPr lang="en-US" dirty="0"/>
              <a:t>(min-oriented or max-oriented)</a:t>
            </a:r>
          </a:p>
          <a:p>
            <a:endParaRPr lang="en-US" dirty="0"/>
          </a:p>
        </p:txBody>
      </p:sp>
      <p:grpSp>
        <p:nvGrpSpPr>
          <p:cNvPr id="2" name="Group 1" descr="graphical representation of  a priority queue">
            <a:extLst>
              <a:ext uri="{FF2B5EF4-FFF2-40B4-BE49-F238E27FC236}">
                <a16:creationId xmlns:a16="http://schemas.microsoft.com/office/drawing/2014/main" id="{E04241F9-6832-6349-8071-09A2A64BADEC}"/>
              </a:ext>
            </a:extLst>
          </p:cNvPr>
          <p:cNvGrpSpPr/>
          <p:nvPr/>
        </p:nvGrpSpPr>
        <p:grpSpPr>
          <a:xfrm>
            <a:off x="250501" y="2869934"/>
            <a:ext cx="4730241" cy="1705698"/>
            <a:chOff x="187876" y="1860146"/>
            <a:chExt cx="3547681" cy="127927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56F584-4E23-0742-B637-0150979CEBFC}"/>
                </a:ext>
              </a:extLst>
            </p:cNvPr>
            <p:cNvGrpSpPr/>
            <p:nvPr/>
          </p:nvGrpSpPr>
          <p:grpSpPr>
            <a:xfrm>
              <a:off x="941067" y="1980996"/>
              <a:ext cx="2794490" cy="1158424"/>
              <a:chOff x="701040" y="2010371"/>
              <a:chExt cx="2794490" cy="115842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8D65908-0478-7045-A75A-9B78202C6BAB}"/>
                  </a:ext>
                </a:extLst>
              </p:cNvPr>
              <p:cNvGrpSpPr/>
              <p:nvPr/>
            </p:nvGrpSpPr>
            <p:grpSpPr>
              <a:xfrm>
                <a:off x="1058654" y="2010371"/>
                <a:ext cx="2436876" cy="608076"/>
                <a:chOff x="477520" y="2357120"/>
                <a:chExt cx="3652520" cy="914400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6E39F05-9E8F-9B44-B6A8-7BAA554EC4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5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6C9228A-86BD-3443-8BAE-995E861364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19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FE7B9AA-2319-5E49-ACCA-76F196CC54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63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6D7AB6D-E391-434D-887A-BDAA811FBC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1564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4604EC-46CB-B244-A681-CFAA4A6E8A0A}"/>
                  </a:ext>
                </a:extLst>
              </p:cNvPr>
              <p:cNvSpPr txBox="1"/>
              <p:nvPr/>
            </p:nvSpPr>
            <p:spPr>
              <a:xfrm>
                <a:off x="2933363" y="2882060"/>
                <a:ext cx="47993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head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F2712D-6C24-FF4D-BF64-914736040B0B}"/>
                  </a:ext>
                </a:extLst>
              </p:cNvPr>
              <p:cNvSpPr txBox="1"/>
              <p:nvPr/>
            </p:nvSpPr>
            <p:spPr>
              <a:xfrm>
                <a:off x="1124178" y="2914879"/>
                <a:ext cx="33446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tail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8F0CEE2-390C-3C40-AF96-0D3E0CD3CCE8}"/>
                  </a:ext>
                </a:extLst>
              </p:cNvPr>
              <p:cNvCxnSpPr>
                <a:cxnSpLocks/>
                <a:endCxn id="16" idx="2"/>
              </p:cNvCxnSpPr>
              <p:nvPr/>
            </p:nvCxnSpPr>
            <p:spPr>
              <a:xfrm flipV="1">
                <a:off x="1363687" y="2618447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5D01EA2-8687-D348-A896-6ADE3A19D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1353" y="2663063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A6FFC65-0C47-7849-879F-37DD1A77FB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1040" y="2455059"/>
                <a:ext cx="357614" cy="11669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B1EADE3-C446-1145-87DB-037254D93D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1040" y="2010371"/>
                <a:ext cx="357614" cy="1491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D1955BC-BD8C-8040-8548-9C66CAD30B43}"/>
                </a:ext>
              </a:extLst>
            </p:cNvPr>
            <p:cNvCxnSpPr>
              <a:stCxn id="16" idx="1"/>
              <a:endCxn id="19" idx="3"/>
            </p:cNvCxnSpPr>
            <p:nvPr/>
          </p:nvCxnSpPr>
          <p:spPr>
            <a:xfrm>
              <a:off x="1298681" y="2285034"/>
              <a:ext cx="2436876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79CCD4F-EF27-BC45-A161-57F3456997A9}"/>
                </a:ext>
              </a:extLst>
            </p:cNvPr>
            <p:cNvSpPr txBox="1"/>
            <p:nvPr/>
          </p:nvSpPr>
          <p:spPr>
            <a:xfrm>
              <a:off x="320358" y="1860146"/>
              <a:ext cx="50638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items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15261EB-C43D-1748-B29F-C90315049821}"/>
                </a:ext>
              </a:extLst>
            </p:cNvPr>
            <p:cNvSpPr txBox="1"/>
            <p:nvPr/>
          </p:nvSpPr>
          <p:spPr>
            <a:xfrm>
              <a:off x="187876" y="2433250"/>
              <a:ext cx="71918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priorities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A10998-3EAD-774D-8F5A-35FF3C9D0B4E}"/>
                </a:ext>
              </a:extLst>
            </p:cNvPr>
            <p:cNvSpPr txBox="1"/>
            <p:nvPr/>
          </p:nvSpPr>
          <p:spPr>
            <a:xfrm>
              <a:off x="1392183" y="2287184"/>
              <a:ext cx="217751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p</a:t>
              </a:r>
              <a:r>
                <a:rPr lang="en-US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          p</a:t>
              </a:r>
              <a:r>
                <a:rPr lang="en-US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          p</a:t>
              </a:r>
              <a:r>
                <a:rPr lang="en-US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9110EC7-DF2E-F14A-8797-CD21AE933C49}"/>
              </a:ext>
            </a:extLst>
          </p:cNvPr>
          <p:cNvSpPr txBox="1"/>
          <p:nvPr/>
        </p:nvSpPr>
        <p:spPr>
          <a:xfrm>
            <a:off x="6513888" y="2904114"/>
            <a:ext cx="4685898" cy="140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1066773" lvl="1" indent="-457189">
              <a:buFont typeface="Courier New" panose="02070309020205020404" pitchFamily="49" charset="0"/>
              <a:buChar char="o"/>
            </a:pP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enqueue(item, priority)</a:t>
            </a:r>
          </a:p>
          <a:p>
            <a:pPr marL="1066773" lvl="1" indent="-457189">
              <a:buFont typeface="Courier New" panose="02070309020205020404" pitchFamily="49" charset="0"/>
              <a:buChar char="o"/>
            </a:pP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190DA4-9E64-4F42-84D2-E185B5AFE2BC}"/>
              </a:ext>
            </a:extLst>
          </p:cNvPr>
          <p:cNvSpPr txBox="1"/>
          <p:nvPr/>
        </p:nvSpPr>
        <p:spPr>
          <a:xfrm>
            <a:off x="541346" y="4925393"/>
            <a:ext cx="3001143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Property: p</a:t>
            </a:r>
            <a:r>
              <a:rPr lang="en-US" sz="2667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 &gt;= p</a:t>
            </a:r>
            <a:r>
              <a:rPr lang="en-US" sz="2667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A64603-40F3-FC4D-8925-EB6E8D09E58A}"/>
              </a:ext>
            </a:extLst>
          </p:cNvPr>
          <p:cNvSpPr txBox="1"/>
          <p:nvPr/>
        </p:nvSpPr>
        <p:spPr>
          <a:xfrm>
            <a:off x="541346" y="5467180"/>
            <a:ext cx="231505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(Or: p</a:t>
            </a:r>
            <a:r>
              <a:rPr lang="en-US" sz="2667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 &lt;= p</a:t>
            </a:r>
            <a:r>
              <a:rPr lang="en-US" sz="2667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0670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41D8-9E92-2B4F-B0EC-722C41B0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D945E-12D3-C044-9002-CE283D052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Set-up</a:t>
            </a:r>
          </a:p>
          <a:p>
            <a:pPr lvl="1"/>
            <a:r>
              <a:rPr lang="en-US" dirty="0"/>
              <a:t>Challenge: find the largest M items in a stream of N items</a:t>
            </a:r>
          </a:p>
          <a:p>
            <a:pPr lvl="1"/>
            <a:r>
              <a:rPr lang="en-US" dirty="0"/>
              <a:t>Constraint: not enough memory to store all N items</a:t>
            </a:r>
          </a:p>
          <a:p>
            <a:pPr lvl="1"/>
            <a:r>
              <a:rPr lang="en-US" dirty="0"/>
              <a:t>Example: credit card fraud detection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41F162A-53C3-4D48-9312-1B5217A78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97049" y="1916715"/>
            <a:ext cx="6947009" cy="1696951"/>
            <a:chOff x="4497049" y="1916715"/>
            <a:chExt cx="6947009" cy="16969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572CBE-A810-534B-A08A-25D99DE805BF}"/>
                </a:ext>
              </a:extLst>
            </p:cNvPr>
            <p:cNvSpPr txBox="1"/>
            <p:nvPr/>
          </p:nvSpPr>
          <p:spPr>
            <a:xfrm>
              <a:off x="10515599" y="2691594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 huge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4C6293-B34C-724D-91EE-AE19CB27DFC1}"/>
                </a:ext>
              </a:extLst>
            </p:cNvPr>
            <p:cNvSpPr txBox="1"/>
            <p:nvPr/>
          </p:nvSpPr>
          <p:spPr>
            <a:xfrm>
              <a:off x="8907586" y="3244334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 large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8690607-BC5D-FC42-9826-5FE11C082304}"/>
                </a:ext>
              </a:extLst>
            </p:cNvPr>
            <p:cNvCxnSpPr>
              <a:cxnSpLocks/>
              <a:stCxn id="4" idx="1"/>
              <a:endCxn id="16" idx="5"/>
            </p:cNvCxnSpPr>
            <p:nvPr/>
          </p:nvCxnSpPr>
          <p:spPr>
            <a:xfrm flipH="1" flipV="1">
              <a:off x="7986862" y="2364656"/>
              <a:ext cx="2528737" cy="511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147E713-986B-9E4E-AA74-F5897D4CAE3B}"/>
                </a:ext>
              </a:extLst>
            </p:cNvPr>
            <p:cNvCxnSpPr>
              <a:cxnSpLocks/>
              <a:stCxn id="5" idx="1"/>
              <a:endCxn id="14" idx="5"/>
            </p:cNvCxnSpPr>
            <p:nvPr/>
          </p:nvCxnSpPr>
          <p:spPr>
            <a:xfrm flipH="1" flipV="1">
              <a:off x="4906486" y="2353390"/>
              <a:ext cx="4001100" cy="1075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B3FD74-11E3-EB40-ADA5-C3A0BABCDF27}"/>
                </a:ext>
              </a:extLst>
            </p:cNvPr>
            <p:cNvSpPr/>
            <p:nvPr/>
          </p:nvSpPr>
          <p:spPr>
            <a:xfrm>
              <a:off x="4497049" y="1916715"/>
              <a:ext cx="479685" cy="511597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AD26B98-2903-7044-BFF9-62FAB7C4A4D4}"/>
                </a:ext>
              </a:extLst>
            </p:cNvPr>
            <p:cNvSpPr/>
            <p:nvPr/>
          </p:nvSpPr>
          <p:spPr>
            <a:xfrm>
              <a:off x="7577425" y="1927981"/>
              <a:ext cx="479685" cy="511597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5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41D8-9E92-2B4F-B0EC-722C41B0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D945E-12D3-C044-9002-CE283D052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94" y="1588052"/>
            <a:ext cx="11479427" cy="5016842"/>
          </a:xfrm>
        </p:spPr>
        <p:txBody>
          <a:bodyPr/>
          <a:lstStyle/>
          <a:p>
            <a:r>
              <a:rPr lang="en-US" dirty="0"/>
              <a:t>Set-up</a:t>
            </a:r>
          </a:p>
          <a:p>
            <a:pPr lvl="1"/>
            <a:r>
              <a:rPr lang="en-US" dirty="0"/>
              <a:t>Challenge: find the largest M items in a stream of N items</a:t>
            </a:r>
          </a:p>
          <a:p>
            <a:pPr lvl="1"/>
            <a:r>
              <a:rPr lang="en-US" dirty="0"/>
              <a:t>Constraint: not enough memory to store all N items</a:t>
            </a:r>
          </a:p>
          <a:p>
            <a:pPr lvl="1"/>
            <a:r>
              <a:rPr lang="en-US" dirty="0"/>
              <a:t>Example: credit card fraud detection </a:t>
            </a:r>
          </a:p>
          <a:p>
            <a:pPr lvl="1"/>
            <a:endParaRPr lang="en-US" dirty="0"/>
          </a:p>
          <a:p>
            <a:r>
              <a:rPr lang="en-US" dirty="0"/>
              <a:t>Implementations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41F162A-53C3-4D48-9312-1B5217A78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97049" y="1916715"/>
            <a:ext cx="6947009" cy="1696951"/>
            <a:chOff x="4497049" y="1916715"/>
            <a:chExt cx="6947009" cy="16969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572CBE-A810-534B-A08A-25D99DE805BF}"/>
                </a:ext>
              </a:extLst>
            </p:cNvPr>
            <p:cNvSpPr txBox="1"/>
            <p:nvPr/>
          </p:nvSpPr>
          <p:spPr>
            <a:xfrm>
              <a:off x="10515599" y="2691594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 huge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4C6293-B34C-724D-91EE-AE19CB27DFC1}"/>
                </a:ext>
              </a:extLst>
            </p:cNvPr>
            <p:cNvSpPr txBox="1"/>
            <p:nvPr/>
          </p:nvSpPr>
          <p:spPr>
            <a:xfrm>
              <a:off x="8907586" y="3244334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 large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8690607-BC5D-FC42-9826-5FE11C082304}"/>
                </a:ext>
              </a:extLst>
            </p:cNvPr>
            <p:cNvCxnSpPr>
              <a:cxnSpLocks/>
              <a:stCxn id="4" idx="1"/>
              <a:endCxn id="16" idx="5"/>
            </p:cNvCxnSpPr>
            <p:nvPr/>
          </p:nvCxnSpPr>
          <p:spPr>
            <a:xfrm flipH="1" flipV="1">
              <a:off x="7986862" y="2364656"/>
              <a:ext cx="2528737" cy="511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147E713-986B-9E4E-AA74-F5897D4CAE3B}"/>
                </a:ext>
              </a:extLst>
            </p:cNvPr>
            <p:cNvCxnSpPr>
              <a:cxnSpLocks/>
              <a:stCxn id="5" idx="1"/>
              <a:endCxn id="14" idx="5"/>
            </p:cNvCxnSpPr>
            <p:nvPr/>
          </p:nvCxnSpPr>
          <p:spPr>
            <a:xfrm flipH="1" flipV="1">
              <a:off x="4906486" y="2353390"/>
              <a:ext cx="4001100" cy="1075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  <a:alpha val="62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B3FD74-11E3-EB40-ADA5-C3A0BABCDF27}"/>
                </a:ext>
              </a:extLst>
            </p:cNvPr>
            <p:cNvSpPr/>
            <p:nvPr/>
          </p:nvSpPr>
          <p:spPr>
            <a:xfrm>
              <a:off x="4497049" y="1916715"/>
              <a:ext cx="479685" cy="511597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AD26B98-2903-7044-BFF9-62FAB7C4A4D4}"/>
                </a:ext>
              </a:extLst>
            </p:cNvPr>
            <p:cNvSpPr/>
            <p:nvPr/>
          </p:nvSpPr>
          <p:spPr>
            <a:xfrm>
              <a:off x="7577425" y="1927981"/>
              <a:ext cx="479685" cy="511597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0" name="Table 19" descr="table showing time and space complexity of different priority queue implemtations">
            <a:extLst>
              <a:ext uri="{FF2B5EF4-FFF2-40B4-BE49-F238E27FC236}">
                <a16:creationId xmlns:a16="http://schemas.microsoft.com/office/drawing/2014/main" id="{72124125-F99E-9247-AD45-604C1BAC1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203763"/>
              </p:ext>
            </p:extLst>
          </p:nvPr>
        </p:nvGraphicFramePr>
        <p:xfrm>
          <a:off x="648585" y="4571724"/>
          <a:ext cx="46279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321">
                  <a:extLst>
                    <a:ext uri="{9D8B030D-6E8A-4147-A177-3AD203B41FA5}">
                      <a16:colId xmlns:a16="http://schemas.microsoft.com/office/drawing/2014/main" val="3622504839"/>
                    </a:ext>
                  </a:extLst>
                </a:gridCol>
                <a:gridCol w="1238290">
                  <a:extLst>
                    <a:ext uri="{9D8B030D-6E8A-4147-A177-3AD203B41FA5}">
                      <a16:colId xmlns:a16="http://schemas.microsoft.com/office/drawing/2014/main" val="2364480128"/>
                    </a:ext>
                  </a:extLst>
                </a:gridCol>
                <a:gridCol w="1004341">
                  <a:extLst>
                    <a:ext uri="{9D8B030D-6E8A-4147-A177-3AD203B41FA5}">
                      <a16:colId xmlns:a16="http://schemas.microsoft.com/office/drawing/2014/main" val="3554147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49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 &amp;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log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86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Elementary PQ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02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Heap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log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57703"/>
                  </a:ext>
                </a:extLst>
              </a:tr>
            </a:tbl>
          </a:graphicData>
        </a:graphic>
      </p:graphicFrame>
      <p:graphicFrame>
        <p:nvGraphicFramePr>
          <p:cNvPr id="21" name="Table 20" descr="table showing cost for insert / delete operations with elementary priority queue">
            <a:extLst>
              <a:ext uri="{FF2B5EF4-FFF2-40B4-BE49-F238E27FC236}">
                <a16:creationId xmlns:a16="http://schemas.microsoft.com/office/drawing/2014/main" id="{A7119478-7F15-BE42-8BDA-F1366B7AF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089952"/>
              </p:ext>
            </p:extLst>
          </p:nvPr>
        </p:nvGraphicFramePr>
        <p:xfrm>
          <a:off x="6897042" y="4938507"/>
          <a:ext cx="49837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115">
                  <a:extLst>
                    <a:ext uri="{9D8B030D-6E8A-4147-A177-3AD203B41FA5}">
                      <a16:colId xmlns:a16="http://schemas.microsoft.com/office/drawing/2014/main" val="2414961128"/>
                    </a:ext>
                  </a:extLst>
                </a:gridCol>
                <a:gridCol w="929391">
                  <a:extLst>
                    <a:ext uri="{9D8B030D-6E8A-4147-A177-3AD203B41FA5}">
                      <a16:colId xmlns:a16="http://schemas.microsoft.com/office/drawing/2014/main" val="3784547142"/>
                    </a:ext>
                  </a:extLst>
                </a:gridCol>
                <a:gridCol w="2047258">
                  <a:extLst>
                    <a:ext uri="{9D8B030D-6E8A-4147-A177-3AD203B41FA5}">
                      <a16:colId xmlns:a16="http://schemas.microsoft.com/office/drawing/2014/main" val="1313282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max(min)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0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Unordered 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99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Ordered 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791628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8F107AD9-8824-A54E-9680-C174256C5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83058" y="5313404"/>
            <a:ext cx="6513984" cy="367868"/>
            <a:chOff x="383058" y="5313404"/>
            <a:chExt cx="6513984" cy="367868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F4DAE2C9-0972-4F44-B651-857FB577BA6C}"/>
                </a:ext>
              </a:extLst>
            </p:cNvPr>
            <p:cNvSpPr/>
            <p:nvPr/>
          </p:nvSpPr>
          <p:spPr>
            <a:xfrm>
              <a:off x="383058" y="5313404"/>
              <a:ext cx="5230870" cy="36786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FFC7249-13B8-F842-A758-72F4F34CA2B0}"/>
                </a:ext>
              </a:extLst>
            </p:cNvPr>
            <p:cNvCxnSpPr>
              <a:cxnSpLocks/>
              <a:stCxn id="22" idx="3"/>
              <a:endCxn id="21" idx="1"/>
            </p:cNvCxnSpPr>
            <p:nvPr/>
          </p:nvCxnSpPr>
          <p:spPr>
            <a:xfrm flipV="1">
              <a:off x="5613928" y="5494767"/>
              <a:ext cx="1283114" cy="257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743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D195-1C22-4F43-BB1A-6243DCFD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BF01-39B9-AF45-9DB4-8061F998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Binary tree</a:t>
            </a:r>
            <a:r>
              <a:rPr lang="en-US" dirty="0"/>
              <a:t>: data structure where each node has at most 2 children (i.e., can have 0, 1 or 2 children)</a:t>
            </a:r>
          </a:p>
          <a:p>
            <a:r>
              <a:rPr lang="en-US" dirty="0">
                <a:highlight>
                  <a:srgbClr val="C0C0C0"/>
                </a:highlight>
              </a:rPr>
              <a:t>Complete binary tree</a:t>
            </a:r>
            <a:r>
              <a:rPr lang="en-US" dirty="0"/>
              <a:t>: binary tree where each level is completely filled, except possibly for bottom level where all nodes are as far left as possible</a:t>
            </a:r>
          </a:p>
        </p:txBody>
      </p:sp>
      <p:grpSp>
        <p:nvGrpSpPr>
          <p:cNvPr id="64" name="Group 63" descr="graphical representation of a binary tree and of a complete binary tree">
            <a:extLst>
              <a:ext uri="{FF2B5EF4-FFF2-40B4-BE49-F238E27FC236}">
                <a16:creationId xmlns:a16="http://schemas.microsoft.com/office/drawing/2014/main" id="{8B424881-FDBB-F34D-B053-F5868014D9E0}"/>
              </a:ext>
            </a:extLst>
          </p:cNvPr>
          <p:cNvGrpSpPr/>
          <p:nvPr/>
        </p:nvGrpSpPr>
        <p:grpSpPr>
          <a:xfrm>
            <a:off x="420864" y="3858027"/>
            <a:ext cx="9994225" cy="2486066"/>
            <a:chOff x="420864" y="3858027"/>
            <a:chExt cx="9994225" cy="2486066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E4967C-B161-144A-97CF-90274270234D}"/>
                </a:ext>
              </a:extLst>
            </p:cNvPr>
            <p:cNvGrpSpPr/>
            <p:nvPr/>
          </p:nvGrpSpPr>
          <p:grpSpPr>
            <a:xfrm>
              <a:off x="2077598" y="3873016"/>
              <a:ext cx="1922725" cy="2471077"/>
              <a:chOff x="968556" y="3873017"/>
              <a:chExt cx="1922725" cy="24710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E660C7F-1820-B74A-AD76-388AED3570B2}"/>
                  </a:ext>
                </a:extLst>
              </p:cNvPr>
              <p:cNvGrpSpPr/>
              <p:nvPr/>
            </p:nvGrpSpPr>
            <p:grpSpPr>
              <a:xfrm>
                <a:off x="1039758" y="3873017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A25A38FA-5D23-9748-8005-0C0EA237B2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5EA7D17C-5D16-A743-A8B6-E78D6AE7B6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B6F4852A-6C03-5A47-8F04-75C67610D9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7A444E0-4322-AC4E-9495-CAF331EA1CC4}"/>
                    </a:ext>
                  </a:extLst>
                </p:cNvPr>
                <p:cNvCxnSpPr>
                  <a:cxnSpLocks/>
                  <a:stCxn id="5" idx="4"/>
                  <a:endCxn id="4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454D661F-4822-E940-BD3A-F53505BDE372}"/>
                    </a:ext>
                  </a:extLst>
                </p:cNvPr>
                <p:cNvCxnSpPr>
                  <a:cxnSpLocks/>
                  <a:stCxn id="5" idx="4"/>
                  <a:endCxn id="6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3130FF4-2F02-4F4B-9FDD-91A54822109E}"/>
                  </a:ext>
                </a:extLst>
              </p:cNvPr>
              <p:cNvGrpSpPr/>
              <p:nvPr/>
            </p:nvGrpSpPr>
            <p:grpSpPr>
              <a:xfrm>
                <a:off x="1509451" y="4926716"/>
                <a:ext cx="1381830" cy="708689"/>
                <a:chOff x="1039758" y="4233017"/>
                <a:chExt cx="1381830" cy="708689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7C293E49-88CA-8D47-BCF8-3FB4EC7758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0A17579B-E14E-2C42-892D-B244F2DC9C5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B51319B-AA4A-5044-8A39-BED0B106671A}"/>
                    </a:ext>
                  </a:extLst>
                </p:cNvPr>
                <p:cNvCxnSpPr>
                  <a:cxnSpLocks/>
                  <a:endCxn id="25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43A5E21-3963-5642-8528-CD012A3B5F48}"/>
                    </a:ext>
                  </a:extLst>
                </p:cNvPr>
                <p:cNvCxnSpPr>
                  <a:cxnSpLocks/>
                  <a:endCxn id="27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E5F2596E-8702-394D-8097-FE8E4E4D7E3D}"/>
                  </a:ext>
                </a:extLst>
              </p:cNvPr>
              <p:cNvGrpSpPr/>
              <p:nvPr/>
            </p:nvGrpSpPr>
            <p:grpSpPr>
              <a:xfrm>
                <a:off x="968556" y="5635405"/>
                <a:ext cx="731698" cy="708689"/>
                <a:chOff x="1039758" y="4233017"/>
                <a:chExt cx="731698" cy="708689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D04E87B-7ABB-0A40-AA5F-AA2359472D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E49B262-CB8D-7245-969C-A61674EB05C4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DD1B600-505C-7C45-AC69-402BD1B36773}"/>
                </a:ext>
              </a:extLst>
            </p:cNvPr>
            <p:cNvGrpSpPr/>
            <p:nvPr/>
          </p:nvGrpSpPr>
          <p:grpSpPr>
            <a:xfrm>
              <a:off x="6992330" y="3858027"/>
              <a:ext cx="3422759" cy="2486066"/>
              <a:chOff x="6452686" y="3858027"/>
              <a:chExt cx="3422759" cy="2486066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1BAAE07-A2CF-D14B-BEBB-FEACAB969393}"/>
                  </a:ext>
                </a:extLst>
              </p:cNvPr>
              <p:cNvGrpSpPr/>
              <p:nvPr/>
            </p:nvGrpSpPr>
            <p:grpSpPr>
              <a:xfrm>
                <a:off x="7802940" y="3858027"/>
                <a:ext cx="1591570" cy="1060585"/>
                <a:chOff x="1069858" y="3873017"/>
                <a:chExt cx="1591570" cy="1060585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23E82C6E-6DD5-114B-9A36-B4C2265C1F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2B68C7BB-B685-3444-9070-01923FC0DA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C66E7AF-3446-5847-9148-64252A01E8C3}"/>
                    </a:ext>
                  </a:extLst>
                </p:cNvPr>
                <p:cNvCxnSpPr>
                  <a:cxnSpLocks/>
                  <a:stCxn id="38" idx="4"/>
                </p:cNvCxnSpPr>
                <p:nvPr/>
              </p:nvCxnSpPr>
              <p:spPr>
                <a:xfrm flipH="1">
                  <a:off x="1069858" y="4233017"/>
                  <a:ext cx="7015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5A0C2D11-C7B0-2144-B863-859F363F4090}"/>
                    </a:ext>
                  </a:extLst>
                </p:cNvPr>
                <p:cNvCxnSpPr>
                  <a:cxnSpLocks/>
                  <a:stCxn id="38" idx="4"/>
                  <a:endCxn id="39" idx="0"/>
                </p:cNvCxnSpPr>
                <p:nvPr/>
              </p:nvCxnSpPr>
              <p:spPr>
                <a:xfrm>
                  <a:off x="1771456" y="4233017"/>
                  <a:ext cx="70997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B3FCE09-4584-5144-9C68-06E34775F21D}"/>
                  </a:ext>
                </a:extLst>
              </p:cNvPr>
              <p:cNvGrpSpPr/>
              <p:nvPr/>
            </p:nvGrpSpPr>
            <p:grpSpPr>
              <a:xfrm>
                <a:off x="7007095" y="4566716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3DB916B-6E7B-B242-B0C5-EB33162D6F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D8EE29A4-B80D-9949-AF7A-DF29A0F392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CFFC604-9ABA-E04D-B67E-B555C375AA9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3385BAE-DCB8-3B4F-BD6F-76BDAD0F07C3}"/>
                    </a:ext>
                  </a:extLst>
                </p:cNvPr>
                <p:cNvCxnSpPr>
                  <a:cxnSpLocks/>
                  <a:stCxn id="44" idx="4"/>
                  <a:endCxn id="43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1F7CB5FA-EE0B-9C4F-AA08-DEFF36A533C5}"/>
                    </a:ext>
                  </a:extLst>
                </p:cNvPr>
                <p:cNvCxnSpPr>
                  <a:cxnSpLocks/>
                  <a:stCxn id="44" idx="4"/>
                  <a:endCxn id="45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F0C6AFB-58C8-A04E-B26F-C28D189CE7AC}"/>
                  </a:ext>
                </a:extLst>
              </p:cNvPr>
              <p:cNvGrpSpPr/>
              <p:nvPr/>
            </p:nvGrpSpPr>
            <p:grpSpPr>
              <a:xfrm>
                <a:off x="8493615" y="4913210"/>
                <a:ext cx="1381830" cy="708689"/>
                <a:chOff x="1039758" y="4233017"/>
                <a:chExt cx="1381830" cy="708689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D42E4C1-063C-4C49-9BA6-3567367FDA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14B21DC-5677-4E45-B946-7FB1BCC23C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C12B036-35DE-9749-B37B-D90D0736F83D}"/>
                    </a:ext>
                  </a:extLst>
                </p:cNvPr>
                <p:cNvCxnSpPr>
                  <a:cxnSpLocks/>
                  <a:endCxn id="49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F1DDBB3-502D-5944-A8B8-E2E40D2C4F69}"/>
                    </a:ext>
                  </a:extLst>
                </p:cNvPr>
                <p:cNvCxnSpPr>
                  <a:cxnSpLocks/>
                  <a:endCxn id="51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C33F0F9-5BCF-4E41-89B1-F85E025447B2}"/>
                  </a:ext>
                </a:extLst>
              </p:cNvPr>
              <p:cNvGrpSpPr/>
              <p:nvPr/>
            </p:nvGrpSpPr>
            <p:grpSpPr>
              <a:xfrm>
                <a:off x="6452686" y="5635404"/>
                <a:ext cx="731698" cy="708689"/>
                <a:chOff x="1039758" y="4233017"/>
                <a:chExt cx="731698" cy="708689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9C9593F7-7B5D-3A4E-8912-FAB04CF60F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50ED8886-8C11-5746-88E5-281B6EEFFF9C}"/>
                    </a:ext>
                  </a:extLst>
                </p:cNvPr>
                <p:cNvCxnSpPr>
                  <a:cxnSpLocks/>
                  <a:endCxn id="55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2D971C3-73EC-3C47-AA91-D1708E71AABF}"/>
                </a:ext>
              </a:extLst>
            </p:cNvPr>
            <p:cNvSpPr txBox="1"/>
            <p:nvPr/>
          </p:nvSpPr>
          <p:spPr>
            <a:xfrm>
              <a:off x="420864" y="4709121"/>
              <a:ext cx="13644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Binary tree: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7CB71B-12D7-764E-A7AB-A8B7116584A1}"/>
                </a:ext>
              </a:extLst>
            </p:cNvPr>
            <p:cNvSpPr txBox="1"/>
            <p:nvPr/>
          </p:nvSpPr>
          <p:spPr>
            <a:xfrm>
              <a:off x="5279734" y="4709121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Complete binary tree: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853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D195-1C22-4F43-BB1A-6243DCFD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BF01-39B9-AF45-9DB4-8061F998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Property</a:t>
            </a:r>
            <a:r>
              <a:rPr lang="en-US" dirty="0"/>
              <a:t>: the height of a complete binary tree with N nodes is ⌊lg N⌋. Height only increases when N is a power of 2.</a:t>
            </a:r>
          </a:p>
        </p:txBody>
      </p:sp>
      <p:grpSp>
        <p:nvGrpSpPr>
          <p:cNvPr id="16" name="Group 15" descr="complete binary tree with 8 nodes and height 3">
            <a:extLst>
              <a:ext uri="{FF2B5EF4-FFF2-40B4-BE49-F238E27FC236}">
                <a16:creationId xmlns:a16="http://schemas.microsoft.com/office/drawing/2014/main" id="{EB64D08C-AFA2-F641-9FA9-633EE5B37D25}"/>
              </a:ext>
            </a:extLst>
          </p:cNvPr>
          <p:cNvGrpSpPr/>
          <p:nvPr/>
        </p:nvGrpSpPr>
        <p:grpSpPr>
          <a:xfrm>
            <a:off x="518798" y="2814404"/>
            <a:ext cx="7591184" cy="2694650"/>
            <a:chOff x="385631" y="4035943"/>
            <a:chExt cx="7591184" cy="269465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DD1B600-505C-7C45-AC69-402BD1B36773}"/>
                </a:ext>
              </a:extLst>
            </p:cNvPr>
            <p:cNvGrpSpPr/>
            <p:nvPr/>
          </p:nvGrpSpPr>
          <p:grpSpPr>
            <a:xfrm>
              <a:off x="931182" y="4244527"/>
              <a:ext cx="3422759" cy="2486066"/>
              <a:chOff x="6452686" y="3858027"/>
              <a:chExt cx="3422759" cy="2486066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1BAAE07-A2CF-D14B-BEBB-FEACAB969393}"/>
                  </a:ext>
                </a:extLst>
              </p:cNvPr>
              <p:cNvGrpSpPr/>
              <p:nvPr/>
            </p:nvGrpSpPr>
            <p:grpSpPr>
              <a:xfrm>
                <a:off x="7802940" y="3858027"/>
                <a:ext cx="1591570" cy="1060585"/>
                <a:chOff x="1069858" y="3873017"/>
                <a:chExt cx="1591570" cy="1060585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23E82C6E-6DD5-114B-9A36-B4C2265C1F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2B68C7BB-B685-3444-9070-01923FC0DA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C66E7AF-3446-5847-9148-64252A01E8C3}"/>
                    </a:ext>
                  </a:extLst>
                </p:cNvPr>
                <p:cNvCxnSpPr>
                  <a:cxnSpLocks/>
                  <a:stCxn id="38" idx="4"/>
                </p:cNvCxnSpPr>
                <p:nvPr/>
              </p:nvCxnSpPr>
              <p:spPr>
                <a:xfrm flipH="1">
                  <a:off x="1069858" y="4233017"/>
                  <a:ext cx="7015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5A0C2D11-C7B0-2144-B863-859F363F4090}"/>
                    </a:ext>
                  </a:extLst>
                </p:cNvPr>
                <p:cNvCxnSpPr>
                  <a:cxnSpLocks/>
                  <a:stCxn id="38" idx="4"/>
                  <a:endCxn id="39" idx="0"/>
                </p:cNvCxnSpPr>
                <p:nvPr/>
              </p:nvCxnSpPr>
              <p:spPr>
                <a:xfrm>
                  <a:off x="1771456" y="4233017"/>
                  <a:ext cx="70997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B3FCE09-4584-5144-9C68-06E34775F21D}"/>
                  </a:ext>
                </a:extLst>
              </p:cNvPr>
              <p:cNvGrpSpPr/>
              <p:nvPr/>
            </p:nvGrpSpPr>
            <p:grpSpPr>
              <a:xfrm>
                <a:off x="7007095" y="4566716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3DB916B-6E7B-B242-B0C5-EB33162D6F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D8EE29A4-B80D-9949-AF7A-DF29A0F392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CFFC604-9ABA-E04D-B67E-B555C375AA9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3385BAE-DCB8-3B4F-BD6F-76BDAD0F07C3}"/>
                    </a:ext>
                  </a:extLst>
                </p:cNvPr>
                <p:cNvCxnSpPr>
                  <a:cxnSpLocks/>
                  <a:stCxn id="44" idx="4"/>
                  <a:endCxn id="43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1F7CB5FA-EE0B-9C4F-AA08-DEFF36A533C5}"/>
                    </a:ext>
                  </a:extLst>
                </p:cNvPr>
                <p:cNvCxnSpPr>
                  <a:cxnSpLocks/>
                  <a:stCxn id="44" idx="4"/>
                  <a:endCxn id="45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F0C6AFB-58C8-A04E-B26F-C28D189CE7AC}"/>
                  </a:ext>
                </a:extLst>
              </p:cNvPr>
              <p:cNvGrpSpPr/>
              <p:nvPr/>
            </p:nvGrpSpPr>
            <p:grpSpPr>
              <a:xfrm>
                <a:off x="8493615" y="4913210"/>
                <a:ext cx="1381830" cy="708689"/>
                <a:chOff x="1039758" y="4233017"/>
                <a:chExt cx="1381830" cy="708689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D42E4C1-063C-4C49-9BA6-3567367FDA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14B21DC-5677-4E45-B946-7FB1BCC23C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C12B036-35DE-9749-B37B-D90D0736F83D}"/>
                    </a:ext>
                  </a:extLst>
                </p:cNvPr>
                <p:cNvCxnSpPr>
                  <a:cxnSpLocks/>
                  <a:endCxn id="49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F1DDBB3-502D-5944-A8B8-E2E40D2C4F69}"/>
                    </a:ext>
                  </a:extLst>
                </p:cNvPr>
                <p:cNvCxnSpPr>
                  <a:cxnSpLocks/>
                  <a:endCxn id="51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C33F0F9-5BCF-4E41-89B1-F85E025447B2}"/>
                  </a:ext>
                </a:extLst>
              </p:cNvPr>
              <p:cNvGrpSpPr/>
              <p:nvPr/>
            </p:nvGrpSpPr>
            <p:grpSpPr>
              <a:xfrm>
                <a:off x="6452686" y="5635404"/>
                <a:ext cx="731698" cy="708689"/>
                <a:chOff x="1039758" y="4233017"/>
                <a:chExt cx="731698" cy="708689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9C9593F7-7B5D-3A4E-8912-FAB04CF60F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50ED8886-8C11-5746-88E5-281B6EEFFF9C}"/>
                    </a:ext>
                  </a:extLst>
                </p:cNvPr>
                <p:cNvCxnSpPr>
                  <a:cxnSpLocks/>
                  <a:endCxn id="55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7CB71B-12D7-764E-A7AB-A8B7116584A1}"/>
                </a:ext>
              </a:extLst>
            </p:cNvPr>
            <p:cNvSpPr txBox="1"/>
            <p:nvPr/>
          </p:nvSpPr>
          <p:spPr>
            <a:xfrm>
              <a:off x="4865066" y="4886178"/>
              <a:ext cx="311174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Complete binary tree N=8</a:t>
              </a:r>
            </a:p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Height = ⌊lg 8⌋ = 3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136AE38-F429-D244-97DB-C557B0B3BE37}"/>
                </a:ext>
              </a:extLst>
            </p:cNvPr>
            <p:cNvCxnSpPr>
              <a:cxnSpLocks/>
            </p:cNvCxnSpPr>
            <p:nvPr/>
          </p:nvCxnSpPr>
          <p:spPr>
            <a:xfrm>
              <a:off x="653044" y="4426956"/>
              <a:ext cx="379903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44E444D-2870-8A46-837C-6086F1DF130D}"/>
                </a:ext>
              </a:extLst>
            </p:cNvPr>
            <p:cNvCxnSpPr>
              <a:cxnSpLocks/>
            </p:cNvCxnSpPr>
            <p:nvPr/>
          </p:nvCxnSpPr>
          <p:spPr>
            <a:xfrm>
              <a:off x="612179" y="5125112"/>
              <a:ext cx="3854890" cy="8104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84B2E7D-6F1C-B941-BEDF-7DD7B0E6EF3B}"/>
                </a:ext>
              </a:extLst>
            </p:cNvPr>
            <p:cNvCxnSpPr>
              <a:cxnSpLocks/>
            </p:cNvCxnSpPr>
            <p:nvPr/>
          </p:nvCxnSpPr>
          <p:spPr>
            <a:xfrm>
              <a:off x="612179" y="5854120"/>
              <a:ext cx="385489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52A8D98-EF71-4E47-8817-9B410CE226A2}"/>
                </a:ext>
              </a:extLst>
            </p:cNvPr>
            <p:cNvCxnSpPr>
              <a:cxnSpLocks/>
            </p:cNvCxnSpPr>
            <p:nvPr/>
          </p:nvCxnSpPr>
          <p:spPr>
            <a:xfrm>
              <a:off x="612179" y="6565307"/>
              <a:ext cx="385489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D6687B7-0A37-CF40-A1F4-2093D56BAC4B}"/>
                </a:ext>
              </a:extLst>
            </p:cNvPr>
            <p:cNvSpPr txBox="1"/>
            <p:nvPr/>
          </p:nvSpPr>
          <p:spPr>
            <a:xfrm>
              <a:off x="385631" y="4035943"/>
              <a:ext cx="575799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h=0</a:t>
              </a:r>
            </a:p>
            <a:p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h=1</a:t>
              </a:r>
            </a:p>
            <a:p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h=2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h=3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77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209C-604D-D441-BDAF-391E9D98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CEC2E-C285-4546-8F4E-454F10EB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complete binary tree can be represented by an array (no explicit links needed!)</a:t>
            </a:r>
          </a:p>
          <a:p>
            <a:pPr lvl="1"/>
            <a:r>
              <a:rPr lang="en-US" dirty="0"/>
              <a:t>Indices start at 1</a:t>
            </a:r>
          </a:p>
          <a:p>
            <a:pPr lvl="1"/>
            <a:r>
              <a:rPr lang="en-US" dirty="0"/>
              <a:t>Store nodes in </a:t>
            </a:r>
            <a:r>
              <a:rPr lang="en-US" dirty="0">
                <a:highlight>
                  <a:srgbClr val="C0C0C0"/>
                </a:highlight>
              </a:rPr>
              <a:t>level</a:t>
            </a:r>
            <a:r>
              <a:rPr lang="en-US" dirty="0"/>
              <a:t> order</a:t>
            </a:r>
          </a:p>
        </p:txBody>
      </p:sp>
      <p:grpSp>
        <p:nvGrpSpPr>
          <p:cNvPr id="38" name="Group 37" descr="complete binary tree with 8 nodes and height 3">
            <a:extLst>
              <a:ext uri="{FF2B5EF4-FFF2-40B4-BE49-F238E27FC236}">
                <a16:creationId xmlns:a16="http://schemas.microsoft.com/office/drawing/2014/main" id="{AFBDED1C-C917-C547-9ED1-1971C66D4BE1}"/>
              </a:ext>
            </a:extLst>
          </p:cNvPr>
          <p:cNvGrpSpPr/>
          <p:nvPr/>
        </p:nvGrpSpPr>
        <p:grpSpPr>
          <a:xfrm>
            <a:off x="514866" y="3749724"/>
            <a:ext cx="3862706" cy="2503502"/>
            <a:chOff x="749135" y="3030196"/>
            <a:chExt cx="3862706" cy="2503502"/>
          </a:xfrm>
        </p:grpSpPr>
        <p:grpSp>
          <p:nvGrpSpPr>
            <p:cNvPr id="4" name="Group 3" descr="complete binary tree with 8 nodes and height 3">
              <a:extLst>
                <a:ext uri="{FF2B5EF4-FFF2-40B4-BE49-F238E27FC236}">
                  <a16:creationId xmlns:a16="http://schemas.microsoft.com/office/drawing/2014/main" id="{DE8C5481-F228-9742-B00F-2637402DFD17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90DCEF3E-5460-D24C-B139-3227152D2F36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2199F65E-190D-5343-B9DE-15E904B443FF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B51B334D-DE04-8B4E-AD93-8D4EDDBBE3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AA863105-D550-DC4D-85D3-D81CF6441C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291DC09D-6585-F54A-8F9C-2F1889F99DD2}"/>
                      </a:ext>
                    </a:extLst>
                  </p:cNvPr>
                  <p:cNvCxnSpPr>
                    <a:cxnSpLocks/>
                    <a:stCxn id="27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06F8D410-A194-7A47-844C-E20BD2BABC74}"/>
                      </a:ext>
                    </a:extLst>
                  </p:cNvPr>
                  <p:cNvCxnSpPr>
                    <a:cxnSpLocks/>
                    <a:stCxn id="27" idx="4"/>
                    <a:endCxn id="28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C19B0A4C-0E0E-1F4E-B544-84890C033FBD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E014467D-2EF3-1146-9162-9F7EE86A39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4E17E127-FD3C-9348-8AC4-F3932A177A7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E4021FDA-8871-A246-A859-1865FC9C176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876FAF72-9AB1-1244-8904-533C5634804E}"/>
                      </a:ext>
                    </a:extLst>
                  </p:cNvPr>
                  <p:cNvCxnSpPr>
                    <a:cxnSpLocks/>
                    <a:stCxn id="23" idx="4"/>
                    <a:endCxn id="22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1CF3F084-4664-904D-98AB-485D92FBFA37}"/>
                      </a:ext>
                    </a:extLst>
                  </p:cNvPr>
                  <p:cNvCxnSpPr>
                    <a:cxnSpLocks/>
                    <a:stCxn id="23" idx="4"/>
                    <a:endCxn id="24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CDA397B6-AC81-674E-97EE-3699C474656F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8A25AAEA-2CCA-2F44-8C2E-565DF83BE9E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E3644A2-196A-2D42-8151-3294DFED88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70D52434-184F-8246-828B-485CE45C2214}"/>
                      </a:ext>
                    </a:extLst>
                  </p:cNvPr>
                  <p:cNvCxnSpPr>
                    <a:cxnSpLocks/>
                    <a:endCxn id="18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BDA39FCE-9F4B-034C-AE8F-A19003909D63}"/>
                      </a:ext>
                    </a:extLst>
                  </p:cNvPr>
                  <p:cNvCxnSpPr>
                    <a:cxnSpLocks/>
                    <a:endCxn id="19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119218B-CEB4-F249-8D9F-77FF8A9E931E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9B3CCCA6-665E-A64D-A724-834DF56051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648FDC82-9B8D-654C-BD9B-13F913DC5D0B}"/>
                      </a:ext>
                    </a:extLst>
                  </p:cNvPr>
                  <p:cNvCxnSpPr>
                    <a:cxnSpLocks/>
                    <a:endCxn id="16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B0DB8D-382C-CC4D-9A64-CB01A4C7242A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F0E6AE-6418-0F46-A76E-BD8F4A24ACFE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9ECF6E-5E95-9E40-88DB-C4152742B472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AF8234-3DE2-0A43-8C9C-BD14BC683FC2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F43C4F8-D46D-7042-9E19-E43525BF7B0F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0586B7-6837-8F4A-94D0-83C0766A227F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9C2DFA-25F3-0842-9410-6DC59259B68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DE77D7-80DC-8F42-9984-5D0426ABF5D9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graphicFrame>
        <p:nvGraphicFramePr>
          <p:cNvPr id="39" name="Table 38" descr="array representation of an 8-node complete binary tree">
            <a:extLst>
              <a:ext uri="{FF2B5EF4-FFF2-40B4-BE49-F238E27FC236}">
                <a16:creationId xmlns:a16="http://schemas.microsoft.com/office/drawing/2014/main" id="{B29D11F8-CF08-8740-B5D6-7AEC57244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399635"/>
              </p:ext>
            </p:extLst>
          </p:nvPr>
        </p:nvGraphicFramePr>
        <p:xfrm>
          <a:off x="5518461" y="3682177"/>
          <a:ext cx="63386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97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64ED2C29-5723-2F4E-8ED7-FF115955D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536014"/>
              </p:ext>
            </p:extLst>
          </p:nvPr>
        </p:nvGraphicFramePr>
        <p:xfrm>
          <a:off x="5518460" y="3308798"/>
          <a:ext cx="63386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97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pSp>
        <p:nvGrpSpPr>
          <p:cNvPr id="88" name="Group 87">
            <a:extLst>
              <a:ext uri="{FF2B5EF4-FFF2-40B4-BE49-F238E27FC236}">
                <a16:creationId xmlns:a16="http://schemas.microsoft.com/office/drawing/2014/main" id="{EE2598F7-CB44-8D49-B191-7B8A0AFAC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20220" y="3683685"/>
            <a:ext cx="6766253" cy="2873382"/>
            <a:chOff x="4920220" y="3683685"/>
            <a:chExt cx="6766253" cy="287338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DB3874-35B9-F242-B500-BE36BE25D8C7}"/>
                </a:ext>
              </a:extLst>
            </p:cNvPr>
            <p:cNvSpPr txBox="1"/>
            <p:nvPr/>
          </p:nvSpPr>
          <p:spPr>
            <a:xfrm>
              <a:off x="4920220" y="3683685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a[]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C1FF780B-40E1-2349-9119-A8DC45A5F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400271" y="3993496"/>
              <a:ext cx="5286202" cy="2563571"/>
              <a:chOff x="6400271" y="3993496"/>
              <a:chExt cx="5286202" cy="2563571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E82C385-ED11-034A-8E34-3FE8631383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00271" y="4127160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1393FBA-CDA3-7E48-94A6-84BEC47407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23964" y="4746849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1ABE2D2-031A-4140-9348-A5FC82097A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82765" y="4751515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737FE96-9B18-F043-B8BD-C4ABB8AC03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17977" y="549593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39525AC-8FE4-C84C-90F9-256FBA9364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58335" y="5514471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F383236-BBD6-3D49-B673-697289F239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1538" y="5514471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85E143-8A49-BC47-A524-80D8C4E9AB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29819" y="5507585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3E3E28D-36B4-A949-9370-E1CAA1F7AC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26473" y="6197067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43AB5F-FAF8-9C48-B06C-F52FCCF59A48}"/>
                  </a:ext>
                </a:extLst>
              </p:cNvPr>
              <p:cNvCxnSpPr>
                <a:stCxn id="43" idx="5"/>
                <a:endCxn id="44" idx="0"/>
              </p:cNvCxnSpPr>
              <p:nvPr/>
            </p:nvCxnSpPr>
            <p:spPr>
              <a:xfrm>
                <a:off x="6707550" y="4434439"/>
                <a:ext cx="1296414" cy="3124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169DA71-3595-5244-B1AE-5CE5D15929C8}"/>
                  </a:ext>
                </a:extLst>
              </p:cNvPr>
              <p:cNvCxnSpPr>
                <a:cxnSpLocks/>
                <a:stCxn id="43" idx="5"/>
                <a:endCxn id="45" idx="0"/>
              </p:cNvCxnSpPr>
              <p:nvPr/>
            </p:nvCxnSpPr>
            <p:spPr>
              <a:xfrm>
                <a:off x="6707550" y="4434439"/>
                <a:ext cx="555215" cy="31707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3B19EEB-1A1A-0647-8EDE-F3498F418983}"/>
                  </a:ext>
                </a:extLst>
              </p:cNvPr>
              <p:cNvCxnSpPr>
                <a:cxnSpLocks/>
                <a:stCxn id="45" idx="6"/>
                <a:endCxn id="46" idx="2"/>
              </p:cNvCxnSpPr>
              <p:nvPr/>
            </p:nvCxnSpPr>
            <p:spPr>
              <a:xfrm>
                <a:off x="7442765" y="4931515"/>
                <a:ext cx="1075212" cy="74442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4755CC4-79FD-B246-9A9F-5AF68278FA5D}"/>
                  </a:ext>
                </a:extLst>
              </p:cNvPr>
              <p:cNvCxnSpPr>
                <a:cxnSpLocks/>
                <a:stCxn id="45" idx="6"/>
                <a:endCxn id="47" idx="2"/>
              </p:cNvCxnSpPr>
              <p:nvPr/>
            </p:nvCxnSpPr>
            <p:spPr>
              <a:xfrm>
                <a:off x="7442765" y="4931515"/>
                <a:ext cx="1815570" cy="76295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CBCAC3D-1DA8-7444-9E56-06849FDD692F}"/>
                  </a:ext>
                </a:extLst>
              </p:cNvPr>
              <p:cNvCxnSpPr>
                <a:cxnSpLocks/>
                <a:stCxn id="44" idx="6"/>
                <a:endCxn id="49" idx="0"/>
              </p:cNvCxnSpPr>
              <p:nvPr/>
            </p:nvCxnSpPr>
            <p:spPr>
              <a:xfrm>
                <a:off x="8183964" y="4926849"/>
                <a:ext cx="2625855" cy="58073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CEF6631-BB74-9B48-8013-FA5A66BAB1CF}"/>
                  </a:ext>
                </a:extLst>
              </p:cNvPr>
              <p:cNvCxnSpPr>
                <a:cxnSpLocks/>
                <a:stCxn id="44" idx="6"/>
                <a:endCxn id="48" idx="1"/>
              </p:cNvCxnSpPr>
              <p:nvPr/>
            </p:nvCxnSpPr>
            <p:spPr>
              <a:xfrm>
                <a:off x="8183964" y="4926849"/>
                <a:ext cx="1820295" cy="6403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A0C0BB2-B096-E540-AEC7-279F2EC6A8FD}"/>
                  </a:ext>
                </a:extLst>
              </p:cNvPr>
              <p:cNvCxnSpPr>
                <a:cxnSpLocks/>
                <a:stCxn id="46" idx="5"/>
                <a:endCxn id="50" idx="2"/>
              </p:cNvCxnSpPr>
              <p:nvPr/>
            </p:nvCxnSpPr>
            <p:spPr>
              <a:xfrm>
                <a:off x="8825256" y="5803215"/>
                <a:ext cx="2501217" cy="57385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365DEBF2-CC94-0341-935B-59B293ABA492}"/>
                  </a:ext>
                </a:extLst>
              </p:cNvPr>
              <p:cNvCxnSpPr/>
              <p:nvPr/>
            </p:nvCxnSpPr>
            <p:spPr>
              <a:xfrm>
                <a:off x="11506473" y="4053017"/>
                <a:ext cx="0" cy="2157695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A80F1DCE-7A94-A348-BC6F-D5C61E204ADA}"/>
                  </a:ext>
                </a:extLst>
              </p:cNvPr>
              <p:cNvCxnSpPr>
                <a:cxnSpLocks/>
                <a:endCxn id="49" idx="0"/>
              </p:cNvCxnSpPr>
              <p:nvPr/>
            </p:nvCxnSpPr>
            <p:spPr>
              <a:xfrm>
                <a:off x="10806344" y="3993496"/>
                <a:ext cx="3475" cy="1514089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9A00A24D-0B15-C640-AA5A-EA1090CB42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6215" y="4050308"/>
                <a:ext cx="3475" cy="1514089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BF31A166-959C-E44B-8BD0-B8F22882EE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4941" y="4050308"/>
                <a:ext cx="3475" cy="1514089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F7B2862-C34F-BA4B-8173-3CA366B95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73100" y="4050308"/>
                <a:ext cx="3475" cy="1514089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639C8B9B-163E-1A40-B964-E7E7D0C8D9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9917" y="4110965"/>
                <a:ext cx="4047" cy="59091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1689C865-0A9F-B24D-8AC5-085F23E178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387" y="4113170"/>
                <a:ext cx="4047" cy="590914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13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209C-604D-D441-BDAF-391E9D98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CEC2E-C285-4546-8F4E-454F10EB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Property</a:t>
            </a:r>
            <a:r>
              <a:rPr lang="en-US" dirty="0"/>
              <a:t>: can use array indices to move through tree</a:t>
            </a:r>
          </a:p>
          <a:p>
            <a:pPr lvl="1"/>
            <a:r>
              <a:rPr lang="en-US" dirty="0"/>
              <a:t>Parent of node </a:t>
            </a:r>
            <a:r>
              <a:rPr lang="en-US" dirty="0">
                <a:latin typeface="Courier" pitchFamily="2" charset="0"/>
              </a:rPr>
              <a:t>i</a:t>
            </a:r>
            <a:r>
              <a:rPr lang="en-US" dirty="0"/>
              <a:t> is at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/2]</a:t>
            </a:r>
          </a:p>
          <a:p>
            <a:pPr lvl="1"/>
            <a:r>
              <a:rPr lang="en-US" dirty="0"/>
              <a:t>Children of node </a:t>
            </a:r>
            <a:r>
              <a:rPr lang="en-US" dirty="0">
                <a:latin typeface="Courier" pitchFamily="2" charset="0"/>
              </a:rPr>
              <a:t>i</a:t>
            </a:r>
            <a:r>
              <a:rPr lang="en-US" dirty="0"/>
              <a:t> are at </a:t>
            </a:r>
            <a:r>
              <a:rPr lang="en-US" dirty="0">
                <a:latin typeface="Courier" pitchFamily="2" charset="0"/>
              </a:rPr>
              <a:t>a[2i]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a[2i+1]</a:t>
            </a:r>
          </a:p>
        </p:txBody>
      </p:sp>
      <p:grpSp>
        <p:nvGrpSpPr>
          <p:cNvPr id="38" name="Group 37" descr="complete binary tree with 8 nodes and height 3">
            <a:extLst>
              <a:ext uri="{FF2B5EF4-FFF2-40B4-BE49-F238E27FC236}">
                <a16:creationId xmlns:a16="http://schemas.microsoft.com/office/drawing/2014/main" id="{AFBDED1C-C917-C547-9ED1-1971C66D4BE1}"/>
              </a:ext>
            </a:extLst>
          </p:cNvPr>
          <p:cNvGrpSpPr/>
          <p:nvPr/>
        </p:nvGrpSpPr>
        <p:grpSpPr>
          <a:xfrm>
            <a:off x="514866" y="3749724"/>
            <a:ext cx="3862706" cy="2503502"/>
            <a:chOff x="749135" y="3030196"/>
            <a:chExt cx="3862706" cy="2503502"/>
          </a:xfrm>
        </p:grpSpPr>
        <p:grpSp>
          <p:nvGrpSpPr>
            <p:cNvPr id="4" name="Group 3" descr="complete binary tree with 8 nodes and height 3">
              <a:extLst>
                <a:ext uri="{FF2B5EF4-FFF2-40B4-BE49-F238E27FC236}">
                  <a16:creationId xmlns:a16="http://schemas.microsoft.com/office/drawing/2014/main" id="{DE8C5481-F228-9742-B00F-2637402DFD17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90DCEF3E-5460-D24C-B139-3227152D2F36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2199F65E-190D-5343-B9DE-15E904B443FF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B51B334D-DE04-8B4E-AD93-8D4EDDBBE3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AA863105-D550-DC4D-85D3-D81CF6441C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291DC09D-6585-F54A-8F9C-2F1889F99DD2}"/>
                      </a:ext>
                    </a:extLst>
                  </p:cNvPr>
                  <p:cNvCxnSpPr>
                    <a:cxnSpLocks/>
                    <a:stCxn id="27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06F8D410-A194-7A47-844C-E20BD2BABC74}"/>
                      </a:ext>
                    </a:extLst>
                  </p:cNvPr>
                  <p:cNvCxnSpPr>
                    <a:cxnSpLocks/>
                    <a:stCxn id="27" idx="4"/>
                    <a:endCxn id="28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C19B0A4C-0E0E-1F4E-B544-84890C033FBD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E014467D-2EF3-1146-9162-9F7EE86A39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4E17E127-FD3C-9348-8AC4-F3932A177A7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E4021FDA-8871-A246-A859-1865FC9C176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876FAF72-9AB1-1244-8904-533C5634804E}"/>
                      </a:ext>
                    </a:extLst>
                  </p:cNvPr>
                  <p:cNvCxnSpPr>
                    <a:cxnSpLocks/>
                    <a:stCxn id="23" idx="4"/>
                    <a:endCxn id="22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1CF3F084-4664-904D-98AB-485D92FBFA37}"/>
                      </a:ext>
                    </a:extLst>
                  </p:cNvPr>
                  <p:cNvCxnSpPr>
                    <a:cxnSpLocks/>
                    <a:stCxn id="23" idx="4"/>
                    <a:endCxn id="24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CDA397B6-AC81-674E-97EE-3699C474656F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8A25AAEA-2CCA-2F44-8C2E-565DF83BE9E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E3644A2-196A-2D42-8151-3294DFED88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70D52434-184F-8246-828B-485CE45C2214}"/>
                      </a:ext>
                    </a:extLst>
                  </p:cNvPr>
                  <p:cNvCxnSpPr>
                    <a:cxnSpLocks/>
                    <a:endCxn id="18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BDA39FCE-9F4B-034C-AE8F-A19003909D63}"/>
                      </a:ext>
                    </a:extLst>
                  </p:cNvPr>
                  <p:cNvCxnSpPr>
                    <a:cxnSpLocks/>
                    <a:endCxn id="19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119218B-CEB4-F249-8D9F-77FF8A9E931E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9B3CCCA6-665E-A64D-A724-834DF56051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648FDC82-9B8D-654C-BD9B-13F913DC5D0B}"/>
                      </a:ext>
                    </a:extLst>
                  </p:cNvPr>
                  <p:cNvCxnSpPr>
                    <a:cxnSpLocks/>
                    <a:endCxn id="16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B0DB8D-382C-CC4D-9A64-CB01A4C7242A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F0E6AE-6418-0F46-A76E-BD8F4A24ACFE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9ECF6E-5E95-9E40-88DB-C4152742B472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AF8234-3DE2-0A43-8C9C-BD14BC683FC2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F43C4F8-D46D-7042-9E19-E43525BF7B0F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0586B7-6837-8F4A-94D0-83C0766A227F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9C2DFA-25F3-0842-9410-6DC59259B68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DE77D7-80DC-8F42-9984-5D0426ABF5D9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graphicFrame>
        <p:nvGraphicFramePr>
          <p:cNvPr id="39" name="Table 38" descr="array representation of an 8-node complete binary tree">
            <a:extLst>
              <a:ext uri="{FF2B5EF4-FFF2-40B4-BE49-F238E27FC236}">
                <a16:creationId xmlns:a16="http://schemas.microsoft.com/office/drawing/2014/main" id="{B29D11F8-CF08-8740-B5D6-7AEC57244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268440"/>
              </p:ext>
            </p:extLst>
          </p:nvPr>
        </p:nvGraphicFramePr>
        <p:xfrm>
          <a:off x="5518461" y="3682177"/>
          <a:ext cx="63386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97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64ED2C29-5723-2F4E-8ED7-FF115955D113}"/>
              </a:ext>
            </a:extLst>
          </p:cNvPr>
          <p:cNvGraphicFramePr>
            <a:graphicFrameLocks noGrp="1"/>
          </p:cNvGraphicFramePr>
          <p:nvPr/>
        </p:nvGraphicFramePr>
        <p:xfrm>
          <a:off x="5518460" y="3308798"/>
          <a:ext cx="63386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97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704297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049686AA-63D7-F04E-A3BA-C96CD4D0F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20220" y="3683685"/>
            <a:ext cx="6766253" cy="2873382"/>
            <a:chOff x="4920220" y="3683685"/>
            <a:chExt cx="6766253" cy="287338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DB3874-35B9-F242-B500-BE36BE25D8C7}"/>
                </a:ext>
              </a:extLst>
            </p:cNvPr>
            <p:cNvSpPr txBox="1"/>
            <p:nvPr/>
          </p:nvSpPr>
          <p:spPr>
            <a:xfrm>
              <a:off x="4920220" y="3683685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a[]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E82C385-ED11-034A-8E34-3FE8631383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0271" y="412716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1393FBA-CDA3-7E48-94A6-84BEC4740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964" y="4746849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1ABE2D2-031A-4140-9348-A5FC82097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2765" y="4751515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737FE96-9B18-F043-B8BD-C4ABB8AC03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17977" y="549593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39525AC-8FE4-C84C-90F9-256FBA9364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58335" y="5514471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F383236-BBD6-3D49-B673-697289F23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1538" y="5514471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85E143-8A49-BC47-A524-80D8C4E9AB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29819" y="5507585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3E3E28D-36B4-A949-9370-E1CAA1F7AC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26473" y="619706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643AB5F-FAF8-9C48-B06C-F52FCCF59A48}"/>
                </a:ext>
              </a:extLst>
            </p:cNvPr>
            <p:cNvCxnSpPr>
              <a:stCxn id="43" idx="5"/>
              <a:endCxn id="44" idx="0"/>
            </p:cNvCxnSpPr>
            <p:nvPr/>
          </p:nvCxnSpPr>
          <p:spPr>
            <a:xfrm>
              <a:off x="6707550" y="4434439"/>
              <a:ext cx="1296414" cy="3124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169DA71-3595-5244-B1AE-5CE5D15929C8}"/>
                </a:ext>
              </a:extLst>
            </p:cNvPr>
            <p:cNvCxnSpPr>
              <a:cxnSpLocks/>
              <a:stCxn id="43" idx="5"/>
              <a:endCxn id="45" idx="0"/>
            </p:cNvCxnSpPr>
            <p:nvPr/>
          </p:nvCxnSpPr>
          <p:spPr>
            <a:xfrm>
              <a:off x="6707550" y="4434439"/>
              <a:ext cx="555215" cy="3170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3B19EEB-1A1A-0647-8EDE-F3498F418983}"/>
                </a:ext>
              </a:extLst>
            </p:cNvPr>
            <p:cNvCxnSpPr>
              <a:cxnSpLocks/>
              <a:stCxn id="45" idx="6"/>
              <a:endCxn id="46" idx="2"/>
            </p:cNvCxnSpPr>
            <p:nvPr/>
          </p:nvCxnSpPr>
          <p:spPr>
            <a:xfrm>
              <a:off x="7442765" y="4931515"/>
              <a:ext cx="1075212" cy="74442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4755CC4-79FD-B246-9A9F-5AF68278FA5D}"/>
                </a:ext>
              </a:extLst>
            </p:cNvPr>
            <p:cNvCxnSpPr>
              <a:cxnSpLocks/>
              <a:stCxn id="45" idx="6"/>
              <a:endCxn id="47" idx="2"/>
            </p:cNvCxnSpPr>
            <p:nvPr/>
          </p:nvCxnSpPr>
          <p:spPr>
            <a:xfrm>
              <a:off x="7442765" y="4931515"/>
              <a:ext cx="1815570" cy="76295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CBCAC3D-1DA8-7444-9E56-06849FDD692F}"/>
                </a:ext>
              </a:extLst>
            </p:cNvPr>
            <p:cNvCxnSpPr>
              <a:cxnSpLocks/>
              <a:stCxn id="44" idx="6"/>
              <a:endCxn id="49" idx="0"/>
            </p:cNvCxnSpPr>
            <p:nvPr/>
          </p:nvCxnSpPr>
          <p:spPr>
            <a:xfrm>
              <a:off x="8183964" y="4926849"/>
              <a:ext cx="2625855" cy="58073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CEF6631-BB74-9B48-8013-FA5A66BAB1CF}"/>
                </a:ext>
              </a:extLst>
            </p:cNvPr>
            <p:cNvCxnSpPr>
              <a:cxnSpLocks/>
              <a:stCxn id="44" idx="6"/>
              <a:endCxn id="48" idx="1"/>
            </p:cNvCxnSpPr>
            <p:nvPr/>
          </p:nvCxnSpPr>
          <p:spPr>
            <a:xfrm>
              <a:off x="8183964" y="4926849"/>
              <a:ext cx="1820295" cy="6403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A0C0BB2-B096-E540-AEC7-279F2EC6A8FD}"/>
                </a:ext>
              </a:extLst>
            </p:cNvPr>
            <p:cNvCxnSpPr>
              <a:cxnSpLocks/>
              <a:stCxn id="46" idx="5"/>
              <a:endCxn id="50" idx="2"/>
            </p:cNvCxnSpPr>
            <p:nvPr/>
          </p:nvCxnSpPr>
          <p:spPr>
            <a:xfrm>
              <a:off x="8825256" y="5803215"/>
              <a:ext cx="2501217" cy="57385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65DEBF2-CC94-0341-935B-59B293ABA492}"/>
                </a:ext>
              </a:extLst>
            </p:cNvPr>
            <p:cNvCxnSpPr/>
            <p:nvPr/>
          </p:nvCxnSpPr>
          <p:spPr>
            <a:xfrm>
              <a:off x="11506473" y="4053017"/>
              <a:ext cx="0" cy="2157695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80F1DCE-7A94-A348-BC6F-D5C61E204ADA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10806344" y="3993496"/>
              <a:ext cx="3475" cy="151408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A00A24D-0B15-C640-AA5A-EA1090CB427D}"/>
                </a:ext>
              </a:extLst>
            </p:cNvPr>
            <p:cNvCxnSpPr>
              <a:cxnSpLocks/>
            </p:cNvCxnSpPr>
            <p:nvPr/>
          </p:nvCxnSpPr>
          <p:spPr>
            <a:xfrm>
              <a:off x="10106215" y="4050308"/>
              <a:ext cx="3475" cy="151408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F31A166-959C-E44B-8BD0-B8F22882EE09}"/>
                </a:ext>
              </a:extLst>
            </p:cNvPr>
            <p:cNvCxnSpPr>
              <a:cxnSpLocks/>
            </p:cNvCxnSpPr>
            <p:nvPr/>
          </p:nvCxnSpPr>
          <p:spPr>
            <a:xfrm>
              <a:off x="9404941" y="4050308"/>
              <a:ext cx="3475" cy="151408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F7B2862-C34F-BA4B-8173-3CA366B95C87}"/>
                </a:ext>
              </a:extLst>
            </p:cNvPr>
            <p:cNvCxnSpPr>
              <a:cxnSpLocks/>
            </p:cNvCxnSpPr>
            <p:nvPr/>
          </p:nvCxnSpPr>
          <p:spPr>
            <a:xfrm>
              <a:off x="8673100" y="4050308"/>
              <a:ext cx="3475" cy="151408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39C8B9B-163E-1A40-B964-E7E7D0C8D941}"/>
                </a:ext>
              </a:extLst>
            </p:cNvPr>
            <p:cNvCxnSpPr>
              <a:cxnSpLocks/>
            </p:cNvCxnSpPr>
            <p:nvPr/>
          </p:nvCxnSpPr>
          <p:spPr>
            <a:xfrm>
              <a:off x="7999917" y="4110965"/>
              <a:ext cx="4047" cy="590914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689C865-0A9F-B24D-8AC5-085F23E1782E}"/>
                </a:ext>
              </a:extLst>
            </p:cNvPr>
            <p:cNvCxnSpPr>
              <a:cxnSpLocks/>
            </p:cNvCxnSpPr>
            <p:nvPr/>
          </p:nvCxnSpPr>
          <p:spPr>
            <a:xfrm>
              <a:off x="7251387" y="4113170"/>
              <a:ext cx="4047" cy="590914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1935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Binary Heap</a:t>
            </a:r>
            <a:r>
              <a:rPr lang="en-US" dirty="0"/>
              <a:t> is a complete binary tree where:</a:t>
            </a:r>
          </a:p>
          <a:p>
            <a:pPr lvl="1"/>
            <a:r>
              <a:rPr lang="en-US" dirty="0"/>
              <a:t>Priorities (keys) are stored in the nodes</a:t>
            </a:r>
          </a:p>
          <a:p>
            <a:pPr lvl="1"/>
            <a:r>
              <a:rPr lang="en-US" dirty="0"/>
              <a:t>A parent’s key is &gt;= than its children keys</a:t>
            </a:r>
          </a:p>
          <a:p>
            <a:pPr lvl="1"/>
            <a:r>
              <a:rPr lang="en-US" dirty="0"/>
              <a:t>The highest priority (largest key) is at </a:t>
            </a:r>
            <a:r>
              <a:rPr lang="en-US" dirty="0">
                <a:latin typeface="Courier" pitchFamily="2" charset="0"/>
              </a:rPr>
              <a:t>a[1]</a:t>
            </a:r>
            <a:r>
              <a:rPr lang="en-US" dirty="0"/>
              <a:t> (the root of the tree)</a:t>
            </a:r>
          </a:p>
        </p:txBody>
      </p:sp>
      <p:grpSp>
        <p:nvGrpSpPr>
          <p:cNvPr id="66" name="Group 65" descr="complete binary tree with 8 nodes and height 3">
            <a:extLst>
              <a:ext uri="{FF2B5EF4-FFF2-40B4-BE49-F238E27FC236}">
                <a16:creationId xmlns:a16="http://schemas.microsoft.com/office/drawing/2014/main" id="{A62EB35F-2B6B-7840-BBFE-F02478CF89A9}"/>
              </a:ext>
            </a:extLst>
          </p:cNvPr>
          <p:cNvGrpSpPr/>
          <p:nvPr/>
        </p:nvGrpSpPr>
        <p:grpSpPr>
          <a:xfrm>
            <a:off x="1395199" y="3717927"/>
            <a:ext cx="3862706" cy="3056752"/>
            <a:chOff x="1395199" y="3717927"/>
            <a:chExt cx="3862706" cy="305675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57466CC-FC79-764D-8635-8BD2AEBBD2CB}"/>
                </a:ext>
              </a:extLst>
            </p:cNvPr>
            <p:cNvGrpSpPr/>
            <p:nvPr/>
          </p:nvGrpSpPr>
          <p:grpSpPr>
            <a:xfrm>
              <a:off x="1395199" y="4271177"/>
              <a:ext cx="3862706" cy="2503502"/>
              <a:chOff x="749135" y="3030196"/>
              <a:chExt cx="3862706" cy="2503502"/>
            </a:xfrm>
          </p:grpSpPr>
          <p:grpSp>
            <p:nvGrpSpPr>
              <p:cNvPr id="5" name="Group 4" descr="complete binary tree with 8 nodes and height 3">
                <a:extLst>
                  <a:ext uri="{FF2B5EF4-FFF2-40B4-BE49-F238E27FC236}">
                    <a16:creationId xmlns:a16="http://schemas.microsoft.com/office/drawing/2014/main" id="{6E77A268-D9A8-0647-9335-C70D0BB0F775}"/>
                  </a:ext>
                </a:extLst>
              </p:cNvPr>
              <p:cNvGrpSpPr/>
              <p:nvPr/>
            </p:nvGrpSpPr>
            <p:grpSpPr>
              <a:xfrm>
                <a:off x="882041" y="3030196"/>
                <a:ext cx="3422759" cy="2503502"/>
                <a:chOff x="931182" y="4227091"/>
                <a:chExt cx="3422759" cy="2503502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E392AC51-CC65-CB4C-B9B3-DF597A919198}"/>
                    </a:ext>
                  </a:extLst>
                </p:cNvPr>
                <p:cNvGrpSpPr/>
                <p:nvPr/>
              </p:nvGrpSpPr>
              <p:grpSpPr>
                <a:xfrm>
                  <a:off x="931182" y="4244527"/>
                  <a:ext cx="3422759" cy="2486066"/>
                  <a:chOff x="6452686" y="3858027"/>
                  <a:chExt cx="3422759" cy="2486066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AE338285-FE94-9C48-B4B2-9DF884080456}"/>
                      </a:ext>
                    </a:extLst>
                  </p:cNvPr>
                  <p:cNvGrpSpPr/>
                  <p:nvPr/>
                </p:nvGrpSpPr>
                <p:grpSpPr>
                  <a:xfrm>
                    <a:off x="7802940" y="3858027"/>
                    <a:ext cx="1591570" cy="1060585"/>
                    <a:chOff x="1069858" y="3873017"/>
                    <a:chExt cx="1591570" cy="1060585"/>
                  </a:xfrm>
                </p:grpSpPr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07CE1FA1-0CBC-9B4B-A8A5-E8D3E6C6C2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591456" y="3873017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p:txBody>
                </p:sp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6D6EFF98-FA33-6C4D-9546-B79C252351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301428" y="4573602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p:txBody>
                </p:sp>
                <p:cxnSp>
                  <p:nvCxnSpPr>
                    <p:cNvPr id="32" name="Straight Connector 31">
                      <a:extLst>
                        <a:ext uri="{FF2B5EF4-FFF2-40B4-BE49-F238E27FC236}">
                          <a16:creationId xmlns:a16="http://schemas.microsoft.com/office/drawing/2014/main" id="{D8C57EED-A0D0-CA45-8C34-CF3F86D83AEF}"/>
                        </a:ext>
                      </a:extLst>
                    </p:cNvPr>
                    <p:cNvCxnSpPr>
                      <a:cxnSpLocks/>
                      <a:stCxn id="30" idx="4"/>
                    </p:cNvCxnSpPr>
                    <p:nvPr/>
                  </p:nvCxnSpPr>
                  <p:spPr>
                    <a:xfrm flipH="1">
                      <a:off x="1069858" y="4233017"/>
                      <a:ext cx="7015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Connector 32">
                      <a:extLst>
                        <a:ext uri="{FF2B5EF4-FFF2-40B4-BE49-F238E27FC236}">
                          <a16:creationId xmlns:a16="http://schemas.microsoft.com/office/drawing/2014/main" id="{756859FA-8288-7541-9FBA-61F0B88BA1DB}"/>
                        </a:ext>
                      </a:extLst>
                    </p:cNvPr>
                    <p:cNvCxnSpPr>
                      <a:cxnSpLocks/>
                      <a:stCxn id="30" idx="4"/>
                      <a:endCxn id="31" idx="0"/>
                    </p:cNvCxnSpPr>
                    <p:nvPr/>
                  </p:nvCxnSpPr>
                  <p:spPr>
                    <a:xfrm>
                      <a:off x="1771456" y="4233017"/>
                      <a:ext cx="709972" cy="340585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90D840BC-A806-EA43-80EC-4C0252460795}"/>
                      </a:ext>
                    </a:extLst>
                  </p:cNvPr>
                  <p:cNvGrpSpPr/>
                  <p:nvPr/>
                </p:nvGrpSpPr>
                <p:grpSpPr>
                  <a:xfrm>
                    <a:off x="7007095" y="4566716"/>
                    <a:ext cx="1381830" cy="1068689"/>
                    <a:chOff x="1039758" y="3873017"/>
                    <a:chExt cx="1381830" cy="1068689"/>
                  </a:xfrm>
                </p:grpSpPr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1202C6CE-E1FC-D346-87D4-33DBA977B8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039758" y="4581706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p:txBody>
                </p:sp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1795E227-856F-C349-969E-826752FA09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591456" y="3873017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p:txBody>
                </p:sp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FB2A7B24-7540-F94C-A2D6-6E888F130A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061588" y="4573602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p:txBody>
                </p: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9764C3F1-C580-764D-AA74-CFB049C0C32B}"/>
                        </a:ext>
                      </a:extLst>
                    </p:cNvPr>
                    <p:cNvCxnSpPr>
                      <a:cxnSpLocks/>
                      <a:stCxn id="26" idx="4"/>
                      <a:endCxn id="25" idx="0"/>
                    </p:cNvCxnSpPr>
                    <p:nvPr/>
                  </p:nvCxnSpPr>
                  <p:spPr>
                    <a:xfrm flipH="1">
                      <a:off x="1219758" y="4233017"/>
                      <a:ext cx="5516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771E226D-0F04-7045-B1D9-B7EB26AD5AA1}"/>
                        </a:ext>
                      </a:extLst>
                    </p:cNvPr>
                    <p:cNvCxnSpPr>
                      <a:cxnSpLocks/>
                      <a:stCxn id="26" idx="4"/>
                      <a:endCxn id="27" idx="0"/>
                    </p:cNvCxnSpPr>
                    <p:nvPr/>
                  </p:nvCxnSpPr>
                  <p:spPr>
                    <a:xfrm>
                      <a:off x="1771456" y="4233017"/>
                      <a:ext cx="470132" cy="340585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3DB59E65-6AC6-5F41-B08A-2FEBFE5D179D}"/>
                      </a:ext>
                    </a:extLst>
                  </p:cNvPr>
                  <p:cNvGrpSpPr/>
                  <p:nvPr/>
                </p:nvGrpSpPr>
                <p:grpSpPr>
                  <a:xfrm>
                    <a:off x="8493615" y="4913210"/>
                    <a:ext cx="1381830" cy="708689"/>
                    <a:chOff x="1039758" y="4233017"/>
                    <a:chExt cx="1381830" cy="708689"/>
                  </a:xfrm>
                </p:grpSpPr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439FE91B-4AA5-7444-9DE9-2C1BB432E7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039758" y="4581706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268C7431-0C77-234D-9434-F772746DD2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061588" y="4573602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p:txBody>
                </p: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0CEA4663-C024-2548-8A6E-E3048C0486EE}"/>
                        </a:ext>
                      </a:extLst>
                    </p:cNvPr>
                    <p:cNvCxnSpPr>
                      <a:cxnSpLocks/>
                      <a:endCxn id="21" idx="0"/>
                    </p:cNvCxnSpPr>
                    <p:nvPr/>
                  </p:nvCxnSpPr>
                  <p:spPr>
                    <a:xfrm flipH="1">
                      <a:off x="1219758" y="4233017"/>
                      <a:ext cx="5516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ACCAAB1D-FBD1-8F49-B4FC-8A8FD6EEAB81}"/>
                        </a:ext>
                      </a:extLst>
                    </p:cNvPr>
                    <p:cNvCxnSpPr>
                      <a:cxnSpLocks/>
                      <a:endCxn id="22" idx="0"/>
                    </p:cNvCxnSpPr>
                    <p:nvPr/>
                  </p:nvCxnSpPr>
                  <p:spPr>
                    <a:xfrm>
                      <a:off x="1771456" y="4233017"/>
                      <a:ext cx="470132" cy="340585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14C126F3-6E1A-B748-B636-E2FD508ABA79}"/>
                      </a:ext>
                    </a:extLst>
                  </p:cNvPr>
                  <p:cNvGrpSpPr/>
                  <p:nvPr/>
                </p:nvGrpSpPr>
                <p:grpSpPr>
                  <a:xfrm>
                    <a:off x="6452686" y="5635404"/>
                    <a:ext cx="731698" cy="708689"/>
                    <a:chOff x="1039758" y="4233017"/>
                    <a:chExt cx="731698" cy="708689"/>
                  </a:xfrm>
                </p:grpSpPr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D30F7E0E-B433-514B-8C0C-56B0BE1B38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039758" y="4581706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p:txBody>
                </p: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07651AEF-0765-3A47-82A0-73CBF51CC81A}"/>
                        </a:ext>
                      </a:extLst>
                    </p:cNvPr>
                    <p:cNvCxnSpPr>
                      <a:cxnSpLocks/>
                      <a:endCxn id="19" idx="0"/>
                    </p:cNvCxnSpPr>
                    <p:nvPr/>
                  </p:nvCxnSpPr>
                  <p:spPr>
                    <a:xfrm flipH="1">
                      <a:off x="1219758" y="4233017"/>
                      <a:ext cx="5516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08DBC3B-5289-064A-B983-E633C63F8F80}"/>
                    </a:ext>
                  </a:extLst>
                </p:cNvPr>
                <p:cNvSpPr txBox="1"/>
                <p:nvPr/>
              </p:nvSpPr>
              <p:spPr>
                <a:xfrm>
                  <a:off x="2490128" y="4227091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B729D7-D860-6543-80EB-B24BCEF714F4}"/>
                  </a:ext>
                </a:extLst>
              </p:cNvPr>
              <p:cNvSpPr txBox="1"/>
              <p:nvPr/>
            </p:nvSpPr>
            <p:spPr>
              <a:xfrm>
                <a:off x="1713609" y="368368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65C6B7-C77C-894D-A974-A3BCC704F1ED}"/>
                  </a:ext>
                </a:extLst>
              </p:cNvPr>
              <p:cNvSpPr txBox="1"/>
              <p:nvPr/>
            </p:nvSpPr>
            <p:spPr>
              <a:xfrm>
                <a:off x="3154684" y="368368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6373AC-8152-3145-BB2A-01DEB2FC1F54}"/>
                  </a:ext>
                </a:extLst>
              </p:cNvPr>
              <p:cNvSpPr txBox="1"/>
              <p:nvPr/>
            </p:nvSpPr>
            <p:spPr>
              <a:xfrm>
                <a:off x="1123544" y="429165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020F2C-7FDB-4D4A-AB6E-81E7AE83C2A4}"/>
                  </a:ext>
                </a:extLst>
              </p:cNvPr>
              <p:cNvSpPr txBox="1"/>
              <p:nvPr/>
            </p:nvSpPr>
            <p:spPr>
              <a:xfrm>
                <a:off x="2191272" y="429165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52DF03-1219-2E46-94BA-2BE4B417E9CE}"/>
                  </a:ext>
                </a:extLst>
              </p:cNvPr>
              <p:cNvSpPr txBox="1"/>
              <p:nvPr/>
            </p:nvSpPr>
            <p:spPr>
              <a:xfrm>
                <a:off x="3231207" y="428034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4C4C2B-D905-E749-9820-28C5C5B9DFBD}"/>
                  </a:ext>
                </a:extLst>
              </p:cNvPr>
              <p:cNvSpPr txBox="1"/>
              <p:nvPr/>
            </p:nvSpPr>
            <p:spPr>
              <a:xfrm>
                <a:off x="4298935" y="428034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05AC39-836F-F740-BD7D-BAFAF861ADB0}"/>
                  </a:ext>
                </a:extLst>
              </p:cNvPr>
              <p:cNvSpPr txBox="1"/>
              <p:nvPr/>
            </p:nvSpPr>
            <p:spPr>
              <a:xfrm>
                <a:off x="749135" y="483622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137D3AF-F2D5-C342-9431-BC9DF50D1807}"/>
                </a:ext>
              </a:extLst>
            </p:cNvPr>
            <p:cNvSpPr txBox="1"/>
            <p:nvPr/>
          </p:nvSpPr>
          <p:spPr>
            <a:xfrm>
              <a:off x="2542325" y="3717927"/>
              <a:ext cx="2326278" cy="369332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Complete binary tree</a:t>
              </a:r>
            </a:p>
          </p:txBody>
        </p:sp>
      </p:grpSp>
      <p:grpSp>
        <p:nvGrpSpPr>
          <p:cNvPr id="67" name="Group 66" descr="heap-ordered binary tree with 8 nodes and height 3">
            <a:extLst>
              <a:ext uri="{FF2B5EF4-FFF2-40B4-BE49-F238E27FC236}">
                <a16:creationId xmlns:a16="http://schemas.microsoft.com/office/drawing/2014/main" id="{B0624792-00D1-7D41-864D-0DDF895BD09B}"/>
              </a:ext>
            </a:extLst>
          </p:cNvPr>
          <p:cNvGrpSpPr/>
          <p:nvPr/>
        </p:nvGrpSpPr>
        <p:grpSpPr>
          <a:xfrm>
            <a:off x="6621189" y="3714363"/>
            <a:ext cx="4544474" cy="3051476"/>
            <a:chOff x="6621189" y="3714363"/>
            <a:chExt cx="4544474" cy="305147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23DB2E7-B534-D642-BA6A-6B900D5894F8}"/>
                </a:ext>
              </a:extLst>
            </p:cNvPr>
            <p:cNvGrpSpPr/>
            <p:nvPr/>
          </p:nvGrpSpPr>
          <p:grpSpPr>
            <a:xfrm>
              <a:off x="6621189" y="4262337"/>
              <a:ext cx="3862706" cy="2503502"/>
              <a:chOff x="749135" y="3030196"/>
              <a:chExt cx="3862706" cy="2503502"/>
            </a:xfrm>
          </p:grpSpPr>
          <p:grpSp>
            <p:nvGrpSpPr>
              <p:cNvPr id="35" name="Group 34" descr="complete binary tree with 8 nodes and height 3">
                <a:extLst>
                  <a:ext uri="{FF2B5EF4-FFF2-40B4-BE49-F238E27FC236}">
                    <a16:creationId xmlns:a16="http://schemas.microsoft.com/office/drawing/2014/main" id="{73C8066D-7E87-AC4A-BE80-56185009C9B0}"/>
                  </a:ext>
                </a:extLst>
              </p:cNvPr>
              <p:cNvGrpSpPr/>
              <p:nvPr/>
            </p:nvGrpSpPr>
            <p:grpSpPr>
              <a:xfrm>
                <a:off x="882041" y="3030196"/>
                <a:ext cx="3422759" cy="2503502"/>
                <a:chOff x="931182" y="4227091"/>
                <a:chExt cx="3422759" cy="2503502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C7F54329-07DC-6944-A5F2-5C1786641C89}"/>
                    </a:ext>
                  </a:extLst>
                </p:cNvPr>
                <p:cNvGrpSpPr/>
                <p:nvPr/>
              </p:nvGrpSpPr>
              <p:grpSpPr>
                <a:xfrm>
                  <a:off x="931182" y="4244527"/>
                  <a:ext cx="3422759" cy="2486066"/>
                  <a:chOff x="6452686" y="3858027"/>
                  <a:chExt cx="3422759" cy="2486066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71274D9B-3257-1242-B3B2-0ACF077D52C8}"/>
                      </a:ext>
                    </a:extLst>
                  </p:cNvPr>
                  <p:cNvGrpSpPr/>
                  <p:nvPr/>
                </p:nvGrpSpPr>
                <p:grpSpPr>
                  <a:xfrm>
                    <a:off x="7802940" y="3858027"/>
                    <a:ext cx="1591570" cy="1060585"/>
                    <a:chOff x="1069858" y="3873017"/>
                    <a:chExt cx="1591570" cy="1060585"/>
                  </a:xfrm>
                </p:grpSpPr>
                <p:sp>
                  <p:nvSpPr>
                    <p:cNvPr id="60" name="Oval 59">
                      <a:extLst>
                        <a:ext uri="{FF2B5EF4-FFF2-40B4-BE49-F238E27FC236}">
                          <a16:creationId xmlns:a16="http://schemas.microsoft.com/office/drawing/2014/main" id="{87F9E6B7-63D2-6B4C-9CF5-A9F376EE65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591456" y="3873017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p:txBody>
                </p:sp>
                <p:sp>
                  <p:nvSpPr>
                    <p:cNvPr id="61" name="Oval 60">
                      <a:extLst>
                        <a:ext uri="{FF2B5EF4-FFF2-40B4-BE49-F238E27FC236}">
                          <a16:creationId xmlns:a16="http://schemas.microsoft.com/office/drawing/2014/main" id="{0E043D34-B862-3042-8CF3-CA713464CC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301428" y="4573602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p:txBody>
                </p: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C1A78A68-93FE-3548-9E36-FB43194E999F}"/>
                        </a:ext>
                      </a:extLst>
                    </p:cNvPr>
                    <p:cNvCxnSpPr>
                      <a:cxnSpLocks/>
                      <a:stCxn id="60" idx="4"/>
                    </p:cNvCxnSpPr>
                    <p:nvPr/>
                  </p:nvCxnSpPr>
                  <p:spPr>
                    <a:xfrm flipH="1">
                      <a:off x="1069858" y="4233017"/>
                      <a:ext cx="7015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62">
                      <a:extLst>
                        <a:ext uri="{FF2B5EF4-FFF2-40B4-BE49-F238E27FC236}">
                          <a16:creationId xmlns:a16="http://schemas.microsoft.com/office/drawing/2014/main" id="{082C8B3D-0A19-7E41-B36A-47F09B7FF33C}"/>
                        </a:ext>
                      </a:extLst>
                    </p:cNvPr>
                    <p:cNvCxnSpPr>
                      <a:cxnSpLocks/>
                      <a:stCxn id="60" idx="4"/>
                      <a:endCxn id="61" idx="0"/>
                    </p:cNvCxnSpPr>
                    <p:nvPr/>
                  </p:nvCxnSpPr>
                  <p:spPr>
                    <a:xfrm>
                      <a:off x="1771456" y="4233017"/>
                      <a:ext cx="709972" cy="340585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25AE02BC-77C6-C24A-8DA4-E1A3A6E3797B}"/>
                      </a:ext>
                    </a:extLst>
                  </p:cNvPr>
                  <p:cNvGrpSpPr/>
                  <p:nvPr/>
                </p:nvGrpSpPr>
                <p:grpSpPr>
                  <a:xfrm>
                    <a:off x="7007095" y="4566716"/>
                    <a:ext cx="1381830" cy="1068689"/>
                    <a:chOff x="1039758" y="3873017"/>
                    <a:chExt cx="1381830" cy="1068689"/>
                  </a:xfrm>
                </p:grpSpPr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4B5F26E1-D636-2C4E-9385-A6CACA43E7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039758" y="4581706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p:txBody>
                </p:sp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66689C15-A9E6-0B4D-A58A-4C0864E6AE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591456" y="3873017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p:txBody>
                </p:sp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811F92DC-6AE5-EB49-8D9D-755C202394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061588" y="4573602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p:txBody>
                </p:sp>
                <p:cxnSp>
                  <p:nvCxnSpPr>
                    <p:cNvPr id="58" name="Straight Connector 57">
                      <a:extLst>
                        <a:ext uri="{FF2B5EF4-FFF2-40B4-BE49-F238E27FC236}">
                          <a16:creationId xmlns:a16="http://schemas.microsoft.com/office/drawing/2014/main" id="{2E0C6C48-B86A-BF4B-B26C-2C6A03DEE8A9}"/>
                        </a:ext>
                      </a:extLst>
                    </p:cNvPr>
                    <p:cNvCxnSpPr>
                      <a:cxnSpLocks/>
                      <a:stCxn id="56" idx="4"/>
                      <a:endCxn id="55" idx="0"/>
                    </p:cNvCxnSpPr>
                    <p:nvPr/>
                  </p:nvCxnSpPr>
                  <p:spPr>
                    <a:xfrm flipH="1">
                      <a:off x="1219758" y="4233017"/>
                      <a:ext cx="5516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7FC6CB3E-79BC-E342-94E6-B9887927EA25}"/>
                        </a:ext>
                      </a:extLst>
                    </p:cNvPr>
                    <p:cNvCxnSpPr>
                      <a:cxnSpLocks/>
                      <a:stCxn id="56" idx="4"/>
                      <a:endCxn id="57" idx="0"/>
                    </p:cNvCxnSpPr>
                    <p:nvPr/>
                  </p:nvCxnSpPr>
                  <p:spPr>
                    <a:xfrm>
                      <a:off x="1771456" y="4233017"/>
                      <a:ext cx="470132" cy="340585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249867B7-E4F2-394F-AC27-B58C2CCA43DB}"/>
                      </a:ext>
                    </a:extLst>
                  </p:cNvPr>
                  <p:cNvGrpSpPr/>
                  <p:nvPr/>
                </p:nvGrpSpPr>
                <p:grpSpPr>
                  <a:xfrm>
                    <a:off x="8493615" y="4913210"/>
                    <a:ext cx="1381830" cy="708689"/>
                    <a:chOff x="1039758" y="4233017"/>
                    <a:chExt cx="1381830" cy="708689"/>
                  </a:xfrm>
                </p:grpSpPr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7407686F-4032-A549-AA56-B2E8C9048D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039758" y="4581706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p:txBody>
                </p: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EEB8999F-39BA-3540-B9E2-9AE203428E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061588" y="4573602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p:txBody>
                </p:sp>
                <p:cxnSp>
                  <p:nvCxnSpPr>
                    <p:cNvPr id="53" name="Straight Connector 52">
                      <a:extLst>
                        <a:ext uri="{FF2B5EF4-FFF2-40B4-BE49-F238E27FC236}">
                          <a16:creationId xmlns:a16="http://schemas.microsoft.com/office/drawing/2014/main" id="{4CC9B9CF-AA4B-5F49-B3D3-7F535120E325}"/>
                        </a:ext>
                      </a:extLst>
                    </p:cNvPr>
                    <p:cNvCxnSpPr>
                      <a:cxnSpLocks/>
                      <a:endCxn id="51" idx="0"/>
                    </p:cNvCxnSpPr>
                    <p:nvPr/>
                  </p:nvCxnSpPr>
                  <p:spPr>
                    <a:xfrm flipH="1">
                      <a:off x="1219758" y="4233017"/>
                      <a:ext cx="5516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1CEE99A7-29C5-F74C-88AE-53F65083FC61}"/>
                        </a:ext>
                      </a:extLst>
                    </p:cNvPr>
                    <p:cNvCxnSpPr>
                      <a:cxnSpLocks/>
                      <a:endCxn id="52" idx="0"/>
                    </p:cNvCxnSpPr>
                    <p:nvPr/>
                  </p:nvCxnSpPr>
                  <p:spPr>
                    <a:xfrm>
                      <a:off x="1771456" y="4233017"/>
                      <a:ext cx="470132" cy="340585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0F28FE64-26AE-F445-B25A-72F8A916FA49}"/>
                      </a:ext>
                    </a:extLst>
                  </p:cNvPr>
                  <p:cNvGrpSpPr/>
                  <p:nvPr/>
                </p:nvGrpSpPr>
                <p:grpSpPr>
                  <a:xfrm>
                    <a:off x="6452686" y="5635404"/>
                    <a:ext cx="731698" cy="708689"/>
                    <a:chOff x="1039758" y="4233017"/>
                    <a:chExt cx="731698" cy="708689"/>
                  </a:xfrm>
                </p:grpSpPr>
                <p:sp>
                  <p:nvSpPr>
                    <p:cNvPr id="49" name="Oval 48">
                      <a:extLst>
                        <a:ext uri="{FF2B5EF4-FFF2-40B4-BE49-F238E27FC236}">
                          <a16:creationId xmlns:a16="http://schemas.microsoft.com/office/drawing/2014/main" id="{FDB9CB93-6F50-8343-878C-3BA30DF1B8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039758" y="4581706"/>
                      <a:ext cx="360000" cy="36000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p:txBody>
                </p:sp>
                <p:cxnSp>
                  <p:nvCxnSpPr>
                    <p:cNvPr id="50" name="Straight Connector 49">
                      <a:extLst>
                        <a:ext uri="{FF2B5EF4-FFF2-40B4-BE49-F238E27FC236}">
                          <a16:creationId xmlns:a16="http://schemas.microsoft.com/office/drawing/2014/main" id="{E5035418-3D6A-3746-AD9B-CB9BB9945D63}"/>
                        </a:ext>
                      </a:extLst>
                    </p:cNvPr>
                    <p:cNvCxnSpPr>
                      <a:cxnSpLocks/>
                      <a:endCxn id="49" idx="0"/>
                    </p:cNvCxnSpPr>
                    <p:nvPr/>
                  </p:nvCxnSpPr>
                  <p:spPr>
                    <a:xfrm flipH="1">
                      <a:off x="1219758" y="4233017"/>
                      <a:ext cx="551698" cy="348689"/>
                    </a:xfrm>
                    <a:prstGeom prst="line">
                      <a:avLst/>
                    </a:prstGeom>
                    <a:ln w="285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35BB912-56E2-8445-8036-72FDBBBF14ED}"/>
                    </a:ext>
                  </a:extLst>
                </p:cNvPr>
                <p:cNvSpPr txBox="1"/>
                <p:nvPr/>
              </p:nvSpPr>
              <p:spPr>
                <a:xfrm>
                  <a:off x="2490128" y="4227091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A0889B-C75D-B240-A1A0-5E234BE71F26}"/>
                  </a:ext>
                </a:extLst>
              </p:cNvPr>
              <p:cNvSpPr txBox="1"/>
              <p:nvPr/>
            </p:nvSpPr>
            <p:spPr>
              <a:xfrm>
                <a:off x="1713609" y="368368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6AA0E06-82CE-2C4B-89AF-2F2DA5FECF6C}"/>
                  </a:ext>
                </a:extLst>
              </p:cNvPr>
              <p:cNvSpPr txBox="1"/>
              <p:nvPr/>
            </p:nvSpPr>
            <p:spPr>
              <a:xfrm>
                <a:off x="3154684" y="368368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F12A83-FE80-444D-AA83-DCF82FC04144}"/>
                  </a:ext>
                </a:extLst>
              </p:cNvPr>
              <p:cNvSpPr txBox="1"/>
              <p:nvPr/>
            </p:nvSpPr>
            <p:spPr>
              <a:xfrm>
                <a:off x="1123544" y="429165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C22E6B-64D5-A647-902A-1E7EAD1C9F35}"/>
                  </a:ext>
                </a:extLst>
              </p:cNvPr>
              <p:cNvSpPr txBox="1"/>
              <p:nvPr/>
            </p:nvSpPr>
            <p:spPr>
              <a:xfrm>
                <a:off x="2191272" y="429165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B84BF6-5B50-9D45-82E0-AE98B96F8EAA}"/>
                  </a:ext>
                </a:extLst>
              </p:cNvPr>
              <p:cNvSpPr txBox="1"/>
              <p:nvPr/>
            </p:nvSpPr>
            <p:spPr>
              <a:xfrm>
                <a:off x="3231207" y="428034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254C8F9-3A72-2747-83F0-40F607ED5213}"/>
                  </a:ext>
                </a:extLst>
              </p:cNvPr>
              <p:cNvSpPr txBox="1"/>
              <p:nvPr/>
            </p:nvSpPr>
            <p:spPr>
              <a:xfrm>
                <a:off x="4298935" y="428034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AC2B12-F69B-CC44-AE65-F0CBD9E5790E}"/>
                  </a:ext>
                </a:extLst>
              </p:cNvPr>
              <p:cNvSpPr txBox="1"/>
              <p:nvPr/>
            </p:nvSpPr>
            <p:spPr>
              <a:xfrm>
                <a:off x="749135" y="483622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81E391A-70DC-AB44-A01A-7BF7C74FCE26}"/>
                </a:ext>
              </a:extLst>
            </p:cNvPr>
            <p:cNvSpPr txBox="1"/>
            <p:nvPr/>
          </p:nvSpPr>
          <p:spPr>
            <a:xfrm>
              <a:off x="6954254" y="3714363"/>
              <a:ext cx="4211409" cy="369332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Binary Heap (head-ordered binary tree)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4030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Heaps enable a very efficient implementation of the Priority Queue ADT</a:t>
            </a:r>
          </a:p>
          <a:p>
            <a:pPr lvl="1"/>
            <a:r>
              <a:rPr lang="en-US" dirty="0"/>
              <a:t>Insertion: enqueue(item, priority)</a:t>
            </a:r>
          </a:p>
          <a:p>
            <a:pPr lvl="1"/>
            <a:r>
              <a:rPr lang="en-US" dirty="0"/>
              <a:t>Max deletion: dequeue()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09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Insertion</a:t>
            </a:r>
            <a:r>
              <a:rPr lang="en-US" dirty="0"/>
              <a:t> in a heap</a:t>
            </a:r>
          </a:p>
          <a:p>
            <a:pPr lvl="1"/>
            <a:r>
              <a:rPr lang="en-US" dirty="0"/>
              <a:t>Add the new node at the end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Swim it up</a:t>
            </a:r>
            <a:r>
              <a:rPr lang="en-US" dirty="0"/>
              <a:t>: if child’s key &gt; parents’ key, swap &amp; repeat until the heap order is restored</a:t>
            </a:r>
          </a:p>
        </p:txBody>
      </p:sp>
      <p:grpSp>
        <p:nvGrpSpPr>
          <p:cNvPr id="34" name="Group 33" descr="example binary heap tree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070894" y="3429000"/>
            <a:ext cx="3862706" cy="2503502"/>
            <a:chOff x="749135" y="3030196"/>
            <a:chExt cx="3862706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0F28FE64-26AE-F445-B25A-72F8A916FA49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FDB9CB93-6F50-8343-878C-3BA30DF1B8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5035418-3D6A-3746-AD9B-CB9BB9945D63}"/>
                      </a:ext>
                    </a:extLst>
                  </p:cNvPr>
                  <p:cNvCxnSpPr>
                    <a:cxnSpLocks/>
                    <a:endCxn id="49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AC2B12-F69B-CC44-AE65-F0CBD9E5790E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grpSp>
        <p:nvGrpSpPr>
          <p:cNvPr id="7" name="Group 6" descr="example node we wish to insert">
            <a:extLst>
              <a:ext uri="{FF2B5EF4-FFF2-40B4-BE49-F238E27FC236}">
                <a16:creationId xmlns:a16="http://schemas.microsoft.com/office/drawing/2014/main" id="{65384929-ED22-C14F-BEF3-B063BD03BD62}"/>
              </a:ext>
            </a:extLst>
          </p:cNvPr>
          <p:cNvGrpSpPr/>
          <p:nvPr/>
        </p:nvGrpSpPr>
        <p:grpSpPr>
          <a:xfrm>
            <a:off x="7938209" y="5223814"/>
            <a:ext cx="1936677" cy="722012"/>
            <a:chOff x="7938209" y="5223814"/>
            <a:chExt cx="1936677" cy="72201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6C4B342-8528-B243-91E8-5D7F9BF01C0C}"/>
                </a:ext>
              </a:extLst>
            </p:cNvPr>
            <p:cNvGrpSpPr/>
            <p:nvPr/>
          </p:nvGrpSpPr>
          <p:grpSpPr>
            <a:xfrm>
              <a:off x="7938209" y="5223814"/>
              <a:ext cx="1936677" cy="722012"/>
              <a:chOff x="7938209" y="5223814"/>
              <a:chExt cx="1936677" cy="72201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A3E66E-AF7C-8549-AE51-75B861AFCFE0}"/>
                  </a:ext>
                </a:extLst>
              </p:cNvPr>
              <p:cNvSpPr txBox="1"/>
              <p:nvPr/>
            </p:nvSpPr>
            <p:spPr>
              <a:xfrm>
                <a:off x="8484762" y="5571318"/>
                <a:ext cx="13901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enqueue(S)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57AD471-646A-854A-BAF6-510DAA9210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1961" y="558582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7866687-2C82-CF45-B5D2-CC6AA51ACECC}"/>
                  </a:ext>
                </a:extLst>
              </p:cNvPr>
              <p:cNvCxnSpPr>
                <a:cxnSpLocks/>
                <a:stCxn id="55" idx="4"/>
                <a:endCxn id="64" idx="0"/>
              </p:cNvCxnSpPr>
              <p:nvPr/>
            </p:nvCxnSpPr>
            <p:spPr>
              <a:xfrm>
                <a:off x="7938209" y="5223814"/>
                <a:ext cx="333752" cy="36201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4840A8E-827A-3442-B42C-9C4B66B71ACC}"/>
                </a:ext>
              </a:extLst>
            </p:cNvPr>
            <p:cNvSpPr txBox="1"/>
            <p:nvPr/>
          </p:nvSpPr>
          <p:spPr>
            <a:xfrm>
              <a:off x="8224240" y="525063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90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Insertion</a:t>
            </a:r>
            <a:r>
              <a:rPr lang="en-US" dirty="0"/>
              <a:t> in a heap</a:t>
            </a:r>
          </a:p>
          <a:p>
            <a:pPr lvl="1"/>
            <a:r>
              <a:rPr lang="en-US" dirty="0"/>
              <a:t>Add the new node at the end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Swim it up</a:t>
            </a:r>
            <a:r>
              <a:rPr lang="en-US" dirty="0"/>
              <a:t>: if child’s key &gt; parents’ key, swap &amp; repeat until the heap order is restored</a:t>
            </a:r>
          </a:p>
        </p:txBody>
      </p:sp>
      <p:grpSp>
        <p:nvGrpSpPr>
          <p:cNvPr id="34" name="Group 33" descr="example swim it up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070894" y="3429000"/>
            <a:ext cx="3862706" cy="2503502"/>
            <a:chOff x="749135" y="3030196"/>
            <a:chExt cx="3862706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0F28FE64-26AE-F445-B25A-72F8A916FA49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FDB9CB93-6F50-8343-878C-3BA30DF1B8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5035418-3D6A-3746-AD9B-CB9BB9945D63}"/>
                      </a:ext>
                    </a:extLst>
                  </p:cNvPr>
                  <p:cNvCxnSpPr>
                    <a:cxnSpLocks/>
                    <a:endCxn id="49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AC2B12-F69B-CC44-AE65-F0CBD9E5790E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grpSp>
        <p:nvGrpSpPr>
          <p:cNvPr id="6" name="Group 5" descr="example swim it up operation">
            <a:extLst>
              <a:ext uri="{FF2B5EF4-FFF2-40B4-BE49-F238E27FC236}">
                <a16:creationId xmlns:a16="http://schemas.microsoft.com/office/drawing/2014/main" id="{26C4B342-8528-B243-91E8-5D7F9BF01C0C}"/>
              </a:ext>
            </a:extLst>
          </p:cNvPr>
          <p:cNvGrpSpPr/>
          <p:nvPr/>
        </p:nvGrpSpPr>
        <p:grpSpPr>
          <a:xfrm>
            <a:off x="7938209" y="5223814"/>
            <a:ext cx="513752" cy="722012"/>
            <a:chOff x="7938209" y="5223814"/>
            <a:chExt cx="513752" cy="722012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57AD471-646A-854A-BAF6-510DAA9210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91961" y="558582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866687-2C82-CF45-B5D2-CC6AA51ACECC}"/>
                </a:ext>
              </a:extLst>
            </p:cNvPr>
            <p:cNvCxnSpPr>
              <a:cxnSpLocks/>
              <a:stCxn id="55" idx="4"/>
              <a:endCxn id="64" idx="0"/>
            </p:cNvCxnSpPr>
            <p:nvPr/>
          </p:nvCxnSpPr>
          <p:spPr>
            <a:xfrm>
              <a:off x="7938209" y="5223814"/>
              <a:ext cx="333752" cy="3620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E90858A2-8C58-9E48-8179-42C46559C305}"/>
              </a:ext>
            </a:extLst>
          </p:cNvPr>
          <p:cNvSpPr txBox="1"/>
          <p:nvPr/>
        </p:nvSpPr>
        <p:spPr>
          <a:xfrm>
            <a:off x="8224240" y="52506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32404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Insertion</a:t>
            </a:r>
            <a:r>
              <a:rPr lang="en-US" dirty="0"/>
              <a:t> in a heap</a:t>
            </a:r>
          </a:p>
          <a:p>
            <a:pPr lvl="1"/>
            <a:r>
              <a:rPr lang="en-US" dirty="0"/>
              <a:t>Add the new node at the end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Swim it up</a:t>
            </a:r>
            <a:r>
              <a:rPr lang="en-US" dirty="0"/>
              <a:t>: if child’s key &gt; parents’ key, swap &amp; repeat until the heap order is restored</a:t>
            </a:r>
          </a:p>
          <a:p>
            <a:endParaRPr lang="en-US" dirty="0"/>
          </a:p>
        </p:txBody>
      </p:sp>
      <p:grpSp>
        <p:nvGrpSpPr>
          <p:cNvPr id="34" name="Group 33" descr="example swim it up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070894" y="3429000"/>
            <a:ext cx="3862706" cy="2503502"/>
            <a:chOff x="749135" y="3030196"/>
            <a:chExt cx="3862706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0F28FE64-26AE-F445-B25A-72F8A916FA49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FDB9CB93-6F50-8343-878C-3BA30DF1B8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5035418-3D6A-3746-AD9B-CB9BB9945D63}"/>
                      </a:ext>
                    </a:extLst>
                  </p:cNvPr>
                  <p:cNvCxnSpPr>
                    <a:cxnSpLocks/>
                    <a:endCxn id="49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AC2B12-F69B-CC44-AE65-F0CBD9E5790E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grpSp>
        <p:nvGrpSpPr>
          <p:cNvPr id="6" name="Group 5" descr="example swim it up operation">
            <a:extLst>
              <a:ext uri="{FF2B5EF4-FFF2-40B4-BE49-F238E27FC236}">
                <a16:creationId xmlns:a16="http://schemas.microsoft.com/office/drawing/2014/main" id="{26C4B342-8528-B243-91E8-5D7F9BF01C0C}"/>
              </a:ext>
            </a:extLst>
          </p:cNvPr>
          <p:cNvGrpSpPr/>
          <p:nvPr/>
        </p:nvGrpSpPr>
        <p:grpSpPr>
          <a:xfrm>
            <a:off x="7938209" y="5223814"/>
            <a:ext cx="513752" cy="722012"/>
            <a:chOff x="7938209" y="5223814"/>
            <a:chExt cx="513752" cy="722012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57AD471-646A-854A-BAF6-510DAA9210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91961" y="558582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866687-2C82-CF45-B5D2-CC6AA51ACECC}"/>
                </a:ext>
              </a:extLst>
            </p:cNvPr>
            <p:cNvCxnSpPr>
              <a:cxnSpLocks/>
              <a:stCxn id="55" idx="4"/>
              <a:endCxn id="64" idx="0"/>
            </p:cNvCxnSpPr>
            <p:nvPr/>
          </p:nvCxnSpPr>
          <p:spPr>
            <a:xfrm>
              <a:off x="7938209" y="5223814"/>
              <a:ext cx="333752" cy="3620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016601B-32B7-0845-820B-E0FEF457D4B2}"/>
              </a:ext>
            </a:extLst>
          </p:cNvPr>
          <p:cNvSpPr txBox="1"/>
          <p:nvPr/>
        </p:nvSpPr>
        <p:spPr>
          <a:xfrm>
            <a:off x="8224240" y="52506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94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Insertion</a:t>
            </a:r>
            <a:r>
              <a:rPr lang="en-US" dirty="0"/>
              <a:t> in a heap</a:t>
            </a:r>
          </a:p>
          <a:p>
            <a:pPr lvl="1"/>
            <a:r>
              <a:rPr lang="en-US" dirty="0"/>
              <a:t>Add the new node at the end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Swim it up</a:t>
            </a:r>
            <a:r>
              <a:rPr lang="en-US" dirty="0"/>
              <a:t>: if child’s key &gt; parents’ key, swap &amp; repeat until the heap order is restored</a:t>
            </a:r>
          </a:p>
          <a:p>
            <a:r>
              <a:rPr lang="en-US" dirty="0"/>
              <a:t>Cost: at most (1+ lg N) compares</a:t>
            </a:r>
          </a:p>
          <a:p>
            <a:endParaRPr lang="en-US" dirty="0"/>
          </a:p>
        </p:txBody>
      </p:sp>
      <p:grpSp>
        <p:nvGrpSpPr>
          <p:cNvPr id="34" name="Group 33" descr="example swim it up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070894" y="3429000"/>
            <a:ext cx="3862706" cy="2503502"/>
            <a:chOff x="749135" y="3030196"/>
            <a:chExt cx="3862706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0F28FE64-26AE-F445-B25A-72F8A916FA49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FDB9CB93-6F50-8343-878C-3BA30DF1B8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5035418-3D6A-3746-AD9B-CB9BB9945D63}"/>
                      </a:ext>
                    </a:extLst>
                  </p:cNvPr>
                  <p:cNvCxnSpPr>
                    <a:cxnSpLocks/>
                    <a:endCxn id="49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AC2B12-F69B-CC44-AE65-F0CBD9E5790E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grpSp>
        <p:nvGrpSpPr>
          <p:cNvPr id="6" name="Group 5" descr="example swim it up operation">
            <a:extLst>
              <a:ext uri="{FF2B5EF4-FFF2-40B4-BE49-F238E27FC236}">
                <a16:creationId xmlns:a16="http://schemas.microsoft.com/office/drawing/2014/main" id="{26C4B342-8528-B243-91E8-5D7F9BF01C0C}"/>
              </a:ext>
            </a:extLst>
          </p:cNvPr>
          <p:cNvGrpSpPr/>
          <p:nvPr/>
        </p:nvGrpSpPr>
        <p:grpSpPr>
          <a:xfrm>
            <a:off x="7938209" y="5223814"/>
            <a:ext cx="513752" cy="722012"/>
            <a:chOff x="7938209" y="5223814"/>
            <a:chExt cx="513752" cy="722012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57AD471-646A-854A-BAF6-510DAA9210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91961" y="558582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866687-2C82-CF45-B5D2-CC6AA51ACECC}"/>
                </a:ext>
              </a:extLst>
            </p:cNvPr>
            <p:cNvCxnSpPr>
              <a:cxnSpLocks/>
              <a:stCxn id="55" idx="4"/>
              <a:endCxn id="64" idx="0"/>
            </p:cNvCxnSpPr>
            <p:nvPr/>
          </p:nvCxnSpPr>
          <p:spPr>
            <a:xfrm>
              <a:off x="7938209" y="5223814"/>
              <a:ext cx="333752" cy="3620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016601B-32B7-0845-820B-E0FEF457D4B2}"/>
              </a:ext>
            </a:extLst>
          </p:cNvPr>
          <p:cNvSpPr txBox="1"/>
          <p:nvPr/>
        </p:nvSpPr>
        <p:spPr>
          <a:xfrm>
            <a:off x="8224240" y="52506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12634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Insertion</a:t>
            </a:r>
            <a:r>
              <a:rPr lang="en-US" dirty="0"/>
              <a:t> in a heap</a:t>
            </a:r>
          </a:p>
          <a:p>
            <a:pPr lvl="1"/>
            <a:r>
              <a:rPr lang="en-US" dirty="0"/>
              <a:t>Add the new node at the end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Swim it up</a:t>
            </a:r>
            <a:r>
              <a:rPr lang="en-US" dirty="0"/>
              <a:t>: if child’s key &gt; parents’ key, swap &amp; repeat until the heap order is restored</a:t>
            </a:r>
          </a:p>
          <a:p>
            <a:r>
              <a:rPr lang="en-US" dirty="0"/>
              <a:t>Cost: at most (1+ lg N) compares</a:t>
            </a:r>
          </a:p>
          <a:p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7197F3-59E5-1941-BC28-8E3705817B9E}"/>
              </a:ext>
            </a:extLst>
          </p:cNvPr>
          <p:cNvSpPr txBox="1"/>
          <p:nvPr/>
        </p:nvSpPr>
        <p:spPr>
          <a:xfrm>
            <a:off x="1322980" y="3873460"/>
            <a:ext cx="1976823" cy="923330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C0C0C0"/>
                </a:highlight>
                <a:latin typeface="Courier" pitchFamily="2" charset="0"/>
              </a:rPr>
              <a:t>enqueue(key):</a:t>
            </a:r>
          </a:p>
          <a:p>
            <a:r>
              <a:rPr lang="en-GB" dirty="0">
                <a:latin typeface="Courier" pitchFamily="2" charset="0"/>
              </a:rPr>
              <a:t>a[++N]=key;</a:t>
            </a:r>
          </a:p>
          <a:p>
            <a:r>
              <a:rPr lang="en-GB" dirty="0">
                <a:latin typeface="Courier" pitchFamily="2" charset="0"/>
              </a:rPr>
              <a:t>swim(N);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1F154-AD33-EC41-8BD9-0858836EED25}"/>
              </a:ext>
            </a:extLst>
          </p:cNvPr>
          <p:cNvSpPr txBox="1"/>
          <p:nvPr/>
        </p:nvSpPr>
        <p:spPr>
          <a:xfrm>
            <a:off x="1322980" y="5024967"/>
            <a:ext cx="4044697" cy="120032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C0C0C0"/>
                </a:highlight>
                <a:latin typeface="Courier" pitchFamily="2" charset="0"/>
              </a:rPr>
              <a:t>swim(</a:t>
            </a:r>
            <a:r>
              <a:rPr lang="en-GB" dirty="0" err="1">
                <a:highlight>
                  <a:srgbClr val="C0C0C0"/>
                </a:highlight>
                <a:latin typeface="Courier" pitchFamily="2" charset="0"/>
              </a:rPr>
              <a:t>i</a:t>
            </a:r>
            <a:r>
              <a:rPr lang="en-GB" dirty="0">
                <a:highlight>
                  <a:srgbClr val="C0C0C0"/>
                </a:highlight>
                <a:latin typeface="Courier" pitchFamily="2" charset="0"/>
              </a:rPr>
              <a:t>):</a:t>
            </a:r>
          </a:p>
          <a:p>
            <a:r>
              <a:rPr lang="en-GB" dirty="0">
                <a:latin typeface="Courier" pitchFamily="2" charset="0"/>
              </a:rPr>
              <a:t>while (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 &gt; 1 &amp;&amp; a[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/2]&lt;a[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])</a:t>
            </a:r>
          </a:p>
          <a:p>
            <a:r>
              <a:rPr lang="en-GB" dirty="0">
                <a:latin typeface="Courier" pitchFamily="2" charset="0"/>
              </a:rPr>
              <a:t>	swap(a[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], a[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/2]);</a:t>
            </a:r>
          </a:p>
          <a:p>
            <a:r>
              <a:rPr lang="en-GB" dirty="0">
                <a:latin typeface="Courier" pitchFamily="2" charset="0"/>
              </a:rPr>
              <a:t>	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 = 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/2;</a:t>
            </a:r>
          </a:p>
        </p:txBody>
      </p:sp>
      <p:grpSp>
        <p:nvGrpSpPr>
          <p:cNvPr id="34" name="Group 33" descr="example swim it up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070894" y="3429000"/>
            <a:ext cx="3862706" cy="2503502"/>
            <a:chOff x="749135" y="3030196"/>
            <a:chExt cx="3862706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0F28FE64-26AE-F445-B25A-72F8A916FA49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FDB9CB93-6F50-8343-878C-3BA30DF1B8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5035418-3D6A-3746-AD9B-CB9BB9945D63}"/>
                      </a:ext>
                    </a:extLst>
                  </p:cNvPr>
                  <p:cNvCxnSpPr>
                    <a:cxnSpLocks/>
                    <a:endCxn id="49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AC2B12-F69B-CC44-AE65-F0CBD9E5790E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grpSp>
        <p:nvGrpSpPr>
          <p:cNvPr id="6" name="Group 5" descr="example swim it up operation">
            <a:extLst>
              <a:ext uri="{FF2B5EF4-FFF2-40B4-BE49-F238E27FC236}">
                <a16:creationId xmlns:a16="http://schemas.microsoft.com/office/drawing/2014/main" id="{26C4B342-8528-B243-91E8-5D7F9BF01C0C}"/>
              </a:ext>
            </a:extLst>
          </p:cNvPr>
          <p:cNvGrpSpPr/>
          <p:nvPr/>
        </p:nvGrpSpPr>
        <p:grpSpPr>
          <a:xfrm>
            <a:off x="7938209" y="5223814"/>
            <a:ext cx="513752" cy="722012"/>
            <a:chOff x="7938209" y="5223814"/>
            <a:chExt cx="513752" cy="722012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57AD471-646A-854A-BAF6-510DAA9210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91961" y="558582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866687-2C82-CF45-B5D2-CC6AA51ACECC}"/>
                </a:ext>
              </a:extLst>
            </p:cNvPr>
            <p:cNvCxnSpPr>
              <a:cxnSpLocks/>
              <a:stCxn id="55" idx="4"/>
              <a:endCxn id="64" idx="0"/>
            </p:cNvCxnSpPr>
            <p:nvPr/>
          </p:nvCxnSpPr>
          <p:spPr>
            <a:xfrm>
              <a:off x="7938209" y="5223814"/>
              <a:ext cx="333752" cy="3620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016601B-32B7-0845-820B-E0FEF457D4B2}"/>
              </a:ext>
            </a:extLst>
          </p:cNvPr>
          <p:cNvSpPr txBox="1"/>
          <p:nvPr/>
        </p:nvSpPr>
        <p:spPr>
          <a:xfrm>
            <a:off x="8224240" y="52506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15493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Max deletion </a:t>
            </a:r>
            <a:r>
              <a:rPr lang="en-US" dirty="0"/>
              <a:t>from a heap</a:t>
            </a:r>
          </a:p>
          <a:p>
            <a:pPr lvl="1"/>
            <a:r>
              <a:rPr lang="en-US" dirty="0"/>
              <a:t>Swap the root with the node at the end</a:t>
            </a:r>
          </a:p>
          <a:p>
            <a:pPr lvl="1"/>
            <a:r>
              <a:rPr lang="en-US" dirty="0"/>
              <a:t>Remove the last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Sink the root down</a:t>
            </a:r>
            <a:r>
              <a:rPr lang="en-US" dirty="0"/>
              <a:t>: if parent’s key is smaller than one (or both) of its children’s, swap key in parent with key in larger child, then repeat until the heap order is restored</a:t>
            </a:r>
          </a:p>
          <a:p>
            <a:endParaRPr lang="en-US" dirty="0"/>
          </a:p>
        </p:txBody>
      </p:sp>
      <p:grpSp>
        <p:nvGrpSpPr>
          <p:cNvPr id="34" name="Group 33" descr="example binary heap tree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814428" y="3947543"/>
            <a:ext cx="3862706" cy="2503502"/>
            <a:chOff x="749135" y="3030196"/>
            <a:chExt cx="3862706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0F28FE64-26AE-F445-B25A-72F8A916FA49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FDB9CB93-6F50-8343-878C-3BA30DF1B8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5035418-3D6A-3746-AD9B-CB9BB9945D63}"/>
                      </a:ext>
                    </a:extLst>
                  </p:cNvPr>
                  <p:cNvCxnSpPr>
                    <a:cxnSpLocks/>
                    <a:endCxn id="49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AC2B12-F69B-CC44-AE65-F0CBD9E5790E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86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Max deletion </a:t>
            </a:r>
            <a:r>
              <a:rPr lang="en-US" dirty="0"/>
              <a:t>from a heap</a:t>
            </a:r>
          </a:p>
          <a:p>
            <a:pPr lvl="1"/>
            <a:r>
              <a:rPr lang="en-US" dirty="0"/>
              <a:t>Swap the root with the node at the end</a:t>
            </a:r>
          </a:p>
          <a:p>
            <a:pPr lvl="1"/>
            <a:r>
              <a:rPr lang="en-US" dirty="0"/>
              <a:t>Remove the last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Sink the root down</a:t>
            </a:r>
            <a:r>
              <a:rPr lang="en-US" dirty="0"/>
              <a:t>: if parent’s key is smaller than one (or both) of its children’s, swap key in parent with key in larger child, then repeat until the heap order is restored</a:t>
            </a:r>
          </a:p>
          <a:p>
            <a:endParaRPr lang="en-US" dirty="0"/>
          </a:p>
        </p:txBody>
      </p:sp>
      <p:grpSp>
        <p:nvGrpSpPr>
          <p:cNvPr id="34" name="Group 33" descr="example sink it down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814428" y="3947543"/>
            <a:ext cx="3862706" cy="2503502"/>
            <a:chOff x="749135" y="3030196"/>
            <a:chExt cx="3862706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0F28FE64-26AE-F445-B25A-72F8A916FA49}"/>
                    </a:ext>
                  </a:extLst>
                </p:cNvPr>
                <p:cNvGrpSpPr/>
                <p:nvPr/>
              </p:nvGrpSpPr>
              <p:grpSpPr>
                <a:xfrm>
                  <a:off x="6452686" y="5635404"/>
                  <a:ext cx="731698" cy="708689"/>
                  <a:chOff x="1039758" y="4233017"/>
                  <a:chExt cx="731698" cy="708689"/>
                </a:xfrm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FDB9CB93-6F50-8343-878C-3BA30DF1B8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5035418-3D6A-3746-AD9B-CB9BB9945D63}"/>
                      </a:ext>
                    </a:extLst>
                  </p:cNvPr>
                  <p:cNvCxnSpPr>
                    <a:cxnSpLocks/>
                    <a:endCxn id="49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AC2B12-F69B-CC44-AE65-F0CBD9E5790E}"/>
                </a:ext>
              </a:extLst>
            </p:cNvPr>
            <p:cNvSpPr txBox="1"/>
            <p:nvPr/>
          </p:nvSpPr>
          <p:spPr>
            <a:xfrm>
              <a:off x="749135" y="4836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3533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Max deletion </a:t>
            </a:r>
            <a:r>
              <a:rPr lang="en-US" dirty="0"/>
              <a:t>from a heap</a:t>
            </a:r>
          </a:p>
          <a:p>
            <a:pPr lvl="1"/>
            <a:r>
              <a:rPr lang="en-US" dirty="0"/>
              <a:t>Swap the root with the node at the end</a:t>
            </a:r>
          </a:p>
          <a:p>
            <a:pPr lvl="1"/>
            <a:r>
              <a:rPr lang="en-US" dirty="0"/>
              <a:t>Remove the last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Sink the root down</a:t>
            </a:r>
            <a:r>
              <a:rPr lang="en-US" dirty="0"/>
              <a:t>: if parent’s key is smaller than one (or both) of its children’s, swap key in parent with key in larger child, then repeat until the heap order is restored</a:t>
            </a:r>
          </a:p>
          <a:p>
            <a:endParaRPr lang="en-US" dirty="0"/>
          </a:p>
        </p:txBody>
      </p:sp>
      <p:grpSp>
        <p:nvGrpSpPr>
          <p:cNvPr id="34" name="Group 33" descr="node removal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7947334" y="3947543"/>
            <a:ext cx="3729800" cy="2503502"/>
            <a:chOff x="882041" y="3030196"/>
            <a:chExt cx="3729800" cy="2503502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882041" y="3030196"/>
              <a:ext cx="3422759" cy="2503502"/>
              <a:chOff x="931182" y="4227091"/>
              <a:chExt cx="3422759" cy="250350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931182" y="4244527"/>
                <a:ext cx="3422759" cy="2486066"/>
                <a:chOff x="6452686" y="3858027"/>
                <a:chExt cx="3422759" cy="24860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DB9CB93-6F50-8343-878C-3BA30DF1B8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52686" y="5984093"/>
                  <a:ext cx="360000" cy="360000"/>
                </a:xfrm>
                <a:prstGeom prst="ellipse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Z</a:t>
                  </a:r>
                </a:p>
              </p:txBody>
            </p: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052C1A-D9BD-2540-9825-939BA7F7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7075357" y="6271045"/>
            <a:ext cx="87197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769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Max deletion </a:t>
            </a:r>
            <a:r>
              <a:rPr lang="en-US" dirty="0"/>
              <a:t>from a heap</a:t>
            </a:r>
          </a:p>
          <a:p>
            <a:pPr lvl="1"/>
            <a:r>
              <a:rPr lang="en-US" dirty="0"/>
              <a:t>Swap the root with the node at the end</a:t>
            </a:r>
          </a:p>
          <a:p>
            <a:pPr lvl="1"/>
            <a:r>
              <a:rPr lang="en-US" dirty="0"/>
              <a:t>Remove the last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Sink the root down</a:t>
            </a:r>
            <a:r>
              <a:rPr lang="en-US" dirty="0"/>
              <a:t>: if parent’s key is smaller than one (or both) of its children’s, swap key in parent with key in larger child, then repeat until the heap order is restored</a:t>
            </a:r>
          </a:p>
          <a:p>
            <a:endParaRPr lang="en-US" dirty="0"/>
          </a:p>
        </p:txBody>
      </p:sp>
      <p:grpSp>
        <p:nvGrpSpPr>
          <p:cNvPr id="34" name="Group 33" descr="example sink it down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8188837" y="3947543"/>
            <a:ext cx="3488297" cy="1794814"/>
            <a:chOff x="1123544" y="3030196"/>
            <a:chExt cx="3488297" cy="1794814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1436450" y="3030196"/>
              <a:ext cx="2868350" cy="1794814"/>
              <a:chOff x="1485591" y="4227091"/>
              <a:chExt cx="2868350" cy="1794814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1485591" y="4244527"/>
                <a:ext cx="2868350" cy="1777378"/>
                <a:chOff x="7007095" y="3858027"/>
                <a:chExt cx="2868350" cy="1777378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2852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Max deletion </a:t>
            </a:r>
            <a:r>
              <a:rPr lang="en-US" dirty="0"/>
              <a:t>from a heap</a:t>
            </a:r>
          </a:p>
          <a:p>
            <a:pPr lvl="1"/>
            <a:r>
              <a:rPr lang="en-US" dirty="0"/>
              <a:t>Swap the root with the node at the end</a:t>
            </a:r>
          </a:p>
          <a:p>
            <a:pPr lvl="1"/>
            <a:r>
              <a:rPr lang="en-US" dirty="0"/>
              <a:t>Remove the last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Sink the root down</a:t>
            </a:r>
            <a:r>
              <a:rPr lang="en-US" dirty="0"/>
              <a:t>: if parent’s key is smaller than one (or both) of its children’s, swap key in parent with key in larger child, then repeat until the heap order is restored</a:t>
            </a:r>
          </a:p>
          <a:p>
            <a:endParaRPr lang="en-US" dirty="0"/>
          </a:p>
        </p:txBody>
      </p:sp>
      <p:grpSp>
        <p:nvGrpSpPr>
          <p:cNvPr id="34" name="Group 33" descr="example sink it down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8188837" y="3947543"/>
            <a:ext cx="3488297" cy="1794814"/>
            <a:chOff x="1123544" y="3030196"/>
            <a:chExt cx="3488297" cy="1794814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1436450" y="3030196"/>
              <a:ext cx="2868350" cy="1794814"/>
              <a:chOff x="1485591" y="4227091"/>
              <a:chExt cx="2868350" cy="1794814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1485591" y="4244527"/>
                <a:ext cx="2868350" cy="1777378"/>
                <a:chOff x="7007095" y="3858027"/>
                <a:chExt cx="2868350" cy="1777378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5422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61E-40EA-5941-AA3D-E22A2485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B0D7-0E79-B045-9A56-939AAEB2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Max deletion </a:t>
            </a:r>
            <a:r>
              <a:rPr lang="en-US" dirty="0"/>
              <a:t>from a heap</a:t>
            </a:r>
          </a:p>
          <a:p>
            <a:pPr lvl="1"/>
            <a:r>
              <a:rPr lang="en-US" dirty="0"/>
              <a:t>Swap the root with the node at the end</a:t>
            </a:r>
          </a:p>
          <a:p>
            <a:pPr lvl="1"/>
            <a:r>
              <a:rPr lang="en-US" dirty="0"/>
              <a:t>Remove the last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Sink the root down</a:t>
            </a:r>
            <a:r>
              <a:rPr lang="en-US" dirty="0"/>
              <a:t>: if parent’s key is smaller than one (or both) of its children’s, swap key in parent with key in larger child, then repeat until the heap order is restored</a:t>
            </a:r>
          </a:p>
          <a:p>
            <a:r>
              <a:rPr lang="en-US" dirty="0"/>
              <a:t>Cost: at most (2 lg N) compares</a:t>
            </a: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5CB270-E7AF-584E-A7B9-856F79208744}"/>
              </a:ext>
            </a:extLst>
          </p:cNvPr>
          <p:cNvSpPr txBox="1"/>
          <p:nvPr/>
        </p:nvSpPr>
        <p:spPr>
          <a:xfrm>
            <a:off x="614722" y="4440839"/>
            <a:ext cx="2528256" cy="1754326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C0C0C0"/>
                </a:highlight>
                <a:latin typeface="Courier" pitchFamily="2" charset="0"/>
              </a:rPr>
              <a:t>dequeue():</a:t>
            </a:r>
          </a:p>
          <a:p>
            <a:r>
              <a:rPr lang="en-GB" dirty="0">
                <a:latin typeface="Courier" pitchFamily="2" charset="0"/>
              </a:rPr>
              <a:t>max=a[1];</a:t>
            </a:r>
          </a:p>
          <a:p>
            <a:r>
              <a:rPr lang="en-GB" dirty="0">
                <a:latin typeface="Courier" pitchFamily="2" charset="0"/>
              </a:rPr>
              <a:t>swap(a[1], a[N]);</a:t>
            </a:r>
          </a:p>
          <a:p>
            <a:r>
              <a:rPr lang="en-GB" dirty="0">
                <a:latin typeface="Courier" pitchFamily="2" charset="0"/>
              </a:rPr>
              <a:t>a[N--]=null;</a:t>
            </a:r>
          </a:p>
          <a:p>
            <a:r>
              <a:rPr lang="en-GB" dirty="0">
                <a:latin typeface="Courier" pitchFamily="2" charset="0"/>
              </a:rPr>
              <a:t>sink(1);</a:t>
            </a:r>
          </a:p>
          <a:p>
            <a:r>
              <a:rPr lang="en-GB" dirty="0">
                <a:latin typeface="Courier" pitchFamily="2" charset="0"/>
              </a:rPr>
              <a:t>return max;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DA9419-BF26-0B45-908C-445DB83CA677}"/>
              </a:ext>
            </a:extLst>
          </p:cNvPr>
          <p:cNvSpPr txBox="1"/>
          <p:nvPr/>
        </p:nvSpPr>
        <p:spPr>
          <a:xfrm>
            <a:off x="3586281" y="4419997"/>
            <a:ext cx="4596130" cy="203132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C0C0C0"/>
                </a:highlight>
                <a:latin typeface="Courier" pitchFamily="2" charset="0"/>
              </a:rPr>
              <a:t>sink(</a:t>
            </a:r>
            <a:r>
              <a:rPr lang="en-GB" dirty="0" err="1">
                <a:highlight>
                  <a:srgbClr val="C0C0C0"/>
                </a:highlight>
                <a:latin typeface="Courier" pitchFamily="2" charset="0"/>
              </a:rPr>
              <a:t>i</a:t>
            </a:r>
            <a:r>
              <a:rPr lang="en-GB" dirty="0">
                <a:highlight>
                  <a:srgbClr val="C0C0C0"/>
                </a:highlight>
                <a:latin typeface="Courier" pitchFamily="2" charset="0"/>
              </a:rPr>
              <a:t>):</a:t>
            </a:r>
          </a:p>
          <a:p>
            <a:r>
              <a:rPr lang="en-GB" dirty="0">
                <a:latin typeface="Courier" pitchFamily="2" charset="0"/>
              </a:rPr>
              <a:t>while (2*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 &lt;= N)</a:t>
            </a:r>
          </a:p>
          <a:p>
            <a:r>
              <a:rPr lang="en-GB" dirty="0">
                <a:latin typeface="Courier" pitchFamily="2" charset="0"/>
              </a:rPr>
              <a:t>    j = 2*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;</a:t>
            </a:r>
          </a:p>
          <a:p>
            <a:r>
              <a:rPr lang="en-GB" dirty="0">
                <a:latin typeface="Courier" pitchFamily="2" charset="0"/>
              </a:rPr>
              <a:t>    if (j&lt;N &amp;&amp; a[j]&lt;a[j+1]) </a:t>
            </a:r>
            <a:r>
              <a:rPr lang="en-GB" dirty="0" err="1">
                <a:latin typeface="Courier" pitchFamily="2" charset="0"/>
              </a:rPr>
              <a:t>j++</a:t>
            </a:r>
            <a:r>
              <a:rPr lang="en-GB" dirty="0">
                <a:latin typeface="Courier" pitchFamily="2" charset="0"/>
              </a:rPr>
              <a:t>;</a:t>
            </a:r>
          </a:p>
          <a:p>
            <a:r>
              <a:rPr lang="en-GB" dirty="0">
                <a:latin typeface="Courier" pitchFamily="2" charset="0"/>
              </a:rPr>
              <a:t>    if (a[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]&gt;=a[j]) break;</a:t>
            </a:r>
          </a:p>
          <a:p>
            <a:r>
              <a:rPr lang="en-GB" dirty="0">
                <a:latin typeface="Courier" pitchFamily="2" charset="0"/>
              </a:rPr>
              <a:t>    swap(a[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], a[j]);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 = j;</a:t>
            </a:r>
          </a:p>
        </p:txBody>
      </p:sp>
      <p:grpSp>
        <p:nvGrpSpPr>
          <p:cNvPr id="34" name="Group 33" descr="example sink it down operation">
            <a:extLst>
              <a:ext uri="{FF2B5EF4-FFF2-40B4-BE49-F238E27FC236}">
                <a16:creationId xmlns:a16="http://schemas.microsoft.com/office/drawing/2014/main" id="{823DB2E7-B534-D642-BA6A-6B900D5894F8}"/>
              </a:ext>
            </a:extLst>
          </p:cNvPr>
          <p:cNvGrpSpPr/>
          <p:nvPr/>
        </p:nvGrpSpPr>
        <p:grpSpPr>
          <a:xfrm>
            <a:off x="8188837" y="3947543"/>
            <a:ext cx="3488297" cy="1794814"/>
            <a:chOff x="1123544" y="3030196"/>
            <a:chExt cx="3488297" cy="1794814"/>
          </a:xfrm>
        </p:grpSpPr>
        <p:grpSp>
          <p:nvGrpSpPr>
            <p:cNvPr id="35" name="Group 34" descr="complete binary tree with 8 nodes and height 3">
              <a:extLst>
                <a:ext uri="{FF2B5EF4-FFF2-40B4-BE49-F238E27FC236}">
                  <a16:creationId xmlns:a16="http://schemas.microsoft.com/office/drawing/2014/main" id="{73C8066D-7E87-AC4A-BE80-56185009C9B0}"/>
                </a:ext>
              </a:extLst>
            </p:cNvPr>
            <p:cNvGrpSpPr/>
            <p:nvPr/>
          </p:nvGrpSpPr>
          <p:grpSpPr>
            <a:xfrm>
              <a:off x="1436450" y="3030196"/>
              <a:ext cx="2868350" cy="1794814"/>
              <a:chOff x="1485591" y="4227091"/>
              <a:chExt cx="2868350" cy="1794814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54329-07DC-6944-A5F2-5C1786641C89}"/>
                  </a:ext>
                </a:extLst>
              </p:cNvPr>
              <p:cNvGrpSpPr/>
              <p:nvPr/>
            </p:nvGrpSpPr>
            <p:grpSpPr>
              <a:xfrm>
                <a:off x="1485591" y="4244527"/>
                <a:ext cx="2868350" cy="1777378"/>
                <a:chOff x="7007095" y="3858027"/>
                <a:chExt cx="2868350" cy="1777378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71274D9B-3257-1242-B3B2-0ACF077D52C8}"/>
                    </a:ext>
                  </a:extLst>
                </p:cNvPr>
                <p:cNvGrpSpPr/>
                <p:nvPr/>
              </p:nvGrpSpPr>
              <p:grpSpPr>
                <a:xfrm>
                  <a:off x="7802940" y="3858027"/>
                  <a:ext cx="1591570" cy="1060585"/>
                  <a:chOff x="1069858" y="3873017"/>
                  <a:chExt cx="1591570" cy="1060585"/>
                </a:xfrm>
              </p:grpSpPr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87F9E6B7-63D2-6B4C-9CF5-A9F376EE65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0E043D34-B862-3042-8CF3-CA713464C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142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C1A78A68-93FE-3548-9E36-FB43194E999F}"/>
                      </a:ext>
                    </a:extLst>
                  </p:cNvPr>
                  <p:cNvCxnSpPr>
                    <a:cxnSpLocks/>
                    <a:stCxn id="60" idx="4"/>
                  </p:cNvCxnSpPr>
                  <p:nvPr/>
                </p:nvCxnSpPr>
                <p:spPr>
                  <a:xfrm flipH="1">
                    <a:off x="1069858" y="4233017"/>
                    <a:ext cx="701598" cy="348689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082C8B3D-0A19-7E41-B36A-47F09B7FF33C}"/>
                      </a:ext>
                    </a:extLst>
                  </p:cNvPr>
                  <p:cNvCxnSpPr>
                    <a:cxnSpLocks/>
                    <a:stCxn id="60" idx="4"/>
                    <a:endCxn id="61" idx="0"/>
                  </p:cNvCxnSpPr>
                  <p:nvPr/>
                </p:nvCxnSpPr>
                <p:spPr>
                  <a:xfrm>
                    <a:off x="1771456" y="4233017"/>
                    <a:ext cx="70997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25AE02BC-77C6-C24A-8DA4-E1A3A6E3797B}"/>
                    </a:ext>
                  </a:extLst>
                </p:cNvPr>
                <p:cNvGrpSpPr/>
                <p:nvPr/>
              </p:nvGrpSpPr>
              <p:grpSpPr>
                <a:xfrm>
                  <a:off x="7007095" y="4566716"/>
                  <a:ext cx="1381830" cy="1068689"/>
                  <a:chOff x="1039758" y="3873017"/>
                  <a:chExt cx="1381830" cy="1068689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4B5F26E1-D636-2C4E-9385-A6CACA43E7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66689C15-A9E6-0B4D-A58A-4C0864E6AE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91456" y="3873017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811F92DC-6AE5-EB49-8D9D-755C202394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E0C6C48-B86A-BF4B-B26C-2C6A03DEE8A9}"/>
                      </a:ext>
                    </a:extLst>
                  </p:cNvPr>
                  <p:cNvCxnSpPr>
                    <a:cxnSpLocks/>
                    <a:stCxn id="56" idx="4"/>
                    <a:endCxn id="55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FC6CB3E-79BC-E342-94E6-B9887927EA25}"/>
                      </a:ext>
                    </a:extLst>
                  </p:cNvPr>
                  <p:cNvCxnSpPr>
                    <a:cxnSpLocks/>
                    <a:stCxn id="56" idx="4"/>
                    <a:endCxn id="57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49867B7-E4F2-394F-AC27-B58C2CCA43DB}"/>
                    </a:ext>
                  </a:extLst>
                </p:cNvPr>
                <p:cNvGrpSpPr/>
                <p:nvPr/>
              </p:nvGrpSpPr>
              <p:grpSpPr>
                <a:xfrm>
                  <a:off x="8493615" y="4913210"/>
                  <a:ext cx="1381830" cy="708689"/>
                  <a:chOff x="1039758" y="4233017"/>
                  <a:chExt cx="1381830" cy="708689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7407686F-4032-A549-AA56-B2E8C9048D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039758" y="4581706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EEB8999F-39BA-3540-B9E2-9AE203428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061588" y="4573602"/>
                    <a:ext cx="360000" cy="36000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CC9B9CF-AA4B-5F49-B3D3-7F535120E325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 flipH="1">
                    <a:off x="1219758" y="4233017"/>
                    <a:ext cx="551698" cy="348689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1CEE99A7-29C5-F74C-88AE-53F65083FC61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>
                    <a:off x="1771456" y="4233017"/>
                    <a:ext cx="470132" cy="34058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5BB912-56E2-8445-8036-72FDBBBF14ED}"/>
                  </a:ext>
                </a:extLst>
              </p:cNvPr>
              <p:cNvSpPr txBox="1"/>
              <p:nvPr/>
            </p:nvSpPr>
            <p:spPr>
              <a:xfrm>
                <a:off x="2490128" y="422709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A0889B-C75D-B240-A1A0-5E234BE71F26}"/>
                </a:ext>
              </a:extLst>
            </p:cNvPr>
            <p:cNvSpPr txBox="1"/>
            <p:nvPr/>
          </p:nvSpPr>
          <p:spPr>
            <a:xfrm>
              <a:off x="1713609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AA0E06-82CE-2C4B-89AF-2F2DA5FECF6C}"/>
                </a:ext>
              </a:extLst>
            </p:cNvPr>
            <p:cNvSpPr txBox="1"/>
            <p:nvPr/>
          </p:nvSpPr>
          <p:spPr>
            <a:xfrm>
              <a:off x="3154684" y="36836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F12A83-FE80-444D-AA83-DCF82FC04144}"/>
                </a:ext>
              </a:extLst>
            </p:cNvPr>
            <p:cNvSpPr txBox="1"/>
            <p:nvPr/>
          </p:nvSpPr>
          <p:spPr>
            <a:xfrm>
              <a:off x="1123544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C22E6B-64D5-A647-902A-1E7EAD1C9F35}"/>
                </a:ext>
              </a:extLst>
            </p:cNvPr>
            <p:cNvSpPr txBox="1"/>
            <p:nvPr/>
          </p:nvSpPr>
          <p:spPr>
            <a:xfrm>
              <a:off x="2191272" y="429165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B84BF6-5B50-9D45-82E0-AE98B96F8EAA}"/>
                </a:ext>
              </a:extLst>
            </p:cNvPr>
            <p:cNvSpPr txBox="1"/>
            <p:nvPr/>
          </p:nvSpPr>
          <p:spPr>
            <a:xfrm>
              <a:off x="3231207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54C8F9-3A72-2747-83F0-40F607ED5213}"/>
                </a:ext>
              </a:extLst>
            </p:cNvPr>
            <p:cNvSpPr txBox="1"/>
            <p:nvPr/>
          </p:nvSpPr>
          <p:spPr>
            <a:xfrm>
              <a:off x="4298935" y="42803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387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56" name="Group 55" descr="example binary heap tree">
            <a:extLst>
              <a:ext uri="{FF2B5EF4-FFF2-40B4-BE49-F238E27FC236}">
                <a16:creationId xmlns:a16="http://schemas.microsoft.com/office/drawing/2014/main" id="{BE3B8636-5CC4-3246-8CC9-00210AB80B94}"/>
              </a:ext>
            </a:extLst>
          </p:cNvPr>
          <p:cNvGrpSpPr/>
          <p:nvPr/>
        </p:nvGrpSpPr>
        <p:grpSpPr>
          <a:xfrm>
            <a:off x="820019" y="3249000"/>
            <a:ext cx="7709207" cy="2553253"/>
            <a:chOff x="820019" y="3249000"/>
            <a:chExt cx="7709207" cy="255325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765888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294645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7392B5A4-A3B1-E745-AC3C-D86FEDCBE9AD}"/>
              </a:ext>
            </a:extLst>
          </p:cNvPr>
          <p:cNvSpPr txBox="1"/>
          <p:nvPr/>
        </p:nvSpPr>
        <p:spPr>
          <a:xfrm>
            <a:off x="10208302" y="3059668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enqueue(S)</a:t>
            </a:r>
          </a:p>
        </p:txBody>
      </p:sp>
    </p:spTree>
    <p:extLst>
      <p:ext uri="{BB962C8B-B14F-4D97-AF65-F5344CB8AC3E}">
        <p14:creationId xmlns:p14="http://schemas.microsoft.com/office/powerpoint/2010/main" val="270465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7" name="Group 6" descr="example enqueue operation">
            <a:extLst>
              <a:ext uri="{FF2B5EF4-FFF2-40B4-BE49-F238E27FC236}">
                <a16:creationId xmlns:a16="http://schemas.microsoft.com/office/drawing/2014/main" id="{4CA4099B-B007-9E40-8981-AD3CA10C609B}"/>
              </a:ext>
            </a:extLst>
          </p:cNvPr>
          <p:cNvGrpSpPr/>
          <p:nvPr/>
        </p:nvGrpSpPr>
        <p:grpSpPr>
          <a:xfrm>
            <a:off x="820019" y="3249000"/>
            <a:ext cx="7709207" cy="2593524"/>
            <a:chOff x="820019" y="3249000"/>
            <a:chExt cx="7709207" cy="259352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1838AC-4EFF-B149-A1E2-DECB0A11A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30092" y="548252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6058B7-2B2A-1745-A507-F52AE19E990C}"/>
                </a:ext>
              </a:extLst>
            </p:cNvPr>
            <p:cNvCxnSpPr>
              <a:cxnSpLocks/>
              <a:stCxn id="30" idx="0"/>
              <a:endCxn id="43" idx="5"/>
            </p:cNvCxnSpPr>
            <p:nvPr/>
          </p:nvCxnSpPr>
          <p:spPr>
            <a:xfrm flipH="1" flipV="1">
              <a:off x="4377481" y="5043841"/>
              <a:ext cx="432611" cy="43868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970988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961503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7392B5A4-A3B1-E745-AC3C-D86FEDCBE9AD}"/>
              </a:ext>
            </a:extLst>
          </p:cNvPr>
          <p:cNvSpPr txBox="1"/>
          <p:nvPr/>
        </p:nvSpPr>
        <p:spPr>
          <a:xfrm>
            <a:off x="9820537" y="3059668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enqueue(S)</a:t>
            </a:r>
          </a:p>
        </p:txBody>
      </p:sp>
    </p:spTree>
    <p:extLst>
      <p:ext uri="{BB962C8B-B14F-4D97-AF65-F5344CB8AC3E}">
        <p14:creationId xmlns:p14="http://schemas.microsoft.com/office/powerpoint/2010/main" val="3062852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enqueue operation">
            <a:extLst>
              <a:ext uri="{FF2B5EF4-FFF2-40B4-BE49-F238E27FC236}">
                <a16:creationId xmlns:a16="http://schemas.microsoft.com/office/drawing/2014/main" id="{865FFBEA-B786-374D-9DCA-FC3F083DA99F}"/>
              </a:ext>
            </a:extLst>
          </p:cNvPr>
          <p:cNvGrpSpPr/>
          <p:nvPr/>
        </p:nvGrpSpPr>
        <p:grpSpPr>
          <a:xfrm>
            <a:off x="820019" y="3249000"/>
            <a:ext cx="7709207" cy="2593524"/>
            <a:chOff x="820019" y="3249000"/>
            <a:chExt cx="7709207" cy="259352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1838AC-4EFF-B149-A1E2-DECB0A11A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30092" y="548252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6058B7-2B2A-1745-A507-F52AE19E990C}"/>
                </a:ext>
              </a:extLst>
            </p:cNvPr>
            <p:cNvCxnSpPr>
              <a:cxnSpLocks/>
              <a:stCxn id="30" idx="0"/>
              <a:endCxn id="43" idx="5"/>
            </p:cNvCxnSpPr>
            <p:nvPr/>
          </p:nvCxnSpPr>
          <p:spPr>
            <a:xfrm flipH="1" flipV="1">
              <a:off x="4377481" y="5043841"/>
              <a:ext cx="432611" cy="43868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092512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B867455-B09F-9441-A700-F062F435FE36}"/>
              </a:ext>
            </a:extLst>
          </p:cNvPr>
          <p:cNvSpPr txBox="1"/>
          <p:nvPr/>
        </p:nvSpPr>
        <p:spPr>
          <a:xfrm>
            <a:off x="9820537" y="3059668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2CC372-C78E-0548-A26E-F7444952D02E}"/>
              </a:ext>
            </a:extLst>
          </p:cNvPr>
          <p:cNvSpPr txBox="1"/>
          <p:nvPr/>
        </p:nvSpPr>
        <p:spPr>
          <a:xfrm>
            <a:off x="9771165" y="3616579"/>
            <a:ext cx="1988750" cy="92333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a[11]=S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a[11/2]&lt;a[11]?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</p:txBody>
      </p:sp>
    </p:spTree>
    <p:extLst>
      <p:ext uri="{BB962C8B-B14F-4D97-AF65-F5344CB8AC3E}">
        <p14:creationId xmlns:p14="http://schemas.microsoft.com/office/powerpoint/2010/main" val="1438254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enqueue operation">
            <a:extLst>
              <a:ext uri="{FF2B5EF4-FFF2-40B4-BE49-F238E27FC236}">
                <a16:creationId xmlns:a16="http://schemas.microsoft.com/office/drawing/2014/main" id="{7E925E6A-2953-CC4F-8081-A8DC3F12100A}"/>
              </a:ext>
            </a:extLst>
          </p:cNvPr>
          <p:cNvGrpSpPr/>
          <p:nvPr/>
        </p:nvGrpSpPr>
        <p:grpSpPr>
          <a:xfrm>
            <a:off x="820019" y="3249000"/>
            <a:ext cx="7709207" cy="2593524"/>
            <a:chOff x="820019" y="3249000"/>
            <a:chExt cx="7709207" cy="259352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1838AC-4EFF-B149-A1E2-DECB0A11A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30092" y="548252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6058B7-2B2A-1745-A507-F52AE19E990C}"/>
                </a:ext>
              </a:extLst>
            </p:cNvPr>
            <p:cNvCxnSpPr>
              <a:cxnSpLocks/>
              <a:stCxn id="30" idx="0"/>
              <a:endCxn id="43" idx="5"/>
            </p:cNvCxnSpPr>
            <p:nvPr/>
          </p:nvCxnSpPr>
          <p:spPr>
            <a:xfrm flipH="1" flipV="1">
              <a:off x="4377481" y="5043841"/>
              <a:ext cx="432611" cy="43868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87458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19433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B867455-B09F-9441-A700-F062F435FE36}"/>
              </a:ext>
            </a:extLst>
          </p:cNvPr>
          <p:cNvSpPr txBox="1"/>
          <p:nvPr/>
        </p:nvSpPr>
        <p:spPr>
          <a:xfrm>
            <a:off x="9820537" y="3059668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2CC372-C78E-0548-A26E-F7444952D02E}"/>
              </a:ext>
            </a:extLst>
          </p:cNvPr>
          <p:cNvSpPr txBox="1"/>
          <p:nvPr/>
        </p:nvSpPr>
        <p:spPr>
          <a:xfrm>
            <a:off x="9771165" y="3616579"/>
            <a:ext cx="1988750" cy="175432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a[11]=S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a[11/2]&lt;a[11]?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a[5/2]&lt;a[5]?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</p:txBody>
      </p:sp>
    </p:spTree>
    <p:extLst>
      <p:ext uri="{BB962C8B-B14F-4D97-AF65-F5344CB8AC3E}">
        <p14:creationId xmlns:p14="http://schemas.microsoft.com/office/powerpoint/2010/main" val="3628602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5" name="Group 4" descr="example enqueue operation">
            <a:extLst>
              <a:ext uri="{FF2B5EF4-FFF2-40B4-BE49-F238E27FC236}">
                <a16:creationId xmlns:a16="http://schemas.microsoft.com/office/drawing/2014/main" id="{2E93D841-EC7D-1C44-AD49-D493F3A4DD89}"/>
              </a:ext>
            </a:extLst>
          </p:cNvPr>
          <p:cNvGrpSpPr/>
          <p:nvPr/>
        </p:nvGrpSpPr>
        <p:grpSpPr>
          <a:xfrm>
            <a:off x="820019" y="3249000"/>
            <a:ext cx="7709207" cy="2593524"/>
            <a:chOff x="820019" y="3249000"/>
            <a:chExt cx="7709207" cy="259352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1838AC-4EFF-B149-A1E2-DECB0A11A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30092" y="548252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6058B7-2B2A-1745-A507-F52AE19E990C}"/>
                </a:ext>
              </a:extLst>
            </p:cNvPr>
            <p:cNvCxnSpPr>
              <a:cxnSpLocks/>
              <a:stCxn id="30" idx="0"/>
              <a:endCxn id="43" idx="5"/>
            </p:cNvCxnSpPr>
            <p:nvPr/>
          </p:nvCxnSpPr>
          <p:spPr>
            <a:xfrm flipH="1" flipV="1">
              <a:off x="4377481" y="5043841"/>
              <a:ext cx="432611" cy="43868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604203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30562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B867455-B09F-9441-A700-F062F435FE36}"/>
              </a:ext>
            </a:extLst>
          </p:cNvPr>
          <p:cNvSpPr txBox="1"/>
          <p:nvPr/>
        </p:nvSpPr>
        <p:spPr>
          <a:xfrm>
            <a:off x="9820537" y="3059668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2CC372-C78E-0548-A26E-F7444952D02E}"/>
              </a:ext>
            </a:extLst>
          </p:cNvPr>
          <p:cNvSpPr txBox="1"/>
          <p:nvPr/>
        </p:nvSpPr>
        <p:spPr>
          <a:xfrm>
            <a:off x="9771165" y="3616579"/>
            <a:ext cx="2018501" cy="286232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a[11]=S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a[11/2]&lt;a[11]?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a[5/2]&lt;a[5]?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a[2/2]&lt;a[2]?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N: done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996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DE52E0E3-88AB-6D43-97C1-ED747449DE41}"/>
              </a:ext>
            </a:extLst>
          </p:cNvPr>
          <p:cNvGrpSpPr/>
          <p:nvPr/>
        </p:nvGrpSpPr>
        <p:grpSpPr>
          <a:xfrm>
            <a:off x="820019" y="3249000"/>
            <a:ext cx="7709207" cy="2593524"/>
            <a:chOff x="820019" y="3249000"/>
            <a:chExt cx="7709207" cy="259352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1838AC-4EFF-B149-A1E2-DECB0A11A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30092" y="5482524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6058B7-2B2A-1745-A507-F52AE19E990C}"/>
                </a:ext>
              </a:extLst>
            </p:cNvPr>
            <p:cNvCxnSpPr>
              <a:cxnSpLocks/>
              <a:stCxn id="30" idx="0"/>
              <a:endCxn id="43" idx="5"/>
            </p:cNvCxnSpPr>
            <p:nvPr/>
          </p:nvCxnSpPr>
          <p:spPr>
            <a:xfrm flipH="1" flipV="1">
              <a:off x="4377481" y="5043841"/>
              <a:ext cx="432611" cy="43868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605121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83402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B867455-B09F-9441-A700-F062F435FE36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</p:spTree>
    <p:extLst>
      <p:ext uri="{BB962C8B-B14F-4D97-AF65-F5344CB8AC3E}">
        <p14:creationId xmlns:p14="http://schemas.microsoft.com/office/powerpoint/2010/main" val="1874773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63DC9605-71E5-A443-BB7C-87D495863A17}"/>
              </a:ext>
            </a:extLst>
          </p:cNvPr>
          <p:cNvGrpSpPr/>
          <p:nvPr/>
        </p:nvGrpSpPr>
        <p:grpSpPr>
          <a:xfrm>
            <a:off x="820019" y="3249000"/>
            <a:ext cx="7709207" cy="2593524"/>
            <a:chOff x="820019" y="3249000"/>
            <a:chExt cx="7709207" cy="259352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1838AC-4EFF-B149-A1E2-DECB0A11A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30092" y="548252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6058B7-2B2A-1745-A507-F52AE19E990C}"/>
                </a:ext>
              </a:extLst>
            </p:cNvPr>
            <p:cNvCxnSpPr>
              <a:cxnSpLocks/>
              <a:stCxn id="30" idx="0"/>
              <a:endCxn id="43" idx="5"/>
            </p:cNvCxnSpPr>
            <p:nvPr/>
          </p:nvCxnSpPr>
          <p:spPr>
            <a:xfrm flipH="1" flipV="1">
              <a:off x="4377481" y="5043841"/>
              <a:ext cx="432611" cy="43868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039534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766725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92C7B0CA-F4A8-0543-8E54-6147D78839D3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2CC372-C78E-0548-A26E-F7444952D02E}"/>
              </a:ext>
            </a:extLst>
          </p:cNvPr>
          <p:cNvSpPr txBox="1"/>
          <p:nvPr/>
        </p:nvSpPr>
        <p:spPr>
          <a:xfrm>
            <a:off x="9186233" y="3664183"/>
            <a:ext cx="1885966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a[11])</a:t>
            </a:r>
          </a:p>
        </p:txBody>
      </p:sp>
    </p:spTree>
    <p:extLst>
      <p:ext uri="{BB962C8B-B14F-4D97-AF65-F5344CB8AC3E}">
        <p14:creationId xmlns:p14="http://schemas.microsoft.com/office/powerpoint/2010/main" val="3953825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3C8D3E1D-3A1C-4941-959F-E3177880194F}"/>
              </a:ext>
            </a:extLst>
          </p:cNvPr>
          <p:cNvGrpSpPr/>
          <p:nvPr/>
        </p:nvGrpSpPr>
        <p:grpSpPr>
          <a:xfrm>
            <a:off x="820019" y="3249000"/>
            <a:ext cx="8429777" cy="3425344"/>
            <a:chOff x="820019" y="3249000"/>
            <a:chExt cx="8429777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510B524-6D86-A845-99D4-A5B82AA13E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89796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328810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219905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8B046C-02BB-2F46-BC55-7A79E2564F38}"/>
              </a:ext>
            </a:extLst>
          </p:cNvPr>
          <p:cNvSpPr txBox="1"/>
          <p:nvPr/>
        </p:nvSpPr>
        <p:spPr>
          <a:xfrm>
            <a:off x="9186233" y="3664183"/>
            <a:ext cx="2954655" cy="92333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a[11])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swap(a[1],a[2])</a:t>
            </a:r>
          </a:p>
        </p:txBody>
      </p:sp>
    </p:spTree>
    <p:extLst>
      <p:ext uri="{BB962C8B-B14F-4D97-AF65-F5344CB8AC3E}">
        <p14:creationId xmlns:p14="http://schemas.microsoft.com/office/powerpoint/2010/main" val="3860349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7B54B8CB-F49E-BD42-8C2A-6C3ADB42FC3E}"/>
              </a:ext>
            </a:extLst>
          </p:cNvPr>
          <p:cNvGrpSpPr/>
          <p:nvPr/>
        </p:nvGrpSpPr>
        <p:grpSpPr>
          <a:xfrm>
            <a:off x="820019" y="3249000"/>
            <a:ext cx="8429777" cy="3425344"/>
            <a:chOff x="820019" y="3249000"/>
            <a:chExt cx="8429777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510B524-6D86-A845-99D4-A5B82AA13E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89796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247938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61951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8B046C-02BB-2F46-BC55-7A79E2564F38}"/>
              </a:ext>
            </a:extLst>
          </p:cNvPr>
          <p:cNvSpPr txBox="1"/>
          <p:nvPr/>
        </p:nvSpPr>
        <p:spPr>
          <a:xfrm>
            <a:off x="9186233" y="3664183"/>
            <a:ext cx="2954655" cy="2031325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a[11])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swap(a[1],a[2])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a[2]&lt;max(a[2*2],a[2*2+1])?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swap(a[2],a[5])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244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290A30A1-12B8-7546-AA7B-3C750730EC0D}"/>
              </a:ext>
            </a:extLst>
          </p:cNvPr>
          <p:cNvGrpSpPr/>
          <p:nvPr/>
        </p:nvGrpSpPr>
        <p:grpSpPr>
          <a:xfrm>
            <a:off x="820019" y="3249000"/>
            <a:ext cx="8429777" cy="3425344"/>
            <a:chOff x="820019" y="3249000"/>
            <a:chExt cx="8429777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510B524-6D86-A845-99D4-A5B82AA13E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89796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295678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886579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8B046C-02BB-2F46-BC55-7A79E2564F38}"/>
              </a:ext>
            </a:extLst>
          </p:cNvPr>
          <p:cNvSpPr txBox="1"/>
          <p:nvPr/>
        </p:nvSpPr>
        <p:spPr>
          <a:xfrm>
            <a:off x="9186233" y="3664183"/>
            <a:ext cx="2954655" cy="2031325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a[11])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swap(a[1],a[2])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a[2]&lt;max(a[2*2],a[2*2+1])?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swap(a[2],a[5])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70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5" name="Group 4" descr="example dequeue operation">
            <a:extLst>
              <a:ext uri="{FF2B5EF4-FFF2-40B4-BE49-F238E27FC236}">
                <a16:creationId xmlns:a16="http://schemas.microsoft.com/office/drawing/2014/main" id="{0C7ECEB6-B892-6C41-95A8-BB196CE79B88}"/>
              </a:ext>
            </a:extLst>
          </p:cNvPr>
          <p:cNvGrpSpPr/>
          <p:nvPr/>
        </p:nvGrpSpPr>
        <p:grpSpPr>
          <a:xfrm>
            <a:off x="820019" y="3249000"/>
            <a:ext cx="8429777" cy="3425344"/>
            <a:chOff x="820019" y="3249000"/>
            <a:chExt cx="8429777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510B524-6D86-A845-99D4-A5B82AA13E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89796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014164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8B046C-02BB-2F46-BC55-7A79E2564F38}"/>
              </a:ext>
            </a:extLst>
          </p:cNvPr>
          <p:cNvSpPr txBox="1"/>
          <p:nvPr/>
        </p:nvSpPr>
        <p:spPr>
          <a:xfrm>
            <a:off x="9186233" y="3664183"/>
            <a:ext cx="2954655" cy="2585323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a[11])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swap(a[1],a[2])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a[2]&lt;max(a[2*2],a[2*2+1])?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swap(a[2],a[5])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a[5]&lt;max(a[2*5], -)?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N: done</a:t>
            </a:r>
          </a:p>
        </p:txBody>
      </p:sp>
    </p:spTree>
    <p:extLst>
      <p:ext uri="{BB962C8B-B14F-4D97-AF65-F5344CB8AC3E}">
        <p14:creationId xmlns:p14="http://schemas.microsoft.com/office/powerpoint/2010/main" val="1780771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8BDB29A2-EF44-334D-A409-14ADAA7A8623}"/>
              </a:ext>
            </a:extLst>
          </p:cNvPr>
          <p:cNvGrpSpPr/>
          <p:nvPr/>
        </p:nvGrpSpPr>
        <p:grpSpPr>
          <a:xfrm>
            <a:off x="820019" y="3249000"/>
            <a:ext cx="7709207" cy="2553253"/>
            <a:chOff x="820019" y="3249000"/>
            <a:chExt cx="7709207" cy="255325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341518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778730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</p:spTree>
    <p:extLst>
      <p:ext uri="{BB962C8B-B14F-4D97-AF65-F5344CB8AC3E}">
        <p14:creationId xmlns:p14="http://schemas.microsoft.com/office/powerpoint/2010/main" val="321073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F4EFE4D7-69AD-E444-BACB-8F46CB8B279E}"/>
              </a:ext>
            </a:extLst>
          </p:cNvPr>
          <p:cNvGrpSpPr/>
          <p:nvPr/>
        </p:nvGrpSpPr>
        <p:grpSpPr>
          <a:xfrm>
            <a:off x="820019" y="3249000"/>
            <a:ext cx="7709207" cy="2553253"/>
            <a:chOff x="820019" y="3249000"/>
            <a:chExt cx="7709207" cy="255325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5278" y="5442253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E97CC9A-0B2A-5B4C-8DAD-DE762A3FD7DB}"/>
                </a:ext>
              </a:extLst>
            </p:cNvPr>
            <p:cNvCxnSpPr>
              <a:cxnSpLocks/>
              <a:stCxn id="23" idx="0"/>
              <a:endCxn id="43" idx="3"/>
            </p:cNvCxnSpPr>
            <p:nvPr/>
          </p:nvCxnSpPr>
          <p:spPr>
            <a:xfrm flipV="1">
              <a:off x="3465278" y="5043841"/>
              <a:ext cx="657645" cy="3984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698311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47384-FE61-784E-A71E-82CD1CDD2C2D}"/>
              </a:ext>
            </a:extLst>
          </p:cNvPr>
          <p:cNvSpPr txBox="1"/>
          <p:nvPr/>
        </p:nvSpPr>
        <p:spPr>
          <a:xfrm>
            <a:off x="9186233" y="3664183"/>
            <a:ext cx="1903085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a[10])</a:t>
            </a:r>
          </a:p>
        </p:txBody>
      </p:sp>
    </p:spTree>
    <p:extLst>
      <p:ext uri="{BB962C8B-B14F-4D97-AF65-F5344CB8AC3E}">
        <p14:creationId xmlns:p14="http://schemas.microsoft.com/office/powerpoint/2010/main" val="2695579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FE8BC13F-073F-0947-A999-548930754ED8}"/>
              </a:ext>
            </a:extLst>
          </p:cNvPr>
          <p:cNvGrpSpPr/>
          <p:nvPr/>
        </p:nvGrpSpPr>
        <p:grpSpPr>
          <a:xfrm>
            <a:off x="820019" y="3249000"/>
            <a:ext cx="8366214" cy="3425344"/>
            <a:chOff x="820019" y="3249000"/>
            <a:chExt cx="8366214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6233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07388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517762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47384-FE61-784E-A71E-82CD1CDD2C2D}"/>
              </a:ext>
            </a:extLst>
          </p:cNvPr>
          <p:cNvSpPr txBox="1"/>
          <p:nvPr/>
        </p:nvSpPr>
        <p:spPr>
          <a:xfrm>
            <a:off x="9186233" y="3664183"/>
            <a:ext cx="1903085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a[10])</a:t>
            </a:r>
          </a:p>
        </p:txBody>
      </p:sp>
    </p:spTree>
    <p:extLst>
      <p:ext uri="{BB962C8B-B14F-4D97-AF65-F5344CB8AC3E}">
        <p14:creationId xmlns:p14="http://schemas.microsoft.com/office/powerpoint/2010/main" val="2524150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E6BCD4C4-52D7-DC44-B346-5159825822F8}"/>
              </a:ext>
            </a:extLst>
          </p:cNvPr>
          <p:cNvGrpSpPr/>
          <p:nvPr/>
        </p:nvGrpSpPr>
        <p:grpSpPr>
          <a:xfrm>
            <a:off x="820019" y="3249000"/>
            <a:ext cx="8366214" cy="3425344"/>
            <a:chOff x="820019" y="3249000"/>
            <a:chExt cx="8366214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6233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30699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47384-FE61-784E-A71E-82CD1CDD2C2D}"/>
              </a:ext>
            </a:extLst>
          </p:cNvPr>
          <p:cNvSpPr txBox="1"/>
          <p:nvPr/>
        </p:nvSpPr>
        <p:spPr>
          <a:xfrm>
            <a:off x="9186233" y="3664183"/>
            <a:ext cx="2954655" cy="1200329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a[10])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swap(a[1],a[3])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523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111E4144-D1B9-5341-B743-78A79B0C8ADD}"/>
              </a:ext>
            </a:extLst>
          </p:cNvPr>
          <p:cNvGrpSpPr/>
          <p:nvPr/>
        </p:nvGrpSpPr>
        <p:grpSpPr>
          <a:xfrm>
            <a:off x="820019" y="3249000"/>
            <a:ext cx="8366214" cy="3425344"/>
            <a:chOff x="820019" y="3249000"/>
            <a:chExt cx="8366214" cy="3425344"/>
          </a:xfrm>
        </p:grpSpPr>
        <p:sp>
          <p:nvSpPr>
            <p:cNvPr id="26" name="Oval 25" descr="example dequeue operation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7" name="Oval 26" descr="example dequeue operation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8" name="Straight Connector 27" descr="example dequeue operation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 descr="example dequeue operation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 descr="example dequeue operation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 descr="example dequeue operation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 descr="example dequeue operation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6233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4" name="Straight Connector 23" descr="example dequeue operation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 descr="example dequeue operation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 descr="example dequeue operation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 descr="example dequeue operation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 descr="example dequeue operation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 descr="example dequeue operation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 descr="example dequeue operation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 descr="example dequeue operation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016441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33715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47384-FE61-784E-A71E-82CD1CDD2C2D}"/>
              </a:ext>
            </a:extLst>
          </p:cNvPr>
          <p:cNvSpPr txBox="1"/>
          <p:nvPr/>
        </p:nvSpPr>
        <p:spPr>
          <a:xfrm>
            <a:off x="9186233" y="3664183"/>
            <a:ext cx="2954655" cy="1200329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a[10])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swap(a[1],a[3])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8998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69D1D6AE-877E-E940-A3CD-181BF081D06D}"/>
              </a:ext>
            </a:extLst>
          </p:cNvPr>
          <p:cNvGrpSpPr/>
          <p:nvPr/>
        </p:nvGrpSpPr>
        <p:grpSpPr>
          <a:xfrm>
            <a:off x="820019" y="3249000"/>
            <a:ext cx="8366214" cy="3425344"/>
            <a:chOff x="820019" y="3249000"/>
            <a:chExt cx="8366214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6233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964537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47384-FE61-784E-A71E-82CD1CDD2C2D}"/>
              </a:ext>
            </a:extLst>
          </p:cNvPr>
          <p:cNvSpPr txBox="1"/>
          <p:nvPr/>
        </p:nvSpPr>
        <p:spPr>
          <a:xfrm>
            <a:off x="9186233" y="3664183"/>
            <a:ext cx="2954655" cy="230832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a[10])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swap(a[1],a[3])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a[3]&lt;max(a[2*3],a[2*3+1])?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swap(a[3],a[6])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72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dequeue operation">
            <a:extLst>
              <a:ext uri="{FF2B5EF4-FFF2-40B4-BE49-F238E27FC236}">
                <a16:creationId xmlns:a16="http://schemas.microsoft.com/office/drawing/2014/main" id="{9E9009F7-AACF-2747-8A81-2EFE8BBAB99A}"/>
              </a:ext>
            </a:extLst>
          </p:cNvPr>
          <p:cNvGrpSpPr/>
          <p:nvPr/>
        </p:nvGrpSpPr>
        <p:grpSpPr>
          <a:xfrm>
            <a:off x="820019" y="3249000"/>
            <a:ext cx="8366214" cy="3425344"/>
            <a:chOff x="820019" y="3249000"/>
            <a:chExt cx="8366214" cy="3425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6233" y="6314344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877341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727408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23623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47384-FE61-784E-A71E-82CD1CDD2C2D}"/>
              </a:ext>
            </a:extLst>
          </p:cNvPr>
          <p:cNvSpPr txBox="1"/>
          <p:nvPr/>
        </p:nvSpPr>
        <p:spPr>
          <a:xfrm>
            <a:off x="9186233" y="3664183"/>
            <a:ext cx="2954655" cy="230832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swap(a[1], a[10])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a[1]&lt;max(a[2*1],a[2*1+1])?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swap(a[1],a[3])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a[3]&lt;max(a[2*3],a[2*3+1])?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swap(a[3],a[6])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243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enqueue operation">
            <a:extLst>
              <a:ext uri="{FF2B5EF4-FFF2-40B4-BE49-F238E27FC236}">
                <a16:creationId xmlns:a16="http://schemas.microsoft.com/office/drawing/2014/main" id="{523FF92C-7918-E141-9AA5-8FD0B65342D1}"/>
              </a:ext>
            </a:extLst>
          </p:cNvPr>
          <p:cNvGrpSpPr/>
          <p:nvPr/>
        </p:nvGrpSpPr>
        <p:grpSpPr>
          <a:xfrm>
            <a:off x="820019" y="3249000"/>
            <a:ext cx="7709207" cy="2553253"/>
            <a:chOff x="820019" y="3249000"/>
            <a:chExt cx="7709207" cy="255325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389575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129222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enqueue(X)</a:t>
            </a:r>
          </a:p>
        </p:txBody>
      </p:sp>
    </p:spTree>
    <p:extLst>
      <p:ext uri="{BB962C8B-B14F-4D97-AF65-F5344CB8AC3E}">
        <p14:creationId xmlns:p14="http://schemas.microsoft.com/office/powerpoint/2010/main" val="36209945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6" name="Group 5" descr="example enqueue operation">
            <a:extLst>
              <a:ext uri="{FF2B5EF4-FFF2-40B4-BE49-F238E27FC236}">
                <a16:creationId xmlns:a16="http://schemas.microsoft.com/office/drawing/2014/main" id="{19A04AAE-8CA7-E749-8D62-24A7EDFED1AE}"/>
              </a:ext>
            </a:extLst>
          </p:cNvPr>
          <p:cNvGrpSpPr/>
          <p:nvPr/>
        </p:nvGrpSpPr>
        <p:grpSpPr>
          <a:xfrm>
            <a:off x="820019" y="3249000"/>
            <a:ext cx="7709207" cy="2576217"/>
            <a:chOff x="820019" y="3249000"/>
            <a:chExt cx="7709207" cy="257621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7948" y="5465217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810FDE5-CE3C-3A44-B627-41AF8D2BF3F1}"/>
                </a:ext>
              </a:extLst>
            </p:cNvPr>
            <p:cNvCxnSpPr>
              <a:cxnSpLocks/>
              <a:stCxn id="43" idx="3"/>
              <a:endCxn id="23" idx="7"/>
            </p:cNvCxnSpPr>
            <p:nvPr/>
          </p:nvCxnSpPr>
          <p:spPr>
            <a:xfrm flipH="1">
              <a:off x="3475227" y="5043841"/>
              <a:ext cx="647696" cy="47409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31359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88662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enqueue(X)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6357B3-E300-EF4C-97CC-AA97F1054354}"/>
              </a:ext>
            </a:extLst>
          </p:cNvPr>
          <p:cNvSpPr txBox="1"/>
          <p:nvPr/>
        </p:nvSpPr>
        <p:spPr>
          <a:xfrm>
            <a:off x="9210107" y="3599851"/>
            <a:ext cx="1988750" cy="92333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a[10]=X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a[10/2]&lt;a[10]?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</p:txBody>
      </p:sp>
    </p:spTree>
    <p:extLst>
      <p:ext uri="{BB962C8B-B14F-4D97-AF65-F5344CB8AC3E}">
        <p14:creationId xmlns:p14="http://schemas.microsoft.com/office/powerpoint/2010/main" val="2004070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enqueue operation">
            <a:extLst>
              <a:ext uri="{FF2B5EF4-FFF2-40B4-BE49-F238E27FC236}">
                <a16:creationId xmlns:a16="http://schemas.microsoft.com/office/drawing/2014/main" id="{25B09FE5-02FC-6D4B-8E55-5F5A237494AB}"/>
              </a:ext>
            </a:extLst>
          </p:cNvPr>
          <p:cNvGrpSpPr/>
          <p:nvPr/>
        </p:nvGrpSpPr>
        <p:grpSpPr>
          <a:xfrm>
            <a:off x="820019" y="3249000"/>
            <a:ext cx="7709207" cy="2576217"/>
            <a:chOff x="820019" y="3249000"/>
            <a:chExt cx="7709207" cy="257621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7948" y="5465217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810FDE5-CE3C-3A44-B627-41AF8D2BF3F1}"/>
                </a:ext>
              </a:extLst>
            </p:cNvPr>
            <p:cNvCxnSpPr>
              <a:cxnSpLocks/>
              <a:stCxn id="43" idx="3"/>
              <a:endCxn id="23" idx="7"/>
            </p:cNvCxnSpPr>
            <p:nvPr/>
          </p:nvCxnSpPr>
          <p:spPr>
            <a:xfrm flipH="1">
              <a:off x="3475227" y="5043841"/>
              <a:ext cx="647696" cy="47409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87153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18205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enqueue(X)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6357B3-E300-EF4C-97CC-AA97F1054354}"/>
              </a:ext>
            </a:extLst>
          </p:cNvPr>
          <p:cNvSpPr txBox="1"/>
          <p:nvPr/>
        </p:nvSpPr>
        <p:spPr>
          <a:xfrm>
            <a:off x="9210107" y="3599851"/>
            <a:ext cx="1988750" cy="2031325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a[10]=X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a[10/2]&lt;a[10]?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a[5/2]&lt;a[5]?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891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enqueue operation">
            <a:extLst>
              <a:ext uri="{FF2B5EF4-FFF2-40B4-BE49-F238E27FC236}">
                <a16:creationId xmlns:a16="http://schemas.microsoft.com/office/drawing/2014/main" id="{E877087D-8833-7D49-848D-2DF026B07EE5}"/>
              </a:ext>
            </a:extLst>
          </p:cNvPr>
          <p:cNvGrpSpPr/>
          <p:nvPr/>
        </p:nvGrpSpPr>
        <p:grpSpPr>
          <a:xfrm>
            <a:off x="820019" y="3249000"/>
            <a:ext cx="7709207" cy="2576217"/>
            <a:chOff x="820019" y="3249000"/>
            <a:chExt cx="7709207" cy="257621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7948" y="5465217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810FDE5-CE3C-3A44-B627-41AF8D2BF3F1}"/>
                </a:ext>
              </a:extLst>
            </p:cNvPr>
            <p:cNvCxnSpPr>
              <a:cxnSpLocks/>
              <a:stCxn id="43" idx="3"/>
              <a:endCxn id="23" idx="7"/>
            </p:cNvCxnSpPr>
            <p:nvPr/>
          </p:nvCxnSpPr>
          <p:spPr>
            <a:xfrm flipH="1">
              <a:off x="3475227" y="5043841"/>
              <a:ext cx="647696" cy="47409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114723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400482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enqueue(X)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6357B3-E300-EF4C-97CC-AA97F1054354}"/>
              </a:ext>
            </a:extLst>
          </p:cNvPr>
          <p:cNvSpPr txBox="1"/>
          <p:nvPr/>
        </p:nvSpPr>
        <p:spPr>
          <a:xfrm>
            <a:off x="9210107" y="3599851"/>
            <a:ext cx="1988750" cy="286232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a[10]=X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a[10/2]&lt;a[10]?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a[5/2]&lt;a[5]?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a[2/2]&lt;a[2]?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7734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HEAp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add node at end, then swim it up</a:t>
            </a:r>
          </a:p>
          <a:p>
            <a:r>
              <a:rPr lang="en-US" dirty="0">
                <a:highlight>
                  <a:srgbClr val="C0C0C0"/>
                </a:highlight>
              </a:rPr>
              <a:t>Max delete</a:t>
            </a:r>
            <a:r>
              <a:rPr lang="en-US" dirty="0"/>
              <a:t>: swap root with node at end, then sink the root down</a:t>
            </a:r>
          </a:p>
        </p:txBody>
      </p:sp>
      <p:grpSp>
        <p:nvGrpSpPr>
          <p:cNvPr id="4" name="Group 3" descr="example enqueue operation">
            <a:extLst>
              <a:ext uri="{FF2B5EF4-FFF2-40B4-BE49-F238E27FC236}">
                <a16:creationId xmlns:a16="http://schemas.microsoft.com/office/drawing/2014/main" id="{1A231AB3-AE79-0D40-8B3C-AAC35B22971F}"/>
              </a:ext>
            </a:extLst>
          </p:cNvPr>
          <p:cNvGrpSpPr/>
          <p:nvPr/>
        </p:nvGrpSpPr>
        <p:grpSpPr>
          <a:xfrm>
            <a:off x="820019" y="3249000"/>
            <a:ext cx="7709207" cy="2576217"/>
            <a:chOff x="820019" y="3249000"/>
            <a:chExt cx="7709207" cy="257621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C802CF-734F-8443-B6FB-B7A28B49A0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2490" y="3249000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CA4F1B8-A252-714F-91EC-780485E4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1927" y="4035977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F8D750-0A00-E946-B302-A3EE748B8A57}"/>
                </a:ext>
              </a:extLst>
            </p:cNvPr>
            <p:cNvCxnSpPr>
              <a:cxnSpLocks/>
              <a:stCxn id="26" idx="4"/>
              <a:endCxn id="22" idx="7"/>
            </p:cNvCxnSpPr>
            <p:nvPr/>
          </p:nvCxnSpPr>
          <p:spPr>
            <a:xfrm flipH="1">
              <a:off x="3005767" y="3609000"/>
              <a:ext cx="1956723" cy="42697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8216819-D771-1F4B-A4E2-A28422AC94AE}"/>
                </a:ext>
              </a:extLst>
            </p:cNvPr>
            <p:cNvCxnSpPr>
              <a:cxnSpLocks/>
              <a:stCxn id="26" idx="4"/>
              <a:endCxn id="27" idx="1"/>
            </p:cNvCxnSpPr>
            <p:nvPr/>
          </p:nvCxnSpPr>
          <p:spPr>
            <a:xfrm>
              <a:off x="4962490" y="3609000"/>
              <a:ext cx="2112158" cy="4796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B30C45-280F-5A44-95C4-9C17EE2E43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496" y="470310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A4BD80-2CB4-BD45-8833-7D5ED361D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8488" y="3983256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4EC601D-ADBB-4049-A12C-56A65A63C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7948" y="5465217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EFD706-FD4C-3143-B435-F713D8BC00D8}"/>
                </a:ext>
              </a:extLst>
            </p:cNvPr>
            <p:cNvCxnSpPr>
              <a:cxnSpLocks/>
              <a:stCxn id="22" idx="4"/>
              <a:endCxn id="21" idx="0"/>
            </p:cNvCxnSpPr>
            <p:nvPr/>
          </p:nvCxnSpPr>
          <p:spPr>
            <a:xfrm flipH="1">
              <a:off x="1576496" y="4343256"/>
              <a:ext cx="1301992" cy="35985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5F06D6-2A2D-0B4E-B06E-8BDE2123E408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2878488" y="4347115"/>
              <a:ext cx="1244435" cy="44216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8AA010-36E7-3246-808B-F394FB45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9704" y="475360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B9703B-9301-9C48-B0F0-771469677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9226" y="4736562"/>
              <a:ext cx="360000" cy="36000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70953D-4F16-6B40-9B26-0CD7C3CE4BCD}"/>
                </a:ext>
              </a:extLst>
            </p:cNvPr>
            <p:cNvCxnSpPr>
              <a:cxnSpLocks/>
              <a:stCxn id="27" idx="3"/>
              <a:endCxn id="17" idx="0"/>
            </p:cNvCxnSpPr>
            <p:nvPr/>
          </p:nvCxnSpPr>
          <p:spPr>
            <a:xfrm flipH="1">
              <a:off x="6039704" y="4343256"/>
              <a:ext cx="1034944" cy="4103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748671-615B-2140-9D75-1F13F1600214}"/>
                </a:ext>
              </a:extLst>
            </p:cNvPr>
            <p:cNvCxnSpPr>
              <a:cxnSpLocks/>
              <a:stCxn id="27" idx="5"/>
              <a:endCxn id="18" idx="0"/>
            </p:cNvCxnSpPr>
            <p:nvPr/>
          </p:nvCxnSpPr>
          <p:spPr>
            <a:xfrm>
              <a:off x="7329206" y="4343256"/>
              <a:ext cx="1020020" cy="39330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9CBE49A-532F-EF4C-AD27-6DDE963569B3}"/>
                </a:ext>
              </a:extLst>
            </p:cNvPr>
            <p:cNvGrpSpPr/>
            <p:nvPr/>
          </p:nvGrpSpPr>
          <p:grpSpPr>
            <a:xfrm>
              <a:off x="820019" y="5093564"/>
              <a:ext cx="1381830" cy="708689"/>
              <a:chOff x="1039758" y="4233017"/>
              <a:chExt cx="1381830" cy="70868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9E8C5A5-C82F-A646-8972-A765ED16B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119944F-DC11-A344-8F0B-5FE52F28FB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FC926C0-E2B5-5940-8A48-4A0C70602F87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1219758" y="4233017"/>
                <a:ext cx="551698" cy="34868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7EBA0F5-5767-B744-A525-DB08BF5398FD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1771456" y="4233017"/>
                <a:ext cx="470132" cy="340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397EB8-B7CC-5947-8F98-7E13C1D783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0202" y="4736562"/>
              <a:ext cx="360000" cy="36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810FDE5-CE3C-3A44-B627-41AF8D2BF3F1}"/>
                </a:ext>
              </a:extLst>
            </p:cNvPr>
            <p:cNvCxnSpPr>
              <a:cxnSpLocks/>
              <a:stCxn id="43" idx="3"/>
              <a:endCxn id="23" idx="7"/>
            </p:cNvCxnSpPr>
            <p:nvPr/>
          </p:nvCxnSpPr>
          <p:spPr>
            <a:xfrm flipH="1">
              <a:off x="3475227" y="5043841"/>
              <a:ext cx="647696" cy="47409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53" descr="array representation of an 8-node complete binary tree">
            <a:extLst>
              <a:ext uri="{FF2B5EF4-FFF2-40B4-BE49-F238E27FC236}">
                <a16:creationId xmlns:a16="http://schemas.microsoft.com/office/drawing/2014/main" id="{FEC0089A-2110-6844-BECE-0D0DBD42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066220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53" name="Table 52" descr="array representation of an 8-node complete binary tree">
            <a:extLst>
              <a:ext uri="{FF2B5EF4-FFF2-40B4-BE49-F238E27FC236}">
                <a16:creationId xmlns:a16="http://schemas.microsoft.com/office/drawing/2014/main" id="{389931E6-E5E6-F749-A72D-80E7D55F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43015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68CD303-CA9F-314A-B469-04910F20E25F}"/>
              </a:ext>
            </a:extLst>
          </p:cNvPr>
          <p:cNvSpPr txBox="1"/>
          <p:nvPr/>
        </p:nvSpPr>
        <p:spPr>
          <a:xfrm>
            <a:off x="9279363" y="3064334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enqueue(X)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6357B3-E300-EF4C-97CC-AA97F1054354}"/>
              </a:ext>
            </a:extLst>
          </p:cNvPr>
          <p:cNvSpPr txBox="1"/>
          <p:nvPr/>
        </p:nvSpPr>
        <p:spPr>
          <a:xfrm>
            <a:off x="9210107" y="3599851"/>
            <a:ext cx="1988750" cy="286232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a[10]=X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a[10/2]&lt;a[10]?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a[5/2]&lt;a[5]?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a[2/2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]&lt;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a[2]?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Y: swap &amp; swim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417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3628-3B0A-0940-BF1D-EF79A0F2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AA4F9-D056-DD49-B530-879C933F9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recap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r>
              <a:rPr lang="en-US" dirty="0"/>
              <a:t>Implementation cost summary</a:t>
            </a:r>
          </a:p>
        </p:txBody>
      </p:sp>
      <p:graphicFrame>
        <p:nvGraphicFramePr>
          <p:cNvPr id="4" name="Table 3" descr="table showing cost for insert / delete operations with elementary priority queue">
            <a:extLst>
              <a:ext uri="{FF2B5EF4-FFF2-40B4-BE49-F238E27FC236}">
                <a16:creationId xmlns:a16="http://schemas.microsoft.com/office/drawing/2014/main" id="{D5176F21-411C-2B4D-8727-CAC4954EB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637550"/>
              </p:ext>
            </p:extLst>
          </p:nvPr>
        </p:nvGraphicFramePr>
        <p:xfrm>
          <a:off x="505203" y="5000508"/>
          <a:ext cx="7045250" cy="1370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176">
                  <a:extLst>
                    <a:ext uri="{9D8B030D-6E8A-4147-A177-3AD203B41FA5}">
                      <a16:colId xmlns:a16="http://schemas.microsoft.com/office/drawing/2014/main" val="2414961128"/>
                    </a:ext>
                  </a:extLst>
                </a:gridCol>
                <a:gridCol w="1081694">
                  <a:extLst>
                    <a:ext uri="{9D8B030D-6E8A-4147-A177-3AD203B41FA5}">
                      <a16:colId xmlns:a16="http://schemas.microsoft.com/office/drawing/2014/main" val="3784547142"/>
                    </a:ext>
                  </a:extLst>
                </a:gridCol>
                <a:gridCol w="1900979">
                  <a:extLst>
                    <a:ext uri="{9D8B030D-6E8A-4147-A177-3AD203B41FA5}">
                      <a16:colId xmlns:a16="http://schemas.microsoft.com/office/drawing/2014/main" val="1313282514"/>
                    </a:ext>
                  </a:extLst>
                </a:gridCol>
                <a:gridCol w="2051401">
                  <a:extLst>
                    <a:ext uri="{9D8B030D-6E8A-4147-A177-3AD203B41FA5}">
                      <a16:colId xmlns:a16="http://schemas.microsoft.com/office/drawing/2014/main" val="127550468"/>
                    </a:ext>
                  </a:extLst>
                </a:gridCol>
              </a:tblGrid>
              <a:tr h="34258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max(min)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max(min)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0363"/>
                  </a:ext>
                </a:extLst>
              </a:tr>
              <a:tr h="34258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Unordered 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99739"/>
                  </a:ext>
                </a:extLst>
              </a:tr>
              <a:tr h="34258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Ordered 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791628"/>
                  </a:ext>
                </a:extLst>
              </a:tr>
              <a:tr h="34258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Heap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6607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E54179-CB6C-0B44-BDFE-B65339F1F4FA}"/>
              </a:ext>
            </a:extLst>
          </p:cNvPr>
          <p:cNvSpPr txBox="1"/>
          <p:nvPr/>
        </p:nvSpPr>
        <p:spPr>
          <a:xfrm>
            <a:off x="7550453" y="1687611"/>
            <a:ext cx="3621504" cy="310854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highlight>
                  <a:srgbClr val="C0C0C0"/>
                </a:highlight>
                <a:latin typeface="Courier" pitchFamily="2" charset="0"/>
              </a:rPr>
              <a:t>dequeue():</a:t>
            </a:r>
          </a:p>
          <a:p>
            <a:r>
              <a:rPr lang="en-GB" sz="1400" dirty="0">
                <a:latin typeface="Courier" pitchFamily="2" charset="0"/>
              </a:rPr>
              <a:t>max=a[1];</a:t>
            </a:r>
          </a:p>
          <a:p>
            <a:r>
              <a:rPr lang="en-GB" sz="1400" dirty="0">
                <a:latin typeface="Courier" pitchFamily="2" charset="0"/>
              </a:rPr>
              <a:t>swap(a[1], a[N]);</a:t>
            </a:r>
          </a:p>
          <a:p>
            <a:r>
              <a:rPr lang="en-GB" sz="1400" dirty="0">
                <a:latin typeface="Courier" pitchFamily="2" charset="0"/>
              </a:rPr>
              <a:t>a[N--]=null;</a:t>
            </a:r>
          </a:p>
          <a:p>
            <a:r>
              <a:rPr lang="en-GB" sz="1400" dirty="0">
                <a:latin typeface="Courier" pitchFamily="2" charset="0"/>
              </a:rPr>
              <a:t>sink(1);</a:t>
            </a:r>
          </a:p>
          <a:p>
            <a:r>
              <a:rPr lang="en-GB" sz="1400" dirty="0">
                <a:latin typeface="Courier" pitchFamily="2" charset="0"/>
              </a:rPr>
              <a:t>return max;</a:t>
            </a:r>
          </a:p>
          <a:p>
            <a:endParaRPr lang="en-GB" sz="1400" dirty="0">
              <a:latin typeface="Courier" pitchFamily="2" charset="0"/>
            </a:endParaRPr>
          </a:p>
          <a:p>
            <a:r>
              <a:rPr lang="en-GB" sz="1400" dirty="0">
                <a:highlight>
                  <a:srgbClr val="C0C0C0"/>
                </a:highlight>
                <a:latin typeface="Courier" pitchFamily="2" charset="0"/>
              </a:rPr>
              <a:t>sink(</a:t>
            </a:r>
            <a:r>
              <a:rPr lang="en-GB" sz="1400" dirty="0" err="1">
                <a:highlight>
                  <a:srgbClr val="C0C0C0"/>
                </a:highlight>
                <a:latin typeface="Courier" pitchFamily="2" charset="0"/>
              </a:rPr>
              <a:t>i</a:t>
            </a:r>
            <a:r>
              <a:rPr lang="en-GB" sz="1400" dirty="0">
                <a:highlight>
                  <a:srgbClr val="C0C0C0"/>
                </a:highlight>
                <a:latin typeface="Courier" pitchFamily="2" charset="0"/>
              </a:rPr>
              <a:t>):</a:t>
            </a:r>
          </a:p>
          <a:p>
            <a:r>
              <a:rPr lang="en-GB" sz="1400" dirty="0">
                <a:latin typeface="Courier" pitchFamily="2" charset="0"/>
              </a:rPr>
              <a:t>while (2*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 &lt;= N)</a:t>
            </a:r>
          </a:p>
          <a:p>
            <a:r>
              <a:rPr lang="en-GB" sz="1400" dirty="0">
                <a:latin typeface="Courier" pitchFamily="2" charset="0"/>
              </a:rPr>
              <a:t>    j = 2*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;</a:t>
            </a:r>
          </a:p>
          <a:p>
            <a:r>
              <a:rPr lang="en-GB" sz="1400" dirty="0">
                <a:latin typeface="Courier" pitchFamily="2" charset="0"/>
              </a:rPr>
              <a:t>    if (j&lt;N &amp;&amp; a[j]&lt;a[j+1]) </a:t>
            </a:r>
            <a:r>
              <a:rPr lang="en-GB" sz="1400" dirty="0" err="1">
                <a:latin typeface="Courier" pitchFamily="2" charset="0"/>
              </a:rPr>
              <a:t>j++</a:t>
            </a:r>
            <a:r>
              <a:rPr lang="en-GB" sz="1400" dirty="0">
                <a:latin typeface="Courier" pitchFamily="2" charset="0"/>
              </a:rPr>
              <a:t>;</a:t>
            </a:r>
          </a:p>
          <a:p>
            <a:r>
              <a:rPr lang="en-GB" sz="1400" dirty="0">
                <a:latin typeface="Courier" pitchFamily="2" charset="0"/>
              </a:rPr>
              <a:t>    if (a[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]&gt;=a[j]) break;</a:t>
            </a:r>
          </a:p>
          <a:p>
            <a:r>
              <a:rPr lang="en-GB" sz="1400" dirty="0">
                <a:latin typeface="Courier" pitchFamily="2" charset="0"/>
              </a:rPr>
              <a:t>    swap(a[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], a[j]);</a:t>
            </a:r>
          </a:p>
          <a:p>
            <a:r>
              <a:rPr lang="en-GB" sz="1400" dirty="0">
                <a:latin typeface="Courier" pitchFamily="2" charset="0"/>
              </a:rPr>
              <a:t>    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 = j;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64102D-AD8A-AD43-8DF2-28A1A55B0AA4}"/>
              </a:ext>
            </a:extLst>
          </p:cNvPr>
          <p:cNvSpPr txBox="1"/>
          <p:nvPr/>
        </p:nvSpPr>
        <p:spPr>
          <a:xfrm>
            <a:off x="3853378" y="1687611"/>
            <a:ext cx="3191899" cy="181588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>
                <a:highlight>
                  <a:srgbClr val="C0C0C0"/>
                </a:highlight>
                <a:latin typeface="Courier" pitchFamily="2" charset="0"/>
              </a:rPr>
              <a:t>enqueue(key):</a:t>
            </a:r>
          </a:p>
          <a:p>
            <a:r>
              <a:rPr lang="en-GB" sz="1400" dirty="0">
                <a:latin typeface="Courier" pitchFamily="2" charset="0"/>
              </a:rPr>
              <a:t>a[++N]=key;</a:t>
            </a:r>
          </a:p>
          <a:p>
            <a:r>
              <a:rPr lang="en-GB" sz="1400" dirty="0">
                <a:latin typeface="Courier" pitchFamily="2" charset="0"/>
              </a:rPr>
              <a:t>swim(N);</a:t>
            </a:r>
          </a:p>
          <a:p>
            <a:endParaRPr lang="en-GB" sz="1400" dirty="0">
              <a:latin typeface="Courier" pitchFamily="2" charset="0"/>
            </a:endParaRPr>
          </a:p>
          <a:p>
            <a:r>
              <a:rPr lang="en-GB" sz="1400" dirty="0">
                <a:highlight>
                  <a:srgbClr val="C0C0C0"/>
                </a:highlight>
                <a:latin typeface="Courier" pitchFamily="2" charset="0"/>
              </a:rPr>
              <a:t>swim(</a:t>
            </a:r>
            <a:r>
              <a:rPr lang="en-GB" sz="1400" dirty="0" err="1">
                <a:highlight>
                  <a:srgbClr val="C0C0C0"/>
                </a:highlight>
                <a:latin typeface="Courier" pitchFamily="2" charset="0"/>
              </a:rPr>
              <a:t>i</a:t>
            </a:r>
            <a:r>
              <a:rPr lang="en-GB" sz="1400" dirty="0">
                <a:highlight>
                  <a:srgbClr val="C0C0C0"/>
                </a:highlight>
                <a:latin typeface="Courier" pitchFamily="2" charset="0"/>
              </a:rPr>
              <a:t>):</a:t>
            </a:r>
          </a:p>
          <a:p>
            <a:r>
              <a:rPr lang="en-GB" sz="1400" dirty="0">
                <a:latin typeface="Courier" pitchFamily="2" charset="0"/>
              </a:rPr>
              <a:t>while (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 &gt; 1 &amp;&amp; a[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/2]&lt;a[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])</a:t>
            </a:r>
          </a:p>
          <a:p>
            <a:r>
              <a:rPr lang="en-GB" sz="1400" dirty="0">
                <a:latin typeface="Courier" pitchFamily="2" charset="0"/>
              </a:rPr>
              <a:t>	swap(a[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], a[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/2]);</a:t>
            </a:r>
          </a:p>
          <a:p>
            <a:r>
              <a:rPr lang="en-GB" sz="1400" dirty="0">
                <a:latin typeface="Courier" pitchFamily="2" charset="0"/>
              </a:rPr>
              <a:t>	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 = </a:t>
            </a:r>
            <a:r>
              <a:rPr lang="en-GB" sz="1400" dirty="0" err="1">
                <a:latin typeface="Courier" pitchFamily="2" charset="0"/>
              </a:rPr>
              <a:t>i</a:t>
            </a:r>
            <a:r>
              <a:rPr lang="en-GB" sz="1400" dirty="0">
                <a:latin typeface="Courier" pitchFamily="2" charset="0"/>
              </a:rPr>
              <a:t>/2;</a:t>
            </a:r>
          </a:p>
        </p:txBody>
      </p:sp>
    </p:spTree>
    <p:extLst>
      <p:ext uri="{BB962C8B-B14F-4D97-AF65-F5344CB8AC3E}">
        <p14:creationId xmlns:p14="http://schemas.microsoft.com/office/powerpoint/2010/main" val="332993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  <a:p>
            <a:pPr lvl="1"/>
            <a:r>
              <a:rPr lang="en-US" dirty="0"/>
              <a:t>Create a max-heap ordered array with all </a:t>
            </a:r>
            <a:r>
              <a:rPr lang="en-US" i="1" dirty="0"/>
              <a:t>N</a:t>
            </a:r>
            <a:r>
              <a:rPr lang="en-US" dirty="0"/>
              <a:t> keys</a:t>
            </a:r>
          </a:p>
          <a:p>
            <a:pPr lvl="1"/>
            <a:r>
              <a:rPr lang="en-US" dirty="0"/>
              <a:t>Repeatedly remove the maximum key remaining</a:t>
            </a:r>
          </a:p>
        </p:txBody>
      </p:sp>
      <p:grpSp>
        <p:nvGrpSpPr>
          <p:cNvPr id="7" name="Group 6" descr="heapsort is an in-place algorithm">
            <a:extLst>
              <a:ext uri="{FF2B5EF4-FFF2-40B4-BE49-F238E27FC236}">
                <a16:creationId xmlns:a16="http://schemas.microsoft.com/office/drawing/2014/main" id="{68B23991-9F07-A745-8BD7-CFD1F2F3A7DC}"/>
              </a:ext>
            </a:extLst>
          </p:cNvPr>
          <p:cNvGrpSpPr/>
          <p:nvPr/>
        </p:nvGrpSpPr>
        <p:grpSpPr>
          <a:xfrm>
            <a:off x="7622911" y="2053513"/>
            <a:ext cx="1610530" cy="772160"/>
            <a:chOff x="7559040" y="2438400"/>
            <a:chExt cx="1610530" cy="7721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ECEBFA-9F20-8247-981D-16B67A037D3B}"/>
                </a:ext>
              </a:extLst>
            </p:cNvPr>
            <p:cNvSpPr txBox="1"/>
            <p:nvPr/>
          </p:nvSpPr>
          <p:spPr>
            <a:xfrm>
              <a:off x="7904480" y="2593647"/>
              <a:ext cx="12650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in-place</a:t>
              </a:r>
            </a:p>
          </p:txBody>
        </p: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96A2B952-CC03-7E44-B714-2667E7CA0E43}"/>
                </a:ext>
              </a:extLst>
            </p:cNvPr>
            <p:cNvSpPr/>
            <p:nvPr/>
          </p:nvSpPr>
          <p:spPr>
            <a:xfrm>
              <a:off x="7559040" y="2438400"/>
              <a:ext cx="386080" cy="772160"/>
            </a:xfrm>
            <a:prstGeom prst="rightBrac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3" name="Group 142" descr="picture showing unsorted array to begin with">
            <a:extLst>
              <a:ext uri="{FF2B5EF4-FFF2-40B4-BE49-F238E27FC236}">
                <a16:creationId xmlns:a16="http://schemas.microsoft.com/office/drawing/2014/main" id="{8816FFD6-2872-BB43-BD05-FCD706BAFCE8}"/>
              </a:ext>
            </a:extLst>
          </p:cNvPr>
          <p:cNvGrpSpPr/>
          <p:nvPr/>
        </p:nvGrpSpPr>
        <p:grpSpPr>
          <a:xfrm>
            <a:off x="-5493" y="3594712"/>
            <a:ext cx="3920467" cy="3124257"/>
            <a:chOff x="197707" y="3594712"/>
            <a:chExt cx="3920467" cy="312425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5604BD-A3AC-3549-AB38-19F5947BBD24}"/>
                </a:ext>
              </a:extLst>
            </p:cNvPr>
            <p:cNvSpPr txBox="1"/>
            <p:nvPr/>
          </p:nvSpPr>
          <p:spPr>
            <a:xfrm>
              <a:off x="624910" y="3594712"/>
              <a:ext cx="3493264" cy="369332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Start with array in arbitrary order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DEBC5D4-ABB0-B64E-9BAF-805714814C0D}"/>
                </a:ext>
              </a:extLst>
            </p:cNvPr>
            <p:cNvGrpSpPr/>
            <p:nvPr/>
          </p:nvGrpSpPr>
          <p:grpSpPr>
            <a:xfrm>
              <a:off x="197707" y="4200176"/>
              <a:ext cx="3862706" cy="2518793"/>
              <a:chOff x="197707" y="4057936"/>
              <a:chExt cx="3862706" cy="251879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BD0FDD1-8265-4D42-82C9-9B181EF032A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556D193C-928C-5B4E-B829-7D2D47220E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BD610E7E-500E-6843-9047-D368BC4878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4A97F80-E124-0B48-954F-B2BCCFBBD7B3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57F637CF-95A7-ED47-9028-95278E45BC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CDD8AE27-3E52-D146-BFFD-AC1860CA41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BE4DED39-0143-B04C-9572-7D530BD43B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DEA0AFB-E57F-B844-A52D-2F6DCFD1152F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1A9F9D5B-579D-184B-98E5-E4AD5CC9217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4061D249-1218-084C-8322-44218CFA82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245D300-D940-4246-BB1B-1BC3816F39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8A1471-8A27-E749-A127-33A7EC824620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D9D74D-3BB6-9F48-900E-41259FDB40E3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99B7B8-5E24-ED4C-929C-391ACEA209E8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B02EB0-CB54-5B41-957D-51F400F56C53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D99606-431A-2F42-99C9-BF8C595E9022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672D51-3E2D-F64D-B8B5-224720135468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1C78AA-69CF-E142-B02E-E902B8ABBF66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C6A4D3-41A9-8D49-B698-1749C31CF567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D5D837E-9503-454E-B3F6-7DE321BEF0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B98C4D-E7F6-784D-8623-A96A075C736B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D5AC8EB-D785-124F-A806-68D7A3F7F201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D1F9A448-38EE-7F46-A920-4A90CA7E50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00E191EC-C1F4-224D-9820-B7663BE57D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21B2940-FE60-664D-9FCD-677CAB8CAA10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E0F942E-612A-DC4D-B9D6-B28207DA659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</p:grpSp>
      <p:grpSp>
        <p:nvGrpSpPr>
          <p:cNvPr id="144" name="Group 143" descr="picture showing construction of heap-sorted array">
            <a:extLst>
              <a:ext uri="{FF2B5EF4-FFF2-40B4-BE49-F238E27FC236}">
                <a16:creationId xmlns:a16="http://schemas.microsoft.com/office/drawing/2014/main" id="{17E465D9-74FF-544A-BCEF-BF2A848CC3D9}"/>
              </a:ext>
            </a:extLst>
          </p:cNvPr>
          <p:cNvGrpSpPr/>
          <p:nvPr/>
        </p:nvGrpSpPr>
        <p:grpSpPr>
          <a:xfrm>
            <a:off x="4129370" y="3599327"/>
            <a:ext cx="3862706" cy="3123339"/>
            <a:chOff x="4271610" y="3599327"/>
            <a:chExt cx="3862706" cy="3123339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614C4A9-90EF-7940-B24F-D73E239085A9}"/>
                </a:ext>
              </a:extLst>
            </p:cNvPr>
            <p:cNvGrpSpPr/>
            <p:nvPr/>
          </p:nvGrpSpPr>
          <p:grpSpPr>
            <a:xfrm>
              <a:off x="4271610" y="4203873"/>
              <a:ext cx="3862706" cy="2518793"/>
              <a:chOff x="197707" y="4057936"/>
              <a:chExt cx="3862706" cy="2518793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EA2E69A0-E0EA-E948-9FB4-21DE93598B24}"/>
                  </a:ext>
                </a:extLst>
              </p:cNvPr>
              <p:cNvGrpSpPr/>
              <p:nvPr/>
            </p:nvGrpSpPr>
            <p:grpSpPr>
              <a:xfrm>
                <a:off x="1680867" y="4075372"/>
                <a:ext cx="1591570" cy="1060585"/>
                <a:chOff x="1069858" y="3873017"/>
                <a:chExt cx="1591570" cy="1060585"/>
              </a:xfrm>
            </p:grpSpPr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0FC6FA1D-3BB3-FB45-BDB6-AB7088CCCC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9C025E58-8C87-314A-BE4E-3DC7B42A3C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817B8D9A-C1A3-9548-98B2-D0D593BCA3C6}"/>
                    </a:ext>
                  </a:extLst>
                </p:cNvPr>
                <p:cNvCxnSpPr>
                  <a:cxnSpLocks/>
                  <a:stCxn id="99" idx="4"/>
                </p:cNvCxnSpPr>
                <p:nvPr/>
              </p:nvCxnSpPr>
              <p:spPr>
                <a:xfrm flipH="1">
                  <a:off x="1069858" y="4233017"/>
                  <a:ext cx="7015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9F40F682-B389-EC4A-9149-7890F30B688F}"/>
                    </a:ext>
                  </a:extLst>
                </p:cNvPr>
                <p:cNvCxnSpPr>
                  <a:cxnSpLocks/>
                  <a:stCxn id="99" idx="4"/>
                  <a:endCxn id="100" idx="0"/>
                </p:cNvCxnSpPr>
                <p:nvPr/>
              </p:nvCxnSpPr>
              <p:spPr>
                <a:xfrm>
                  <a:off x="1771456" y="4233017"/>
                  <a:ext cx="70997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40C05E9-2CB9-9A40-92E3-617364DF14DE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06734BFD-9349-C541-886E-5FD6C66473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B9BD67C5-BCD7-8346-8951-DB614FCCD0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B8BD7F23-3748-624A-B736-C6EAB5590E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A0089A87-8A4C-5B4A-B863-F522D161BF6C}"/>
                    </a:ext>
                  </a:extLst>
                </p:cNvPr>
                <p:cNvCxnSpPr>
                  <a:cxnSpLocks/>
                  <a:stCxn id="95" idx="4"/>
                  <a:endCxn id="94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CB9CA1C3-8B85-A945-B242-08577139F668}"/>
                    </a:ext>
                  </a:extLst>
                </p:cNvPr>
                <p:cNvCxnSpPr>
                  <a:cxnSpLocks/>
                  <a:stCxn id="95" idx="4"/>
                  <a:endCxn id="96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4845917-42A6-A941-882C-BF698DC61981}"/>
                  </a:ext>
                </a:extLst>
              </p:cNvPr>
              <p:cNvGrpSpPr/>
              <p:nvPr/>
            </p:nvGrpSpPr>
            <p:grpSpPr>
              <a:xfrm>
                <a:off x="2371542" y="5130555"/>
                <a:ext cx="1381830" cy="708689"/>
                <a:chOff x="1039758" y="4233017"/>
                <a:chExt cx="1381830" cy="708689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9116CC23-ABC0-FB4E-ACE8-635B280DB9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FF95C0E5-AB18-DA49-83E9-6EB31F109F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F5294E1A-BDAE-1C4D-AF29-4519C1CF3FAE}"/>
                    </a:ext>
                  </a:extLst>
                </p:cNvPr>
                <p:cNvCxnSpPr>
                  <a:cxnSpLocks/>
                  <a:endCxn id="90" idx="0"/>
                </p:cNvCxnSpPr>
                <p:nvPr/>
              </p:nvCxnSpPr>
              <p:spPr>
                <a:xfrm flipH="1">
                  <a:off x="1219758" y="4233017"/>
                  <a:ext cx="551698" cy="34868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AC605F9A-036D-3542-B5B3-67961E74413F}"/>
                    </a:ext>
                  </a:extLst>
                </p:cNvPr>
                <p:cNvCxnSpPr>
                  <a:cxnSpLocks/>
                  <a:endCxn id="91" idx="0"/>
                </p:cNvCxnSpPr>
                <p:nvPr/>
              </p:nvCxnSpPr>
              <p:spPr>
                <a:xfrm>
                  <a:off x="1771456" y="4233017"/>
                  <a:ext cx="470132" cy="34058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DF45D362-F565-7346-8831-5E64AE2999C0}"/>
                  </a:ext>
                </a:extLst>
              </p:cNvPr>
              <p:cNvGrpSpPr/>
              <p:nvPr/>
            </p:nvGrpSpPr>
            <p:grpSpPr>
              <a:xfrm>
                <a:off x="330613" y="5800029"/>
                <a:ext cx="607130" cy="761409"/>
                <a:chOff x="1039758" y="4180297"/>
                <a:chExt cx="607130" cy="761409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D6F4701E-1A1D-0246-8ED3-E7BBAAF7096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DE4617AE-C350-224F-A9C2-64F57A09DAB7}"/>
                    </a:ext>
                  </a:extLst>
                </p:cNvPr>
                <p:cNvCxnSpPr>
                  <a:cxnSpLocks/>
                  <a:stCxn id="94" idx="3"/>
                  <a:endCxn id="88" idx="0"/>
                </p:cNvCxnSpPr>
                <p:nvPr/>
              </p:nvCxnSpPr>
              <p:spPr>
                <a:xfrm flipH="1">
                  <a:off x="1219758" y="4180297"/>
                  <a:ext cx="427130" cy="40140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861DDEE-6F32-0F4B-86E3-4E50EA549B38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9B6FB87-C775-CB46-9B2A-A46AB10C55EC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81D372F-8888-3A47-9F19-6DB04DA7425C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8D8CDF9-1327-7B40-ADB8-60B4FC26AA45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2766BDD-5E5C-2645-9D51-F7D9717DFC17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081A27C-92FA-6D46-A1B2-ABFCA9E6BE5B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7C858B1-C224-604D-BADC-47627109F6B7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E70C5F2-1BFB-BB49-B506-DFE63A483CC0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CD86F38-8A84-D940-92F0-613BB8E06E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B57E491-FC76-3241-84EA-C75C3B3B3C33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D7D8601-5624-1546-AA6F-96C1C40266A1}"/>
                  </a:ext>
                </a:extLst>
              </p:cNvPr>
              <p:cNvCxnSpPr>
                <a:cxnSpLocks/>
                <a:stCxn id="94" idx="4"/>
                <a:endCxn id="78" idx="0"/>
              </p:cNvCxnSpPr>
              <p:nvPr/>
            </p:nvCxnSpPr>
            <p:spPr>
              <a:xfrm>
                <a:off x="1065022" y="5852750"/>
                <a:ext cx="191698" cy="36062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3355596E-7864-444B-B67A-A97BA2625204}"/>
                  </a:ext>
                </a:extLst>
              </p:cNvPr>
              <p:cNvGrpSpPr/>
              <p:nvPr/>
            </p:nvGrpSpPr>
            <p:grpSpPr>
              <a:xfrm>
                <a:off x="1573997" y="5870626"/>
                <a:ext cx="1076912" cy="706103"/>
                <a:chOff x="1039758" y="4246133"/>
                <a:chExt cx="1076912" cy="706103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CFEF7E63-5498-7041-A095-F681FB6647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0FE162FF-80A8-F34A-BE15-37F1732AE17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FD368A25-81A5-354A-B5F6-F775267F35D0}"/>
                    </a:ext>
                  </a:extLst>
                </p:cNvPr>
                <p:cNvCxnSpPr>
                  <a:cxnSpLocks/>
                  <a:endCxn id="84" idx="0"/>
                </p:cNvCxnSpPr>
                <p:nvPr/>
              </p:nvCxnSpPr>
              <p:spPr>
                <a:xfrm flipH="1">
                  <a:off x="1219758" y="4246133"/>
                  <a:ext cx="348810" cy="33557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AB711784-64E7-FA47-92F4-ABF16BBF8B85}"/>
                    </a:ext>
                  </a:extLst>
                </p:cNvPr>
                <p:cNvCxnSpPr>
                  <a:cxnSpLocks/>
                  <a:endCxn id="85" idx="0"/>
                </p:cNvCxnSpPr>
                <p:nvPr/>
              </p:nvCxnSpPr>
              <p:spPr>
                <a:xfrm>
                  <a:off x="1575038" y="4293369"/>
                  <a:ext cx="361632" cy="29886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7426EB7-B609-B342-84D3-F064B4C2F02F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8D033E-1651-3746-80C1-3D41FC05E4C9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535BA90-ECAD-554D-85D2-1391B9792B0B}"/>
                </a:ext>
              </a:extLst>
            </p:cNvPr>
            <p:cNvSpPr txBox="1"/>
            <p:nvPr/>
          </p:nvSpPr>
          <p:spPr>
            <a:xfrm>
              <a:off x="5264557" y="3599327"/>
              <a:ext cx="2133918" cy="369332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Heap-sort in place</a:t>
              </a:r>
            </a:p>
          </p:txBody>
        </p:sp>
      </p:grpSp>
      <p:grpSp>
        <p:nvGrpSpPr>
          <p:cNvPr id="145" name="Group 144" descr="picture showing final sorted array">
            <a:extLst>
              <a:ext uri="{FF2B5EF4-FFF2-40B4-BE49-F238E27FC236}">
                <a16:creationId xmlns:a16="http://schemas.microsoft.com/office/drawing/2014/main" id="{CB8DEE2D-306D-CD42-A1C4-98B4E24F8E33}"/>
              </a:ext>
            </a:extLst>
          </p:cNvPr>
          <p:cNvGrpSpPr/>
          <p:nvPr/>
        </p:nvGrpSpPr>
        <p:grpSpPr>
          <a:xfrm>
            <a:off x="8366126" y="3589795"/>
            <a:ext cx="3862706" cy="3140741"/>
            <a:chOff x="8366126" y="3589795"/>
            <a:chExt cx="3862706" cy="3140741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5207096-491B-BA4A-8D6C-5196A7437D3B}"/>
                </a:ext>
              </a:extLst>
            </p:cNvPr>
            <p:cNvGrpSpPr/>
            <p:nvPr/>
          </p:nvGrpSpPr>
          <p:grpSpPr>
            <a:xfrm>
              <a:off x="8366126" y="4211743"/>
              <a:ext cx="3862706" cy="2518793"/>
              <a:chOff x="197707" y="4057936"/>
              <a:chExt cx="3862706" cy="2518793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50153894-250B-9B42-8683-E86B6D97C440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2518DB10-3E90-7D45-9EFB-826920C0A9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BE65A77C-A9AC-B442-AE22-916694F568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7D086206-EC39-9849-B9E8-CBBAB5EBF53B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F89D85C-3907-2A42-B0DD-64589DE893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29A05BF6-CE8A-D54D-A406-E33446547B5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7C4B7861-7A25-1546-A7D6-6B958C016E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41F2668-0D83-A741-BD90-866E27DDDF74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ED46298C-0F8A-9945-8058-72EE33B141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B4257AE0-1B21-F648-973E-C8362D6933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</p:grp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DAE634-B32E-EF49-8F0F-C3ACBC42147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D714854-E0A5-2742-BE40-8D713A1E118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AB27C88-9234-A646-A025-216C70BE581F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4AC4A3EA-AB99-7840-926F-C9B0EF0C2D21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D3BE441-2C00-B74F-8A30-D94C4BEA390A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84177A8-51E1-6243-8699-FC6F87383E0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9A1337D-BF45-504C-A55D-DCC04D9DCC8E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FD7A99D-1BEA-9041-A57D-6E3A3A7B873C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C474C0C-4852-9941-B193-19C642464710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89019784-6418-BF4A-8D56-AACF2F78F5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B5EDDC0-FE14-DE45-B126-E9BEC3488BD2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6967F950-3BEB-8B4C-8FBC-8AD144A2F9E6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CF7C1A70-537A-9746-9B3B-2BFFC9DFBD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3DC0A809-C347-3D4C-90C4-F838973630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693EF91-6E25-6345-BB3B-14BC19A755F7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2956EE9-221C-E248-8CA3-99EDBEBE1DB5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63B8587-85DB-2F47-B1D8-25C976A25743}"/>
                </a:ext>
              </a:extLst>
            </p:cNvPr>
            <p:cNvSpPr txBox="1"/>
            <p:nvPr/>
          </p:nvSpPr>
          <p:spPr>
            <a:xfrm>
              <a:off x="9461276" y="3589795"/>
              <a:ext cx="1556836" cy="369332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Sorted result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0936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" name="Group 3" descr="picture showing unsorted array to begin with">
            <a:extLst>
              <a:ext uri="{FF2B5EF4-FFF2-40B4-BE49-F238E27FC236}">
                <a16:creationId xmlns:a16="http://schemas.microsoft.com/office/drawing/2014/main" id="{B9E25EDA-4208-CB4B-816B-B58DD046AA80}"/>
              </a:ext>
            </a:extLst>
          </p:cNvPr>
          <p:cNvGrpSpPr/>
          <p:nvPr/>
        </p:nvGrpSpPr>
        <p:grpSpPr>
          <a:xfrm>
            <a:off x="730938" y="2292512"/>
            <a:ext cx="3920467" cy="3124257"/>
            <a:chOff x="197707" y="3594712"/>
            <a:chExt cx="3920467" cy="31242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32D8CB4-94F6-C143-B1C0-5463907F8E3F}"/>
                </a:ext>
              </a:extLst>
            </p:cNvPr>
            <p:cNvSpPr txBox="1"/>
            <p:nvPr/>
          </p:nvSpPr>
          <p:spPr>
            <a:xfrm>
              <a:off x="624910" y="3594712"/>
              <a:ext cx="3493264" cy="369332"/>
            </a:xfrm>
            <a:prstGeom prst="rect">
              <a:avLst/>
            </a:prstGeom>
            <a:noFill/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Start with array in arbitrary order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197707" y="42001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049877"/>
              </p:ext>
            </p:extLst>
          </p:nvPr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81181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58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34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6668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509813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180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5235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0714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970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434484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0550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898529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2638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4039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4265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2594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39878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9556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8690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7676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heap construction (bottom up)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91155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8756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614715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6785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B0C2851-4C1E-A548-843D-9F768E7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42010" y="4721093"/>
              <a:ext cx="369524" cy="3395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2174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3822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3775" y="2543460"/>
            <a:ext cx="657912" cy="676358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534292" y="5576846"/>
            <a:ext cx="595165" cy="67470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846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875629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3775" y="2543460"/>
            <a:ext cx="657912" cy="676358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534292" y="5576846"/>
            <a:ext cx="595165" cy="67470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062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1828473-1F62-864A-839B-C18C66B0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475" y="4673126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37134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3775" y="2543460"/>
            <a:ext cx="657912" cy="676358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534292" y="5576846"/>
            <a:ext cx="595165" cy="67470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364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68178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465684" y="2861551"/>
            <a:ext cx="627089" cy="6096581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200790" y="5243345"/>
            <a:ext cx="595165" cy="134170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885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18808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465684" y="2861551"/>
            <a:ext cx="627089" cy="6096581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200790" y="5243345"/>
            <a:ext cx="595165" cy="134170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034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280235-B8DF-E64B-8CEE-0F9BF98994D9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47" y="4696651"/>
              <a:ext cx="191698" cy="36062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878443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465684" y="2861551"/>
            <a:ext cx="627089" cy="6096581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200790" y="5243345"/>
            <a:ext cx="595165" cy="134170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548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39870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99924" y="3227311"/>
            <a:ext cx="627089" cy="536506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35030" y="4877586"/>
            <a:ext cx="595165" cy="207322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83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08061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99924" y="3227311"/>
            <a:ext cx="627089" cy="536506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35030" y="4877586"/>
            <a:ext cx="595165" cy="207322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53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4889F99-0108-7148-928F-889FF0B0A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238" y="4643930"/>
              <a:ext cx="427130" cy="4014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44828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99924" y="3227311"/>
            <a:ext cx="627089" cy="536506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35030" y="4877586"/>
            <a:ext cx="595165" cy="207322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317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54868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74804" y="3552432"/>
            <a:ext cx="627090" cy="471482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509910" y="4552467"/>
            <a:ext cx="595165" cy="272346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747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12100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74804" y="3552432"/>
            <a:ext cx="627090" cy="471482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509910" y="4552467"/>
            <a:ext cx="595165" cy="272346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525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51830A-514D-094E-8ADB-08F8CDC5F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43865" y="3974456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56140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74804" y="3552432"/>
            <a:ext cx="627090" cy="471482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509910" y="4552467"/>
            <a:ext cx="595165" cy="272346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02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497935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429817" y="3897418"/>
            <a:ext cx="646503" cy="404426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74630" y="4217188"/>
            <a:ext cx="595165" cy="339402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315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68989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429817" y="3897418"/>
            <a:ext cx="646503" cy="404426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74630" y="4217188"/>
            <a:ext cx="595165" cy="339402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897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0BECE3-7009-DB4F-80FC-7B87BA8D46B8}"/>
                </a:ext>
              </a:extLst>
            </p:cNvPr>
            <p:cNvCxnSpPr>
              <a:cxnSpLocks/>
            </p:cNvCxnSpPr>
            <p:nvPr/>
          </p:nvCxnSpPr>
          <p:spPr>
            <a:xfrm>
              <a:off x="2923090" y="3279273"/>
              <a:ext cx="70997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D6AEFA-3A5D-1545-BD40-BD60905BD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47" y="3987962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FC22B3-3C87-0144-8612-2E7490B7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157345" y="3987962"/>
              <a:ext cx="470132" cy="340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A55BD9-93CF-0D49-81F9-EF1C6F631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2167" y="3974456"/>
              <a:ext cx="5516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012756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429817" y="3897418"/>
            <a:ext cx="646503" cy="4044262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74630" y="4217188"/>
            <a:ext cx="595165" cy="3394026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78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46" name="Group 45" descr="picture showing heap representation of array we are operating on in demo">
            <a:extLst>
              <a:ext uri="{FF2B5EF4-FFF2-40B4-BE49-F238E27FC236}">
                <a16:creationId xmlns:a16="http://schemas.microsoft.com/office/drawing/2014/main" id="{815CFE7B-D109-B64C-AC40-0ED8325AB1D6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730938" y="2897976"/>
            <a:chExt cx="3862706" cy="25187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2C6BB-2B52-8D43-850F-43FF637A974C}"/>
                </a:ext>
              </a:extLst>
            </p:cNvPr>
            <p:cNvGrpSpPr/>
            <p:nvPr/>
          </p:nvGrpSpPr>
          <p:grpSpPr>
            <a:xfrm>
              <a:off x="730938" y="2897976"/>
              <a:ext cx="3862706" cy="2518793"/>
              <a:chOff x="197707" y="4057936"/>
              <a:chExt cx="3862706" cy="251879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00CDF59-66A9-4B40-AACF-DC8DADC65AE7}"/>
                  </a:ext>
                </a:extLst>
              </p:cNvPr>
              <p:cNvGrpSpPr/>
              <p:nvPr/>
            </p:nvGrpSpPr>
            <p:grpSpPr>
              <a:xfrm>
                <a:off x="2202465" y="4075372"/>
                <a:ext cx="1069972" cy="1060585"/>
                <a:chOff x="1591456" y="3873017"/>
                <a:chExt cx="1069972" cy="1060585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4DD97E3-6338-6D47-A3AC-B7608A293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3060F6-E9DF-0444-9C82-AEFF9127A0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1428" y="4573602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D22F7C9-E70C-FF48-BE69-AED85778B2A8}"/>
                  </a:ext>
                </a:extLst>
              </p:cNvPr>
              <p:cNvGrpSpPr/>
              <p:nvPr/>
            </p:nvGrpSpPr>
            <p:grpSpPr>
              <a:xfrm>
                <a:off x="885022" y="4784061"/>
                <a:ext cx="1381830" cy="1068689"/>
                <a:chOff x="1039758" y="3873017"/>
                <a:chExt cx="1381830" cy="106868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B7AE76B-CC84-8342-8852-47717B1DE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00D1493-28A3-7148-9AC2-075CB526B5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1456" y="3873017"/>
                  <a:ext cx="360000" cy="360000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B8DD4D3-BDAC-694B-8435-3AD4AD6504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EB5D3B9-A526-6A42-92C3-10789E781AF1}"/>
                  </a:ext>
                </a:extLst>
              </p:cNvPr>
              <p:cNvGrpSpPr/>
              <p:nvPr/>
            </p:nvGrpSpPr>
            <p:grpSpPr>
              <a:xfrm>
                <a:off x="2371542" y="5471140"/>
                <a:ext cx="1381830" cy="368104"/>
                <a:chOff x="1039758" y="4573602"/>
                <a:chExt cx="1381830" cy="36810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F555A8E-1C60-9F4D-823A-E30B7EDBB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D2C703E-2C60-7B4E-91F3-D20149E02B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61588" y="4573602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45CCAC-8E07-1A4A-936D-14385D0E2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0613" y="6201438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C155AA-1430-6843-ACB0-EAFBB2B5307B}"/>
                  </a:ext>
                </a:extLst>
              </p:cNvPr>
              <p:cNvSpPr txBox="1"/>
              <p:nvPr/>
            </p:nvSpPr>
            <p:spPr>
              <a:xfrm>
                <a:off x="1889559" y="4057936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A6698-B0FE-8F4E-8293-09E52073DEF7}"/>
                  </a:ext>
                </a:extLst>
              </p:cNvPr>
              <p:cNvSpPr txBox="1"/>
              <p:nvPr/>
            </p:nvSpPr>
            <p:spPr>
              <a:xfrm>
                <a:off x="1162181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EBF9D-5F39-FD4B-B23C-0A45D092377E}"/>
                  </a:ext>
                </a:extLst>
              </p:cNvPr>
              <p:cNvSpPr txBox="1"/>
              <p:nvPr/>
            </p:nvSpPr>
            <p:spPr>
              <a:xfrm>
                <a:off x="2603256" y="471142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9274E-36A1-5E42-BE33-B06E201BED3E}"/>
                  </a:ext>
                </a:extLst>
              </p:cNvPr>
              <p:cNvSpPr txBox="1"/>
              <p:nvPr/>
            </p:nvSpPr>
            <p:spPr>
              <a:xfrm>
                <a:off x="572116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01DCD-693C-8B40-8373-D85B7FF318EF}"/>
                  </a:ext>
                </a:extLst>
              </p:cNvPr>
              <p:cNvSpPr txBox="1"/>
              <p:nvPr/>
            </p:nvSpPr>
            <p:spPr>
              <a:xfrm>
                <a:off x="1639844" y="5319395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EF278-8C7B-794A-9E16-59883734DF1C}"/>
                  </a:ext>
                </a:extLst>
              </p:cNvPr>
              <p:cNvSpPr txBox="1"/>
              <p:nvPr/>
            </p:nvSpPr>
            <p:spPr>
              <a:xfrm>
                <a:off x="2679779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3BD780-4922-1B46-9EB7-2643F1F91599}"/>
                  </a:ext>
                </a:extLst>
              </p:cNvPr>
              <p:cNvSpPr txBox="1"/>
              <p:nvPr/>
            </p:nvSpPr>
            <p:spPr>
              <a:xfrm>
                <a:off x="3747507" y="530808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BA486-E179-4B49-B32F-3DB8B74C0C5E}"/>
                  </a:ext>
                </a:extLst>
              </p:cNvPr>
              <p:cNvSpPr txBox="1"/>
              <p:nvPr/>
            </p:nvSpPr>
            <p:spPr>
              <a:xfrm>
                <a:off x="197707" y="586396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199774-3B24-524D-9ECF-405AD3259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720" y="6213374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7A0D31-2FCF-3347-BAD4-2440EE2AA6FA}"/>
                  </a:ext>
                </a:extLst>
              </p:cNvPr>
              <p:cNvSpPr txBox="1"/>
              <p:nvPr/>
            </p:nvSpPr>
            <p:spPr>
              <a:xfrm>
                <a:off x="1162181" y="583210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4C4C76E-D655-564F-A784-4E9BD30D4F49}"/>
                  </a:ext>
                </a:extLst>
              </p:cNvPr>
              <p:cNvGrpSpPr/>
              <p:nvPr/>
            </p:nvGrpSpPr>
            <p:grpSpPr>
              <a:xfrm>
                <a:off x="1573997" y="6206199"/>
                <a:ext cx="1076912" cy="370530"/>
                <a:chOff x="1039758" y="4581706"/>
                <a:chExt cx="1076912" cy="37053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5558288-5961-8E4D-AAE9-BCF7BA14E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39758" y="458170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C2EAFB3-C6AB-674F-89E0-89DF6638B6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670" y="4592236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15A8B9-B356-C748-991C-A8BB8D93F885}"/>
                  </a:ext>
                </a:extLst>
              </p:cNvPr>
              <p:cNvSpPr txBox="1"/>
              <p:nvPr/>
            </p:nvSpPr>
            <p:spPr>
              <a:xfrm>
                <a:off x="1576346" y="58527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32BBCE-34A5-1D47-840D-725FE0E771C3}"/>
                  </a:ext>
                </a:extLst>
              </p:cNvPr>
              <p:cNvSpPr txBox="1"/>
              <p:nvPr/>
            </p:nvSpPr>
            <p:spPr>
              <a:xfrm>
                <a:off x="2258895" y="5889157"/>
                <a:ext cx="424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1B8BB2-8ADC-134B-B8D9-608DC2A0F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492" y="3279273"/>
              <a:ext cx="701598" cy="34868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633363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71627" y="5255609"/>
            <a:ext cx="694912" cy="1376290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840644" y="2883203"/>
            <a:ext cx="595165" cy="6061998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329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6" name="Group 5" descr="picture showing heap representation of array we are operating on in demo">
            <a:extLst>
              <a:ext uri="{FF2B5EF4-FFF2-40B4-BE49-F238E27FC236}">
                <a16:creationId xmlns:a16="http://schemas.microsoft.com/office/drawing/2014/main" id="{2DB2C6BB-2B52-8D43-850F-43FF637A974C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197707" y="4057936"/>
            <a:chExt cx="3862706" cy="251879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00CDF59-66A9-4B40-AACF-DC8DADC65AE7}"/>
                </a:ext>
              </a:extLst>
            </p:cNvPr>
            <p:cNvGrpSpPr/>
            <p:nvPr/>
          </p:nvGrpSpPr>
          <p:grpSpPr>
            <a:xfrm>
              <a:off x="2202465" y="4075372"/>
              <a:ext cx="1069972" cy="1060585"/>
              <a:chOff x="1591456" y="3873017"/>
              <a:chExt cx="1069972" cy="106058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4DD97E3-6338-6D47-A3AC-B7608A2932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1456" y="3873017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73060F6-E9DF-0444-9C82-AEFF9127A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1428" y="4573602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22F7C9-E70C-FF48-BE69-AED85778B2A8}"/>
                </a:ext>
              </a:extLst>
            </p:cNvPr>
            <p:cNvGrpSpPr/>
            <p:nvPr/>
          </p:nvGrpSpPr>
          <p:grpSpPr>
            <a:xfrm>
              <a:off x="885022" y="4784061"/>
              <a:ext cx="1381830" cy="1068689"/>
              <a:chOff x="1039758" y="3873017"/>
              <a:chExt cx="1381830" cy="106868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B7AE76B-CC84-8342-8852-47717B1DE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00D1493-28A3-7148-9AC2-075CB526B5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1456" y="3873017"/>
                <a:ext cx="360000" cy="3600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B8DD4D3-BDAC-694B-8435-3AD4AD6504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EB5D3B9-A526-6A42-92C3-10789E781AF1}"/>
                </a:ext>
              </a:extLst>
            </p:cNvPr>
            <p:cNvGrpSpPr/>
            <p:nvPr/>
          </p:nvGrpSpPr>
          <p:grpSpPr>
            <a:xfrm>
              <a:off x="2371542" y="5471140"/>
              <a:ext cx="1381830" cy="368104"/>
              <a:chOff x="1039758" y="4573602"/>
              <a:chExt cx="1381830" cy="36810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F555A8E-1C60-9F4D-823A-E30B7EDBB4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D2C703E-2C60-7B4E-91F3-D20149E02B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D45CCAC-8E07-1A4A-936D-14385D0E2D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0613" y="6201438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C155AA-1430-6843-ACB0-EAFBB2B5307B}"/>
                </a:ext>
              </a:extLst>
            </p:cNvPr>
            <p:cNvSpPr txBox="1"/>
            <p:nvPr/>
          </p:nvSpPr>
          <p:spPr>
            <a:xfrm>
              <a:off x="1889559" y="40579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9A6698-B0FE-8F4E-8293-09E52073DEF7}"/>
                </a:ext>
              </a:extLst>
            </p:cNvPr>
            <p:cNvSpPr txBox="1"/>
            <p:nvPr/>
          </p:nvSpPr>
          <p:spPr>
            <a:xfrm>
              <a:off x="1162181" y="47114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BEBF9D-5F39-FD4B-B23C-0A45D092377E}"/>
                </a:ext>
              </a:extLst>
            </p:cNvPr>
            <p:cNvSpPr txBox="1"/>
            <p:nvPr/>
          </p:nvSpPr>
          <p:spPr>
            <a:xfrm>
              <a:off x="2603256" y="47114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F9274E-36A1-5E42-BE33-B06E201BED3E}"/>
                </a:ext>
              </a:extLst>
            </p:cNvPr>
            <p:cNvSpPr txBox="1"/>
            <p:nvPr/>
          </p:nvSpPr>
          <p:spPr>
            <a:xfrm>
              <a:off x="572116" y="53193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201DCD-693C-8B40-8373-D85B7FF318EF}"/>
                </a:ext>
              </a:extLst>
            </p:cNvPr>
            <p:cNvSpPr txBox="1"/>
            <p:nvPr/>
          </p:nvSpPr>
          <p:spPr>
            <a:xfrm>
              <a:off x="1639844" y="53193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1EF278-8C7B-794A-9E16-59883734DF1C}"/>
                </a:ext>
              </a:extLst>
            </p:cNvPr>
            <p:cNvSpPr txBox="1"/>
            <p:nvPr/>
          </p:nvSpPr>
          <p:spPr>
            <a:xfrm>
              <a:off x="2679779" y="53080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3BD780-4922-1B46-9EB7-2643F1F91599}"/>
                </a:ext>
              </a:extLst>
            </p:cNvPr>
            <p:cNvSpPr txBox="1"/>
            <p:nvPr/>
          </p:nvSpPr>
          <p:spPr>
            <a:xfrm>
              <a:off x="3747507" y="53080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0BA486-E179-4B49-B32F-3DB8B74C0C5E}"/>
                </a:ext>
              </a:extLst>
            </p:cNvPr>
            <p:cNvSpPr txBox="1"/>
            <p:nvPr/>
          </p:nvSpPr>
          <p:spPr>
            <a:xfrm>
              <a:off x="197707" y="58639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199774-3B24-524D-9ECF-405AD3259E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6720" y="6213374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7A0D31-2FCF-3347-BAD4-2440EE2AA6FA}"/>
                </a:ext>
              </a:extLst>
            </p:cNvPr>
            <p:cNvSpPr txBox="1"/>
            <p:nvPr/>
          </p:nvSpPr>
          <p:spPr>
            <a:xfrm>
              <a:off x="1162181" y="583210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C4C76E-D655-564F-A784-4E9BD30D4F49}"/>
                </a:ext>
              </a:extLst>
            </p:cNvPr>
            <p:cNvGrpSpPr/>
            <p:nvPr/>
          </p:nvGrpSpPr>
          <p:grpSpPr>
            <a:xfrm>
              <a:off x="1573997" y="6206199"/>
              <a:ext cx="1076912" cy="370530"/>
              <a:chOff x="1039758" y="4581706"/>
              <a:chExt cx="1076912" cy="37053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5558288-5961-8E4D-AAE9-BCF7BA14E8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C2EAFB3-C6AB-674F-89E0-89DF6638B6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6670" y="459223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15A8B9-B356-C748-991C-A8BB8D93F885}"/>
                </a:ext>
              </a:extLst>
            </p:cNvPr>
            <p:cNvSpPr txBox="1"/>
            <p:nvPr/>
          </p:nvSpPr>
          <p:spPr>
            <a:xfrm>
              <a:off x="1576346" y="585275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32BBCE-34A5-1D47-840D-725FE0E771C3}"/>
                </a:ext>
              </a:extLst>
            </p:cNvPr>
            <p:cNvSpPr txBox="1"/>
            <p:nvPr/>
          </p:nvSpPr>
          <p:spPr>
            <a:xfrm>
              <a:off x="2258895" y="5889157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250641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sp>
        <p:nvSpPr>
          <p:cNvPr id="4" name="Left Brace 3" hidden="1">
            <a:extLst>
              <a:ext uri="{FF2B5EF4-FFF2-40B4-BE49-F238E27FC236}">
                <a16:creationId xmlns:a16="http://schemas.microsoft.com/office/drawing/2014/main" id="{C5BD167A-92D5-2348-9E19-B7C93A80F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15573" y="5611663"/>
            <a:ext cx="718046" cy="687315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 hidden="1">
            <a:extLst>
              <a:ext uri="{FF2B5EF4-FFF2-40B4-BE49-F238E27FC236}">
                <a16:creationId xmlns:a16="http://schemas.microsoft.com/office/drawing/2014/main" id="{3724F7A4-5D45-1C41-A81D-1E8F5848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496157" y="2538716"/>
            <a:ext cx="595165" cy="6750973"/>
          </a:xfrm>
          <a:prstGeom prst="leftBrac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334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 err="1"/>
              <a:t>sortdown</a:t>
            </a:r>
            <a:r>
              <a:rPr lang="en-US" dirty="0"/>
              <a:t> (heap de-construction top down)</a:t>
            </a:r>
          </a:p>
        </p:txBody>
      </p:sp>
      <p:grpSp>
        <p:nvGrpSpPr>
          <p:cNvPr id="6" name="Group 5" descr="picture showing final sorted array in demo">
            <a:extLst>
              <a:ext uri="{FF2B5EF4-FFF2-40B4-BE49-F238E27FC236}">
                <a16:creationId xmlns:a16="http://schemas.microsoft.com/office/drawing/2014/main" id="{2DB2C6BB-2B52-8D43-850F-43FF637A974C}"/>
              </a:ext>
            </a:extLst>
          </p:cNvPr>
          <p:cNvGrpSpPr/>
          <p:nvPr/>
        </p:nvGrpSpPr>
        <p:grpSpPr>
          <a:xfrm>
            <a:off x="730938" y="2897976"/>
            <a:ext cx="3862706" cy="2518793"/>
            <a:chOff x="197707" y="4057936"/>
            <a:chExt cx="3862706" cy="251879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00CDF59-66A9-4B40-AACF-DC8DADC65AE7}"/>
                </a:ext>
              </a:extLst>
            </p:cNvPr>
            <p:cNvGrpSpPr/>
            <p:nvPr/>
          </p:nvGrpSpPr>
          <p:grpSpPr>
            <a:xfrm>
              <a:off x="2202465" y="4075372"/>
              <a:ext cx="1069972" cy="1060585"/>
              <a:chOff x="1591456" y="3873017"/>
              <a:chExt cx="1069972" cy="106058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4DD97E3-6338-6D47-A3AC-B7608A2932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1456" y="3873017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73060F6-E9DF-0444-9C82-AEFF9127A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1428" y="4573602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22F7C9-E70C-FF48-BE69-AED85778B2A8}"/>
                </a:ext>
              </a:extLst>
            </p:cNvPr>
            <p:cNvGrpSpPr/>
            <p:nvPr/>
          </p:nvGrpSpPr>
          <p:grpSpPr>
            <a:xfrm>
              <a:off x="885022" y="4784061"/>
              <a:ext cx="1381830" cy="1068689"/>
              <a:chOff x="1039758" y="3873017"/>
              <a:chExt cx="1381830" cy="106868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B7AE76B-CC84-8342-8852-47717B1DE6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00D1493-28A3-7148-9AC2-075CB526B5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91456" y="3873017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B8DD4D3-BDAC-694B-8435-3AD4AD6504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EB5D3B9-A526-6A42-92C3-10789E781AF1}"/>
                </a:ext>
              </a:extLst>
            </p:cNvPr>
            <p:cNvGrpSpPr/>
            <p:nvPr/>
          </p:nvGrpSpPr>
          <p:grpSpPr>
            <a:xfrm>
              <a:off x="2371542" y="5471140"/>
              <a:ext cx="1381830" cy="368104"/>
              <a:chOff x="1039758" y="4573602"/>
              <a:chExt cx="1381830" cy="36810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F555A8E-1C60-9F4D-823A-E30B7EDBB4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D2C703E-2C60-7B4E-91F3-D20149E02B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1588" y="4573602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D45CCAC-8E07-1A4A-936D-14385D0E2D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0613" y="6201438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C155AA-1430-6843-ACB0-EAFBB2B5307B}"/>
                </a:ext>
              </a:extLst>
            </p:cNvPr>
            <p:cNvSpPr txBox="1"/>
            <p:nvPr/>
          </p:nvSpPr>
          <p:spPr>
            <a:xfrm>
              <a:off x="1889559" y="40579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9A6698-B0FE-8F4E-8293-09E52073DEF7}"/>
                </a:ext>
              </a:extLst>
            </p:cNvPr>
            <p:cNvSpPr txBox="1"/>
            <p:nvPr/>
          </p:nvSpPr>
          <p:spPr>
            <a:xfrm>
              <a:off x="1162181" y="47114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BEBF9D-5F39-FD4B-B23C-0A45D092377E}"/>
                </a:ext>
              </a:extLst>
            </p:cNvPr>
            <p:cNvSpPr txBox="1"/>
            <p:nvPr/>
          </p:nvSpPr>
          <p:spPr>
            <a:xfrm>
              <a:off x="2603256" y="47114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F9274E-36A1-5E42-BE33-B06E201BED3E}"/>
                </a:ext>
              </a:extLst>
            </p:cNvPr>
            <p:cNvSpPr txBox="1"/>
            <p:nvPr/>
          </p:nvSpPr>
          <p:spPr>
            <a:xfrm>
              <a:off x="572116" y="53193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201DCD-693C-8B40-8373-D85B7FF318EF}"/>
                </a:ext>
              </a:extLst>
            </p:cNvPr>
            <p:cNvSpPr txBox="1"/>
            <p:nvPr/>
          </p:nvSpPr>
          <p:spPr>
            <a:xfrm>
              <a:off x="1639844" y="531939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1EF278-8C7B-794A-9E16-59883734DF1C}"/>
                </a:ext>
              </a:extLst>
            </p:cNvPr>
            <p:cNvSpPr txBox="1"/>
            <p:nvPr/>
          </p:nvSpPr>
          <p:spPr>
            <a:xfrm>
              <a:off x="2679779" y="53080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3BD780-4922-1B46-9EB7-2643F1F91599}"/>
                </a:ext>
              </a:extLst>
            </p:cNvPr>
            <p:cNvSpPr txBox="1"/>
            <p:nvPr/>
          </p:nvSpPr>
          <p:spPr>
            <a:xfrm>
              <a:off x="3747507" y="53080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0BA486-E179-4B49-B32F-3DB8B74C0C5E}"/>
                </a:ext>
              </a:extLst>
            </p:cNvPr>
            <p:cNvSpPr txBox="1"/>
            <p:nvPr/>
          </p:nvSpPr>
          <p:spPr>
            <a:xfrm>
              <a:off x="197707" y="58639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199774-3B24-524D-9ECF-405AD3259E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6720" y="6213374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7A0D31-2FCF-3347-BAD4-2440EE2AA6FA}"/>
                </a:ext>
              </a:extLst>
            </p:cNvPr>
            <p:cNvSpPr txBox="1"/>
            <p:nvPr/>
          </p:nvSpPr>
          <p:spPr>
            <a:xfrm>
              <a:off x="1162181" y="583210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C4C76E-D655-564F-A784-4E9BD30D4F49}"/>
                </a:ext>
              </a:extLst>
            </p:cNvPr>
            <p:cNvGrpSpPr/>
            <p:nvPr/>
          </p:nvGrpSpPr>
          <p:grpSpPr>
            <a:xfrm>
              <a:off x="1573997" y="6206199"/>
              <a:ext cx="1076912" cy="370530"/>
              <a:chOff x="1039758" y="4581706"/>
              <a:chExt cx="1076912" cy="37053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5558288-5961-8E4D-AAE9-BCF7BA14E8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758" y="458170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C2EAFB3-C6AB-674F-89E0-89DF6638B6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6670" y="4592236"/>
                <a:ext cx="360000" cy="360000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15A8B9-B356-C748-991C-A8BB8D93F885}"/>
                </a:ext>
              </a:extLst>
            </p:cNvPr>
            <p:cNvSpPr txBox="1"/>
            <p:nvPr/>
          </p:nvSpPr>
          <p:spPr>
            <a:xfrm>
              <a:off x="1576346" y="585275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32BBCE-34A5-1D47-840D-725FE0E771C3}"/>
                </a:ext>
              </a:extLst>
            </p:cNvPr>
            <p:cNvSpPr txBox="1"/>
            <p:nvPr/>
          </p:nvSpPr>
          <p:spPr>
            <a:xfrm>
              <a:off x="2258895" y="5889157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</p:grpSp>
      <p:graphicFrame>
        <p:nvGraphicFramePr>
          <p:cNvPr id="33" name="Table 32" descr="array representation of an 8-node complete binary tree">
            <a:extLst>
              <a:ext uri="{FF2B5EF4-FFF2-40B4-BE49-F238E27FC236}">
                <a16:creationId xmlns:a16="http://schemas.microsoft.com/office/drawing/2014/main" id="{46D966E1-C013-F344-BBDB-2A3F82E68A8B}"/>
              </a:ext>
            </a:extLst>
          </p:cNvPr>
          <p:cNvGraphicFramePr>
            <a:graphicFrameLocks noGrp="1"/>
          </p:cNvGraphicFramePr>
          <p:nvPr/>
        </p:nvGraphicFramePr>
        <p:xfrm>
          <a:off x="730938" y="5988259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  <p:graphicFrame>
        <p:nvGraphicFramePr>
          <p:cNvPr id="34" name="Table 33" descr="array representation of an 8-node complete binary tree">
            <a:extLst>
              <a:ext uri="{FF2B5EF4-FFF2-40B4-BE49-F238E27FC236}">
                <a16:creationId xmlns:a16="http://schemas.microsoft.com/office/drawing/2014/main" id="{C818AC94-F491-774C-8D64-67D44BC50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240057"/>
              </p:ext>
            </p:extLst>
          </p:nvPr>
        </p:nvGraphicFramePr>
        <p:xfrm>
          <a:off x="730938" y="6314344"/>
          <a:ext cx="7438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08">
                  <a:extLst>
                    <a:ext uri="{9D8B030D-6E8A-4147-A177-3AD203B41FA5}">
                      <a16:colId xmlns:a16="http://schemas.microsoft.com/office/drawing/2014/main" val="313406286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658228375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96934130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78152778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0320103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967014074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749378658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4241910321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127829569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3858217297"/>
                    </a:ext>
                  </a:extLst>
                </a:gridCol>
                <a:gridCol w="676208">
                  <a:extLst>
                    <a:ext uri="{9D8B030D-6E8A-4147-A177-3AD203B41FA5}">
                      <a16:colId xmlns:a16="http://schemas.microsoft.com/office/drawing/2014/main" val="2483138219"/>
                    </a:ext>
                  </a:extLst>
                </a:gridCol>
              </a:tblGrid>
              <a:tr h="3486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3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3192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  <a:p>
            <a:pPr lvl="1"/>
            <a:r>
              <a:rPr lang="en-US" dirty="0"/>
              <a:t>Heap construction (bottom up)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Sortdown</a:t>
            </a:r>
            <a:r>
              <a:rPr lang="en-US" dirty="0"/>
              <a:t> (top down)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8EC4B-253E-9646-97FA-6D3A19C27A8B}"/>
              </a:ext>
            </a:extLst>
          </p:cNvPr>
          <p:cNvSpPr txBox="1"/>
          <p:nvPr/>
        </p:nvSpPr>
        <p:spPr>
          <a:xfrm>
            <a:off x="1463040" y="2721114"/>
            <a:ext cx="4185761" cy="707886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Courier" pitchFamily="2" charset="0"/>
              </a:rPr>
              <a:t>for (k = N/2; k &gt;= 1; k--)</a:t>
            </a:r>
          </a:p>
          <a:p>
            <a:r>
              <a:rPr lang="en-GB" sz="2000" dirty="0">
                <a:latin typeface="Courier" pitchFamily="2" charset="0"/>
              </a:rPr>
              <a:t>    sink(k);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DA0A5-EC4F-4247-B36A-A6638385023B}"/>
              </a:ext>
            </a:extLst>
          </p:cNvPr>
          <p:cNvSpPr txBox="1"/>
          <p:nvPr/>
        </p:nvSpPr>
        <p:spPr>
          <a:xfrm>
            <a:off x="1463039" y="4641276"/>
            <a:ext cx="3416320" cy="1323439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Courier" pitchFamily="2" charset="0"/>
              </a:rPr>
              <a:t>while (N &gt; 1)</a:t>
            </a:r>
          </a:p>
          <a:p>
            <a:r>
              <a:rPr lang="en-GB" sz="2000" dirty="0">
                <a:latin typeface="Courier" pitchFamily="2" charset="0"/>
              </a:rPr>
              <a:t>    swap(a[1], a[N]);</a:t>
            </a:r>
          </a:p>
          <a:p>
            <a:r>
              <a:rPr lang="en-GB" sz="2000" dirty="0">
                <a:latin typeface="Courier" pitchFamily="2" charset="0"/>
              </a:rPr>
              <a:t>    N--;</a:t>
            </a:r>
          </a:p>
          <a:p>
            <a:r>
              <a:rPr lang="en-GB" sz="2000" dirty="0">
                <a:latin typeface="Courier" pitchFamily="2" charset="0"/>
              </a:rPr>
              <a:t>    sink(1);</a:t>
            </a:r>
          </a:p>
        </p:txBody>
      </p:sp>
    </p:spTree>
    <p:extLst>
      <p:ext uri="{BB962C8B-B14F-4D97-AF65-F5344CB8AC3E}">
        <p14:creationId xmlns:p14="http://schemas.microsoft.com/office/powerpoint/2010/main" val="8428436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– mathematical </a:t>
            </a:r>
          </a:p>
          <a:p>
            <a:pPr lvl="1"/>
            <a:r>
              <a:rPr lang="en-US" dirty="0"/>
              <a:t>Heap construction uses O(</a:t>
            </a:r>
            <a:r>
              <a:rPr lang="en-US" i="1" dirty="0"/>
              <a:t>N)</a:t>
            </a:r>
            <a:r>
              <a:rPr lang="en-US" dirty="0"/>
              <a:t> compares / exchanges</a:t>
            </a:r>
          </a:p>
          <a:p>
            <a:pPr lvl="1"/>
            <a:r>
              <a:rPr lang="en-US" dirty="0"/>
              <a:t>Heapsort uses O(</a:t>
            </a:r>
            <a:r>
              <a:rPr lang="en-US" i="1" dirty="0"/>
              <a:t>N</a:t>
            </a:r>
            <a:r>
              <a:rPr lang="en-US" dirty="0"/>
              <a:t> lg </a:t>
            </a:r>
            <a:r>
              <a:rPr lang="en-US" i="1" dirty="0"/>
              <a:t>N)</a:t>
            </a:r>
            <a:r>
              <a:rPr lang="en-US" dirty="0"/>
              <a:t> compares / exchanges</a:t>
            </a:r>
          </a:p>
          <a:p>
            <a:pPr lvl="1"/>
            <a:endParaRPr lang="en-US" dirty="0"/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In place (optimal for space – unlike Merge Sort)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 lg </a:t>
            </a:r>
            <a:r>
              <a:rPr lang="en-US" i="1" dirty="0"/>
              <a:t>N</a:t>
            </a:r>
            <a:r>
              <a:rPr lang="en-US" dirty="0"/>
              <a:t> worst-case  (optimal for time – unlike Quick Sort)</a:t>
            </a:r>
          </a:p>
          <a:p>
            <a:pPr lvl="1"/>
            <a:r>
              <a:rPr lang="en-US" dirty="0"/>
              <a:t>Not stable</a:t>
            </a:r>
          </a:p>
          <a:p>
            <a:pPr lvl="1"/>
            <a:r>
              <a:rPr lang="en-US" dirty="0"/>
              <a:t>Poor use of cache</a:t>
            </a:r>
          </a:p>
        </p:txBody>
      </p:sp>
    </p:spTree>
    <p:extLst>
      <p:ext uri="{BB962C8B-B14F-4D97-AF65-F5344CB8AC3E}">
        <p14:creationId xmlns:p14="http://schemas.microsoft.com/office/powerpoint/2010/main" val="41334520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F411-FA26-F94E-98E8-C1580F3D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2CBF-6302-1B47-A9EC-009D5425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MergeSort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QuickSort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HeapSort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732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CE74-7469-1442-848B-4992FAF9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</a:t>
            </a:r>
          </a:p>
        </p:txBody>
      </p:sp>
      <p:graphicFrame>
        <p:nvGraphicFramePr>
          <p:cNvPr id="7" name="Table 6" descr="Table summarising the key properties (in place, stabiity, ad worst / average / best time complexity) of 5 sorting algorithms seen">
            <a:extLst>
              <a:ext uri="{FF2B5EF4-FFF2-40B4-BE49-F238E27FC236}">
                <a16:creationId xmlns:a16="http://schemas.microsoft.com/office/drawing/2014/main" id="{B3CAA774-44FF-F94B-A2F5-34BADA8AE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131605"/>
              </p:ext>
            </p:extLst>
          </p:nvPr>
        </p:nvGraphicFramePr>
        <p:xfrm>
          <a:off x="711200" y="1869440"/>
          <a:ext cx="10444482" cy="4003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747">
                  <a:extLst>
                    <a:ext uri="{9D8B030D-6E8A-4147-A177-3AD203B41FA5}">
                      <a16:colId xmlns:a16="http://schemas.microsoft.com/office/drawing/2014/main" val="726802978"/>
                    </a:ext>
                  </a:extLst>
                </a:gridCol>
                <a:gridCol w="1740747">
                  <a:extLst>
                    <a:ext uri="{9D8B030D-6E8A-4147-A177-3AD203B41FA5}">
                      <a16:colId xmlns:a16="http://schemas.microsoft.com/office/drawing/2014/main" val="3790364652"/>
                    </a:ext>
                  </a:extLst>
                </a:gridCol>
                <a:gridCol w="1740747">
                  <a:extLst>
                    <a:ext uri="{9D8B030D-6E8A-4147-A177-3AD203B41FA5}">
                      <a16:colId xmlns:a16="http://schemas.microsoft.com/office/drawing/2014/main" val="2146953694"/>
                    </a:ext>
                  </a:extLst>
                </a:gridCol>
                <a:gridCol w="1740747">
                  <a:extLst>
                    <a:ext uri="{9D8B030D-6E8A-4147-A177-3AD203B41FA5}">
                      <a16:colId xmlns:a16="http://schemas.microsoft.com/office/drawing/2014/main" val="1695431126"/>
                    </a:ext>
                  </a:extLst>
                </a:gridCol>
                <a:gridCol w="1740747">
                  <a:extLst>
                    <a:ext uri="{9D8B030D-6E8A-4147-A177-3AD203B41FA5}">
                      <a16:colId xmlns:a16="http://schemas.microsoft.com/office/drawing/2014/main" val="3945688702"/>
                    </a:ext>
                  </a:extLst>
                </a:gridCol>
                <a:gridCol w="1740747">
                  <a:extLst>
                    <a:ext uri="{9D8B030D-6E8A-4147-A177-3AD203B41FA5}">
                      <a16:colId xmlns:a16="http://schemas.microsoft.com/office/drawing/2014/main" val="4027433022"/>
                    </a:ext>
                  </a:extLst>
                </a:gridCol>
              </a:tblGrid>
              <a:tr h="667173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place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76587"/>
                  </a:ext>
                </a:extLst>
              </a:tr>
              <a:tr h="66717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436140"/>
                  </a:ext>
                </a:extLst>
              </a:tr>
              <a:tr h="66717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219330"/>
                  </a:ext>
                </a:extLst>
              </a:tr>
              <a:tr h="66717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Merge-sort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312039"/>
                  </a:ext>
                </a:extLst>
              </a:tr>
              <a:tr h="66717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Quick-sort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608888"/>
                  </a:ext>
                </a:extLst>
              </a:tr>
              <a:tr h="667173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Heapsort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395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2402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CE74-7469-1442-848B-4992FAF9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sorting algorithm to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5034D-CE1A-BF4F-8B78-90CF7ADC2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07" y="1544596"/>
            <a:ext cx="4937001" cy="50168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Algorithms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Insertion sort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Selection sort</a:t>
            </a:r>
          </a:p>
          <a:p>
            <a:pPr lvl="1"/>
            <a:r>
              <a:rPr lang="en-US" dirty="0" err="1"/>
              <a:t>Bubblesort</a:t>
            </a:r>
            <a:endParaRPr lang="en-US" dirty="0"/>
          </a:p>
          <a:p>
            <a:pPr lvl="1"/>
            <a:r>
              <a:rPr lang="en-US" dirty="0">
                <a:highlight>
                  <a:srgbClr val="C0C0C0"/>
                </a:highlight>
              </a:rPr>
              <a:t>Quicksort</a:t>
            </a:r>
          </a:p>
          <a:p>
            <a:pPr lvl="1"/>
            <a:r>
              <a:rPr lang="en-US" dirty="0" err="1">
                <a:highlight>
                  <a:srgbClr val="C0C0C0"/>
                </a:highlight>
              </a:rPr>
              <a:t>Mergesort</a:t>
            </a:r>
            <a:endParaRPr lang="en-US" dirty="0">
              <a:highlight>
                <a:srgbClr val="C0C0C0"/>
              </a:highlight>
            </a:endParaRPr>
          </a:p>
          <a:p>
            <a:pPr lvl="1"/>
            <a:r>
              <a:rPr lang="en-US" dirty="0">
                <a:highlight>
                  <a:srgbClr val="C0C0C0"/>
                </a:highlight>
              </a:rPr>
              <a:t>Heapsort</a:t>
            </a:r>
          </a:p>
          <a:p>
            <a:pPr lvl="1"/>
            <a:r>
              <a:rPr lang="en-US" dirty="0" err="1"/>
              <a:t>Samplesort</a:t>
            </a:r>
            <a:endParaRPr lang="en-US" dirty="0"/>
          </a:p>
          <a:p>
            <a:pPr lvl="1"/>
            <a:r>
              <a:rPr lang="en-US" dirty="0" err="1"/>
              <a:t>Shellsort</a:t>
            </a:r>
            <a:endParaRPr lang="en-US" dirty="0"/>
          </a:p>
          <a:p>
            <a:pPr lvl="1"/>
            <a:r>
              <a:rPr lang="en-US" dirty="0"/>
              <a:t>Solitaire sort</a:t>
            </a:r>
          </a:p>
          <a:p>
            <a:pPr lvl="1"/>
            <a:r>
              <a:rPr lang="en-US" dirty="0"/>
              <a:t>Red-black sort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1C107D-60EB-4B41-A091-531D22A6E119}"/>
              </a:ext>
            </a:extLst>
          </p:cNvPr>
          <p:cNvSpPr txBox="1">
            <a:spLocks/>
          </p:cNvSpPr>
          <p:nvPr/>
        </p:nvSpPr>
        <p:spPr>
          <a:xfrm>
            <a:off x="6121791" y="1544596"/>
            <a:ext cx="4937001" cy="501684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Attributes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Stable?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Keys all distinct?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Is your array randomly ordered?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Need guaranteed performance?</a:t>
            </a:r>
          </a:p>
          <a:p>
            <a:pPr lvl="1"/>
            <a:r>
              <a:rPr lang="en-US" dirty="0"/>
              <a:t>Multiple key types?</a:t>
            </a:r>
          </a:p>
          <a:p>
            <a:pPr lvl="1"/>
            <a:r>
              <a:rPr lang="en-US" dirty="0"/>
              <a:t>Linked list or arrays?</a:t>
            </a:r>
          </a:p>
          <a:p>
            <a:pPr lvl="1"/>
            <a:r>
              <a:rPr lang="en-US" dirty="0"/>
              <a:t>Large or small items?</a:t>
            </a:r>
          </a:p>
          <a:p>
            <a:pPr lvl="1"/>
            <a:r>
              <a:rPr lang="en-US" dirty="0"/>
              <a:t>Parallel?</a:t>
            </a:r>
          </a:p>
          <a:p>
            <a:pPr lvl="1"/>
            <a:r>
              <a:rPr lang="en-US" dirty="0"/>
              <a:t>Deterministic?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5723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8773</TotalTime>
  <Words>6204</Words>
  <Application>Microsoft Macintosh PowerPoint</Application>
  <PresentationFormat>Widescreen</PresentationFormat>
  <Paragraphs>3224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86</vt:i4>
      </vt:variant>
    </vt:vector>
  </HeadingPairs>
  <TitlesOfParts>
    <vt:vector size="93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2.4 Heap Sort</vt:lpstr>
      <vt:lpstr>CONTENT</vt:lpstr>
      <vt:lpstr>QUEUE vs PRIORITY QUEUE</vt:lpstr>
      <vt:lpstr>QUEUE vs PRIORITY QUEUE</vt:lpstr>
      <vt:lpstr>Priority queue</vt:lpstr>
      <vt:lpstr>Priority queue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DATA STRUCTURE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DEMO</vt:lpstr>
      <vt:lpstr>BINARY HEAP DATA STRUCTURE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Content – recap </vt:lpstr>
      <vt:lpstr>Content – recap</vt:lpstr>
      <vt:lpstr>What sorting algorithm to 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108</cp:revision>
  <dcterms:created xsi:type="dcterms:W3CDTF">2020-06-23T14:37:29Z</dcterms:created>
  <dcterms:modified xsi:type="dcterms:W3CDTF">2020-11-04T09:07:55Z</dcterms:modified>
</cp:coreProperties>
</file>