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9"/>
  </p:notesMasterIdLst>
  <p:sldIdLst>
    <p:sldId id="266" r:id="rId3"/>
    <p:sldId id="272" r:id="rId4"/>
    <p:sldId id="314" r:id="rId5"/>
    <p:sldId id="316" r:id="rId6"/>
    <p:sldId id="31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21" r:id="rId17"/>
    <p:sldId id="325" r:id="rId18"/>
    <p:sldId id="326" r:id="rId19"/>
    <p:sldId id="327" r:id="rId20"/>
    <p:sldId id="328" r:id="rId21"/>
    <p:sldId id="329" r:id="rId22"/>
    <p:sldId id="330" r:id="rId23"/>
    <p:sldId id="322" r:id="rId24"/>
    <p:sldId id="331" r:id="rId25"/>
    <p:sldId id="332" r:id="rId26"/>
    <p:sldId id="333" r:id="rId27"/>
    <p:sldId id="334" r:id="rId28"/>
    <p:sldId id="335" r:id="rId29"/>
    <p:sldId id="320" r:id="rId30"/>
    <p:sldId id="345" r:id="rId31"/>
    <p:sldId id="348" r:id="rId32"/>
    <p:sldId id="317" r:id="rId33"/>
    <p:sldId id="350" r:id="rId34"/>
    <p:sldId id="349" r:id="rId35"/>
    <p:sldId id="351" r:id="rId36"/>
    <p:sldId id="346" r:id="rId37"/>
    <p:sldId id="352" r:id="rId38"/>
    <p:sldId id="353" r:id="rId39"/>
    <p:sldId id="354" r:id="rId40"/>
    <p:sldId id="355" r:id="rId41"/>
    <p:sldId id="356" r:id="rId42"/>
    <p:sldId id="357" r:id="rId43"/>
    <p:sldId id="358" r:id="rId44"/>
    <p:sldId id="359" r:id="rId45"/>
    <p:sldId id="360" r:id="rId46"/>
    <p:sldId id="361" r:id="rId47"/>
    <p:sldId id="273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09"/>
    <p:restoredTop sz="45902"/>
  </p:normalViewPr>
  <p:slideViewPr>
    <p:cSldViewPr snapToGrid="0" snapToObjects="1">
      <p:cViewPr varScale="1">
        <p:scale>
          <a:sx n="80" d="100"/>
          <a:sy n="80" d="100"/>
        </p:scale>
        <p:origin x="2496" y="192"/>
      </p:cViewPr>
      <p:guideLst/>
    </p:cSldViewPr>
  </p:slideViewPr>
  <p:outlineViewPr>
    <p:cViewPr>
      <p:scale>
        <a:sx n="33" d="100"/>
        <a:sy n="33" d="100"/>
      </p:scale>
      <p:origin x="0" y="-168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5A67-8926-CB42-854C-A7DAE0AE325F}" type="datetimeFigureOut">
              <a:rPr lang="en-US" smtClean="0"/>
              <a:t>11/6/20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E9652-8391-5B4D-BBDF-BC776AB7E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1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049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87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65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62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4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39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1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97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57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8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34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02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67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6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8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09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78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105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93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427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43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27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44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747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70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85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395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61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369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560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206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526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973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945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18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299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272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706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934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925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306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296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007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783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236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958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942517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5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954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>
                <a:solidFill>
                  <a:schemeClr val="tx1"/>
                </a:solidFill>
              </a:rPr>
              <a:t>3.2b BST Additional </a:t>
            </a:r>
            <a:r>
              <a:rPr lang="en-US" sz="3733" dirty="0">
                <a:solidFill>
                  <a:schemeClr val="tx1"/>
                </a:solidFill>
              </a:rPr>
              <a:t>Operations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15036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Binary Search Tree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Additional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273126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 Extended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operations</a:t>
            </a:r>
          </a:p>
          <a:p>
            <a:pPr lvl="1"/>
            <a:r>
              <a:rPr lang="en-US" dirty="0"/>
              <a:t>Min/max</a:t>
            </a:r>
          </a:p>
          <a:p>
            <a:pPr lvl="1"/>
            <a:r>
              <a:rPr lang="en-US" dirty="0"/>
              <a:t>Ordered iteration</a:t>
            </a:r>
          </a:p>
          <a:p>
            <a:pPr lvl="1"/>
            <a:r>
              <a:rPr lang="en-US" dirty="0"/>
              <a:t>Floor/ceiling</a:t>
            </a:r>
          </a:p>
          <a:p>
            <a:pPr lvl="1"/>
            <a:r>
              <a:rPr lang="en-US" dirty="0"/>
              <a:t>Rank</a:t>
            </a:r>
          </a:p>
          <a:p>
            <a:pPr lvl="1"/>
            <a:r>
              <a:rPr lang="en-US" dirty="0"/>
              <a:t>Select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Delete</a:t>
            </a:r>
          </a:p>
          <a:p>
            <a:endParaRPr lang="en-US" dirty="0"/>
          </a:p>
        </p:txBody>
      </p:sp>
      <p:pic>
        <p:nvPicPr>
          <p:cNvPr id="8" name="Picture 7" descr="A screenshot from portico, showing students' results on a module">
            <a:extLst>
              <a:ext uri="{FF2B5EF4-FFF2-40B4-BE49-F238E27FC236}">
                <a16:creationId xmlns:a16="http://schemas.microsoft.com/office/drawing/2014/main" id="{B41CD78E-22C6-9F48-ACB0-25D3545F5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275" y="2264434"/>
            <a:ext cx="8285018" cy="3463793"/>
          </a:xfrm>
          <a:prstGeom prst="rect">
            <a:avLst/>
          </a:prstGeom>
          <a:ln w="317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8588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 Extended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operations</a:t>
            </a:r>
          </a:p>
          <a:p>
            <a:pPr lvl="1"/>
            <a:r>
              <a:rPr lang="en-US" dirty="0"/>
              <a:t>Min/max</a:t>
            </a:r>
          </a:p>
          <a:p>
            <a:pPr lvl="1"/>
            <a:r>
              <a:rPr lang="en-US" dirty="0"/>
              <a:t>Ordered iteration</a:t>
            </a:r>
          </a:p>
          <a:p>
            <a:pPr lvl="1"/>
            <a:r>
              <a:rPr lang="en-US" dirty="0"/>
              <a:t>Floor/ceiling</a:t>
            </a:r>
          </a:p>
          <a:p>
            <a:pPr lvl="1"/>
            <a:r>
              <a:rPr lang="en-US" dirty="0"/>
              <a:t>Rank</a:t>
            </a:r>
          </a:p>
          <a:p>
            <a:pPr lvl="1"/>
            <a:r>
              <a:rPr lang="en-US" dirty="0"/>
              <a:t>Select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Delete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9378DB-A73D-FB42-B7E9-DD55BEF86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80855"/>
              </p:ext>
            </p:extLst>
          </p:nvPr>
        </p:nvGraphicFramePr>
        <p:xfrm>
          <a:off x="4023360" y="2377218"/>
          <a:ext cx="7653774" cy="4227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684">
                  <a:extLst>
                    <a:ext uri="{9D8B030D-6E8A-4147-A177-3AD203B41FA5}">
                      <a16:colId xmlns:a16="http://schemas.microsoft.com/office/drawing/2014/main" val="3507961404"/>
                    </a:ext>
                  </a:extLst>
                </a:gridCol>
                <a:gridCol w="2793076">
                  <a:extLst>
                    <a:ext uri="{9D8B030D-6E8A-4147-A177-3AD203B41FA5}">
                      <a16:colId xmlns:a16="http://schemas.microsoft.com/office/drawing/2014/main" val="417273784"/>
                    </a:ext>
                  </a:extLst>
                </a:gridCol>
                <a:gridCol w="2716014">
                  <a:extLst>
                    <a:ext uri="{9D8B030D-6E8A-4147-A177-3AD203B41FA5}">
                      <a16:colId xmlns:a16="http://schemas.microsoft.com/office/drawing/2014/main" val="2954995089"/>
                    </a:ext>
                  </a:extLst>
                </a:gridCol>
              </a:tblGrid>
              <a:tr h="75026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Unsorted linked list &amp; Sequential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 array &amp; binary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51240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(get)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70360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(put)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841077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Min/max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893361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Ordered iteration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38210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Floor / 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51623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73090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341561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80443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C8386DF-7ED5-2A40-BCFB-41055D5E5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058402" y="3550737"/>
            <a:ext cx="540000" cy="3066154"/>
            <a:chOff x="10058402" y="3550737"/>
            <a:chExt cx="540000" cy="306615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A7CCB8-4B3A-0047-9BD3-B24B9E660218}"/>
                </a:ext>
              </a:extLst>
            </p:cNvPr>
            <p:cNvSpPr>
              <a:spLocks/>
            </p:cNvSpPr>
            <p:nvPr/>
          </p:nvSpPr>
          <p:spPr>
            <a:xfrm>
              <a:off x="10058402" y="3550737"/>
              <a:ext cx="540000" cy="468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4F9B50C-D260-BE40-9BC8-CA4E70BC7797}"/>
                </a:ext>
              </a:extLst>
            </p:cNvPr>
            <p:cNvSpPr>
              <a:spLocks/>
            </p:cNvSpPr>
            <p:nvPr/>
          </p:nvSpPr>
          <p:spPr>
            <a:xfrm>
              <a:off x="10058402" y="6148891"/>
              <a:ext cx="540000" cy="468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123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 (smallest key in symbol table)</a:t>
            </a:r>
          </a:p>
          <a:p>
            <a:r>
              <a:rPr lang="en-US" dirty="0"/>
              <a:t>Max (largest key in symbol table)</a:t>
            </a:r>
          </a:p>
        </p:txBody>
      </p:sp>
      <p:grpSp>
        <p:nvGrpSpPr>
          <p:cNvPr id="36" name="Group 35" descr="BST example, with highlighted min/max keys">
            <a:extLst>
              <a:ext uri="{FF2B5EF4-FFF2-40B4-BE49-F238E27FC236}">
                <a16:creationId xmlns:a16="http://schemas.microsoft.com/office/drawing/2014/main" id="{C320B98A-442C-6243-BC7D-550CE7982F15}"/>
              </a:ext>
            </a:extLst>
          </p:cNvPr>
          <p:cNvGrpSpPr/>
          <p:nvPr/>
        </p:nvGrpSpPr>
        <p:grpSpPr>
          <a:xfrm>
            <a:off x="6032828" y="3452033"/>
            <a:ext cx="5706494" cy="2377943"/>
            <a:chOff x="6032828" y="3452033"/>
            <a:chExt cx="5706494" cy="2377943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6032828" y="3452033"/>
              <a:ext cx="4791549" cy="2377943"/>
              <a:chOff x="4667851" y="3324591"/>
              <a:chExt cx="4791549" cy="237794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799096-F9D0-904C-8F1A-EAA5318D6A38}"/>
                  </a:ext>
                </a:extLst>
              </p:cNvPr>
              <p:cNvSpPr txBox="1"/>
              <p:nvPr/>
            </p:nvSpPr>
            <p:spPr>
              <a:xfrm>
                <a:off x="4667851" y="4117747"/>
                <a:ext cx="5565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A87ED5-F48B-FC45-A165-1778E7A1F75D}"/>
                </a:ext>
              </a:extLst>
            </p:cNvPr>
            <p:cNvSpPr txBox="1"/>
            <p:nvPr/>
          </p:nvSpPr>
          <p:spPr>
            <a:xfrm>
              <a:off x="11118639" y="3563415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max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E22EF97-E4B9-164F-9FC0-96DB7624582F}"/>
                </a:ext>
              </a:extLst>
            </p:cNvPr>
            <p:cNvCxnSpPr>
              <a:cxnSpLocks/>
              <a:stCxn id="13" idx="3"/>
              <a:endCxn id="10" idx="2"/>
            </p:cNvCxnSpPr>
            <p:nvPr/>
          </p:nvCxnSpPr>
          <p:spPr>
            <a:xfrm>
              <a:off x="6589391" y="4429855"/>
              <a:ext cx="705851" cy="34881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F85EDBE-90F7-4D4C-BE75-5F804E109D62}"/>
                </a:ext>
              </a:extLst>
            </p:cNvPr>
            <p:cNvCxnSpPr>
              <a:cxnSpLocks/>
              <a:stCxn id="29" idx="2"/>
              <a:endCxn id="23" idx="6"/>
            </p:cNvCxnSpPr>
            <p:nvPr/>
          </p:nvCxnSpPr>
          <p:spPr>
            <a:xfrm flipH="1">
              <a:off x="10588545" y="3932747"/>
              <a:ext cx="840436" cy="30200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676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3" name="Group 32" descr="graphical representations of a BST">
            <a:extLst>
              <a:ext uri="{FF2B5EF4-FFF2-40B4-BE49-F238E27FC236}">
                <a16:creationId xmlns:a16="http://schemas.microsoft.com/office/drawing/2014/main" id="{77EFC72A-562E-9743-B907-C154CC2A9770}"/>
              </a:ext>
            </a:extLst>
          </p:cNvPr>
          <p:cNvGrpSpPr/>
          <p:nvPr/>
        </p:nvGrpSpPr>
        <p:grpSpPr>
          <a:xfrm>
            <a:off x="6589511" y="1916626"/>
            <a:ext cx="5404782" cy="3024748"/>
            <a:chOff x="6420201" y="3641448"/>
            <a:chExt cx="5404782" cy="302474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5F1DB18-EF93-8D45-9231-B8E2D0D62E27}"/>
                </a:ext>
              </a:extLst>
            </p:cNvPr>
            <p:cNvGrpSpPr/>
            <p:nvPr/>
          </p:nvGrpSpPr>
          <p:grpSpPr>
            <a:xfrm>
              <a:off x="8529495" y="3641448"/>
              <a:ext cx="2697272" cy="1454159"/>
              <a:chOff x="5602523" y="4579867"/>
              <a:chExt cx="2697272" cy="145415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0BAC9B2-A092-3343-B405-E8B8164D4E26}"/>
                  </a:ext>
                </a:extLst>
              </p:cNvPr>
              <p:cNvSpPr txBox="1"/>
              <p:nvPr/>
            </p:nvSpPr>
            <p:spPr>
              <a:xfrm>
                <a:off x="5932254" y="4579867"/>
                <a:ext cx="5341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BST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4BA7753-4E0D-0A4F-A60E-D203F8315A2C}"/>
                  </a:ext>
                </a:extLst>
              </p:cNvPr>
              <p:cNvSpPr txBox="1"/>
              <p:nvPr/>
            </p:nvSpPr>
            <p:spPr>
              <a:xfrm>
                <a:off x="7239889" y="5510806"/>
                <a:ext cx="10599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BST with </a:t>
                </a:r>
              </a:p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larger keys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2AB0404-BCB5-3043-B17A-FDA5E662BE25}"/>
                  </a:ext>
                </a:extLst>
              </p:cNvPr>
              <p:cNvSpPr/>
              <p:nvPr/>
            </p:nvSpPr>
            <p:spPr>
              <a:xfrm flipH="1" flipV="1">
                <a:off x="5847193" y="5409287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252490E-C7AE-CA43-A014-B4628842E6E7}"/>
                  </a:ext>
                </a:extLst>
              </p:cNvPr>
              <p:cNvSpPr/>
              <p:nvPr/>
            </p:nvSpPr>
            <p:spPr>
              <a:xfrm>
                <a:off x="5606224" y="4931844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3A79187-EB74-3949-845F-55C91D2B4509}"/>
                  </a:ext>
                </a:extLst>
              </p:cNvPr>
              <p:cNvSpPr/>
              <p:nvPr/>
            </p:nvSpPr>
            <p:spPr>
              <a:xfrm>
                <a:off x="5602523" y="5270467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ED07577-2D8F-B941-BA1E-ACC0498108A0}"/>
                  </a:ext>
                </a:extLst>
              </p:cNvPr>
              <p:cNvCxnSpPr>
                <a:cxnSpLocks/>
                <a:stCxn id="62" idx="0"/>
                <a:endCxn id="62" idx="2"/>
              </p:cNvCxnSpPr>
              <p:nvPr/>
            </p:nvCxnSpPr>
            <p:spPr>
              <a:xfrm>
                <a:off x="6256046" y="5270467"/>
                <a:ext cx="0" cy="3354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7ADB754C-08E9-D241-946C-598D4A91A593}"/>
                  </a:ext>
                </a:extLst>
              </p:cNvPr>
              <p:cNvSpPr/>
              <p:nvPr/>
            </p:nvSpPr>
            <p:spPr>
              <a:xfrm flipH="1" flipV="1">
                <a:off x="6579695" y="540228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E04FD12-7C64-CC40-8BE4-535E8EF0809A}"/>
                </a:ext>
              </a:extLst>
            </p:cNvPr>
            <p:cNvGrpSpPr/>
            <p:nvPr/>
          </p:nvGrpSpPr>
          <p:grpSpPr>
            <a:xfrm>
              <a:off x="9633588" y="5346699"/>
              <a:ext cx="1310746" cy="674072"/>
              <a:chOff x="10420069" y="5224144"/>
              <a:chExt cx="1310746" cy="674072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A82600A3-C549-204F-82D7-951244A4952B}"/>
                  </a:ext>
                </a:extLst>
              </p:cNvPr>
              <p:cNvSpPr/>
              <p:nvPr/>
            </p:nvSpPr>
            <p:spPr>
              <a:xfrm flipH="1" flipV="1">
                <a:off x="10664739" y="5701587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0830360-4B6A-C346-85A7-92B44B50255A}"/>
                  </a:ext>
                </a:extLst>
              </p:cNvPr>
              <p:cNvSpPr/>
              <p:nvPr/>
            </p:nvSpPr>
            <p:spPr>
              <a:xfrm>
                <a:off x="10423770" y="5224144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22A8E3D-7AF9-7142-A876-7734CBA5D90A}"/>
                  </a:ext>
                </a:extLst>
              </p:cNvPr>
              <p:cNvSpPr/>
              <p:nvPr/>
            </p:nvSpPr>
            <p:spPr>
              <a:xfrm>
                <a:off x="10420069" y="5562767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3A140948-03F4-0343-A8B4-A056C8B6F7D5}"/>
                  </a:ext>
                </a:extLst>
              </p:cNvPr>
              <p:cNvCxnSpPr>
                <a:cxnSpLocks/>
                <a:stCxn id="55" idx="0"/>
                <a:endCxn id="55" idx="2"/>
              </p:cNvCxnSpPr>
              <p:nvPr/>
            </p:nvCxnSpPr>
            <p:spPr>
              <a:xfrm>
                <a:off x="11073592" y="5562767"/>
                <a:ext cx="0" cy="3354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C1D920A5-6E3E-074C-8F69-2FE996B32222}"/>
                  </a:ext>
                </a:extLst>
              </p:cNvPr>
              <p:cNvSpPr/>
              <p:nvPr/>
            </p:nvSpPr>
            <p:spPr>
              <a:xfrm flipH="1" flipV="1">
                <a:off x="11397241" y="569458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2914F5A-28C0-9548-A0E1-EA695F8463D8}"/>
                </a:ext>
              </a:extLst>
            </p:cNvPr>
            <p:cNvGrpSpPr/>
            <p:nvPr/>
          </p:nvGrpSpPr>
          <p:grpSpPr>
            <a:xfrm>
              <a:off x="7135977" y="5332745"/>
              <a:ext cx="1310579" cy="671916"/>
              <a:chOff x="7000832" y="5165563"/>
              <a:chExt cx="1310579" cy="671916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C7CCC83-9566-A240-AD2A-9C021D78F9FD}"/>
                  </a:ext>
                </a:extLst>
              </p:cNvPr>
              <p:cNvSpPr/>
              <p:nvPr/>
            </p:nvSpPr>
            <p:spPr>
              <a:xfrm flipH="1" flipV="1">
                <a:off x="7249036" y="5640850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0D74847-3D4E-E94B-94A8-902D1EEE07CB}"/>
                  </a:ext>
                </a:extLst>
              </p:cNvPr>
              <p:cNvSpPr/>
              <p:nvPr/>
            </p:nvSpPr>
            <p:spPr>
              <a:xfrm>
                <a:off x="7004366" y="5502030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5057D2C-3C44-4745-A3DC-91E2AB4485D4}"/>
                  </a:ext>
                </a:extLst>
              </p:cNvPr>
              <p:cNvCxnSpPr>
                <a:cxnSpLocks/>
                <a:stCxn id="49" idx="0"/>
                <a:endCxn id="49" idx="2"/>
              </p:cNvCxnSpPr>
              <p:nvPr/>
            </p:nvCxnSpPr>
            <p:spPr>
              <a:xfrm>
                <a:off x="7657889" y="5502030"/>
                <a:ext cx="0" cy="3354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AF4B364-7D22-D448-BE72-2AC64959A5B4}"/>
                  </a:ext>
                </a:extLst>
              </p:cNvPr>
              <p:cNvSpPr/>
              <p:nvPr/>
            </p:nvSpPr>
            <p:spPr>
              <a:xfrm flipH="1" flipV="1">
                <a:off x="7981538" y="5633851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6EE26D9-3DC2-E649-AE56-7CCB5AEFA81E}"/>
                  </a:ext>
                </a:extLst>
              </p:cNvPr>
              <p:cNvSpPr/>
              <p:nvPr/>
            </p:nvSpPr>
            <p:spPr>
              <a:xfrm>
                <a:off x="7000832" y="5165563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8CE750A-C92E-BE46-972F-DE791B07DA03}"/>
                </a:ext>
              </a:extLst>
            </p:cNvPr>
            <p:cNvCxnSpPr>
              <a:stCxn id="60" idx="7"/>
              <a:endCxn id="52" idx="0"/>
            </p:cNvCxnSpPr>
            <p:nvPr/>
          </p:nvCxnSpPr>
          <p:spPr>
            <a:xfrm flipH="1">
              <a:off x="7789500" y="4536645"/>
              <a:ext cx="997122" cy="7961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C5193FA-E8A2-1C42-B3C2-39894465CEFC}"/>
                </a:ext>
              </a:extLst>
            </p:cNvPr>
            <p:cNvCxnSpPr>
              <a:cxnSpLocks/>
              <a:stCxn id="64" idx="0"/>
              <a:endCxn id="54" idx="0"/>
            </p:cNvCxnSpPr>
            <p:nvPr/>
          </p:nvCxnSpPr>
          <p:spPr>
            <a:xfrm>
              <a:off x="9549197" y="4540931"/>
              <a:ext cx="741615" cy="8057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726DC97-9063-6C4F-8828-388682116991}"/>
                </a:ext>
              </a:extLst>
            </p:cNvPr>
            <p:cNvSpPr txBox="1"/>
            <p:nvPr/>
          </p:nvSpPr>
          <p:spPr>
            <a:xfrm>
              <a:off x="6895092" y="4582451"/>
              <a:ext cx="11801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BST with 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smaller keys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61C8D1-5FBA-9446-996A-30000AE7C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1494" y="6018381"/>
              <a:ext cx="372250" cy="3504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C4910C-5AFF-8840-8176-09FB750B8FF9}"/>
                </a:ext>
              </a:extLst>
            </p:cNvPr>
            <p:cNvCxnSpPr>
              <a:cxnSpLocks/>
            </p:cNvCxnSpPr>
            <p:nvPr/>
          </p:nvCxnSpPr>
          <p:spPr>
            <a:xfrm>
              <a:off x="8156919" y="6000962"/>
              <a:ext cx="293171" cy="346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3D1C2AA-E181-4849-B27C-6121BCA9EC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1254" y="6028887"/>
              <a:ext cx="372250" cy="3504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E97CE9E-F20C-0C49-AB5C-61555B933C09}"/>
                </a:ext>
              </a:extLst>
            </p:cNvPr>
            <p:cNvCxnSpPr>
              <a:cxnSpLocks/>
            </p:cNvCxnSpPr>
            <p:nvPr/>
          </p:nvCxnSpPr>
          <p:spPr>
            <a:xfrm>
              <a:off x="10686679" y="6011468"/>
              <a:ext cx="293171" cy="346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rapezium 44">
              <a:extLst>
                <a:ext uri="{FF2B5EF4-FFF2-40B4-BE49-F238E27FC236}">
                  <a16:creationId xmlns:a16="http://schemas.microsoft.com/office/drawing/2014/main" id="{DA9086EA-017C-2443-A174-5878BDEDC035}"/>
                </a:ext>
              </a:extLst>
            </p:cNvPr>
            <p:cNvSpPr/>
            <p:nvPr/>
          </p:nvSpPr>
          <p:spPr>
            <a:xfrm>
              <a:off x="6420201" y="3657029"/>
              <a:ext cx="5404782" cy="3009167"/>
            </a:xfrm>
            <a:prstGeom prst="trapezoid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rapezium 45">
              <a:extLst>
                <a:ext uri="{FF2B5EF4-FFF2-40B4-BE49-F238E27FC236}">
                  <a16:creationId xmlns:a16="http://schemas.microsoft.com/office/drawing/2014/main" id="{12DB754D-6C06-5D4C-B4E0-97FFCFC5443B}"/>
                </a:ext>
              </a:extLst>
            </p:cNvPr>
            <p:cNvSpPr/>
            <p:nvPr/>
          </p:nvSpPr>
          <p:spPr>
            <a:xfrm>
              <a:off x="6597897" y="5125366"/>
              <a:ext cx="2337324" cy="1422652"/>
            </a:xfrm>
            <a:prstGeom prst="trapezoid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rapezium 46">
              <a:extLst>
                <a:ext uri="{FF2B5EF4-FFF2-40B4-BE49-F238E27FC236}">
                  <a16:creationId xmlns:a16="http://schemas.microsoft.com/office/drawing/2014/main" id="{4D9B3A8C-E5D8-064A-991A-95D04BE33930}"/>
                </a:ext>
              </a:extLst>
            </p:cNvPr>
            <p:cNvSpPr/>
            <p:nvPr/>
          </p:nvSpPr>
          <p:spPr>
            <a:xfrm>
              <a:off x="9114054" y="5122933"/>
              <a:ext cx="2337324" cy="1422652"/>
            </a:xfrm>
            <a:prstGeom prst="trapezoid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601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6" name="Group 35" descr="demo of in-order traversal BST">
            <a:extLst>
              <a:ext uri="{FF2B5EF4-FFF2-40B4-BE49-F238E27FC236}">
                <a16:creationId xmlns:a16="http://schemas.microsoft.com/office/drawing/2014/main" id="{005E123C-5F42-9649-945F-A5CFE1BB7D56}"/>
              </a:ext>
            </a:extLst>
          </p:cNvPr>
          <p:cNvGrpSpPr/>
          <p:nvPr/>
        </p:nvGrpSpPr>
        <p:grpSpPr>
          <a:xfrm>
            <a:off x="7035445" y="3452033"/>
            <a:ext cx="3788932" cy="2377943"/>
            <a:chOff x="5670468" y="3324591"/>
            <a:chExt cx="3788932" cy="237794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D72155-E132-C544-B648-1140AC1BA072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06546A8-DDEB-544F-B478-ADD69426A0A1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548A17-CDFE-E84C-A735-DB634AAB8730}"/>
                </a:ext>
              </a:extLst>
            </p:cNvPr>
            <p:cNvCxnSpPr>
              <a:cxnSpLocks/>
              <a:stCxn id="66" idx="3"/>
              <a:endCxn id="8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BF30CDD-DFB3-6E4B-AD38-4DDDE9B069AD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886344-0380-8C48-95DB-6325803498B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1600E05-B0CF-5D4A-AFD0-751D284503E9}"/>
                  </a:ext>
                </a:extLst>
              </p:cNvPr>
              <p:cNvCxnSpPr>
                <a:cxnSpLocks/>
                <a:stCxn id="86" idx="3"/>
                <a:endCxn id="7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5051AA90-067C-8846-A75C-DEE1361A9C33}"/>
                  </a:ext>
                </a:extLst>
              </p:cNvPr>
              <p:cNvCxnSpPr>
                <a:cxnSpLocks/>
                <a:stCxn id="86" idx="5"/>
                <a:endCxn id="7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202912-3014-504A-BBA8-978F0115DE58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6FDB84A-D9A2-FC4F-954A-47A3B221A649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61468E0-C622-004E-BCCC-41FF0CB92B2C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B5DED15-806E-0943-ACDE-EA76C586F30C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D31769C-A2F2-9941-AD3F-1FE1E69C9E9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DFFBE95-8F74-A747-A3AC-E4229F0370B8}"/>
                  </a:ext>
                </a:extLst>
              </p:cNvPr>
              <p:cNvCxnSpPr>
                <a:cxnSpLocks/>
                <a:stCxn id="71" idx="3"/>
                <a:endCxn id="6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3C33E87-485B-7240-94EE-5363D5DBD09D}"/>
                  </a:ext>
                </a:extLst>
              </p:cNvPr>
              <p:cNvCxnSpPr>
                <a:cxnSpLocks/>
                <a:stCxn id="66" idx="5"/>
                <a:endCxn id="8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D7E3C3-C6EE-7B41-A1A2-8CC53FB8772B}"/>
                </a:ext>
              </a:extLst>
            </p:cNvPr>
            <p:cNvCxnSpPr>
              <a:cxnSpLocks/>
              <a:stCxn id="70" idx="5"/>
              <a:endCxn id="6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C4D2057-8F05-294C-AEE1-AE0F0D8F34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A294CA-5D56-9F46-A4B7-94F0BB7653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8146B01-3ED9-D74F-A64E-EBEDEB936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0668404-8E10-FD4D-BF37-F084CB9D9D18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44277CC-D749-E14F-8FD0-CB9ADFAE26CD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9D407A-0990-E048-8002-EACC9196B4C1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05B26DD-0BB7-E84E-AA8B-D3034B4A5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67FCAC-2936-7142-B072-EEE23FF744CF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D5F2B5-8042-6940-A51A-BC41DCD8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94738" y="3585036"/>
            <a:ext cx="12444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45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6" name="Group 35" descr="demo of in-order traversal BST">
            <a:extLst>
              <a:ext uri="{FF2B5EF4-FFF2-40B4-BE49-F238E27FC236}">
                <a16:creationId xmlns:a16="http://schemas.microsoft.com/office/drawing/2014/main" id="{005E123C-5F42-9649-945F-A5CFE1BB7D56}"/>
              </a:ext>
            </a:extLst>
          </p:cNvPr>
          <p:cNvGrpSpPr/>
          <p:nvPr/>
        </p:nvGrpSpPr>
        <p:grpSpPr>
          <a:xfrm>
            <a:off x="7035445" y="3452033"/>
            <a:ext cx="3788932" cy="2377943"/>
            <a:chOff x="5670468" y="3324591"/>
            <a:chExt cx="3788932" cy="237794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D72155-E132-C544-B648-1140AC1BA072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06546A8-DDEB-544F-B478-ADD69426A0A1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548A17-CDFE-E84C-A735-DB634AAB8730}"/>
                </a:ext>
              </a:extLst>
            </p:cNvPr>
            <p:cNvCxnSpPr>
              <a:cxnSpLocks/>
              <a:stCxn id="66" idx="3"/>
              <a:endCxn id="8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BF30CDD-DFB3-6E4B-AD38-4DDDE9B069AD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886344-0380-8C48-95DB-6325803498B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1600E05-B0CF-5D4A-AFD0-751D284503E9}"/>
                  </a:ext>
                </a:extLst>
              </p:cNvPr>
              <p:cNvCxnSpPr>
                <a:cxnSpLocks/>
                <a:stCxn id="86" idx="3"/>
                <a:endCxn id="7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5051AA90-067C-8846-A75C-DEE1361A9C33}"/>
                  </a:ext>
                </a:extLst>
              </p:cNvPr>
              <p:cNvCxnSpPr>
                <a:cxnSpLocks/>
                <a:stCxn id="86" idx="5"/>
                <a:endCxn id="7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202912-3014-504A-BBA8-978F0115DE58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6FDB84A-D9A2-FC4F-954A-47A3B221A649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61468E0-C622-004E-BCCC-41FF0CB92B2C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B5DED15-806E-0943-ACDE-EA76C586F30C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D31769C-A2F2-9941-AD3F-1FE1E69C9E9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DFFBE95-8F74-A747-A3AC-E4229F0370B8}"/>
                  </a:ext>
                </a:extLst>
              </p:cNvPr>
              <p:cNvCxnSpPr>
                <a:cxnSpLocks/>
                <a:stCxn id="71" idx="3"/>
                <a:endCxn id="6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3C33E87-485B-7240-94EE-5363D5DBD09D}"/>
                  </a:ext>
                </a:extLst>
              </p:cNvPr>
              <p:cNvCxnSpPr>
                <a:cxnSpLocks/>
                <a:stCxn id="66" idx="5"/>
                <a:endCxn id="8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D7E3C3-C6EE-7B41-A1A2-8CC53FB8772B}"/>
                </a:ext>
              </a:extLst>
            </p:cNvPr>
            <p:cNvCxnSpPr>
              <a:cxnSpLocks/>
              <a:stCxn id="70" idx="5"/>
              <a:endCxn id="6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C4D2057-8F05-294C-AEE1-AE0F0D8F34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A294CA-5D56-9F46-A4B7-94F0BB7653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8146B01-3ED9-D74F-A64E-EBEDEB936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0668404-8E10-FD4D-BF37-F084CB9D9D18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44277CC-D749-E14F-8FD0-CB9ADFAE26CD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9D407A-0990-E048-8002-EACC9196B4C1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05B26DD-0BB7-E84E-AA8B-D3034B4A5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67FCAC-2936-7142-B072-EEE23FF744CF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D5F2B5-8042-6940-A51A-BC41DCD8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946621" y="4155021"/>
            <a:ext cx="12444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643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6" name="Group 35" descr="demo of in-order traversal BST">
            <a:extLst>
              <a:ext uri="{FF2B5EF4-FFF2-40B4-BE49-F238E27FC236}">
                <a16:creationId xmlns:a16="http://schemas.microsoft.com/office/drawing/2014/main" id="{005E123C-5F42-9649-945F-A5CFE1BB7D56}"/>
              </a:ext>
            </a:extLst>
          </p:cNvPr>
          <p:cNvGrpSpPr/>
          <p:nvPr/>
        </p:nvGrpSpPr>
        <p:grpSpPr>
          <a:xfrm>
            <a:off x="7035445" y="3452033"/>
            <a:ext cx="3788932" cy="2377943"/>
            <a:chOff x="5670468" y="3324591"/>
            <a:chExt cx="3788932" cy="237794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D72155-E132-C544-B648-1140AC1BA072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06546A8-DDEB-544F-B478-ADD69426A0A1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548A17-CDFE-E84C-A735-DB634AAB8730}"/>
                </a:ext>
              </a:extLst>
            </p:cNvPr>
            <p:cNvCxnSpPr>
              <a:cxnSpLocks/>
              <a:stCxn id="66" idx="3"/>
              <a:endCxn id="8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BF30CDD-DFB3-6E4B-AD38-4DDDE9B069AD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886344-0380-8C48-95DB-6325803498B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1600E05-B0CF-5D4A-AFD0-751D284503E9}"/>
                  </a:ext>
                </a:extLst>
              </p:cNvPr>
              <p:cNvCxnSpPr>
                <a:cxnSpLocks/>
                <a:stCxn id="86" idx="3"/>
                <a:endCxn id="7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5051AA90-067C-8846-A75C-DEE1361A9C33}"/>
                  </a:ext>
                </a:extLst>
              </p:cNvPr>
              <p:cNvCxnSpPr>
                <a:cxnSpLocks/>
                <a:stCxn id="86" idx="5"/>
                <a:endCxn id="7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202912-3014-504A-BBA8-978F0115DE58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6FDB84A-D9A2-FC4F-954A-47A3B221A649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61468E0-C622-004E-BCCC-41FF0CB92B2C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B5DED15-806E-0943-ACDE-EA76C586F30C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D31769C-A2F2-9941-AD3F-1FE1E69C9E9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DFFBE95-8F74-A747-A3AC-E4229F0370B8}"/>
                  </a:ext>
                </a:extLst>
              </p:cNvPr>
              <p:cNvCxnSpPr>
                <a:cxnSpLocks/>
                <a:stCxn id="71" idx="3"/>
                <a:endCxn id="6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3C33E87-485B-7240-94EE-5363D5DBD09D}"/>
                  </a:ext>
                </a:extLst>
              </p:cNvPr>
              <p:cNvCxnSpPr>
                <a:cxnSpLocks/>
                <a:stCxn id="66" idx="5"/>
                <a:endCxn id="8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D7E3C3-C6EE-7B41-A1A2-8CC53FB8772B}"/>
                </a:ext>
              </a:extLst>
            </p:cNvPr>
            <p:cNvCxnSpPr>
              <a:cxnSpLocks/>
              <a:stCxn id="70" idx="5"/>
              <a:endCxn id="6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C4D2057-8F05-294C-AEE1-AE0F0D8F34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A294CA-5D56-9F46-A4B7-94F0BB7653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8146B01-3ED9-D74F-A64E-EBEDEB936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0668404-8E10-FD4D-BF37-F084CB9D9D18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44277CC-D749-E14F-8FD0-CB9ADFAE26CD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9D407A-0990-E048-8002-EACC9196B4C1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05B26DD-0BB7-E84E-AA8B-D3034B4A5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67FCAC-2936-7142-B072-EEE23FF744CF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D5F2B5-8042-6940-A51A-BC41DCD8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50761" y="4755794"/>
            <a:ext cx="12444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72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6" name="Group 35" descr="demo of in-order traversal BST">
            <a:extLst>
              <a:ext uri="{FF2B5EF4-FFF2-40B4-BE49-F238E27FC236}">
                <a16:creationId xmlns:a16="http://schemas.microsoft.com/office/drawing/2014/main" id="{005E123C-5F42-9649-945F-A5CFE1BB7D56}"/>
              </a:ext>
            </a:extLst>
          </p:cNvPr>
          <p:cNvGrpSpPr/>
          <p:nvPr/>
        </p:nvGrpSpPr>
        <p:grpSpPr>
          <a:xfrm>
            <a:off x="7035445" y="3452033"/>
            <a:ext cx="3788932" cy="2377943"/>
            <a:chOff x="5670468" y="3324591"/>
            <a:chExt cx="3788932" cy="237794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D72155-E132-C544-B648-1140AC1BA072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06546A8-DDEB-544F-B478-ADD69426A0A1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548A17-CDFE-E84C-A735-DB634AAB8730}"/>
                </a:ext>
              </a:extLst>
            </p:cNvPr>
            <p:cNvCxnSpPr>
              <a:cxnSpLocks/>
              <a:stCxn id="66" idx="3"/>
              <a:endCxn id="8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BF30CDD-DFB3-6E4B-AD38-4DDDE9B069AD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886344-0380-8C48-95DB-6325803498B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1600E05-B0CF-5D4A-AFD0-751D284503E9}"/>
                  </a:ext>
                </a:extLst>
              </p:cNvPr>
              <p:cNvCxnSpPr>
                <a:cxnSpLocks/>
                <a:stCxn id="86" idx="3"/>
                <a:endCxn id="7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5051AA90-067C-8846-A75C-DEE1361A9C33}"/>
                  </a:ext>
                </a:extLst>
              </p:cNvPr>
              <p:cNvCxnSpPr>
                <a:cxnSpLocks/>
                <a:stCxn id="86" idx="5"/>
                <a:endCxn id="7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202912-3014-504A-BBA8-978F0115DE58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6FDB84A-D9A2-FC4F-954A-47A3B221A649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61468E0-C622-004E-BCCC-41FF0CB92B2C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B5DED15-806E-0943-ACDE-EA76C586F30C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D31769C-A2F2-9941-AD3F-1FE1E69C9E9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DFFBE95-8F74-A747-A3AC-E4229F0370B8}"/>
                  </a:ext>
                </a:extLst>
              </p:cNvPr>
              <p:cNvCxnSpPr>
                <a:cxnSpLocks/>
                <a:stCxn id="71" idx="3"/>
                <a:endCxn id="6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3C33E87-485B-7240-94EE-5363D5DBD09D}"/>
                  </a:ext>
                </a:extLst>
              </p:cNvPr>
              <p:cNvCxnSpPr>
                <a:cxnSpLocks/>
                <a:stCxn id="66" idx="5"/>
                <a:endCxn id="8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D7E3C3-C6EE-7B41-A1A2-8CC53FB8772B}"/>
                </a:ext>
              </a:extLst>
            </p:cNvPr>
            <p:cNvCxnSpPr>
              <a:cxnSpLocks/>
              <a:stCxn id="70" idx="5"/>
              <a:endCxn id="6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C4D2057-8F05-294C-AEE1-AE0F0D8F34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A294CA-5D56-9F46-A4B7-94F0BB7653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8146B01-3ED9-D74F-A64E-EBEDEB936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0668404-8E10-FD4D-BF37-F084CB9D9D18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44277CC-D749-E14F-8FD0-CB9ADFAE26CD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9D407A-0990-E048-8002-EACC9196B4C1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05B26DD-0BB7-E84E-AA8B-D3034B4A5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67FCAC-2936-7142-B072-EEE23FF744CF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auxiliary queue where we put visited keys in order">
            <a:extLst>
              <a:ext uri="{FF2B5EF4-FFF2-40B4-BE49-F238E27FC236}">
                <a16:creationId xmlns:a16="http://schemas.microsoft.com/office/drawing/2014/main" id="{9406A4F4-3816-D942-BEB8-3E10ED8F1886}"/>
              </a:ext>
            </a:extLst>
          </p:cNvPr>
          <p:cNvGrpSpPr/>
          <p:nvPr/>
        </p:nvGrpSpPr>
        <p:grpSpPr>
          <a:xfrm>
            <a:off x="601766" y="4443507"/>
            <a:ext cx="1941929" cy="597354"/>
            <a:chOff x="601766" y="4443507"/>
            <a:chExt cx="1941929" cy="59735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FBD525-4B73-8843-BDB1-1858497BE7FA}"/>
                </a:ext>
              </a:extLst>
            </p:cNvPr>
            <p:cNvSpPr/>
            <p:nvPr/>
          </p:nvSpPr>
          <p:spPr>
            <a:xfrm>
              <a:off x="1297453" y="4443507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7BDBA36-235E-5C46-9F5B-AAC0563F6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862719" y="4742184"/>
              <a:ext cx="680976" cy="13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48E0290-07CC-C942-80C3-BE290860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601766" y="4745902"/>
              <a:ext cx="680976" cy="13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 hidden="1">
            <a:extLst>
              <a:ext uri="{FF2B5EF4-FFF2-40B4-BE49-F238E27FC236}">
                <a16:creationId xmlns:a16="http://schemas.microsoft.com/office/drawing/2014/main" id="{4AD5F2B5-8042-6940-A51A-BC41DCD8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577543" y="5417883"/>
            <a:ext cx="12444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514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6" name="Group 35" descr="demo of in-order traversal BST">
            <a:extLst>
              <a:ext uri="{FF2B5EF4-FFF2-40B4-BE49-F238E27FC236}">
                <a16:creationId xmlns:a16="http://schemas.microsoft.com/office/drawing/2014/main" id="{005E123C-5F42-9649-945F-A5CFE1BB7D56}"/>
              </a:ext>
            </a:extLst>
          </p:cNvPr>
          <p:cNvGrpSpPr/>
          <p:nvPr/>
        </p:nvGrpSpPr>
        <p:grpSpPr>
          <a:xfrm>
            <a:off x="7035445" y="3452033"/>
            <a:ext cx="3788932" cy="2377943"/>
            <a:chOff x="5670468" y="3324591"/>
            <a:chExt cx="3788932" cy="237794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D72155-E132-C544-B648-1140AC1BA072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06546A8-DDEB-544F-B478-ADD69426A0A1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548A17-CDFE-E84C-A735-DB634AAB8730}"/>
                </a:ext>
              </a:extLst>
            </p:cNvPr>
            <p:cNvCxnSpPr>
              <a:cxnSpLocks/>
              <a:stCxn id="66" idx="3"/>
              <a:endCxn id="8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BF30CDD-DFB3-6E4B-AD38-4DDDE9B069AD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886344-0380-8C48-95DB-6325803498B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1600E05-B0CF-5D4A-AFD0-751D284503E9}"/>
                  </a:ext>
                </a:extLst>
              </p:cNvPr>
              <p:cNvCxnSpPr>
                <a:cxnSpLocks/>
                <a:stCxn id="86" idx="3"/>
                <a:endCxn id="7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5051AA90-067C-8846-A75C-DEE1361A9C33}"/>
                  </a:ext>
                </a:extLst>
              </p:cNvPr>
              <p:cNvCxnSpPr>
                <a:cxnSpLocks/>
                <a:stCxn id="86" idx="5"/>
                <a:endCxn id="7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202912-3014-504A-BBA8-978F0115DE58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6FDB84A-D9A2-FC4F-954A-47A3B221A649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61468E0-C622-004E-BCCC-41FF0CB92B2C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B5DED15-806E-0943-ACDE-EA76C586F30C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D31769C-A2F2-9941-AD3F-1FE1E69C9E9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DFFBE95-8F74-A747-A3AC-E4229F0370B8}"/>
                  </a:ext>
                </a:extLst>
              </p:cNvPr>
              <p:cNvCxnSpPr>
                <a:cxnSpLocks/>
                <a:stCxn id="71" idx="3"/>
                <a:endCxn id="6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3C33E87-485B-7240-94EE-5363D5DBD09D}"/>
                  </a:ext>
                </a:extLst>
              </p:cNvPr>
              <p:cNvCxnSpPr>
                <a:cxnSpLocks/>
                <a:stCxn id="66" idx="5"/>
                <a:endCxn id="8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D7E3C3-C6EE-7B41-A1A2-8CC53FB8772B}"/>
                </a:ext>
              </a:extLst>
            </p:cNvPr>
            <p:cNvCxnSpPr>
              <a:cxnSpLocks/>
              <a:stCxn id="70" idx="5"/>
              <a:endCxn id="6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C4D2057-8F05-294C-AEE1-AE0F0D8F34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A294CA-5D56-9F46-A4B7-94F0BB7653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8146B01-3ED9-D74F-A64E-EBEDEB936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0668404-8E10-FD4D-BF37-F084CB9D9D18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44277CC-D749-E14F-8FD0-CB9ADFAE26CD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9D407A-0990-E048-8002-EACC9196B4C1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05B26DD-0BB7-E84E-AA8B-D3034B4A5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67FCAC-2936-7142-B072-EEE23FF744CF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 descr="auxiliary queue where we put visited keys in order">
            <a:extLst>
              <a:ext uri="{FF2B5EF4-FFF2-40B4-BE49-F238E27FC236}">
                <a16:creationId xmlns:a16="http://schemas.microsoft.com/office/drawing/2014/main" id="{E5A17CA5-63C1-A943-8EF8-B007F843A67E}"/>
              </a:ext>
            </a:extLst>
          </p:cNvPr>
          <p:cNvGrpSpPr/>
          <p:nvPr/>
        </p:nvGrpSpPr>
        <p:grpSpPr>
          <a:xfrm>
            <a:off x="601766" y="4595907"/>
            <a:ext cx="2871690" cy="597354"/>
            <a:chOff x="601766" y="4595907"/>
            <a:chExt cx="2871690" cy="59735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FBD525-4B73-8843-BDB1-1858497BE7FA}"/>
                </a:ext>
              </a:extLst>
            </p:cNvPr>
            <p:cNvSpPr/>
            <p:nvPr/>
          </p:nvSpPr>
          <p:spPr>
            <a:xfrm>
              <a:off x="2015787" y="4595907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7BDBA36-235E-5C46-9F5B-AAC0563F6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792480" y="4759512"/>
              <a:ext cx="680976" cy="13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48E0290-07CC-C942-80C3-BE290860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601766" y="4745902"/>
              <a:ext cx="680976" cy="13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E3C17A-9313-D749-AB03-8835CBDD58CC}"/>
                </a:ext>
              </a:extLst>
            </p:cNvPr>
            <p:cNvSpPr/>
            <p:nvPr/>
          </p:nvSpPr>
          <p:spPr>
            <a:xfrm>
              <a:off x="1449853" y="4595907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</p:grpSp>
      <p:cxnSp>
        <p:nvCxnSpPr>
          <p:cNvPr id="5" name="Straight Arrow Connector 4" hidden="1">
            <a:extLst>
              <a:ext uri="{FF2B5EF4-FFF2-40B4-BE49-F238E27FC236}">
                <a16:creationId xmlns:a16="http://schemas.microsoft.com/office/drawing/2014/main" id="{4AD5F2B5-8042-6940-A51A-BC41DCD8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577543" y="5417883"/>
            <a:ext cx="12444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444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6" name="Group 35" descr="demo of in-order traversal BST">
            <a:extLst>
              <a:ext uri="{FF2B5EF4-FFF2-40B4-BE49-F238E27FC236}">
                <a16:creationId xmlns:a16="http://schemas.microsoft.com/office/drawing/2014/main" id="{005E123C-5F42-9649-945F-A5CFE1BB7D56}"/>
              </a:ext>
            </a:extLst>
          </p:cNvPr>
          <p:cNvGrpSpPr/>
          <p:nvPr/>
        </p:nvGrpSpPr>
        <p:grpSpPr>
          <a:xfrm>
            <a:off x="7035445" y="3452033"/>
            <a:ext cx="3788932" cy="2377943"/>
            <a:chOff x="5670468" y="3324591"/>
            <a:chExt cx="3788932" cy="237794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D72155-E132-C544-B648-1140AC1BA072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06546A8-DDEB-544F-B478-ADD69426A0A1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548A17-CDFE-E84C-A735-DB634AAB8730}"/>
                </a:ext>
              </a:extLst>
            </p:cNvPr>
            <p:cNvCxnSpPr>
              <a:cxnSpLocks/>
              <a:stCxn id="66" idx="3"/>
              <a:endCxn id="8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BF30CDD-DFB3-6E4B-AD38-4DDDE9B069AD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886344-0380-8C48-95DB-6325803498B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1600E05-B0CF-5D4A-AFD0-751D284503E9}"/>
                  </a:ext>
                </a:extLst>
              </p:cNvPr>
              <p:cNvCxnSpPr>
                <a:cxnSpLocks/>
                <a:stCxn id="86" idx="3"/>
                <a:endCxn id="7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5051AA90-067C-8846-A75C-DEE1361A9C33}"/>
                  </a:ext>
                </a:extLst>
              </p:cNvPr>
              <p:cNvCxnSpPr>
                <a:cxnSpLocks/>
                <a:stCxn id="86" idx="5"/>
                <a:endCxn id="7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202912-3014-504A-BBA8-978F0115DE58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6FDB84A-D9A2-FC4F-954A-47A3B221A649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61468E0-C622-004E-BCCC-41FF0CB92B2C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B5DED15-806E-0943-ACDE-EA76C586F30C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D31769C-A2F2-9941-AD3F-1FE1E69C9E9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DFFBE95-8F74-A747-A3AC-E4229F0370B8}"/>
                  </a:ext>
                </a:extLst>
              </p:cNvPr>
              <p:cNvCxnSpPr>
                <a:cxnSpLocks/>
                <a:stCxn id="71" idx="3"/>
                <a:endCxn id="6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3C33E87-485B-7240-94EE-5363D5DBD09D}"/>
                  </a:ext>
                </a:extLst>
              </p:cNvPr>
              <p:cNvCxnSpPr>
                <a:cxnSpLocks/>
                <a:stCxn id="66" idx="5"/>
                <a:endCxn id="8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D7E3C3-C6EE-7B41-A1A2-8CC53FB8772B}"/>
                </a:ext>
              </a:extLst>
            </p:cNvPr>
            <p:cNvCxnSpPr>
              <a:cxnSpLocks/>
              <a:stCxn id="70" idx="5"/>
              <a:endCxn id="6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C4D2057-8F05-294C-AEE1-AE0F0D8F34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A294CA-5D56-9F46-A4B7-94F0BB7653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8146B01-3ED9-D74F-A64E-EBEDEB936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0668404-8E10-FD4D-BF37-F084CB9D9D18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44277CC-D749-E14F-8FD0-CB9ADFAE26CD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9D407A-0990-E048-8002-EACC9196B4C1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05B26DD-0BB7-E84E-AA8B-D3034B4A5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67FCAC-2936-7142-B072-EEE23FF744CF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 descr="auxiliary queue where we put visited keys in order">
            <a:extLst>
              <a:ext uri="{FF2B5EF4-FFF2-40B4-BE49-F238E27FC236}">
                <a16:creationId xmlns:a16="http://schemas.microsoft.com/office/drawing/2014/main" id="{0F1FC34A-D553-E24D-A287-ACE0845D5024}"/>
              </a:ext>
            </a:extLst>
          </p:cNvPr>
          <p:cNvGrpSpPr/>
          <p:nvPr/>
        </p:nvGrpSpPr>
        <p:grpSpPr>
          <a:xfrm>
            <a:off x="601766" y="4589909"/>
            <a:ext cx="3325209" cy="603352"/>
            <a:chOff x="601766" y="4589909"/>
            <a:chExt cx="3325209" cy="6033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FBD525-4B73-8843-BDB1-1858497BE7FA}"/>
                </a:ext>
              </a:extLst>
            </p:cNvPr>
            <p:cNvSpPr/>
            <p:nvPr/>
          </p:nvSpPr>
          <p:spPr>
            <a:xfrm>
              <a:off x="2015787" y="4595907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7BDBA36-235E-5C46-9F5B-AAC0563F6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245999" y="4778671"/>
              <a:ext cx="680976" cy="13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48E0290-07CC-C942-80C3-BE290860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601766" y="4745902"/>
              <a:ext cx="680976" cy="13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E3C17A-9313-D749-AB03-8835CBDD58CC}"/>
                </a:ext>
              </a:extLst>
            </p:cNvPr>
            <p:cNvSpPr/>
            <p:nvPr/>
          </p:nvSpPr>
          <p:spPr>
            <a:xfrm>
              <a:off x="1449853" y="4595907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08E77BE-F37D-FC42-8DD7-6D482A0059C5}"/>
                </a:ext>
              </a:extLst>
            </p:cNvPr>
            <p:cNvSpPr/>
            <p:nvPr/>
          </p:nvSpPr>
          <p:spPr>
            <a:xfrm>
              <a:off x="2581053" y="4589909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cxnSp>
        <p:nvCxnSpPr>
          <p:cNvPr id="5" name="Straight Arrow Connector 4" hidden="1">
            <a:extLst>
              <a:ext uri="{FF2B5EF4-FFF2-40B4-BE49-F238E27FC236}">
                <a16:creationId xmlns:a16="http://schemas.microsoft.com/office/drawing/2014/main" id="{4AD5F2B5-8042-6940-A51A-BC41DCD8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911900" y="4175692"/>
            <a:ext cx="12444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794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6" name="Group 35" descr="demo of in-order traversal BST">
            <a:extLst>
              <a:ext uri="{FF2B5EF4-FFF2-40B4-BE49-F238E27FC236}">
                <a16:creationId xmlns:a16="http://schemas.microsoft.com/office/drawing/2014/main" id="{005E123C-5F42-9649-945F-A5CFE1BB7D56}"/>
              </a:ext>
            </a:extLst>
          </p:cNvPr>
          <p:cNvGrpSpPr/>
          <p:nvPr/>
        </p:nvGrpSpPr>
        <p:grpSpPr>
          <a:xfrm>
            <a:off x="7035445" y="3452033"/>
            <a:ext cx="3788932" cy="2377943"/>
            <a:chOff x="5670468" y="3324591"/>
            <a:chExt cx="3788932" cy="237794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D72155-E132-C544-B648-1140AC1BA072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06546A8-DDEB-544F-B478-ADD69426A0A1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548A17-CDFE-E84C-A735-DB634AAB8730}"/>
                </a:ext>
              </a:extLst>
            </p:cNvPr>
            <p:cNvCxnSpPr>
              <a:cxnSpLocks/>
              <a:stCxn id="66" idx="3"/>
              <a:endCxn id="8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BF30CDD-DFB3-6E4B-AD38-4DDDE9B069AD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886344-0380-8C48-95DB-6325803498B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1600E05-B0CF-5D4A-AFD0-751D284503E9}"/>
                  </a:ext>
                </a:extLst>
              </p:cNvPr>
              <p:cNvCxnSpPr>
                <a:cxnSpLocks/>
                <a:stCxn id="86" idx="3"/>
                <a:endCxn id="7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5051AA90-067C-8846-A75C-DEE1361A9C33}"/>
                  </a:ext>
                </a:extLst>
              </p:cNvPr>
              <p:cNvCxnSpPr>
                <a:cxnSpLocks/>
                <a:stCxn id="86" idx="5"/>
                <a:endCxn id="7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202912-3014-504A-BBA8-978F0115DE58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6FDB84A-D9A2-FC4F-954A-47A3B221A649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61468E0-C622-004E-BCCC-41FF0CB92B2C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B5DED15-806E-0943-ACDE-EA76C586F30C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D31769C-A2F2-9941-AD3F-1FE1E69C9E9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5DFFBE95-8F74-A747-A3AC-E4229F0370B8}"/>
                  </a:ext>
                </a:extLst>
              </p:cNvPr>
              <p:cNvCxnSpPr>
                <a:cxnSpLocks/>
                <a:stCxn id="71" idx="3"/>
                <a:endCxn id="6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3C33E87-485B-7240-94EE-5363D5DBD09D}"/>
                  </a:ext>
                </a:extLst>
              </p:cNvPr>
              <p:cNvCxnSpPr>
                <a:cxnSpLocks/>
                <a:stCxn id="66" idx="5"/>
                <a:endCxn id="8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D7E3C3-C6EE-7B41-A1A2-8CC53FB8772B}"/>
                </a:ext>
              </a:extLst>
            </p:cNvPr>
            <p:cNvCxnSpPr>
              <a:cxnSpLocks/>
              <a:stCxn id="70" idx="5"/>
              <a:endCxn id="6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C4D2057-8F05-294C-AEE1-AE0F0D8F34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A294CA-5D56-9F46-A4B7-94F0BB7653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8146B01-3ED9-D74F-A64E-EBEDEB936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0668404-8E10-FD4D-BF37-F084CB9D9D18}"/>
                </a:ext>
              </a:extLst>
            </p:cNvPr>
            <p:cNvCxnSpPr>
              <a:cxnSpLocks/>
              <a:stCxn id="8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44277CC-D749-E14F-8FD0-CB9ADFAE26CD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9D407A-0990-E048-8002-EACC9196B4C1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05B26DD-0BB7-E84E-AA8B-D3034B4A5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E67FCAC-2936-7142-B072-EEE23FF744CF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 hidden="1">
            <a:extLst>
              <a:ext uri="{FF2B5EF4-FFF2-40B4-BE49-F238E27FC236}">
                <a16:creationId xmlns:a16="http://schemas.microsoft.com/office/drawing/2014/main" id="{4AD5F2B5-8042-6940-A51A-BC41DCD8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22024" y="4792281"/>
            <a:ext cx="12444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 descr="auxiliary queue where we put visited keys in order">
            <a:extLst>
              <a:ext uri="{FF2B5EF4-FFF2-40B4-BE49-F238E27FC236}">
                <a16:creationId xmlns:a16="http://schemas.microsoft.com/office/drawing/2014/main" id="{0F0D8960-0534-B744-B7F8-EAAD23FA3BC7}"/>
              </a:ext>
            </a:extLst>
          </p:cNvPr>
          <p:cNvGrpSpPr/>
          <p:nvPr/>
        </p:nvGrpSpPr>
        <p:grpSpPr>
          <a:xfrm>
            <a:off x="601766" y="4589909"/>
            <a:ext cx="3325209" cy="603352"/>
            <a:chOff x="601766" y="4589909"/>
            <a:chExt cx="3325209" cy="6033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FBD525-4B73-8843-BDB1-1858497BE7FA}"/>
                </a:ext>
              </a:extLst>
            </p:cNvPr>
            <p:cNvSpPr/>
            <p:nvPr/>
          </p:nvSpPr>
          <p:spPr>
            <a:xfrm>
              <a:off x="2015787" y="4595907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7BDBA36-235E-5C46-9F5B-AAC0563F6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245999" y="4778671"/>
              <a:ext cx="680976" cy="13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48E0290-07CC-C942-80C3-BE290860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601766" y="4745902"/>
              <a:ext cx="680976" cy="1361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E3C17A-9313-D749-AB03-8835CBDD58CC}"/>
                </a:ext>
              </a:extLst>
            </p:cNvPr>
            <p:cNvSpPr/>
            <p:nvPr/>
          </p:nvSpPr>
          <p:spPr>
            <a:xfrm>
              <a:off x="1449853" y="4595907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08E77BE-F37D-FC42-8DD7-6D482A0059C5}"/>
                </a:ext>
              </a:extLst>
            </p:cNvPr>
            <p:cNvSpPr/>
            <p:nvPr/>
          </p:nvSpPr>
          <p:spPr>
            <a:xfrm>
              <a:off x="2581053" y="4589909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7950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iteration</a:t>
            </a:r>
          </a:p>
          <a:p>
            <a:pPr lvl="1"/>
            <a:r>
              <a:rPr lang="en-US" dirty="0"/>
              <a:t>In-order traversal (keys in ascending order)</a:t>
            </a:r>
          </a:p>
          <a:p>
            <a:pPr lvl="2"/>
            <a:r>
              <a:rPr lang="en-US" dirty="0"/>
              <a:t>Traverse left subtree</a:t>
            </a:r>
          </a:p>
          <a:p>
            <a:pPr lvl="2"/>
            <a:r>
              <a:rPr lang="en-US" dirty="0"/>
              <a:t>Enqueue key</a:t>
            </a:r>
          </a:p>
          <a:p>
            <a:pPr lvl="2"/>
            <a:r>
              <a:rPr lang="en-US" dirty="0"/>
              <a:t>Traverse right subtree</a:t>
            </a:r>
          </a:p>
        </p:txBody>
      </p:sp>
      <p:grpSp>
        <p:nvGrpSpPr>
          <p:cNvPr id="33" name="Group 32" descr="graphical representations of a BST">
            <a:extLst>
              <a:ext uri="{FF2B5EF4-FFF2-40B4-BE49-F238E27FC236}">
                <a16:creationId xmlns:a16="http://schemas.microsoft.com/office/drawing/2014/main" id="{77EFC72A-562E-9743-B907-C154CC2A9770}"/>
              </a:ext>
            </a:extLst>
          </p:cNvPr>
          <p:cNvGrpSpPr/>
          <p:nvPr/>
        </p:nvGrpSpPr>
        <p:grpSpPr>
          <a:xfrm>
            <a:off x="6473136" y="1916626"/>
            <a:ext cx="5404782" cy="3024748"/>
            <a:chOff x="6420201" y="3641448"/>
            <a:chExt cx="5404782" cy="302474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5F1DB18-EF93-8D45-9231-B8E2D0D62E27}"/>
                </a:ext>
              </a:extLst>
            </p:cNvPr>
            <p:cNvGrpSpPr/>
            <p:nvPr/>
          </p:nvGrpSpPr>
          <p:grpSpPr>
            <a:xfrm>
              <a:off x="8529495" y="3641448"/>
              <a:ext cx="2697272" cy="1454159"/>
              <a:chOff x="5602523" y="4579867"/>
              <a:chExt cx="2697272" cy="145415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0BAC9B2-A092-3343-B405-E8B8164D4E26}"/>
                  </a:ext>
                </a:extLst>
              </p:cNvPr>
              <p:cNvSpPr txBox="1"/>
              <p:nvPr/>
            </p:nvSpPr>
            <p:spPr>
              <a:xfrm>
                <a:off x="5932254" y="4579867"/>
                <a:ext cx="5341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BST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4BA7753-4E0D-0A4F-A60E-D203F8315A2C}"/>
                  </a:ext>
                </a:extLst>
              </p:cNvPr>
              <p:cNvSpPr txBox="1"/>
              <p:nvPr/>
            </p:nvSpPr>
            <p:spPr>
              <a:xfrm>
                <a:off x="7239889" y="5510806"/>
                <a:ext cx="10599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BST with </a:t>
                </a:r>
              </a:p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larger keys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2AB0404-BCB5-3043-B17A-FDA5E662BE25}"/>
                  </a:ext>
                </a:extLst>
              </p:cNvPr>
              <p:cNvSpPr/>
              <p:nvPr/>
            </p:nvSpPr>
            <p:spPr>
              <a:xfrm flipH="1" flipV="1">
                <a:off x="5847193" y="5409287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252490E-C7AE-CA43-A014-B4628842E6E7}"/>
                  </a:ext>
                </a:extLst>
              </p:cNvPr>
              <p:cNvSpPr/>
              <p:nvPr/>
            </p:nvSpPr>
            <p:spPr>
              <a:xfrm>
                <a:off x="5606224" y="4931844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3A79187-EB74-3949-845F-55C91D2B4509}"/>
                  </a:ext>
                </a:extLst>
              </p:cNvPr>
              <p:cNvSpPr/>
              <p:nvPr/>
            </p:nvSpPr>
            <p:spPr>
              <a:xfrm>
                <a:off x="5602523" y="5270467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ED07577-2D8F-B941-BA1E-ACC0498108A0}"/>
                  </a:ext>
                </a:extLst>
              </p:cNvPr>
              <p:cNvCxnSpPr>
                <a:cxnSpLocks/>
                <a:stCxn id="62" idx="0"/>
                <a:endCxn id="62" idx="2"/>
              </p:cNvCxnSpPr>
              <p:nvPr/>
            </p:nvCxnSpPr>
            <p:spPr>
              <a:xfrm>
                <a:off x="6256046" y="5270467"/>
                <a:ext cx="0" cy="3354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7ADB754C-08E9-D241-946C-598D4A91A593}"/>
                  </a:ext>
                </a:extLst>
              </p:cNvPr>
              <p:cNvSpPr/>
              <p:nvPr/>
            </p:nvSpPr>
            <p:spPr>
              <a:xfrm flipH="1" flipV="1">
                <a:off x="6579695" y="540228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E04FD12-7C64-CC40-8BE4-535E8EF0809A}"/>
                </a:ext>
              </a:extLst>
            </p:cNvPr>
            <p:cNvGrpSpPr/>
            <p:nvPr/>
          </p:nvGrpSpPr>
          <p:grpSpPr>
            <a:xfrm>
              <a:off x="9633588" y="5346699"/>
              <a:ext cx="1310746" cy="674072"/>
              <a:chOff x="10420069" y="5224144"/>
              <a:chExt cx="1310746" cy="674072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A82600A3-C549-204F-82D7-951244A4952B}"/>
                  </a:ext>
                </a:extLst>
              </p:cNvPr>
              <p:cNvSpPr/>
              <p:nvPr/>
            </p:nvSpPr>
            <p:spPr>
              <a:xfrm flipH="1" flipV="1">
                <a:off x="10664739" y="5701587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0830360-4B6A-C346-85A7-92B44B50255A}"/>
                  </a:ext>
                </a:extLst>
              </p:cNvPr>
              <p:cNvSpPr/>
              <p:nvPr/>
            </p:nvSpPr>
            <p:spPr>
              <a:xfrm>
                <a:off x="10423770" y="5224144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22A8E3D-7AF9-7142-A876-7734CBA5D90A}"/>
                  </a:ext>
                </a:extLst>
              </p:cNvPr>
              <p:cNvSpPr/>
              <p:nvPr/>
            </p:nvSpPr>
            <p:spPr>
              <a:xfrm>
                <a:off x="10420069" y="5562767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3A140948-03F4-0343-A8B4-A056C8B6F7D5}"/>
                  </a:ext>
                </a:extLst>
              </p:cNvPr>
              <p:cNvCxnSpPr>
                <a:cxnSpLocks/>
                <a:stCxn id="55" idx="0"/>
                <a:endCxn id="55" idx="2"/>
              </p:cNvCxnSpPr>
              <p:nvPr/>
            </p:nvCxnSpPr>
            <p:spPr>
              <a:xfrm>
                <a:off x="11073592" y="5562767"/>
                <a:ext cx="0" cy="3354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C1D920A5-6E3E-074C-8F69-2FE996B32222}"/>
                  </a:ext>
                </a:extLst>
              </p:cNvPr>
              <p:cNvSpPr/>
              <p:nvPr/>
            </p:nvSpPr>
            <p:spPr>
              <a:xfrm flipH="1" flipV="1">
                <a:off x="11397241" y="569458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2914F5A-28C0-9548-A0E1-EA695F8463D8}"/>
                </a:ext>
              </a:extLst>
            </p:cNvPr>
            <p:cNvGrpSpPr/>
            <p:nvPr/>
          </p:nvGrpSpPr>
          <p:grpSpPr>
            <a:xfrm>
              <a:off x="7135977" y="5332745"/>
              <a:ext cx="1310579" cy="671916"/>
              <a:chOff x="7000832" y="5165563"/>
              <a:chExt cx="1310579" cy="671916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C7CCC83-9566-A240-AD2A-9C021D78F9FD}"/>
                  </a:ext>
                </a:extLst>
              </p:cNvPr>
              <p:cNvSpPr/>
              <p:nvPr/>
            </p:nvSpPr>
            <p:spPr>
              <a:xfrm flipH="1" flipV="1">
                <a:off x="7249036" y="5640850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0D74847-3D4E-E94B-94A8-902D1EEE07CB}"/>
                  </a:ext>
                </a:extLst>
              </p:cNvPr>
              <p:cNvSpPr/>
              <p:nvPr/>
            </p:nvSpPr>
            <p:spPr>
              <a:xfrm>
                <a:off x="7004366" y="5502030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5057D2C-3C44-4745-A3DC-91E2AB4485D4}"/>
                  </a:ext>
                </a:extLst>
              </p:cNvPr>
              <p:cNvCxnSpPr>
                <a:cxnSpLocks/>
                <a:stCxn id="49" idx="0"/>
                <a:endCxn id="49" idx="2"/>
              </p:cNvCxnSpPr>
              <p:nvPr/>
            </p:nvCxnSpPr>
            <p:spPr>
              <a:xfrm>
                <a:off x="7657889" y="5502030"/>
                <a:ext cx="0" cy="3354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AF4B364-7D22-D448-BE72-2AC64959A5B4}"/>
                  </a:ext>
                </a:extLst>
              </p:cNvPr>
              <p:cNvSpPr/>
              <p:nvPr/>
            </p:nvSpPr>
            <p:spPr>
              <a:xfrm flipH="1" flipV="1">
                <a:off x="7981538" y="5633851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6EE26D9-3DC2-E649-AE56-7CCB5AEFA81E}"/>
                  </a:ext>
                </a:extLst>
              </p:cNvPr>
              <p:cNvSpPr/>
              <p:nvPr/>
            </p:nvSpPr>
            <p:spPr>
              <a:xfrm>
                <a:off x="7000832" y="5165563"/>
                <a:ext cx="1307045" cy="33544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8CE750A-C92E-BE46-972F-DE791B07DA03}"/>
                </a:ext>
              </a:extLst>
            </p:cNvPr>
            <p:cNvCxnSpPr>
              <a:stCxn id="60" idx="7"/>
              <a:endCxn id="52" idx="0"/>
            </p:cNvCxnSpPr>
            <p:nvPr/>
          </p:nvCxnSpPr>
          <p:spPr>
            <a:xfrm flipH="1">
              <a:off x="7789500" y="4536645"/>
              <a:ext cx="997122" cy="7961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C5193FA-E8A2-1C42-B3C2-39894465CEFC}"/>
                </a:ext>
              </a:extLst>
            </p:cNvPr>
            <p:cNvCxnSpPr>
              <a:cxnSpLocks/>
              <a:stCxn id="64" idx="0"/>
              <a:endCxn id="54" idx="0"/>
            </p:cNvCxnSpPr>
            <p:nvPr/>
          </p:nvCxnSpPr>
          <p:spPr>
            <a:xfrm>
              <a:off x="9549197" y="4540931"/>
              <a:ext cx="741615" cy="8057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726DC97-9063-6C4F-8828-388682116991}"/>
                </a:ext>
              </a:extLst>
            </p:cNvPr>
            <p:cNvSpPr txBox="1"/>
            <p:nvPr/>
          </p:nvSpPr>
          <p:spPr>
            <a:xfrm>
              <a:off x="6895092" y="4582451"/>
              <a:ext cx="11801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BST with 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smaller keys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61C8D1-5FBA-9446-996A-30000AE7C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1494" y="6018381"/>
              <a:ext cx="372250" cy="3504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C4910C-5AFF-8840-8176-09FB750B8FF9}"/>
                </a:ext>
              </a:extLst>
            </p:cNvPr>
            <p:cNvCxnSpPr>
              <a:cxnSpLocks/>
            </p:cNvCxnSpPr>
            <p:nvPr/>
          </p:nvCxnSpPr>
          <p:spPr>
            <a:xfrm>
              <a:off x="8156919" y="6000962"/>
              <a:ext cx="293171" cy="346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3D1C2AA-E181-4849-B27C-6121BCA9EC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1254" y="6028887"/>
              <a:ext cx="372250" cy="3504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E97CE9E-F20C-0C49-AB5C-61555B933C09}"/>
                </a:ext>
              </a:extLst>
            </p:cNvPr>
            <p:cNvCxnSpPr>
              <a:cxnSpLocks/>
            </p:cNvCxnSpPr>
            <p:nvPr/>
          </p:nvCxnSpPr>
          <p:spPr>
            <a:xfrm>
              <a:off x="10686679" y="6011468"/>
              <a:ext cx="293171" cy="346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rapezium 44">
              <a:extLst>
                <a:ext uri="{FF2B5EF4-FFF2-40B4-BE49-F238E27FC236}">
                  <a16:creationId xmlns:a16="http://schemas.microsoft.com/office/drawing/2014/main" id="{DA9086EA-017C-2443-A174-5878BDEDC035}"/>
                </a:ext>
              </a:extLst>
            </p:cNvPr>
            <p:cNvSpPr/>
            <p:nvPr/>
          </p:nvSpPr>
          <p:spPr>
            <a:xfrm>
              <a:off x="6420201" y="3657029"/>
              <a:ext cx="5404782" cy="3009167"/>
            </a:xfrm>
            <a:prstGeom prst="trapezoid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rapezium 45">
              <a:extLst>
                <a:ext uri="{FF2B5EF4-FFF2-40B4-BE49-F238E27FC236}">
                  <a16:creationId xmlns:a16="http://schemas.microsoft.com/office/drawing/2014/main" id="{12DB754D-6C06-5D4C-B4E0-97FFCFC5443B}"/>
                </a:ext>
              </a:extLst>
            </p:cNvPr>
            <p:cNvSpPr/>
            <p:nvPr/>
          </p:nvSpPr>
          <p:spPr>
            <a:xfrm>
              <a:off x="6597897" y="5125366"/>
              <a:ext cx="2337324" cy="1422652"/>
            </a:xfrm>
            <a:prstGeom prst="trapezoid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rapezium 46">
              <a:extLst>
                <a:ext uri="{FF2B5EF4-FFF2-40B4-BE49-F238E27FC236}">
                  <a16:creationId xmlns:a16="http://schemas.microsoft.com/office/drawing/2014/main" id="{4D9B3A8C-E5D8-064A-991A-95D04BE33930}"/>
                </a:ext>
              </a:extLst>
            </p:cNvPr>
            <p:cNvSpPr/>
            <p:nvPr/>
          </p:nvSpPr>
          <p:spPr>
            <a:xfrm>
              <a:off x="9114054" y="5122933"/>
              <a:ext cx="2337324" cy="1422652"/>
            </a:xfrm>
            <a:prstGeom prst="trapezoid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 descr="auxiliary queue with all visited keys in order">
            <a:extLst>
              <a:ext uri="{FF2B5EF4-FFF2-40B4-BE49-F238E27FC236}">
                <a16:creationId xmlns:a16="http://schemas.microsoft.com/office/drawing/2014/main" id="{5F1B3987-A37D-E541-8D02-B59BF8990153}"/>
              </a:ext>
            </a:extLst>
          </p:cNvPr>
          <p:cNvGrpSpPr/>
          <p:nvPr/>
        </p:nvGrpSpPr>
        <p:grpSpPr>
          <a:xfrm>
            <a:off x="2732476" y="5293838"/>
            <a:ext cx="9368139" cy="840955"/>
            <a:chOff x="2732476" y="5293838"/>
            <a:chExt cx="9368139" cy="8409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C3FA7D-2606-4B49-A376-07815B469232}"/>
                </a:ext>
              </a:extLst>
            </p:cNvPr>
            <p:cNvSpPr/>
            <p:nvPr/>
          </p:nvSpPr>
          <p:spPr>
            <a:xfrm>
              <a:off x="6295981" y="5394685"/>
              <a:ext cx="2515020" cy="597353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Smaller keys, in order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E0E859A-8A68-7648-817F-372DA45C4A51}"/>
                </a:ext>
              </a:extLst>
            </p:cNvPr>
            <p:cNvSpPr/>
            <p:nvPr/>
          </p:nvSpPr>
          <p:spPr>
            <a:xfrm>
              <a:off x="9522560" y="5402764"/>
              <a:ext cx="2515020" cy="604073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Larger keys, in order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2347DB8-A6EE-574E-A4D0-190D443A8296}"/>
                </a:ext>
              </a:extLst>
            </p:cNvPr>
            <p:cNvSpPr/>
            <p:nvPr/>
          </p:nvSpPr>
          <p:spPr>
            <a:xfrm>
              <a:off x="8894258" y="5409484"/>
              <a:ext cx="565266" cy="59735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414E2D0-2149-1940-9155-D80ED85BCB83}"/>
                </a:ext>
              </a:extLst>
            </p:cNvPr>
            <p:cNvSpPr/>
            <p:nvPr/>
          </p:nvSpPr>
          <p:spPr>
            <a:xfrm>
              <a:off x="6232944" y="5293838"/>
              <a:ext cx="5867671" cy="840955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BA4ED75-89F4-534C-BB6B-AC244C3AB9F8}"/>
                </a:ext>
              </a:extLst>
            </p:cNvPr>
            <p:cNvSpPr txBox="1"/>
            <p:nvPr/>
          </p:nvSpPr>
          <p:spPr>
            <a:xfrm>
              <a:off x="2732476" y="5529649"/>
              <a:ext cx="2903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queue, all keys in order(G)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64762A2-4E65-4C4E-8BC0-38350D161EB1}"/>
                </a:ext>
              </a:extLst>
            </p:cNvPr>
            <p:cNvCxnSpPr>
              <a:stCxn id="67" idx="3"/>
              <a:endCxn id="66" idx="1"/>
            </p:cNvCxnSpPr>
            <p:nvPr/>
          </p:nvCxnSpPr>
          <p:spPr>
            <a:xfrm>
              <a:off x="5635835" y="5714315"/>
              <a:ext cx="597109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4257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4" name="Group 3" descr="demo of floor computation in BST">
            <a:extLst>
              <a:ext uri="{FF2B5EF4-FFF2-40B4-BE49-F238E27FC236}">
                <a16:creationId xmlns:a16="http://schemas.microsoft.com/office/drawing/2014/main" id="{3FB8A4E9-76FF-D040-AA30-E130C2D51224}"/>
              </a:ext>
            </a:extLst>
          </p:cNvPr>
          <p:cNvGrpSpPr/>
          <p:nvPr/>
        </p:nvGrpSpPr>
        <p:grpSpPr>
          <a:xfrm>
            <a:off x="6210869" y="3256122"/>
            <a:ext cx="4613508" cy="2573854"/>
            <a:chOff x="4845892" y="3128680"/>
            <a:chExt cx="4613508" cy="257385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7476A9B-2A0B-0646-B7EA-914DFB9A97FB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C8AF126-A788-FF4E-85C0-387A34E3F9E9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A76324-8A9C-FE45-A877-8BB3061FEC0E}"/>
                </a:ext>
              </a:extLst>
            </p:cNvPr>
            <p:cNvCxnSpPr>
              <a:cxnSpLocks/>
              <a:stCxn id="6" idx="3"/>
              <a:endCxn id="2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F902A1-83CE-0F41-ADB7-F62E5A88C15A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0F340F6-67D7-8F42-B9D5-AF8C09B8224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4D1224D-B70F-8C45-B01C-303DD1B6B317}"/>
                  </a:ext>
                </a:extLst>
              </p:cNvPr>
              <p:cNvCxnSpPr>
                <a:cxnSpLocks/>
                <a:stCxn id="26" idx="3"/>
                <a:endCxn id="1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651708C-9541-8F41-8094-6E9A4458E116}"/>
                  </a:ext>
                </a:extLst>
              </p:cNvPr>
              <p:cNvCxnSpPr>
                <a:cxnSpLocks/>
                <a:stCxn id="26" idx="5"/>
                <a:endCxn id="1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7EAA01-556D-2645-ADBE-7AC7F7632FF4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B45E4E9-A18A-9C4E-8EBF-6766844147AF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86C6C4-3208-6A41-9684-6AFF90087CF2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902ACDB-7FF2-DE40-8D49-CE0B7A21DAB0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D5478CB-BEEE-7441-85FC-11950F97C9F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743036-FEF4-9C46-B751-36E86E87D7BD}"/>
                  </a:ext>
                </a:extLst>
              </p:cNvPr>
              <p:cNvCxnSpPr>
                <a:cxnSpLocks/>
                <a:stCxn id="11" idx="3"/>
                <a:endCxn id="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9372381-A894-8C48-B0A6-916DEB0C4447}"/>
                  </a:ext>
                </a:extLst>
              </p:cNvPr>
              <p:cNvCxnSpPr>
                <a:cxnSpLocks/>
                <a:stCxn id="6" idx="5"/>
                <a:endCxn id="2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799096-F9D0-904C-8F1A-EAA5318D6A38}"/>
                </a:ext>
              </a:extLst>
            </p:cNvPr>
            <p:cNvSpPr txBox="1"/>
            <p:nvPr/>
          </p:nvSpPr>
          <p:spPr>
            <a:xfrm>
              <a:off x="4845892" y="3128680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floor(G)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57A63C6-BE50-904F-A9F9-1DA47DCBF42A}"/>
                </a:ext>
              </a:extLst>
            </p:cNvPr>
            <p:cNvCxnSpPr>
              <a:cxnSpLocks/>
              <a:stCxn id="10" idx="5"/>
              <a:endCxn id="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98C481-F91A-1D4C-BD20-9B5EF43EF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B29B89-A5EB-7F43-A6B4-231828F82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0F1151-0CCA-A542-83ED-8BF597512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D49BBCD-AD67-4D4B-88C8-7701AA94810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35F08-3E2B-CE43-A558-A7D6FACE012B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63A758-987E-9B41-891A-8BD258C55D36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BAA636-4003-0740-96E8-47A3230E1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6AAC9D-32A8-8C41-A3FE-91B4657B8DE1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770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4" name="Group 3" descr="demo of floor computation in BST">
            <a:extLst>
              <a:ext uri="{FF2B5EF4-FFF2-40B4-BE49-F238E27FC236}">
                <a16:creationId xmlns:a16="http://schemas.microsoft.com/office/drawing/2014/main" id="{3FB8A4E9-76FF-D040-AA30-E130C2D51224}"/>
              </a:ext>
            </a:extLst>
          </p:cNvPr>
          <p:cNvGrpSpPr/>
          <p:nvPr/>
        </p:nvGrpSpPr>
        <p:grpSpPr>
          <a:xfrm>
            <a:off x="6210869" y="3256122"/>
            <a:ext cx="4613508" cy="2573854"/>
            <a:chOff x="4845892" y="3128680"/>
            <a:chExt cx="4613508" cy="257385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7476A9B-2A0B-0646-B7EA-914DFB9A97FB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C8AF126-A788-FF4E-85C0-387A34E3F9E9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A76324-8A9C-FE45-A877-8BB3061FEC0E}"/>
                </a:ext>
              </a:extLst>
            </p:cNvPr>
            <p:cNvCxnSpPr>
              <a:cxnSpLocks/>
              <a:stCxn id="6" idx="3"/>
              <a:endCxn id="2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F902A1-83CE-0F41-ADB7-F62E5A88C15A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0F340F6-67D7-8F42-B9D5-AF8C09B8224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4D1224D-B70F-8C45-B01C-303DD1B6B317}"/>
                  </a:ext>
                </a:extLst>
              </p:cNvPr>
              <p:cNvCxnSpPr>
                <a:cxnSpLocks/>
                <a:stCxn id="26" idx="3"/>
                <a:endCxn id="1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651708C-9541-8F41-8094-6E9A4458E116}"/>
                  </a:ext>
                </a:extLst>
              </p:cNvPr>
              <p:cNvCxnSpPr>
                <a:cxnSpLocks/>
                <a:stCxn id="26" idx="5"/>
                <a:endCxn id="1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7EAA01-556D-2645-ADBE-7AC7F7632FF4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B45E4E9-A18A-9C4E-8EBF-6766844147AF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86C6C4-3208-6A41-9684-6AFF90087CF2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902ACDB-7FF2-DE40-8D49-CE0B7A21DAB0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D5478CB-BEEE-7441-85FC-11950F97C9F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743036-FEF4-9C46-B751-36E86E87D7BD}"/>
                  </a:ext>
                </a:extLst>
              </p:cNvPr>
              <p:cNvCxnSpPr>
                <a:cxnSpLocks/>
                <a:stCxn id="11" idx="3"/>
                <a:endCxn id="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9372381-A894-8C48-B0A6-916DEB0C4447}"/>
                  </a:ext>
                </a:extLst>
              </p:cNvPr>
              <p:cNvCxnSpPr>
                <a:cxnSpLocks/>
                <a:stCxn id="6" idx="5"/>
                <a:endCxn id="2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799096-F9D0-904C-8F1A-EAA5318D6A38}"/>
                </a:ext>
              </a:extLst>
            </p:cNvPr>
            <p:cNvSpPr txBox="1"/>
            <p:nvPr/>
          </p:nvSpPr>
          <p:spPr>
            <a:xfrm>
              <a:off x="4845892" y="3128680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floor(G)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57A63C6-BE50-904F-A9F9-1DA47DCBF42A}"/>
                </a:ext>
              </a:extLst>
            </p:cNvPr>
            <p:cNvCxnSpPr>
              <a:cxnSpLocks/>
              <a:stCxn id="10" idx="5"/>
              <a:endCxn id="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98C481-F91A-1D4C-BD20-9B5EF43EF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B29B89-A5EB-7F43-A6B4-231828F82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0F1151-0CCA-A542-83ED-8BF597512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D49BBCD-AD67-4D4B-88C8-7701AA94810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35F08-3E2B-CE43-A558-A7D6FACE012B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63A758-987E-9B41-891A-8BD258C55D36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BAA636-4003-0740-96E8-47A3230E1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6AAC9D-32A8-8C41-A3FE-91B4657B8DE1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2259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4" name="Group 3" descr="demo of floor computation in BST">
            <a:extLst>
              <a:ext uri="{FF2B5EF4-FFF2-40B4-BE49-F238E27FC236}">
                <a16:creationId xmlns:a16="http://schemas.microsoft.com/office/drawing/2014/main" id="{3FB8A4E9-76FF-D040-AA30-E130C2D51224}"/>
              </a:ext>
            </a:extLst>
          </p:cNvPr>
          <p:cNvGrpSpPr/>
          <p:nvPr/>
        </p:nvGrpSpPr>
        <p:grpSpPr>
          <a:xfrm>
            <a:off x="6210869" y="3256122"/>
            <a:ext cx="4613508" cy="2573854"/>
            <a:chOff x="4845892" y="3128680"/>
            <a:chExt cx="4613508" cy="257385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7476A9B-2A0B-0646-B7EA-914DFB9A97FB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C8AF126-A788-FF4E-85C0-387A34E3F9E9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A76324-8A9C-FE45-A877-8BB3061FEC0E}"/>
                </a:ext>
              </a:extLst>
            </p:cNvPr>
            <p:cNvCxnSpPr>
              <a:cxnSpLocks/>
              <a:stCxn id="6" idx="3"/>
              <a:endCxn id="2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F902A1-83CE-0F41-ADB7-F62E5A88C15A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0F340F6-67D7-8F42-B9D5-AF8C09B8224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4D1224D-B70F-8C45-B01C-303DD1B6B317}"/>
                  </a:ext>
                </a:extLst>
              </p:cNvPr>
              <p:cNvCxnSpPr>
                <a:cxnSpLocks/>
                <a:stCxn id="26" idx="3"/>
                <a:endCxn id="1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651708C-9541-8F41-8094-6E9A4458E116}"/>
                  </a:ext>
                </a:extLst>
              </p:cNvPr>
              <p:cNvCxnSpPr>
                <a:cxnSpLocks/>
                <a:stCxn id="26" idx="5"/>
                <a:endCxn id="1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7EAA01-556D-2645-ADBE-7AC7F7632FF4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B45E4E9-A18A-9C4E-8EBF-6766844147AF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86C6C4-3208-6A41-9684-6AFF90087CF2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902ACDB-7FF2-DE40-8D49-CE0B7A21DAB0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D5478CB-BEEE-7441-85FC-11950F97C9F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743036-FEF4-9C46-B751-36E86E87D7BD}"/>
                  </a:ext>
                </a:extLst>
              </p:cNvPr>
              <p:cNvCxnSpPr>
                <a:cxnSpLocks/>
                <a:stCxn id="11" idx="3"/>
                <a:endCxn id="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9372381-A894-8C48-B0A6-916DEB0C4447}"/>
                  </a:ext>
                </a:extLst>
              </p:cNvPr>
              <p:cNvCxnSpPr>
                <a:cxnSpLocks/>
                <a:stCxn id="6" idx="5"/>
                <a:endCxn id="2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799096-F9D0-904C-8F1A-EAA5318D6A38}"/>
                </a:ext>
              </a:extLst>
            </p:cNvPr>
            <p:cNvSpPr txBox="1"/>
            <p:nvPr/>
          </p:nvSpPr>
          <p:spPr>
            <a:xfrm>
              <a:off x="4845892" y="3128680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floor(G)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57A63C6-BE50-904F-A9F9-1DA47DCBF42A}"/>
                </a:ext>
              </a:extLst>
            </p:cNvPr>
            <p:cNvCxnSpPr>
              <a:cxnSpLocks/>
              <a:stCxn id="10" idx="5"/>
              <a:endCxn id="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98C481-F91A-1D4C-BD20-9B5EF43EF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B29B89-A5EB-7F43-A6B4-231828F82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0F1151-0CCA-A542-83ED-8BF597512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D49BBCD-AD67-4D4B-88C8-7701AA94810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35F08-3E2B-CE43-A558-A7D6FACE012B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63A758-987E-9B41-891A-8BD258C55D36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BAA636-4003-0740-96E8-47A3230E1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6AAC9D-32A8-8C41-A3FE-91B4657B8DE1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7849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4" name="Group 3" descr="demo of floor computation in BST">
            <a:extLst>
              <a:ext uri="{FF2B5EF4-FFF2-40B4-BE49-F238E27FC236}">
                <a16:creationId xmlns:a16="http://schemas.microsoft.com/office/drawing/2014/main" id="{3FB8A4E9-76FF-D040-AA30-E130C2D51224}"/>
              </a:ext>
            </a:extLst>
          </p:cNvPr>
          <p:cNvGrpSpPr/>
          <p:nvPr/>
        </p:nvGrpSpPr>
        <p:grpSpPr>
          <a:xfrm>
            <a:off x="6210869" y="3256122"/>
            <a:ext cx="4613508" cy="2573854"/>
            <a:chOff x="4845892" y="3128680"/>
            <a:chExt cx="4613508" cy="257385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7476A9B-2A0B-0646-B7EA-914DFB9A97FB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C8AF126-A788-FF4E-85C0-387A34E3F9E9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A76324-8A9C-FE45-A877-8BB3061FEC0E}"/>
                </a:ext>
              </a:extLst>
            </p:cNvPr>
            <p:cNvCxnSpPr>
              <a:cxnSpLocks/>
              <a:stCxn id="6" idx="3"/>
              <a:endCxn id="2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F902A1-83CE-0F41-ADB7-F62E5A88C15A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0F340F6-67D7-8F42-B9D5-AF8C09B8224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4D1224D-B70F-8C45-B01C-303DD1B6B317}"/>
                  </a:ext>
                </a:extLst>
              </p:cNvPr>
              <p:cNvCxnSpPr>
                <a:cxnSpLocks/>
                <a:stCxn id="26" idx="3"/>
                <a:endCxn id="1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651708C-9541-8F41-8094-6E9A4458E116}"/>
                  </a:ext>
                </a:extLst>
              </p:cNvPr>
              <p:cNvCxnSpPr>
                <a:cxnSpLocks/>
                <a:stCxn id="26" idx="5"/>
                <a:endCxn id="1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7EAA01-556D-2645-ADBE-7AC7F7632FF4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B45E4E9-A18A-9C4E-8EBF-6766844147AF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86C6C4-3208-6A41-9684-6AFF90087CF2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902ACDB-7FF2-DE40-8D49-CE0B7A21DAB0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D5478CB-BEEE-7441-85FC-11950F97C9F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743036-FEF4-9C46-B751-36E86E87D7BD}"/>
                  </a:ext>
                </a:extLst>
              </p:cNvPr>
              <p:cNvCxnSpPr>
                <a:cxnSpLocks/>
                <a:stCxn id="11" idx="3"/>
                <a:endCxn id="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9372381-A894-8C48-B0A6-916DEB0C4447}"/>
                  </a:ext>
                </a:extLst>
              </p:cNvPr>
              <p:cNvCxnSpPr>
                <a:cxnSpLocks/>
                <a:stCxn id="6" idx="5"/>
                <a:endCxn id="2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799096-F9D0-904C-8F1A-EAA5318D6A38}"/>
                </a:ext>
              </a:extLst>
            </p:cNvPr>
            <p:cNvSpPr txBox="1"/>
            <p:nvPr/>
          </p:nvSpPr>
          <p:spPr>
            <a:xfrm>
              <a:off x="4845892" y="3128680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floor(G)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57A63C6-BE50-904F-A9F9-1DA47DCBF42A}"/>
                </a:ext>
              </a:extLst>
            </p:cNvPr>
            <p:cNvCxnSpPr>
              <a:cxnSpLocks/>
              <a:stCxn id="10" idx="5"/>
              <a:endCxn id="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98C481-F91A-1D4C-BD20-9B5EF43EF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B29B89-A5EB-7F43-A6B4-231828F82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0F1151-0CCA-A542-83ED-8BF597512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D49BBCD-AD67-4D4B-88C8-7701AA94810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35F08-3E2B-CE43-A558-A7D6FACE012B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63A758-987E-9B41-891A-8BD258C55D36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BAA636-4003-0740-96E8-47A3230E1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6AAC9D-32A8-8C41-A3FE-91B4657B8DE1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9455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4" name="Group 3" descr="demo of floor computation in BST">
            <a:extLst>
              <a:ext uri="{FF2B5EF4-FFF2-40B4-BE49-F238E27FC236}">
                <a16:creationId xmlns:a16="http://schemas.microsoft.com/office/drawing/2014/main" id="{3FB8A4E9-76FF-D040-AA30-E130C2D51224}"/>
              </a:ext>
            </a:extLst>
          </p:cNvPr>
          <p:cNvGrpSpPr/>
          <p:nvPr/>
        </p:nvGrpSpPr>
        <p:grpSpPr>
          <a:xfrm>
            <a:off x="6210869" y="3256122"/>
            <a:ext cx="4613508" cy="2573854"/>
            <a:chOff x="4845892" y="3128680"/>
            <a:chExt cx="4613508" cy="257385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7476A9B-2A0B-0646-B7EA-914DFB9A97FB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C8AF126-A788-FF4E-85C0-387A34E3F9E9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A76324-8A9C-FE45-A877-8BB3061FEC0E}"/>
                </a:ext>
              </a:extLst>
            </p:cNvPr>
            <p:cNvCxnSpPr>
              <a:cxnSpLocks/>
              <a:stCxn id="6" idx="3"/>
              <a:endCxn id="2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F902A1-83CE-0F41-ADB7-F62E5A88C15A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0F340F6-67D7-8F42-B9D5-AF8C09B8224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4D1224D-B70F-8C45-B01C-303DD1B6B317}"/>
                  </a:ext>
                </a:extLst>
              </p:cNvPr>
              <p:cNvCxnSpPr>
                <a:cxnSpLocks/>
                <a:stCxn id="26" idx="3"/>
                <a:endCxn id="1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651708C-9541-8F41-8094-6E9A4458E116}"/>
                  </a:ext>
                </a:extLst>
              </p:cNvPr>
              <p:cNvCxnSpPr>
                <a:cxnSpLocks/>
                <a:stCxn id="26" idx="5"/>
                <a:endCxn id="1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7EAA01-556D-2645-ADBE-7AC7F7632FF4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B45E4E9-A18A-9C4E-8EBF-6766844147AF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86C6C4-3208-6A41-9684-6AFF90087CF2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902ACDB-7FF2-DE40-8D49-CE0B7A21DAB0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D5478CB-BEEE-7441-85FC-11950F97C9F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743036-FEF4-9C46-B751-36E86E87D7BD}"/>
                  </a:ext>
                </a:extLst>
              </p:cNvPr>
              <p:cNvCxnSpPr>
                <a:cxnSpLocks/>
                <a:stCxn id="11" idx="3"/>
                <a:endCxn id="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9372381-A894-8C48-B0A6-916DEB0C4447}"/>
                  </a:ext>
                </a:extLst>
              </p:cNvPr>
              <p:cNvCxnSpPr>
                <a:cxnSpLocks/>
                <a:stCxn id="6" idx="5"/>
                <a:endCxn id="2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799096-F9D0-904C-8F1A-EAA5318D6A38}"/>
                </a:ext>
              </a:extLst>
            </p:cNvPr>
            <p:cNvSpPr txBox="1"/>
            <p:nvPr/>
          </p:nvSpPr>
          <p:spPr>
            <a:xfrm>
              <a:off x="4845892" y="3128680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floor(G)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57A63C6-BE50-904F-A9F9-1DA47DCBF42A}"/>
                </a:ext>
              </a:extLst>
            </p:cNvPr>
            <p:cNvCxnSpPr>
              <a:cxnSpLocks/>
              <a:stCxn id="10" idx="5"/>
              <a:endCxn id="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98C481-F91A-1D4C-BD20-9B5EF43EF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B29B89-A5EB-7F43-A6B4-231828F82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0F1151-0CCA-A542-83ED-8BF597512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D49BBCD-AD67-4D4B-88C8-7701AA94810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35F08-3E2B-CE43-A558-A7D6FACE012B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63A758-987E-9B41-891A-8BD258C55D36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BAA636-4003-0740-96E8-47A3230E1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6AAC9D-32A8-8C41-A3FE-91B4657B8DE1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3665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4" name="Group 3" descr="demo of floor computation in BST">
            <a:extLst>
              <a:ext uri="{FF2B5EF4-FFF2-40B4-BE49-F238E27FC236}">
                <a16:creationId xmlns:a16="http://schemas.microsoft.com/office/drawing/2014/main" id="{3FB8A4E9-76FF-D040-AA30-E130C2D51224}"/>
              </a:ext>
            </a:extLst>
          </p:cNvPr>
          <p:cNvGrpSpPr/>
          <p:nvPr/>
        </p:nvGrpSpPr>
        <p:grpSpPr>
          <a:xfrm>
            <a:off x="6210869" y="3256122"/>
            <a:ext cx="4613508" cy="2573854"/>
            <a:chOff x="4845892" y="3128680"/>
            <a:chExt cx="4613508" cy="257385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7476A9B-2A0B-0646-B7EA-914DFB9A97FB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C8AF126-A788-FF4E-85C0-387A34E3F9E9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A76324-8A9C-FE45-A877-8BB3061FEC0E}"/>
                </a:ext>
              </a:extLst>
            </p:cNvPr>
            <p:cNvCxnSpPr>
              <a:cxnSpLocks/>
              <a:stCxn id="6" idx="3"/>
              <a:endCxn id="26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F902A1-83CE-0F41-ADB7-F62E5A88C15A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0F340F6-67D7-8F42-B9D5-AF8C09B82244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4D1224D-B70F-8C45-B01C-303DD1B6B317}"/>
                  </a:ext>
                </a:extLst>
              </p:cNvPr>
              <p:cNvCxnSpPr>
                <a:cxnSpLocks/>
                <a:stCxn id="26" idx="3"/>
                <a:endCxn id="10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651708C-9541-8F41-8094-6E9A4458E116}"/>
                  </a:ext>
                </a:extLst>
              </p:cNvPr>
              <p:cNvCxnSpPr>
                <a:cxnSpLocks/>
                <a:stCxn id="26" idx="5"/>
                <a:endCxn id="11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7EAA01-556D-2645-ADBE-7AC7F7632FF4}"/>
                </a:ext>
              </a:extLst>
            </p:cNvPr>
            <p:cNvSpPr/>
            <p:nvPr/>
          </p:nvSpPr>
          <p:spPr>
            <a:xfrm>
              <a:off x="6457047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B45E4E9-A18A-9C4E-8EBF-6766844147AF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86C6C4-3208-6A41-9684-6AFF90087CF2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902ACDB-7FF2-DE40-8D49-CE0B7A21DAB0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D5478CB-BEEE-7441-85FC-11950F97C9FD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743036-FEF4-9C46-B751-36E86E87D7BD}"/>
                  </a:ext>
                </a:extLst>
              </p:cNvPr>
              <p:cNvCxnSpPr>
                <a:cxnSpLocks/>
                <a:stCxn id="11" idx="3"/>
                <a:endCxn id="5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9372381-A894-8C48-B0A6-916DEB0C4447}"/>
                  </a:ext>
                </a:extLst>
              </p:cNvPr>
              <p:cNvCxnSpPr>
                <a:cxnSpLocks/>
                <a:stCxn id="6" idx="5"/>
                <a:endCxn id="23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799096-F9D0-904C-8F1A-EAA5318D6A38}"/>
                </a:ext>
              </a:extLst>
            </p:cNvPr>
            <p:cNvSpPr txBox="1"/>
            <p:nvPr/>
          </p:nvSpPr>
          <p:spPr>
            <a:xfrm>
              <a:off x="4845892" y="3128680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floor(G)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57A63C6-BE50-904F-A9F9-1DA47DCBF42A}"/>
                </a:ext>
              </a:extLst>
            </p:cNvPr>
            <p:cNvCxnSpPr>
              <a:cxnSpLocks/>
              <a:stCxn id="10" idx="5"/>
              <a:endCxn id="9" idx="1"/>
            </p:cNvCxnSpPr>
            <p:nvPr/>
          </p:nvCxnSpPr>
          <p:spPr>
            <a:xfrm>
              <a:off x="6203885" y="4773856"/>
              <a:ext cx="300108" cy="3586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98C481-F91A-1D4C-BD20-9B5EF43EF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B29B89-A5EB-7F43-A6B4-231828F82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0F1151-0CCA-A542-83ED-8BF597512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D49BBCD-AD67-4D4B-88C8-7701AA948105}"/>
                </a:ext>
              </a:extLst>
            </p:cNvPr>
            <p:cNvCxnSpPr>
              <a:cxnSpLocks/>
              <a:stCxn id="23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35F08-3E2B-CE43-A558-A7D6FACE012B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63A758-987E-9B41-891A-8BD258C55D36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BAA636-4003-0740-96E8-47A3230E1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4333" y="5417603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6AAC9D-32A8-8C41-A3FE-91B4657B8DE1}"/>
                </a:ext>
              </a:extLst>
            </p:cNvPr>
            <p:cNvCxnSpPr>
              <a:cxnSpLocks/>
            </p:cNvCxnSpPr>
            <p:nvPr/>
          </p:nvCxnSpPr>
          <p:spPr>
            <a:xfrm>
              <a:off x="6690869" y="5413674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2511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31" name="Group 30" descr="demo of floor computation in BST">
            <a:extLst>
              <a:ext uri="{FF2B5EF4-FFF2-40B4-BE49-F238E27FC236}">
                <a16:creationId xmlns:a16="http://schemas.microsoft.com/office/drawing/2014/main" id="{F075E4B0-3F29-894C-95CD-0D15F13ED568}"/>
              </a:ext>
            </a:extLst>
          </p:cNvPr>
          <p:cNvGrpSpPr/>
          <p:nvPr/>
        </p:nvGrpSpPr>
        <p:grpSpPr>
          <a:xfrm>
            <a:off x="6210869" y="3256122"/>
            <a:ext cx="4613508" cy="2573854"/>
            <a:chOff x="6210869" y="3256122"/>
            <a:chExt cx="4613508" cy="2573854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6210869" y="3256122"/>
              <a:ext cx="4613508" cy="2573854"/>
              <a:chOff x="4845892" y="3128680"/>
              <a:chExt cx="4613508" cy="2573854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799096-F9D0-904C-8F1A-EAA5318D6A38}"/>
                  </a:ext>
                </a:extLst>
              </p:cNvPr>
              <p:cNvSpPr txBox="1"/>
              <p:nvPr/>
            </p:nvSpPr>
            <p:spPr>
              <a:xfrm>
                <a:off x="4845892" y="3128680"/>
                <a:ext cx="9669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floor(G)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714943B-65A7-6A4F-A9D9-E3D36A52F79F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6694335" y="3625454"/>
              <a:ext cx="1516380" cy="51830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5151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36" name="Group 35" descr="demo of ceiling computation in BST">
            <a:extLst>
              <a:ext uri="{FF2B5EF4-FFF2-40B4-BE49-F238E27FC236}">
                <a16:creationId xmlns:a16="http://schemas.microsoft.com/office/drawing/2014/main" id="{C320B98A-442C-6243-BC7D-550CE7982F15}"/>
              </a:ext>
            </a:extLst>
          </p:cNvPr>
          <p:cNvGrpSpPr/>
          <p:nvPr/>
        </p:nvGrpSpPr>
        <p:grpSpPr>
          <a:xfrm>
            <a:off x="7035445" y="3452033"/>
            <a:ext cx="4868363" cy="2377943"/>
            <a:chOff x="7035445" y="3452033"/>
            <a:chExt cx="4868363" cy="2377943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A87ED5-F48B-FC45-A165-1778E7A1F75D}"/>
                </a:ext>
              </a:extLst>
            </p:cNvPr>
            <p:cNvSpPr txBox="1"/>
            <p:nvPr/>
          </p:nvSpPr>
          <p:spPr>
            <a:xfrm>
              <a:off x="10731692" y="3452033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ceiling(Q)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0878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36" name="Group 35" descr="demo of ceiling computation in BST">
            <a:extLst>
              <a:ext uri="{FF2B5EF4-FFF2-40B4-BE49-F238E27FC236}">
                <a16:creationId xmlns:a16="http://schemas.microsoft.com/office/drawing/2014/main" id="{C320B98A-442C-6243-BC7D-550CE7982F15}"/>
              </a:ext>
            </a:extLst>
          </p:cNvPr>
          <p:cNvGrpSpPr/>
          <p:nvPr/>
        </p:nvGrpSpPr>
        <p:grpSpPr>
          <a:xfrm>
            <a:off x="7035445" y="3452033"/>
            <a:ext cx="4868363" cy="2377943"/>
            <a:chOff x="7035445" y="3452033"/>
            <a:chExt cx="4868363" cy="2377943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A87ED5-F48B-FC45-A165-1778E7A1F75D}"/>
                </a:ext>
              </a:extLst>
            </p:cNvPr>
            <p:cNvSpPr txBox="1"/>
            <p:nvPr/>
          </p:nvSpPr>
          <p:spPr>
            <a:xfrm>
              <a:off x="10731692" y="3452033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ceiling(Q)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9398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36" name="Group 35" descr="demo of ceiling computation in BST">
            <a:extLst>
              <a:ext uri="{FF2B5EF4-FFF2-40B4-BE49-F238E27FC236}">
                <a16:creationId xmlns:a16="http://schemas.microsoft.com/office/drawing/2014/main" id="{C320B98A-442C-6243-BC7D-550CE7982F15}"/>
              </a:ext>
            </a:extLst>
          </p:cNvPr>
          <p:cNvGrpSpPr/>
          <p:nvPr/>
        </p:nvGrpSpPr>
        <p:grpSpPr>
          <a:xfrm>
            <a:off x="7035445" y="3452033"/>
            <a:ext cx="4868363" cy="2377943"/>
            <a:chOff x="7035445" y="3452033"/>
            <a:chExt cx="4868363" cy="2377943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A87ED5-F48B-FC45-A165-1778E7A1F75D}"/>
                </a:ext>
              </a:extLst>
            </p:cNvPr>
            <p:cNvSpPr txBox="1"/>
            <p:nvPr/>
          </p:nvSpPr>
          <p:spPr>
            <a:xfrm>
              <a:off x="10731692" y="3452033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ceiling(Q)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8108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36" name="Group 35" descr="demo of ceiling computation in BST">
            <a:extLst>
              <a:ext uri="{FF2B5EF4-FFF2-40B4-BE49-F238E27FC236}">
                <a16:creationId xmlns:a16="http://schemas.microsoft.com/office/drawing/2014/main" id="{C320B98A-442C-6243-BC7D-550CE7982F15}"/>
              </a:ext>
            </a:extLst>
          </p:cNvPr>
          <p:cNvGrpSpPr/>
          <p:nvPr/>
        </p:nvGrpSpPr>
        <p:grpSpPr>
          <a:xfrm>
            <a:off x="7035445" y="3452033"/>
            <a:ext cx="4868363" cy="2377943"/>
            <a:chOff x="7035445" y="3452033"/>
            <a:chExt cx="4868363" cy="2377943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A87ED5-F48B-FC45-A165-1778E7A1F75D}"/>
                </a:ext>
              </a:extLst>
            </p:cNvPr>
            <p:cNvSpPr txBox="1"/>
            <p:nvPr/>
          </p:nvSpPr>
          <p:spPr>
            <a:xfrm>
              <a:off x="10731692" y="3452033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ceiling(Q)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0073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36" name="Group 35" descr="demo of ceiling computation in BST">
            <a:extLst>
              <a:ext uri="{FF2B5EF4-FFF2-40B4-BE49-F238E27FC236}">
                <a16:creationId xmlns:a16="http://schemas.microsoft.com/office/drawing/2014/main" id="{C320B98A-442C-6243-BC7D-550CE7982F15}"/>
              </a:ext>
            </a:extLst>
          </p:cNvPr>
          <p:cNvGrpSpPr/>
          <p:nvPr/>
        </p:nvGrpSpPr>
        <p:grpSpPr>
          <a:xfrm>
            <a:off x="7035445" y="3452033"/>
            <a:ext cx="4868363" cy="2377943"/>
            <a:chOff x="7035445" y="3452033"/>
            <a:chExt cx="4868363" cy="2377943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A87ED5-F48B-FC45-A165-1778E7A1F75D}"/>
                </a:ext>
              </a:extLst>
            </p:cNvPr>
            <p:cNvSpPr txBox="1"/>
            <p:nvPr/>
          </p:nvSpPr>
          <p:spPr>
            <a:xfrm>
              <a:off x="10731692" y="3452033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ceiling(Q)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1102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36" name="Group 35" descr="demo of ceiling computation in BST">
            <a:extLst>
              <a:ext uri="{FF2B5EF4-FFF2-40B4-BE49-F238E27FC236}">
                <a16:creationId xmlns:a16="http://schemas.microsoft.com/office/drawing/2014/main" id="{C320B98A-442C-6243-BC7D-550CE7982F15}"/>
              </a:ext>
            </a:extLst>
          </p:cNvPr>
          <p:cNvGrpSpPr/>
          <p:nvPr/>
        </p:nvGrpSpPr>
        <p:grpSpPr>
          <a:xfrm>
            <a:off x="7035445" y="3452033"/>
            <a:ext cx="4868363" cy="2377943"/>
            <a:chOff x="7035445" y="3452033"/>
            <a:chExt cx="4868363" cy="2377943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A87ED5-F48B-FC45-A165-1778E7A1F75D}"/>
                </a:ext>
              </a:extLst>
            </p:cNvPr>
            <p:cNvSpPr txBox="1"/>
            <p:nvPr/>
          </p:nvSpPr>
          <p:spPr>
            <a:xfrm>
              <a:off x="10731692" y="3452033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ceiling(Q)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3291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BST Implementation of ORDERED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Floor (largest key ≤ a given key)</a:t>
            </a:r>
          </a:p>
          <a:p>
            <a:r>
              <a:rPr lang="en-US" dirty="0"/>
              <a:t>Ceiling (smallest key ≥ a given key)</a:t>
            </a:r>
          </a:p>
        </p:txBody>
      </p:sp>
      <p:grpSp>
        <p:nvGrpSpPr>
          <p:cNvPr id="36" name="Group 35" descr="demo of ceiling computation in BST">
            <a:extLst>
              <a:ext uri="{FF2B5EF4-FFF2-40B4-BE49-F238E27FC236}">
                <a16:creationId xmlns:a16="http://schemas.microsoft.com/office/drawing/2014/main" id="{C320B98A-442C-6243-BC7D-550CE7982F15}"/>
              </a:ext>
            </a:extLst>
          </p:cNvPr>
          <p:cNvGrpSpPr/>
          <p:nvPr/>
        </p:nvGrpSpPr>
        <p:grpSpPr>
          <a:xfrm>
            <a:off x="7035445" y="3452033"/>
            <a:ext cx="3788932" cy="2539126"/>
            <a:chOff x="7035445" y="3452033"/>
            <a:chExt cx="3788932" cy="2539126"/>
          </a:xfrm>
        </p:grpSpPr>
        <p:grpSp>
          <p:nvGrpSpPr>
            <p:cNvPr id="4" name="Group 3" descr="demo of successful search for key in BST">
              <a:extLst>
                <a:ext uri="{FF2B5EF4-FFF2-40B4-BE49-F238E27FC236}">
                  <a16:creationId xmlns:a16="http://schemas.microsoft.com/office/drawing/2014/main" id="{3FB8A4E9-76FF-D040-AA30-E130C2D51224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7476A9B-2A0B-0646-B7EA-914DFB9A97FB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C8AF126-A788-FF4E-85C0-387A34E3F9E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3A76324-8A9C-FE45-A877-8BB3061FEC0E}"/>
                  </a:ext>
                </a:extLst>
              </p:cNvPr>
              <p:cNvCxnSpPr>
                <a:cxnSpLocks/>
                <a:stCxn id="6" idx="3"/>
                <a:endCxn id="26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4F902A1-83CE-0F41-ADB7-F62E5A88C15A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0F340F6-67D7-8F42-B9D5-AF8C09B82244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4D1224D-B70F-8C45-B01C-303DD1B6B317}"/>
                    </a:ext>
                  </a:extLst>
                </p:cNvPr>
                <p:cNvCxnSpPr>
                  <a:cxnSpLocks/>
                  <a:stCxn id="26" idx="3"/>
                  <a:endCxn id="10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651708C-9541-8F41-8094-6E9A4458E116}"/>
                    </a:ext>
                  </a:extLst>
                </p:cNvPr>
                <p:cNvCxnSpPr>
                  <a:cxnSpLocks/>
                  <a:stCxn id="26" idx="5"/>
                  <a:endCxn id="11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7EAA01-556D-2645-ADBE-7AC7F7632FF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B45E4E9-A18A-9C4E-8EBF-6766844147AF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D86C6C4-3208-6A41-9684-6AFF90087CF2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2ACDB-7FF2-DE40-8D49-CE0B7A21DAB0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5478CB-BEEE-7441-85FC-11950F97C9FD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B743036-FEF4-9C46-B751-36E86E87D7BD}"/>
                    </a:ext>
                  </a:extLst>
                </p:cNvPr>
                <p:cNvCxnSpPr>
                  <a:cxnSpLocks/>
                  <a:stCxn id="11" idx="3"/>
                  <a:endCxn id="5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9372381-A894-8C48-B0A6-916DEB0C4447}"/>
                    </a:ext>
                  </a:extLst>
                </p:cNvPr>
                <p:cNvCxnSpPr>
                  <a:cxnSpLocks/>
                  <a:stCxn id="6" idx="5"/>
                  <a:endCxn id="23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7A63C6-BE50-904F-A9F9-1DA47DCBF42A}"/>
                  </a:ext>
                </a:extLst>
              </p:cNvPr>
              <p:cNvCxnSpPr>
                <a:cxnSpLocks/>
                <a:stCxn id="10" idx="5"/>
                <a:endCxn id="9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A98C481-F91A-1D4C-BD20-9B5EF43EF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B29B89-A5EB-7F43-A6B4-231828F821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B0F1151-0CCA-A542-83ED-8BF597512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D49BBCD-AD67-4D4B-88C8-7701AA948105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F35F08-3E2B-CE43-A558-A7D6FACE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663A758-987E-9B41-891A-8BD258C55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BAA636-4003-0740-96E8-47A3230E1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96AAC9D-32A8-8C41-A3FE-91B4657B8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A87ED5-F48B-FC45-A165-1778E7A1F75D}"/>
                </a:ext>
              </a:extLst>
            </p:cNvPr>
            <p:cNvSpPr txBox="1"/>
            <p:nvPr/>
          </p:nvSpPr>
          <p:spPr>
            <a:xfrm>
              <a:off x="9466942" y="5621827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ceiling(Q)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F85EDBE-90F7-4D4C-BE75-5F804E109D62}"/>
                </a:ext>
              </a:extLst>
            </p:cNvPr>
            <p:cNvCxnSpPr>
              <a:cxnSpLocks/>
              <a:stCxn id="29" idx="0"/>
              <a:endCxn id="11" idx="4"/>
            </p:cNvCxnSpPr>
            <p:nvPr/>
          </p:nvCxnSpPr>
          <p:spPr>
            <a:xfrm flipH="1" flipV="1">
              <a:off x="9299502" y="4952092"/>
              <a:ext cx="753498" cy="66973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5673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AF89-9D1B-CA4B-A9E1-BB390D3A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 Extended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4709-3719-6342-8FFA-6579125C3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operations</a:t>
            </a:r>
          </a:p>
          <a:p>
            <a:pPr lvl="1"/>
            <a:r>
              <a:rPr lang="en-US" dirty="0"/>
              <a:t>Min/max</a:t>
            </a:r>
          </a:p>
          <a:p>
            <a:pPr lvl="1"/>
            <a:r>
              <a:rPr lang="en-US" dirty="0"/>
              <a:t>Ordered iteration</a:t>
            </a:r>
          </a:p>
          <a:p>
            <a:pPr lvl="1"/>
            <a:r>
              <a:rPr lang="en-US" dirty="0"/>
              <a:t>Floor/ceiling</a:t>
            </a:r>
          </a:p>
          <a:p>
            <a:pPr lvl="1"/>
            <a:r>
              <a:rPr lang="en-US" dirty="0"/>
              <a:t>Rank</a:t>
            </a:r>
          </a:p>
          <a:p>
            <a:pPr lvl="1"/>
            <a:r>
              <a:rPr lang="en-US" dirty="0"/>
              <a:t>Select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Delete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9378DB-A73D-FB42-B7E9-DD55BEF86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9476"/>
              </p:ext>
            </p:extLst>
          </p:nvPr>
        </p:nvGraphicFramePr>
        <p:xfrm>
          <a:off x="3823855" y="1754411"/>
          <a:ext cx="8170437" cy="4227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429">
                  <a:extLst>
                    <a:ext uri="{9D8B030D-6E8A-4147-A177-3AD203B41FA5}">
                      <a16:colId xmlns:a16="http://schemas.microsoft.com/office/drawing/2014/main" val="3507961404"/>
                    </a:ext>
                  </a:extLst>
                </a:gridCol>
                <a:gridCol w="2360814">
                  <a:extLst>
                    <a:ext uri="{9D8B030D-6E8A-4147-A177-3AD203B41FA5}">
                      <a16:colId xmlns:a16="http://schemas.microsoft.com/office/drawing/2014/main" val="417273784"/>
                    </a:ext>
                  </a:extLst>
                </a:gridCol>
                <a:gridCol w="2061557">
                  <a:extLst>
                    <a:ext uri="{9D8B030D-6E8A-4147-A177-3AD203B41FA5}">
                      <a16:colId xmlns:a16="http://schemas.microsoft.com/office/drawing/2014/main" val="2954995089"/>
                    </a:ext>
                  </a:extLst>
                </a:gridCol>
                <a:gridCol w="1769637">
                  <a:extLst>
                    <a:ext uri="{9D8B030D-6E8A-4147-A177-3AD203B41FA5}">
                      <a16:colId xmlns:a16="http://schemas.microsoft.com/office/drawing/2014/main" val="3695324038"/>
                    </a:ext>
                  </a:extLst>
                </a:gridCol>
              </a:tblGrid>
              <a:tr h="75026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Unsorted linked list &amp; Sequential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 array &amp; binary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51240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(get)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~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70360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(put)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~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841077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Min/max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~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893361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Ordered iteration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38210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Floor / ceiling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~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51623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~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73090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~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341561"/>
                  </a:ext>
                </a:extLst>
              </a:tr>
              <a:tr h="43467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804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994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minimum key</a:t>
            </a:r>
          </a:p>
          <a:p>
            <a:pPr lvl="1"/>
            <a:r>
              <a:rPr lang="en-US" dirty="0"/>
              <a:t>Traverse to the left until finding a node with a null left link</a:t>
            </a:r>
          </a:p>
          <a:p>
            <a:pPr lvl="1"/>
            <a:r>
              <a:rPr lang="en-US" dirty="0"/>
              <a:t>Replace that node by its right link</a:t>
            </a:r>
          </a:p>
        </p:txBody>
      </p:sp>
      <p:grpSp>
        <p:nvGrpSpPr>
          <p:cNvPr id="5" name="Group 4" descr="demo of key deletion in BST">
            <a:extLst>
              <a:ext uri="{FF2B5EF4-FFF2-40B4-BE49-F238E27FC236}">
                <a16:creationId xmlns:a16="http://schemas.microsoft.com/office/drawing/2014/main" id="{BB4612A3-777E-D445-9059-27F3D6BC9653}"/>
              </a:ext>
            </a:extLst>
          </p:cNvPr>
          <p:cNvGrpSpPr/>
          <p:nvPr/>
        </p:nvGrpSpPr>
        <p:grpSpPr>
          <a:xfrm>
            <a:off x="7035445" y="3452033"/>
            <a:ext cx="3788932" cy="2354460"/>
            <a:chOff x="5670468" y="3324591"/>
            <a:chExt cx="3788932" cy="235446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C932429-75F9-A842-8ECA-EA0F6A894721}"/>
                </a:ext>
              </a:extLst>
            </p:cNvPr>
            <p:cNvSpPr/>
            <p:nvPr/>
          </p:nvSpPr>
          <p:spPr>
            <a:xfrm>
              <a:off x="7030774" y="5081697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D09C5E5-313F-994F-A56C-DCDC1F720219}"/>
                </a:ext>
              </a:extLst>
            </p:cNvPr>
            <p:cNvSpPr/>
            <p:nvPr/>
          </p:nvSpPr>
          <p:spPr>
            <a:xfrm>
              <a:off x="7774242" y="3324591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76E69C-1727-FE42-8E70-8D7604FE3BF7}"/>
                </a:ext>
              </a:extLst>
            </p:cNvPr>
            <p:cNvCxnSpPr>
              <a:cxnSpLocks/>
              <a:stCxn id="9" idx="3"/>
              <a:endCxn id="28" idx="0"/>
            </p:cNvCxnSpPr>
            <p:nvPr/>
          </p:nvCxnSpPr>
          <p:spPr>
            <a:xfrm flipH="1">
              <a:off x="7030774" y="3620639"/>
              <a:ext cx="790414" cy="27121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6CE9A8E-6319-2340-9685-9225C69420CB}"/>
                </a:ext>
              </a:extLst>
            </p:cNvPr>
            <p:cNvGrpSpPr/>
            <p:nvPr/>
          </p:nvGrpSpPr>
          <p:grpSpPr>
            <a:xfrm>
              <a:off x="6090548" y="3891858"/>
              <a:ext cx="1730640" cy="636744"/>
              <a:chOff x="3429450" y="3492063"/>
              <a:chExt cx="1730640" cy="636744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AA07841-C371-0B46-B782-4D33EEE79A78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109AC1-7D1C-944F-8ECC-0A66463A41C5}"/>
                  </a:ext>
                </a:extLst>
              </p:cNvPr>
              <p:cNvCxnSpPr>
                <a:cxnSpLocks/>
                <a:stCxn id="28" idx="3"/>
                <a:endCxn id="13" idx="0"/>
              </p:cNvCxnSpPr>
              <p:nvPr/>
            </p:nvCxnSpPr>
            <p:spPr>
              <a:xfrm flipH="1">
                <a:off x="3429450" y="3788111"/>
                <a:ext cx="826889" cy="2899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2E9D3E4-14A9-CE46-80EA-B3CA6C6DB886}"/>
                  </a:ext>
                </a:extLst>
              </p:cNvPr>
              <p:cNvCxnSpPr>
                <a:cxnSpLocks/>
                <a:stCxn id="28" idx="5"/>
                <a:endCxn id="14" idx="1"/>
              </p:cNvCxnSpPr>
              <p:nvPr/>
            </p:nvCxnSpPr>
            <p:spPr>
              <a:xfrm>
                <a:off x="4483013" y="3788111"/>
                <a:ext cx="677077" cy="3406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D5D6696-735C-DD4D-8B77-B1C6CBEEF5DE}"/>
                </a:ext>
              </a:extLst>
            </p:cNvPr>
            <p:cNvSpPr/>
            <p:nvPr/>
          </p:nvSpPr>
          <p:spPr>
            <a:xfrm>
              <a:off x="5930265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A8BB6F8-271B-E44F-8D2B-FEBDCA3624ED}"/>
                </a:ext>
              </a:extLst>
            </p:cNvPr>
            <p:cNvSpPr/>
            <p:nvPr/>
          </p:nvSpPr>
          <p:spPr>
            <a:xfrm>
              <a:off x="7774242" y="447780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57F9C89-90AB-8741-B204-4D07593C6ABE}"/>
                </a:ext>
              </a:extLst>
            </p:cNvPr>
            <p:cNvGrpSpPr/>
            <p:nvPr/>
          </p:nvGrpSpPr>
          <p:grpSpPr>
            <a:xfrm>
              <a:off x="7304394" y="3620639"/>
              <a:ext cx="1919174" cy="1511852"/>
              <a:chOff x="2610785" y="3178812"/>
              <a:chExt cx="1919174" cy="151185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0F0759C-5601-0842-82B1-EDAC41087490}"/>
                  </a:ext>
                </a:extLst>
              </p:cNvPr>
              <p:cNvSpPr/>
              <p:nvPr/>
            </p:nvSpPr>
            <p:spPr>
              <a:xfrm>
                <a:off x="4209393" y="3492063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E5FC171-2E1E-CF44-8E90-9352099B80D6}"/>
                  </a:ext>
                </a:extLst>
              </p:cNvPr>
              <p:cNvCxnSpPr>
                <a:cxnSpLocks/>
                <a:stCxn id="14" idx="3"/>
                <a:endCxn id="8" idx="7"/>
              </p:cNvCxnSpPr>
              <p:nvPr/>
            </p:nvCxnSpPr>
            <p:spPr>
              <a:xfrm flipH="1">
                <a:off x="2610785" y="4332029"/>
                <a:ext cx="516794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F617E95-E35A-8A44-B250-E458A856534A}"/>
                  </a:ext>
                </a:extLst>
              </p:cNvPr>
              <p:cNvCxnSpPr>
                <a:cxnSpLocks/>
                <a:stCxn id="9" idx="5"/>
                <a:endCxn id="25" idx="0"/>
              </p:cNvCxnSpPr>
              <p:nvPr/>
            </p:nvCxnSpPr>
            <p:spPr>
              <a:xfrm>
                <a:off x="3354253" y="3178812"/>
                <a:ext cx="1015423" cy="313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C4A4F8A-3849-7E4B-90EC-517A6DF09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468" y="476114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50F069-70EF-0045-AFFC-BBA2943D9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170" y="4229938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7D18394-98E1-374C-96A8-4712D9A958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2934" y="5394120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FA1827C-3E10-EB48-982D-143A56B37AA3}"/>
                </a:ext>
              </a:extLst>
            </p:cNvPr>
            <p:cNvCxnSpPr>
              <a:cxnSpLocks/>
              <a:stCxn id="25" idx="5"/>
            </p:cNvCxnSpPr>
            <p:nvPr/>
          </p:nvCxnSpPr>
          <p:spPr>
            <a:xfrm>
              <a:off x="9176622" y="4229938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AD0229F-564F-4549-986D-9370D73F6EDF}"/>
                </a:ext>
              </a:extLst>
            </p:cNvPr>
            <p:cNvCxnSpPr>
              <a:cxnSpLocks/>
            </p:cNvCxnSpPr>
            <p:nvPr/>
          </p:nvCxnSpPr>
          <p:spPr>
            <a:xfrm>
              <a:off x="8047952" y="4761144"/>
              <a:ext cx="282778" cy="15227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F482044-036B-BC4D-80B0-A7C9F87EF9DA}"/>
                </a:ext>
              </a:extLst>
            </p:cNvPr>
            <p:cNvCxnSpPr>
              <a:cxnSpLocks/>
            </p:cNvCxnSpPr>
            <p:nvPr/>
          </p:nvCxnSpPr>
          <p:spPr>
            <a:xfrm>
              <a:off x="7279470" y="5390191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B375AA-EA22-CB43-A700-3B4A6AF5EE49}"/>
                </a:ext>
              </a:extLst>
            </p:cNvPr>
            <p:cNvCxnSpPr>
              <a:cxnSpLocks/>
            </p:cNvCxnSpPr>
            <p:nvPr/>
          </p:nvCxnSpPr>
          <p:spPr>
            <a:xfrm>
              <a:off x="6213808" y="4768989"/>
              <a:ext cx="196228" cy="23105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907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minimum key</a:t>
            </a:r>
          </a:p>
          <a:p>
            <a:pPr lvl="1"/>
            <a:r>
              <a:rPr lang="en-US" dirty="0"/>
              <a:t>Traverse to the left until finding a node with a null left link</a:t>
            </a:r>
          </a:p>
          <a:p>
            <a:pPr lvl="1"/>
            <a:r>
              <a:rPr lang="en-US" dirty="0"/>
              <a:t>Replace that node by its right link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7BC90B59-6474-1E4D-9A4A-BD4E4A46A4A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973707" y="3452033"/>
            <a:ext cx="4850670" cy="2354460"/>
            <a:chOff x="5973707" y="3452033"/>
            <a:chExt cx="4850670" cy="2354460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BB4612A3-777E-D445-9059-27F3D6BC9653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54460"/>
              <a:chOff x="5670468" y="3324591"/>
              <a:chExt cx="3788932" cy="235446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C932429-75F9-A842-8ECA-EA0F6A894721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D09C5E5-313F-994F-A56C-DCDC1F72021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C76E69C-1727-FE42-8E70-8D7604FE3BF7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6CE9A8E-6319-2340-9685-9225C69420CB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BAA07841-C371-0B46-B782-4D33EEE79A78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0C109AC1-7D1C-944F-8ECC-0A66463A41C5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2E9D3E4-14A9-CE46-80EA-B3CA6C6DB886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D5D6696-735C-DD4D-8B77-B1C6CBEEF5DE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A8BB6F8-271B-E44F-8D2B-FEBDCA3624ED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57F9C89-90AB-8741-B204-4D07593C6ABE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0F0759C-5601-0842-82B1-EDAC41087490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E5FC171-2E1E-CF44-8E90-9352099B80D6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F617E95-E35A-8A44-B250-E458A856534A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C4A4F8A-3849-7E4B-90EC-517A6DF09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650F069-70EF-0045-AFFC-BBA2943D9E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7D18394-98E1-374C-96A8-4712D9A958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FA1827C-3E10-EB48-982D-143A56B37AA3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AD0229F-564F-4549-986D-9370D73F6E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F482044-036B-BC4D-80B0-A7C9F87EF9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A4B587-B333-E14A-BB04-86D83B2D5CA4}"/>
                </a:ext>
              </a:extLst>
            </p:cNvPr>
            <p:cNvSpPr txBox="1"/>
            <p:nvPr/>
          </p:nvSpPr>
          <p:spPr>
            <a:xfrm>
              <a:off x="5973707" y="4060523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delMin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7A315E3-DBF6-0A4C-86CC-65C1989A06DE}"/>
                </a:ext>
              </a:extLst>
            </p:cNvPr>
            <p:cNvCxnSpPr>
              <a:cxnSpLocks/>
              <a:stCxn id="6" idx="2"/>
              <a:endCxn id="13" idx="2"/>
            </p:cNvCxnSpPr>
            <p:nvPr/>
          </p:nvCxnSpPr>
          <p:spPr>
            <a:xfrm>
              <a:off x="6482821" y="4429855"/>
              <a:ext cx="812421" cy="34881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AA8B49-8A22-6F43-9035-2ABDA7F04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8785" y="4896431"/>
            <a:ext cx="196228" cy="23105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108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minimum key</a:t>
            </a:r>
          </a:p>
          <a:p>
            <a:pPr lvl="1"/>
            <a:r>
              <a:rPr lang="en-US" dirty="0"/>
              <a:t>Traverse to the left until finding a node with a null left link</a:t>
            </a:r>
          </a:p>
          <a:p>
            <a:pPr lvl="1"/>
            <a:r>
              <a:rPr lang="en-US" dirty="0"/>
              <a:t>Replace that node by its right link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7BC90B59-6474-1E4D-9A4A-BD4E4A46A4AB}"/>
              </a:ext>
            </a:extLst>
          </p:cNvPr>
          <p:cNvGrpSpPr/>
          <p:nvPr/>
        </p:nvGrpSpPr>
        <p:grpSpPr>
          <a:xfrm>
            <a:off x="5973707" y="3452033"/>
            <a:ext cx="4850670" cy="2354460"/>
            <a:chOff x="5973707" y="3452033"/>
            <a:chExt cx="4850670" cy="2354460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BB4612A3-777E-D445-9059-27F3D6BC9653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54460"/>
              <a:chOff x="5670468" y="3324591"/>
              <a:chExt cx="3788932" cy="235446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C932429-75F9-A842-8ECA-EA0F6A894721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D09C5E5-313F-994F-A56C-DCDC1F72021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C76E69C-1727-FE42-8E70-8D7604FE3BF7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6CE9A8E-6319-2340-9685-9225C69420CB}"/>
                  </a:ext>
                </a:extLst>
              </p:cNvPr>
              <p:cNvGrpSpPr/>
              <p:nvPr/>
            </p:nvGrpSpPr>
            <p:grpSpPr>
              <a:xfrm>
                <a:off x="6870491" y="3891858"/>
                <a:ext cx="950697" cy="636744"/>
                <a:chOff x="4209393" y="3492063"/>
                <a:chExt cx="950697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BAA07841-C371-0B46-B782-4D33EEE79A78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2E9D3E4-14A9-CE46-80EA-B3CA6C6DB886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D5D6696-735C-DD4D-8B77-B1C6CBEEF5DE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A8BB6F8-271B-E44F-8D2B-FEBDCA3624ED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57F9C89-90AB-8741-B204-4D07593C6ABE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0F0759C-5601-0842-82B1-EDAC41087490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E5FC171-2E1E-CF44-8E90-9352099B80D6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F617E95-E35A-8A44-B250-E458A856534A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C4A4F8A-3849-7E4B-90EC-517A6DF09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650F069-70EF-0045-AFFC-BBA2943D9E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7D18394-98E1-374C-96A8-4712D9A958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FA1827C-3E10-EB48-982D-143A56B37AA3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AD0229F-564F-4549-986D-9370D73F6E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F482044-036B-BC4D-80B0-A7C9F87EF9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DB375AA-EA22-CB43-A700-3B4A6AF5E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8798" y="476043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A4B587-B333-E14A-BB04-86D83B2D5CA4}"/>
                </a:ext>
              </a:extLst>
            </p:cNvPr>
            <p:cNvSpPr txBox="1"/>
            <p:nvPr/>
          </p:nvSpPr>
          <p:spPr>
            <a:xfrm>
              <a:off x="5973707" y="4060523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delMin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7A315E3-DBF6-0A4C-86CC-65C1989A06DE}"/>
                </a:ext>
              </a:extLst>
            </p:cNvPr>
            <p:cNvCxnSpPr>
              <a:cxnSpLocks/>
              <a:stCxn id="6" idx="2"/>
              <a:endCxn id="13" idx="2"/>
            </p:cNvCxnSpPr>
            <p:nvPr/>
          </p:nvCxnSpPr>
          <p:spPr>
            <a:xfrm>
              <a:off x="6482821" y="4429855"/>
              <a:ext cx="812421" cy="34881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44F8C9A-924A-5749-867B-2FE5F4B62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964107" y="4293666"/>
            <a:ext cx="284710" cy="1449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037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minimum key</a:t>
            </a:r>
          </a:p>
          <a:p>
            <a:pPr lvl="1"/>
            <a:r>
              <a:rPr lang="en-US" dirty="0"/>
              <a:t>Traverse to the left until finding a node with a null left link</a:t>
            </a:r>
          </a:p>
          <a:p>
            <a:pPr lvl="1"/>
            <a:r>
              <a:rPr lang="en-US" dirty="0"/>
              <a:t>Replace that node by its right link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7BC90B59-6474-1E4D-9A4A-BD4E4A46A4AB}"/>
              </a:ext>
            </a:extLst>
          </p:cNvPr>
          <p:cNvGrpSpPr/>
          <p:nvPr/>
        </p:nvGrpSpPr>
        <p:grpSpPr>
          <a:xfrm>
            <a:off x="5973707" y="3452033"/>
            <a:ext cx="4850670" cy="2377943"/>
            <a:chOff x="5973707" y="3452033"/>
            <a:chExt cx="4850670" cy="2377943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BB4612A3-777E-D445-9059-27F3D6BC9653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C932429-75F9-A842-8ECA-EA0F6A894721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D09C5E5-313F-994F-A56C-DCDC1F72021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C76E69C-1727-FE42-8E70-8D7604FE3BF7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6CE9A8E-6319-2340-9685-9225C69420CB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BAA07841-C371-0B46-B782-4D33EEE79A78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0C109AC1-7D1C-944F-8ECC-0A66463A41C5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2E9D3E4-14A9-CE46-80EA-B3CA6C6DB886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149BC9D-D80E-BC44-8AE0-471E610FB86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D5D6696-735C-DD4D-8B77-B1C6CBEEF5DE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A8BB6F8-271B-E44F-8D2B-FEBDCA3624ED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57F9C89-90AB-8741-B204-4D07593C6ABE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0F0759C-5601-0842-82B1-EDAC41087490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E5FC171-2E1E-CF44-8E90-9352099B80D6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F617E95-E35A-8A44-B250-E458A856534A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BB6D4D7-A0C8-1F4D-B6DD-0B2DDDD97480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C4A4F8A-3849-7E4B-90EC-517A6DF09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650F069-70EF-0045-AFFC-BBA2943D9E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7D18394-98E1-374C-96A8-4712D9A958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FA1827C-3E10-EB48-982D-143A56B37AA3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AD0229F-564F-4549-986D-9370D73F6E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F482044-036B-BC4D-80B0-A7C9F87EF9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A86459D-F52E-654C-A0E2-5867841C96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DB375AA-EA22-CB43-A700-3B4A6AF5E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A4B587-B333-E14A-BB04-86D83B2D5CA4}"/>
                </a:ext>
              </a:extLst>
            </p:cNvPr>
            <p:cNvSpPr txBox="1"/>
            <p:nvPr/>
          </p:nvSpPr>
          <p:spPr>
            <a:xfrm>
              <a:off x="5973707" y="4060523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delMin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7A315E3-DBF6-0A4C-86CC-65C1989A06DE}"/>
                </a:ext>
              </a:extLst>
            </p:cNvPr>
            <p:cNvCxnSpPr>
              <a:cxnSpLocks/>
              <a:stCxn id="6" idx="2"/>
              <a:endCxn id="13" idx="2"/>
            </p:cNvCxnSpPr>
            <p:nvPr/>
          </p:nvCxnSpPr>
          <p:spPr>
            <a:xfrm>
              <a:off x="6482821" y="4429855"/>
              <a:ext cx="812421" cy="34881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91896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minimum key</a:t>
            </a:r>
          </a:p>
          <a:p>
            <a:pPr lvl="1"/>
            <a:r>
              <a:rPr lang="en-US" dirty="0"/>
              <a:t>Traverse to the left until finding a node with a null left link</a:t>
            </a:r>
          </a:p>
          <a:p>
            <a:pPr lvl="1"/>
            <a:r>
              <a:rPr lang="en-US" dirty="0"/>
              <a:t>Replace that node by its right link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7BC90B59-6474-1E4D-9A4A-BD4E4A46A4AB}"/>
              </a:ext>
            </a:extLst>
          </p:cNvPr>
          <p:cNvGrpSpPr/>
          <p:nvPr/>
        </p:nvGrpSpPr>
        <p:grpSpPr>
          <a:xfrm>
            <a:off x="5973707" y="3452033"/>
            <a:ext cx="4850670" cy="2377943"/>
            <a:chOff x="5973707" y="3452033"/>
            <a:chExt cx="4850670" cy="2377943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BB4612A3-777E-D445-9059-27F3D6BC9653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C932429-75F9-A842-8ECA-EA0F6A894721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D09C5E5-313F-994F-A56C-DCDC1F720219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C76E69C-1727-FE42-8E70-8D7604FE3BF7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6CE9A8E-6319-2340-9685-9225C69420CB}"/>
                  </a:ext>
                </a:extLst>
              </p:cNvPr>
              <p:cNvGrpSpPr/>
              <p:nvPr/>
            </p:nvGrpSpPr>
            <p:grpSpPr>
              <a:xfrm>
                <a:off x="6617330" y="3891858"/>
                <a:ext cx="1203858" cy="1189839"/>
                <a:chOff x="3956232" y="3492063"/>
                <a:chExt cx="1203858" cy="118983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BAA07841-C371-0B46-B782-4D33EEE79A78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0C109AC1-7D1C-944F-8ECC-0A66463A41C5}"/>
                    </a:ext>
                  </a:extLst>
                </p:cNvPr>
                <p:cNvCxnSpPr>
                  <a:cxnSpLocks/>
                  <a:stCxn id="28" idx="3"/>
                  <a:endCxn id="12" idx="0"/>
                </p:cNvCxnSpPr>
                <p:nvPr/>
              </p:nvCxnSpPr>
              <p:spPr>
                <a:xfrm flipH="1">
                  <a:off x="3956232" y="3788111"/>
                  <a:ext cx="300107" cy="8937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2E9D3E4-14A9-CE46-80EA-B3CA6C6DB886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149BC9D-D80E-BC44-8AE0-471E610FB864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D5D6696-735C-DD4D-8B77-B1C6CBEEF5DE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A8BB6F8-271B-E44F-8D2B-FEBDCA3624ED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57F9C89-90AB-8741-B204-4D07593C6ABE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0F0759C-5601-0842-82B1-EDAC41087490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E5FC171-2E1E-CF44-8E90-9352099B80D6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F617E95-E35A-8A44-B250-E458A856534A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BB6D4D7-A0C8-1F4D-B6DD-0B2DDDD97480}"/>
                  </a:ext>
                </a:extLst>
              </p:cNvPr>
              <p:cNvCxnSpPr>
                <a:cxnSpLocks/>
                <a:stCxn id="13" idx="5"/>
              </p:cNvCxnSpPr>
              <p:nvPr/>
            </p:nvCxnSpPr>
            <p:spPr>
              <a:xfrm>
                <a:off x="6203885" y="4773856"/>
                <a:ext cx="180448" cy="13223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C4A4F8A-3849-7E4B-90EC-517A6DF09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650F069-70EF-0045-AFFC-BBA2943D9E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7D18394-98E1-374C-96A8-4712D9A958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FA1827C-3E10-EB48-982D-143A56B37AA3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AD0229F-564F-4549-986D-9370D73F6E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F482044-036B-BC4D-80B0-A7C9F87EF9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A86459D-F52E-654C-A0E2-5867841C96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DB375AA-EA22-CB43-A700-3B4A6AF5E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A4B587-B333-E14A-BB04-86D83B2D5CA4}"/>
                </a:ext>
              </a:extLst>
            </p:cNvPr>
            <p:cNvSpPr txBox="1"/>
            <p:nvPr/>
          </p:nvSpPr>
          <p:spPr>
            <a:xfrm>
              <a:off x="5973707" y="4060523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delMin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7A315E3-DBF6-0A4C-86CC-65C1989A06DE}"/>
                </a:ext>
              </a:extLst>
            </p:cNvPr>
            <p:cNvCxnSpPr>
              <a:cxnSpLocks/>
              <a:stCxn id="6" idx="2"/>
              <a:endCxn id="13" idx="2"/>
            </p:cNvCxnSpPr>
            <p:nvPr/>
          </p:nvCxnSpPr>
          <p:spPr>
            <a:xfrm>
              <a:off x="6482821" y="4429855"/>
              <a:ext cx="812421" cy="34881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 descr="pseudocode for delMin">
            <a:extLst>
              <a:ext uri="{FF2B5EF4-FFF2-40B4-BE49-F238E27FC236}">
                <a16:creationId xmlns:a16="http://schemas.microsoft.com/office/drawing/2014/main" id="{9AEEE76F-15A1-3A41-97B2-198A6DB074AA}"/>
              </a:ext>
            </a:extLst>
          </p:cNvPr>
          <p:cNvGrpSpPr/>
          <p:nvPr/>
        </p:nvGrpSpPr>
        <p:grpSpPr>
          <a:xfrm>
            <a:off x="901351" y="3178716"/>
            <a:ext cx="4871847" cy="2182021"/>
            <a:chOff x="901351" y="3178716"/>
            <a:chExt cx="4871847" cy="218202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2150B2-6507-9A4F-95AC-214F69DBDD48}"/>
                </a:ext>
              </a:extLst>
            </p:cNvPr>
            <p:cNvSpPr txBox="1"/>
            <p:nvPr/>
          </p:nvSpPr>
          <p:spPr>
            <a:xfrm>
              <a:off x="901351" y="3178716"/>
              <a:ext cx="4871847" cy="1477328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" pitchFamily="2" charset="0"/>
                </a:rPr>
                <a:t>def </a:t>
              </a:r>
              <a:r>
                <a:rPr lang="en-GB" dirty="0" err="1">
                  <a:latin typeface="Courier" pitchFamily="2" charset="0"/>
                </a:rPr>
                <a:t>delMin</a:t>
              </a:r>
              <a:r>
                <a:rPr lang="en-GB" dirty="0">
                  <a:latin typeface="Courier" pitchFamily="2" charset="0"/>
                </a:rPr>
                <a:t>(node):</a:t>
              </a:r>
            </a:p>
            <a:p>
              <a:r>
                <a:rPr lang="en-GB" dirty="0">
                  <a:latin typeface="Courier" pitchFamily="2" charset="0"/>
                </a:rPr>
                <a:t>    if (</a:t>
              </a:r>
              <a:r>
                <a:rPr lang="en-GB" dirty="0" err="1">
                  <a:latin typeface="Courier" pitchFamily="2" charset="0"/>
                </a:rPr>
                <a:t>node.left</a:t>
              </a:r>
              <a:r>
                <a:rPr lang="en-GB" dirty="0">
                  <a:latin typeface="Courier" pitchFamily="2" charset="0"/>
                </a:rPr>
                <a:t> == null) </a:t>
              </a:r>
            </a:p>
            <a:p>
              <a:r>
                <a:rPr lang="en-GB" dirty="0">
                  <a:latin typeface="Courier" pitchFamily="2" charset="0"/>
                </a:rPr>
                <a:t>        return </a:t>
              </a:r>
              <a:r>
                <a:rPr lang="en-GB" dirty="0" err="1">
                  <a:latin typeface="Courier" pitchFamily="2" charset="0"/>
                </a:rPr>
                <a:t>node.right</a:t>
              </a:r>
              <a:endParaRPr lang="en-GB" dirty="0">
                <a:latin typeface="Courier" pitchFamily="2" charset="0"/>
              </a:endParaRPr>
            </a:p>
            <a:p>
              <a:r>
                <a:rPr lang="en-GB" dirty="0">
                  <a:latin typeface="Courier" pitchFamily="2" charset="0"/>
                </a:rPr>
                <a:t>    </a:t>
              </a:r>
              <a:r>
                <a:rPr lang="en-GB" dirty="0" err="1">
                  <a:latin typeface="Courier" pitchFamily="2" charset="0"/>
                </a:rPr>
                <a:t>node.left</a:t>
              </a:r>
              <a:r>
                <a:rPr lang="en-GB" dirty="0">
                  <a:latin typeface="Courier" pitchFamily="2" charset="0"/>
                </a:rPr>
                <a:t> = </a:t>
              </a:r>
              <a:r>
                <a:rPr lang="en-GB" dirty="0" err="1">
                  <a:latin typeface="Courier" pitchFamily="2" charset="0"/>
                </a:rPr>
                <a:t>delMin</a:t>
              </a:r>
              <a:r>
                <a:rPr lang="en-GB" dirty="0">
                  <a:latin typeface="Courier" pitchFamily="2" charset="0"/>
                </a:rPr>
                <a:t>(</a:t>
              </a:r>
              <a:r>
                <a:rPr lang="en-GB" dirty="0" err="1">
                  <a:latin typeface="Courier" pitchFamily="2" charset="0"/>
                </a:rPr>
                <a:t>node.left</a:t>
              </a:r>
              <a:r>
                <a:rPr lang="en-GB" dirty="0">
                  <a:latin typeface="Courier" pitchFamily="2" charset="0"/>
                </a:rPr>
                <a:t>)</a:t>
              </a:r>
            </a:p>
            <a:p>
              <a:r>
                <a:rPr lang="en-GB" dirty="0">
                  <a:latin typeface="Courier" pitchFamily="2" charset="0"/>
                </a:rPr>
                <a:t>    return node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CFE2AA3-1DAB-B04B-80B7-A85CD469ABB9}"/>
                </a:ext>
              </a:extLst>
            </p:cNvPr>
            <p:cNvSpPr txBox="1"/>
            <p:nvPr/>
          </p:nvSpPr>
          <p:spPr>
            <a:xfrm>
              <a:off x="901351" y="4991405"/>
              <a:ext cx="1838965" cy="369332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latin typeface="Courier" pitchFamily="2" charset="0"/>
                </a:rPr>
                <a:t>delMin</a:t>
              </a:r>
              <a:r>
                <a:rPr lang="en-GB" dirty="0">
                  <a:latin typeface="Courier" pitchFamily="2" charset="0"/>
                </a:rPr>
                <a:t>(root)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268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5771880" y="3452033"/>
            <a:ext cx="5052497" cy="2377943"/>
            <a:chOff x="5771880" y="3452033"/>
            <a:chExt cx="5052497" cy="2377943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0CE36D-FB6E-B344-9C08-E07F83EDE654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A48F84-24C0-9D4D-A782-CF67B9D2A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4D75CA-F37D-BD47-8F9F-89087EF86A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5771880" y="5148301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del(C)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stCxn id="6" idx="3"/>
              <a:endCxn id="12" idx="2"/>
            </p:cNvCxnSpPr>
            <p:nvPr/>
          </p:nvCxnSpPr>
          <p:spPr>
            <a:xfrm>
              <a:off x="6584923" y="5332967"/>
              <a:ext cx="1237101" cy="495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712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6020576" y="3452033"/>
            <a:ext cx="4803801" cy="2801876"/>
            <a:chOff x="6020576" y="3452033"/>
            <a:chExt cx="4803801" cy="2801876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801876"/>
              <a:chOff x="5670468" y="3324591"/>
              <a:chExt cx="3788932" cy="280187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0CE36D-FB6E-B344-9C08-E07F83EDE654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122540" y="550563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</p:cNvCxnSpPr>
              <p:nvPr/>
            </p:nvCxnSpPr>
            <p:spPr>
              <a:xfrm>
                <a:off x="6203885" y="4773856"/>
                <a:ext cx="119660" cy="16248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A48F84-24C0-9D4D-A782-CF67B9D2A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4D75CA-F37D-BD47-8F9F-89087EF86A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49826" y="5841536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56362" y="5837607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6020576" y="5595717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del(C)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6833619" y="5802772"/>
              <a:ext cx="653898" cy="372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154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7035445" y="3452033"/>
            <a:ext cx="4601975" cy="2377943"/>
            <a:chOff x="7035445" y="3452033"/>
            <a:chExt cx="4601975" cy="2377943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0CE36D-FB6E-B344-9C08-E07F83EDE654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A48F84-24C0-9D4D-A782-CF67B9D2A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4D75CA-F37D-BD47-8F9F-89087EF86A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10824377" y="5074931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del(R)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stCxn id="6" idx="1"/>
              <a:endCxn id="14" idx="6"/>
            </p:cNvCxnSpPr>
            <p:nvPr/>
          </p:nvCxnSpPr>
          <p:spPr>
            <a:xfrm flipH="1" flipV="1">
              <a:off x="9459785" y="4778671"/>
              <a:ext cx="1364592" cy="48092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285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7035445" y="3452033"/>
            <a:ext cx="4601975" cy="2377943"/>
            <a:chOff x="7035445" y="3452033"/>
            <a:chExt cx="4601975" cy="2377943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0CE36D-FB6E-B344-9C08-E07F83EDE654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100509" cy="1189839"/>
                <a:chOff x="3429450" y="3492063"/>
                <a:chExt cx="1100509" cy="1189839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8" idx="0"/>
                </p:cNvCxnSpPr>
                <p:nvPr/>
              </p:nvCxnSpPr>
              <p:spPr>
                <a:xfrm>
                  <a:off x="4483013" y="3788111"/>
                  <a:ext cx="46946" cy="89379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8594882" y="4969979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8047862" y="3620639"/>
                <a:ext cx="1175706" cy="1807900"/>
                <a:chOff x="3354253" y="3178812"/>
                <a:chExt cx="1175706" cy="180790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</p:cNvCxnSpPr>
                <p:nvPr/>
              </p:nvCxnSpPr>
              <p:spPr>
                <a:xfrm flipH="1">
                  <a:off x="3762571" y="4824200"/>
                  <a:ext cx="185648" cy="16251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A48F84-24C0-9D4D-A782-CF67B9D2A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8592" y="5213241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4D75CA-F37D-BD47-8F9F-89087EF86A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10824377" y="5074931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del(R)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stCxn id="6" idx="1"/>
              <a:endCxn id="14" idx="6"/>
            </p:cNvCxnSpPr>
            <p:nvPr/>
          </p:nvCxnSpPr>
          <p:spPr>
            <a:xfrm flipH="1">
              <a:off x="10280425" y="5259597"/>
              <a:ext cx="543952" cy="1124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0326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  <a:p>
            <a:pPr lvl="1"/>
            <a:r>
              <a:rPr lang="en-US" dirty="0"/>
              <a:t>Case 2: t has 2 children</a:t>
            </a:r>
          </a:p>
          <a:p>
            <a:pPr lvl="2"/>
            <a:r>
              <a:rPr lang="en-US" dirty="0"/>
              <a:t>Find successor x of t</a:t>
            </a:r>
          </a:p>
          <a:p>
            <a:pPr lvl="2"/>
            <a:r>
              <a:rPr lang="en-US" dirty="0"/>
              <a:t>Delete min key (=x) in t’s right subtree</a:t>
            </a:r>
          </a:p>
          <a:p>
            <a:pPr lvl="2"/>
            <a:r>
              <a:rPr lang="en-US" dirty="0"/>
              <a:t>Put x in t’s spot</a:t>
            </a:r>
          </a:p>
        </p:txBody>
      </p:sp>
      <p:grpSp>
        <p:nvGrpSpPr>
          <p:cNvPr id="35" name="Group 34" descr="demo of key deletion in BST">
            <a:extLst>
              <a:ext uri="{FF2B5EF4-FFF2-40B4-BE49-F238E27FC236}">
                <a16:creationId xmlns:a16="http://schemas.microsoft.com/office/drawing/2014/main" id="{85258C94-A89C-B740-84E3-A43909E5593C}"/>
              </a:ext>
            </a:extLst>
          </p:cNvPr>
          <p:cNvGrpSpPr/>
          <p:nvPr/>
        </p:nvGrpSpPr>
        <p:grpSpPr>
          <a:xfrm>
            <a:off x="7035445" y="3119079"/>
            <a:ext cx="3788932" cy="2710897"/>
            <a:chOff x="7035445" y="3119079"/>
            <a:chExt cx="3788932" cy="2710897"/>
          </a:xfrm>
        </p:grpSpPr>
        <p:grpSp>
          <p:nvGrpSpPr>
            <p:cNvPr id="4" name="Group 3" descr="demo of ceiling computation in BST">
              <a:extLst>
                <a:ext uri="{FF2B5EF4-FFF2-40B4-BE49-F238E27FC236}">
                  <a16:creationId xmlns:a16="http://schemas.microsoft.com/office/drawing/2014/main" id="{24CCC6E4-44CA-E94A-A3AD-E3D24046F5E3}"/>
                </a:ext>
              </a:extLst>
            </p:cNvPr>
            <p:cNvGrpSpPr/>
            <p:nvPr/>
          </p:nvGrpSpPr>
          <p:grpSpPr>
            <a:xfrm>
              <a:off x="7035445" y="3119079"/>
              <a:ext cx="3788932" cy="2710897"/>
              <a:chOff x="7035445" y="3119079"/>
              <a:chExt cx="3788932" cy="2710897"/>
            </a:xfrm>
          </p:grpSpPr>
          <p:grpSp>
            <p:nvGrpSpPr>
              <p:cNvPr id="5" name="Group 4" descr="demo of successful search for key in BST">
                <a:extLst>
                  <a:ext uri="{FF2B5EF4-FFF2-40B4-BE49-F238E27FC236}">
                    <a16:creationId xmlns:a16="http://schemas.microsoft.com/office/drawing/2014/main" id="{0F462515-9BB8-1E44-9A72-FC50201C5F1F}"/>
                  </a:ext>
                </a:extLst>
              </p:cNvPr>
              <p:cNvGrpSpPr/>
              <p:nvPr/>
            </p:nvGrpSpPr>
            <p:grpSpPr>
              <a:xfrm>
                <a:off x="7035445" y="3452033"/>
                <a:ext cx="3788932" cy="2377943"/>
                <a:chOff x="5670468" y="3324591"/>
                <a:chExt cx="3788932" cy="2377943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10CE36D-FB6E-B344-9C08-E07F83EDE654}"/>
                    </a:ext>
                  </a:extLst>
                </p:cNvPr>
                <p:cNvSpPr/>
                <p:nvPr/>
              </p:nvSpPr>
              <p:spPr>
                <a:xfrm>
                  <a:off x="7030774" y="5081697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B8D21A7-5E2D-EA4B-B2CC-D2AD8C668A6D}"/>
                    </a:ext>
                  </a:extLst>
                </p:cNvPr>
                <p:cNvSpPr/>
                <p:nvPr/>
              </p:nvSpPr>
              <p:spPr>
                <a:xfrm>
                  <a:off x="7774242" y="3324591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C3491AE0-A414-7A41-9048-F1129109C48C}"/>
                    </a:ext>
                  </a:extLst>
                </p:cNvPr>
                <p:cNvCxnSpPr>
                  <a:cxnSpLocks/>
                  <a:stCxn id="9" idx="3"/>
                  <a:endCxn id="28" idx="0"/>
                </p:cNvCxnSpPr>
                <p:nvPr/>
              </p:nvCxnSpPr>
              <p:spPr>
                <a:xfrm flipH="1">
                  <a:off x="7030774" y="3620639"/>
                  <a:ext cx="790414" cy="27121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57D4BA0B-30AE-B741-B861-6761D0C29CDD}"/>
                    </a:ext>
                  </a:extLst>
                </p:cNvPr>
                <p:cNvGrpSpPr/>
                <p:nvPr/>
              </p:nvGrpSpPr>
              <p:grpSpPr>
                <a:xfrm>
                  <a:off x="6090548" y="3891858"/>
                  <a:ext cx="1730640" cy="636744"/>
                  <a:chOff x="3429450" y="3492063"/>
                  <a:chExt cx="1730640" cy="636744"/>
                </a:xfrm>
              </p:grpSpPr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2D765190-5615-F445-B8D0-862E291555DC}"/>
                      </a:ext>
                    </a:extLst>
                  </p:cNvPr>
                  <p:cNvSpPr/>
                  <p:nvPr/>
                </p:nvSpPr>
                <p:spPr>
                  <a:xfrm>
                    <a:off x="4209393" y="3492063"/>
                    <a:ext cx="320566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E13BECCE-181A-284A-B707-FB0A0411729B}"/>
                      </a:ext>
                    </a:extLst>
                  </p:cNvPr>
                  <p:cNvCxnSpPr>
                    <a:cxnSpLocks/>
                    <a:stCxn id="28" idx="3"/>
                    <a:endCxn id="13" idx="0"/>
                  </p:cNvCxnSpPr>
                  <p:nvPr/>
                </p:nvCxnSpPr>
                <p:spPr>
                  <a:xfrm flipH="1">
                    <a:off x="3429450" y="3788111"/>
                    <a:ext cx="826889" cy="289902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831E3A5B-5CDD-AE4C-9752-948AE663608E}"/>
                      </a:ext>
                    </a:extLst>
                  </p:cNvPr>
                  <p:cNvCxnSpPr>
                    <a:cxnSpLocks/>
                    <a:stCxn id="28" idx="5"/>
                    <a:endCxn id="14" idx="1"/>
                  </p:cNvCxnSpPr>
                  <p:nvPr/>
                </p:nvCxnSpPr>
                <p:spPr>
                  <a:xfrm>
                    <a:off x="4483013" y="3788111"/>
                    <a:ext cx="677077" cy="340696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FF974773-4FCE-4547-90EF-BB1F7E3ADD8F}"/>
                    </a:ext>
                  </a:extLst>
                </p:cNvPr>
                <p:cNvSpPr/>
                <p:nvPr/>
              </p:nvSpPr>
              <p:spPr>
                <a:xfrm>
                  <a:off x="6457047" y="5081697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E8B46EA-178C-D34E-A18A-865ED001011B}"/>
                    </a:ext>
                  </a:extLst>
                </p:cNvPr>
                <p:cNvSpPr/>
                <p:nvPr/>
              </p:nvSpPr>
              <p:spPr>
                <a:xfrm>
                  <a:off x="5930265" y="4477808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1ECD209-E670-3143-A86D-FCE654CFBCAA}"/>
                    </a:ext>
                  </a:extLst>
                </p:cNvPr>
                <p:cNvSpPr/>
                <p:nvPr/>
              </p:nvSpPr>
              <p:spPr>
                <a:xfrm>
                  <a:off x="7774242" y="4477808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9F4FBAEB-6988-1C4E-AC30-ECE2C0BCAF0D}"/>
                    </a:ext>
                  </a:extLst>
                </p:cNvPr>
                <p:cNvGrpSpPr/>
                <p:nvPr/>
              </p:nvGrpSpPr>
              <p:grpSpPr>
                <a:xfrm>
                  <a:off x="7304394" y="3620639"/>
                  <a:ext cx="1919174" cy="1511852"/>
                  <a:chOff x="2610785" y="3178812"/>
                  <a:chExt cx="1919174" cy="1511852"/>
                </a:xfrm>
              </p:grpSpPr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46B31B00-192D-EA4E-BFB8-D1CA76E2A16C}"/>
                      </a:ext>
                    </a:extLst>
                  </p:cNvPr>
                  <p:cNvSpPr/>
                  <p:nvPr/>
                </p:nvSpPr>
                <p:spPr>
                  <a:xfrm>
                    <a:off x="4209393" y="3492063"/>
                    <a:ext cx="320566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</a:t>
                    </a:r>
                  </a:p>
                </p:txBody>
              </p: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F07DB7B7-AAAA-5545-B40E-7BF324424521}"/>
                      </a:ext>
                    </a:extLst>
                  </p:cNvPr>
                  <p:cNvCxnSpPr>
                    <a:cxnSpLocks/>
                    <a:stCxn id="14" idx="3"/>
                    <a:endCxn id="8" idx="7"/>
                  </p:cNvCxnSpPr>
                  <p:nvPr/>
                </p:nvCxnSpPr>
                <p:spPr>
                  <a:xfrm flipH="1">
                    <a:off x="2610785" y="4332029"/>
                    <a:ext cx="516794" cy="35863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A6C134BB-AFA0-CE40-B283-3797EE186F0E}"/>
                      </a:ext>
                    </a:extLst>
                  </p:cNvPr>
                  <p:cNvCxnSpPr>
                    <a:cxnSpLocks/>
                    <a:stCxn id="9" idx="5"/>
                    <a:endCxn id="25" idx="0"/>
                  </p:cNvCxnSpPr>
                  <p:nvPr/>
                </p:nvCxnSpPr>
                <p:spPr>
                  <a:xfrm>
                    <a:off x="3354253" y="3178812"/>
                    <a:ext cx="1015423" cy="313251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ED43AF4-E4A7-BB46-AE86-F535D1BF5392}"/>
                    </a:ext>
                  </a:extLst>
                </p:cNvPr>
                <p:cNvCxnSpPr>
                  <a:cxnSpLocks/>
                  <a:stCxn id="13" idx="5"/>
                  <a:endCxn id="12" idx="1"/>
                </p:cNvCxnSpPr>
                <p:nvPr/>
              </p:nvCxnSpPr>
              <p:spPr>
                <a:xfrm>
                  <a:off x="6203885" y="4773856"/>
                  <a:ext cx="300108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C855B4B2-1847-034E-90C8-DD81C4BCE0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70468" y="4761144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A4F94AB-0940-8C40-A886-A9F52A727F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667170" y="4229938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A4A48F84-24C0-9D4D-A782-CF67B9D2A9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972934" y="5394120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0F071692-C6B4-EC46-B2FD-A2D2ABBB37FE}"/>
                    </a:ext>
                  </a:extLst>
                </p:cNvPr>
                <p:cNvCxnSpPr>
                  <a:cxnSpLocks/>
                  <a:stCxn id="25" idx="5"/>
                </p:cNvCxnSpPr>
                <p:nvPr/>
              </p:nvCxnSpPr>
              <p:spPr>
                <a:xfrm>
                  <a:off x="9176622" y="4229938"/>
                  <a:ext cx="282778" cy="15227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686035C-FEB3-6248-A148-91BDCEADDF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47952" y="4761144"/>
                  <a:ext cx="282778" cy="15227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84D75CA-F37D-BD47-8F9F-89087EF86A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79470" y="5390191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3556EBC-39B8-1E41-BABB-03642D31C2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84333" y="5417603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0A84080C-8FDB-934F-B228-6A47293BC7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0869" y="5413674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1AEF9F-499B-7648-97BB-79E8E67121C8}"/>
                  </a:ext>
                </a:extLst>
              </p:cNvPr>
              <p:cNvSpPr txBox="1"/>
              <p:nvPr/>
            </p:nvSpPr>
            <p:spPr>
              <a:xfrm>
                <a:off x="7035445" y="3119079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del(E)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3CB9D5F0-E4C7-D345-AD87-0C256D6BBF98}"/>
                  </a:ext>
                </a:extLst>
              </p:cNvPr>
              <p:cNvCxnSpPr>
                <a:cxnSpLocks/>
                <a:stCxn id="6" idx="2"/>
                <a:endCxn id="28" idx="1"/>
              </p:cNvCxnSpPr>
              <p:nvPr/>
            </p:nvCxnSpPr>
            <p:spPr>
              <a:xfrm>
                <a:off x="7435555" y="3488411"/>
                <a:ext cx="846859" cy="581683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2EC3C33-4EE0-124B-906D-C6CBE4DF39D9}"/>
                </a:ext>
              </a:extLst>
            </p:cNvPr>
            <p:cNvSpPr txBox="1"/>
            <p:nvPr/>
          </p:nvSpPr>
          <p:spPr>
            <a:xfrm>
              <a:off x="7894738" y="3920836"/>
              <a:ext cx="264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251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  <a:p>
            <a:pPr lvl="1"/>
            <a:r>
              <a:rPr lang="en-US" dirty="0"/>
              <a:t>Case 2: t has 2 children</a:t>
            </a:r>
          </a:p>
          <a:p>
            <a:pPr lvl="2"/>
            <a:r>
              <a:rPr lang="en-US" dirty="0">
                <a:highlight>
                  <a:srgbClr val="C0C0C0"/>
                </a:highlight>
              </a:rPr>
              <a:t>Find successor x of t</a:t>
            </a:r>
          </a:p>
          <a:p>
            <a:pPr lvl="2"/>
            <a:r>
              <a:rPr lang="en-US" dirty="0"/>
              <a:t>Delete min key (=x) in t’s right subtree</a:t>
            </a:r>
          </a:p>
          <a:p>
            <a:pPr lvl="2"/>
            <a:r>
              <a:rPr lang="en-US" dirty="0"/>
              <a:t>Put x in t’s spot</a:t>
            </a:r>
          </a:p>
        </p:txBody>
      </p:sp>
      <p:sp>
        <p:nvSpPr>
          <p:cNvPr id="31" name="TextBox 30" hidden="1">
            <a:extLst>
              <a:ext uri="{FF2B5EF4-FFF2-40B4-BE49-F238E27FC236}">
                <a16:creationId xmlns:a16="http://schemas.microsoft.com/office/drawing/2014/main" id="{CC73BE62-59DC-6848-BCD3-7D8542ED4DE5}"/>
              </a:ext>
            </a:extLst>
          </p:cNvPr>
          <p:cNvSpPr txBox="1"/>
          <p:nvPr/>
        </p:nvSpPr>
        <p:spPr>
          <a:xfrm>
            <a:off x="7910325" y="3976762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7035445" y="3119079"/>
            <a:ext cx="3788932" cy="2710897"/>
            <a:chOff x="7035445" y="3119079"/>
            <a:chExt cx="3788932" cy="2710897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0CE36D-FB6E-B344-9C08-E07F83EDE654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A48F84-24C0-9D4D-A782-CF67B9D2A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4D75CA-F37D-BD47-8F9F-89087EF86A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7035445" y="3119079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del(E)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stCxn id="6" idx="2"/>
              <a:endCxn id="28" idx="1"/>
            </p:cNvCxnSpPr>
            <p:nvPr/>
          </p:nvCxnSpPr>
          <p:spPr>
            <a:xfrm>
              <a:off x="7435555" y="3488411"/>
              <a:ext cx="846859" cy="58168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3999967-5760-684B-9DC6-722D78E9FADA}"/>
              </a:ext>
            </a:extLst>
          </p:cNvPr>
          <p:cNvSpPr txBox="1"/>
          <p:nvPr/>
        </p:nvSpPr>
        <p:spPr>
          <a:xfrm>
            <a:off x="6527499" y="5951261"/>
            <a:ext cx="502894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x=successor(t) = min(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t.right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//go right once, then keep going left until reaching null left link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//x has no left child</a:t>
            </a:r>
          </a:p>
        </p:txBody>
      </p:sp>
      <p:sp>
        <p:nvSpPr>
          <p:cNvPr id="33" name="TextBox 32" hidden="1">
            <a:extLst>
              <a:ext uri="{FF2B5EF4-FFF2-40B4-BE49-F238E27FC236}">
                <a16:creationId xmlns:a16="http://schemas.microsoft.com/office/drawing/2014/main" id="{00A72B12-0ECB-BE40-BAB9-4536BA7FB51F}"/>
              </a:ext>
            </a:extLst>
          </p:cNvPr>
          <p:cNvSpPr txBox="1"/>
          <p:nvPr/>
        </p:nvSpPr>
        <p:spPr>
          <a:xfrm>
            <a:off x="8741888" y="52067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150674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  <a:p>
            <a:pPr lvl="1"/>
            <a:r>
              <a:rPr lang="en-US" dirty="0"/>
              <a:t>Case 2: t has 2 children</a:t>
            </a:r>
          </a:p>
          <a:p>
            <a:pPr lvl="2"/>
            <a:r>
              <a:rPr lang="en-US" dirty="0"/>
              <a:t>Find successor x of t</a:t>
            </a:r>
          </a:p>
          <a:p>
            <a:pPr lvl="2"/>
            <a:r>
              <a:rPr lang="en-US" dirty="0">
                <a:highlight>
                  <a:srgbClr val="C0C0C0"/>
                </a:highlight>
              </a:rPr>
              <a:t>Delete min key (=x) in t’s right subtree</a:t>
            </a:r>
          </a:p>
          <a:p>
            <a:pPr lvl="2"/>
            <a:r>
              <a:rPr lang="en-US" dirty="0"/>
              <a:t>Put x in t’s spot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7035445" y="3119079"/>
            <a:ext cx="3788932" cy="2710897"/>
            <a:chOff x="7035445" y="3119079"/>
            <a:chExt cx="3788932" cy="2710897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0CE36D-FB6E-B344-9C08-E07F83EDE654}"/>
                  </a:ext>
                </a:extLst>
              </p:cNvPr>
              <p:cNvSpPr/>
              <p:nvPr/>
            </p:nvSpPr>
            <p:spPr>
              <a:xfrm>
                <a:off x="7030774" y="5081697"/>
                <a:ext cx="320566" cy="346842"/>
              </a:xfrm>
              <a:prstGeom prst="ellipse">
                <a:avLst/>
              </a:prstGeom>
              <a:solidFill>
                <a:schemeClr val="bg1"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7304394" y="3620639"/>
                <a:ext cx="1919174" cy="1511852"/>
                <a:chOff x="2610785" y="3178812"/>
                <a:chExt cx="1919174" cy="151185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  <a:endCxn id="8" idx="7"/>
                </p:cNvCxnSpPr>
                <p:nvPr/>
              </p:nvCxnSpPr>
              <p:spPr>
                <a:xfrm flipH="1">
                  <a:off x="2610785" y="4332029"/>
                  <a:ext cx="516794" cy="35863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A48F84-24C0-9D4D-A782-CF67B9D2A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2934" y="5394120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4D75CA-F37D-BD47-8F9F-89087EF86A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9470" y="539019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7035445" y="3119079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del(E)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stCxn id="6" idx="2"/>
              <a:endCxn id="28" idx="1"/>
            </p:cNvCxnSpPr>
            <p:nvPr/>
          </p:nvCxnSpPr>
          <p:spPr>
            <a:xfrm>
              <a:off x="7435555" y="3488411"/>
              <a:ext cx="846859" cy="58168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C73BE62-59DC-6848-BCD3-7D8542ED4DE5}"/>
              </a:ext>
            </a:extLst>
          </p:cNvPr>
          <p:cNvSpPr txBox="1"/>
          <p:nvPr/>
        </p:nvSpPr>
        <p:spPr>
          <a:xfrm>
            <a:off x="7910325" y="3976762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999967-5760-684B-9DC6-722D78E9FADA}"/>
              </a:ext>
            </a:extLst>
          </p:cNvPr>
          <p:cNvSpPr txBox="1"/>
          <p:nvPr/>
        </p:nvSpPr>
        <p:spPr>
          <a:xfrm>
            <a:off x="6527499" y="610577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delMin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t.right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A72B12-0ECB-BE40-BAB9-4536BA7FB51F}"/>
              </a:ext>
            </a:extLst>
          </p:cNvPr>
          <p:cNvSpPr txBox="1"/>
          <p:nvPr/>
        </p:nvSpPr>
        <p:spPr>
          <a:xfrm>
            <a:off x="8741888" y="52067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018394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  <a:p>
            <a:pPr lvl="1"/>
            <a:r>
              <a:rPr lang="en-US" dirty="0"/>
              <a:t>Case 2: t has 2 children</a:t>
            </a:r>
          </a:p>
          <a:p>
            <a:pPr lvl="2"/>
            <a:r>
              <a:rPr lang="en-US" dirty="0"/>
              <a:t>Find successor x of t</a:t>
            </a:r>
          </a:p>
          <a:p>
            <a:pPr lvl="2"/>
            <a:r>
              <a:rPr lang="en-US" dirty="0">
                <a:highlight>
                  <a:srgbClr val="C0C0C0"/>
                </a:highlight>
              </a:rPr>
              <a:t>Delete min key (=x) in t’s right subtree</a:t>
            </a:r>
          </a:p>
          <a:p>
            <a:pPr lvl="2"/>
            <a:r>
              <a:rPr lang="en-US" dirty="0"/>
              <a:t>Put x in t’s spot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7035445" y="3225730"/>
            <a:ext cx="3788932" cy="3070030"/>
            <a:chOff x="7035445" y="3119079"/>
            <a:chExt cx="3788932" cy="3070030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737076"/>
              <a:chOff x="5670468" y="3324591"/>
              <a:chExt cx="3788932" cy="273707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0CE36D-FB6E-B344-9C08-E07F83EDE654}"/>
                  </a:ext>
                </a:extLst>
              </p:cNvPr>
              <p:cNvSpPr/>
              <p:nvPr/>
            </p:nvSpPr>
            <p:spPr>
              <a:xfrm>
                <a:off x="7410922" y="5464313"/>
                <a:ext cx="320566" cy="346842"/>
              </a:xfrm>
              <a:prstGeom prst="ellipse">
                <a:avLst/>
              </a:prstGeom>
              <a:solidFill>
                <a:schemeClr val="bg1"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7571205" y="3620639"/>
                <a:ext cx="1652363" cy="1292780"/>
                <a:chOff x="2877596" y="3178812"/>
                <a:chExt cx="1652363" cy="129278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</p:cNvCxnSpPr>
                <p:nvPr/>
              </p:nvCxnSpPr>
              <p:spPr>
                <a:xfrm flipH="1">
                  <a:off x="2877596" y="4332029"/>
                  <a:ext cx="249983" cy="139563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A48F84-24C0-9D4D-A782-CF67B9D2A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082" y="5776736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4D75CA-F37D-BD47-8F9F-89087EF86A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618" y="5772807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7035445" y="3119079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del(E)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stCxn id="6" idx="2"/>
              <a:endCxn id="28" idx="1"/>
            </p:cNvCxnSpPr>
            <p:nvPr/>
          </p:nvCxnSpPr>
          <p:spPr>
            <a:xfrm>
              <a:off x="7435555" y="3488411"/>
              <a:ext cx="846859" cy="58168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C73BE62-59DC-6848-BCD3-7D8542ED4DE5}"/>
              </a:ext>
            </a:extLst>
          </p:cNvPr>
          <p:cNvSpPr txBox="1"/>
          <p:nvPr/>
        </p:nvSpPr>
        <p:spPr>
          <a:xfrm>
            <a:off x="7910325" y="3976762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999967-5760-684B-9DC6-722D78E9FADA}"/>
              </a:ext>
            </a:extLst>
          </p:cNvPr>
          <p:cNvSpPr txBox="1"/>
          <p:nvPr/>
        </p:nvSpPr>
        <p:spPr>
          <a:xfrm>
            <a:off x="6527499" y="610577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delMin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t.right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A72B12-0ECB-BE40-BAB9-4536BA7FB51F}"/>
              </a:ext>
            </a:extLst>
          </p:cNvPr>
          <p:cNvSpPr txBox="1"/>
          <p:nvPr/>
        </p:nvSpPr>
        <p:spPr>
          <a:xfrm>
            <a:off x="9107532" y="56626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44968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  <a:p>
            <a:pPr lvl="1"/>
            <a:r>
              <a:rPr lang="en-US" dirty="0"/>
              <a:t>Case 2: t has 2 children</a:t>
            </a:r>
          </a:p>
          <a:p>
            <a:pPr lvl="2"/>
            <a:r>
              <a:rPr lang="en-US" dirty="0"/>
              <a:t>Find successor x of t</a:t>
            </a:r>
          </a:p>
          <a:p>
            <a:pPr lvl="2"/>
            <a:r>
              <a:rPr lang="en-US" dirty="0"/>
              <a:t>Delete min key (=x) in t’s right subtree</a:t>
            </a:r>
          </a:p>
          <a:p>
            <a:pPr lvl="2"/>
            <a:r>
              <a:rPr lang="en-US" dirty="0">
                <a:highlight>
                  <a:srgbClr val="C0C0C0"/>
                </a:highlight>
              </a:rPr>
              <a:t>Put x in t’s spot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7035445" y="3225730"/>
            <a:ext cx="3788932" cy="3070030"/>
            <a:chOff x="7035445" y="3119079"/>
            <a:chExt cx="3788932" cy="3070030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737076"/>
              <a:chOff x="5670468" y="3324591"/>
              <a:chExt cx="3788932" cy="273707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0CE36D-FB6E-B344-9C08-E07F83EDE654}"/>
                  </a:ext>
                </a:extLst>
              </p:cNvPr>
              <p:cNvSpPr/>
              <p:nvPr/>
            </p:nvSpPr>
            <p:spPr>
              <a:xfrm>
                <a:off x="7410922" y="5464313"/>
                <a:ext cx="320566" cy="346842"/>
              </a:xfrm>
              <a:prstGeom prst="ellipse">
                <a:avLst/>
              </a:prstGeom>
              <a:solidFill>
                <a:schemeClr val="bg1">
                  <a:alpha val="5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7571205" y="3620639"/>
                <a:ext cx="1652363" cy="1292780"/>
                <a:chOff x="2877596" y="3178812"/>
                <a:chExt cx="1652363" cy="129278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</p:cNvCxnSpPr>
                <p:nvPr/>
              </p:nvCxnSpPr>
              <p:spPr>
                <a:xfrm flipH="1">
                  <a:off x="2877596" y="4332029"/>
                  <a:ext cx="249983" cy="139563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A48F84-24C0-9D4D-A782-CF67B9D2A9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082" y="5776736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84D75CA-F37D-BD47-8F9F-89087EF86A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618" y="5772807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7035445" y="3119079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del(E)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stCxn id="6" idx="2"/>
              <a:endCxn id="28" idx="1"/>
            </p:cNvCxnSpPr>
            <p:nvPr/>
          </p:nvCxnSpPr>
          <p:spPr>
            <a:xfrm>
              <a:off x="7435555" y="3488411"/>
              <a:ext cx="846859" cy="58168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C73BE62-59DC-6848-BCD3-7D8542ED4DE5}"/>
              </a:ext>
            </a:extLst>
          </p:cNvPr>
          <p:cNvSpPr txBox="1"/>
          <p:nvPr/>
        </p:nvSpPr>
        <p:spPr>
          <a:xfrm>
            <a:off x="7910325" y="3976762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A72B12-0ECB-BE40-BAB9-4536BA7FB51F}"/>
              </a:ext>
            </a:extLst>
          </p:cNvPr>
          <p:cNvSpPr txBox="1"/>
          <p:nvPr/>
        </p:nvSpPr>
        <p:spPr>
          <a:xfrm>
            <a:off x="9107532" y="56626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982378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  <a:p>
            <a:pPr lvl="1"/>
            <a:r>
              <a:rPr lang="en-US" dirty="0"/>
              <a:t>Case 2: t has 2 children</a:t>
            </a:r>
          </a:p>
          <a:p>
            <a:pPr lvl="2"/>
            <a:r>
              <a:rPr lang="en-US" dirty="0"/>
              <a:t>Find successor x of t</a:t>
            </a:r>
          </a:p>
          <a:p>
            <a:pPr lvl="2"/>
            <a:r>
              <a:rPr lang="en-US" dirty="0"/>
              <a:t>Delete min key (=x) in t’s right subtree</a:t>
            </a:r>
          </a:p>
          <a:p>
            <a:pPr lvl="2"/>
            <a:r>
              <a:rPr lang="en-US" dirty="0">
                <a:highlight>
                  <a:srgbClr val="C0C0C0"/>
                </a:highlight>
              </a:rPr>
              <a:t>Put x in t’s spot</a:t>
            </a:r>
          </a:p>
        </p:txBody>
      </p:sp>
      <p:grpSp>
        <p:nvGrpSpPr>
          <p:cNvPr id="4" name="Group 3" descr="demo of key deletion in BST">
            <a:extLst>
              <a:ext uri="{FF2B5EF4-FFF2-40B4-BE49-F238E27FC236}">
                <a16:creationId xmlns:a16="http://schemas.microsoft.com/office/drawing/2014/main" id="{24CCC6E4-44CA-E94A-A3AD-E3D24046F5E3}"/>
              </a:ext>
            </a:extLst>
          </p:cNvPr>
          <p:cNvGrpSpPr/>
          <p:nvPr/>
        </p:nvGrpSpPr>
        <p:grpSpPr>
          <a:xfrm>
            <a:off x="7035445" y="3225730"/>
            <a:ext cx="3788932" cy="2710897"/>
            <a:chOff x="7035445" y="3119079"/>
            <a:chExt cx="3788932" cy="2710897"/>
          </a:xfrm>
        </p:grpSpPr>
        <p:grpSp>
          <p:nvGrpSpPr>
            <p:cNvPr id="5" name="Group 4" descr="demo of successful search for key in BST">
              <a:extLst>
                <a:ext uri="{FF2B5EF4-FFF2-40B4-BE49-F238E27FC236}">
                  <a16:creationId xmlns:a16="http://schemas.microsoft.com/office/drawing/2014/main" id="{0F462515-9BB8-1E44-9A72-FC50201C5F1F}"/>
                </a:ext>
              </a:extLst>
            </p:cNvPr>
            <p:cNvGrpSpPr/>
            <p:nvPr/>
          </p:nvGrpSpPr>
          <p:grpSpPr>
            <a:xfrm>
              <a:off x="7035445" y="3452033"/>
              <a:ext cx="3788932" cy="2377943"/>
              <a:chOff x="5670468" y="3324591"/>
              <a:chExt cx="3788932" cy="2377943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B8D21A7-5E2D-EA4B-B2CC-D2AD8C668A6D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91AE0-A414-7A41-9048-F1129109C48C}"/>
                  </a:ext>
                </a:extLst>
              </p:cNvPr>
              <p:cNvCxnSpPr>
                <a:cxnSpLocks/>
                <a:stCxn id="9" idx="3"/>
                <a:endCxn id="28" idx="0"/>
              </p:cNvCxnSpPr>
              <p:nvPr/>
            </p:nvCxnSpPr>
            <p:spPr>
              <a:xfrm flipH="1">
                <a:off x="7030774" y="3620639"/>
                <a:ext cx="790414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7D4BA0B-30AE-B741-B861-6761D0C29CDD}"/>
                  </a:ext>
                </a:extLst>
              </p:cNvPr>
              <p:cNvGrpSpPr/>
              <p:nvPr/>
            </p:nvGrpSpPr>
            <p:grpSpPr>
              <a:xfrm>
                <a:off x="6090548" y="389185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D765190-5615-F445-B8D0-862E291555D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solidFill>
                  <a:srgbClr val="FF0000">
                    <a:alpha val="50000"/>
                  </a:srgbClr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13BECCE-181A-284A-B707-FB0A0411729B}"/>
                    </a:ext>
                  </a:extLst>
                </p:cNvPr>
                <p:cNvCxnSpPr>
                  <a:cxnSpLocks/>
                  <a:stCxn id="28" idx="3"/>
                  <a:endCxn id="13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31E3A5B-5CDD-AE4C-9752-948AE663608E}"/>
                    </a:ext>
                  </a:extLst>
                </p:cNvPr>
                <p:cNvCxnSpPr>
                  <a:cxnSpLocks/>
                  <a:stCxn id="28" idx="5"/>
                  <a:endCxn id="14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F974773-4FCE-4547-90EF-BB1F7E3ADD8F}"/>
                  </a:ext>
                </a:extLst>
              </p:cNvPr>
              <p:cNvSpPr/>
              <p:nvPr/>
            </p:nvSpPr>
            <p:spPr>
              <a:xfrm>
                <a:off x="6457047" y="5081697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8B46EA-178C-D34E-A18A-865ED001011B}"/>
                  </a:ext>
                </a:extLst>
              </p:cNvPr>
              <p:cNvSpPr/>
              <p:nvPr/>
            </p:nvSpPr>
            <p:spPr>
              <a:xfrm>
                <a:off x="5930265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ECD209-E670-3143-A86D-FCE654CFBCAA}"/>
                  </a:ext>
                </a:extLst>
              </p:cNvPr>
              <p:cNvSpPr/>
              <p:nvPr/>
            </p:nvSpPr>
            <p:spPr>
              <a:xfrm>
                <a:off x="7774242" y="447780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F4FBAEB-6988-1C4E-AC30-ECE2C0BCAF0D}"/>
                  </a:ext>
                </a:extLst>
              </p:cNvPr>
              <p:cNvGrpSpPr/>
              <p:nvPr/>
            </p:nvGrpSpPr>
            <p:grpSpPr>
              <a:xfrm>
                <a:off x="7571205" y="3620639"/>
                <a:ext cx="1652363" cy="1292780"/>
                <a:chOff x="2877596" y="3178812"/>
                <a:chExt cx="1652363" cy="129278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6B31B00-192D-EA4E-BFB8-D1CA76E2A16C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07DB7B7-AAAA-5545-B40E-7BF324424521}"/>
                    </a:ext>
                  </a:extLst>
                </p:cNvPr>
                <p:cNvCxnSpPr>
                  <a:cxnSpLocks/>
                  <a:stCxn id="14" idx="3"/>
                </p:cNvCxnSpPr>
                <p:nvPr/>
              </p:nvCxnSpPr>
              <p:spPr>
                <a:xfrm flipH="1">
                  <a:off x="2877596" y="4332029"/>
                  <a:ext cx="249983" cy="139563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6C134BB-AFA0-CE40-B283-3797EE186F0E}"/>
                    </a:ext>
                  </a:extLst>
                </p:cNvPr>
                <p:cNvCxnSpPr>
                  <a:cxnSpLocks/>
                  <a:stCxn id="9" idx="5"/>
                  <a:endCxn id="25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D43AF4-E4A7-BB46-AE86-F535D1BF5392}"/>
                  </a:ext>
                </a:extLst>
              </p:cNvPr>
              <p:cNvCxnSpPr>
                <a:cxnSpLocks/>
                <a:stCxn id="13" idx="5"/>
                <a:endCxn id="12" idx="1"/>
              </p:cNvCxnSpPr>
              <p:nvPr/>
            </p:nvCxnSpPr>
            <p:spPr>
              <a:xfrm>
                <a:off x="6203885" y="4773856"/>
                <a:ext cx="300108" cy="35863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55B4B2-1847-034E-90C8-DD81C4BCE0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468" y="476114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4F94AB-0940-8C40-A886-A9F52A72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170" y="4229938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F071692-C6B4-EC46-B2FD-A2D2ABBB37FE}"/>
                  </a:ext>
                </a:extLst>
              </p:cNvPr>
              <p:cNvCxnSpPr>
                <a:cxnSpLocks/>
                <a:stCxn id="25" idx="5"/>
              </p:cNvCxnSpPr>
              <p:nvPr/>
            </p:nvCxnSpPr>
            <p:spPr>
              <a:xfrm>
                <a:off x="9176622" y="4229938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686035C-FEB3-6248-A148-91BDCEADD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952" y="4761144"/>
                <a:ext cx="282778" cy="1522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3556EBC-39B8-1E41-BABB-03642D31C2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4333" y="5417603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84080C-8FDB-934F-B228-6A47293BC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869" y="5413674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1AEF9F-499B-7648-97BB-79E8E67121C8}"/>
                </a:ext>
              </a:extLst>
            </p:cNvPr>
            <p:cNvSpPr txBox="1"/>
            <p:nvPr/>
          </p:nvSpPr>
          <p:spPr>
            <a:xfrm>
              <a:off x="7035445" y="3119079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del(E)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CB9D5F0-E4C7-D345-AD87-0C256D6BBF98}"/>
                </a:ext>
              </a:extLst>
            </p:cNvPr>
            <p:cNvCxnSpPr>
              <a:cxnSpLocks/>
              <a:stCxn id="6" idx="2"/>
              <a:endCxn id="28" idx="1"/>
            </p:cNvCxnSpPr>
            <p:nvPr/>
          </p:nvCxnSpPr>
          <p:spPr>
            <a:xfrm>
              <a:off x="7435555" y="3488411"/>
              <a:ext cx="846859" cy="58168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C73BE62-59DC-6848-BCD3-7D8542ED4DE5}"/>
              </a:ext>
            </a:extLst>
          </p:cNvPr>
          <p:cNvSpPr txBox="1"/>
          <p:nvPr/>
        </p:nvSpPr>
        <p:spPr>
          <a:xfrm>
            <a:off x="7910325" y="3976762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A72B12-0ECB-BE40-BAB9-4536BA7FB51F}"/>
              </a:ext>
            </a:extLst>
          </p:cNvPr>
          <p:cNvSpPr txBox="1"/>
          <p:nvPr/>
        </p:nvSpPr>
        <p:spPr>
          <a:xfrm>
            <a:off x="7915698" y="41767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2668214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71B0-85A6-B847-AEC7-CCE68CE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Implementation of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7CB7-4A5C-7E46-9FDF-0BC3DECC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Hibbard deletion: delete node with key k</a:t>
            </a:r>
          </a:p>
          <a:p>
            <a:pPr lvl="1"/>
            <a:r>
              <a:rPr lang="en-US" dirty="0"/>
              <a:t>Search for node t with key k</a:t>
            </a:r>
          </a:p>
          <a:p>
            <a:pPr lvl="1"/>
            <a:r>
              <a:rPr lang="en-US" dirty="0"/>
              <a:t>Caso 0: t has no children</a:t>
            </a:r>
          </a:p>
          <a:p>
            <a:pPr lvl="2"/>
            <a:r>
              <a:rPr lang="en-US" dirty="0"/>
              <a:t>Delete t by setting parent link to null</a:t>
            </a:r>
          </a:p>
          <a:p>
            <a:pPr lvl="1"/>
            <a:r>
              <a:rPr lang="en-US" dirty="0"/>
              <a:t>Case 1: t has 1 child</a:t>
            </a:r>
          </a:p>
          <a:p>
            <a:pPr lvl="2"/>
            <a:r>
              <a:rPr lang="en-US" dirty="0"/>
              <a:t>Delete t by replacing parent link with it</a:t>
            </a:r>
          </a:p>
          <a:p>
            <a:pPr lvl="1"/>
            <a:r>
              <a:rPr lang="en-US" dirty="0"/>
              <a:t>Case 2: t has 2 children</a:t>
            </a:r>
          </a:p>
          <a:p>
            <a:pPr lvl="2"/>
            <a:r>
              <a:rPr lang="en-US" dirty="0"/>
              <a:t>Find successor x of t</a:t>
            </a:r>
          </a:p>
          <a:p>
            <a:pPr lvl="2"/>
            <a:r>
              <a:rPr lang="en-US" dirty="0"/>
              <a:t>Delete min key (=x) in t’s right subtree</a:t>
            </a:r>
          </a:p>
          <a:p>
            <a:pPr lvl="2"/>
            <a:r>
              <a:rPr lang="en-US" dirty="0"/>
              <a:t>Put x in t’s spot</a:t>
            </a:r>
          </a:p>
        </p:txBody>
      </p:sp>
      <p:grpSp>
        <p:nvGrpSpPr>
          <p:cNvPr id="32" name="Group 31" descr="pseudocode for delete operation on BST">
            <a:extLst>
              <a:ext uri="{FF2B5EF4-FFF2-40B4-BE49-F238E27FC236}">
                <a16:creationId xmlns:a16="http://schemas.microsoft.com/office/drawing/2014/main" id="{1D4E0B69-3A52-294B-9A6E-06EE763C1FE6}"/>
              </a:ext>
            </a:extLst>
          </p:cNvPr>
          <p:cNvGrpSpPr/>
          <p:nvPr/>
        </p:nvGrpSpPr>
        <p:grpSpPr>
          <a:xfrm>
            <a:off x="6331969" y="2352574"/>
            <a:ext cx="5860031" cy="3754874"/>
            <a:chOff x="6744675" y="2283302"/>
            <a:chExt cx="5860031" cy="375487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8DD23E-43BA-AF4A-8CFC-50C93CF4BB67}"/>
                </a:ext>
              </a:extLst>
            </p:cNvPr>
            <p:cNvSpPr txBox="1"/>
            <p:nvPr/>
          </p:nvSpPr>
          <p:spPr>
            <a:xfrm>
              <a:off x="6744675" y="2283302"/>
              <a:ext cx="4330032" cy="375487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Courier" pitchFamily="2" charset="0"/>
                </a:rPr>
                <a:t>def delete(x, key):</a:t>
              </a:r>
            </a:p>
            <a:p>
              <a:r>
                <a:rPr lang="en-GB" sz="1400" dirty="0">
                  <a:latin typeface="Courier" pitchFamily="2" charset="0"/>
                </a:rPr>
                <a:t>    if (x == null) return null;</a:t>
              </a:r>
            </a:p>
            <a:p>
              <a:r>
                <a:rPr lang="en-GB" sz="1400" dirty="0">
                  <a:latin typeface="Courier" pitchFamily="2" charset="0"/>
                </a:rPr>
                <a:t>    if key &lt; </a:t>
              </a:r>
              <a:r>
                <a:rPr lang="en-GB" sz="1400" dirty="0" err="1">
                  <a:latin typeface="Courier" pitchFamily="2" charset="0"/>
                </a:rPr>
                <a:t>x.key</a:t>
              </a:r>
              <a:r>
                <a:rPr lang="en-GB" sz="1400" dirty="0">
                  <a:latin typeface="Courier" pitchFamily="2" charset="0"/>
                </a:rPr>
                <a:t>:</a:t>
              </a:r>
            </a:p>
            <a:p>
              <a:r>
                <a:rPr lang="en-GB" sz="1400" dirty="0">
                  <a:latin typeface="Courier" pitchFamily="2" charset="0"/>
                </a:rPr>
                <a:t>	</a:t>
              </a:r>
              <a:r>
                <a:rPr lang="en-GB" sz="1400" dirty="0" err="1">
                  <a:latin typeface="Courier" pitchFamily="2" charset="0"/>
                </a:rPr>
                <a:t>x.left</a:t>
              </a:r>
              <a:r>
                <a:rPr lang="en-GB" sz="1400" dirty="0">
                  <a:latin typeface="Courier" pitchFamily="2" charset="0"/>
                </a:rPr>
                <a:t> = delete(</a:t>
              </a:r>
              <a:r>
                <a:rPr lang="en-GB" sz="1400" dirty="0" err="1">
                  <a:latin typeface="Courier" pitchFamily="2" charset="0"/>
                </a:rPr>
                <a:t>x.left</a:t>
              </a:r>
              <a:r>
                <a:rPr lang="en-GB" sz="1400" dirty="0">
                  <a:latin typeface="Courier" pitchFamily="2" charset="0"/>
                </a:rPr>
                <a:t>, key)</a:t>
              </a:r>
            </a:p>
            <a:p>
              <a:r>
                <a:rPr lang="en-GB" sz="1400" dirty="0">
                  <a:latin typeface="Courier" pitchFamily="2" charset="0"/>
                </a:rPr>
                <a:t>    </a:t>
              </a:r>
              <a:r>
                <a:rPr lang="en-GB" sz="1400" dirty="0" err="1">
                  <a:latin typeface="Courier" pitchFamily="2" charset="0"/>
                </a:rPr>
                <a:t>elif</a:t>
              </a:r>
              <a:r>
                <a:rPr lang="en-GB" sz="1400" dirty="0">
                  <a:latin typeface="Courier" pitchFamily="2" charset="0"/>
                </a:rPr>
                <a:t> key &gt; </a:t>
              </a:r>
              <a:r>
                <a:rPr lang="en-GB" sz="1400" dirty="0" err="1">
                  <a:latin typeface="Courier" pitchFamily="2" charset="0"/>
                </a:rPr>
                <a:t>x.key</a:t>
              </a:r>
              <a:r>
                <a:rPr lang="en-GB" sz="1400" dirty="0">
                  <a:latin typeface="Courier" pitchFamily="2" charset="0"/>
                </a:rPr>
                <a:t>:</a:t>
              </a:r>
            </a:p>
            <a:p>
              <a:r>
                <a:rPr lang="en-GB" sz="1400" dirty="0">
                  <a:latin typeface="Courier" pitchFamily="2" charset="0"/>
                </a:rPr>
                <a:t>	</a:t>
              </a:r>
              <a:r>
                <a:rPr lang="en-GB" sz="1400" dirty="0" err="1">
                  <a:latin typeface="Courier" pitchFamily="2" charset="0"/>
                </a:rPr>
                <a:t>x.right</a:t>
              </a:r>
              <a:r>
                <a:rPr lang="en-GB" sz="1400" dirty="0">
                  <a:latin typeface="Courier" pitchFamily="2" charset="0"/>
                </a:rPr>
                <a:t> = delete(</a:t>
              </a:r>
              <a:r>
                <a:rPr lang="en-GB" sz="1400" dirty="0" err="1">
                  <a:latin typeface="Courier" pitchFamily="2" charset="0"/>
                </a:rPr>
                <a:t>x.right</a:t>
              </a:r>
              <a:r>
                <a:rPr lang="en-GB" sz="1400" dirty="0">
                  <a:latin typeface="Courier" pitchFamily="2" charset="0"/>
                </a:rPr>
                <a:t>, key)</a:t>
              </a:r>
            </a:p>
            <a:p>
              <a:r>
                <a:rPr lang="en-GB" sz="1400" dirty="0">
                  <a:latin typeface="Courier" pitchFamily="2" charset="0"/>
                </a:rPr>
                <a:t>    else:</a:t>
              </a:r>
            </a:p>
            <a:p>
              <a:r>
                <a:rPr lang="en-GB" sz="1400" dirty="0">
                  <a:latin typeface="Courier" pitchFamily="2" charset="0"/>
                </a:rPr>
                <a:t>	if </a:t>
              </a:r>
              <a:r>
                <a:rPr lang="en-GB" sz="1400" dirty="0" err="1">
                  <a:latin typeface="Courier" pitchFamily="2" charset="0"/>
                </a:rPr>
                <a:t>x.right</a:t>
              </a:r>
              <a:r>
                <a:rPr lang="en-GB" sz="1400" dirty="0">
                  <a:latin typeface="Courier" pitchFamily="2" charset="0"/>
                </a:rPr>
                <a:t> == null:</a:t>
              </a:r>
            </a:p>
            <a:p>
              <a:r>
                <a:rPr lang="en-GB" sz="1400" dirty="0">
                  <a:latin typeface="Courier" pitchFamily="2" charset="0"/>
                </a:rPr>
                <a:t>	    return </a:t>
              </a:r>
              <a:r>
                <a:rPr lang="en-GB" sz="1400" dirty="0" err="1">
                  <a:latin typeface="Courier" pitchFamily="2" charset="0"/>
                </a:rPr>
                <a:t>x.left</a:t>
              </a:r>
              <a:endParaRPr lang="en-GB" sz="1400" dirty="0">
                <a:latin typeface="Courier" pitchFamily="2" charset="0"/>
              </a:endParaRPr>
            </a:p>
            <a:p>
              <a:r>
                <a:rPr lang="en-GB" sz="1400" dirty="0">
                  <a:latin typeface="Courier" pitchFamily="2" charset="0"/>
                </a:rPr>
                <a:t>	if </a:t>
              </a:r>
              <a:r>
                <a:rPr lang="en-GB" sz="1400" dirty="0" err="1">
                  <a:latin typeface="Courier" pitchFamily="2" charset="0"/>
                </a:rPr>
                <a:t>x.left</a:t>
              </a:r>
              <a:r>
                <a:rPr lang="en-GB" sz="1400" dirty="0">
                  <a:latin typeface="Courier" pitchFamily="2" charset="0"/>
                </a:rPr>
                <a:t> == null:</a:t>
              </a:r>
            </a:p>
            <a:p>
              <a:r>
                <a:rPr lang="en-GB" sz="1400" dirty="0">
                  <a:latin typeface="Courier" pitchFamily="2" charset="0"/>
                </a:rPr>
                <a:t>	    return </a:t>
              </a:r>
              <a:r>
                <a:rPr lang="en-GB" sz="1400" dirty="0" err="1">
                  <a:latin typeface="Courier" pitchFamily="2" charset="0"/>
                </a:rPr>
                <a:t>x.right</a:t>
              </a:r>
              <a:endParaRPr lang="en-GB" sz="1400" dirty="0">
                <a:latin typeface="Courier" pitchFamily="2" charset="0"/>
              </a:endParaRPr>
            </a:p>
            <a:p>
              <a:r>
                <a:rPr lang="en-GB" sz="1400" dirty="0">
                  <a:latin typeface="Courier" pitchFamily="2" charset="0"/>
                </a:rPr>
                <a:t>	t = x;</a:t>
              </a:r>
            </a:p>
            <a:p>
              <a:r>
                <a:rPr lang="en-GB" sz="1400" dirty="0">
                  <a:latin typeface="Courier" pitchFamily="2" charset="0"/>
                </a:rPr>
                <a:t>	x = min(</a:t>
              </a:r>
              <a:r>
                <a:rPr lang="en-GB" sz="1400" dirty="0" err="1">
                  <a:latin typeface="Courier" pitchFamily="2" charset="0"/>
                </a:rPr>
                <a:t>t.right</a:t>
              </a:r>
              <a:r>
                <a:rPr lang="en-GB" sz="1400" dirty="0">
                  <a:latin typeface="Courier" pitchFamily="2" charset="0"/>
                </a:rPr>
                <a:t>)</a:t>
              </a:r>
            </a:p>
            <a:p>
              <a:r>
                <a:rPr lang="en-GB" sz="1400" dirty="0">
                  <a:latin typeface="Courier" pitchFamily="2" charset="0"/>
                </a:rPr>
                <a:t>	</a:t>
              </a:r>
              <a:r>
                <a:rPr lang="en-GB" sz="1400" dirty="0" err="1">
                  <a:latin typeface="Courier" pitchFamily="2" charset="0"/>
                </a:rPr>
                <a:t>x.right</a:t>
              </a:r>
              <a:r>
                <a:rPr lang="en-GB" sz="1400" dirty="0">
                  <a:latin typeface="Courier" pitchFamily="2" charset="0"/>
                </a:rPr>
                <a:t> = </a:t>
              </a:r>
              <a:r>
                <a:rPr lang="en-GB" sz="1400" dirty="0" err="1">
                  <a:latin typeface="Courier" pitchFamily="2" charset="0"/>
                </a:rPr>
                <a:t>delMin</a:t>
              </a:r>
              <a:r>
                <a:rPr lang="en-GB" sz="1400" dirty="0">
                  <a:latin typeface="Courier" pitchFamily="2" charset="0"/>
                </a:rPr>
                <a:t>(</a:t>
              </a:r>
              <a:r>
                <a:rPr lang="en-GB" sz="1400" dirty="0" err="1">
                  <a:latin typeface="Courier" pitchFamily="2" charset="0"/>
                </a:rPr>
                <a:t>t.right</a:t>
              </a:r>
              <a:r>
                <a:rPr lang="en-GB" sz="1400" dirty="0">
                  <a:latin typeface="Courier" pitchFamily="2" charset="0"/>
                </a:rPr>
                <a:t>)</a:t>
              </a:r>
            </a:p>
            <a:p>
              <a:r>
                <a:rPr lang="en-GB" sz="1400" dirty="0">
                  <a:latin typeface="Courier" pitchFamily="2" charset="0"/>
                </a:rPr>
                <a:t>	</a:t>
              </a:r>
              <a:r>
                <a:rPr lang="en-GB" sz="1400" dirty="0" err="1">
                  <a:latin typeface="Courier" pitchFamily="2" charset="0"/>
                </a:rPr>
                <a:t>x.left</a:t>
              </a:r>
              <a:r>
                <a:rPr lang="en-GB" sz="1400" dirty="0">
                  <a:latin typeface="Courier" pitchFamily="2" charset="0"/>
                </a:rPr>
                <a:t> = </a:t>
              </a:r>
              <a:r>
                <a:rPr lang="en-GB" sz="1400" dirty="0" err="1">
                  <a:latin typeface="Courier" pitchFamily="2" charset="0"/>
                </a:rPr>
                <a:t>t.left</a:t>
              </a:r>
              <a:endParaRPr lang="en-GB" sz="1400" dirty="0">
                <a:latin typeface="Courier" pitchFamily="2" charset="0"/>
              </a:endParaRPr>
            </a:p>
            <a:p>
              <a:r>
                <a:rPr lang="en-GB" sz="1400" dirty="0">
                  <a:latin typeface="Courier" pitchFamily="2" charset="0"/>
                </a:rPr>
                <a:t>    return x</a:t>
              </a:r>
            </a:p>
            <a:p>
              <a:endParaRPr lang="en-US" sz="1400" dirty="0">
                <a:latin typeface="Courier" pitchFamily="2" charset="0"/>
              </a:endParaRP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2BF84720-E7DA-1A41-8836-84023A4BCE93}"/>
                </a:ext>
              </a:extLst>
            </p:cNvPr>
            <p:cNvSpPr/>
            <p:nvPr/>
          </p:nvSpPr>
          <p:spPr>
            <a:xfrm>
              <a:off x="11074707" y="2784764"/>
              <a:ext cx="330632" cy="914400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8FA3080-F411-BF4F-9771-23019E08EAC3}"/>
                </a:ext>
              </a:extLst>
            </p:cNvPr>
            <p:cNvSpPr txBox="1"/>
            <p:nvPr/>
          </p:nvSpPr>
          <p:spPr>
            <a:xfrm>
              <a:off x="11405339" y="2980354"/>
              <a:ext cx="11993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search for </a:t>
              </a:r>
            </a:p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to delete</a:t>
              </a:r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4A8D391B-540C-9047-BE4D-5BC8E2BC46C5}"/>
                </a:ext>
              </a:extLst>
            </p:cNvPr>
            <p:cNvSpPr/>
            <p:nvPr/>
          </p:nvSpPr>
          <p:spPr>
            <a:xfrm>
              <a:off x="11074707" y="3720922"/>
              <a:ext cx="330632" cy="479704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D73BB46-71BE-CB49-977A-DC8A7CD03AE6}"/>
                </a:ext>
              </a:extLst>
            </p:cNvPr>
            <p:cNvSpPr txBox="1"/>
            <p:nvPr/>
          </p:nvSpPr>
          <p:spPr>
            <a:xfrm>
              <a:off x="11405339" y="3699164"/>
              <a:ext cx="7809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right</a:t>
              </a:r>
            </a:p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child </a:t>
              </a:r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79997CDB-6DAD-7440-989C-8AC7DBF29290}"/>
                </a:ext>
              </a:extLst>
            </p:cNvPr>
            <p:cNvSpPr/>
            <p:nvPr/>
          </p:nvSpPr>
          <p:spPr>
            <a:xfrm>
              <a:off x="11099791" y="4244142"/>
              <a:ext cx="305548" cy="433580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7DEEEA-AE8B-FF42-80B7-5AFA740FD9AA}"/>
                </a:ext>
              </a:extLst>
            </p:cNvPr>
            <p:cNvSpPr txBox="1"/>
            <p:nvPr/>
          </p:nvSpPr>
          <p:spPr>
            <a:xfrm>
              <a:off x="11405339" y="4176260"/>
              <a:ext cx="6719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left</a:t>
              </a:r>
            </a:p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child</a:t>
              </a:r>
            </a:p>
          </p:txBody>
        </p:sp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CF8903DB-EABA-C34D-A804-C3EC04C51171}"/>
                </a:ext>
              </a:extLst>
            </p:cNvPr>
            <p:cNvSpPr/>
            <p:nvPr/>
          </p:nvSpPr>
          <p:spPr>
            <a:xfrm>
              <a:off x="11099791" y="4769508"/>
              <a:ext cx="330632" cy="648782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7F15A8-87C4-6449-8737-B2DBF87D4B25}"/>
                </a:ext>
              </a:extLst>
            </p:cNvPr>
            <p:cNvSpPr txBox="1"/>
            <p:nvPr/>
          </p:nvSpPr>
          <p:spPr>
            <a:xfrm>
              <a:off x="11414957" y="4832289"/>
              <a:ext cx="1189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replace with </a:t>
              </a:r>
            </a:p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successor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11076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31340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Binary Search Tree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C0C0C0"/>
              </a:highlight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Hash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7F3970-2F7C-224F-9DC7-A30C0636B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74016"/>
              </p:ext>
            </p:extLst>
          </p:nvPr>
        </p:nvGraphicFramePr>
        <p:xfrm>
          <a:off x="824115" y="2816483"/>
          <a:ext cx="10543771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67">
                  <a:extLst>
                    <a:ext uri="{9D8B030D-6E8A-4147-A177-3AD203B41FA5}">
                      <a16:colId xmlns:a16="http://schemas.microsoft.com/office/drawing/2014/main" val="383728498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88044769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927896190"/>
                    </a:ext>
                  </a:extLst>
                </a:gridCol>
                <a:gridCol w="1565564">
                  <a:extLst>
                    <a:ext uri="{9D8B030D-6E8A-4147-A177-3AD203B41FA5}">
                      <a16:colId xmlns:a16="http://schemas.microsoft.com/office/drawing/2014/main" val="1353745324"/>
                    </a:ext>
                  </a:extLst>
                </a:gridCol>
                <a:gridCol w="1482436">
                  <a:extLst>
                    <a:ext uri="{9D8B030D-6E8A-4147-A177-3AD203B41FA5}">
                      <a16:colId xmlns:a16="http://schemas.microsoft.com/office/drawing/2014/main" val="15619515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253204784"/>
                    </a:ext>
                  </a:extLst>
                </a:gridCol>
                <a:gridCol w="1506253">
                  <a:extLst>
                    <a:ext uri="{9D8B030D-6E8A-4147-A177-3AD203B41FA5}">
                      <a16:colId xmlns:a16="http://schemas.microsoft.com/office/drawing/2014/main" val="406137392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71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(hit)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2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Sequential search (unordered list)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81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Search (ordered array)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000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472761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B6A2771F-972E-B944-A4DA-0653CC2C3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10945" y="5209163"/>
            <a:ext cx="2604654" cy="1094710"/>
            <a:chOff x="7910945" y="5209163"/>
            <a:chExt cx="2604654" cy="10947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6FD4F8-5AD4-BB41-8763-639812CAE215}"/>
                </a:ext>
              </a:extLst>
            </p:cNvPr>
            <p:cNvSpPr txBox="1"/>
            <p:nvPr/>
          </p:nvSpPr>
          <p:spPr>
            <a:xfrm>
              <a:off x="8817698" y="5780653"/>
              <a:ext cx="16979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also √ N</a:t>
              </a:r>
            </a:p>
            <a:p>
              <a:pPr algn="ctr"/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deletions allowed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78762D5-FF64-BD48-AED8-47F921822B1F}"/>
                </a:ext>
              </a:extLst>
            </p:cNvPr>
            <p:cNvCxnSpPr>
              <a:stCxn id="5" idx="1"/>
            </p:cNvCxnSpPr>
            <p:nvPr/>
          </p:nvCxnSpPr>
          <p:spPr>
            <a:xfrm flipH="1" flipV="1">
              <a:off x="7910945" y="5209163"/>
              <a:ext cx="906753" cy="8331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E41578-14AA-DD48-B797-98BAC21C9853}"/>
                </a:ext>
              </a:extLst>
            </p:cNvPr>
            <p:cNvCxnSpPr>
              <a:stCxn id="5" idx="1"/>
            </p:cNvCxnSpPr>
            <p:nvPr/>
          </p:nvCxnSpPr>
          <p:spPr>
            <a:xfrm flipV="1">
              <a:off x="8817698" y="5226526"/>
              <a:ext cx="340157" cy="8157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9140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3748</TotalTime>
  <Words>2364</Words>
  <Application>Microsoft Macintosh PowerPoint</Application>
  <PresentationFormat>Widescreen</PresentationFormat>
  <Paragraphs>761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3.2b BST Additional Operations</vt:lpstr>
      <vt:lpstr>CONTENT</vt:lpstr>
      <vt:lpstr>Symbol Table Extended API</vt:lpstr>
      <vt:lpstr>Symbol Table Extended API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BST Implementation of ORDERED OPERATIONS</vt:lpstr>
      <vt:lpstr>Symbol Table Extended API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BST Implementation of delete</vt:lpstr>
      <vt:lpstr>CONTENT – recap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118</cp:revision>
  <dcterms:created xsi:type="dcterms:W3CDTF">2020-06-23T14:37:29Z</dcterms:created>
  <dcterms:modified xsi:type="dcterms:W3CDTF">2020-11-06T10:53:54Z</dcterms:modified>
</cp:coreProperties>
</file>