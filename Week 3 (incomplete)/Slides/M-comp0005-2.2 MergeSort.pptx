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8"/>
  </p:notesMasterIdLst>
  <p:sldIdLst>
    <p:sldId id="266" r:id="rId3"/>
    <p:sldId id="310" r:id="rId4"/>
    <p:sldId id="312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37" r:id="rId24"/>
    <p:sldId id="338" r:id="rId25"/>
    <p:sldId id="339" r:id="rId26"/>
    <p:sldId id="340" r:id="rId27"/>
    <p:sldId id="344" r:id="rId28"/>
    <p:sldId id="345" r:id="rId29"/>
    <p:sldId id="341" r:id="rId30"/>
    <p:sldId id="342" r:id="rId31"/>
    <p:sldId id="343" r:id="rId32"/>
    <p:sldId id="346" r:id="rId33"/>
    <p:sldId id="347" r:id="rId34"/>
    <p:sldId id="348" r:id="rId35"/>
    <p:sldId id="349" r:id="rId36"/>
    <p:sldId id="31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91"/>
    <p:restoredTop sz="46667"/>
  </p:normalViewPr>
  <p:slideViewPr>
    <p:cSldViewPr snapToGrid="0" snapToObjects="1">
      <p:cViewPr varScale="1">
        <p:scale>
          <a:sx n="56" d="100"/>
          <a:sy n="56" d="100"/>
        </p:scale>
        <p:origin x="1712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3815A-4642-054F-9DCB-06468736115A}" type="datetimeFigureOut">
              <a:rPr lang="en-US" smtClean="0"/>
              <a:t>11/2/20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8918F-5AD9-E04B-8904-1D5B7230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67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55201-7865-8744-8A9B-9F5FC03C5C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4135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47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0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664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5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08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62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54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12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21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78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90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071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367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0190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556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06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567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6840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216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159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328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280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661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338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857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602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83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633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844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332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2879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8111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919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5104-30DF-C243-B6F5-80F122C43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F9C87-B826-1B49-A847-710502CBD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F453F-4E94-824B-AFA6-EB4E86C0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B56E-3BBC-654D-8FA9-E1F006DD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88353-695E-914E-959B-1DE06138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3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7F73-75A7-BF4C-9B87-0E5DAA26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132541" cy="720000"/>
          </a:xfrm>
        </p:spPr>
        <p:txBody>
          <a:bodyPr/>
          <a:lstStyle>
            <a:lvl1pPr>
              <a:defRPr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9A81-21ED-634D-B435-4DA1AB93F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1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7776-6F62-7949-AC29-57711FE6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DDEED-88CB-854F-A579-2E9F5C88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3E4C-5521-A646-9E20-EDBF5E08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BB6D-FB51-F14E-96DC-CB799402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CE9B-3262-4946-BA2B-2E15B128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2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477B-0526-5246-ADF9-A09D3225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C74B-6A3E-0D41-A414-968897748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19A30-BEDD-4E4D-A469-75A32DB6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90622-BD04-2F49-87BF-8F8A56A9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36CA9-0AF2-6044-B7B9-D370C998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07945-78CB-FD48-A540-3D195554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105D-2311-6C4A-AFBA-C7380661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7611F-9F84-EF46-B687-F45096EE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FF43-7CB4-D043-A4E6-F7EBD5AD1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651C7-134F-6D4C-B0C9-F97F16FCB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B9679-8272-C842-80E7-7C2C35B6B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03A7-9909-8849-989F-56035CE1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F941C-DA96-0244-A4BD-DDC6880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2B1AB-E8BD-194D-A1B0-84EEEAD5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B65D-442A-8843-8F16-7ABEA571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9297-1F38-2D41-BF9E-9074D73D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6E31A-1A8B-DA41-96E1-AE81C5DA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5C91-339E-644D-8D83-3DE22C83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4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269F9-C47F-5B42-8277-D273C18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79E2E-0F80-CC4C-AC36-AEBFFC9C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C028F-9D1D-4246-9A8D-9B12841F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1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425B-9808-AA41-9609-755D86C8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FAE-9E85-D84D-8A74-ADC02B429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05D49-C024-1643-8B1C-B03459C6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8C301-58C0-8443-A8FD-FE276F98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AA141-96BB-DB4F-B27D-6F7AF7D7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4CBB8-298F-1246-BC42-25680FD0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3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C04D-5F03-AA4D-8037-39B8E663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F1385-96F7-A140-AA79-83ACBA263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11CC3-A00C-784B-8C87-ECE428E1D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CC509-EA9D-234D-BD95-51099A8B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8714-646A-7642-ACC7-DBE60426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C2430-0B85-1D4C-B46F-FC7DD6A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5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3C0C-A609-F342-919D-11DD78C4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19D3E-C74D-5148-A3E6-FF8D596BB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6387-CFBA-0342-A560-13C5D788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E4AB-2F0E-DE42-A638-F24757D1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B63D-2E4D-4241-83AC-C6A15648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7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ADECF-14E8-3C41-B869-448FE504D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B74BE-C693-0E44-8F73-00799AB99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273F7-69F8-D743-8DD7-63377B19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62B8-7B1D-774A-AE0D-C751F2AC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F8AB-2631-7F49-804C-2B75DF4D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9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61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267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74719"/>
            <a:ext cx="10515600" cy="27022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"/>
            <a:ext cx="12192000" cy="1646767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999" y="384000"/>
            <a:ext cx="7318611" cy="3907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467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467">
                <a:solidFill>
                  <a:schemeClr val="tx1"/>
                </a:solidFill>
              </a:defRPr>
            </a:lvl2pPr>
            <a:lvl3pPr marL="0" indent="0">
              <a:buNone/>
              <a:defRPr sz="1467">
                <a:solidFill>
                  <a:schemeClr val="tx1"/>
                </a:solidFill>
              </a:defRPr>
            </a:lvl3pPr>
            <a:lvl4pPr marL="0" indent="0">
              <a:buNone/>
              <a:defRPr sz="1467">
                <a:solidFill>
                  <a:schemeClr val="tx1"/>
                </a:solidFill>
              </a:defRPr>
            </a:lvl4pPr>
            <a:lvl5pPr marL="0" indent="0">
              <a:buNone/>
              <a:defRPr sz="14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1328022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C065B9-79B2-2E46-992C-E436F6FDC61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1262"/>
            <a:ext cx="12192000" cy="132556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3A9AA-7FD3-E641-8BB9-C7229D0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347"/>
            <a:ext cx="10515600" cy="904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63258-2D95-1B4C-B09E-444B93AC6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708" y="1668162"/>
            <a:ext cx="11294076" cy="4893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75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9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00989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20249" y="220779"/>
            <a:ext cx="4289120" cy="93996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6933"/>
            <a:endParaRPr lang="en-GB" sz="1333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781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9997" indent="-119997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7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8200" y="2462581"/>
            <a:ext cx="10515600" cy="1929476"/>
          </a:xfrm>
        </p:spPr>
        <p:txBody>
          <a:bodyPr/>
          <a:lstStyle/>
          <a:p>
            <a:r>
              <a:rPr lang="en-US" sz="5333" dirty="0">
                <a:solidFill>
                  <a:schemeClr val="tx1"/>
                </a:solidFill>
              </a:rPr>
              <a:t>COMP0005 – ALGORITHMS </a:t>
            </a:r>
            <a:br>
              <a:rPr lang="en-US" sz="5333" dirty="0">
                <a:solidFill>
                  <a:schemeClr val="tx1"/>
                </a:solidFill>
              </a:rPr>
            </a:br>
            <a:br>
              <a:rPr lang="en-US" sz="3733" dirty="0">
                <a:solidFill>
                  <a:schemeClr val="tx1"/>
                </a:solidFill>
              </a:rPr>
            </a:br>
            <a:r>
              <a:rPr lang="en-US" sz="3733" dirty="0">
                <a:solidFill>
                  <a:schemeClr val="tx1"/>
                </a:solidFill>
              </a:rPr>
              <a:t>2.2 Merge Sort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5189251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sz="2667" dirty="0"/>
              <a:t>Prof </a:t>
            </a:r>
            <a:r>
              <a:rPr lang="en-US" sz="2667" dirty="0" err="1"/>
              <a:t>Licia</a:t>
            </a:r>
            <a:r>
              <a:rPr lang="en-US" sz="2667" dirty="0"/>
              <a:t> Capra</a:t>
            </a:r>
          </a:p>
          <a:p>
            <a:pPr marL="0" indent="0">
              <a:buNone/>
            </a:pPr>
            <a:r>
              <a:rPr lang="en-US" sz="2133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668610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Elementary Sorts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highlight>
                  <a:srgbClr val="C0C0C0"/>
                </a:highlight>
              </a:rPr>
              <a:t>MergeSort</a:t>
            </a:r>
            <a:endParaRPr lang="en-US" dirty="0">
              <a:highlight>
                <a:srgbClr val="C0C0C0"/>
              </a:highlight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QuickSort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HeapSort</a:t>
            </a:r>
            <a:endParaRPr lang="en-US" dirty="0"/>
          </a:p>
        </p:txBody>
      </p:sp>
      <p:pic>
        <p:nvPicPr>
          <p:cNvPr id="4" name="Picture 3" descr="John von Neumann, inventor of mergesort">
            <a:extLst>
              <a:ext uri="{FF2B5EF4-FFF2-40B4-BE49-F238E27FC236}">
                <a16:creationId xmlns:a16="http://schemas.microsoft.com/office/drawing/2014/main" id="{A3D97057-84F4-8A4D-8F40-DD4ECA366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880" y="1859468"/>
            <a:ext cx="3044218" cy="3971321"/>
          </a:xfrm>
          <a:prstGeom prst="rect">
            <a:avLst/>
          </a:prstGeom>
          <a:ln w="38100">
            <a:solidFill>
              <a:schemeClr val="accent3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286875-D9C4-2C40-9DD4-1F181FEFD3D7}"/>
              </a:ext>
            </a:extLst>
          </p:cNvPr>
          <p:cNvSpPr txBox="1"/>
          <p:nvPr/>
        </p:nvSpPr>
        <p:spPr>
          <a:xfrm>
            <a:off x="6704382" y="5960995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John von Neumann</a:t>
            </a:r>
          </a:p>
        </p:txBody>
      </p:sp>
    </p:spTree>
    <p:extLst>
      <p:ext uri="{BB962C8B-B14F-4D97-AF65-F5344CB8AC3E}">
        <p14:creationId xmlns:p14="http://schemas.microsoft.com/office/powerpoint/2010/main" val="3270982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</a:t>
            </a:r>
            <a:endParaRPr lang="en-US" dirty="0">
              <a:highlight>
                <a:srgbClr val="C0C0C0"/>
              </a:highlight>
            </a:endParaRPr>
          </a:p>
          <a:p>
            <a:pPr lvl="1"/>
            <a:r>
              <a:rPr lang="en-US" dirty="0"/>
              <a:t>Divide an array in two halves</a:t>
            </a:r>
          </a:p>
          <a:p>
            <a:pPr lvl="1"/>
            <a:r>
              <a:rPr lang="en-US" dirty="0"/>
              <a:t>Sort each half separately</a:t>
            </a:r>
          </a:p>
          <a:p>
            <a:pPr lvl="1"/>
            <a:r>
              <a:rPr lang="en-US" dirty="0"/>
              <a:t>Merge the two halves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CC09A4-CC38-9D4B-8F1C-9CCE31273A8F}"/>
              </a:ext>
            </a:extLst>
          </p:cNvPr>
          <p:cNvSpPr txBox="1"/>
          <p:nvPr/>
        </p:nvSpPr>
        <p:spPr>
          <a:xfrm>
            <a:off x="1442433" y="3869105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array</a:t>
            </a:r>
          </a:p>
        </p:txBody>
      </p:sp>
      <p:graphicFrame>
        <p:nvGraphicFramePr>
          <p:cNvPr id="4" name="Table 3" descr="Example input array not sorted">
            <a:extLst>
              <a:ext uri="{FF2B5EF4-FFF2-40B4-BE49-F238E27FC236}">
                <a16:creationId xmlns:a16="http://schemas.microsoft.com/office/drawing/2014/main" id="{50DB3C44-2D2E-514E-8030-6D03DA4B7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470642"/>
              </p:ext>
            </p:extLst>
          </p:nvPr>
        </p:nvGraphicFramePr>
        <p:xfrm>
          <a:off x="2901327" y="3867597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C0DCC87-CD7F-B24D-B8DB-EFEEE9BD4996}"/>
              </a:ext>
            </a:extLst>
          </p:cNvPr>
          <p:cNvSpPr txBox="1"/>
          <p:nvPr/>
        </p:nvSpPr>
        <p:spPr>
          <a:xfrm>
            <a:off x="1314193" y="4330598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Sort left half</a:t>
            </a:r>
          </a:p>
        </p:txBody>
      </p:sp>
      <p:graphicFrame>
        <p:nvGraphicFramePr>
          <p:cNvPr id="6" name="Table 5" descr="Example left half sorted">
            <a:extLst>
              <a:ext uri="{FF2B5EF4-FFF2-40B4-BE49-F238E27FC236}">
                <a16:creationId xmlns:a16="http://schemas.microsoft.com/office/drawing/2014/main" id="{F092ABC0-A451-814F-8FA3-45C04C84C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009486"/>
              </p:ext>
            </p:extLst>
          </p:nvPr>
        </p:nvGraphicFramePr>
        <p:xfrm>
          <a:off x="2901327" y="432909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7AC6882-54FC-394D-AFFB-EF271C00D572}"/>
              </a:ext>
            </a:extLst>
          </p:cNvPr>
          <p:cNvSpPr txBox="1"/>
          <p:nvPr/>
        </p:nvSpPr>
        <p:spPr>
          <a:xfrm>
            <a:off x="1173129" y="4799859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Sort right half</a:t>
            </a:r>
          </a:p>
        </p:txBody>
      </p:sp>
      <p:graphicFrame>
        <p:nvGraphicFramePr>
          <p:cNvPr id="8" name="Table 7" descr="Example right half sorted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055105"/>
              </p:ext>
            </p:extLst>
          </p:nvPr>
        </p:nvGraphicFramePr>
        <p:xfrm>
          <a:off x="2901327" y="4798351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C1B0B40-8690-2340-8789-4522D7CAD08B}"/>
              </a:ext>
            </a:extLst>
          </p:cNvPr>
          <p:cNvSpPr txBox="1"/>
          <p:nvPr/>
        </p:nvSpPr>
        <p:spPr>
          <a:xfrm>
            <a:off x="1172951" y="5219709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Merge results</a:t>
            </a:r>
          </a:p>
        </p:txBody>
      </p:sp>
      <p:graphicFrame>
        <p:nvGraphicFramePr>
          <p:cNvPr id="10" name="Table 9" descr="Example merge">
            <a:extLst>
              <a:ext uri="{FF2B5EF4-FFF2-40B4-BE49-F238E27FC236}">
                <a16:creationId xmlns:a16="http://schemas.microsoft.com/office/drawing/2014/main" id="{FA4EB900-2487-DB4B-8A73-B28C5EA7A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910462"/>
              </p:ext>
            </p:extLst>
          </p:nvPr>
        </p:nvGraphicFramePr>
        <p:xfrm>
          <a:off x="2901327" y="5267612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01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CC09A4-CC38-9D4B-8F1C-9CCE31273A8F}"/>
              </a:ext>
            </a:extLst>
          </p:cNvPr>
          <p:cNvSpPr txBox="1"/>
          <p:nvPr/>
        </p:nvSpPr>
        <p:spPr>
          <a:xfrm>
            <a:off x="1442433" y="3869105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 – </a:t>
            </a:r>
            <a:r>
              <a:rPr lang="en-US" dirty="0">
                <a:highlight>
                  <a:srgbClr val="C0C0C0"/>
                </a:highlight>
              </a:rPr>
              <a:t>Divide and conquer</a:t>
            </a:r>
          </a:p>
          <a:p>
            <a:pPr lvl="1"/>
            <a:r>
              <a:rPr lang="en-US" dirty="0"/>
              <a:t>Divide an array in two halves </a:t>
            </a:r>
            <a:r>
              <a:rPr lang="en-US" dirty="0">
                <a:highlight>
                  <a:srgbClr val="C0C0C0"/>
                </a:highlight>
              </a:rPr>
              <a:t>(split the problem)</a:t>
            </a:r>
          </a:p>
          <a:p>
            <a:pPr lvl="1"/>
            <a:r>
              <a:rPr lang="en-US" dirty="0"/>
              <a:t>Sort each half separately </a:t>
            </a:r>
            <a:r>
              <a:rPr lang="en-US" dirty="0">
                <a:highlight>
                  <a:srgbClr val="C0C0C0"/>
                </a:highlight>
              </a:rPr>
              <a:t>(solve smaller instances of the problem)</a:t>
            </a:r>
          </a:p>
          <a:p>
            <a:pPr lvl="1"/>
            <a:r>
              <a:rPr lang="en-US" dirty="0"/>
              <a:t>Merge the two halves </a:t>
            </a:r>
            <a:r>
              <a:rPr lang="en-US" dirty="0">
                <a:highlight>
                  <a:srgbClr val="C0C0C0"/>
                </a:highlight>
              </a:rPr>
              <a:t>(recombine the solutions of the smaller problems into the solution of the larger problem)</a:t>
            </a:r>
          </a:p>
        </p:txBody>
      </p:sp>
      <p:graphicFrame>
        <p:nvGraphicFramePr>
          <p:cNvPr id="4" name="Table 3" descr="Example input array not sorted">
            <a:extLst>
              <a:ext uri="{FF2B5EF4-FFF2-40B4-BE49-F238E27FC236}">
                <a16:creationId xmlns:a16="http://schemas.microsoft.com/office/drawing/2014/main" id="{50DB3C44-2D2E-514E-8030-6D03DA4B7A50}"/>
              </a:ext>
            </a:extLst>
          </p:cNvPr>
          <p:cNvGraphicFramePr>
            <a:graphicFrameLocks noGrp="1"/>
          </p:cNvGraphicFramePr>
          <p:nvPr/>
        </p:nvGraphicFramePr>
        <p:xfrm>
          <a:off x="2901327" y="3867597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C0DCC87-CD7F-B24D-B8DB-EFEEE9BD4996}"/>
              </a:ext>
            </a:extLst>
          </p:cNvPr>
          <p:cNvSpPr txBox="1"/>
          <p:nvPr/>
        </p:nvSpPr>
        <p:spPr>
          <a:xfrm>
            <a:off x="1314193" y="4330598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Sort left half</a:t>
            </a:r>
          </a:p>
        </p:txBody>
      </p:sp>
      <p:graphicFrame>
        <p:nvGraphicFramePr>
          <p:cNvPr id="6" name="Table 5" descr="Example left half sorted">
            <a:extLst>
              <a:ext uri="{FF2B5EF4-FFF2-40B4-BE49-F238E27FC236}">
                <a16:creationId xmlns:a16="http://schemas.microsoft.com/office/drawing/2014/main" id="{F092ABC0-A451-814F-8FA3-45C04C84CAB4}"/>
              </a:ext>
            </a:extLst>
          </p:cNvPr>
          <p:cNvGraphicFramePr>
            <a:graphicFrameLocks noGrp="1"/>
          </p:cNvGraphicFramePr>
          <p:nvPr/>
        </p:nvGraphicFramePr>
        <p:xfrm>
          <a:off x="2901327" y="432909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7AC6882-54FC-394D-AFFB-EF271C00D572}"/>
              </a:ext>
            </a:extLst>
          </p:cNvPr>
          <p:cNvSpPr txBox="1"/>
          <p:nvPr/>
        </p:nvSpPr>
        <p:spPr>
          <a:xfrm>
            <a:off x="1173129" y="4799859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Sort right half</a:t>
            </a:r>
          </a:p>
        </p:txBody>
      </p:sp>
      <p:graphicFrame>
        <p:nvGraphicFramePr>
          <p:cNvPr id="8" name="Table 7" descr="Example right half sorted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/>
        </p:nvGraphicFramePr>
        <p:xfrm>
          <a:off x="2901327" y="4798351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C1B0B40-8690-2340-8789-4522D7CAD08B}"/>
              </a:ext>
            </a:extLst>
          </p:cNvPr>
          <p:cNvSpPr txBox="1"/>
          <p:nvPr/>
        </p:nvSpPr>
        <p:spPr>
          <a:xfrm>
            <a:off x="1172951" y="5219709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Merge results</a:t>
            </a:r>
          </a:p>
        </p:txBody>
      </p:sp>
      <p:graphicFrame>
        <p:nvGraphicFramePr>
          <p:cNvPr id="10" name="Table 9" descr="Example merge">
            <a:extLst>
              <a:ext uri="{FF2B5EF4-FFF2-40B4-BE49-F238E27FC236}">
                <a16:creationId xmlns:a16="http://schemas.microsoft.com/office/drawing/2014/main" id="{FA4EB900-2487-DB4B-8A73-B28C5EA7AB58}"/>
              </a:ext>
            </a:extLst>
          </p:cNvPr>
          <p:cNvGraphicFramePr>
            <a:graphicFrameLocks noGrp="1"/>
          </p:cNvGraphicFramePr>
          <p:nvPr/>
        </p:nvGraphicFramePr>
        <p:xfrm>
          <a:off x="2901327" y="5267612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7065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773375"/>
              </p:ext>
            </p:extLst>
          </p:nvPr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82D8DBAC-BED0-3348-A7EA-28C73D27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535708" y="3099139"/>
            <a:ext cx="8118690" cy="1395517"/>
            <a:chOff x="1535708" y="3099139"/>
            <a:chExt cx="8118690" cy="139551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654FABC-4008-414D-BCBD-29626CE648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2040131" y="3099139"/>
              <a:ext cx="7614267" cy="1395517"/>
              <a:chOff x="2040131" y="3099139"/>
              <a:chExt cx="7614267" cy="1395517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6B05E96-4008-AB48-9C94-A68403EBC4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47268" y="3416121"/>
                <a:ext cx="0" cy="37084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16E8BC2-FEBC-8B4C-A923-BB11C7A660C1}"/>
                  </a:ext>
                </a:extLst>
              </p:cNvPr>
              <p:cNvGrpSpPr/>
              <p:nvPr/>
            </p:nvGrpSpPr>
            <p:grpSpPr>
              <a:xfrm>
                <a:off x="2040131" y="3099139"/>
                <a:ext cx="7614267" cy="1395517"/>
                <a:chOff x="2040131" y="3099139"/>
                <a:chExt cx="7614267" cy="1395517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3C3EA43-A706-694D-992F-D901A0DE49DB}"/>
                    </a:ext>
                  </a:extLst>
                </p:cNvPr>
                <p:cNvSpPr txBox="1"/>
                <p:nvPr/>
              </p:nvSpPr>
              <p:spPr>
                <a:xfrm>
                  <a:off x="3501748" y="4125324"/>
                  <a:ext cx="8258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sorted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ABC766D-4C1B-BB46-9E79-F345F5F5A89E}"/>
                    </a:ext>
                  </a:extLst>
                </p:cNvPr>
                <p:cNvSpPr txBox="1"/>
                <p:nvPr/>
              </p:nvSpPr>
              <p:spPr>
                <a:xfrm>
                  <a:off x="7308874" y="4125324"/>
                  <a:ext cx="8258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sorted</a:t>
                  </a:r>
                </a:p>
              </p:txBody>
            </p:sp>
            <p:sp>
              <p:nvSpPr>
                <p:cNvPr id="16" name="Left Brace 15">
                  <a:extLst>
                    <a:ext uri="{FF2B5EF4-FFF2-40B4-BE49-F238E27FC236}">
                      <a16:creationId xmlns:a16="http://schemas.microsoft.com/office/drawing/2014/main" id="{7E61AD86-9341-934E-A9A3-432344E1D451}"/>
                    </a:ext>
                  </a:extLst>
                </p:cNvPr>
                <p:cNvSpPr/>
                <p:nvPr/>
              </p:nvSpPr>
              <p:spPr>
                <a:xfrm rot="16200000">
                  <a:off x="3799938" y="2077997"/>
                  <a:ext cx="287520" cy="3807133"/>
                </a:xfrm>
                <a:prstGeom prst="leftBrace">
                  <a:avLst/>
                </a:prstGeom>
                <a:ln w="2540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Left Brace 16">
                  <a:extLst>
                    <a:ext uri="{FF2B5EF4-FFF2-40B4-BE49-F238E27FC236}">
                      <a16:creationId xmlns:a16="http://schemas.microsoft.com/office/drawing/2014/main" id="{F8F3422F-59E6-8744-8D03-50DDF48D13CD}"/>
                    </a:ext>
                  </a:extLst>
                </p:cNvPr>
                <p:cNvSpPr/>
                <p:nvPr/>
              </p:nvSpPr>
              <p:spPr>
                <a:xfrm rot="16200000">
                  <a:off x="7607072" y="2077997"/>
                  <a:ext cx="287520" cy="3807133"/>
                </a:xfrm>
                <a:prstGeom prst="leftBrace">
                  <a:avLst/>
                </a:prstGeom>
                <a:ln w="2540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977F682-3468-C345-AAB8-2D79547D4374}"/>
                    </a:ext>
                  </a:extLst>
                </p:cNvPr>
                <p:cNvSpPr txBox="1"/>
                <p:nvPr/>
              </p:nvSpPr>
              <p:spPr>
                <a:xfrm>
                  <a:off x="2040131" y="3104745"/>
                  <a:ext cx="39946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Courier" pitchFamily="2" charset="0"/>
                      <a:cs typeface="Arial" panose="020B0604020202020204" pitchFamily="34" charset="0"/>
                    </a:rPr>
                    <a:t>lo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322080E-2524-FE42-959D-40730EAC0427}"/>
                    </a:ext>
                  </a:extLst>
                </p:cNvPr>
                <p:cNvSpPr txBox="1"/>
                <p:nvPr/>
              </p:nvSpPr>
              <p:spPr>
                <a:xfrm>
                  <a:off x="5388574" y="3101942"/>
                  <a:ext cx="115127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Courier" pitchFamily="2" charset="0"/>
                      <a:cs typeface="Arial" panose="020B0604020202020204" pitchFamily="34" charset="0"/>
                    </a:rPr>
                    <a:t>mid mid+1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F4DA7DE-9E11-864E-8635-49800D8ED8D5}"/>
                    </a:ext>
                  </a:extLst>
                </p:cNvPr>
                <p:cNvSpPr txBox="1"/>
                <p:nvPr/>
              </p:nvSpPr>
              <p:spPr>
                <a:xfrm>
                  <a:off x="9240379" y="3099139"/>
                  <a:ext cx="39946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Courier" pitchFamily="2" charset="0"/>
                      <a:cs typeface="Arial" panose="020B0604020202020204" pitchFamily="34" charset="0"/>
                    </a:rPr>
                    <a:t>hi</a:t>
                  </a:r>
                </a:p>
              </p:txBody>
            </p:sp>
          </p:grp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2E5A262-0136-464E-B5A7-9F7F9EE7E44A}"/>
                </a:ext>
              </a:extLst>
            </p:cNvPr>
            <p:cNvSpPr txBox="1"/>
            <p:nvPr/>
          </p:nvSpPr>
          <p:spPr>
            <a:xfrm>
              <a:off x="1535708" y="3460531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ourier" pitchFamily="2" charset="0"/>
                  <a:cs typeface="Arial" panose="020B0604020202020204" pitchFamily="34" charset="0"/>
                </a:rPr>
                <a:t>a[]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8305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5A262-0136-464E-B5A7-9F7F9EE7E44A}"/>
              </a:ext>
            </a:extLst>
          </p:cNvPr>
          <p:cNvSpPr txBox="1"/>
          <p:nvPr/>
        </p:nvSpPr>
        <p:spPr>
          <a:xfrm>
            <a:off x="1535708" y="346053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508337"/>
              </p:ext>
            </p:extLst>
          </p:nvPr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16B05E96-4008-AB48-9C94-A68403EB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3416121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557D5C-8C39-F44E-ADCF-2B81967D8C6B}"/>
              </a:ext>
            </a:extLst>
          </p:cNvPr>
          <p:cNvSpPr txBox="1"/>
          <p:nvPr/>
        </p:nvSpPr>
        <p:spPr>
          <a:xfrm>
            <a:off x="1316765" y="48255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aux[]</a:t>
            </a:r>
          </a:p>
        </p:txBody>
      </p:sp>
      <p:graphicFrame>
        <p:nvGraphicFramePr>
          <p:cNvPr id="25" name="Table 24" descr="Example array being sorted via mergesort">
            <a:extLst>
              <a:ext uri="{FF2B5EF4-FFF2-40B4-BE49-F238E27FC236}">
                <a16:creationId xmlns:a16="http://schemas.microsoft.com/office/drawing/2014/main" id="{C6AA8EC2-3D71-9C46-A61C-ED920B4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946475"/>
              </p:ext>
            </p:extLst>
          </p:nvPr>
        </p:nvGraphicFramePr>
        <p:xfrm>
          <a:off x="2040132" y="4794033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26" name="Straight Connector 25" hidden="1">
            <a:extLst>
              <a:ext uri="{FF2B5EF4-FFF2-40B4-BE49-F238E27FC236}">
                <a16:creationId xmlns:a16="http://schemas.microsoft.com/office/drawing/2014/main" id="{EA95FDA5-7001-D54F-9D06-D5E5E1701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4781154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40BB2E-6C61-794C-B23E-424332179B83}"/>
              </a:ext>
            </a:extLst>
          </p:cNvPr>
          <p:cNvSpPr txBox="1"/>
          <p:nvPr/>
        </p:nvSpPr>
        <p:spPr>
          <a:xfrm>
            <a:off x="2115857" y="3032665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BBE18-0214-F740-9FE6-887431724010}"/>
              </a:ext>
            </a:extLst>
          </p:cNvPr>
          <p:cNvSpPr txBox="1"/>
          <p:nvPr/>
        </p:nvSpPr>
        <p:spPr>
          <a:xfrm>
            <a:off x="2038437" y="5196404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endParaRPr lang="en-US" sz="1400" dirty="0">
              <a:latin typeface="Courier" pitchFamily="2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698FF-AAE4-7E4F-A13A-87302FC82976}"/>
              </a:ext>
            </a:extLst>
          </p:cNvPr>
          <p:cNvSpPr txBox="1"/>
          <p:nvPr/>
        </p:nvSpPr>
        <p:spPr>
          <a:xfrm>
            <a:off x="5949966" y="517775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837721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5A262-0136-464E-B5A7-9F7F9EE7E44A}"/>
              </a:ext>
            </a:extLst>
          </p:cNvPr>
          <p:cNvSpPr txBox="1"/>
          <p:nvPr/>
        </p:nvSpPr>
        <p:spPr>
          <a:xfrm>
            <a:off x="1535708" y="346053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539094"/>
              </p:ext>
            </p:extLst>
          </p:nvPr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16B05E96-4008-AB48-9C94-A68403EB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3416121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557D5C-8C39-F44E-ADCF-2B81967D8C6B}"/>
              </a:ext>
            </a:extLst>
          </p:cNvPr>
          <p:cNvSpPr txBox="1"/>
          <p:nvPr/>
        </p:nvSpPr>
        <p:spPr>
          <a:xfrm>
            <a:off x="1316765" y="48255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aux[]</a:t>
            </a:r>
          </a:p>
        </p:txBody>
      </p:sp>
      <p:graphicFrame>
        <p:nvGraphicFramePr>
          <p:cNvPr id="25" name="Table 24" descr="Example array being sorted via mergesort">
            <a:extLst>
              <a:ext uri="{FF2B5EF4-FFF2-40B4-BE49-F238E27FC236}">
                <a16:creationId xmlns:a16="http://schemas.microsoft.com/office/drawing/2014/main" id="{C6AA8EC2-3D71-9C46-A61C-ED920B4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836281"/>
              </p:ext>
            </p:extLst>
          </p:nvPr>
        </p:nvGraphicFramePr>
        <p:xfrm>
          <a:off x="2040132" y="4794033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26" name="Straight Connector 25" hidden="1">
            <a:extLst>
              <a:ext uri="{FF2B5EF4-FFF2-40B4-BE49-F238E27FC236}">
                <a16:creationId xmlns:a16="http://schemas.microsoft.com/office/drawing/2014/main" id="{EA95FDA5-7001-D54F-9D06-D5E5E1701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4781154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40BB2E-6C61-794C-B23E-424332179B83}"/>
              </a:ext>
            </a:extLst>
          </p:cNvPr>
          <p:cNvSpPr txBox="1"/>
          <p:nvPr/>
        </p:nvSpPr>
        <p:spPr>
          <a:xfrm>
            <a:off x="2566618" y="308969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BBE18-0214-F740-9FE6-887431724010}"/>
              </a:ext>
            </a:extLst>
          </p:cNvPr>
          <p:cNvSpPr txBox="1"/>
          <p:nvPr/>
        </p:nvSpPr>
        <p:spPr>
          <a:xfrm>
            <a:off x="2038437" y="5196404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endParaRPr lang="en-US" sz="1400" dirty="0">
              <a:latin typeface="Courier" pitchFamily="2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698FF-AAE4-7E4F-A13A-87302FC82976}"/>
              </a:ext>
            </a:extLst>
          </p:cNvPr>
          <p:cNvSpPr txBox="1"/>
          <p:nvPr/>
        </p:nvSpPr>
        <p:spPr>
          <a:xfrm>
            <a:off x="6400727" y="517775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886520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5A262-0136-464E-B5A7-9F7F9EE7E44A}"/>
              </a:ext>
            </a:extLst>
          </p:cNvPr>
          <p:cNvSpPr txBox="1"/>
          <p:nvPr/>
        </p:nvSpPr>
        <p:spPr>
          <a:xfrm>
            <a:off x="1535708" y="346053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085520"/>
              </p:ext>
            </p:extLst>
          </p:nvPr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16B05E96-4008-AB48-9C94-A68403EB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3416121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557D5C-8C39-F44E-ADCF-2B81967D8C6B}"/>
              </a:ext>
            </a:extLst>
          </p:cNvPr>
          <p:cNvSpPr txBox="1"/>
          <p:nvPr/>
        </p:nvSpPr>
        <p:spPr>
          <a:xfrm>
            <a:off x="1316765" y="48255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aux[]</a:t>
            </a:r>
          </a:p>
        </p:txBody>
      </p:sp>
      <p:graphicFrame>
        <p:nvGraphicFramePr>
          <p:cNvPr id="25" name="Table 24" descr="Example array being sorted via mergesort">
            <a:extLst>
              <a:ext uri="{FF2B5EF4-FFF2-40B4-BE49-F238E27FC236}">
                <a16:creationId xmlns:a16="http://schemas.microsoft.com/office/drawing/2014/main" id="{C6AA8EC2-3D71-9C46-A61C-ED920B4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569648"/>
              </p:ext>
            </p:extLst>
          </p:nvPr>
        </p:nvGraphicFramePr>
        <p:xfrm>
          <a:off x="2040132" y="4794033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26" name="Straight Connector 25" hidden="1">
            <a:extLst>
              <a:ext uri="{FF2B5EF4-FFF2-40B4-BE49-F238E27FC236}">
                <a16:creationId xmlns:a16="http://schemas.microsoft.com/office/drawing/2014/main" id="{EA95FDA5-7001-D54F-9D06-D5E5E1701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4781154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40BB2E-6C61-794C-B23E-424332179B83}"/>
              </a:ext>
            </a:extLst>
          </p:cNvPr>
          <p:cNvSpPr txBox="1"/>
          <p:nvPr/>
        </p:nvSpPr>
        <p:spPr>
          <a:xfrm>
            <a:off x="3056015" y="308969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BBE18-0214-F740-9FE6-887431724010}"/>
              </a:ext>
            </a:extLst>
          </p:cNvPr>
          <p:cNvSpPr txBox="1"/>
          <p:nvPr/>
        </p:nvSpPr>
        <p:spPr>
          <a:xfrm>
            <a:off x="2566618" y="517775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endParaRPr lang="en-US" sz="1400" dirty="0">
              <a:latin typeface="Courier" pitchFamily="2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698FF-AAE4-7E4F-A13A-87302FC82976}"/>
              </a:ext>
            </a:extLst>
          </p:cNvPr>
          <p:cNvSpPr txBox="1"/>
          <p:nvPr/>
        </p:nvSpPr>
        <p:spPr>
          <a:xfrm>
            <a:off x="6400727" y="517775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4131623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5A262-0136-464E-B5A7-9F7F9EE7E44A}"/>
              </a:ext>
            </a:extLst>
          </p:cNvPr>
          <p:cNvSpPr txBox="1"/>
          <p:nvPr/>
        </p:nvSpPr>
        <p:spPr>
          <a:xfrm>
            <a:off x="1535708" y="346053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317136"/>
              </p:ext>
            </p:extLst>
          </p:nvPr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16B05E96-4008-AB48-9C94-A68403EB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3416121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557D5C-8C39-F44E-ADCF-2B81967D8C6B}"/>
              </a:ext>
            </a:extLst>
          </p:cNvPr>
          <p:cNvSpPr txBox="1"/>
          <p:nvPr/>
        </p:nvSpPr>
        <p:spPr>
          <a:xfrm>
            <a:off x="1316765" y="48255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aux[]</a:t>
            </a:r>
          </a:p>
        </p:txBody>
      </p:sp>
      <p:graphicFrame>
        <p:nvGraphicFramePr>
          <p:cNvPr id="25" name="Table 24" descr="Example array being sorted via mergesort">
            <a:extLst>
              <a:ext uri="{FF2B5EF4-FFF2-40B4-BE49-F238E27FC236}">
                <a16:creationId xmlns:a16="http://schemas.microsoft.com/office/drawing/2014/main" id="{C6AA8EC2-3D71-9C46-A61C-ED920B4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349890"/>
              </p:ext>
            </p:extLst>
          </p:nvPr>
        </p:nvGraphicFramePr>
        <p:xfrm>
          <a:off x="2040132" y="4794033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26" name="Straight Connector 25" hidden="1">
            <a:extLst>
              <a:ext uri="{FF2B5EF4-FFF2-40B4-BE49-F238E27FC236}">
                <a16:creationId xmlns:a16="http://schemas.microsoft.com/office/drawing/2014/main" id="{EA95FDA5-7001-D54F-9D06-D5E5E1701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4781154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40BB2E-6C61-794C-B23E-424332179B83}"/>
              </a:ext>
            </a:extLst>
          </p:cNvPr>
          <p:cNvSpPr txBox="1"/>
          <p:nvPr/>
        </p:nvSpPr>
        <p:spPr>
          <a:xfrm>
            <a:off x="3505598" y="311478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BBE18-0214-F740-9FE6-887431724010}"/>
              </a:ext>
            </a:extLst>
          </p:cNvPr>
          <p:cNvSpPr txBox="1"/>
          <p:nvPr/>
        </p:nvSpPr>
        <p:spPr>
          <a:xfrm>
            <a:off x="3007149" y="516487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endParaRPr lang="en-US" sz="1400" dirty="0">
              <a:latin typeface="Courier" pitchFamily="2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698FF-AAE4-7E4F-A13A-87302FC82976}"/>
              </a:ext>
            </a:extLst>
          </p:cNvPr>
          <p:cNvSpPr txBox="1"/>
          <p:nvPr/>
        </p:nvSpPr>
        <p:spPr>
          <a:xfrm>
            <a:off x="6400727" y="517775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236788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5A262-0136-464E-B5A7-9F7F9EE7E44A}"/>
              </a:ext>
            </a:extLst>
          </p:cNvPr>
          <p:cNvSpPr txBox="1"/>
          <p:nvPr/>
        </p:nvSpPr>
        <p:spPr>
          <a:xfrm>
            <a:off x="1535708" y="346053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763267"/>
              </p:ext>
            </p:extLst>
          </p:nvPr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16B05E96-4008-AB48-9C94-A68403EB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3416121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557D5C-8C39-F44E-ADCF-2B81967D8C6B}"/>
              </a:ext>
            </a:extLst>
          </p:cNvPr>
          <p:cNvSpPr txBox="1"/>
          <p:nvPr/>
        </p:nvSpPr>
        <p:spPr>
          <a:xfrm>
            <a:off x="1316765" y="48255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aux[]</a:t>
            </a:r>
          </a:p>
        </p:txBody>
      </p:sp>
      <p:graphicFrame>
        <p:nvGraphicFramePr>
          <p:cNvPr id="25" name="Table 24" descr="Example array being sorted via mergesort">
            <a:extLst>
              <a:ext uri="{FF2B5EF4-FFF2-40B4-BE49-F238E27FC236}">
                <a16:creationId xmlns:a16="http://schemas.microsoft.com/office/drawing/2014/main" id="{C6AA8EC2-3D71-9C46-A61C-ED920B4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448740"/>
              </p:ext>
            </p:extLst>
          </p:nvPr>
        </p:nvGraphicFramePr>
        <p:xfrm>
          <a:off x="2040132" y="4794033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26" name="Straight Connector 25" hidden="1">
            <a:extLst>
              <a:ext uri="{FF2B5EF4-FFF2-40B4-BE49-F238E27FC236}">
                <a16:creationId xmlns:a16="http://schemas.microsoft.com/office/drawing/2014/main" id="{EA95FDA5-7001-D54F-9D06-D5E5E1701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4781154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40BB2E-6C61-794C-B23E-424332179B83}"/>
              </a:ext>
            </a:extLst>
          </p:cNvPr>
          <p:cNvSpPr txBox="1"/>
          <p:nvPr/>
        </p:nvSpPr>
        <p:spPr>
          <a:xfrm>
            <a:off x="4020753" y="3108344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BBE18-0214-F740-9FE6-887431724010}"/>
              </a:ext>
            </a:extLst>
          </p:cNvPr>
          <p:cNvSpPr txBox="1"/>
          <p:nvPr/>
        </p:nvSpPr>
        <p:spPr>
          <a:xfrm>
            <a:off x="3007149" y="516487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endParaRPr lang="en-US" sz="1400" dirty="0">
              <a:latin typeface="Courier" pitchFamily="2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698FF-AAE4-7E4F-A13A-87302FC82976}"/>
              </a:ext>
            </a:extLst>
          </p:cNvPr>
          <p:cNvSpPr txBox="1"/>
          <p:nvPr/>
        </p:nvSpPr>
        <p:spPr>
          <a:xfrm>
            <a:off x="6864366" y="516487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47060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5A262-0136-464E-B5A7-9F7F9EE7E44A}"/>
              </a:ext>
            </a:extLst>
          </p:cNvPr>
          <p:cNvSpPr txBox="1"/>
          <p:nvPr/>
        </p:nvSpPr>
        <p:spPr>
          <a:xfrm>
            <a:off x="1535708" y="346053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323572"/>
              </p:ext>
            </p:extLst>
          </p:nvPr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16B05E96-4008-AB48-9C94-A68403EB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3416121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557D5C-8C39-F44E-ADCF-2B81967D8C6B}"/>
              </a:ext>
            </a:extLst>
          </p:cNvPr>
          <p:cNvSpPr txBox="1"/>
          <p:nvPr/>
        </p:nvSpPr>
        <p:spPr>
          <a:xfrm>
            <a:off x="1316765" y="48255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aux[]</a:t>
            </a:r>
          </a:p>
        </p:txBody>
      </p:sp>
      <p:graphicFrame>
        <p:nvGraphicFramePr>
          <p:cNvPr id="25" name="Table 24" descr="Example array being sorted via mergesort">
            <a:extLst>
              <a:ext uri="{FF2B5EF4-FFF2-40B4-BE49-F238E27FC236}">
                <a16:creationId xmlns:a16="http://schemas.microsoft.com/office/drawing/2014/main" id="{C6AA8EC2-3D71-9C46-A61C-ED920B4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522412"/>
              </p:ext>
            </p:extLst>
          </p:nvPr>
        </p:nvGraphicFramePr>
        <p:xfrm>
          <a:off x="2040132" y="4794033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26" name="Straight Connector 25" hidden="1">
            <a:extLst>
              <a:ext uri="{FF2B5EF4-FFF2-40B4-BE49-F238E27FC236}">
                <a16:creationId xmlns:a16="http://schemas.microsoft.com/office/drawing/2014/main" id="{EA95FDA5-7001-D54F-9D06-D5E5E1701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4781154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40BB2E-6C61-794C-B23E-424332179B83}"/>
              </a:ext>
            </a:extLst>
          </p:cNvPr>
          <p:cNvSpPr txBox="1"/>
          <p:nvPr/>
        </p:nvSpPr>
        <p:spPr>
          <a:xfrm>
            <a:off x="4484392" y="308969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BBE18-0214-F740-9FE6-887431724010}"/>
              </a:ext>
            </a:extLst>
          </p:cNvPr>
          <p:cNvSpPr txBox="1"/>
          <p:nvPr/>
        </p:nvSpPr>
        <p:spPr>
          <a:xfrm>
            <a:off x="3007149" y="516487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endParaRPr lang="en-US" sz="1400" dirty="0">
              <a:latin typeface="Courier" pitchFamily="2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698FF-AAE4-7E4F-A13A-87302FC82976}"/>
              </a:ext>
            </a:extLst>
          </p:cNvPr>
          <p:cNvSpPr txBox="1"/>
          <p:nvPr/>
        </p:nvSpPr>
        <p:spPr>
          <a:xfrm>
            <a:off x="7312734" y="5151994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97578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5A262-0136-464E-B5A7-9F7F9EE7E44A}"/>
              </a:ext>
            </a:extLst>
          </p:cNvPr>
          <p:cNvSpPr txBox="1"/>
          <p:nvPr/>
        </p:nvSpPr>
        <p:spPr>
          <a:xfrm>
            <a:off x="1535708" y="346053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499392"/>
              </p:ext>
            </p:extLst>
          </p:nvPr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16B05E96-4008-AB48-9C94-A68403EB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3416121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557D5C-8C39-F44E-ADCF-2B81967D8C6B}"/>
              </a:ext>
            </a:extLst>
          </p:cNvPr>
          <p:cNvSpPr txBox="1"/>
          <p:nvPr/>
        </p:nvSpPr>
        <p:spPr>
          <a:xfrm>
            <a:off x="1316765" y="48255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aux[]</a:t>
            </a:r>
          </a:p>
        </p:txBody>
      </p:sp>
      <p:graphicFrame>
        <p:nvGraphicFramePr>
          <p:cNvPr id="25" name="Table 24" descr="Example array being sorted via mergesort">
            <a:extLst>
              <a:ext uri="{FF2B5EF4-FFF2-40B4-BE49-F238E27FC236}">
                <a16:creationId xmlns:a16="http://schemas.microsoft.com/office/drawing/2014/main" id="{C6AA8EC2-3D71-9C46-A61C-ED920B4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206774"/>
              </p:ext>
            </p:extLst>
          </p:nvPr>
        </p:nvGraphicFramePr>
        <p:xfrm>
          <a:off x="2040132" y="4794033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26" name="Straight Connector 25" hidden="1">
            <a:extLst>
              <a:ext uri="{FF2B5EF4-FFF2-40B4-BE49-F238E27FC236}">
                <a16:creationId xmlns:a16="http://schemas.microsoft.com/office/drawing/2014/main" id="{EA95FDA5-7001-D54F-9D06-D5E5E1701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4781154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40BB2E-6C61-794C-B23E-424332179B83}"/>
              </a:ext>
            </a:extLst>
          </p:cNvPr>
          <p:cNvSpPr txBox="1"/>
          <p:nvPr/>
        </p:nvSpPr>
        <p:spPr>
          <a:xfrm>
            <a:off x="4960911" y="3108344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BBE18-0214-F740-9FE6-887431724010}"/>
              </a:ext>
            </a:extLst>
          </p:cNvPr>
          <p:cNvSpPr txBox="1"/>
          <p:nvPr/>
        </p:nvSpPr>
        <p:spPr>
          <a:xfrm>
            <a:off x="3532470" y="5151994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endParaRPr lang="en-US" sz="1400" dirty="0">
              <a:latin typeface="Courier" pitchFamily="2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698FF-AAE4-7E4F-A13A-87302FC82976}"/>
              </a:ext>
            </a:extLst>
          </p:cNvPr>
          <p:cNvSpPr txBox="1"/>
          <p:nvPr/>
        </p:nvSpPr>
        <p:spPr>
          <a:xfrm>
            <a:off x="7312734" y="5151994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474277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5A262-0136-464E-B5A7-9F7F9EE7E44A}"/>
              </a:ext>
            </a:extLst>
          </p:cNvPr>
          <p:cNvSpPr txBox="1"/>
          <p:nvPr/>
        </p:nvSpPr>
        <p:spPr>
          <a:xfrm>
            <a:off x="1535708" y="346053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403727"/>
              </p:ext>
            </p:extLst>
          </p:nvPr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16B05E96-4008-AB48-9C94-A68403EB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3416121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557D5C-8C39-F44E-ADCF-2B81967D8C6B}"/>
              </a:ext>
            </a:extLst>
          </p:cNvPr>
          <p:cNvSpPr txBox="1"/>
          <p:nvPr/>
        </p:nvSpPr>
        <p:spPr>
          <a:xfrm>
            <a:off x="1316765" y="48255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aux[]</a:t>
            </a:r>
          </a:p>
        </p:txBody>
      </p:sp>
      <p:graphicFrame>
        <p:nvGraphicFramePr>
          <p:cNvPr id="25" name="Table 24" descr="Example array being sorted via mergesort">
            <a:extLst>
              <a:ext uri="{FF2B5EF4-FFF2-40B4-BE49-F238E27FC236}">
                <a16:creationId xmlns:a16="http://schemas.microsoft.com/office/drawing/2014/main" id="{C6AA8EC2-3D71-9C46-A61C-ED920B4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812352"/>
              </p:ext>
            </p:extLst>
          </p:nvPr>
        </p:nvGraphicFramePr>
        <p:xfrm>
          <a:off x="2040132" y="4794033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26" name="Straight Connector 25" hidden="1">
            <a:extLst>
              <a:ext uri="{FF2B5EF4-FFF2-40B4-BE49-F238E27FC236}">
                <a16:creationId xmlns:a16="http://schemas.microsoft.com/office/drawing/2014/main" id="{EA95FDA5-7001-D54F-9D06-D5E5E1701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4781154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40BB2E-6C61-794C-B23E-424332179B83}"/>
              </a:ext>
            </a:extLst>
          </p:cNvPr>
          <p:cNvSpPr txBox="1"/>
          <p:nvPr/>
        </p:nvSpPr>
        <p:spPr>
          <a:xfrm>
            <a:off x="5449022" y="312122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BBE18-0214-F740-9FE6-887431724010}"/>
              </a:ext>
            </a:extLst>
          </p:cNvPr>
          <p:cNvSpPr txBox="1"/>
          <p:nvPr/>
        </p:nvSpPr>
        <p:spPr>
          <a:xfrm>
            <a:off x="3532470" y="5151994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endParaRPr lang="en-US" sz="1400" dirty="0">
              <a:latin typeface="Courier" pitchFamily="2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698FF-AAE4-7E4F-A13A-87302FC82976}"/>
              </a:ext>
            </a:extLst>
          </p:cNvPr>
          <p:cNvSpPr txBox="1"/>
          <p:nvPr/>
        </p:nvSpPr>
        <p:spPr>
          <a:xfrm>
            <a:off x="7789253" y="517775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060144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5A262-0136-464E-B5A7-9F7F9EE7E44A}"/>
              </a:ext>
            </a:extLst>
          </p:cNvPr>
          <p:cNvSpPr txBox="1"/>
          <p:nvPr/>
        </p:nvSpPr>
        <p:spPr>
          <a:xfrm>
            <a:off x="1535708" y="346053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699436"/>
              </p:ext>
            </p:extLst>
          </p:nvPr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16B05E96-4008-AB48-9C94-A68403EB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3416121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557D5C-8C39-F44E-ADCF-2B81967D8C6B}"/>
              </a:ext>
            </a:extLst>
          </p:cNvPr>
          <p:cNvSpPr txBox="1"/>
          <p:nvPr/>
        </p:nvSpPr>
        <p:spPr>
          <a:xfrm>
            <a:off x="1316765" y="48255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aux[]</a:t>
            </a:r>
          </a:p>
        </p:txBody>
      </p:sp>
      <p:graphicFrame>
        <p:nvGraphicFramePr>
          <p:cNvPr id="25" name="Table 24" descr="Example array being sorted via mergesort">
            <a:extLst>
              <a:ext uri="{FF2B5EF4-FFF2-40B4-BE49-F238E27FC236}">
                <a16:creationId xmlns:a16="http://schemas.microsoft.com/office/drawing/2014/main" id="{C6AA8EC2-3D71-9C46-A61C-ED920B4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594438"/>
              </p:ext>
            </p:extLst>
          </p:nvPr>
        </p:nvGraphicFramePr>
        <p:xfrm>
          <a:off x="2040132" y="4794033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26" name="Straight Connector 25" hidden="1">
            <a:extLst>
              <a:ext uri="{FF2B5EF4-FFF2-40B4-BE49-F238E27FC236}">
                <a16:creationId xmlns:a16="http://schemas.microsoft.com/office/drawing/2014/main" id="{EA95FDA5-7001-D54F-9D06-D5E5E1701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4781154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40BB2E-6C61-794C-B23E-424332179B83}"/>
              </a:ext>
            </a:extLst>
          </p:cNvPr>
          <p:cNvSpPr txBox="1"/>
          <p:nvPr/>
        </p:nvSpPr>
        <p:spPr>
          <a:xfrm>
            <a:off x="5937420" y="3108344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BBE18-0214-F740-9FE6-887431724010}"/>
              </a:ext>
            </a:extLst>
          </p:cNvPr>
          <p:cNvSpPr txBox="1"/>
          <p:nvPr/>
        </p:nvSpPr>
        <p:spPr>
          <a:xfrm>
            <a:off x="3965767" y="517775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endParaRPr lang="en-US" sz="1400" dirty="0">
              <a:latin typeface="Courier" pitchFamily="2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698FF-AAE4-7E4F-A13A-87302FC82976}"/>
              </a:ext>
            </a:extLst>
          </p:cNvPr>
          <p:cNvSpPr txBox="1"/>
          <p:nvPr/>
        </p:nvSpPr>
        <p:spPr>
          <a:xfrm>
            <a:off x="7789253" y="517775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833691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5A262-0136-464E-B5A7-9F7F9EE7E44A}"/>
              </a:ext>
            </a:extLst>
          </p:cNvPr>
          <p:cNvSpPr txBox="1"/>
          <p:nvPr/>
        </p:nvSpPr>
        <p:spPr>
          <a:xfrm>
            <a:off x="1535708" y="346053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711876"/>
              </p:ext>
            </p:extLst>
          </p:nvPr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16B05E96-4008-AB48-9C94-A68403EB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3416121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557D5C-8C39-F44E-ADCF-2B81967D8C6B}"/>
              </a:ext>
            </a:extLst>
          </p:cNvPr>
          <p:cNvSpPr txBox="1"/>
          <p:nvPr/>
        </p:nvSpPr>
        <p:spPr>
          <a:xfrm>
            <a:off x="1316765" y="48255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aux[]</a:t>
            </a:r>
          </a:p>
        </p:txBody>
      </p:sp>
      <p:graphicFrame>
        <p:nvGraphicFramePr>
          <p:cNvPr id="25" name="Table 24" descr="Example array being sorted via mergesort">
            <a:extLst>
              <a:ext uri="{FF2B5EF4-FFF2-40B4-BE49-F238E27FC236}">
                <a16:creationId xmlns:a16="http://schemas.microsoft.com/office/drawing/2014/main" id="{C6AA8EC2-3D71-9C46-A61C-ED920B4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324005"/>
              </p:ext>
            </p:extLst>
          </p:nvPr>
        </p:nvGraphicFramePr>
        <p:xfrm>
          <a:off x="2040132" y="4794033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26" name="Straight Connector 25" hidden="1">
            <a:extLst>
              <a:ext uri="{FF2B5EF4-FFF2-40B4-BE49-F238E27FC236}">
                <a16:creationId xmlns:a16="http://schemas.microsoft.com/office/drawing/2014/main" id="{EA95FDA5-7001-D54F-9D06-D5E5E1701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4781154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40BB2E-6C61-794C-B23E-424332179B83}"/>
              </a:ext>
            </a:extLst>
          </p:cNvPr>
          <p:cNvSpPr txBox="1"/>
          <p:nvPr/>
        </p:nvSpPr>
        <p:spPr>
          <a:xfrm>
            <a:off x="6413938" y="308969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BBE18-0214-F740-9FE6-887431724010}"/>
              </a:ext>
            </a:extLst>
          </p:cNvPr>
          <p:cNvSpPr txBox="1"/>
          <p:nvPr/>
        </p:nvSpPr>
        <p:spPr>
          <a:xfrm>
            <a:off x="3965767" y="517775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endParaRPr lang="en-US" sz="1400" dirty="0">
              <a:latin typeface="Courier" pitchFamily="2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698FF-AAE4-7E4F-A13A-87302FC82976}"/>
              </a:ext>
            </a:extLst>
          </p:cNvPr>
          <p:cNvSpPr txBox="1"/>
          <p:nvPr/>
        </p:nvSpPr>
        <p:spPr>
          <a:xfrm>
            <a:off x="8240014" y="517775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230281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5A262-0136-464E-B5A7-9F7F9EE7E44A}"/>
              </a:ext>
            </a:extLst>
          </p:cNvPr>
          <p:cNvSpPr txBox="1"/>
          <p:nvPr/>
        </p:nvSpPr>
        <p:spPr>
          <a:xfrm>
            <a:off x="1535708" y="346053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786135"/>
              </p:ext>
            </p:extLst>
          </p:nvPr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16B05E96-4008-AB48-9C94-A68403EB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3416121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557D5C-8C39-F44E-ADCF-2B81967D8C6B}"/>
              </a:ext>
            </a:extLst>
          </p:cNvPr>
          <p:cNvSpPr txBox="1"/>
          <p:nvPr/>
        </p:nvSpPr>
        <p:spPr>
          <a:xfrm>
            <a:off x="1316765" y="48255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aux[]</a:t>
            </a:r>
          </a:p>
        </p:txBody>
      </p:sp>
      <p:graphicFrame>
        <p:nvGraphicFramePr>
          <p:cNvPr id="25" name="Table 24" descr="Example array being sorted via mergesort">
            <a:extLst>
              <a:ext uri="{FF2B5EF4-FFF2-40B4-BE49-F238E27FC236}">
                <a16:creationId xmlns:a16="http://schemas.microsoft.com/office/drawing/2014/main" id="{C6AA8EC2-3D71-9C46-A61C-ED920B4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93553"/>
              </p:ext>
            </p:extLst>
          </p:nvPr>
        </p:nvGraphicFramePr>
        <p:xfrm>
          <a:off x="2040132" y="4794033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26" name="Straight Connector 25" hidden="1">
            <a:extLst>
              <a:ext uri="{FF2B5EF4-FFF2-40B4-BE49-F238E27FC236}">
                <a16:creationId xmlns:a16="http://schemas.microsoft.com/office/drawing/2014/main" id="{EA95FDA5-7001-D54F-9D06-D5E5E1701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4781154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40BB2E-6C61-794C-B23E-424332179B83}"/>
              </a:ext>
            </a:extLst>
          </p:cNvPr>
          <p:cNvSpPr txBox="1"/>
          <p:nvPr/>
        </p:nvSpPr>
        <p:spPr>
          <a:xfrm>
            <a:off x="6864699" y="308969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BBE18-0214-F740-9FE6-887431724010}"/>
              </a:ext>
            </a:extLst>
          </p:cNvPr>
          <p:cNvSpPr txBox="1"/>
          <p:nvPr/>
        </p:nvSpPr>
        <p:spPr>
          <a:xfrm>
            <a:off x="4416528" y="517775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endParaRPr lang="en-US" sz="1400" dirty="0">
              <a:latin typeface="Courier" pitchFamily="2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698FF-AAE4-7E4F-A13A-87302FC82976}"/>
              </a:ext>
            </a:extLst>
          </p:cNvPr>
          <p:cNvSpPr txBox="1"/>
          <p:nvPr/>
        </p:nvSpPr>
        <p:spPr>
          <a:xfrm>
            <a:off x="8240014" y="517775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77888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5A262-0136-464E-B5A7-9F7F9EE7E44A}"/>
              </a:ext>
            </a:extLst>
          </p:cNvPr>
          <p:cNvSpPr txBox="1"/>
          <p:nvPr/>
        </p:nvSpPr>
        <p:spPr>
          <a:xfrm>
            <a:off x="1535708" y="346053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180526"/>
              </p:ext>
            </p:extLst>
          </p:nvPr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16B05E96-4008-AB48-9C94-A68403EB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3416121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557D5C-8C39-F44E-ADCF-2B81967D8C6B}"/>
              </a:ext>
            </a:extLst>
          </p:cNvPr>
          <p:cNvSpPr txBox="1"/>
          <p:nvPr/>
        </p:nvSpPr>
        <p:spPr>
          <a:xfrm>
            <a:off x="1316765" y="48255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aux[]</a:t>
            </a:r>
          </a:p>
        </p:txBody>
      </p:sp>
      <p:graphicFrame>
        <p:nvGraphicFramePr>
          <p:cNvPr id="25" name="Table 24" descr="Example array being sorted via mergesort">
            <a:extLst>
              <a:ext uri="{FF2B5EF4-FFF2-40B4-BE49-F238E27FC236}">
                <a16:creationId xmlns:a16="http://schemas.microsoft.com/office/drawing/2014/main" id="{C6AA8EC2-3D71-9C46-A61C-ED920B4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56495"/>
              </p:ext>
            </p:extLst>
          </p:nvPr>
        </p:nvGraphicFramePr>
        <p:xfrm>
          <a:off x="2040132" y="4794033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26" name="Straight Connector 25" hidden="1">
            <a:extLst>
              <a:ext uri="{FF2B5EF4-FFF2-40B4-BE49-F238E27FC236}">
                <a16:creationId xmlns:a16="http://schemas.microsoft.com/office/drawing/2014/main" id="{EA95FDA5-7001-D54F-9D06-D5E5E1701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4781154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40BB2E-6C61-794C-B23E-424332179B83}"/>
              </a:ext>
            </a:extLst>
          </p:cNvPr>
          <p:cNvSpPr txBox="1"/>
          <p:nvPr/>
        </p:nvSpPr>
        <p:spPr>
          <a:xfrm>
            <a:off x="7315459" y="308969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BBE18-0214-F740-9FE6-887431724010}"/>
              </a:ext>
            </a:extLst>
          </p:cNvPr>
          <p:cNvSpPr txBox="1"/>
          <p:nvPr/>
        </p:nvSpPr>
        <p:spPr>
          <a:xfrm>
            <a:off x="4416528" y="517775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endParaRPr lang="en-US" sz="1400" dirty="0">
              <a:latin typeface="Courier" pitchFamily="2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698FF-AAE4-7E4F-A13A-87302FC82976}"/>
              </a:ext>
            </a:extLst>
          </p:cNvPr>
          <p:cNvSpPr txBox="1"/>
          <p:nvPr/>
        </p:nvSpPr>
        <p:spPr>
          <a:xfrm>
            <a:off x="8781383" y="516487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844556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5A262-0136-464E-B5A7-9F7F9EE7E44A}"/>
              </a:ext>
            </a:extLst>
          </p:cNvPr>
          <p:cNvSpPr txBox="1"/>
          <p:nvPr/>
        </p:nvSpPr>
        <p:spPr>
          <a:xfrm>
            <a:off x="1535708" y="346053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66466"/>
              </p:ext>
            </p:extLst>
          </p:nvPr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16B05E96-4008-AB48-9C94-A68403EB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3416121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557D5C-8C39-F44E-ADCF-2B81967D8C6B}"/>
              </a:ext>
            </a:extLst>
          </p:cNvPr>
          <p:cNvSpPr txBox="1"/>
          <p:nvPr/>
        </p:nvSpPr>
        <p:spPr>
          <a:xfrm>
            <a:off x="1316765" y="48255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aux[]</a:t>
            </a:r>
          </a:p>
        </p:txBody>
      </p:sp>
      <p:graphicFrame>
        <p:nvGraphicFramePr>
          <p:cNvPr id="25" name="Table 24" descr="Example array being sorted via mergesort">
            <a:extLst>
              <a:ext uri="{FF2B5EF4-FFF2-40B4-BE49-F238E27FC236}">
                <a16:creationId xmlns:a16="http://schemas.microsoft.com/office/drawing/2014/main" id="{C6AA8EC2-3D71-9C46-A61C-ED920B4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280935"/>
              </p:ext>
            </p:extLst>
          </p:nvPr>
        </p:nvGraphicFramePr>
        <p:xfrm>
          <a:off x="2040132" y="4794033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26" name="Straight Connector 25" hidden="1">
            <a:extLst>
              <a:ext uri="{FF2B5EF4-FFF2-40B4-BE49-F238E27FC236}">
                <a16:creationId xmlns:a16="http://schemas.microsoft.com/office/drawing/2014/main" id="{EA95FDA5-7001-D54F-9D06-D5E5E1701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4781154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40BB2E-6C61-794C-B23E-424332179B83}"/>
              </a:ext>
            </a:extLst>
          </p:cNvPr>
          <p:cNvSpPr txBox="1"/>
          <p:nvPr/>
        </p:nvSpPr>
        <p:spPr>
          <a:xfrm>
            <a:off x="7779098" y="311478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BBE18-0214-F740-9FE6-887431724010}"/>
              </a:ext>
            </a:extLst>
          </p:cNvPr>
          <p:cNvSpPr txBox="1"/>
          <p:nvPr/>
        </p:nvSpPr>
        <p:spPr>
          <a:xfrm>
            <a:off x="4972656" y="517775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endParaRPr lang="en-US" sz="1400" dirty="0">
              <a:latin typeface="Courier" pitchFamily="2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698FF-AAE4-7E4F-A13A-87302FC82976}"/>
              </a:ext>
            </a:extLst>
          </p:cNvPr>
          <p:cNvSpPr txBox="1"/>
          <p:nvPr/>
        </p:nvSpPr>
        <p:spPr>
          <a:xfrm>
            <a:off x="8781383" y="516487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718568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5A262-0136-464E-B5A7-9F7F9EE7E44A}"/>
              </a:ext>
            </a:extLst>
          </p:cNvPr>
          <p:cNvSpPr txBox="1"/>
          <p:nvPr/>
        </p:nvSpPr>
        <p:spPr>
          <a:xfrm>
            <a:off x="1535708" y="346053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628891"/>
              </p:ext>
            </p:extLst>
          </p:nvPr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16B05E96-4008-AB48-9C94-A68403EB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3416121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557D5C-8C39-F44E-ADCF-2B81967D8C6B}"/>
              </a:ext>
            </a:extLst>
          </p:cNvPr>
          <p:cNvSpPr txBox="1"/>
          <p:nvPr/>
        </p:nvSpPr>
        <p:spPr>
          <a:xfrm>
            <a:off x="1316765" y="48255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aux[]</a:t>
            </a:r>
          </a:p>
        </p:txBody>
      </p:sp>
      <p:graphicFrame>
        <p:nvGraphicFramePr>
          <p:cNvPr id="25" name="Table 24" descr="Example array being sorted via mergesort">
            <a:extLst>
              <a:ext uri="{FF2B5EF4-FFF2-40B4-BE49-F238E27FC236}">
                <a16:creationId xmlns:a16="http://schemas.microsoft.com/office/drawing/2014/main" id="{C6AA8EC2-3D71-9C46-A61C-ED920B4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106609"/>
              </p:ext>
            </p:extLst>
          </p:nvPr>
        </p:nvGraphicFramePr>
        <p:xfrm>
          <a:off x="2040132" y="4794033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26" name="Straight Connector 25" hidden="1">
            <a:extLst>
              <a:ext uri="{FF2B5EF4-FFF2-40B4-BE49-F238E27FC236}">
                <a16:creationId xmlns:a16="http://schemas.microsoft.com/office/drawing/2014/main" id="{EA95FDA5-7001-D54F-9D06-D5E5E1701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4781154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40BB2E-6C61-794C-B23E-424332179B83}"/>
              </a:ext>
            </a:extLst>
          </p:cNvPr>
          <p:cNvSpPr txBox="1"/>
          <p:nvPr/>
        </p:nvSpPr>
        <p:spPr>
          <a:xfrm>
            <a:off x="8324099" y="3107106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BBE18-0214-F740-9FE6-887431724010}"/>
              </a:ext>
            </a:extLst>
          </p:cNvPr>
          <p:cNvSpPr txBox="1"/>
          <p:nvPr/>
        </p:nvSpPr>
        <p:spPr>
          <a:xfrm>
            <a:off x="5408319" y="516487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endParaRPr lang="en-US" sz="1400" dirty="0">
              <a:latin typeface="Courier" pitchFamily="2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698FF-AAE4-7E4F-A13A-87302FC82976}"/>
              </a:ext>
            </a:extLst>
          </p:cNvPr>
          <p:cNvSpPr txBox="1"/>
          <p:nvPr/>
        </p:nvSpPr>
        <p:spPr>
          <a:xfrm>
            <a:off x="8781383" y="516487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411719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5A262-0136-464E-B5A7-9F7F9EE7E44A}"/>
              </a:ext>
            </a:extLst>
          </p:cNvPr>
          <p:cNvSpPr txBox="1"/>
          <p:nvPr/>
        </p:nvSpPr>
        <p:spPr>
          <a:xfrm>
            <a:off x="1535708" y="346053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195662"/>
              </p:ext>
            </p:extLst>
          </p:nvPr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16B05E96-4008-AB48-9C94-A68403EB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3416121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557D5C-8C39-F44E-ADCF-2B81967D8C6B}"/>
              </a:ext>
            </a:extLst>
          </p:cNvPr>
          <p:cNvSpPr txBox="1"/>
          <p:nvPr/>
        </p:nvSpPr>
        <p:spPr>
          <a:xfrm>
            <a:off x="1316765" y="48255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aux[]</a:t>
            </a:r>
          </a:p>
        </p:txBody>
      </p:sp>
      <p:graphicFrame>
        <p:nvGraphicFramePr>
          <p:cNvPr id="25" name="Table 24" descr="Example array being sorted via mergesort">
            <a:extLst>
              <a:ext uri="{FF2B5EF4-FFF2-40B4-BE49-F238E27FC236}">
                <a16:creationId xmlns:a16="http://schemas.microsoft.com/office/drawing/2014/main" id="{C6AA8EC2-3D71-9C46-A61C-ED920B4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571336"/>
              </p:ext>
            </p:extLst>
          </p:nvPr>
        </p:nvGraphicFramePr>
        <p:xfrm>
          <a:off x="2040132" y="4794033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26" name="Straight Connector 25" hidden="1">
            <a:extLst>
              <a:ext uri="{FF2B5EF4-FFF2-40B4-BE49-F238E27FC236}">
                <a16:creationId xmlns:a16="http://schemas.microsoft.com/office/drawing/2014/main" id="{EA95FDA5-7001-D54F-9D06-D5E5E1701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4781154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40BB2E-6C61-794C-B23E-424332179B83}"/>
              </a:ext>
            </a:extLst>
          </p:cNvPr>
          <p:cNvSpPr txBox="1"/>
          <p:nvPr/>
        </p:nvSpPr>
        <p:spPr>
          <a:xfrm>
            <a:off x="8781383" y="312122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BBE18-0214-F740-9FE6-887431724010}"/>
              </a:ext>
            </a:extLst>
          </p:cNvPr>
          <p:cNvSpPr txBox="1"/>
          <p:nvPr/>
        </p:nvSpPr>
        <p:spPr>
          <a:xfrm>
            <a:off x="5885632" y="516487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endParaRPr lang="en-US" sz="1400" dirty="0">
              <a:latin typeface="Courier" pitchFamily="2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698FF-AAE4-7E4F-A13A-87302FC82976}"/>
              </a:ext>
            </a:extLst>
          </p:cNvPr>
          <p:cNvSpPr txBox="1"/>
          <p:nvPr/>
        </p:nvSpPr>
        <p:spPr>
          <a:xfrm>
            <a:off x="8781383" y="516487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659834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5A262-0136-464E-B5A7-9F7F9EE7E44A}"/>
              </a:ext>
            </a:extLst>
          </p:cNvPr>
          <p:cNvSpPr txBox="1"/>
          <p:nvPr/>
        </p:nvSpPr>
        <p:spPr>
          <a:xfrm>
            <a:off x="1535708" y="346053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1467"/>
              </p:ext>
            </p:extLst>
          </p:nvPr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16B05E96-4008-AB48-9C94-A68403EB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3416121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557D5C-8C39-F44E-ADCF-2B81967D8C6B}"/>
              </a:ext>
            </a:extLst>
          </p:cNvPr>
          <p:cNvSpPr txBox="1"/>
          <p:nvPr/>
        </p:nvSpPr>
        <p:spPr>
          <a:xfrm>
            <a:off x="1316765" y="48255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aux[]</a:t>
            </a:r>
          </a:p>
        </p:txBody>
      </p:sp>
      <p:graphicFrame>
        <p:nvGraphicFramePr>
          <p:cNvPr id="25" name="Table 24" descr="Example array being sorted via mergesort">
            <a:extLst>
              <a:ext uri="{FF2B5EF4-FFF2-40B4-BE49-F238E27FC236}">
                <a16:creationId xmlns:a16="http://schemas.microsoft.com/office/drawing/2014/main" id="{C6AA8EC2-3D71-9C46-A61C-ED920B4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306643"/>
              </p:ext>
            </p:extLst>
          </p:nvPr>
        </p:nvGraphicFramePr>
        <p:xfrm>
          <a:off x="2040132" y="4794033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26" name="Straight Connector 25" hidden="1">
            <a:extLst>
              <a:ext uri="{FF2B5EF4-FFF2-40B4-BE49-F238E27FC236}">
                <a16:creationId xmlns:a16="http://schemas.microsoft.com/office/drawing/2014/main" id="{EA95FDA5-7001-D54F-9D06-D5E5E1701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4781154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40BB2E-6C61-794C-B23E-424332179B83}"/>
              </a:ext>
            </a:extLst>
          </p:cNvPr>
          <p:cNvSpPr txBox="1"/>
          <p:nvPr/>
        </p:nvSpPr>
        <p:spPr>
          <a:xfrm>
            <a:off x="9651959" y="3108344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BBE18-0214-F740-9FE6-887431724010}"/>
              </a:ext>
            </a:extLst>
          </p:cNvPr>
          <p:cNvSpPr txBox="1"/>
          <p:nvPr/>
        </p:nvSpPr>
        <p:spPr>
          <a:xfrm>
            <a:off x="5885632" y="516487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" pitchFamily="2" charset="0"/>
                <a:cs typeface="Arial" panose="020B0604020202020204" pitchFamily="34" charset="0"/>
              </a:rPr>
              <a:t>i</a:t>
            </a:r>
            <a:endParaRPr lang="en-US" sz="1400" dirty="0">
              <a:latin typeface="Courier" pitchFamily="2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698FF-AAE4-7E4F-A13A-87302FC82976}"/>
              </a:ext>
            </a:extLst>
          </p:cNvPr>
          <p:cNvSpPr txBox="1"/>
          <p:nvPr/>
        </p:nvSpPr>
        <p:spPr>
          <a:xfrm>
            <a:off x="9731132" y="516487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563275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merge step</a:t>
            </a:r>
          </a:p>
          <a:p>
            <a:pPr lvl="1"/>
            <a:r>
              <a:rPr lang="en-US" dirty="0"/>
              <a:t>Given two sorted subarrays </a:t>
            </a:r>
            <a:r>
              <a:rPr lang="en-US" dirty="0">
                <a:latin typeface="Courier" pitchFamily="2" charset="0"/>
              </a:rPr>
              <a:t>a[lo]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a[mid] </a:t>
            </a:r>
            <a:r>
              <a:rPr lang="en-US" dirty="0"/>
              <a:t>and </a:t>
            </a:r>
            <a:r>
              <a:rPr lang="en-US" dirty="0">
                <a:latin typeface="Courier" pitchFamily="2" charset="0"/>
              </a:rPr>
              <a:t>a[mid+1] </a:t>
            </a:r>
            <a:r>
              <a:rPr lang="en-US" dirty="0"/>
              <a:t>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, compute sorted subarray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to </a:t>
            </a:r>
            <a:r>
              <a:rPr lang="en-US" dirty="0">
                <a:latin typeface="Courier" pitchFamily="2" charset="0"/>
              </a:rPr>
              <a:t>a[hi]</a:t>
            </a:r>
            <a:r>
              <a:rPr lang="en-US" dirty="0"/>
              <a:t>.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5A262-0136-464E-B5A7-9F7F9EE7E44A}"/>
              </a:ext>
            </a:extLst>
          </p:cNvPr>
          <p:cNvSpPr txBox="1"/>
          <p:nvPr/>
        </p:nvSpPr>
        <p:spPr>
          <a:xfrm>
            <a:off x="1535708" y="346053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8" name="Table 7" descr="Example array being sorted via mergesort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/>
        </p:nvGraphicFramePr>
        <p:xfrm>
          <a:off x="2040132" y="342900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16B05E96-4008-AB48-9C94-A68403EB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47268" y="3416121"/>
            <a:ext cx="0" cy="37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 hidden="1">
            <a:extLst>
              <a:ext uri="{FF2B5EF4-FFF2-40B4-BE49-F238E27FC236}">
                <a16:creationId xmlns:a16="http://schemas.microsoft.com/office/drawing/2014/main" id="{D4262A42-8588-B34F-9F5B-15B1A2374800}"/>
              </a:ext>
            </a:extLst>
          </p:cNvPr>
          <p:cNvSpPr txBox="1"/>
          <p:nvPr/>
        </p:nvSpPr>
        <p:spPr>
          <a:xfrm>
            <a:off x="5449328" y="4173785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sorted</a:t>
            </a:r>
          </a:p>
        </p:txBody>
      </p:sp>
      <p:sp>
        <p:nvSpPr>
          <p:cNvPr id="15" name="Left Brace 14" hidden="1">
            <a:extLst>
              <a:ext uri="{FF2B5EF4-FFF2-40B4-BE49-F238E27FC236}">
                <a16:creationId xmlns:a16="http://schemas.microsoft.com/office/drawing/2014/main" id="{68947AA4-C7F3-E448-9710-F64248ED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5672844" y="264217"/>
            <a:ext cx="369332" cy="7516506"/>
          </a:xfrm>
          <a:prstGeom prst="leftBrac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C6DECC-703E-3048-8206-3BD60FDAFB3E}"/>
              </a:ext>
            </a:extLst>
          </p:cNvPr>
          <p:cNvSpPr txBox="1"/>
          <p:nvPr/>
        </p:nvSpPr>
        <p:spPr>
          <a:xfrm>
            <a:off x="2040131" y="3104745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lo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E34BE-5ADC-BD4E-B7F3-A2A2DABC2B7D}"/>
              </a:ext>
            </a:extLst>
          </p:cNvPr>
          <p:cNvSpPr txBox="1"/>
          <p:nvPr/>
        </p:nvSpPr>
        <p:spPr>
          <a:xfrm>
            <a:off x="9240379" y="3099139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hi</a:t>
            </a:r>
          </a:p>
        </p:txBody>
      </p:sp>
    </p:spTree>
    <p:extLst>
      <p:ext uri="{BB962C8B-B14F-4D97-AF65-F5344CB8AC3E}">
        <p14:creationId xmlns:p14="http://schemas.microsoft.com/office/powerpoint/2010/main" val="1208673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 – merge step</a:t>
            </a:r>
          </a:p>
          <a:p>
            <a:pPr lvl="1"/>
            <a:r>
              <a:rPr lang="en-US" dirty="0"/>
              <a:t>Pre-condition: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lo,mid</a:t>
            </a:r>
            <a:r>
              <a:rPr lang="en-US" dirty="0">
                <a:latin typeface="Courier" pitchFamily="2" charset="0"/>
              </a:rPr>
              <a:t>] </a:t>
            </a:r>
            <a:r>
              <a:rPr lang="en-US" dirty="0"/>
              <a:t>is sorted</a:t>
            </a:r>
          </a:p>
          <a:p>
            <a:pPr lvl="1"/>
            <a:r>
              <a:rPr lang="en-US" dirty="0"/>
              <a:t>Pre-condition: </a:t>
            </a:r>
            <a:r>
              <a:rPr lang="en-US" dirty="0">
                <a:latin typeface="Courier" pitchFamily="2" charset="0"/>
              </a:rPr>
              <a:t>a[mid+1,hi] </a:t>
            </a:r>
            <a:r>
              <a:rPr lang="en-US" dirty="0"/>
              <a:t>is sorted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Postcondition: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lo,hi</a:t>
            </a:r>
            <a:r>
              <a:rPr lang="en-US" dirty="0">
                <a:latin typeface="Courier" pitchFamily="2" charset="0"/>
              </a:rPr>
              <a:t>] </a:t>
            </a:r>
            <a:r>
              <a:rPr lang="en-US" dirty="0"/>
              <a:t>is sorted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 descr="pseudocode implementing merge()">
            <a:extLst>
              <a:ext uri="{FF2B5EF4-FFF2-40B4-BE49-F238E27FC236}">
                <a16:creationId xmlns:a16="http://schemas.microsoft.com/office/drawing/2014/main" id="{A16713FA-4BD1-7548-A05C-ED369315CC02}"/>
              </a:ext>
            </a:extLst>
          </p:cNvPr>
          <p:cNvSpPr txBox="1"/>
          <p:nvPr/>
        </p:nvSpPr>
        <p:spPr>
          <a:xfrm>
            <a:off x="1184857" y="2846231"/>
            <a:ext cx="6785832" cy="3046988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merge(a[], aux[], lo, mid, hi):</a:t>
            </a:r>
          </a:p>
          <a:p>
            <a:pPr lvl="1"/>
            <a:r>
              <a:rPr lang="en-US" sz="1600" dirty="0">
                <a:latin typeface="Courier" pitchFamily="2" charset="0"/>
              </a:rPr>
              <a:t>for (k = lo; k &lt;= hi; k++)</a:t>
            </a:r>
          </a:p>
          <a:p>
            <a:pPr lvl="1"/>
            <a:r>
              <a:rPr lang="en-US" sz="1600" dirty="0">
                <a:latin typeface="Courier" pitchFamily="2" charset="0"/>
              </a:rPr>
              <a:t>    aux[k] = a[k];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 = lo;</a:t>
            </a:r>
          </a:p>
          <a:p>
            <a:pPr lvl="1"/>
            <a:r>
              <a:rPr lang="en-US" sz="1600" dirty="0">
                <a:latin typeface="Courier" pitchFamily="2" charset="0"/>
              </a:rPr>
              <a:t>j = mid+1;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for (k = lo; k &lt;= hi; k++)</a:t>
            </a:r>
          </a:p>
          <a:p>
            <a:pPr lvl="1"/>
            <a:r>
              <a:rPr lang="en-US" sz="1600" dirty="0">
                <a:latin typeface="Courier" pitchFamily="2" charset="0"/>
              </a:rPr>
              <a:t>	if (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 &gt; mid)              a[k] = aux[j]; </a:t>
            </a:r>
            <a:r>
              <a:rPr lang="en-US" sz="1600" dirty="0" err="1">
                <a:latin typeface="Courier" pitchFamily="2" charset="0"/>
              </a:rPr>
              <a:t>j++</a:t>
            </a:r>
            <a:r>
              <a:rPr lang="en-US" sz="1600" dirty="0">
                <a:latin typeface="Courier" pitchFamily="2" charset="0"/>
              </a:rPr>
              <a:t>;</a:t>
            </a:r>
          </a:p>
          <a:p>
            <a:pPr lvl="1"/>
            <a:r>
              <a:rPr lang="en-US" sz="1600" dirty="0">
                <a:latin typeface="Courier" pitchFamily="2" charset="0"/>
              </a:rPr>
              <a:t>	else if (j &gt; hi)          a[k] = aux[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]; 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++;</a:t>
            </a:r>
          </a:p>
          <a:p>
            <a:pPr lvl="1"/>
            <a:r>
              <a:rPr lang="en-US" sz="1600" dirty="0">
                <a:latin typeface="Courier" pitchFamily="2" charset="0"/>
              </a:rPr>
              <a:t>	else if (aux[j] &lt; aux[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]) a[k] = aux[j]; </a:t>
            </a:r>
            <a:r>
              <a:rPr lang="en-US" sz="1600" dirty="0" err="1">
                <a:latin typeface="Courier" pitchFamily="2" charset="0"/>
              </a:rPr>
              <a:t>j++</a:t>
            </a:r>
            <a:r>
              <a:rPr lang="en-US" sz="1600" dirty="0">
                <a:latin typeface="Courier" pitchFamily="2" charset="0"/>
              </a:rPr>
              <a:t>;</a:t>
            </a:r>
          </a:p>
          <a:p>
            <a:pPr lvl="1"/>
            <a:r>
              <a:rPr lang="en-US" sz="1600" dirty="0">
                <a:latin typeface="Courier" pitchFamily="2" charset="0"/>
              </a:rPr>
              <a:t>	else                      a[k] = aux[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]; 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++;</a:t>
            </a:r>
          </a:p>
        </p:txBody>
      </p:sp>
    </p:spTree>
    <p:extLst>
      <p:ext uri="{BB962C8B-B14F-4D97-AF65-F5344CB8AC3E}">
        <p14:creationId xmlns:p14="http://schemas.microsoft.com/office/powerpoint/2010/main" val="3119915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 – divide &amp; sort steps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 descr="pseudocode implementing sort()">
            <a:extLst>
              <a:ext uri="{FF2B5EF4-FFF2-40B4-BE49-F238E27FC236}">
                <a16:creationId xmlns:a16="http://schemas.microsoft.com/office/drawing/2014/main" id="{D9C663BD-A68F-D943-BE9E-6E63371B9125}"/>
              </a:ext>
            </a:extLst>
          </p:cNvPr>
          <p:cNvSpPr txBox="1"/>
          <p:nvPr/>
        </p:nvSpPr>
        <p:spPr>
          <a:xfrm>
            <a:off x="514866" y="2099256"/>
            <a:ext cx="3978974" cy="2062103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sort(a[], aux[], lo, hi):</a:t>
            </a:r>
          </a:p>
          <a:p>
            <a:pPr lvl="1"/>
            <a:r>
              <a:rPr lang="en-US" sz="1600" dirty="0">
                <a:latin typeface="Courier" pitchFamily="2" charset="0"/>
              </a:rPr>
              <a:t>if (hi &lt;= lo) return;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mid = lo + (hi - lo) / 2;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sort(a, aux, 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lo, mid</a:t>
            </a:r>
            <a:r>
              <a:rPr lang="en-US" sz="1600" dirty="0">
                <a:latin typeface="Courier" pitchFamily="2" charset="0"/>
              </a:rPr>
              <a:t>);</a:t>
            </a:r>
          </a:p>
          <a:p>
            <a:pPr lvl="1"/>
            <a:r>
              <a:rPr lang="en-US" sz="1600" dirty="0">
                <a:latin typeface="Courier" pitchFamily="2" charset="0"/>
              </a:rPr>
              <a:t>sort(a, aux, 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mid+1, hi</a:t>
            </a:r>
            <a:r>
              <a:rPr lang="en-US" sz="1600" dirty="0">
                <a:latin typeface="Courier" pitchFamily="2" charset="0"/>
              </a:rPr>
              <a:t>);</a:t>
            </a:r>
          </a:p>
          <a:p>
            <a:pPr lvl="1"/>
            <a:r>
              <a:rPr lang="en-US" sz="1600" dirty="0">
                <a:latin typeface="Courier" pitchFamily="2" charset="0"/>
              </a:rPr>
              <a:t>merge(a, aux, lo, mid, hi);</a:t>
            </a:r>
          </a:p>
        </p:txBody>
      </p:sp>
      <p:sp>
        <p:nvSpPr>
          <p:cNvPr id="6" name="TextBox 5" descr="pseudocode calling sort() for the first time">
            <a:extLst>
              <a:ext uri="{FF2B5EF4-FFF2-40B4-BE49-F238E27FC236}">
                <a16:creationId xmlns:a16="http://schemas.microsoft.com/office/drawing/2014/main" id="{EE16EC58-D168-914D-A142-D7A6C96EC488}"/>
              </a:ext>
            </a:extLst>
          </p:cNvPr>
          <p:cNvSpPr txBox="1"/>
          <p:nvPr/>
        </p:nvSpPr>
        <p:spPr>
          <a:xfrm>
            <a:off x="514866" y="4546742"/>
            <a:ext cx="3978974" cy="338554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sort(a, aux, 0, a.length-1)</a:t>
            </a:r>
          </a:p>
        </p:txBody>
      </p:sp>
    </p:spTree>
    <p:extLst>
      <p:ext uri="{BB962C8B-B14F-4D97-AF65-F5344CB8AC3E}">
        <p14:creationId xmlns:p14="http://schemas.microsoft.com/office/powerpoint/2010/main" val="2193542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 – divide &amp; sort steps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 descr="pseudocode implementing sort()">
            <a:extLst>
              <a:ext uri="{FF2B5EF4-FFF2-40B4-BE49-F238E27FC236}">
                <a16:creationId xmlns:a16="http://schemas.microsoft.com/office/drawing/2014/main" id="{D9C663BD-A68F-D943-BE9E-6E63371B9125}"/>
              </a:ext>
            </a:extLst>
          </p:cNvPr>
          <p:cNvSpPr txBox="1"/>
          <p:nvPr/>
        </p:nvSpPr>
        <p:spPr>
          <a:xfrm>
            <a:off x="514866" y="2099256"/>
            <a:ext cx="3978974" cy="2062103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sort(a[], aux[], lo, hi):</a:t>
            </a:r>
          </a:p>
          <a:p>
            <a:pPr lvl="1"/>
            <a:r>
              <a:rPr lang="en-US" sz="1600" dirty="0">
                <a:latin typeface="Courier" pitchFamily="2" charset="0"/>
              </a:rPr>
              <a:t>if (hi &lt;= lo) return;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mid = lo + (hi - lo) / 2;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sort(a, aux, lo, mid);</a:t>
            </a:r>
          </a:p>
          <a:p>
            <a:pPr lvl="1"/>
            <a:r>
              <a:rPr lang="en-US" sz="1600" dirty="0">
                <a:latin typeface="Courier" pitchFamily="2" charset="0"/>
              </a:rPr>
              <a:t>sort(a, aux, mid+1, hi);</a:t>
            </a:r>
          </a:p>
          <a:p>
            <a:pPr lvl="1"/>
            <a:r>
              <a:rPr lang="en-US" sz="1600" dirty="0">
                <a:latin typeface="Courier" pitchFamily="2" charset="0"/>
              </a:rPr>
              <a:t>merge(a, aux, lo, mid, hi);</a:t>
            </a:r>
          </a:p>
        </p:txBody>
      </p:sp>
      <p:sp>
        <p:nvSpPr>
          <p:cNvPr id="6" name="TextBox 5" descr="pseudocode calling sort() for the first time">
            <a:extLst>
              <a:ext uri="{FF2B5EF4-FFF2-40B4-BE49-F238E27FC236}">
                <a16:creationId xmlns:a16="http://schemas.microsoft.com/office/drawing/2014/main" id="{EE16EC58-D168-914D-A142-D7A6C96EC488}"/>
              </a:ext>
            </a:extLst>
          </p:cNvPr>
          <p:cNvSpPr txBox="1"/>
          <p:nvPr/>
        </p:nvSpPr>
        <p:spPr>
          <a:xfrm>
            <a:off x="514866" y="4546742"/>
            <a:ext cx="3978974" cy="338554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sort(a, aux, 0, 6)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30D079-D5C1-0842-8AA9-6EBD771A8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607161"/>
              </p:ext>
            </p:extLst>
          </p:nvPr>
        </p:nvGraphicFramePr>
        <p:xfrm>
          <a:off x="8207538" y="1736972"/>
          <a:ext cx="2443070" cy="307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010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349010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349010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349010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349010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349010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349010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</a:tblGrid>
              <a:tr h="307777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278FC25-B49B-2E4D-ACF4-2033455F8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700668" y="1736972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72F7B49-B881-9641-BC21-2C8F5DAAA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840285"/>
              </p:ext>
            </p:extLst>
          </p:nvPr>
        </p:nvGraphicFramePr>
        <p:xfrm>
          <a:off x="8214100" y="1416494"/>
          <a:ext cx="2443070" cy="307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010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349010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349010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349010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349010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349010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349010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</a:tblGrid>
              <a:tr h="307777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sp>
        <p:nvSpPr>
          <p:cNvPr id="10" name="Left Brace 9">
            <a:extLst>
              <a:ext uri="{FF2B5EF4-FFF2-40B4-BE49-F238E27FC236}">
                <a16:creationId xmlns:a16="http://schemas.microsoft.com/office/drawing/2014/main" id="{387DCF42-EF66-774B-928F-421711A17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9281748" y="1015589"/>
            <a:ext cx="307776" cy="244306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8DDBACB5-4695-DE45-8FEA-39918CD47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8815401" y="1814390"/>
            <a:ext cx="177675" cy="139744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2DB597FB-6825-A742-B52E-9B83D1618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8457447" y="2387835"/>
            <a:ext cx="177674" cy="703846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99F24839-7FA8-7A47-9310-B036BADED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8279288" y="2780702"/>
            <a:ext cx="177674" cy="373288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FDD1C001-CC66-BA44-B511-BE4C64360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8655874" y="2926022"/>
            <a:ext cx="177674" cy="373288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17F99230-4337-B748-97A5-D2CC97F96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8444567" y="2969194"/>
            <a:ext cx="177674" cy="703846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A1B3F9C4-A1B4-E842-AAFB-B1D2A643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9162202" y="3146868"/>
            <a:ext cx="177674" cy="703846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58E7487D-F102-294E-998B-4E6AB572B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8996014" y="3529309"/>
            <a:ext cx="177674" cy="373288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18779B38-2DD4-024C-B2F2-8167211D8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9398357" y="3667888"/>
            <a:ext cx="177674" cy="373288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E8518746-FFA2-D343-8C35-4E5DA42FB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9211713" y="3753900"/>
            <a:ext cx="177674" cy="703846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552E6B5F-6318-5749-B36E-E89AF5D70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8806595" y="3582163"/>
            <a:ext cx="157464" cy="1450422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3624DE4D-6836-4342-A9D4-6F7E330EF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10041229" y="4113293"/>
            <a:ext cx="177673" cy="1054207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B7992EB6-846F-EE40-9436-6069A7E9B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9863145" y="4507675"/>
            <a:ext cx="177674" cy="703846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21DD2248-DC60-0340-B327-EFFAC15DE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9685487" y="4934488"/>
            <a:ext cx="177674" cy="373288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8319CA4C-4467-E54F-A3A5-38394306A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10078813" y="5112162"/>
            <a:ext cx="177674" cy="373288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81DDF265-1A51-134C-B7F2-1FE4ED542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9911166" y="5204575"/>
            <a:ext cx="177674" cy="703846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08D84641-3205-2346-872C-5082F4B08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10472030" y="5520254"/>
            <a:ext cx="133079" cy="373288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FC35A031-2A99-3344-A17E-BDEA05F01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10097809" y="5435897"/>
            <a:ext cx="177674" cy="1077135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D53B9D87-2DD0-2E4B-9F10-F31D8151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9297690" y="4969764"/>
            <a:ext cx="215082" cy="2575577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0BB4FA-D5B7-9049-AE79-91F23164C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725214" y="2072605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sort(0,6)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8820FE-83C5-8444-ABFE-886C19C8A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708766" y="2312897"/>
            <a:ext cx="1037881" cy="2397827"/>
            <a:chOff x="10708766" y="2312897"/>
            <a:chExt cx="1037881" cy="239782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BF2957-1048-5247-B72A-CD31781F9110}"/>
                </a:ext>
              </a:extLst>
            </p:cNvPr>
            <p:cNvSpPr txBox="1"/>
            <p:nvPr/>
          </p:nvSpPr>
          <p:spPr>
            <a:xfrm>
              <a:off x="10725214" y="2312897"/>
              <a:ext cx="10214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" pitchFamily="2" charset="0"/>
                </a:rPr>
                <a:t>sort(0,3)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5C820A3-2738-2F48-A059-8EAAF5043B52}"/>
                </a:ext>
              </a:extLst>
            </p:cNvPr>
            <p:cNvSpPr txBox="1"/>
            <p:nvPr/>
          </p:nvSpPr>
          <p:spPr>
            <a:xfrm>
              <a:off x="10708766" y="4433725"/>
              <a:ext cx="10214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" pitchFamily="2" charset="0"/>
                </a:rPr>
                <a:t>sort(4,6)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47EBE91-6C20-5543-87AA-61F02805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725213" y="2512421"/>
            <a:ext cx="1021434" cy="1089172"/>
            <a:chOff x="10725213" y="2512421"/>
            <a:chExt cx="1021434" cy="108917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5B9BFEC-6500-D347-BB4D-BAB67AAFDD34}"/>
                </a:ext>
              </a:extLst>
            </p:cNvPr>
            <p:cNvSpPr txBox="1"/>
            <p:nvPr/>
          </p:nvSpPr>
          <p:spPr>
            <a:xfrm>
              <a:off x="10725214" y="2512421"/>
              <a:ext cx="10214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" pitchFamily="2" charset="0"/>
                </a:rPr>
                <a:t>sort(0,1)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9210996-527E-FD41-A5AF-19978A6EFF36}"/>
                </a:ext>
              </a:extLst>
            </p:cNvPr>
            <p:cNvSpPr txBox="1"/>
            <p:nvPr/>
          </p:nvSpPr>
          <p:spPr>
            <a:xfrm>
              <a:off x="10725213" y="3324594"/>
              <a:ext cx="10214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" pitchFamily="2" charset="0"/>
                </a:rPr>
                <a:t>sort(2,3)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397860E-3135-7E4E-9204-709102012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725212" y="2751982"/>
            <a:ext cx="1117417" cy="656695"/>
            <a:chOff x="10725212" y="2751982"/>
            <a:chExt cx="1117417" cy="65669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D1B3D6E-FDC7-7543-880D-24E6A5034A19}"/>
                </a:ext>
              </a:extLst>
            </p:cNvPr>
            <p:cNvSpPr txBox="1"/>
            <p:nvPr/>
          </p:nvSpPr>
          <p:spPr>
            <a:xfrm>
              <a:off x="10725213" y="2751982"/>
              <a:ext cx="10214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" pitchFamily="2" charset="0"/>
                </a:rPr>
                <a:t>sort(0,0)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9C14C7-2CAF-7047-8531-3A305C2A79EC}"/>
                </a:ext>
              </a:extLst>
            </p:cNvPr>
            <p:cNvSpPr txBox="1"/>
            <p:nvPr/>
          </p:nvSpPr>
          <p:spPr>
            <a:xfrm>
              <a:off x="10725212" y="2954636"/>
              <a:ext cx="10214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" pitchFamily="2" charset="0"/>
                </a:rPr>
                <a:t>sort(1,1)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7143A45-BF29-1D47-A228-3C00BB6227D6}"/>
                </a:ext>
              </a:extLst>
            </p:cNvPr>
            <p:cNvSpPr txBox="1"/>
            <p:nvPr/>
          </p:nvSpPr>
          <p:spPr>
            <a:xfrm>
              <a:off x="10728221" y="3131678"/>
              <a:ext cx="11144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" pitchFamily="2" charset="0"/>
                </a:rPr>
                <a:t>merge(0,1)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24DAB91-4521-5D4C-B9A8-28E36141E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717949" y="3534872"/>
            <a:ext cx="1114408" cy="719214"/>
            <a:chOff x="10717949" y="3534872"/>
            <a:chExt cx="1114408" cy="719214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4ADD9C4-B386-CC43-91EF-2A26C6E7350D}"/>
                </a:ext>
              </a:extLst>
            </p:cNvPr>
            <p:cNvSpPr txBox="1"/>
            <p:nvPr/>
          </p:nvSpPr>
          <p:spPr>
            <a:xfrm>
              <a:off x="10717951" y="3534872"/>
              <a:ext cx="10214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" pitchFamily="2" charset="0"/>
                </a:rPr>
                <a:t>sort(2,2)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76C8716-EEAF-A545-95BF-D5D77CA37096}"/>
                </a:ext>
              </a:extLst>
            </p:cNvPr>
            <p:cNvSpPr txBox="1"/>
            <p:nvPr/>
          </p:nvSpPr>
          <p:spPr>
            <a:xfrm>
              <a:off x="10717950" y="3774433"/>
              <a:ext cx="10214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" pitchFamily="2" charset="0"/>
                </a:rPr>
                <a:t>sort(3,3)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A83243A-5869-0549-A031-50A2051640A4}"/>
                </a:ext>
              </a:extLst>
            </p:cNvPr>
            <p:cNvSpPr txBox="1"/>
            <p:nvPr/>
          </p:nvSpPr>
          <p:spPr>
            <a:xfrm>
              <a:off x="10717949" y="3977087"/>
              <a:ext cx="11144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" pitchFamily="2" charset="0"/>
                </a:rPr>
                <a:t>merge(2,3)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3B408DA-C4CD-4C44-B476-AB0BD63D0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708766" y="4178513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merge(0,3)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EE10824-08FF-7B45-A9C4-8375A29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705820" y="4670479"/>
            <a:ext cx="1033563" cy="1131939"/>
            <a:chOff x="10705820" y="4670479"/>
            <a:chExt cx="1033563" cy="1131939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01E4F5A-6348-7349-AE12-811A4402FC62}"/>
                </a:ext>
              </a:extLst>
            </p:cNvPr>
            <p:cNvSpPr txBox="1"/>
            <p:nvPr/>
          </p:nvSpPr>
          <p:spPr>
            <a:xfrm>
              <a:off x="10705820" y="4670479"/>
              <a:ext cx="10214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" pitchFamily="2" charset="0"/>
                </a:rPr>
                <a:t>sort(4,5)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E3ACE94-C095-0F49-93E4-CD032506809A}"/>
                </a:ext>
              </a:extLst>
            </p:cNvPr>
            <p:cNvSpPr txBox="1"/>
            <p:nvPr/>
          </p:nvSpPr>
          <p:spPr>
            <a:xfrm>
              <a:off x="10717950" y="5525419"/>
              <a:ext cx="10214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" pitchFamily="2" charset="0"/>
                </a:rPr>
                <a:t>sort(6,6)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1A61FF9-F11B-744C-B955-84B250FC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698557" y="4880757"/>
            <a:ext cx="1136809" cy="728745"/>
            <a:chOff x="10698557" y="4880757"/>
            <a:chExt cx="1136809" cy="728745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2F5D064-3EC1-B645-A17C-D2100B4FE086}"/>
                </a:ext>
              </a:extLst>
            </p:cNvPr>
            <p:cNvSpPr txBox="1"/>
            <p:nvPr/>
          </p:nvSpPr>
          <p:spPr>
            <a:xfrm>
              <a:off x="10698558" y="4880757"/>
              <a:ext cx="10214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" pitchFamily="2" charset="0"/>
                </a:rPr>
                <a:t>sort(4,4)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05742CF-42A1-7D42-988F-493BCB88ACDE}"/>
                </a:ext>
              </a:extLst>
            </p:cNvPr>
            <p:cNvSpPr txBox="1"/>
            <p:nvPr/>
          </p:nvSpPr>
          <p:spPr>
            <a:xfrm>
              <a:off x="10698557" y="5120318"/>
              <a:ext cx="10214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" pitchFamily="2" charset="0"/>
                </a:rPr>
                <a:t>sort(5,5)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915B52F-9C24-5C4E-89B2-846C377DACDA}"/>
                </a:ext>
              </a:extLst>
            </p:cNvPr>
            <p:cNvSpPr txBox="1"/>
            <p:nvPr/>
          </p:nvSpPr>
          <p:spPr>
            <a:xfrm>
              <a:off x="10720958" y="5332503"/>
              <a:ext cx="11144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" pitchFamily="2" charset="0"/>
                </a:rPr>
                <a:t>merge(4,5)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4FC60F30-CBE1-0342-8B16-731D7B3B2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724145" y="5810085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merge(4,6)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6987D2-D56A-F64C-8E0F-A15CC7A00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714962" y="6011511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merge(0,6)</a:t>
            </a:r>
          </a:p>
        </p:txBody>
      </p:sp>
    </p:spTree>
    <p:extLst>
      <p:ext uri="{BB962C8B-B14F-4D97-AF65-F5344CB8AC3E}">
        <p14:creationId xmlns:p14="http://schemas.microsoft.com/office/powerpoint/2010/main" val="75434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31" grpId="0"/>
      <p:bldP spid="42" grpId="0"/>
      <p:bldP spid="48" grpId="0"/>
      <p:bldP spid="4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957B-B470-D641-A464-1A7238D4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8D424-5455-FE40-A8A9-3D5B20807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Practical improvements</a:t>
            </a:r>
          </a:p>
          <a:p>
            <a:pPr lvl="1"/>
            <a:r>
              <a:rPr lang="en-US" dirty="0"/>
              <a:t>Stop if already sorted</a:t>
            </a:r>
          </a:p>
        </p:txBody>
      </p:sp>
      <p:sp>
        <p:nvSpPr>
          <p:cNvPr id="4" name="TextBox 3" descr="pseudocode implementing sort()">
            <a:extLst>
              <a:ext uri="{FF2B5EF4-FFF2-40B4-BE49-F238E27FC236}">
                <a16:creationId xmlns:a16="http://schemas.microsoft.com/office/drawing/2014/main" id="{744CE73E-9E56-994B-9C1B-D4A7F4DAEEE9}"/>
              </a:ext>
            </a:extLst>
          </p:cNvPr>
          <p:cNvSpPr txBox="1"/>
          <p:nvPr/>
        </p:nvSpPr>
        <p:spPr>
          <a:xfrm>
            <a:off x="1219202" y="2570942"/>
            <a:ext cx="4472699" cy="2308324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sort(a[], aux[], lo, hi):</a:t>
            </a:r>
          </a:p>
          <a:p>
            <a:pPr lvl="1"/>
            <a:r>
              <a:rPr lang="en-US" sz="1600" dirty="0">
                <a:latin typeface="Courier" pitchFamily="2" charset="0"/>
              </a:rPr>
              <a:t>if (hi &lt;= lo) return;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mid = lo + (hi - lo) / 2;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sort(a, aux, lo, mid);</a:t>
            </a:r>
          </a:p>
          <a:p>
            <a:pPr lvl="1"/>
            <a:r>
              <a:rPr lang="en-US" sz="1600" dirty="0">
                <a:latin typeface="Courier" pitchFamily="2" charset="0"/>
              </a:rPr>
              <a:t>sort(a, aux, mid+1, hi);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if (a[mid] &lt;= a[mid+1]) return;</a:t>
            </a:r>
          </a:p>
          <a:p>
            <a:pPr lvl="1"/>
            <a:r>
              <a:rPr lang="en-US" sz="1600" dirty="0">
                <a:latin typeface="Courier" pitchFamily="2" charset="0"/>
              </a:rPr>
              <a:t>merge(a, aux, lo, mid, hi);</a:t>
            </a:r>
          </a:p>
        </p:txBody>
      </p:sp>
    </p:spTree>
    <p:extLst>
      <p:ext uri="{BB962C8B-B14F-4D97-AF65-F5344CB8AC3E}">
        <p14:creationId xmlns:p14="http://schemas.microsoft.com/office/powerpoint/2010/main" val="4091526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957B-B470-D641-A464-1A7238D4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8D424-5455-FE40-A8A9-3D5B20807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Practical improvements</a:t>
            </a:r>
          </a:p>
          <a:p>
            <a:pPr lvl="1"/>
            <a:r>
              <a:rPr lang="en-US" dirty="0"/>
              <a:t>Avoid copying to the auxiliary array</a:t>
            </a:r>
          </a:p>
        </p:txBody>
      </p:sp>
      <p:sp>
        <p:nvSpPr>
          <p:cNvPr id="5" name="TextBox 4" descr="pseudocode implementing merge()">
            <a:extLst>
              <a:ext uri="{FF2B5EF4-FFF2-40B4-BE49-F238E27FC236}">
                <a16:creationId xmlns:a16="http://schemas.microsoft.com/office/drawing/2014/main" id="{C57291CA-09DC-4041-B577-16501E109A5B}"/>
              </a:ext>
            </a:extLst>
          </p:cNvPr>
          <p:cNvSpPr txBox="1"/>
          <p:nvPr/>
        </p:nvSpPr>
        <p:spPr>
          <a:xfrm>
            <a:off x="514866" y="2529523"/>
            <a:ext cx="6909264" cy="3046988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merge(a[], aux[], lo, mid, hi):</a:t>
            </a:r>
          </a:p>
          <a:p>
            <a:pPr lvl="1"/>
            <a:r>
              <a:rPr lang="en-US" sz="1600" strike="sngStrike" dirty="0">
                <a:latin typeface="Courier" pitchFamily="2" charset="0"/>
              </a:rPr>
              <a:t>for (k = lo; k &lt;= hi; k++)</a:t>
            </a:r>
          </a:p>
          <a:p>
            <a:pPr lvl="1"/>
            <a:r>
              <a:rPr lang="en-US" sz="1600" strike="sngStrike" dirty="0">
                <a:latin typeface="Courier" pitchFamily="2" charset="0"/>
              </a:rPr>
              <a:t>    aux[k] = a[k];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 = lo;</a:t>
            </a:r>
          </a:p>
          <a:p>
            <a:pPr lvl="1"/>
            <a:r>
              <a:rPr lang="en-US" sz="1600" dirty="0">
                <a:latin typeface="Courier" pitchFamily="2" charset="0"/>
              </a:rPr>
              <a:t>j = mid+1;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for (k = lo; k &lt;= hi; k++)</a:t>
            </a:r>
          </a:p>
          <a:p>
            <a:pPr lvl="1"/>
            <a:r>
              <a:rPr lang="en-US" sz="1600" dirty="0">
                <a:latin typeface="Courier" pitchFamily="2" charset="0"/>
              </a:rPr>
              <a:t>	if (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 &gt; mid)              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aux</a:t>
            </a:r>
            <a:r>
              <a:rPr lang="en-US" sz="1600" dirty="0">
                <a:latin typeface="Courier" pitchFamily="2" charset="0"/>
              </a:rPr>
              <a:t>[k] = 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a</a:t>
            </a:r>
            <a:r>
              <a:rPr lang="en-US" sz="1600" dirty="0">
                <a:latin typeface="Courier" pitchFamily="2" charset="0"/>
              </a:rPr>
              <a:t>[j]; </a:t>
            </a:r>
            <a:r>
              <a:rPr lang="en-US" sz="1600" dirty="0" err="1">
                <a:latin typeface="Courier" pitchFamily="2" charset="0"/>
              </a:rPr>
              <a:t>j++</a:t>
            </a:r>
            <a:r>
              <a:rPr lang="en-US" sz="1600" dirty="0">
                <a:latin typeface="Courier" pitchFamily="2" charset="0"/>
              </a:rPr>
              <a:t>;</a:t>
            </a:r>
          </a:p>
          <a:p>
            <a:pPr lvl="1"/>
            <a:r>
              <a:rPr lang="en-US" sz="1600" dirty="0">
                <a:latin typeface="Courier" pitchFamily="2" charset="0"/>
              </a:rPr>
              <a:t>	else if (j &gt; hi)          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aux</a:t>
            </a:r>
            <a:r>
              <a:rPr lang="en-US" sz="1600" dirty="0">
                <a:latin typeface="Courier" pitchFamily="2" charset="0"/>
              </a:rPr>
              <a:t>[k] = 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a</a:t>
            </a:r>
            <a:r>
              <a:rPr lang="en-US" sz="1600" dirty="0">
                <a:latin typeface="Courier" pitchFamily="2" charset="0"/>
              </a:rPr>
              <a:t>[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]; 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++;</a:t>
            </a:r>
          </a:p>
          <a:p>
            <a:pPr lvl="1"/>
            <a:r>
              <a:rPr lang="en-US" sz="1600" dirty="0">
                <a:latin typeface="Courier" pitchFamily="2" charset="0"/>
              </a:rPr>
              <a:t>	else if (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a[j] &lt; a[</a:t>
            </a:r>
            <a:r>
              <a:rPr lang="en-US" sz="1600" dirty="0" err="1">
                <a:solidFill>
                  <a:srgbClr val="FF0000"/>
                </a:solidFill>
                <a:latin typeface="Courier" pitchFamily="2" charset="0"/>
              </a:rPr>
              <a:t>i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]</a:t>
            </a:r>
            <a:r>
              <a:rPr lang="en-US" sz="1600" dirty="0">
                <a:latin typeface="Courier" pitchFamily="2" charset="0"/>
              </a:rPr>
              <a:t>)     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aux</a:t>
            </a:r>
            <a:r>
              <a:rPr lang="en-US" sz="1600" dirty="0">
                <a:latin typeface="Courier" pitchFamily="2" charset="0"/>
              </a:rPr>
              <a:t>[k] = 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a</a:t>
            </a:r>
            <a:r>
              <a:rPr lang="en-US" sz="1600" dirty="0">
                <a:latin typeface="Courier" pitchFamily="2" charset="0"/>
              </a:rPr>
              <a:t>[j]; </a:t>
            </a:r>
            <a:r>
              <a:rPr lang="en-US" sz="1600" dirty="0" err="1">
                <a:latin typeface="Courier" pitchFamily="2" charset="0"/>
              </a:rPr>
              <a:t>j++</a:t>
            </a:r>
            <a:r>
              <a:rPr lang="en-US" sz="1600" dirty="0">
                <a:latin typeface="Courier" pitchFamily="2" charset="0"/>
              </a:rPr>
              <a:t>;</a:t>
            </a:r>
          </a:p>
          <a:p>
            <a:pPr lvl="1"/>
            <a:r>
              <a:rPr lang="en-US" sz="1600" dirty="0">
                <a:latin typeface="Courier" pitchFamily="2" charset="0"/>
              </a:rPr>
              <a:t>	else                      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aux</a:t>
            </a:r>
            <a:r>
              <a:rPr lang="en-US" sz="1600" dirty="0">
                <a:latin typeface="Courier" pitchFamily="2" charset="0"/>
              </a:rPr>
              <a:t>[k] = 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a</a:t>
            </a:r>
            <a:r>
              <a:rPr lang="en-US" sz="1600" dirty="0">
                <a:latin typeface="Courier" pitchFamily="2" charset="0"/>
              </a:rPr>
              <a:t>[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]; 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++;</a:t>
            </a:r>
          </a:p>
        </p:txBody>
      </p:sp>
      <p:sp>
        <p:nvSpPr>
          <p:cNvPr id="4" name="TextBox 3" descr="pseudocode implementing sort()">
            <a:extLst>
              <a:ext uri="{FF2B5EF4-FFF2-40B4-BE49-F238E27FC236}">
                <a16:creationId xmlns:a16="http://schemas.microsoft.com/office/drawing/2014/main" id="{744CE73E-9E56-994B-9C1B-D4A7F4DAEEE9}"/>
              </a:ext>
            </a:extLst>
          </p:cNvPr>
          <p:cNvSpPr txBox="1"/>
          <p:nvPr/>
        </p:nvSpPr>
        <p:spPr>
          <a:xfrm>
            <a:off x="7561145" y="2529523"/>
            <a:ext cx="3978974" cy="2062103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sort(a[], aux[], lo, hi):</a:t>
            </a:r>
          </a:p>
          <a:p>
            <a:pPr lvl="1"/>
            <a:r>
              <a:rPr lang="en-US" sz="1600" dirty="0">
                <a:latin typeface="Courier" pitchFamily="2" charset="0"/>
              </a:rPr>
              <a:t>if (hi &lt;= lo) return;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mid = lo + (hi - lo) / 2;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sort(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aux, a</a:t>
            </a:r>
            <a:r>
              <a:rPr lang="en-US" sz="1600" dirty="0">
                <a:latin typeface="Courier" pitchFamily="2" charset="0"/>
              </a:rPr>
              <a:t>, lo, mid);</a:t>
            </a:r>
          </a:p>
          <a:p>
            <a:pPr lvl="1"/>
            <a:r>
              <a:rPr lang="en-US" sz="1600" dirty="0">
                <a:latin typeface="Courier" pitchFamily="2" charset="0"/>
              </a:rPr>
              <a:t>sort(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aux, a</a:t>
            </a:r>
            <a:r>
              <a:rPr lang="en-US" sz="1600" dirty="0">
                <a:latin typeface="Courier" pitchFamily="2" charset="0"/>
              </a:rPr>
              <a:t>, mid+1, hi);</a:t>
            </a:r>
          </a:p>
          <a:p>
            <a:pPr lvl="1"/>
            <a:r>
              <a:rPr lang="en-US" sz="1600" dirty="0">
                <a:latin typeface="Courier" pitchFamily="2" charset="0"/>
              </a:rPr>
              <a:t>merge(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a, aux</a:t>
            </a:r>
            <a:r>
              <a:rPr lang="en-US" sz="1600" dirty="0">
                <a:latin typeface="Courier" pitchFamily="2" charset="0"/>
              </a:rPr>
              <a:t>, lo, mid, hi);</a:t>
            </a:r>
          </a:p>
        </p:txBody>
      </p:sp>
    </p:spTree>
    <p:extLst>
      <p:ext uri="{BB962C8B-B14F-4D97-AF65-F5344CB8AC3E}">
        <p14:creationId xmlns:p14="http://schemas.microsoft.com/office/powerpoint/2010/main" val="17095078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ADFCA-C78C-7745-87EB-6336162C0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E9DB8-EED2-6646-A66B-177B76DD8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67" y="1588052"/>
            <a:ext cx="11479427" cy="5016842"/>
          </a:xfrm>
        </p:spPr>
        <p:txBody>
          <a:bodyPr/>
          <a:lstStyle/>
          <a:p>
            <a:r>
              <a:rPr lang="en-US" dirty="0"/>
              <a:t>Analysis</a:t>
            </a:r>
          </a:p>
          <a:p>
            <a:pPr lvl="1"/>
            <a:r>
              <a:rPr lang="en-US" dirty="0"/>
              <a:t>Empirical</a:t>
            </a:r>
          </a:p>
          <a:p>
            <a:pPr lvl="2"/>
            <a:r>
              <a:rPr lang="en-US" dirty="0"/>
              <a:t>Laptop: 10</a:t>
            </a:r>
            <a:r>
              <a:rPr lang="en-US" baseline="30000" dirty="0"/>
              <a:t>8</a:t>
            </a:r>
            <a:r>
              <a:rPr lang="en-US" dirty="0"/>
              <a:t> compares/second.</a:t>
            </a:r>
          </a:p>
          <a:p>
            <a:pPr lvl="2"/>
            <a:r>
              <a:rPr lang="en-US" dirty="0"/>
              <a:t>Supercomputer: 10</a:t>
            </a:r>
            <a:r>
              <a:rPr lang="en-US" baseline="30000" dirty="0"/>
              <a:t>12</a:t>
            </a:r>
            <a:r>
              <a:rPr lang="en-US" dirty="0"/>
              <a:t> compares/second.</a:t>
            </a:r>
          </a:p>
        </p:txBody>
      </p:sp>
      <p:graphicFrame>
        <p:nvGraphicFramePr>
          <p:cNvPr id="4" name="Table 3" descr="Table showing execution time of insertion sort and merge sort, on a laptop computer vs a super computer, by size N of the problem (from thousands to billions).">
            <a:extLst>
              <a:ext uri="{FF2B5EF4-FFF2-40B4-BE49-F238E27FC236}">
                <a16:creationId xmlns:a16="http://schemas.microsoft.com/office/drawing/2014/main" id="{943ECE09-7FE7-6E46-A4FD-8CF7C9EFF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812186"/>
              </p:ext>
            </p:extLst>
          </p:nvPr>
        </p:nvGraphicFramePr>
        <p:xfrm>
          <a:off x="1215136" y="3354793"/>
          <a:ext cx="81280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0823030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6501498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2304409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7959292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939796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2675086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72619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Insertion Sort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Merge Sort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093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computer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5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5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~M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5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~G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5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5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~M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5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~G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5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715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home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hours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minutes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566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16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734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ADFCA-C78C-7745-87EB-6336162C0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E9DB8-EED2-6646-A66B-177B76DD8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67" y="1588052"/>
            <a:ext cx="11479427" cy="5016842"/>
          </a:xfrm>
        </p:spPr>
        <p:txBody>
          <a:bodyPr/>
          <a:lstStyle/>
          <a:p>
            <a:r>
              <a:rPr lang="en-US" dirty="0"/>
              <a:t>Analysis</a:t>
            </a:r>
          </a:p>
          <a:p>
            <a:pPr lvl="1"/>
            <a:r>
              <a:rPr lang="en-US" dirty="0"/>
              <a:t>Mathematical</a:t>
            </a:r>
          </a:p>
          <a:p>
            <a:pPr lvl="2"/>
            <a:r>
              <a:rPr lang="en-US" dirty="0"/>
              <a:t>Proposition: merge sort uses at most </a:t>
            </a:r>
            <a:r>
              <a:rPr lang="en-US" i="1" dirty="0"/>
              <a:t>N </a:t>
            </a:r>
            <a:r>
              <a:rPr lang="en-US" dirty="0"/>
              <a:t>lg </a:t>
            </a:r>
            <a:r>
              <a:rPr lang="en-US" i="1" dirty="0"/>
              <a:t>N</a:t>
            </a:r>
            <a:r>
              <a:rPr lang="en-US" dirty="0"/>
              <a:t> compare operations and 6</a:t>
            </a:r>
            <a:r>
              <a:rPr lang="en-US" i="1" dirty="0"/>
              <a:t>N </a:t>
            </a:r>
            <a:r>
              <a:rPr lang="en-US" dirty="0"/>
              <a:t>lg </a:t>
            </a:r>
            <a:r>
              <a:rPr lang="en-US" i="1" dirty="0"/>
              <a:t>N</a:t>
            </a:r>
            <a:r>
              <a:rPr lang="en-US" dirty="0"/>
              <a:t> array access operations to sort any array of size </a:t>
            </a:r>
            <a:r>
              <a:rPr lang="en-US" i="1" dirty="0"/>
              <a:t>N</a:t>
            </a:r>
          </a:p>
          <a:p>
            <a:pPr lvl="2"/>
            <a:r>
              <a:rPr lang="en-US" dirty="0"/>
              <a:t>Intuition (case of </a:t>
            </a:r>
            <a:r>
              <a:rPr lang="en-US" i="1" dirty="0"/>
              <a:t>N</a:t>
            </a:r>
            <a:r>
              <a:rPr lang="en-US" dirty="0"/>
              <a:t> being power of 2):</a:t>
            </a:r>
          </a:p>
        </p:txBody>
      </p:sp>
      <p:grpSp>
        <p:nvGrpSpPr>
          <p:cNvPr id="47" name="Group 46" descr="tree representation of recursive merge sort calls">
            <a:extLst>
              <a:ext uri="{FF2B5EF4-FFF2-40B4-BE49-F238E27FC236}">
                <a16:creationId xmlns:a16="http://schemas.microsoft.com/office/drawing/2014/main" id="{6490AF85-288C-D644-A64E-3F91E9CD02D0}"/>
              </a:ext>
            </a:extLst>
          </p:cNvPr>
          <p:cNvGrpSpPr/>
          <p:nvPr/>
        </p:nvGrpSpPr>
        <p:grpSpPr>
          <a:xfrm>
            <a:off x="554406" y="3550695"/>
            <a:ext cx="5788656" cy="3054199"/>
            <a:chOff x="0" y="3534255"/>
            <a:chExt cx="5788656" cy="305419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735C321-89C2-5242-B4B5-3C109AF1D253}"/>
                </a:ext>
              </a:extLst>
            </p:cNvPr>
            <p:cNvSpPr txBox="1"/>
            <p:nvPr/>
          </p:nvSpPr>
          <p:spPr>
            <a:xfrm>
              <a:off x="2544966" y="3534255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ms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(N)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7C91145-F5AD-794C-898A-EB5F049595C0}"/>
                </a:ext>
              </a:extLst>
            </p:cNvPr>
            <p:cNvSpPr txBox="1"/>
            <p:nvPr/>
          </p:nvSpPr>
          <p:spPr>
            <a:xfrm>
              <a:off x="843980" y="4157421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ms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(N/2)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8CBB461-2964-FE47-9FF3-0816BCD7477F}"/>
                </a:ext>
              </a:extLst>
            </p:cNvPr>
            <p:cNvSpPr txBox="1"/>
            <p:nvPr/>
          </p:nvSpPr>
          <p:spPr>
            <a:xfrm>
              <a:off x="3820208" y="4157421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ms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(N/2)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05E4534-3090-0F44-96BF-CBA85203D08C}"/>
                </a:ext>
              </a:extLst>
            </p:cNvPr>
            <p:cNvSpPr txBox="1"/>
            <p:nvPr/>
          </p:nvSpPr>
          <p:spPr>
            <a:xfrm>
              <a:off x="258667" y="4863205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ms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(N/4)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79FB0-1F75-404E-9B5F-2B17C6838C9D}"/>
                </a:ext>
              </a:extLst>
            </p:cNvPr>
            <p:cNvSpPr txBox="1"/>
            <p:nvPr/>
          </p:nvSpPr>
          <p:spPr>
            <a:xfrm>
              <a:off x="1480891" y="4863205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ms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(N/4)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AB753CD-9BFA-B646-96AE-E8C698E396D1}"/>
                </a:ext>
              </a:extLst>
            </p:cNvPr>
            <p:cNvSpPr txBox="1"/>
            <p:nvPr/>
          </p:nvSpPr>
          <p:spPr>
            <a:xfrm>
              <a:off x="3293889" y="4828300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ms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(N/4)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C2DAB86-5D6E-4448-853C-E7D65D2E13D1}"/>
                </a:ext>
              </a:extLst>
            </p:cNvPr>
            <p:cNvSpPr txBox="1"/>
            <p:nvPr/>
          </p:nvSpPr>
          <p:spPr>
            <a:xfrm>
              <a:off x="4516113" y="4828300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ms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(N/4)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7E31880-68B9-2141-AF5A-D67C020201E8}"/>
                </a:ext>
              </a:extLst>
            </p:cNvPr>
            <p:cNvSpPr txBox="1"/>
            <p:nvPr/>
          </p:nvSpPr>
          <p:spPr>
            <a:xfrm>
              <a:off x="0" y="6219122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ms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(2)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37DF5CA-6AAD-6449-9BD1-BFF231331F46}"/>
                </a:ext>
              </a:extLst>
            </p:cNvPr>
            <p:cNvSpPr txBox="1"/>
            <p:nvPr/>
          </p:nvSpPr>
          <p:spPr>
            <a:xfrm>
              <a:off x="618450" y="6219122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ms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(2)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95CE97-D30C-3F4B-BD72-E948C7031E72}"/>
                </a:ext>
              </a:extLst>
            </p:cNvPr>
            <p:cNvSpPr txBox="1"/>
            <p:nvPr/>
          </p:nvSpPr>
          <p:spPr>
            <a:xfrm>
              <a:off x="1316333" y="6219122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ms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(2)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ADFF4D-B0A0-0F4F-83CB-5126A4C98AE1}"/>
                </a:ext>
              </a:extLst>
            </p:cNvPr>
            <p:cNvSpPr txBox="1"/>
            <p:nvPr/>
          </p:nvSpPr>
          <p:spPr>
            <a:xfrm>
              <a:off x="1934783" y="6219122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ms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(2)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0F53826-70C7-D149-A9F7-B368EF60B843}"/>
                </a:ext>
              </a:extLst>
            </p:cNvPr>
            <p:cNvSpPr txBox="1"/>
            <p:nvPr/>
          </p:nvSpPr>
          <p:spPr>
            <a:xfrm>
              <a:off x="3064062" y="6197151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ms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(2)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5027EC4-0D0D-7F4E-A03C-A02755E6496B}"/>
                </a:ext>
              </a:extLst>
            </p:cNvPr>
            <p:cNvSpPr txBox="1"/>
            <p:nvPr/>
          </p:nvSpPr>
          <p:spPr>
            <a:xfrm>
              <a:off x="3682512" y="6197151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ms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(2)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F50F72-B59A-C24D-8CEE-D657896C46A3}"/>
                </a:ext>
              </a:extLst>
            </p:cNvPr>
            <p:cNvSpPr txBox="1"/>
            <p:nvPr/>
          </p:nvSpPr>
          <p:spPr>
            <a:xfrm>
              <a:off x="4395635" y="6197151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ms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(2)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D89F515-C12E-D241-8389-3D7BB3A6F8BA}"/>
                </a:ext>
              </a:extLst>
            </p:cNvPr>
            <p:cNvSpPr txBox="1"/>
            <p:nvPr/>
          </p:nvSpPr>
          <p:spPr>
            <a:xfrm>
              <a:off x="5014085" y="6197151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ms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(2)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6184738-0AA0-CE42-9076-2E73B439D803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 flipH="1">
              <a:off x="1346682" y="3903587"/>
              <a:ext cx="1604806" cy="2538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A94DD1D-0BAD-6544-9501-0D6740555BBF}"/>
                </a:ext>
              </a:extLst>
            </p:cNvPr>
            <p:cNvCxnSpPr>
              <a:stCxn id="5" idx="2"/>
              <a:endCxn id="7" idx="0"/>
            </p:cNvCxnSpPr>
            <p:nvPr/>
          </p:nvCxnSpPr>
          <p:spPr>
            <a:xfrm>
              <a:off x="2951488" y="3903587"/>
              <a:ext cx="1371422" cy="2538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B11D9E4-8B1F-0649-8FF6-8CA1826E81D6}"/>
                </a:ext>
              </a:extLst>
            </p:cNvPr>
            <p:cNvCxnSpPr>
              <a:stCxn id="6" idx="2"/>
              <a:endCxn id="8" idx="0"/>
            </p:cNvCxnSpPr>
            <p:nvPr/>
          </p:nvCxnSpPr>
          <p:spPr>
            <a:xfrm flipH="1">
              <a:off x="761369" y="4526753"/>
              <a:ext cx="585313" cy="3364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4F3AB26-C4C8-A245-9A70-A5BA21F08A40}"/>
                </a:ext>
              </a:extLst>
            </p:cNvPr>
            <p:cNvCxnSpPr>
              <a:cxnSpLocks/>
              <a:stCxn id="6" idx="2"/>
              <a:endCxn id="9" idx="0"/>
            </p:cNvCxnSpPr>
            <p:nvPr/>
          </p:nvCxnSpPr>
          <p:spPr>
            <a:xfrm>
              <a:off x="1346682" y="4526753"/>
              <a:ext cx="636911" cy="3364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35C3529-9E6E-2746-80C6-D17D24D0DFC9}"/>
                </a:ext>
              </a:extLst>
            </p:cNvPr>
            <p:cNvCxnSpPr/>
            <p:nvPr/>
          </p:nvCxnSpPr>
          <p:spPr>
            <a:xfrm flipH="1">
              <a:off x="3772465" y="4502712"/>
              <a:ext cx="585313" cy="3364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92CC27E-871B-2E44-92F6-FED11BF46F27}"/>
                </a:ext>
              </a:extLst>
            </p:cNvPr>
            <p:cNvCxnSpPr>
              <a:cxnSpLocks/>
            </p:cNvCxnSpPr>
            <p:nvPr/>
          </p:nvCxnSpPr>
          <p:spPr>
            <a:xfrm>
              <a:off x="4357778" y="4502712"/>
              <a:ext cx="636911" cy="3364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C5FA44C-F79B-0F44-9940-AA4E0D29E958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 flipH="1">
              <a:off x="387286" y="5232537"/>
              <a:ext cx="329578" cy="9865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9197A19-7D72-8E4C-B565-259F55588911}"/>
                </a:ext>
              </a:extLst>
            </p:cNvPr>
            <p:cNvCxnSpPr>
              <a:cxnSpLocks/>
            </p:cNvCxnSpPr>
            <p:nvPr/>
          </p:nvCxnSpPr>
          <p:spPr>
            <a:xfrm>
              <a:off x="711499" y="5232537"/>
              <a:ext cx="244367" cy="9865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25E2556-CEB9-1247-86A5-076A1644EA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79011" y="5230672"/>
              <a:ext cx="358432" cy="9865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3126A8F-1076-0048-B883-CECB72B57BDD}"/>
                </a:ext>
              </a:extLst>
            </p:cNvPr>
            <p:cNvCxnSpPr>
              <a:cxnSpLocks/>
            </p:cNvCxnSpPr>
            <p:nvPr/>
          </p:nvCxnSpPr>
          <p:spPr>
            <a:xfrm>
              <a:off x="1957102" y="5230672"/>
              <a:ext cx="240359" cy="9865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E8FA3F9-B256-2C46-9DF0-C8FF87DA1D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5072" y="5204143"/>
              <a:ext cx="358432" cy="9865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101B421-C2F6-F940-ACF7-AFCE5B174D59}"/>
                </a:ext>
              </a:extLst>
            </p:cNvPr>
            <p:cNvCxnSpPr>
              <a:cxnSpLocks/>
            </p:cNvCxnSpPr>
            <p:nvPr/>
          </p:nvCxnSpPr>
          <p:spPr>
            <a:xfrm>
              <a:off x="3793033" y="5204143"/>
              <a:ext cx="240359" cy="9865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247A5E2-A6B4-D446-80C0-A3AFB95AC4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0631" y="5202278"/>
              <a:ext cx="358432" cy="9865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F5149A0-F459-C24D-B6BC-675BE712FE3B}"/>
                </a:ext>
              </a:extLst>
            </p:cNvPr>
            <p:cNvCxnSpPr>
              <a:cxnSpLocks/>
            </p:cNvCxnSpPr>
            <p:nvPr/>
          </p:nvCxnSpPr>
          <p:spPr>
            <a:xfrm>
              <a:off x="5078722" y="5202278"/>
              <a:ext cx="240359" cy="9865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2916E40-B528-5540-AC28-D7668638BD32}"/>
              </a:ext>
            </a:extLst>
          </p:cNvPr>
          <p:cNvSpPr/>
          <p:nvPr/>
        </p:nvSpPr>
        <p:spPr>
          <a:xfrm>
            <a:off x="363837" y="5525147"/>
            <a:ext cx="6076597" cy="39030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(N/2</a:t>
            </a:r>
            <a:r>
              <a:rPr lang="en-US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31F834-5D6D-874D-9F4E-82C27D543E0E}"/>
              </a:ext>
            </a:extLst>
          </p:cNvPr>
          <p:cNvSpPr txBox="1"/>
          <p:nvPr/>
        </p:nvSpPr>
        <p:spPr>
          <a:xfrm>
            <a:off x="7208771" y="3773350"/>
            <a:ext cx="979755" cy="2831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2(N/2)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4(N/4)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(N/2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N/2(2)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C0B18B-BBA9-B84A-848C-23690682D766}"/>
              </a:ext>
            </a:extLst>
          </p:cNvPr>
          <p:cNvSpPr txBox="1"/>
          <p:nvPr/>
        </p:nvSpPr>
        <p:spPr>
          <a:xfrm>
            <a:off x="8522860" y="3798300"/>
            <a:ext cx="562975" cy="2831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= N</a:t>
            </a:r>
          </a:p>
          <a:p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= N</a:t>
            </a:r>
          </a:p>
          <a:p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= N</a:t>
            </a:r>
          </a:p>
          <a:p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= N</a:t>
            </a:r>
            <a:endParaRPr lang="en-US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= 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50E323-8220-4240-8ED9-829744D07657}"/>
              </a:ext>
            </a:extLst>
          </p:cNvPr>
          <p:cNvSpPr txBox="1"/>
          <p:nvPr/>
        </p:nvSpPr>
        <p:spPr>
          <a:xfrm>
            <a:off x="9808721" y="5062446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lg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ight Brace 51">
            <a:extLst>
              <a:ext uri="{FF2B5EF4-FFF2-40B4-BE49-F238E27FC236}">
                <a16:creationId xmlns:a16="http://schemas.microsoft.com/office/drawing/2014/main" id="{8A73E292-4364-FC4D-B1A8-4896C8D06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12713" y="3915664"/>
            <a:ext cx="467833" cy="266289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514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8D5A-E475-7A45-BE35-72C0BD062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20310-26AF-6549-8B27-A8F0522F3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Analysis: merge sort is an </a:t>
            </a:r>
            <a:r>
              <a:rPr lang="en-US" dirty="0">
                <a:highlight>
                  <a:srgbClr val="C0C0C0"/>
                </a:highlight>
              </a:rPr>
              <a:t>optimal algorithm </a:t>
            </a:r>
            <a:r>
              <a:rPr lang="en-US" dirty="0"/>
              <a:t>in terms of number of operations, since its cost (~</a:t>
            </a:r>
            <a:r>
              <a:rPr lang="en-US" i="1" dirty="0"/>
              <a:t>N</a:t>
            </a:r>
            <a:r>
              <a:rPr lang="en-US" dirty="0"/>
              <a:t> log </a:t>
            </a:r>
            <a:r>
              <a:rPr lang="en-US" i="1" dirty="0"/>
              <a:t>N</a:t>
            </a:r>
            <a:r>
              <a:rPr lang="en-US" dirty="0"/>
              <a:t>) is a proven limit (lower bound) for all compare-based sorting algorithms</a:t>
            </a:r>
          </a:p>
          <a:p>
            <a:endParaRPr lang="en-US" dirty="0"/>
          </a:p>
          <a:p>
            <a:r>
              <a:rPr lang="en-US" dirty="0"/>
              <a:t>Memory: merge sort uses extra space proportional to </a:t>
            </a:r>
            <a:r>
              <a:rPr lang="en-US" i="1" dirty="0"/>
              <a:t>N</a:t>
            </a:r>
          </a:p>
          <a:p>
            <a:endParaRPr lang="en-US" i="1" dirty="0"/>
          </a:p>
          <a:p>
            <a:r>
              <a:rPr lang="en-US" dirty="0"/>
              <a:t>A sorting algorithm is </a:t>
            </a:r>
            <a:r>
              <a:rPr lang="en-US" dirty="0">
                <a:highlight>
                  <a:srgbClr val="C0C0C0"/>
                </a:highlight>
              </a:rPr>
              <a:t>in-place</a:t>
            </a:r>
            <a:r>
              <a:rPr lang="en-US" dirty="0"/>
              <a:t> if it uses ≤ </a:t>
            </a:r>
            <a:r>
              <a:rPr lang="en-US" i="1" dirty="0"/>
              <a:t>c</a:t>
            </a:r>
            <a:r>
              <a:rPr lang="en-US" dirty="0"/>
              <a:t> log </a:t>
            </a:r>
            <a:r>
              <a:rPr lang="en-US" i="1" dirty="0"/>
              <a:t>N</a:t>
            </a:r>
            <a:r>
              <a:rPr lang="en-US" dirty="0"/>
              <a:t> extra memory</a:t>
            </a:r>
          </a:p>
          <a:p>
            <a:pPr lvl="1"/>
            <a:r>
              <a:rPr lang="en-US" dirty="0"/>
              <a:t>Selection and insertion sort are in-place sorting algorithms</a:t>
            </a:r>
          </a:p>
        </p:txBody>
      </p:sp>
    </p:spTree>
    <p:extLst>
      <p:ext uri="{BB962C8B-B14F-4D97-AF65-F5344CB8AC3E}">
        <p14:creationId xmlns:p14="http://schemas.microsoft.com/office/powerpoint/2010/main" val="20840639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CD1C-1C57-0446-BE37-E96C7E69B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F2413-F9D4-844B-92C5-0DA0D0369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sorting algorithm is said to be </a:t>
            </a:r>
            <a:r>
              <a:rPr lang="en-US" dirty="0">
                <a:highlight>
                  <a:srgbClr val="C0C0C0"/>
                </a:highlight>
              </a:rPr>
              <a:t>stable</a:t>
            </a:r>
            <a:r>
              <a:rPr lang="en-US" dirty="0"/>
              <a:t> if two items with equal keys appear in the same order in the sorted output as they appear in the input array</a:t>
            </a:r>
          </a:p>
        </p:txBody>
      </p:sp>
      <p:pic>
        <p:nvPicPr>
          <p:cNvPr id="4" name="Picture 3" descr="A screenshot of ucl portico records of stduents enrolled in a course">
            <a:extLst>
              <a:ext uri="{FF2B5EF4-FFF2-40B4-BE49-F238E27FC236}">
                <a16:creationId xmlns:a16="http://schemas.microsoft.com/office/drawing/2014/main" id="{237EDD1F-FA32-154F-B8EF-B713D1673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37" y="3047676"/>
            <a:ext cx="11490325" cy="3310890"/>
          </a:xfrm>
          <a:prstGeom prst="rect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30207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CD1C-1C57-0446-BE37-E96C7E69B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F2413-F9D4-844B-92C5-0DA0D0369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sorting algorithm is said to be </a:t>
            </a:r>
            <a:r>
              <a:rPr lang="en-US" dirty="0">
                <a:highlight>
                  <a:srgbClr val="C0C0C0"/>
                </a:highlight>
              </a:rPr>
              <a:t>stable</a:t>
            </a:r>
            <a:r>
              <a:rPr lang="en-US" dirty="0"/>
              <a:t> if two items with equal keys appear in the same order in the sorted output as they appear in the input array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A87C157-053E-2049-85A6-D2F73963F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094227"/>
              </p:ext>
            </p:extLst>
          </p:nvPr>
        </p:nvGraphicFramePr>
        <p:xfrm>
          <a:off x="197706" y="3469341"/>
          <a:ext cx="346546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299">
                  <a:extLst>
                    <a:ext uri="{9D8B030D-6E8A-4147-A177-3AD203B41FA5}">
                      <a16:colId xmlns:a16="http://schemas.microsoft.com/office/drawing/2014/main" val="2454280224"/>
                    </a:ext>
                  </a:extLst>
                </a:gridCol>
                <a:gridCol w="1380564">
                  <a:extLst>
                    <a:ext uri="{9D8B030D-6E8A-4147-A177-3AD203B41FA5}">
                      <a16:colId xmlns:a16="http://schemas.microsoft.com/office/drawing/2014/main" val="1618219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22531572"/>
                    </a:ext>
                  </a:extLst>
                </a:gridCol>
              </a:tblGrid>
              <a:tr h="30734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Course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517070"/>
                  </a:ext>
                </a:extLst>
              </a:tr>
              <a:tr h="30734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Smith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60184"/>
                  </a:ext>
                </a:extLst>
              </a:tr>
              <a:tr h="30734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Jones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685331"/>
                  </a:ext>
                </a:extLst>
              </a:tr>
              <a:tr h="30734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Williams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40213"/>
                  </a:ext>
                </a:extLst>
              </a:tr>
              <a:tr h="30734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Taylor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472169"/>
                  </a:ext>
                </a:extLst>
              </a:tr>
              <a:tr h="30734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2959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64E9C4-48E0-5F46-81F8-209F231B9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44740"/>
              </p:ext>
            </p:extLst>
          </p:nvPr>
        </p:nvGraphicFramePr>
        <p:xfrm>
          <a:off x="4242491" y="3469341"/>
          <a:ext cx="346546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299">
                  <a:extLst>
                    <a:ext uri="{9D8B030D-6E8A-4147-A177-3AD203B41FA5}">
                      <a16:colId xmlns:a16="http://schemas.microsoft.com/office/drawing/2014/main" val="2454280224"/>
                    </a:ext>
                  </a:extLst>
                </a:gridCol>
                <a:gridCol w="1380564">
                  <a:extLst>
                    <a:ext uri="{9D8B030D-6E8A-4147-A177-3AD203B41FA5}">
                      <a16:colId xmlns:a16="http://schemas.microsoft.com/office/drawing/2014/main" val="1618219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22531572"/>
                    </a:ext>
                  </a:extLst>
                </a:gridCol>
              </a:tblGrid>
              <a:tr h="28160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Course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517070"/>
                  </a:ext>
                </a:extLst>
              </a:tr>
              <a:tr h="31147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60184"/>
                  </a:ext>
                </a:extLst>
              </a:tr>
              <a:tr h="31147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Jones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685331"/>
                  </a:ext>
                </a:extLst>
              </a:tr>
              <a:tr h="31147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Smith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40213"/>
                  </a:ext>
                </a:extLst>
              </a:tr>
              <a:tr h="31147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Taylor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472169"/>
                  </a:ext>
                </a:extLst>
              </a:tr>
              <a:tr h="31147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Williams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29599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B04CA5-17F5-FD44-9CD5-42108A3C5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473478"/>
              </p:ext>
            </p:extLst>
          </p:nvPr>
        </p:nvGraphicFramePr>
        <p:xfrm>
          <a:off x="8211671" y="2556160"/>
          <a:ext cx="346546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299">
                  <a:extLst>
                    <a:ext uri="{9D8B030D-6E8A-4147-A177-3AD203B41FA5}">
                      <a16:colId xmlns:a16="http://schemas.microsoft.com/office/drawing/2014/main" val="2454280224"/>
                    </a:ext>
                  </a:extLst>
                </a:gridCol>
                <a:gridCol w="1380564">
                  <a:extLst>
                    <a:ext uri="{9D8B030D-6E8A-4147-A177-3AD203B41FA5}">
                      <a16:colId xmlns:a16="http://schemas.microsoft.com/office/drawing/2014/main" val="1618219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22531572"/>
                    </a:ext>
                  </a:extLst>
                </a:gridCol>
              </a:tblGrid>
              <a:tr h="32068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Course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517070"/>
                  </a:ext>
                </a:extLst>
              </a:tr>
              <a:tr h="32068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Smith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60184"/>
                  </a:ext>
                </a:extLst>
              </a:tr>
              <a:tr h="32068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Taylor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685331"/>
                  </a:ext>
                </a:extLst>
              </a:tr>
              <a:tr h="32068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40213"/>
                  </a:ext>
                </a:extLst>
              </a:tr>
              <a:tr h="32068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Jones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472169"/>
                  </a:ext>
                </a:extLst>
              </a:tr>
              <a:tr h="32068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Williams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29599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EA9168-4DC3-F246-8153-A35213CAB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663169" y="4475181"/>
            <a:ext cx="579322" cy="0"/>
          </a:xfrm>
          <a:prstGeom prst="straightConnector1">
            <a:avLst/>
          </a:prstGeom>
          <a:ln w="317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0DEA48E-0D4D-B249-A5D4-28F12CB7F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79294"/>
              </p:ext>
            </p:extLst>
          </p:nvPr>
        </p:nvGraphicFramePr>
        <p:xfrm>
          <a:off x="8211670" y="4742693"/>
          <a:ext cx="346546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299">
                  <a:extLst>
                    <a:ext uri="{9D8B030D-6E8A-4147-A177-3AD203B41FA5}">
                      <a16:colId xmlns:a16="http://schemas.microsoft.com/office/drawing/2014/main" val="2454280224"/>
                    </a:ext>
                  </a:extLst>
                </a:gridCol>
                <a:gridCol w="1380564">
                  <a:extLst>
                    <a:ext uri="{9D8B030D-6E8A-4147-A177-3AD203B41FA5}">
                      <a16:colId xmlns:a16="http://schemas.microsoft.com/office/drawing/2014/main" val="1618219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22531572"/>
                    </a:ext>
                  </a:extLst>
                </a:gridCol>
              </a:tblGrid>
              <a:tr h="31353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Course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517070"/>
                  </a:ext>
                </a:extLst>
              </a:tr>
              <a:tr h="31353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Smith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60184"/>
                  </a:ext>
                </a:extLst>
              </a:tr>
              <a:tr h="31353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Taylor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685331"/>
                  </a:ext>
                </a:extLst>
              </a:tr>
              <a:tr h="31353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Williams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40213"/>
                  </a:ext>
                </a:extLst>
              </a:tr>
              <a:tr h="31353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Jones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472169"/>
                  </a:ext>
                </a:extLst>
              </a:tr>
              <a:tr h="31353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295997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7CD615E-D984-D84E-A641-DF7204E1E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7707954" y="3562000"/>
            <a:ext cx="503717" cy="897044"/>
          </a:xfrm>
          <a:prstGeom prst="straightConnector1">
            <a:avLst/>
          </a:prstGeom>
          <a:ln w="317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05228B-C587-8B47-AAB3-F4DF57361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7707954" y="4475181"/>
            <a:ext cx="503716" cy="1273352"/>
          </a:xfrm>
          <a:prstGeom prst="straightConnector1">
            <a:avLst/>
          </a:prstGeom>
          <a:ln w="317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58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CD1C-1C57-0446-BE37-E96C7E69B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F2413-F9D4-844B-92C5-0DA0D0369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sorting algorithm is said to be </a:t>
            </a:r>
            <a:r>
              <a:rPr lang="en-US" dirty="0">
                <a:highlight>
                  <a:srgbClr val="C0C0C0"/>
                </a:highlight>
              </a:rPr>
              <a:t>stable</a:t>
            </a:r>
            <a:r>
              <a:rPr lang="en-US" dirty="0"/>
              <a:t> if two items with equal keys appear in the same order in the sorted output as they appear in the input array</a:t>
            </a:r>
          </a:p>
          <a:p>
            <a:pPr lvl="1"/>
            <a:r>
              <a:rPr lang="en-US" dirty="0"/>
              <a:t>Stable sorts: insertion and merge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B2C498-CECD-9B47-B29F-B787B7900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0937" y="3241721"/>
            <a:ext cx="3865161" cy="1200329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insertion sort:</a:t>
            </a:r>
          </a:p>
          <a:p>
            <a:r>
              <a:rPr lang="en-US" dirty="0">
                <a:latin typeface="Courier" pitchFamily="2" charset="0"/>
              </a:rPr>
              <a:t>for(j=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; j&gt;0; j--)</a:t>
            </a:r>
          </a:p>
          <a:p>
            <a:r>
              <a:rPr lang="en-US" dirty="0">
                <a:latin typeface="Courier" pitchFamily="2" charset="0"/>
              </a:rPr>
              <a:t>    if (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a[j] &lt; a[j-1]</a:t>
            </a:r>
            <a:r>
              <a:rPr lang="en-US" dirty="0">
                <a:latin typeface="Courier" pitchFamily="2" charset="0"/>
              </a:rPr>
              <a:t>) </a:t>
            </a:r>
          </a:p>
          <a:p>
            <a:r>
              <a:rPr lang="en-US" dirty="0">
                <a:latin typeface="Courier" pitchFamily="2" charset="0"/>
              </a:rPr>
              <a:t>	  swap(a[j], a[j-1])</a:t>
            </a:r>
          </a:p>
        </p:txBody>
      </p:sp>
      <p:sp>
        <p:nvSpPr>
          <p:cNvPr id="12" name="TextBox 11" descr="pseudocode implementing merge()">
            <a:extLst>
              <a:ext uri="{FF2B5EF4-FFF2-40B4-BE49-F238E27FC236}">
                <a16:creationId xmlns:a16="http://schemas.microsoft.com/office/drawing/2014/main" id="{A0516853-A789-A94B-8E7C-7535B0EDC002}"/>
              </a:ext>
            </a:extLst>
          </p:cNvPr>
          <p:cNvSpPr txBox="1"/>
          <p:nvPr/>
        </p:nvSpPr>
        <p:spPr>
          <a:xfrm>
            <a:off x="890937" y="4573569"/>
            <a:ext cx="7311617" cy="2031325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merge sort:</a:t>
            </a:r>
          </a:p>
          <a:p>
            <a:pPr lvl="1"/>
            <a:r>
              <a:rPr lang="en-US" dirty="0">
                <a:latin typeface="Courier" pitchFamily="2" charset="0"/>
              </a:rPr>
              <a:t>[…]</a:t>
            </a:r>
          </a:p>
          <a:p>
            <a:pPr lvl="1"/>
            <a:r>
              <a:rPr lang="en-US" dirty="0">
                <a:latin typeface="Courier" pitchFamily="2" charset="0"/>
              </a:rPr>
              <a:t>for (k = lo; k &lt;= hi; k++)</a:t>
            </a:r>
          </a:p>
          <a:p>
            <a:pPr lvl="1"/>
            <a:r>
              <a:rPr lang="en-US" dirty="0">
                <a:latin typeface="Courier" pitchFamily="2" charset="0"/>
              </a:rPr>
              <a:t>	if (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&gt; mid)              a[k] = aux[j]; </a:t>
            </a:r>
            <a:r>
              <a:rPr lang="en-US" dirty="0" err="1">
                <a:latin typeface="Courier" pitchFamily="2" charset="0"/>
              </a:rPr>
              <a:t>j++</a:t>
            </a:r>
            <a:r>
              <a:rPr lang="en-US" dirty="0">
                <a:latin typeface="Courier" pitchFamily="2" charset="0"/>
              </a:rPr>
              <a:t>;</a:t>
            </a:r>
          </a:p>
          <a:p>
            <a:pPr lvl="1"/>
            <a:r>
              <a:rPr lang="en-US" dirty="0">
                <a:latin typeface="Courier" pitchFamily="2" charset="0"/>
              </a:rPr>
              <a:t>	else if (j &gt; hi)          a[k] = aux[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];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++;</a:t>
            </a:r>
          </a:p>
          <a:p>
            <a:pPr lvl="1"/>
            <a:r>
              <a:rPr lang="en-US" dirty="0">
                <a:latin typeface="Courier" pitchFamily="2" charset="0"/>
              </a:rPr>
              <a:t>	else if (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aux[j] &lt; aux[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]</a:t>
            </a:r>
            <a:r>
              <a:rPr lang="en-US" dirty="0">
                <a:latin typeface="Courier" pitchFamily="2" charset="0"/>
              </a:rPr>
              <a:t>) a[k] = aux[j]; </a:t>
            </a:r>
            <a:r>
              <a:rPr lang="en-US" dirty="0" err="1">
                <a:latin typeface="Courier" pitchFamily="2" charset="0"/>
              </a:rPr>
              <a:t>j++</a:t>
            </a:r>
            <a:r>
              <a:rPr lang="en-US" dirty="0">
                <a:latin typeface="Courier" pitchFamily="2" charset="0"/>
              </a:rPr>
              <a:t>;</a:t>
            </a:r>
          </a:p>
          <a:p>
            <a:pPr lvl="1"/>
            <a:r>
              <a:rPr lang="en-US" dirty="0">
                <a:latin typeface="Courier" pitchFamily="2" charset="0"/>
              </a:rPr>
              <a:t>	else                      a[k] = aux[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];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++;</a:t>
            </a:r>
          </a:p>
        </p:txBody>
      </p:sp>
    </p:spTree>
    <p:extLst>
      <p:ext uri="{BB962C8B-B14F-4D97-AF65-F5344CB8AC3E}">
        <p14:creationId xmlns:p14="http://schemas.microsoft.com/office/powerpoint/2010/main" val="14164174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CD1C-1C57-0446-BE37-E96C7E69B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F2413-F9D4-844B-92C5-0DA0D0369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sorting algorithm is said to be </a:t>
            </a:r>
            <a:r>
              <a:rPr lang="en-US" dirty="0">
                <a:highlight>
                  <a:srgbClr val="C0C0C0"/>
                </a:highlight>
              </a:rPr>
              <a:t>stable</a:t>
            </a:r>
            <a:r>
              <a:rPr lang="en-US" dirty="0"/>
              <a:t> if two items with equal keys appear in the same order in the sorted output as they appear in the input array</a:t>
            </a:r>
          </a:p>
          <a:p>
            <a:pPr lvl="1"/>
            <a:r>
              <a:rPr lang="en-US" dirty="0"/>
              <a:t>Stable sorts: insertion and merge</a:t>
            </a:r>
          </a:p>
          <a:p>
            <a:pPr lvl="1"/>
            <a:r>
              <a:rPr lang="en-US" dirty="0"/>
              <a:t>Non-stable sorts: selection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CB9BF-71C5-3346-85F3-64F8EAB72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3561" y="3674711"/>
            <a:ext cx="4320413" cy="1477328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selection sort:</a:t>
            </a:r>
          </a:p>
          <a:p>
            <a:r>
              <a:rPr lang="en-US" dirty="0">
                <a:latin typeface="Courier" pitchFamily="2" charset="0"/>
              </a:rPr>
              <a:t>min=</a:t>
            </a:r>
            <a:r>
              <a:rPr lang="en-US" dirty="0" err="1">
                <a:latin typeface="Courier" pitchFamily="2" charset="0"/>
              </a:rPr>
              <a:t>i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for(j=i+1; j&lt;N; </a:t>
            </a:r>
            <a:r>
              <a:rPr lang="en-US" dirty="0" err="1">
                <a:latin typeface="Courier" pitchFamily="2" charset="0"/>
              </a:rPr>
              <a:t>j++</a:t>
            </a:r>
            <a:r>
              <a:rPr lang="en-US" dirty="0">
                <a:latin typeface="Courier" pitchFamily="2" charset="0"/>
              </a:rPr>
              <a:t>)</a:t>
            </a:r>
          </a:p>
          <a:p>
            <a:r>
              <a:rPr lang="en-US" dirty="0">
                <a:latin typeface="Courier" pitchFamily="2" charset="0"/>
              </a:rPr>
              <a:t>    if (a[j] &lt; a[min]) min = j</a:t>
            </a:r>
          </a:p>
          <a:p>
            <a:r>
              <a:rPr lang="en-US" dirty="0">
                <a:latin typeface="Courier" pitchFamily="2" charset="0"/>
              </a:rPr>
              <a:t>swap(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a[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], a[min]</a:t>
            </a:r>
            <a:r>
              <a:rPr lang="en-US" dirty="0">
                <a:latin typeface="Courier" pitchFamily="2" charset="0"/>
              </a:rPr>
              <a:t>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0418484-64B9-054C-9CB6-2E1F05188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911867"/>
              </p:ext>
            </p:extLst>
          </p:nvPr>
        </p:nvGraphicFramePr>
        <p:xfrm>
          <a:off x="7164834" y="3311337"/>
          <a:ext cx="46200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005">
                  <a:extLst>
                    <a:ext uri="{9D8B030D-6E8A-4147-A177-3AD203B41FA5}">
                      <a16:colId xmlns:a16="http://schemas.microsoft.com/office/drawing/2014/main" val="3976506120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587457141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1143587659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23441443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49974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50DE30-FF82-3B4B-ABFB-A71804AC3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944586"/>
              </p:ext>
            </p:extLst>
          </p:nvPr>
        </p:nvGraphicFramePr>
        <p:xfrm>
          <a:off x="7164834" y="3682177"/>
          <a:ext cx="46200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005">
                  <a:extLst>
                    <a:ext uri="{9D8B030D-6E8A-4147-A177-3AD203B41FA5}">
                      <a16:colId xmlns:a16="http://schemas.microsoft.com/office/drawing/2014/main" val="3976506120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587457141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1143587659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23441443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4997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21889E-4BAE-FE4B-85B3-243C2DF68B6B}"/>
              </a:ext>
            </a:extLst>
          </p:cNvPr>
          <p:cNvSpPr txBox="1"/>
          <p:nvPr/>
        </p:nvSpPr>
        <p:spPr>
          <a:xfrm>
            <a:off x="5909828" y="3682177"/>
            <a:ext cx="1882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=0, min=3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3995A3C-5BAF-6A47-8193-C86B355A2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69027"/>
              </p:ext>
            </p:extLst>
          </p:nvPr>
        </p:nvGraphicFramePr>
        <p:xfrm>
          <a:off x="7164834" y="4227955"/>
          <a:ext cx="46200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005">
                  <a:extLst>
                    <a:ext uri="{9D8B030D-6E8A-4147-A177-3AD203B41FA5}">
                      <a16:colId xmlns:a16="http://schemas.microsoft.com/office/drawing/2014/main" val="3976506120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587457141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1143587659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23441443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49974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EBBFE70-520D-5947-8024-8267BE059697}"/>
              </a:ext>
            </a:extLst>
          </p:cNvPr>
          <p:cNvSpPr txBox="1"/>
          <p:nvPr/>
        </p:nvSpPr>
        <p:spPr>
          <a:xfrm>
            <a:off x="5909827" y="4226447"/>
            <a:ext cx="1882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=1, min=1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2BCA4C3-5969-114D-ABBB-5DC546D6B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23766"/>
              </p:ext>
            </p:extLst>
          </p:nvPr>
        </p:nvGraphicFramePr>
        <p:xfrm>
          <a:off x="7173800" y="4756874"/>
          <a:ext cx="46200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005">
                  <a:extLst>
                    <a:ext uri="{9D8B030D-6E8A-4147-A177-3AD203B41FA5}">
                      <a16:colId xmlns:a16="http://schemas.microsoft.com/office/drawing/2014/main" val="3976506120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587457141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1143587659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23441443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49974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A41595F-748D-BF4F-BE30-2914E8A6AEBD}"/>
              </a:ext>
            </a:extLst>
          </p:cNvPr>
          <p:cNvSpPr txBox="1"/>
          <p:nvPr/>
        </p:nvSpPr>
        <p:spPr>
          <a:xfrm>
            <a:off x="5918793" y="4755366"/>
            <a:ext cx="1882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=2, min=2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33CEE3D-4EFC-8D48-883C-CAECA7965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458702"/>
              </p:ext>
            </p:extLst>
          </p:nvPr>
        </p:nvGraphicFramePr>
        <p:xfrm>
          <a:off x="7164834" y="5325348"/>
          <a:ext cx="46200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005">
                  <a:extLst>
                    <a:ext uri="{9D8B030D-6E8A-4147-A177-3AD203B41FA5}">
                      <a16:colId xmlns:a16="http://schemas.microsoft.com/office/drawing/2014/main" val="3976506120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587457141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1143587659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23441443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49974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C39385A-BD41-024A-8598-80943F310DC9}"/>
              </a:ext>
            </a:extLst>
          </p:cNvPr>
          <p:cNvSpPr txBox="1"/>
          <p:nvPr/>
        </p:nvSpPr>
        <p:spPr>
          <a:xfrm>
            <a:off x="5909827" y="5323840"/>
            <a:ext cx="1882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=3, min=3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63AAA56-8A60-5144-8A7D-046A2600C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170617"/>
              </p:ext>
            </p:extLst>
          </p:nvPr>
        </p:nvGraphicFramePr>
        <p:xfrm>
          <a:off x="7173800" y="5889298"/>
          <a:ext cx="46200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005">
                  <a:extLst>
                    <a:ext uri="{9D8B030D-6E8A-4147-A177-3AD203B41FA5}">
                      <a16:colId xmlns:a16="http://schemas.microsoft.com/office/drawing/2014/main" val="3976506120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587457141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1143587659"/>
                    </a:ext>
                  </a:extLst>
                </a:gridCol>
                <a:gridCol w="1155005">
                  <a:extLst>
                    <a:ext uri="{9D8B030D-6E8A-4147-A177-3AD203B41FA5}">
                      <a16:colId xmlns:a16="http://schemas.microsoft.com/office/drawing/2014/main" val="23441443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49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322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6" grpId="0"/>
      <p:bldP spid="1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– recap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Elementary Sorts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highlight>
                  <a:srgbClr val="C0C0C0"/>
                </a:highlight>
              </a:rPr>
              <a:t>MergeSort</a:t>
            </a:r>
            <a:endParaRPr lang="en-US" dirty="0">
              <a:highlight>
                <a:srgbClr val="C0C0C0"/>
              </a:highlight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QuickSort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HeapSort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217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1949</TotalTime>
  <Words>3143</Words>
  <Application>Microsoft Macintosh PowerPoint</Application>
  <PresentationFormat>Widescreen</PresentationFormat>
  <Paragraphs>1184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Courier</vt:lpstr>
      <vt:lpstr>Courier New</vt:lpstr>
      <vt:lpstr>Wingdings</vt:lpstr>
      <vt:lpstr>Office Theme</vt:lpstr>
      <vt:lpstr>4_Custom Design</vt:lpstr>
      <vt:lpstr>COMP0005 – ALGORITHMS   2.2 Merge Sort</vt:lpstr>
      <vt:lpstr>CONTENT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CONTENT – recap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Capra, Licia</dc:creator>
  <cp:lastModifiedBy>Capra, Licia</cp:lastModifiedBy>
  <cp:revision>74</cp:revision>
  <dcterms:created xsi:type="dcterms:W3CDTF">2020-06-23T14:37:29Z</dcterms:created>
  <dcterms:modified xsi:type="dcterms:W3CDTF">2020-11-02T10:21:25Z</dcterms:modified>
</cp:coreProperties>
</file>