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5" r:id="rId1"/>
  </p:sldMasterIdLst>
  <p:notesMasterIdLst>
    <p:notesMasterId r:id="rId37"/>
  </p:notesMasterIdLst>
  <p:sldIdLst>
    <p:sldId id="266" r:id="rId2"/>
    <p:sldId id="273" r:id="rId3"/>
    <p:sldId id="329" r:id="rId4"/>
    <p:sldId id="336" r:id="rId5"/>
    <p:sldId id="337" r:id="rId6"/>
    <p:sldId id="338" r:id="rId7"/>
    <p:sldId id="340" r:id="rId8"/>
    <p:sldId id="339" r:id="rId9"/>
    <p:sldId id="342" r:id="rId10"/>
    <p:sldId id="343" r:id="rId11"/>
    <p:sldId id="341" r:id="rId12"/>
    <p:sldId id="331" r:id="rId13"/>
    <p:sldId id="345" r:id="rId14"/>
    <p:sldId id="346" r:id="rId15"/>
    <p:sldId id="332" r:id="rId16"/>
    <p:sldId id="347" r:id="rId17"/>
    <p:sldId id="348" r:id="rId18"/>
    <p:sldId id="349" r:id="rId19"/>
    <p:sldId id="364" r:id="rId20"/>
    <p:sldId id="350" r:id="rId21"/>
    <p:sldId id="351" r:id="rId22"/>
    <p:sldId id="365" r:id="rId23"/>
    <p:sldId id="333" r:id="rId24"/>
    <p:sldId id="352" r:id="rId25"/>
    <p:sldId id="353" r:id="rId26"/>
    <p:sldId id="354" r:id="rId27"/>
    <p:sldId id="355" r:id="rId28"/>
    <p:sldId id="356" r:id="rId29"/>
    <p:sldId id="334" r:id="rId30"/>
    <p:sldId id="357" r:id="rId31"/>
    <p:sldId id="363" r:id="rId32"/>
    <p:sldId id="359" r:id="rId33"/>
    <p:sldId id="360" r:id="rId34"/>
    <p:sldId id="361" r:id="rId35"/>
    <p:sldId id="330" r:id="rId3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D2C4"/>
    <a:srgbClr val="8DB9CA"/>
    <a:srgbClr val="F6BE00"/>
    <a:srgbClr val="B2E2ED"/>
    <a:srgbClr val="00FFFF"/>
    <a:srgbClr val="00FDFF"/>
    <a:srgbClr val="A4DBE8"/>
    <a:srgbClr val="BBC5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44"/>
    <p:restoredTop sz="48299"/>
  </p:normalViewPr>
  <p:slideViewPr>
    <p:cSldViewPr snapToGrid="0" snapToObjects="1">
      <p:cViewPr varScale="1">
        <p:scale>
          <a:sx n="77" d="100"/>
          <a:sy n="77" d="100"/>
        </p:scale>
        <p:origin x="2776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BEE1CD-6EDF-5C43-ACE9-942F6C137C3E}" type="datetimeFigureOut">
              <a:rPr lang="en-US" smtClean="0"/>
              <a:t>10/28/20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455201-7865-8744-8A9B-9F5FC03C5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107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5530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3753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9414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6681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1187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8903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9190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46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296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2462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9989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9079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4362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0541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3013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6842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8585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929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3880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5518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0947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5701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7799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6728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1546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8010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86644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4098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70049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82659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742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76390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+mj-lt"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7966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+mj-lt"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91316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760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524463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D6D2C4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606039"/>
            <a:ext cx="7886700" cy="202668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0"/>
            <a:ext cx="9144000" cy="1235075"/>
            <a:chOff x="0" y="-66259"/>
            <a:chExt cx="9144000" cy="1235075"/>
          </a:xfrm>
        </p:grpSpPr>
        <p:sp>
          <p:nvSpPr>
            <p:cNvPr id="10" name="Freeform 24"/>
            <p:cNvSpPr>
              <a:spLocks/>
            </p:cNvSpPr>
            <p:nvPr/>
          </p:nvSpPr>
          <p:spPr bwMode="auto">
            <a:xfrm>
              <a:off x="0" y="-66259"/>
              <a:ext cx="9144000" cy="1235075"/>
            </a:xfrm>
            <a:custGeom>
              <a:avLst/>
              <a:gdLst>
                <a:gd name="T0" fmla="*/ 0 w 1123"/>
                <a:gd name="T1" fmla="*/ 0 h 151"/>
                <a:gd name="T2" fmla="*/ 0 w 1123"/>
                <a:gd name="T3" fmla="*/ 151 h 151"/>
                <a:gd name="T4" fmla="*/ 844 w 1123"/>
                <a:gd name="T5" fmla="*/ 151 h 151"/>
                <a:gd name="T6" fmla="*/ 841 w 1123"/>
                <a:gd name="T7" fmla="*/ 148 h 151"/>
                <a:gd name="T8" fmla="*/ 832 w 1123"/>
                <a:gd name="T9" fmla="*/ 122 h 151"/>
                <a:gd name="T10" fmla="*/ 832 w 1123"/>
                <a:gd name="T11" fmla="*/ 72 h 151"/>
                <a:gd name="T12" fmla="*/ 859 w 1123"/>
                <a:gd name="T13" fmla="*/ 72 h 151"/>
                <a:gd name="T14" fmla="*/ 859 w 1123"/>
                <a:gd name="T15" fmla="*/ 124 h 151"/>
                <a:gd name="T16" fmla="*/ 863 w 1123"/>
                <a:gd name="T17" fmla="*/ 135 h 151"/>
                <a:gd name="T18" fmla="*/ 871 w 1123"/>
                <a:gd name="T19" fmla="*/ 138 h 151"/>
                <a:gd name="T20" fmla="*/ 880 w 1123"/>
                <a:gd name="T21" fmla="*/ 135 h 151"/>
                <a:gd name="T22" fmla="*/ 883 w 1123"/>
                <a:gd name="T23" fmla="*/ 124 h 151"/>
                <a:gd name="T24" fmla="*/ 883 w 1123"/>
                <a:gd name="T25" fmla="*/ 72 h 151"/>
                <a:gd name="T26" fmla="*/ 910 w 1123"/>
                <a:gd name="T27" fmla="*/ 72 h 151"/>
                <a:gd name="T28" fmla="*/ 910 w 1123"/>
                <a:gd name="T29" fmla="*/ 117 h 151"/>
                <a:gd name="T30" fmla="*/ 900 w 1123"/>
                <a:gd name="T31" fmla="*/ 148 h 151"/>
                <a:gd name="T32" fmla="*/ 897 w 1123"/>
                <a:gd name="T33" fmla="*/ 151 h 151"/>
                <a:gd name="T34" fmla="*/ 937 w 1123"/>
                <a:gd name="T35" fmla="*/ 151 h 151"/>
                <a:gd name="T36" fmla="*/ 920 w 1123"/>
                <a:gd name="T37" fmla="*/ 114 h 151"/>
                <a:gd name="T38" fmla="*/ 964 w 1123"/>
                <a:gd name="T39" fmla="*/ 69 h 151"/>
                <a:gd name="T40" fmla="*/ 998 w 1123"/>
                <a:gd name="T41" fmla="*/ 82 h 151"/>
                <a:gd name="T42" fmla="*/ 1005 w 1123"/>
                <a:gd name="T43" fmla="*/ 92 h 151"/>
                <a:gd name="T44" fmla="*/ 982 w 1123"/>
                <a:gd name="T45" fmla="*/ 103 h 151"/>
                <a:gd name="T46" fmla="*/ 965 w 1123"/>
                <a:gd name="T47" fmla="*/ 89 h 151"/>
                <a:gd name="T48" fmla="*/ 953 w 1123"/>
                <a:gd name="T49" fmla="*/ 94 h 151"/>
                <a:gd name="T50" fmla="*/ 947 w 1123"/>
                <a:gd name="T51" fmla="*/ 113 h 151"/>
                <a:gd name="T52" fmla="*/ 965 w 1123"/>
                <a:gd name="T53" fmla="*/ 137 h 151"/>
                <a:gd name="T54" fmla="*/ 982 w 1123"/>
                <a:gd name="T55" fmla="*/ 123 h 151"/>
                <a:gd name="T56" fmla="*/ 1005 w 1123"/>
                <a:gd name="T57" fmla="*/ 134 h 151"/>
                <a:gd name="T58" fmla="*/ 997 w 1123"/>
                <a:gd name="T59" fmla="*/ 146 h 151"/>
                <a:gd name="T60" fmla="*/ 991 w 1123"/>
                <a:gd name="T61" fmla="*/ 151 h 151"/>
                <a:gd name="T62" fmla="*/ 1016 w 1123"/>
                <a:gd name="T63" fmla="*/ 151 h 151"/>
                <a:gd name="T64" fmla="*/ 1016 w 1123"/>
                <a:gd name="T65" fmla="*/ 72 h 151"/>
                <a:gd name="T66" fmla="*/ 1042 w 1123"/>
                <a:gd name="T67" fmla="*/ 72 h 151"/>
                <a:gd name="T68" fmla="*/ 1042 w 1123"/>
                <a:gd name="T69" fmla="*/ 134 h 151"/>
                <a:gd name="T70" fmla="*/ 1077 w 1123"/>
                <a:gd name="T71" fmla="*/ 134 h 151"/>
                <a:gd name="T72" fmla="*/ 1077 w 1123"/>
                <a:gd name="T73" fmla="*/ 151 h 151"/>
                <a:gd name="T74" fmla="*/ 1123 w 1123"/>
                <a:gd name="T75" fmla="*/ 151 h 151"/>
                <a:gd name="T76" fmla="*/ 1123 w 1123"/>
                <a:gd name="T77" fmla="*/ 0 h 151"/>
                <a:gd name="T78" fmla="*/ 0 w 1123"/>
                <a:gd name="T79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151">
                  <a:moveTo>
                    <a:pt x="0" y="0"/>
                  </a:moveTo>
                  <a:cubicBezTo>
                    <a:pt x="0" y="151"/>
                    <a:pt x="0" y="151"/>
                    <a:pt x="0" y="151"/>
                  </a:cubicBezTo>
                  <a:cubicBezTo>
                    <a:pt x="844" y="151"/>
                    <a:pt x="844" y="151"/>
                    <a:pt x="844" y="151"/>
                  </a:cubicBezTo>
                  <a:cubicBezTo>
                    <a:pt x="843" y="150"/>
                    <a:pt x="842" y="149"/>
                    <a:pt x="841" y="148"/>
                  </a:cubicBezTo>
                  <a:cubicBezTo>
                    <a:pt x="833" y="140"/>
                    <a:pt x="833" y="131"/>
                    <a:pt x="832" y="122"/>
                  </a:cubicBezTo>
                  <a:cubicBezTo>
                    <a:pt x="832" y="72"/>
                    <a:pt x="832" y="72"/>
                    <a:pt x="832" y="72"/>
                  </a:cubicBezTo>
                  <a:cubicBezTo>
                    <a:pt x="859" y="72"/>
                    <a:pt x="859" y="72"/>
                    <a:pt x="859" y="72"/>
                  </a:cubicBezTo>
                  <a:cubicBezTo>
                    <a:pt x="859" y="124"/>
                    <a:pt x="859" y="124"/>
                    <a:pt x="859" y="124"/>
                  </a:cubicBezTo>
                  <a:cubicBezTo>
                    <a:pt x="859" y="128"/>
                    <a:pt x="860" y="132"/>
                    <a:pt x="863" y="135"/>
                  </a:cubicBezTo>
                  <a:cubicBezTo>
                    <a:pt x="865" y="137"/>
                    <a:pt x="868" y="138"/>
                    <a:pt x="871" y="138"/>
                  </a:cubicBezTo>
                  <a:cubicBezTo>
                    <a:pt x="875" y="138"/>
                    <a:pt x="878" y="136"/>
                    <a:pt x="880" y="135"/>
                  </a:cubicBezTo>
                  <a:cubicBezTo>
                    <a:pt x="883" y="132"/>
                    <a:pt x="883" y="128"/>
                    <a:pt x="883" y="124"/>
                  </a:cubicBezTo>
                  <a:cubicBezTo>
                    <a:pt x="883" y="72"/>
                    <a:pt x="883" y="72"/>
                    <a:pt x="883" y="72"/>
                  </a:cubicBezTo>
                  <a:cubicBezTo>
                    <a:pt x="910" y="72"/>
                    <a:pt x="910" y="72"/>
                    <a:pt x="910" y="72"/>
                  </a:cubicBezTo>
                  <a:cubicBezTo>
                    <a:pt x="910" y="117"/>
                    <a:pt x="910" y="117"/>
                    <a:pt x="910" y="117"/>
                  </a:cubicBezTo>
                  <a:cubicBezTo>
                    <a:pt x="910" y="126"/>
                    <a:pt x="910" y="139"/>
                    <a:pt x="900" y="148"/>
                  </a:cubicBezTo>
                  <a:cubicBezTo>
                    <a:pt x="899" y="149"/>
                    <a:pt x="898" y="150"/>
                    <a:pt x="897" y="151"/>
                  </a:cubicBezTo>
                  <a:cubicBezTo>
                    <a:pt x="937" y="151"/>
                    <a:pt x="937" y="151"/>
                    <a:pt x="937" y="151"/>
                  </a:cubicBezTo>
                  <a:cubicBezTo>
                    <a:pt x="925" y="142"/>
                    <a:pt x="920" y="128"/>
                    <a:pt x="920" y="114"/>
                  </a:cubicBezTo>
                  <a:cubicBezTo>
                    <a:pt x="920" y="92"/>
                    <a:pt x="935" y="69"/>
                    <a:pt x="964" y="69"/>
                  </a:cubicBezTo>
                  <a:cubicBezTo>
                    <a:pt x="976" y="69"/>
                    <a:pt x="989" y="73"/>
                    <a:pt x="998" y="82"/>
                  </a:cubicBezTo>
                  <a:cubicBezTo>
                    <a:pt x="1001" y="86"/>
                    <a:pt x="1003" y="89"/>
                    <a:pt x="1005" y="92"/>
                  </a:cubicBezTo>
                  <a:cubicBezTo>
                    <a:pt x="982" y="103"/>
                    <a:pt x="982" y="103"/>
                    <a:pt x="982" y="103"/>
                  </a:cubicBezTo>
                  <a:cubicBezTo>
                    <a:pt x="980" y="98"/>
                    <a:pt x="976" y="89"/>
                    <a:pt x="965" y="89"/>
                  </a:cubicBezTo>
                  <a:cubicBezTo>
                    <a:pt x="959" y="89"/>
                    <a:pt x="955" y="92"/>
                    <a:pt x="953" y="94"/>
                  </a:cubicBezTo>
                  <a:cubicBezTo>
                    <a:pt x="947" y="100"/>
                    <a:pt x="947" y="109"/>
                    <a:pt x="947" y="113"/>
                  </a:cubicBezTo>
                  <a:cubicBezTo>
                    <a:pt x="947" y="125"/>
                    <a:pt x="952" y="137"/>
                    <a:pt x="965" y="137"/>
                  </a:cubicBezTo>
                  <a:cubicBezTo>
                    <a:pt x="977" y="137"/>
                    <a:pt x="981" y="126"/>
                    <a:pt x="982" y="123"/>
                  </a:cubicBezTo>
                  <a:cubicBezTo>
                    <a:pt x="1005" y="134"/>
                    <a:pt x="1005" y="134"/>
                    <a:pt x="1005" y="134"/>
                  </a:cubicBezTo>
                  <a:cubicBezTo>
                    <a:pt x="1003" y="138"/>
                    <a:pt x="1001" y="142"/>
                    <a:pt x="997" y="146"/>
                  </a:cubicBezTo>
                  <a:cubicBezTo>
                    <a:pt x="995" y="148"/>
                    <a:pt x="993" y="150"/>
                    <a:pt x="991" y="151"/>
                  </a:cubicBezTo>
                  <a:cubicBezTo>
                    <a:pt x="1016" y="151"/>
                    <a:pt x="1016" y="151"/>
                    <a:pt x="1016" y="151"/>
                  </a:cubicBezTo>
                  <a:cubicBezTo>
                    <a:pt x="1016" y="72"/>
                    <a:pt x="1016" y="72"/>
                    <a:pt x="1016" y="72"/>
                  </a:cubicBezTo>
                  <a:cubicBezTo>
                    <a:pt x="1042" y="72"/>
                    <a:pt x="1042" y="72"/>
                    <a:pt x="1042" y="72"/>
                  </a:cubicBezTo>
                  <a:cubicBezTo>
                    <a:pt x="1042" y="134"/>
                    <a:pt x="1042" y="134"/>
                    <a:pt x="1042" y="134"/>
                  </a:cubicBezTo>
                  <a:cubicBezTo>
                    <a:pt x="1077" y="134"/>
                    <a:pt x="1077" y="134"/>
                    <a:pt x="1077" y="134"/>
                  </a:cubicBezTo>
                  <a:cubicBezTo>
                    <a:pt x="1077" y="151"/>
                    <a:pt x="1077" y="151"/>
                    <a:pt x="1077" y="151"/>
                  </a:cubicBezTo>
                  <a:cubicBezTo>
                    <a:pt x="1123" y="151"/>
                    <a:pt x="1123" y="151"/>
                    <a:pt x="1123" y="151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420182" y="514785"/>
              <a:ext cx="257986" cy="303133"/>
            </a:xfrm>
            <a:prstGeom prst="rect">
              <a:avLst/>
            </a:prstGeom>
          </p:spPr>
        </p:pic>
      </p:grp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287999" y="288000"/>
            <a:ext cx="5488958" cy="293044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buNone/>
              <a:defRPr sz="1100" baseline="0">
                <a:solidFill>
                  <a:schemeClr val="tx1"/>
                </a:solidFill>
              </a:defRPr>
            </a:lvl1pPr>
            <a:lvl2pPr marL="0" indent="0">
              <a:lnSpc>
                <a:spcPct val="80000"/>
              </a:lnSpc>
              <a:buNone/>
              <a:defRPr sz="1100">
                <a:solidFill>
                  <a:schemeClr val="tx1"/>
                </a:solidFill>
              </a:defRPr>
            </a:lvl2pPr>
            <a:lvl3pPr marL="0" indent="0">
              <a:buNone/>
              <a:defRPr sz="1100">
                <a:solidFill>
                  <a:schemeClr val="tx1"/>
                </a:solidFill>
              </a:defRPr>
            </a:lvl3pPr>
            <a:lvl4pPr marL="0" indent="0">
              <a:buNone/>
              <a:defRPr sz="1100">
                <a:solidFill>
                  <a:schemeClr val="tx1"/>
                </a:solidFill>
              </a:defRPr>
            </a:lvl4pPr>
            <a:lvl5pPr marL="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FACULTY, SCHOOL, DEPARTMENT OR INSTITUTE NAME HERE</a:t>
            </a:r>
          </a:p>
          <a:p>
            <a:pPr lvl="1"/>
            <a:r>
              <a:rPr lang="en-US" dirty="0"/>
              <a:t>SECOND TIER INFORMATION HERE IF NEEDED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in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7999" y="994718"/>
            <a:ext cx="8360242" cy="3745062"/>
          </a:xfrm>
        </p:spPr>
        <p:txBody>
          <a:bodyPr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-1588"/>
            <a:ext cx="9144000" cy="741363"/>
            <a:chOff x="0" y="-1588"/>
            <a:chExt cx="9144000" cy="741363"/>
          </a:xfrm>
          <a:solidFill>
            <a:srgbClr val="D6D2C4"/>
          </a:solidFill>
        </p:grpSpPr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0" y="-1588"/>
              <a:ext cx="9144000" cy="741363"/>
            </a:xfrm>
            <a:custGeom>
              <a:avLst/>
              <a:gdLst>
                <a:gd name="T0" fmla="*/ 0 w 1123"/>
                <a:gd name="T1" fmla="*/ 0 h 90"/>
                <a:gd name="T2" fmla="*/ 0 w 1123"/>
                <a:gd name="T3" fmla="*/ 90 h 90"/>
                <a:gd name="T4" fmla="*/ 957 w 1123"/>
                <a:gd name="T5" fmla="*/ 90 h 90"/>
                <a:gd name="T6" fmla="*/ 955 w 1123"/>
                <a:gd name="T7" fmla="*/ 89 h 90"/>
                <a:gd name="T8" fmla="*/ 949 w 1123"/>
                <a:gd name="T9" fmla="*/ 73 h 90"/>
                <a:gd name="T10" fmla="*/ 949 w 1123"/>
                <a:gd name="T11" fmla="*/ 43 h 90"/>
                <a:gd name="T12" fmla="*/ 966 w 1123"/>
                <a:gd name="T13" fmla="*/ 43 h 90"/>
                <a:gd name="T14" fmla="*/ 966 w 1123"/>
                <a:gd name="T15" fmla="*/ 74 h 90"/>
                <a:gd name="T16" fmla="*/ 967 w 1123"/>
                <a:gd name="T17" fmla="*/ 80 h 90"/>
                <a:gd name="T18" fmla="*/ 973 w 1123"/>
                <a:gd name="T19" fmla="*/ 82 h 90"/>
                <a:gd name="T20" fmla="*/ 978 w 1123"/>
                <a:gd name="T21" fmla="*/ 80 h 90"/>
                <a:gd name="T22" fmla="*/ 980 w 1123"/>
                <a:gd name="T23" fmla="*/ 74 h 90"/>
                <a:gd name="T24" fmla="*/ 980 w 1123"/>
                <a:gd name="T25" fmla="*/ 43 h 90"/>
                <a:gd name="T26" fmla="*/ 996 w 1123"/>
                <a:gd name="T27" fmla="*/ 43 h 90"/>
                <a:gd name="T28" fmla="*/ 996 w 1123"/>
                <a:gd name="T29" fmla="*/ 70 h 90"/>
                <a:gd name="T30" fmla="*/ 990 w 1123"/>
                <a:gd name="T31" fmla="*/ 89 h 90"/>
                <a:gd name="T32" fmla="*/ 988 w 1123"/>
                <a:gd name="T33" fmla="*/ 90 h 90"/>
                <a:gd name="T34" fmla="*/ 1012 w 1123"/>
                <a:gd name="T35" fmla="*/ 90 h 90"/>
                <a:gd name="T36" fmla="*/ 1002 w 1123"/>
                <a:gd name="T37" fmla="*/ 68 h 90"/>
                <a:gd name="T38" fmla="*/ 1028 w 1123"/>
                <a:gd name="T39" fmla="*/ 41 h 90"/>
                <a:gd name="T40" fmla="*/ 1048 w 1123"/>
                <a:gd name="T41" fmla="*/ 49 h 90"/>
                <a:gd name="T42" fmla="*/ 1052 w 1123"/>
                <a:gd name="T43" fmla="*/ 55 h 90"/>
                <a:gd name="T44" fmla="*/ 1039 w 1123"/>
                <a:gd name="T45" fmla="*/ 62 h 90"/>
                <a:gd name="T46" fmla="*/ 1028 w 1123"/>
                <a:gd name="T47" fmla="*/ 53 h 90"/>
                <a:gd name="T48" fmla="*/ 1022 w 1123"/>
                <a:gd name="T49" fmla="*/ 56 h 90"/>
                <a:gd name="T50" fmla="*/ 1018 w 1123"/>
                <a:gd name="T51" fmla="*/ 67 h 90"/>
                <a:gd name="T52" fmla="*/ 1028 w 1123"/>
                <a:gd name="T53" fmla="*/ 82 h 90"/>
                <a:gd name="T54" fmla="*/ 1039 w 1123"/>
                <a:gd name="T55" fmla="*/ 74 h 90"/>
                <a:gd name="T56" fmla="*/ 1052 w 1123"/>
                <a:gd name="T57" fmla="*/ 80 h 90"/>
                <a:gd name="T58" fmla="*/ 1047 w 1123"/>
                <a:gd name="T59" fmla="*/ 87 h 90"/>
                <a:gd name="T60" fmla="*/ 1044 w 1123"/>
                <a:gd name="T61" fmla="*/ 90 h 90"/>
                <a:gd name="T62" fmla="*/ 1059 w 1123"/>
                <a:gd name="T63" fmla="*/ 90 h 90"/>
                <a:gd name="T64" fmla="*/ 1059 w 1123"/>
                <a:gd name="T65" fmla="*/ 43 h 90"/>
                <a:gd name="T66" fmla="*/ 1075 w 1123"/>
                <a:gd name="T67" fmla="*/ 43 h 90"/>
                <a:gd name="T68" fmla="*/ 1075 w 1123"/>
                <a:gd name="T69" fmla="*/ 80 h 90"/>
                <a:gd name="T70" fmla="*/ 1096 w 1123"/>
                <a:gd name="T71" fmla="*/ 80 h 90"/>
                <a:gd name="T72" fmla="*/ 1096 w 1123"/>
                <a:gd name="T73" fmla="*/ 90 h 90"/>
                <a:gd name="T74" fmla="*/ 1123 w 1123"/>
                <a:gd name="T75" fmla="*/ 90 h 90"/>
                <a:gd name="T76" fmla="*/ 1123 w 1123"/>
                <a:gd name="T77" fmla="*/ 0 h 90"/>
                <a:gd name="T78" fmla="*/ 0 w 1123"/>
                <a:gd name="T79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90">
                  <a:moveTo>
                    <a:pt x="0" y="0"/>
                  </a:moveTo>
                  <a:cubicBezTo>
                    <a:pt x="0" y="90"/>
                    <a:pt x="0" y="90"/>
                    <a:pt x="0" y="90"/>
                  </a:cubicBezTo>
                  <a:cubicBezTo>
                    <a:pt x="957" y="90"/>
                    <a:pt x="957" y="90"/>
                    <a:pt x="957" y="90"/>
                  </a:cubicBezTo>
                  <a:cubicBezTo>
                    <a:pt x="956" y="90"/>
                    <a:pt x="955" y="89"/>
                    <a:pt x="955" y="89"/>
                  </a:cubicBezTo>
                  <a:cubicBezTo>
                    <a:pt x="950" y="84"/>
                    <a:pt x="950" y="78"/>
                    <a:pt x="949" y="73"/>
                  </a:cubicBezTo>
                  <a:cubicBezTo>
                    <a:pt x="949" y="43"/>
                    <a:pt x="949" y="43"/>
                    <a:pt x="949" y="43"/>
                  </a:cubicBezTo>
                  <a:cubicBezTo>
                    <a:pt x="966" y="43"/>
                    <a:pt x="966" y="43"/>
                    <a:pt x="966" y="43"/>
                  </a:cubicBezTo>
                  <a:cubicBezTo>
                    <a:pt x="966" y="74"/>
                    <a:pt x="966" y="74"/>
                    <a:pt x="966" y="74"/>
                  </a:cubicBezTo>
                  <a:cubicBezTo>
                    <a:pt x="966" y="76"/>
                    <a:pt x="966" y="79"/>
                    <a:pt x="967" y="80"/>
                  </a:cubicBezTo>
                  <a:cubicBezTo>
                    <a:pt x="969" y="82"/>
                    <a:pt x="971" y="82"/>
                    <a:pt x="973" y="82"/>
                  </a:cubicBezTo>
                  <a:cubicBezTo>
                    <a:pt x="975" y="82"/>
                    <a:pt x="977" y="81"/>
                    <a:pt x="978" y="80"/>
                  </a:cubicBezTo>
                  <a:cubicBezTo>
                    <a:pt x="979" y="79"/>
                    <a:pt x="980" y="76"/>
                    <a:pt x="980" y="74"/>
                  </a:cubicBezTo>
                  <a:cubicBezTo>
                    <a:pt x="980" y="43"/>
                    <a:pt x="980" y="43"/>
                    <a:pt x="980" y="43"/>
                  </a:cubicBezTo>
                  <a:cubicBezTo>
                    <a:pt x="996" y="43"/>
                    <a:pt x="996" y="43"/>
                    <a:pt x="996" y="43"/>
                  </a:cubicBezTo>
                  <a:cubicBezTo>
                    <a:pt x="996" y="70"/>
                    <a:pt x="996" y="70"/>
                    <a:pt x="996" y="70"/>
                  </a:cubicBezTo>
                  <a:cubicBezTo>
                    <a:pt x="996" y="75"/>
                    <a:pt x="996" y="83"/>
                    <a:pt x="990" y="89"/>
                  </a:cubicBezTo>
                  <a:cubicBezTo>
                    <a:pt x="989" y="89"/>
                    <a:pt x="989" y="90"/>
                    <a:pt x="988" y="90"/>
                  </a:cubicBezTo>
                  <a:cubicBezTo>
                    <a:pt x="1012" y="90"/>
                    <a:pt x="1012" y="90"/>
                    <a:pt x="1012" y="90"/>
                  </a:cubicBezTo>
                  <a:cubicBezTo>
                    <a:pt x="1005" y="85"/>
                    <a:pt x="1002" y="76"/>
                    <a:pt x="1002" y="68"/>
                  </a:cubicBezTo>
                  <a:cubicBezTo>
                    <a:pt x="1002" y="55"/>
                    <a:pt x="1011" y="41"/>
                    <a:pt x="1028" y="41"/>
                  </a:cubicBezTo>
                  <a:cubicBezTo>
                    <a:pt x="1035" y="41"/>
                    <a:pt x="1043" y="44"/>
                    <a:pt x="1048" y="49"/>
                  </a:cubicBezTo>
                  <a:cubicBezTo>
                    <a:pt x="1050" y="51"/>
                    <a:pt x="1051" y="53"/>
                    <a:pt x="1052" y="55"/>
                  </a:cubicBezTo>
                  <a:cubicBezTo>
                    <a:pt x="1039" y="62"/>
                    <a:pt x="1039" y="62"/>
                    <a:pt x="1039" y="62"/>
                  </a:cubicBezTo>
                  <a:cubicBezTo>
                    <a:pt x="1038" y="59"/>
                    <a:pt x="1035" y="53"/>
                    <a:pt x="1028" y="53"/>
                  </a:cubicBezTo>
                  <a:cubicBezTo>
                    <a:pt x="1025" y="53"/>
                    <a:pt x="1023" y="55"/>
                    <a:pt x="1022" y="56"/>
                  </a:cubicBezTo>
                  <a:cubicBezTo>
                    <a:pt x="1018" y="60"/>
                    <a:pt x="1018" y="65"/>
                    <a:pt x="1018" y="67"/>
                  </a:cubicBezTo>
                  <a:cubicBezTo>
                    <a:pt x="1018" y="75"/>
                    <a:pt x="1021" y="82"/>
                    <a:pt x="1028" y="82"/>
                  </a:cubicBezTo>
                  <a:cubicBezTo>
                    <a:pt x="1036" y="82"/>
                    <a:pt x="1038" y="75"/>
                    <a:pt x="1039" y="74"/>
                  </a:cubicBezTo>
                  <a:cubicBezTo>
                    <a:pt x="1052" y="80"/>
                    <a:pt x="1052" y="80"/>
                    <a:pt x="1052" y="80"/>
                  </a:cubicBezTo>
                  <a:cubicBezTo>
                    <a:pt x="1051" y="83"/>
                    <a:pt x="1050" y="85"/>
                    <a:pt x="1047" y="87"/>
                  </a:cubicBezTo>
                  <a:cubicBezTo>
                    <a:pt x="1046" y="88"/>
                    <a:pt x="1045" y="89"/>
                    <a:pt x="1044" y="90"/>
                  </a:cubicBezTo>
                  <a:cubicBezTo>
                    <a:pt x="1059" y="90"/>
                    <a:pt x="1059" y="90"/>
                    <a:pt x="1059" y="90"/>
                  </a:cubicBezTo>
                  <a:cubicBezTo>
                    <a:pt x="1059" y="43"/>
                    <a:pt x="1059" y="43"/>
                    <a:pt x="1059" y="43"/>
                  </a:cubicBezTo>
                  <a:cubicBezTo>
                    <a:pt x="1075" y="43"/>
                    <a:pt x="1075" y="43"/>
                    <a:pt x="1075" y="43"/>
                  </a:cubicBezTo>
                  <a:cubicBezTo>
                    <a:pt x="1075" y="80"/>
                    <a:pt x="1075" y="80"/>
                    <a:pt x="1075" y="80"/>
                  </a:cubicBezTo>
                  <a:cubicBezTo>
                    <a:pt x="1096" y="80"/>
                    <a:pt x="1096" y="80"/>
                    <a:pt x="1096" y="80"/>
                  </a:cubicBezTo>
                  <a:cubicBezTo>
                    <a:pt x="1096" y="90"/>
                    <a:pt x="1096" y="90"/>
                    <a:pt x="1096" y="90"/>
                  </a:cubicBezTo>
                  <a:cubicBezTo>
                    <a:pt x="1123" y="90"/>
                    <a:pt x="1123" y="90"/>
                    <a:pt x="1123" y="90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24000" y="360000"/>
              <a:ext cx="147064" cy="172800"/>
            </a:xfrm>
            <a:prstGeom prst="rect">
              <a:avLst/>
            </a:prstGeom>
            <a:noFill/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8DD5319-98C4-F442-B9EB-8016A6DC9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12" y="158892"/>
            <a:ext cx="7886700" cy="580884"/>
          </a:xfrm>
          <a:prstGeom prst="rect">
            <a:avLst/>
          </a:prstGeom>
        </p:spPr>
        <p:txBody>
          <a:bodyPr/>
          <a:lstStyle>
            <a:lvl1pPr>
              <a:defRPr sz="3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749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00742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165187" y="165584"/>
            <a:ext cx="3216840" cy="7049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12700"/>
            <a:endParaRPr lang="en-GB" sz="1000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8303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811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0000" indent="-9000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90000" indent="-9000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90000" indent="-9000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90000" indent="-9000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90000" indent="-9000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00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628650" y="1846935"/>
            <a:ext cx="7886700" cy="1447107"/>
          </a:xfrm>
        </p:spPr>
        <p:txBody>
          <a:bodyPr/>
          <a:lstStyle/>
          <a:p>
            <a:r>
              <a:rPr lang="en-US" sz="4000" dirty="0">
                <a:solidFill>
                  <a:schemeClr val="tx1"/>
                </a:solidFill>
              </a:rPr>
              <a:t>COMP0005 – ALGORITHMS </a:t>
            </a:r>
            <a:br>
              <a:rPr lang="en-US" sz="4000" dirty="0">
                <a:solidFill>
                  <a:schemeClr val="tx1"/>
                </a:solidFill>
              </a:rPr>
            </a:b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chemeClr val="tx1"/>
                </a:solidFill>
              </a:rPr>
              <a:t>1.2 Analysis of Algorithms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628650" y="3891938"/>
            <a:ext cx="7886700" cy="994172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Prof </a:t>
            </a:r>
            <a:r>
              <a:rPr lang="en-US" sz="2000" dirty="0" err="1"/>
              <a:t>Licia</a:t>
            </a:r>
            <a:r>
              <a:rPr lang="en-US" sz="2000" dirty="0"/>
              <a:t> Capra</a:t>
            </a:r>
          </a:p>
          <a:p>
            <a:pPr marL="0" indent="0">
              <a:buNone/>
            </a:pPr>
            <a:r>
              <a:rPr lang="en-US" sz="1600" dirty="0"/>
              <a:t>Dept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3046740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47D97D8A-7838-F041-96A7-00D9D5AB2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12" y="158892"/>
            <a:ext cx="7886700" cy="580884"/>
          </a:xfrm>
        </p:spPr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1769A71-2B24-4C4D-BDD7-DA8985A4086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dirty="0"/>
              <a:t>Steps to developing algorithms</a:t>
            </a:r>
          </a:p>
          <a:p>
            <a:pPr marL="457200" indent="-457200">
              <a:buAutoNum type="arabicPeriod"/>
            </a:pPr>
            <a:r>
              <a:rPr lang="en-US" dirty="0">
                <a:highlight>
                  <a:srgbClr val="D6D2C4"/>
                </a:highlight>
              </a:rPr>
              <a:t>Analysis of algorithms</a:t>
            </a:r>
          </a:p>
          <a:p>
            <a:pPr marL="800100" lvl="1" indent="-457200">
              <a:buFont typeface="Courier New" panose="02070309020205020404" pitchFamily="49" charset="0"/>
              <a:buChar char="o"/>
            </a:pPr>
            <a:r>
              <a:rPr lang="en-US" sz="2000" dirty="0"/>
              <a:t>Observations</a:t>
            </a:r>
          </a:p>
          <a:p>
            <a:pPr marL="800100" lvl="1" indent="-457200">
              <a:buFont typeface="Courier New" panose="02070309020205020404" pitchFamily="49" charset="0"/>
              <a:buChar char="o"/>
            </a:pPr>
            <a:r>
              <a:rPr lang="en-US" sz="2000" dirty="0"/>
              <a:t>Mathematical Models</a:t>
            </a:r>
          </a:p>
          <a:p>
            <a:pPr marL="800100" lvl="1" indent="-457200">
              <a:buFont typeface="Courier New" panose="02070309020205020404" pitchFamily="49" charset="0"/>
              <a:buChar char="o"/>
            </a:pPr>
            <a:r>
              <a:rPr lang="en-US" sz="2000" dirty="0"/>
              <a:t>Order of growth classifications</a:t>
            </a:r>
          </a:p>
          <a:p>
            <a:pPr marL="800100" lvl="1" indent="-457200">
              <a:buFont typeface="Courier New" panose="02070309020205020404" pitchFamily="49" charset="0"/>
              <a:buChar char="o"/>
            </a:pPr>
            <a:endParaRPr lang="en-US" sz="2000" dirty="0"/>
          </a:p>
          <a:p>
            <a:pPr marL="457200" indent="-457200">
              <a:buAutoNum type="arabicPeriod"/>
            </a:pPr>
            <a:r>
              <a:rPr lang="en-US" dirty="0"/>
              <a:t>Abstract Data Types (ADTs)</a:t>
            </a:r>
          </a:p>
        </p:txBody>
      </p:sp>
    </p:spTree>
    <p:extLst>
      <p:ext uri="{BB962C8B-B14F-4D97-AF65-F5344CB8AC3E}">
        <p14:creationId xmlns:p14="http://schemas.microsoft.com/office/powerpoint/2010/main" val="3543766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E7BEBB6-D489-C242-ABEB-117E13FC2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12" y="158892"/>
            <a:ext cx="7886700" cy="580884"/>
          </a:xfrm>
        </p:spPr>
        <p:txBody>
          <a:bodyPr/>
          <a:lstStyle/>
          <a:p>
            <a:r>
              <a:rPr lang="en-US" dirty="0"/>
              <a:t>ANALYSIS - OBSERVATIONS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8C0689-A34F-6845-9821-019028A99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Example - </a:t>
            </a:r>
            <a:r>
              <a:rPr lang="en-US" dirty="0" err="1"/>
              <a:t>Bubblesort</a:t>
            </a:r>
            <a:endParaRPr lang="en-US" dirty="0"/>
          </a:p>
        </p:txBody>
      </p:sp>
      <p:pic>
        <p:nvPicPr>
          <p:cNvPr id="5" name="Picture 4" descr="pseudocode of bubblesort">
            <a:extLst>
              <a:ext uri="{FF2B5EF4-FFF2-40B4-BE49-F238E27FC236}">
                <a16:creationId xmlns:a16="http://schemas.microsoft.com/office/drawing/2014/main" id="{BEE29F3E-D195-EB42-9406-A486570BD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999" y="1516693"/>
            <a:ext cx="5397500" cy="2755900"/>
          </a:xfrm>
          <a:prstGeom prst="rect">
            <a:avLst/>
          </a:prstGeom>
          <a:ln w="25400">
            <a:solidFill>
              <a:srgbClr val="D6D2C4"/>
            </a:solidFill>
          </a:ln>
        </p:spPr>
      </p:pic>
      <p:pic>
        <p:nvPicPr>
          <p:cNvPr id="7" name="Picture 6" descr="pseudocode for timing bubblesort">
            <a:extLst>
              <a:ext uri="{FF2B5EF4-FFF2-40B4-BE49-F238E27FC236}">
                <a16:creationId xmlns:a16="http://schemas.microsoft.com/office/drawing/2014/main" id="{F9407483-42CA-C144-8388-C111ED793D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999" y="4479430"/>
            <a:ext cx="2527300" cy="520700"/>
          </a:xfrm>
          <a:prstGeom prst="rect">
            <a:avLst/>
          </a:prstGeom>
          <a:ln w="19050">
            <a:solidFill>
              <a:srgbClr val="D6D2C4"/>
            </a:solidFill>
          </a:ln>
        </p:spPr>
      </p:pic>
    </p:spTree>
    <p:extLst>
      <p:ext uri="{BB962C8B-B14F-4D97-AF65-F5344CB8AC3E}">
        <p14:creationId xmlns:p14="http://schemas.microsoft.com/office/powerpoint/2010/main" val="225928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C51DDAE2-272B-4147-941F-2F2F99DAD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12" y="158892"/>
            <a:ext cx="7886700" cy="580884"/>
          </a:xfrm>
        </p:spPr>
        <p:txBody>
          <a:bodyPr/>
          <a:lstStyle/>
          <a:p>
            <a:r>
              <a:rPr lang="en-US" dirty="0"/>
              <a:t>ANALYSIS - OBSERVATIONS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8C0689-A34F-6845-9821-019028A99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Example - </a:t>
            </a:r>
            <a:r>
              <a:rPr lang="en-US" dirty="0" err="1"/>
              <a:t>Bubblesort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4C2E3CE-9792-AC48-9A5B-60485924CA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0339241"/>
              </p:ext>
            </p:extLst>
          </p:nvPr>
        </p:nvGraphicFramePr>
        <p:xfrm>
          <a:off x="399393" y="1644650"/>
          <a:ext cx="2984938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625">
                  <a:extLst>
                    <a:ext uri="{9D8B030D-6E8A-4147-A177-3AD203B41FA5}">
                      <a16:colId xmlns:a16="http://schemas.microsoft.com/office/drawing/2014/main" val="433901345"/>
                    </a:ext>
                  </a:extLst>
                </a:gridCol>
                <a:gridCol w="1584313">
                  <a:extLst>
                    <a:ext uri="{9D8B030D-6E8A-4147-A177-3AD203B41FA5}">
                      <a16:colId xmlns:a16="http://schemas.microsoft.com/office/drawing/2014/main" val="14768465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 (seconds)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4802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3927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0.0241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721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0.1079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3886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2.4596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2057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10,000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9.9533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813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15,000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23.2191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6269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20,000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42.6870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7476196"/>
                  </a:ext>
                </a:extLst>
              </a:tr>
            </a:tbl>
          </a:graphicData>
        </a:graphic>
      </p:graphicFrame>
      <p:pic>
        <p:nvPicPr>
          <p:cNvPr id="7" name="Picture 6" descr="chart showing quadratic increase of running time as problem size increases">
            <a:extLst>
              <a:ext uri="{FF2B5EF4-FFF2-40B4-BE49-F238E27FC236}">
                <a16:creationId xmlns:a16="http://schemas.microsoft.com/office/drawing/2014/main" id="{BDD8150D-4012-AF41-A2B4-607D661BC6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4647" y="1693451"/>
            <a:ext cx="3853077" cy="2869117"/>
          </a:xfrm>
          <a:prstGeom prst="rect">
            <a:avLst/>
          </a:prstGeom>
          <a:ln w="19050">
            <a:solidFill>
              <a:srgbClr val="D6D2C4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D825ABD-8965-124F-A986-B6095AE28CAA}"/>
              </a:ext>
            </a:extLst>
          </p:cNvPr>
          <p:cNvSpPr txBox="1"/>
          <p:nvPr/>
        </p:nvSpPr>
        <p:spPr>
          <a:xfrm>
            <a:off x="5451733" y="4562568"/>
            <a:ext cx="1378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highlight>
                  <a:srgbClr val="D6D2C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problem size 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CC09A5-5047-EB47-A90D-4AFCFD66DAAC}"/>
              </a:ext>
            </a:extLst>
          </p:cNvPr>
          <p:cNvSpPr txBox="1"/>
          <p:nvPr/>
        </p:nvSpPr>
        <p:spPr>
          <a:xfrm rot="16200000">
            <a:off x="3266617" y="2974120"/>
            <a:ext cx="15728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highlight>
                  <a:srgbClr val="D6D2C4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running time T(N)</a:t>
            </a:r>
          </a:p>
        </p:txBody>
      </p:sp>
    </p:spTree>
    <p:extLst>
      <p:ext uri="{BB962C8B-B14F-4D97-AF65-F5344CB8AC3E}">
        <p14:creationId xmlns:p14="http://schemas.microsoft.com/office/powerpoint/2010/main" val="3527886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C5555D49-7AE2-7A4B-8F68-6BF390230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12" y="158892"/>
            <a:ext cx="7886700" cy="580884"/>
          </a:xfrm>
        </p:spPr>
        <p:txBody>
          <a:bodyPr/>
          <a:lstStyle/>
          <a:p>
            <a:r>
              <a:rPr lang="en-US" dirty="0"/>
              <a:t>ANALYSIS - OBSERVATIONS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8C0689-A34F-6845-9821-019028A99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System independent </a:t>
            </a:r>
            <a:r>
              <a:rPr lang="en-US" dirty="0"/>
              <a:t>factors</a:t>
            </a:r>
          </a:p>
          <a:p>
            <a:pPr marL="685800" lvl="1" indent="-342900">
              <a:buFont typeface="Courier New" panose="02070309020205020404" pitchFamily="49" charset="0"/>
              <a:buChar char="o"/>
            </a:pPr>
            <a:r>
              <a:rPr lang="en-US" sz="2000" dirty="0"/>
              <a:t>Algorithm</a:t>
            </a:r>
          </a:p>
          <a:p>
            <a:pPr marL="685800" lvl="1" indent="-342900">
              <a:buFont typeface="Courier New" panose="02070309020205020404" pitchFamily="49" charset="0"/>
              <a:buChar char="o"/>
            </a:pPr>
            <a:r>
              <a:rPr lang="en-US" sz="2000" dirty="0"/>
              <a:t>Input data</a:t>
            </a:r>
          </a:p>
          <a:p>
            <a:endParaRPr lang="en-US" dirty="0"/>
          </a:p>
          <a:p>
            <a:r>
              <a:rPr lang="en-US" dirty="0">
                <a:highlight>
                  <a:srgbClr val="C0C0C0"/>
                </a:highlight>
              </a:rPr>
              <a:t>System dependent </a:t>
            </a:r>
            <a:r>
              <a:rPr lang="en-US" dirty="0"/>
              <a:t>factors</a:t>
            </a:r>
          </a:p>
          <a:p>
            <a:pPr marL="685800" lvl="1" indent="-342900">
              <a:buFont typeface="Courier New" panose="02070309020205020404" pitchFamily="49" charset="0"/>
              <a:buChar char="o"/>
            </a:pPr>
            <a:r>
              <a:rPr lang="en-US" sz="2000" dirty="0"/>
              <a:t>Hardware (CPU, memory, cache,…)</a:t>
            </a:r>
          </a:p>
          <a:p>
            <a:pPr marL="685800" lvl="1" indent="-342900">
              <a:buFont typeface="Courier New" panose="02070309020205020404" pitchFamily="49" charset="0"/>
              <a:buChar char="o"/>
            </a:pPr>
            <a:r>
              <a:rPr lang="en-US" sz="2000" dirty="0"/>
              <a:t>Software (programming language, compiler, …)</a:t>
            </a:r>
          </a:p>
          <a:p>
            <a:pPr marL="685800" lvl="1" indent="-342900">
              <a:buFont typeface="Courier New" panose="02070309020205020404" pitchFamily="49" charset="0"/>
              <a:buChar char="o"/>
            </a:pPr>
            <a:r>
              <a:rPr lang="en-US" sz="2000" dirty="0"/>
              <a:t>System (operating system, other running apps, …)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264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C1C709C5-20B0-C949-94F1-8AFB8992F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12" y="158892"/>
            <a:ext cx="7886700" cy="580884"/>
          </a:xfrm>
        </p:spPr>
        <p:txBody>
          <a:bodyPr/>
          <a:lstStyle/>
          <a:p>
            <a:r>
              <a:rPr lang="en-US" dirty="0"/>
              <a:t>ANALYSIS – MATH MODELS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8C0689-A34F-6845-9821-019028A99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Total running time: sum of </a:t>
            </a:r>
            <a:r>
              <a:rPr lang="en-US" dirty="0">
                <a:highlight>
                  <a:srgbClr val="D6D2C4"/>
                </a:highlight>
              </a:rPr>
              <a:t>cost</a:t>
            </a:r>
            <a:r>
              <a:rPr lang="en-US" dirty="0"/>
              <a:t> x </a:t>
            </a:r>
            <a:r>
              <a:rPr lang="en-US" dirty="0">
                <a:highlight>
                  <a:srgbClr val="D6D2C4"/>
                </a:highlight>
              </a:rPr>
              <a:t>frequency</a:t>
            </a:r>
            <a:r>
              <a:rPr lang="en-US" dirty="0"/>
              <a:t> of all operations</a:t>
            </a:r>
          </a:p>
          <a:p>
            <a:pPr marL="6858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highlight>
                  <a:srgbClr val="D6D2C4"/>
                </a:highlight>
              </a:rPr>
              <a:t>Cost</a:t>
            </a:r>
            <a:r>
              <a:rPr lang="en-US" sz="2000" dirty="0"/>
              <a:t> of operation depends on machine and compiler</a:t>
            </a:r>
          </a:p>
          <a:p>
            <a:pPr marL="6858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highlight>
                  <a:srgbClr val="D6D2C4"/>
                </a:highlight>
              </a:rPr>
              <a:t>Frequency</a:t>
            </a:r>
            <a:r>
              <a:rPr lang="en-US" sz="2000" dirty="0"/>
              <a:t> depends on algorithm and input data</a:t>
            </a:r>
          </a:p>
        </p:txBody>
      </p:sp>
    </p:spTree>
    <p:extLst>
      <p:ext uri="{BB962C8B-B14F-4D97-AF65-F5344CB8AC3E}">
        <p14:creationId xmlns:p14="http://schemas.microsoft.com/office/powerpoint/2010/main" val="2688524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8DE871D5-88C1-C848-8CA8-7913B0307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12" y="158892"/>
            <a:ext cx="7886700" cy="580884"/>
          </a:xfrm>
        </p:spPr>
        <p:txBody>
          <a:bodyPr/>
          <a:lstStyle/>
          <a:p>
            <a:r>
              <a:rPr lang="en-US" dirty="0"/>
              <a:t>ANALYSIS – MATH MODELS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8C0689-A34F-6845-9821-019028A99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Example - </a:t>
            </a:r>
            <a:r>
              <a:rPr lang="en-US" dirty="0">
                <a:highlight>
                  <a:srgbClr val="D6D2C4"/>
                </a:highlight>
              </a:rPr>
              <a:t>Cost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797DB32-B8E2-8342-8145-27E3E3DBF7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9880320"/>
              </p:ext>
            </p:extLst>
          </p:nvPr>
        </p:nvGraphicFramePr>
        <p:xfrm>
          <a:off x="211431" y="1632826"/>
          <a:ext cx="4256689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72813510"/>
                    </a:ext>
                  </a:extLst>
                </a:gridCol>
                <a:gridCol w="1004266">
                  <a:extLst>
                    <a:ext uri="{9D8B030D-6E8A-4147-A177-3AD203B41FA5}">
                      <a16:colId xmlns:a16="http://schemas.microsoft.com/office/drawing/2014/main" val="1465682948"/>
                    </a:ext>
                  </a:extLst>
                </a:gridCol>
                <a:gridCol w="1220423">
                  <a:extLst>
                    <a:ext uri="{9D8B030D-6E8A-4147-A177-3AD203B41FA5}">
                      <a16:colId xmlns:a16="http://schemas.microsoft.com/office/drawing/2014/main" val="1311589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Basic Operation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Nanoseconds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639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Integer add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a+b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479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Integer multiply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a*b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475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Integer divide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a/b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4902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Floating-point add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a+b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5969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Floating-point multiply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a*b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2423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Floating-point divide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a/b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981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math.sin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91.3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4514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195135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D5BB676-42E7-9E4E-851F-2B5C95B342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5042950"/>
              </p:ext>
            </p:extLst>
          </p:nvPr>
        </p:nvGraphicFramePr>
        <p:xfrm>
          <a:off x="4675882" y="1632826"/>
          <a:ext cx="4256689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72813510"/>
                    </a:ext>
                  </a:extLst>
                </a:gridCol>
                <a:gridCol w="921406">
                  <a:extLst>
                    <a:ext uri="{9D8B030D-6E8A-4147-A177-3AD203B41FA5}">
                      <a16:colId xmlns:a16="http://schemas.microsoft.com/office/drawing/2014/main" val="1465682948"/>
                    </a:ext>
                  </a:extLst>
                </a:gridCol>
                <a:gridCol w="1303283">
                  <a:extLst>
                    <a:ext uri="{9D8B030D-6E8A-4147-A177-3AD203B41FA5}">
                      <a16:colId xmlns:a16="http://schemas.microsoft.com/office/drawing/2014/main" val="1311589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Basic Operation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Nanoseconds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639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 declaration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475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Assignment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stmt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a=b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693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Integer comparison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a&lt;b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4902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Array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a[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5969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1D array allocation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int[N]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c4*N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2423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2D array allocation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int[N][N]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c5*N</a:t>
                      </a:r>
                      <a:r>
                        <a:rPr lang="en-US" sz="1200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981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String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concat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s+t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c6*N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516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45147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8402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78DB3725-64AF-F648-879A-288243A30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12" y="158892"/>
            <a:ext cx="7886700" cy="580884"/>
          </a:xfrm>
        </p:spPr>
        <p:txBody>
          <a:bodyPr/>
          <a:lstStyle/>
          <a:p>
            <a:r>
              <a:rPr lang="en-US" dirty="0"/>
              <a:t>ANALYSIS – MATH MODELS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8C0689-A34F-6845-9821-019028A99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Example – </a:t>
            </a:r>
            <a:r>
              <a:rPr lang="en-US" dirty="0">
                <a:highlight>
                  <a:srgbClr val="D6D2C4"/>
                </a:highlight>
              </a:rPr>
              <a:t>Frequency</a:t>
            </a:r>
          </a:p>
          <a:p>
            <a:endParaRPr lang="en-US" sz="2000" dirty="0"/>
          </a:p>
          <a:p>
            <a:r>
              <a:rPr lang="en-US" sz="2000" dirty="0"/>
              <a:t>Question: how many instructions as a function of input size N?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E17C9E-EE9F-F748-A2A4-5B6AD8A401E8}"/>
              </a:ext>
            </a:extLst>
          </p:cNvPr>
          <p:cNvSpPr txBox="1"/>
          <p:nvPr/>
        </p:nvSpPr>
        <p:spPr>
          <a:xfrm>
            <a:off x="399394" y="2553631"/>
            <a:ext cx="2440092" cy="954107"/>
          </a:xfrm>
          <a:prstGeom prst="rect">
            <a:avLst/>
          </a:prstGeom>
          <a:noFill/>
          <a:ln w="19050">
            <a:solidFill>
              <a:srgbClr val="D6D2C4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</a:rPr>
              <a:t>count=0</a:t>
            </a:r>
          </a:p>
          <a:p>
            <a:r>
              <a:rPr lang="en-US" sz="1400" dirty="0">
                <a:latin typeface="Courier" pitchFamily="2" charset="0"/>
              </a:rPr>
              <a:t>for </a:t>
            </a:r>
            <a:r>
              <a:rPr lang="en-US" sz="1400" dirty="0" err="1">
                <a:latin typeface="Courier" pitchFamily="2" charset="0"/>
              </a:rPr>
              <a:t>i</a:t>
            </a:r>
            <a:r>
              <a:rPr lang="en-US" sz="1400" dirty="0">
                <a:latin typeface="Courier" pitchFamily="2" charset="0"/>
              </a:rPr>
              <a:t> in range(N):</a:t>
            </a:r>
          </a:p>
          <a:p>
            <a:r>
              <a:rPr lang="en-US" sz="1400" dirty="0">
                <a:latin typeface="Courier" pitchFamily="2" charset="0"/>
              </a:rPr>
              <a:t>    if a[</a:t>
            </a:r>
            <a:r>
              <a:rPr lang="en-US" sz="1400" dirty="0" err="1">
                <a:latin typeface="Courier" pitchFamily="2" charset="0"/>
              </a:rPr>
              <a:t>i</a:t>
            </a:r>
            <a:r>
              <a:rPr lang="en-US" sz="1400" dirty="0">
                <a:latin typeface="Courier" pitchFamily="2" charset="0"/>
              </a:rPr>
              <a:t>]==0:</a:t>
            </a:r>
          </a:p>
          <a:p>
            <a:r>
              <a:rPr lang="en-US" sz="1400" dirty="0">
                <a:latin typeface="Courier" pitchFamily="2" charset="0"/>
              </a:rPr>
              <a:t>        count+=1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5ECB55-FFD3-1847-8093-AF25392FF896}"/>
              </a:ext>
            </a:extLst>
          </p:cNvPr>
          <p:cNvSpPr txBox="1"/>
          <p:nvPr/>
        </p:nvSpPr>
        <p:spPr>
          <a:xfrm>
            <a:off x="399394" y="3884198"/>
            <a:ext cx="2654894" cy="954107"/>
          </a:xfrm>
          <a:prstGeom prst="rect">
            <a:avLst/>
          </a:prstGeom>
          <a:noFill/>
          <a:ln w="19050">
            <a:solidFill>
              <a:srgbClr val="D6D2C4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</a:rPr>
              <a:t>int count=0;</a:t>
            </a:r>
          </a:p>
          <a:p>
            <a:r>
              <a:rPr lang="en-US" sz="1400" dirty="0">
                <a:latin typeface="Courier" pitchFamily="2" charset="0"/>
              </a:rPr>
              <a:t>for (int </a:t>
            </a:r>
            <a:r>
              <a:rPr lang="en-US" sz="1400" dirty="0" err="1">
                <a:latin typeface="Courier" pitchFamily="2" charset="0"/>
              </a:rPr>
              <a:t>i</a:t>
            </a:r>
            <a:r>
              <a:rPr lang="en-US" sz="1400" dirty="0">
                <a:latin typeface="Courier" pitchFamily="2" charset="0"/>
              </a:rPr>
              <a:t>=0; </a:t>
            </a:r>
            <a:r>
              <a:rPr lang="en-US" sz="1400" dirty="0" err="1">
                <a:latin typeface="Courier" pitchFamily="2" charset="0"/>
              </a:rPr>
              <a:t>i</a:t>
            </a:r>
            <a:r>
              <a:rPr lang="en-US" sz="1400" dirty="0">
                <a:latin typeface="Courier" pitchFamily="2" charset="0"/>
              </a:rPr>
              <a:t>&lt;N; </a:t>
            </a:r>
            <a:r>
              <a:rPr lang="en-US" sz="1400" dirty="0" err="1">
                <a:latin typeface="Courier" pitchFamily="2" charset="0"/>
              </a:rPr>
              <a:t>i</a:t>
            </a:r>
            <a:r>
              <a:rPr lang="en-US" sz="1400" dirty="0">
                <a:latin typeface="Courier" pitchFamily="2" charset="0"/>
              </a:rPr>
              <a:t>++)</a:t>
            </a:r>
          </a:p>
          <a:p>
            <a:r>
              <a:rPr lang="en-US" sz="1400" dirty="0">
                <a:latin typeface="Courier" pitchFamily="2" charset="0"/>
              </a:rPr>
              <a:t>    if (a[</a:t>
            </a:r>
            <a:r>
              <a:rPr lang="en-US" sz="1400" dirty="0" err="1">
                <a:latin typeface="Courier" pitchFamily="2" charset="0"/>
              </a:rPr>
              <a:t>i</a:t>
            </a:r>
            <a:r>
              <a:rPr lang="en-US" sz="1400" dirty="0">
                <a:latin typeface="Courier" pitchFamily="2" charset="0"/>
              </a:rPr>
              <a:t>]==0)</a:t>
            </a:r>
          </a:p>
          <a:p>
            <a:r>
              <a:rPr lang="en-US" sz="1400" dirty="0">
                <a:latin typeface="Courier" pitchFamily="2" charset="0"/>
              </a:rPr>
              <a:t>        count=count+1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55EC9C9-0FC8-CC42-9B77-82693D8D3E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4" idx="2"/>
          </p:cNvCxnSpPr>
          <p:nvPr/>
        </p:nvCxnSpPr>
        <p:spPr>
          <a:xfrm>
            <a:off x="1619440" y="3507738"/>
            <a:ext cx="0" cy="376460"/>
          </a:xfrm>
          <a:prstGeom prst="straightConnector1">
            <a:avLst/>
          </a:prstGeom>
          <a:ln w="12700">
            <a:solidFill>
              <a:srgbClr val="D6D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069879F-C693-C849-8B69-DB7E098303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2873972"/>
              </p:ext>
            </p:extLst>
          </p:nvPr>
        </p:nvGraphicFramePr>
        <p:xfrm>
          <a:off x="4468120" y="2242425"/>
          <a:ext cx="2808788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8264">
                  <a:extLst>
                    <a:ext uri="{9D8B030D-6E8A-4147-A177-3AD203B41FA5}">
                      <a16:colId xmlns:a16="http://schemas.microsoft.com/office/drawing/2014/main" val="2163334751"/>
                    </a:ext>
                  </a:extLst>
                </a:gridCol>
                <a:gridCol w="1040524">
                  <a:extLst>
                    <a:ext uri="{9D8B030D-6E8A-4147-A177-3AD203B41FA5}">
                      <a16:colId xmlns:a16="http://schemas.microsoft.com/office/drawing/2014/main" val="18359951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Frequency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443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 declaration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2456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Assignment </a:t>
                      </a:r>
                      <a:r>
                        <a:rPr lang="en-US" sz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stmt</a:t>
                      </a:r>
                      <a:endParaRPr lang="en-US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246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Less-than compare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N+1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5076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Equal-to compare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4407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Array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5101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Increment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 to 2*N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3657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0123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180F08E7-1EAC-C04E-ADF4-F9C305714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12" y="158892"/>
            <a:ext cx="7886700" cy="580884"/>
          </a:xfrm>
        </p:spPr>
        <p:txBody>
          <a:bodyPr/>
          <a:lstStyle/>
          <a:p>
            <a:r>
              <a:rPr lang="en-US" dirty="0"/>
              <a:t>ANALYSIS – MATH MODELS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8C0689-A34F-6845-9821-019028A99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Example – </a:t>
            </a:r>
            <a:r>
              <a:rPr lang="en-US" dirty="0">
                <a:highlight>
                  <a:srgbClr val="D6D2C4"/>
                </a:highlight>
              </a:rPr>
              <a:t>Frequency</a:t>
            </a:r>
          </a:p>
          <a:p>
            <a:endParaRPr lang="en-US" sz="2000" dirty="0"/>
          </a:p>
          <a:p>
            <a:r>
              <a:rPr lang="en-US" sz="2000" dirty="0"/>
              <a:t>Question: how many instructions as a function of input size N?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45612E-CD77-2B4A-90AD-D134B30128EB}"/>
              </a:ext>
            </a:extLst>
          </p:cNvPr>
          <p:cNvSpPr txBox="1"/>
          <p:nvPr/>
        </p:nvSpPr>
        <p:spPr>
          <a:xfrm>
            <a:off x="399394" y="2300973"/>
            <a:ext cx="3363421" cy="1169551"/>
          </a:xfrm>
          <a:prstGeom prst="rect">
            <a:avLst/>
          </a:prstGeom>
          <a:noFill/>
          <a:ln w="19050">
            <a:solidFill>
              <a:srgbClr val="D6D2C4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</a:rPr>
              <a:t>count=0</a:t>
            </a:r>
          </a:p>
          <a:p>
            <a:r>
              <a:rPr lang="en-US" sz="1400" dirty="0">
                <a:latin typeface="Courier" pitchFamily="2" charset="0"/>
              </a:rPr>
              <a:t>for </a:t>
            </a:r>
            <a:r>
              <a:rPr lang="en-US" sz="1400" dirty="0" err="1">
                <a:latin typeface="Courier" pitchFamily="2" charset="0"/>
              </a:rPr>
              <a:t>i</a:t>
            </a:r>
            <a:r>
              <a:rPr lang="en-US" sz="1400" dirty="0">
                <a:latin typeface="Courier" pitchFamily="2" charset="0"/>
              </a:rPr>
              <a:t> in range(0,N):</a:t>
            </a:r>
          </a:p>
          <a:p>
            <a:r>
              <a:rPr lang="en-US" sz="1400" dirty="0">
                <a:latin typeface="Courier" pitchFamily="2" charset="0"/>
              </a:rPr>
              <a:t>    for j in range(i+1,N):</a:t>
            </a:r>
          </a:p>
          <a:p>
            <a:r>
              <a:rPr lang="en-US" sz="1400" dirty="0">
                <a:latin typeface="Courier" pitchFamily="2" charset="0"/>
              </a:rPr>
              <a:t>        if </a:t>
            </a:r>
            <a:r>
              <a:rPr lang="en-US" sz="1400" b="1" dirty="0">
                <a:solidFill>
                  <a:srgbClr val="FF0000"/>
                </a:solidFill>
                <a:latin typeface="Courier" pitchFamily="2" charset="0"/>
              </a:rPr>
              <a:t>a[</a:t>
            </a:r>
            <a:r>
              <a:rPr lang="en-US" sz="1400" b="1" dirty="0" err="1">
                <a:solidFill>
                  <a:srgbClr val="FF0000"/>
                </a:solidFill>
                <a:latin typeface="Courier" pitchFamily="2" charset="0"/>
              </a:rPr>
              <a:t>i</a:t>
            </a:r>
            <a:r>
              <a:rPr lang="en-US" sz="1400" b="1" dirty="0">
                <a:solidFill>
                  <a:srgbClr val="FF0000"/>
                </a:solidFill>
                <a:latin typeface="Courier" pitchFamily="2" charset="0"/>
              </a:rPr>
              <a:t>]+a[j]</a:t>
            </a:r>
            <a:r>
              <a:rPr lang="en-US" sz="1400" dirty="0">
                <a:latin typeface="Courier" pitchFamily="2" charset="0"/>
              </a:rPr>
              <a:t>==0:</a:t>
            </a:r>
          </a:p>
          <a:p>
            <a:r>
              <a:rPr lang="en-US" sz="1400" dirty="0">
                <a:latin typeface="Courier" pitchFamily="2" charset="0"/>
              </a:rPr>
              <a:t>	        count=count+1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479B33-6D4C-3041-9DF4-016BF5B45A55}"/>
              </a:ext>
            </a:extLst>
          </p:cNvPr>
          <p:cNvSpPr txBox="1"/>
          <p:nvPr/>
        </p:nvSpPr>
        <p:spPr>
          <a:xfrm>
            <a:off x="399394" y="3655171"/>
            <a:ext cx="29145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2*(number of times I execute inner loop)</a:t>
            </a:r>
          </a:p>
          <a:p>
            <a:pPr lvl="1"/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=0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N-1</a:t>
            </a:r>
          </a:p>
          <a:p>
            <a:pPr lvl="1"/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=1N-2</a:t>
            </a:r>
          </a:p>
          <a:p>
            <a:pPr lvl="1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…</a:t>
            </a:r>
          </a:p>
          <a:p>
            <a:pPr lvl="1"/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=N0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2* (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(N-1)+(N-2)+..+0)=N(N-1)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377D3B5-761C-214F-A6AB-3B86095A18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1607108"/>
              </p:ext>
            </p:extLst>
          </p:nvPr>
        </p:nvGraphicFramePr>
        <p:xfrm>
          <a:off x="4468118" y="2242425"/>
          <a:ext cx="4387865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8503">
                  <a:extLst>
                    <a:ext uri="{9D8B030D-6E8A-4147-A177-3AD203B41FA5}">
                      <a16:colId xmlns:a16="http://schemas.microsoft.com/office/drawing/2014/main" val="2163334751"/>
                    </a:ext>
                  </a:extLst>
                </a:gridCol>
                <a:gridCol w="2129362">
                  <a:extLst>
                    <a:ext uri="{9D8B030D-6E8A-4147-A177-3AD203B41FA5}">
                      <a16:colId xmlns:a16="http://schemas.microsoft.com/office/drawing/2014/main" val="18359951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Frequency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443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 declaration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2+N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2456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Assignment </a:t>
                      </a:r>
                      <a:r>
                        <a:rPr lang="en-US" sz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stmt</a:t>
                      </a:r>
                      <a:endParaRPr lang="en-US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2+N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246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Less-than compare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5076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Equal-to compare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4407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Array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N(N-1)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5101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Increment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3657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2153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77717715-C8AC-9645-830A-52BF08FD3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12" y="158892"/>
            <a:ext cx="7886700" cy="580884"/>
          </a:xfrm>
        </p:spPr>
        <p:txBody>
          <a:bodyPr/>
          <a:lstStyle/>
          <a:p>
            <a:r>
              <a:rPr lang="en-US" dirty="0"/>
              <a:t>ANALYSIS – MATH MODELS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8C0689-A34F-6845-9821-019028A99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Example – </a:t>
            </a:r>
            <a:r>
              <a:rPr lang="en-US" dirty="0">
                <a:highlight>
                  <a:srgbClr val="D6D2C4"/>
                </a:highlight>
              </a:rPr>
              <a:t>All operations</a:t>
            </a:r>
          </a:p>
          <a:p>
            <a:endParaRPr lang="en-US" sz="2000" dirty="0"/>
          </a:p>
          <a:p>
            <a:r>
              <a:rPr lang="en-US" sz="2000" dirty="0"/>
              <a:t>Question: how many instructions as a function of input size N?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45612E-CD77-2B4A-90AD-D134B30128EB}"/>
              </a:ext>
            </a:extLst>
          </p:cNvPr>
          <p:cNvSpPr txBox="1"/>
          <p:nvPr/>
        </p:nvSpPr>
        <p:spPr>
          <a:xfrm>
            <a:off x="399394" y="2300973"/>
            <a:ext cx="3363421" cy="1169551"/>
          </a:xfrm>
          <a:prstGeom prst="rect">
            <a:avLst/>
          </a:prstGeom>
          <a:noFill/>
          <a:ln w="19050">
            <a:solidFill>
              <a:srgbClr val="D6D2C4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</a:rPr>
              <a:t>count=0</a:t>
            </a:r>
          </a:p>
          <a:p>
            <a:r>
              <a:rPr lang="en-US" sz="1400" dirty="0">
                <a:latin typeface="Courier" pitchFamily="2" charset="0"/>
              </a:rPr>
              <a:t>for </a:t>
            </a:r>
            <a:r>
              <a:rPr lang="en-US" sz="1400" dirty="0" err="1">
                <a:latin typeface="Courier" pitchFamily="2" charset="0"/>
              </a:rPr>
              <a:t>i</a:t>
            </a:r>
            <a:r>
              <a:rPr lang="en-US" sz="1400" dirty="0">
                <a:latin typeface="Courier" pitchFamily="2" charset="0"/>
              </a:rPr>
              <a:t> in range(0,N):</a:t>
            </a:r>
          </a:p>
          <a:p>
            <a:r>
              <a:rPr lang="en-US" sz="1400" dirty="0">
                <a:latin typeface="Courier" pitchFamily="2" charset="0"/>
              </a:rPr>
              <a:t>    for j in range(i+1,N):</a:t>
            </a:r>
          </a:p>
          <a:p>
            <a:r>
              <a:rPr lang="en-US" sz="1400" dirty="0">
                <a:latin typeface="Courier" pitchFamily="2" charset="0"/>
              </a:rPr>
              <a:t>        if a[</a:t>
            </a:r>
            <a:r>
              <a:rPr lang="en-US" sz="1400" dirty="0" err="1">
                <a:latin typeface="Courier" pitchFamily="2" charset="0"/>
              </a:rPr>
              <a:t>i</a:t>
            </a:r>
            <a:r>
              <a:rPr lang="en-US" sz="1400" dirty="0">
                <a:latin typeface="Courier" pitchFamily="2" charset="0"/>
              </a:rPr>
              <a:t>]+a[j]==0:</a:t>
            </a:r>
          </a:p>
          <a:p>
            <a:r>
              <a:rPr lang="en-US" sz="1400" dirty="0">
                <a:latin typeface="Courier" pitchFamily="2" charset="0"/>
              </a:rPr>
              <a:t>	        count=count+1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377D3B5-761C-214F-A6AB-3B86095A18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5299125"/>
              </p:ext>
            </p:extLst>
          </p:nvPr>
        </p:nvGraphicFramePr>
        <p:xfrm>
          <a:off x="4468118" y="2242425"/>
          <a:ext cx="4387865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8503">
                  <a:extLst>
                    <a:ext uri="{9D8B030D-6E8A-4147-A177-3AD203B41FA5}">
                      <a16:colId xmlns:a16="http://schemas.microsoft.com/office/drawing/2014/main" val="2163334751"/>
                    </a:ext>
                  </a:extLst>
                </a:gridCol>
                <a:gridCol w="2129362">
                  <a:extLst>
                    <a:ext uri="{9D8B030D-6E8A-4147-A177-3AD203B41FA5}">
                      <a16:colId xmlns:a16="http://schemas.microsoft.com/office/drawing/2014/main" val="18359951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Frequency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443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 declaration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2+N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2456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Assignment </a:t>
                      </a:r>
                      <a:r>
                        <a:rPr lang="en-US" sz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stmt</a:t>
                      </a:r>
                      <a:endParaRPr lang="en-US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2+N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246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Less-than compare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½ (N+1)(N+2)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5076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Equal-to compare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½ N(N-1)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4407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Array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N(N-1)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5101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Increment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½ N(N-1) to N(N-1)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3657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3718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F1E89708-258F-1446-92D3-5879F6009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12" y="158892"/>
            <a:ext cx="7886700" cy="580884"/>
          </a:xfrm>
        </p:spPr>
        <p:txBody>
          <a:bodyPr/>
          <a:lstStyle/>
          <a:p>
            <a:r>
              <a:rPr lang="en-US" dirty="0"/>
              <a:t>ANALYSIS – MATH MODELS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8C0689-A34F-6845-9821-019028A99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Example – </a:t>
            </a:r>
            <a:r>
              <a:rPr lang="en-US" dirty="0">
                <a:highlight>
                  <a:srgbClr val="D6D2C4"/>
                </a:highlight>
              </a:rPr>
              <a:t>simplifications</a:t>
            </a:r>
          </a:p>
          <a:p>
            <a:endParaRPr lang="en-US" sz="2000" dirty="0"/>
          </a:p>
          <a:p>
            <a:r>
              <a:rPr lang="en-US" sz="2000" dirty="0"/>
              <a:t># 1 – focus on most costly &amp; most frequently executed operations</a:t>
            </a:r>
          </a:p>
          <a:p>
            <a:r>
              <a:rPr lang="en-US" sz="2000" dirty="0"/>
              <a:t># 2 – ignore lower order terms (tilde ~ notation)</a:t>
            </a:r>
          </a:p>
          <a:p>
            <a:endParaRPr lang="en-US" sz="2000" dirty="0">
              <a:sym typeface="Wingdings" pitchFamily="2" charset="2"/>
            </a:endParaRPr>
          </a:p>
          <a:p>
            <a:r>
              <a:rPr lang="en-US" sz="2000" dirty="0">
                <a:sym typeface="Wingdings" pitchFamily="2" charset="2"/>
              </a:rPr>
              <a:t> Express running time as function of input size N</a:t>
            </a:r>
            <a:endParaRPr lang="en-US" sz="2000" dirty="0"/>
          </a:p>
          <a:p>
            <a:endParaRPr lang="en-US" sz="2000" dirty="0">
              <a:highlight>
                <a:srgbClr val="D6D2C4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261742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871561E4-7541-254B-AA63-F2F64782E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12" y="158892"/>
            <a:ext cx="7886700" cy="580884"/>
          </a:xfrm>
        </p:spPr>
        <p:txBody>
          <a:bodyPr/>
          <a:lstStyle/>
          <a:p>
            <a:r>
              <a:rPr lang="en-US" dirty="0"/>
              <a:t>ANALYSIS – MATH MODELS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8C0689-A34F-6845-9821-019028A99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– </a:t>
            </a:r>
            <a:r>
              <a:rPr lang="en-US" dirty="0">
                <a:highlight>
                  <a:srgbClr val="D6D2C4"/>
                </a:highlight>
              </a:rPr>
              <a:t>simplifications</a:t>
            </a:r>
          </a:p>
          <a:p>
            <a:endParaRPr lang="en-US" sz="2000" dirty="0">
              <a:highlight>
                <a:srgbClr val="D6D2C4"/>
              </a:highlight>
            </a:endParaRPr>
          </a:p>
          <a:p>
            <a:r>
              <a:rPr lang="en-US" sz="2000" dirty="0"/>
              <a:t>Tilde notation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3D384FE-41D2-F543-B98A-78B1058E8D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2489650"/>
              </p:ext>
            </p:extLst>
          </p:nvPr>
        </p:nvGraphicFramePr>
        <p:xfrm>
          <a:off x="3746575" y="2275280"/>
          <a:ext cx="527497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008">
                  <a:extLst>
                    <a:ext uri="{9D8B030D-6E8A-4147-A177-3AD203B41FA5}">
                      <a16:colId xmlns:a16="http://schemas.microsoft.com/office/drawing/2014/main" val="2163334751"/>
                    </a:ext>
                  </a:extLst>
                </a:gridCol>
                <a:gridCol w="1723482">
                  <a:extLst>
                    <a:ext uri="{9D8B030D-6E8A-4147-A177-3AD203B41FA5}">
                      <a16:colId xmlns:a16="http://schemas.microsoft.com/office/drawing/2014/main" val="1835995142"/>
                    </a:ext>
                  </a:extLst>
                </a:gridCol>
                <a:gridCol w="1723482">
                  <a:extLst>
                    <a:ext uri="{9D8B030D-6E8A-4147-A177-3AD203B41FA5}">
                      <a16:colId xmlns:a16="http://schemas.microsoft.com/office/drawing/2014/main" val="8630793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Frequency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Tilde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443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 declaration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2+N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2456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Assignment </a:t>
                      </a:r>
                      <a:r>
                        <a:rPr lang="en-US" sz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stmt</a:t>
                      </a:r>
                      <a:endParaRPr lang="en-US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2+N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246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Less-than compare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½ (N+1)(N+2)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~½ N</a:t>
                      </a:r>
                      <a:r>
                        <a:rPr lang="en-US" sz="120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5076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Equal-to compare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½ N(N-1)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~½ N</a:t>
                      </a:r>
                      <a:r>
                        <a:rPr lang="en-US" sz="120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4407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Array access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N(N-1)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r>
                        <a:rPr lang="en-US" sz="120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5101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Increment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½ N(N-1) to N(N-1)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~½ N</a:t>
                      </a:r>
                      <a:r>
                        <a:rPr lang="en-US" sz="120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20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to </a:t>
                      </a:r>
                      <a:r>
                        <a:rPr lang="en-US" sz="12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~N</a:t>
                      </a:r>
                      <a:r>
                        <a:rPr lang="en-US" sz="120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365721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C2FD730-95E2-E34F-924F-A86A7916D884}"/>
              </a:ext>
            </a:extLst>
          </p:cNvPr>
          <p:cNvSpPr txBox="1"/>
          <p:nvPr/>
        </p:nvSpPr>
        <p:spPr>
          <a:xfrm>
            <a:off x="287999" y="2267193"/>
            <a:ext cx="3363421" cy="1169551"/>
          </a:xfrm>
          <a:prstGeom prst="rect">
            <a:avLst/>
          </a:prstGeom>
          <a:noFill/>
          <a:ln w="19050">
            <a:solidFill>
              <a:srgbClr val="D6D2C4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</a:rPr>
              <a:t>count=0</a:t>
            </a:r>
          </a:p>
          <a:p>
            <a:r>
              <a:rPr lang="en-US" sz="1400" dirty="0">
                <a:latin typeface="Courier" pitchFamily="2" charset="0"/>
              </a:rPr>
              <a:t>for </a:t>
            </a:r>
            <a:r>
              <a:rPr lang="en-US" sz="1400" dirty="0" err="1">
                <a:latin typeface="Courier" pitchFamily="2" charset="0"/>
              </a:rPr>
              <a:t>i</a:t>
            </a:r>
            <a:r>
              <a:rPr lang="en-US" sz="1400" dirty="0">
                <a:latin typeface="Courier" pitchFamily="2" charset="0"/>
              </a:rPr>
              <a:t> in range(0,N):</a:t>
            </a:r>
          </a:p>
          <a:p>
            <a:r>
              <a:rPr lang="en-US" sz="1400" dirty="0">
                <a:latin typeface="Courier" pitchFamily="2" charset="0"/>
              </a:rPr>
              <a:t>    for j in range(i+1,N):</a:t>
            </a:r>
          </a:p>
          <a:p>
            <a:r>
              <a:rPr lang="en-US" sz="1400" dirty="0">
                <a:latin typeface="Courier" pitchFamily="2" charset="0"/>
              </a:rPr>
              <a:t>        if a[</a:t>
            </a:r>
            <a:r>
              <a:rPr lang="en-US" sz="1400" dirty="0" err="1">
                <a:latin typeface="Courier" pitchFamily="2" charset="0"/>
              </a:rPr>
              <a:t>i</a:t>
            </a:r>
            <a:r>
              <a:rPr lang="en-US" sz="1400" dirty="0">
                <a:latin typeface="Courier" pitchFamily="2" charset="0"/>
              </a:rPr>
              <a:t>]+a[j]==0:</a:t>
            </a:r>
          </a:p>
          <a:p>
            <a:r>
              <a:rPr lang="en-US" sz="1400" dirty="0">
                <a:latin typeface="Courier" pitchFamily="2" charset="0"/>
              </a:rPr>
              <a:t>	        count=count+1</a:t>
            </a:r>
          </a:p>
        </p:txBody>
      </p:sp>
    </p:spTree>
    <p:extLst>
      <p:ext uri="{BB962C8B-B14F-4D97-AF65-F5344CB8AC3E}">
        <p14:creationId xmlns:p14="http://schemas.microsoft.com/office/powerpoint/2010/main" val="3522951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FD1E61CA-8260-5C4B-96CE-9F6811612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12" y="158892"/>
            <a:ext cx="7886700" cy="580884"/>
          </a:xfrm>
        </p:spPr>
        <p:txBody>
          <a:bodyPr/>
          <a:lstStyle/>
          <a:p>
            <a:r>
              <a:rPr lang="en-US" dirty="0"/>
              <a:t>ANALYSIS – MATH MODELS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8C0689-A34F-6845-9821-019028A99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87999" y="994717"/>
            <a:ext cx="8360242" cy="3976675"/>
          </a:xfrm>
        </p:spPr>
        <p:txBody>
          <a:bodyPr>
            <a:normAutofit/>
          </a:bodyPr>
          <a:lstStyle/>
          <a:p>
            <a:r>
              <a:rPr lang="en-US" dirty="0"/>
              <a:t>Example – </a:t>
            </a:r>
            <a:r>
              <a:rPr lang="en-US" dirty="0">
                <a:highlight>
                  <a:srgbClr val="D6D2C4"/>
                </a:highlight>
              </a:rPr>
              <a:t>simplifications</a:t>
            </a:r>
          </a:p>
          <a:p>
            <a:endParaRPr lang="en-US" sz="1600" dirty="0">
              <a:highlight>
                <a:srgbClr val="D6D2C4"/>
              </a:highlight>
            </a:endParaRPr>
          </a:p>
          <a:p>
            <a:r>
              <a:rPr lang="en-US" sz="2000" dirty="0"/>
              <a:t>Focus on highest (cost*</a:t>
            </a:r>
            <a:r>
              <a:rPr lang="en-US" sz="2000" dirty="0" err="1"/>
              <a:t>freq</a:t>
            </a:r>
            <a:r>
              <a:rPr lang="en-US" sz="2000" dirty="0"/>
              <a:t>) operations</a:t>
            </a:r>
          </a:p>
          <a:p>
            <a:endParaRPr lang="en-US" sz="2000" dirty="0"/>
          </a:p>
          <a:p>
            <a:endParaRPr lang="en-US" sz="1500" dirty="0"/>
          </a:p>
          <a:p>
            <a:endParaRPr lang="en-US" sz="1500" dirty="0"/>
          </a:p>
          <a:p>
            <a:endParaRPr lang="en-US" sz="1500" dirty="0"/>
          </a:p>
          <a:p>
            <a:r>
              <a:rPr lang="en-US" sz="1500" dirty="0" err="1"/>
              <a:t>Prev</a:t>
            </a:r>
            <a:r>
              <a:rPr lang="en-US" sz="1500" dirty="0"/>
              <a:t> Q: how many instructions as a function of input size N?</a:t>
            </a:r>
          </a:p>
          <a:p>
            <a:r>
              <a:rPr lang="en-US" sz="1500" dirty="0" err="1"/>
              <a:t>Prev</a:t>
            </a:r>
            <a:r>
              <a:rPr lang="en-US" sz="1500" dirty="0"/>
              <a:t> A: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(2+N)+(2+N)+½(N+1)(N+2)+½N(N-1)+N(N-1)+N(N-1)</a:t>
            </a:r>
          </a:p>
          <a:p>
            <a:endParaRPr lang="en-US" sz="1500" dirty="0"/>
          </a:p>
          <a:p>
            <a:r>
              <a:rPr lang="en-US" sz="1500" dirty="0"/>
              <a:t>New Q: </a:t>
            </a:r>
            <a:r>
              <a:rPr lang="en-US" sz="1500" b="1" dirty="0"/>
              <a:t>approximately</a:t>
            </a:r>
            <a:r>
              <a:rPr lang="en-US" sz="1500" dirty="0"/>
              <a:t> how many </a:t>
            </a:r>
            <a:r>
              <a:rPr lang="en-US" sz="1500" b="1" dirty="0"/>
              <a:t>array accesses </a:t>
            </a:r>
            <a:r>
              <a:rPr lang="en-US" sz="1500" dirty="0"/>
              <a:t>as a function of input size N?</a:t>
            </a:r>
          </a:p>
          <a:p>
            <a:r>
              <a:rPr lang="en-US" sz="1500" dirty="0"/>
              <a:t>New A: ~N</a:t>
            </a:r>
            <a:r>
              <a:rPr lang="en-US" sz="1500" baseline="30000" dirty="0"/>
              <a:t>2</a:t>
            </a:r>
            <a:r>
              <a:rPr lang="en-US" sz="1500" dirty="0"/>
              <a:t> array accesses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2ABBB0-F56C-3546-8948-A24F339204E7}"/>
              </a:ext>
            </a:extLst>
          </p:cNvPr>
          <p:cNvSpPr txBox="1"/>
          <p:nvPr/>
        </p:nvSpPr>
        <p:spPr>
          <a:xfrm>
            <a:off x="393104" y="2102584"/>
            <a:ext cx="3363421" cy="1169551"/>
          </a:xfrm>
          <a:prstGeom prst="rect">
            <a:avLst/>
          </a:prstGeom>
          <a:noFill/>
          <a:ln w="25400">
            <a:solidFill>
              <a:srgbClr val="D6D2C4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</a:rPr>
              <a:t>count=0</a:t>
            </a:r>
          </a:p>
          <a:p>
            <a:r>
              <a:rPr lang="en-US" sz="1400" dirty="0">
                <a:latin typeface="Courier" pitchFamily="2" charset="0"/>
              </a:rPr>
              <a:t>for </a:t>
            </a:r>
            <a:r>
              <a:rPr lang="en-US" sz="1400" dirty="0" err="1">
                <a:latin typeface="Courier" pitchFamily="2" charset="0"/>
              </a:rPr>
              <a:t>i</a:t>
            </a:r>
            <a:r>
              <a:rPr lang="en-US" sz="1400" dirty="0">
                <a:latin typeface="Courier" pitchFamily="2" charset="0"/>
              </a:rPr>
              <a:t> in range(0,N):</a:t>
            </a:r>
          </a:p>
          <a:p>
            <a:r>
              <a:rPr lang="en-US" sz="1400" dirty="0">
                <a:latin typeface="Courier" pitchFamily="2" charset="0"/>
              </a:rPr>
              <a:t>    for j in range(i+1,N):</a:t>
            </a:r>
          </a:p>
          <a:p>
            <a:r>
              <a:rPr lang="en-US" sz="1400" dirty="0">
                <a:latin typeface="Courier" pitchFamily="2" charset="0"/>
              </a:rPr>
              <a:t>        if </a:t>
            </a:r>
            <a:r>
              <a:rPr lang="en-US" sz="1400" b="1" dirty="0">
                <a:latin typeface="Courier" pitchFamily="2" charset="0"/>
              </a:rPr>
              <a:t>a[</a:t>
            </a:r>
            <a:r>
              <a:rPr lang="en-US" sz="1400" b="1" dirty="0" err="1">
                <a:latin typeface="Courier" pitchFamily="2" charset="0"/>
              </a:rPr>
              <a:t>i</a:t>
            </a:r>
            <a:r>
              <a:rPr lang="en-US" sz="1400" b="1" dirty="0">
                <a:latin typeface="Courier" pitchFamily="2" charset="0"/>
              </a:rPr>
              <a:t>]+a[j]</a:t>
            </a:r>
            <a:r>
              <a:rPr lang="en-US" sz="1400" dirty="0">
                <a:latin typeface="Courier" pitchFamily="2" charset="0"/>
              </a:rPr>
              <a:t>==0:</a:t>
            </a:r>
          </a:p>
          <a:p>
            <a:r>
              <a:rPr lang="en-US" sz="1400" dirty="0">
                <a:latin typeface="Courier" pitchFamily="2" charset="0"/>
              </a:rPr>
              <a:t>	        count=count+1</a:t>
            </a:r>
          </a:p>
        </p:txBody>
      </p:sp>
    </p:spTree>
    <p:extLst>
      <p:ext uri="{BB962C8B-B14F-4D97-AF65-F5344CB8AC3E}">
        <p14:creationId xmlns:p14="http://schemas.microsoft.com/office/powerpoint/2010/main" val="118902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F3DBC3EE-0901-BF45-B2E9-D733FFAA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12" y="158892"/>
            <a:ext cx="7886700" cy="580884"/>
          </a:xfrm>
        </p:spPr>
        <p:txBody>
          <a:bodyPr/>
          <a:lstStyle/>
          <a:p>
            <a:r>
              <a:rPr lang="en-US" dirty="0"/>
              <a:t>ANALYSIS – MATH MODELS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8C0689-A34F-6845-9821-019028A99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87999" y="994717"/>
            <a:ext cx="8360242" cy="3976675"/>
          </a:xfrm>
        </p:spPr>
        <p:txBody>
          <a:bodyPr>
            <a:normAutofit/>
          </a:bodyPr>
          <a:lstStyle/>
          <a:p>
            <a:r>
              <a:rPr lang="en-US" dirty="0"/>
              <a:t>Example</a:t>
            </a:r>
          </a:p>
          <a:p>
            <a:endParaRPr lang="en-US" sz="1600" dirty="0">
              <a:highlight>
                <a:srgbClr val="D6D2C4"/>
              </a:highlight>
            </a:endParaRP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Q: </a:t>
            </a:r>
            <a:r>
              <a:rPr lang="en-US" sz="1600" b="1" dirty="0"/>
              <a:t>approximately</a:t>
            </a:r>
            <a:r>
              <a:rPr lang="en-US" sz="1600" dirty="0"/>
              <a:t> how many </a:t>
            </a:r>
            <a:r>
              <a:rPr lang="en-US" sz="1600" b="1" dirty="0"/>
              <a:t>array accesses </a:t>
            </a:r>
            <a:r>
              <a:rPr lang="en-US" sz="1600" dirty="0"/>
              <a:t>as a function of input size N?</a:t>
            </a:r>
          </a:p>
          <a:p>
            <a:r>
              <a:rPr lang="en-US" sz="1600" dirty="0"/>
              <a:t>A: ~ ½ N</a:t>
            </a:r>
            <a:r>
              <a:rPr lang="en-US" sz="1600" baseline="30000" dirty="0"/>
              <a:t>3</a:t>
            </a:r>
            <a:r>
              <a:rPr lang="en-US" sz="1600" dirty="0"/>
              <a:t> array accesses</a:t>
            </a:r>
          </a:p>
          <a:p>
            <a:endParaRPr lang="en-US" sz="1600" dirty="0">
              <a:highlight>
                <a:srgbClr val="D6D2C4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2ABBB0-F56C-3546-8948-A24F339204E7}"/>
              </a:ext>
            </a:extLst>
          </p:cNvPr>
          <p:cNvSpPr txBox="1"/>
          <p:nvPr/>
        </p:nvSpPr>
        <p:spPr>
          <a:xfrm>
            <a:off x="403614" y="1598059"/>
            <a:ext cx="3793026" cy="1384995"/>
          </a:xfrm>
          <a:prstGeom prst="rect">
            <a:avLst/>
          </a:prstGeom>
          <a:noFill/>
          <a:ln w="25400">
            <a:solidFill>
              <a:srgbClr val="D6D2C4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</a:rPr>
              <a:t>count=0</a:t>
            </a:r>
          </a:p>
          <a:p>
            <a:r>
              <a:rPr lang="en-US" sz="1400" dirty="0">
                <a:latin typeface="Courier" pitchFamily="2" charset="0"/>
              </a:rPr>
              <a:t>for </a:t>
            </a:r>
            <a:r>
              <a:rPr lang="en-US" sz="1400" dirty="0" err="1">
                <a:latin typeface="Courier" pitchFamily="2" charset="0"/>
              </a:rPr>
              <a:t>i</a:t>
            </a:r>
            <a:r>
              <a:rPr lang="en-US" sz="1400" dirty="0">
                <a:latin typeface="Courier" pitchFamily="2" charset="0"/>
              </a:rPr>
              <a:t> in range(0,N):</a:t>
            </a:r>
          </a:p>
          <a:p>
            <a:r>
              <a:rPr lang="en-US" sz="1400" dirty="0">
                <a:latin typeface="Courier" pitchFamily="2" charset="0"/>
              </a:rPr>
              <a:t>    for j in range(i+1,N):</a:t>
            </a:r>
          </a:p>
          <a:p>
            <a:r>
              <a:rPr lang="en-US" sz="1400" dirty="0">
                <a:latin typeface="Courier" pitchFamily="2" charset="0"/>
              </a:rPr>
              <a:t>	for k in range(j+1,N):</a:t>
            </a:r>
          </a:p>
          <a:p>
            <a:r>
              <a:rPr lang="en-US" sz="1400" dirty="0">
                <a:latin typeface="Courier" pitchFamily="2" charset="0"/>
              </a:rPr>
              <a:t>	    if </a:t>
            </a:r>
            <a:r>
              <a:rPr lang="en-US" sz="1400" b="1" dirty="0">
                <a:solidFill>
                  <a:srgbClr val="FF0000"/>
                </a:solidFill>
                <a:latin typeface="Courier" pitchFamily="2" charset="0"/>
              </a:rPr>
              <a:t>a[</a:t>
            </a:r>
            <a:r>
              <a:rPr lang="en-US" sz="1400" b="1" dirty="0" err="1">
                <a:solidFill>
                  <a:srgbClr val="FF0000"/>
                </a:solidFill>
                <a:latin typeface="Courier" pitchFamily="2" charset="0"/>
              </a:rPr>
              <a:t>i</a:t>
            </a:r>
            <a:r>
              <a:rPr lang="en-US" sz="1400" b="1" dirty="0">
                <a:solidFill>
                  <a:srgbClr val="FF0000"/>
                </a:solidFill>
                <a:latin typeface="Courier" pitchFamily="2" charset="0"/>
              </a:rPr>
              <a:t>]+a[j]+a[k]</a:t>
            </a:r>
            <a:r>
              <a:rPr lang="en-US" sz="1400" dirty="0">
                <a:latin typeface="Courier" pitchFamily="2" charset="0"/>
              </a:rPr>
              <a:t>==0:</a:t>
            </a:r>
          </a:p>
          <a:p>
            <a:r>
              <a:rPr lang="en-US" sz="1400" dirty="0">
                <a:latin typeface="Courier" pitchFamily="2" charset="0"/>
              </a:rPr>
              <a:t>		count=count+1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0AD356-447A-2242-ACFC-15DFD21690D5}"/>
                  </a:ext>
                </a:extLst>
              </p:cNvPr>
              <p:cNvSpPr txBox="1"/>
              <p:nvPr/>
            </p:nvSpPr>
            <p:spPr>
              <a:xfrm>
                <a:off x="4824248" y="2352677"/>
                <a:ext cx="1485984" cy="459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3 *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N</m:t>
                        </m:r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GB" sz="16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N</m:t>
                            </m:r>
                            <m:r>
                              <a:rPr lang="en-GB" sz="16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−1</m:t>
                            </m:r>
                          </m:e>
                        </m:d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GB" sz="16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N</m:t>
                            </m:r>
                            <m:r>
                              <a:rPr lang="en-GB" sz="16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−2</m:t>
                            </m:r>
                          </m:e>
                        </m:d>
                      </m:num>
                      <m:den>
                        <m:r>
                          <a:rPr lang="en-GB" sz="16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3!</m:t>
                        </m:r>
                      </m:den>
                    </m:f>
                  </m:oMath>
                </a14:m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0AD356-447A-2242-ACFC-15DFD2169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4248" y="2352677"/>
                <a:ext cx="1485984" cy="459165"/>
              </a:xfrm>
              <a:prstGeom prst="rect">
                <a:avLst/>
              </a:prstGeom>
              <a:blipFill>
                <a:blip r:embed="rId3"/>
                <a:stretch>
                  <a:fillRect l="-1695"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185871F-EFC3-1F4C-9D29-B8B0E48C0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4" idx="1"/>
          </p:cNvCxnSpPr>
          <p:nvPr/>
        </p:nvCxnSpPr>
        <p:spPr>
          <a:xfrm flipH="1">
            <a:off x="4196640" y="2582260"/>
            <a:ext cx="627608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7961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F7FBFD57-FCE6-E940-9FC4-609924C2D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12" y="158892"/>
            <a:ext cx="7886700" cy="580884"/>
          </a:xfrm>
        </p:spPr>
        <p:txBody>
          <a:bodyPr/>
          <a:lstStyle/>
          <a:p>
            <a:r>
              <a:rPr lang="en-US" dirty="0"/>
              <a:t>ANALYSIS – ORDER OF GROWTH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8C0689-A34F-6845-9821-019028A99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Order of growth of algorithms</a:t>
            </a:r>
          </a:p>
        </p:txBody>
      </p:sp>
      <p:pic>
        <p:nvPicPr>
          <p:cNvPr id="8" name="Picture 7" descr="Table showing orders of growth of running time from fastest (constant) to slowest (exponential)">
            <a:extLst>
              <a:ext uri="{FF2B5EF4-FFF2-40B4-BE49-F238E27FC236}">
                <a16:creationId xmlns:a16="http://schemas.microsoft.com/office/drawing/2014/main" id="{24A99AB2-F3A6-0448-8B52-4F3D8AE008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" r="76573"/>
          <a:stretch/>
        </p:blipFill>
        <p:spPr>
          <a:xfrm>
            <a:off x="666371" y="1465934"/>
            <a:ext cx="1296000" cy="3548380"/>
          </a:xfrm>
          <a:prstGeom prst="rect">
            <a:avLst/>
          </a:prstGeom>
          <a:ln w="19050">
            <a:solidFill>
              <a:srgbClr val="D6D2C4"/>
            </a:solidFill>
          </a:ln>
        </p:spPr>
      </p:pic>
      <p:pic>
        <p:nvPicPr>
          <p:cNvPr id="5" name="Picture 4" descr="Chart showing orders of growth of running time as input size increases">
            <a:extLst>
              <a:ext uri="{FF2B5EF4-FFF2-40B4-BE49-F238E27FC236}">
                <a16:creationId xmlns:a16="http://schemas.microsoft.com/office/drawing/2014/main" id="{1AB74F2C-5B3B-EA4F-AB43-D8AAF33059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1226" y="1465934"/>
            <a:ext cx="3568618" cy="3548380"/>
          </a:xfrm>
          <a:prstGeom prst="rect">
            <a:avLst/>
          </a:prstGeom>
          <a:ln w="19050">
            <a:solidFill>
              <a:srgbClr val="D6D2C4"/>
            </a:solidFill>
          </a:ln>
        </p:spPr>
      </p:pic>
    </p:spTree>
    <p:extLst>
      <p:ext uri="{BB962C8B-B14F-4D97-AF65-F5344CB8AC3E}">
        <p14:creationId xmlns:p14="http://schemas.microsoft.com/office/powerpoint/2010/main" val="4282477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C984BFB5-93B7-1745-AC2A-64BA753F4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12" y="158892"/>
            <a:ext cx="7886700" cy="580884"/>
          </a:xfrm>
        </p:spPr>
        <p:txBody>
          <a:bodyPr/>
          <a:lstStyle/>
          <a:p>
            <a:r>
              <a:rPr lang="en-US" dirty="0"/>
              <a:t>ANALYSIS – ORDER OF GROWTH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8C0689-A34F-6845-9821-019028A99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Order of growth of algorithms</a:t>
            </a:r>
          </a:p>
        </p:txBody>
      </p:sp>
      <p:pic>
        <p:nvPicPr>
          <p:cNvPr id="7" name="Picture 6" descr="Summary table of orders of growths with typical code fragments">
            <a:extLst>
              <a:ext uri="{FF2B5EF4-FFF2-40B4-BE49-F238E27FC236}">
                <a16:creationId xmlns:a16="http://schemas.microsoft.com/office/drawing/2014/main" id="{0E598054-92AF-0E43-A211-DAB8C0377AB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" r="437"/>
          <a:stretch/>
        </p:blipFill>
        <p:spPr>
          <a:xfrm>
            <a:off x="401333" y="1455423"/>
            <a:ext cx="5508000" cy="3548380"/>
          </a:xfrm>
          <a:prstGeom prst="rect">
            <a:avLst/>
          </a:prstGeom>
          <a:ln w="19050">
            <a:solidFill>
              <a:srgbClr val="D6D2C4"/>
            </a:solidFill>
          </a:ln>
        </p:spPr>
      </p:pic>
    </p:spTree>
    <p:extLst>
      <p:ext uri="{BB962C8B-B14F-4D97-AF65-F5344CB8AC3E}">
        <p14:creationId xmlns:p14="http://schemas.microsoft.com/office/powerpoint/2010/main" val="16187882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2">
            <a:extLst>
              <a:ext uri="{FF2B5EF4-FFF2-40B4-BE49-F238E27FC236}">
                <a16:creationId xmlns:a16="http://schemas.microsoft.com/office/drawing/2014/main" id="{48657751-F7BC-5645-80BA-F2D12C7F3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12" y="158892"/>
            <a:ext cx="7886700" cy="580884"/>
          </a:xfrm>
        </p:spPr>
        <p:txBody>
          <a:bodyPr/>
          <a:lstStyle/>
          <a:p>
            <a:r>
              <a:rPr lang="en-US" dirty="0"/>
              <a:t>ANALYSIS – ORDER OF GROWTH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8C0689-A34F-6845-9821-019028A99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Example: binary search</a:t>
            </a:r>
          </a:p>
          <a:p>
            <a:r>
              <a:rPr lang="en-US" sz="2000" dirty="0"/>
              <a:t>Given a sorted array of integers, determine if an item is present</a:t>
            </a:r>
          </a:p>
          <a:p>
            <a:endParaRPr lang="en-US" sz="2000" dirty="0"/>
          </a:p>
          <a:p>
            <a:endParaRPr lang="en-US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432E5A7-06C2-BA4B-B31F-0099FDB8AA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151393"/>
              </p:ext>
            </p:extLst>
          </p:nvPr>
        </p:nvGraphicFramePr>
        <p:xfrm>
          <a:off x="611709" y="1903642"/>
          <a:ext cx="609600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182">
                  <a:extLst>
                    <a:ext uri="{9D8B030D-6E8A-4147-A177-3AD203B41FA5}">
                      <a16:colId xmlns:a16="http://schemas.microsoft.com/office/drawing/2014/main" val="2417013641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70969348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051403689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323660465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932912921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474579673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268023359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323960887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831085353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075113799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4306820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3258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85428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9151535-5EDF-DF43-B258-227EAF6E2F34}"/>
              </a:ext>
            </a:extLst>
          </p:cNvPr>
          <p:cNvSpPr txBox="1"/>
          <p:nvPr/>
        </p:nvSpPr>
        <p:spPr>
          <a:xfrm>
            <a:off x="7389275" y="2263973"/>
            <a:ext cx="577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x=44</a:t>
            </a:r>
          </a:p>
        </p:txBody>
      </p:sp>
      <p:grpSp>
        <p:nvGrpSpPr>
          <p:cNvPr id="13" name="Group 12" descr="highlighting portion of array the algorithm is working on in the first step">
            <a:extLst>
              <a:ext uri="{FF2B5EF4-FFF2-40B4-BE49-F238E27FC236}">
                <a16:creationId xmlns:a16="http://schemas.microsoft.com/office/drawing/2014/main" id="{ECFA3E00-70D6-9240-9113-96F2FC64D318}"/>
              </a:ext>
            </a:extLst>
          </p:cNvPr>
          <p:cNvGrpSpPr/>
          <p:nvPr/>
        </p:nvGrpSpPr>
        <p:grpSpPr>
          <a:xfrm>
            <a:off x="611709" y="2690354"/>
            <a:ext cx="6096002" cy="592339"/>
            <a:chOff x="611709" y="2690354"/>
            <a:chExt cx="6096002" cy="59233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395267-42CE-2B40-A0EC-436C7B9C0FF4}"/>
                </a:ext>
              </a:extLst>
            </p:cNvPr>
            <p:cNvSpPr txBox="1"/>
            <p:nvPr/>
          </p:nvSpPr>
          <p:spPr>
            <a:xfrm>
              <a:off x="3269217" y="2974916"/>
              <a:ext cx="78098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x==a[5]</a:t>
              </a:r>
            </a:p>
          </p:txBody>
        </p:sp>
        <p:sp>
          <p:nvSpPr>
            <p:cNvPr id="6" name="Right Brace 5">
              <a:extLst>
                <a:ext uri="{FF2B5EF4-FFF2-40B4-BE49-F238E27FC236}">
                  <a16:creationId xmlns:a16="http://schemas.microsoft.com/office/drawing/2014/main" id="{957BCAEA-18B0-424F-9D00-08DDDB7386E7}"/>
                </a:ext>
              </a:extLst>
            </p:cNvPr>
            <p:cNvSpPr/>
            <p:nvPr/>
          </p:nvSpPr>
          <p:spPr>
            <a:xfrm rot="5400000">
              <a:off x="3517429" y="-215366"/>
              <a:ext cx="284561" cy="6096002"/>
            </a:xfrm>
            <a:prstGeom prst="rightBrace">
              <a:avLst/>
            </a:prstGeom>
            <a:ln w="19050">
              <a:solidFill>
                <a:srgbClr val="D6D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 descr="highlighting portion of array the algorithm is working on in the second step">
            <a:extLst>
              <a:ext uri="{FF2B5EF4-FFF2-40B4-BE49-F238E27FC236}">
                <a16:creationId xmlns:a16="http://schemas.microsoft.com/office/drawing/2014/main" id="{4EB4FCDE-9670-C54E-906D-6DAD97857E4C}"/>
              </a:ext>
            </a:extLst>
          </p:cNvPr>
          <p:cNvGrpSpPr/>
          <p:nvPr/>
        </p:nvGrpSpPr>
        <p:grpSpPr>
          <a:xfrm>
            <a:off x="601199" y="3308573"/>
            <a:ext cx="2772622" cy="493850"/>
            <a:chOff x="601199" y="3308573"/>
            <a:chExt cx="2772622" cy="49385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1232F27-77F6-984A-9985-5A1AFF2703BF}"/>
                </a:ext>
              </a:extLst>
            </p:cNvPr>
            <p:cNvSpPr txBox="1"/>
            <p:nvPr/>
          </p:nvSpPr>
          <p:spPr>
            <a:xfrm>
              <a:off x="1673588" y="3494646"/>
              <a:ext cx="78098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x==a[2]</a:t>
              </a:r>
            </a:p>
          </p:txBody>
        </p:sp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55CF6FE2-781B-8F4C-8414-B9D645B74DA4}"/>
                </a:ext>
              </a:extLst>
            </p:cNvPr>
            <p:cNvSpPr/>
            <p:nvPr/>
          </p:nvSpPr>
          <p:spPr>
            <a:xfrm rot="5400000">
              <a:off x="1863421" y="2046351"/>
              <a:ext cx="248177" cy="2772622"/>
            </a:xfrm>
            <a:prstGeom prst="rightBrace">
              <a:avLst/>
            </a:prstGeom>
            <a:ln w="19050">
              <a:solidFill>
                <a:srgbClr val="D6D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 descr="highlighting portion of array the algorithm is working on in the third step">
            <a:extLst>
              <a:ext uri="{FF2B5EF4-FFF2-40B4-BE49-F238E27FC236}">
                <a16:creationId xmlns:a16="http://schemas.microsoft.com/office/drawing/2014/main" id="{C15105FD-5E4D-AD48-96EF-FE05574BCA0E}"/>
              </a:ext>
            </a:extLst>
          </p:cNvPr>
          <p:cNvGrpSpPr/>
          <p:nvPr/>
        </p:nvGrpSpPr>
        <p:grpSpPr>
          <a:xfrm>
            <a:off x="2273397" y="3892978"/>
            <a:ext cx="1110934" cy="563581"/>
            <a:chOff x="2273397" y="3892978"/>
            <a:chExt cx="1110934" cy="56358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EA2E2CA-D16D-F24F-8E21-4C757DF04A4F}"/>
                </a:ext>
              </a:extLst>
            </p:cNvPr>
            <p:cNvSpPr txBox="1"/>
            <p:nvPr/>
          </p:nvSpPr>
          <p:spPr>
            <a:xfrm>
              <a:off x="2454571" y="4148782"/>
              <a:ext cx="78098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x==a[3]</a:t>
              </a:r>
            </a:p>
          </p:txBody>
        </p:sp>
        <p:sp>
          <p:nvSpPr>
            <p:cNvPr id="12" name="Right Brace 11">
              <a:extLst>
                <a:ext uri="{FF2B5EF4-FFF2-40B4-BE49-F238E27FC236}">
                  <a16:creationId xmlns:a16="http://schemas.microsoft.com/office/drawing/2014/main" id="{83B760D6-93F3-0E4B-95ED-A995AC0E3280}"/>
                </a:ext>
              </a:extLst>
            </p:cNvPr>
            <p:cNvSpPr/>
            <p:nvPr/>
          </p:nvSpPr>
          <p:spPr>
            <a:xfrm rot="5400000">
              <a:off x="2704774" y="3461601"/>
              <a:ext cx="248180" cy="1110934"/>
            </a:xfrm>
            <a:prstGeom prst="rightBrace">
              <a:avLst/>
            </a:prstGeom>
            <a:ln w="19050">
              <a:solidFill>
                <a:srgbClr val="D6D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10752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2">
            <a:extLst>
              <a:ext uri="{FF2B5EF4-FFF2-40B4-BE49-F238E27FC236}">
                <a16:creationId xmlns:a16="http://schemas.microsoft.com/office/drawing/2014/main" id="{02172224-15CC-804B-9D14-78125F2AF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12" y="158892"/>
            <a:ext cx="7886700" cy="580884"/>
          </a:xfrm>
        </p:spPr>
        <p:txBody>
          <a:bodyPr/>
          <a:lstStyle/>
          <a:p>
            <a:r>
              <a:rPr lang="en-US" dirty="0"/>
              <a:t>ANALYSIS – ORDER OF GROWTH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8C0689-A34F-6845-9821-019028A99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Example: binary search</a:t>
            </a:r>
          </a:p>
          <a:p>
            <a:r>
              <a:rPr lang="en-US" sz="2000" dirty="0"/>
              <a:t>Given a sorted array of integers, determine if an item is present</a:t>
            </a:r>
          </a:p>
          <a:p>
            <a:endParaRPr lang="en-US" sz="2000" dirty="0"/>
          </a:p>
          <a:p>
            <a:endParaRPr lang="en-US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432E5A7-06C2-BA4B-B31F-0099FDB8AADD}"/>
              </a:ext>
            </a:extLst>
          </p:cNvPr>
          <p:cNvGraphicFramePr>
            <a:graphicFrameLocks noGrp="1"/>
          </p:cNvGraphicFramePr>
          <p:nvPr/>
        </p:nvGraphicFramePr>
        <p:xfrm>
          <a:off x="611709" y="1903642"/>
          <a:ext cx="609600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182">
                  <a:extLst>
                    <a:ext uri="{9D8B030D-6E8A-4147-A177-3AD203B41FA5}">
                      <a16:colId xmlns:a16="http://schemas.microsoft.com/office/drawing/2014/main" val="2417013641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70969348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051403689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323660465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1932912921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474579673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268023359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323960887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3831085353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2075113799"/>
                    </a:ext>
                  </a:extLst>
                </a:gridCol>
                <a:gridCol w="554182">
                  <a:extLst>
                    <a:ext uri="{9D8B030D-6E8A-4147-A177-3AD203B41FA5}">
                      <a16:colId xmlns:a16="http://schemas.microsoft.com/office/drawing/2014/main" val="4306820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3258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85428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9151535-5EDF-DF43-B258-227EAF6E2F34}"/>
              </a:ext>
            </a:extLst>
          </p:cNvPr>
          <p:cNvSpPr txBox="1"/>
          <p:nvPr/>
        </p:nvSpPr>
        <p:spPr>
          <a:xfrm>
            <a:off x="7389275" y="2263973"/>
            <a:ext cx="577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x=88</a:t>
            </a:r>
          </a:p>
        </p:txBody>
      </p:sp>
      <p:grpSp>
        <p:nvGrpSpPr>
          <p:cNvPr id="13" name="Group 12" descr="highlighting portion of array the algorithm is working on in the first step">
            <a:extLst>
              <a:ext uri="{FF2B5EF4-FFF2-40B4-BE49-F238E27FC236}">
                <a16:creationId xmlns:a16="http://schemas.microsoft.com/office/drawing/2014/main" id="{ECFA3E00-70D6-9240-9113-96F2FC64D318}"/>
              </a:ext>
            </a:extLst>
          </p:cNvPr>
          <p:cNvGrpSpPr/>
          <p:nvPr/>
        </p:nvGrpSpPr>
        <p:grpSpPr>
          <a:xfrm>
            <a:off x="611709" y="2690354"/>
            <a:ext cx="6096002" cy="592339"/>
            <a:chOff x="611709" y="2690354"/>
            <a:chExt cx="6096002" cy="59233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395267-42CE-2B40-A0EC-436C7B9C0FF4}"/>
                </a:ext>
              </a:extLst>
            </p:cNvPr>
            <p:cNvSpPr txBox="1"/>
            <p:nvPr/>
          </p:nvSpPr>
          <p:spPr>
            <a:xfrm>
              <a:off x="3269217" y="2974916"/>
              <a:ext cx="78098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x==a[5]</a:t>
              </a:r>
            </a:p>
          </p:txBody>
        </p:sp>
        <p:sp>
          <p:nvSpPr>
            <p:cNvPr id="6" name="Right Brace 5">
              <a:extLst>
                <a:ext uri="{FF2B5EF4-FFF2-40B4-BE49-F238E27FC236}">
                  <a16:creationId xmlns:a16="http://schemas.microsoft.com/office/drawing/2014/main" id="{957BCAEA-18B0-424F-9D00-08DDDB7386E7}"/>
                </a:ext>
              </a:extLst>
            </p:cNvPr>
            <p:cNvSpPr/>
            <p:nvPr/>
          </p:nvSpPr>
          <p:spPr>
            <a:xfrm rot="5400000">
              <a:off x="3517429" y="-215366"/>
              <a:ext cx="284561" cy="6096002"/>
            </a:xfrm>
            <a:prstGeom prst="rightBrace">
              <a:avLst/>
            </a:prstGeom>
            <a:ln w="19050">
              <a:solidFill>
                <a:srgbClr val="D6D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 descr="highlighting portion of array the algorithm is working on in the second step">
            <a:extLst>
              <a:ext uri="{FF2B5EF4-FFF2-40B4-BE49-F238E27FC236}">
                <a16:creationId xmlns:a16="http://schemas.microsoft.com/office/drawing/2014/main" id="{4EB4FCDE-9670-C54E-906D-6DAD97857E4C}"/>
              </a:ext>
            </a:extLst>
          </p:cNvPr>
          <p:cNvGrpSpPr/>
          <p:nvPr/>
        </p:nvGrpSpPr>
        <p:grpSpPr>
          <a:xfrm>
            <a:off x="3998651" y="3340910"/>
            <a:ext cx="2772622" cy="493850"/>
            <a:chOff x="601199" y="3308573"/>
            <a:chExt cx="2772622" cy="49385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1232F27-77F6-984A-9985-5A1AFF2703BF}"/>
                </a:ext>
              </a:extLst>
            </p:cNvPr>
            <p:cNvSpPr txBox="1"/>
            <p:nvPr/>
          </p:nvSpPr>
          <p:spPr>
            <a:xfrm>
              <a:off x="1673588" y="3494646"/>
              <a:ext cx="78098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x==a[8]</a:t>
              </a:r>
            </a:p>
          </p:txBody>
        </p:sp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55CF6FE2-781B-8F4C-8414-B9D645B74DA4}"/>
                </a:ext>
              </a:extLst>
            </p:cNvPr>
            <p:cNvSpPr/>
            <p:nvPr/>
          </p:nvSpPr>
          <p:spPr>
            <a:xfrm rot="5400000">
              <a:off x="1863421" y="2046351"/>
              <a:ext cx="248177" cy="2772622"/>
            </a:xfrm>
            <a:prstGeom prst="rightBrace">
              <a:avLst/>
            </a:prstGeom>
            <a:ln w="19050">
              <a:solidFill>
                <a:srgbClr val="D6D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 descr="highlighting portion of array the algorithm is working on in the first step">
            <a:extLst>
              <a:ext uri="{FF2B5EF4-FFF2-40B4-BE49-F238E27FC236}">
                <a16:creationId xmlns:a16="http://schemas.microsoft.com/office/drawing/2014/main" id="{C15105FD-5E4D-AD48-96EF-FE05574BCA0E}"/>
              </a:ext>
            </a:extLst>
          </p:cNvPr>
          <p:cNvGrpSpPr/>
          <p:nvPr/>
        </p:nvGrpSpPr>
        <p:grpSpPr>
          <a:xfrm>
            <a:off x="5660339" y="4077404"/>
            <a:ext cx="1110934" cy="563582"/>
            <a:chOff x="2273397" y="3892977"/>
            <a:chExt cx="1110934" cy="56358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EA2E2CA-D16D-F24F-8E21-4C757DF04A4F}"/>
                </a:ext>
              </a:extLst>
            </p:cNvPr>
            <p:cNvSpPr txBox="1"/>
            <p:nvPr/>
          </p:nvSpPr>
          <p:spPr>
            <a:xfrm>
              <a:off x="2488234" y="4148782"/>
              <a:ext cx="78098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x==a[9]</a:t>
              </a:r>
            </a:p>
          </p:txBody>
        </p:sp>
        <p:sp>
          <p:nvSpPr>
            <p:cNvPr id="12" name="Right Brace 11">
              <a:extLst>
                <a:ext uri="{FF2B5EF4-FFF2-40B4-BE49-F238E27FC236}">
                  <a16:creationId xmlns:a16="http://schemas.microsoft.com/office/drawing/2014/main" id="{83B760D6-93F3-0E4B-95ED-A995AC0E3280}"/>
                </a:ext>
              </a:extLst>
            </p:cNvPr>
            <p:cNvSpPr/>
            <p:nvPr/>
          </p:nvSpPr>
          <p:spPr>
            <a:xfrm rot="5400000">
              <a:off x="2704775" y="3461599"/>
              <a:ext cx="248177" cy="1110934"/>
            </a:xfrm>
            <a:prstGeom prst="rightBrace">
              <a:avLst/>
            </a:prstGeom>
            <a:ln w="19050">
              <a:solidFill>
                <a:srgbClr val="D6D2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54098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8C76BC-957A-EA43-A4F9-FFC9528EC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DIGRESSION …</a:t>
            </a:r>
          </a:p>
        </p:txBody>
      </p:sp>
    </p:spTree>
    <p:extLst>
      <p:ext uri="{BB962C8B-B14F-4D97-AF65-F5344CB8AC3E}">
        <p14:creationId xmlns:p14="http://schemas.microsoft.com/office/powerpoint/2010/main" val="37618436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FFBA0B88-CEC2-B74A-831D-9A1508D83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12" y="158892"/>
            <a:ext cx="7886700" cy="580884"/>
          </a:xfrm>
        </p:spPr>
        <p:txBody>
          <a:bodyPr/>
          <a:lstStyle/>
          <a:p>
            <a:r>
              <a:rPr lang="en-US" dirty="0"/>
              <a:t>WHAT IS PSEUDOCODE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8C0689-A34F-6845-9821-019028A99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D6D2C4"/>
                </a:highlight>
              </a:rPr>
              <a:t>Pseudocode</a:t>
            </a:r>
          </a:p>
          <a:p>
            <a:r>
              <a:rPr lang="en-US" sz="2000" dirty="0"/>
              <a:t>It is not natural language (e.g., English)</a:t>
            </a:r>
          </a:p>
          <a:p>
            <a:pPr marL="685800" lvl="1" indent="-342900">
              <a:buFont typeface="Courier New" panose="02070309020205020404" pitchFamily="49" charset="0"/>
              <a:buChar char="o"/>
            </a:pPr>
            <a:r>
              <a:rPr lang="en-GB" sz="1600" dirty="0"/>
              <a:t>We need to maximize clarity</a:t>
            </a:r>
          </a:p>
          <a:p>
            <a:pPr marL="685800" lvl="1" indent="-342900">
              <a:buFont typeface="Courier New" panose="02070309020205020404" pitchFamily="49" charset="0"/>
              <a:buChar char="o"/>
            </a:pPr>
            <a:r>
              <a:rPr lang="en-GB" sz="1600" dirty="0"/>
              <a:t>We need to minimize ambiguity</a:t>
            </a:r>
          </a:p>
          <a:p>
            <a:r>
              <a:rPr lang="en-US" sz="2000" dirty="0"/>
              <a:t>It is not code</a:t>
            </a:r>
          </a:p>
          <a:p>
            <a:pPr marL="685800" lvl="1" indent="-342900">
              <a:buFont typeface="Courier New" panose="02070309020205020404" pitchFamily="49" charset="0"/>
              <a:buChar char="o"/>
            </a:pPr>
            <a:r>
              <a:rPr lang="en-GB" sz="1600" dirty="0"/>
              <a:t>We need machine independence</a:t>
            </a:r>
          </a:p>
          <a:p>
            <a:pPr marL="685800" lvl="1" indent="-342900">
              <a:buFont typeface="Courier New" panose="02070309020205020404" pitchFamily="49" charset="0"/>
              <a:buChar char="o"/>
            </a:pPr>
            <a:r>
              <a:rPr lang="en-GB" sz="1600" dirty="0"/>
              <a:t>We need programming language independence</a:t>
            </a:r>
          </a:p>
          <a:p>
            <a:pPr marL="685800" lvl="1" indent="-342900">
              <a:buFont typeface="Courier New" panose="02070309020205020404" pitchFamily="49" charset="0"/>
              <a:buChar char="o"/>
            </a:pPr>
            <a:r>
              <a:rPr lang="en-GB" sz="1600" dirty="0"/>
              <a:t>We need a higher level view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736244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FA4C131C-4931-FF45-980A-7E4686EED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12" y="158892"/>
            <a:ext cx="7886700" cy="580884"/>
          </a:xfrm>
        </p:spPr>
        <p:txBody>
          <a:bodyPr/>
          <a:lstStyle/>
          <a:p>
            <a:r>
              <a:rPr lang="en-US" dirty="0"/>
              <a:t>WHAT IS PSEUDOCODE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8C0689-A34F-6845-9821-019028A99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D6D2C4"/>
                </a:highlight>
              </a:rPr>
              <a:t>Pseudocode</a:t>
            </a:r>
          </a:p>
          <a:p>
            <a:r>
              <a:rPr lang="en-GB" sz="2000" dirty="0"/>
              <a:t>There is no standard form of pseudocode. Common conventions: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GB" sz="1800" dirty="0"/>
              <a:t>Use familiar notation (language keywords from Python, C, Java, etc.):</a:t>
            </a:r>
          </a:p>
          <a:p>
            <a:pPr marL="685800" lvl="1" indent="-342900">
              <a:buFont typeface="Courier New" panose="02070309020205020404" pitchFamily="49" charset="0"/>
              <a:buChar char="o"/>
            </a:pPr>
            <a:r>
              <a:rPr lang="en-GB" sz="1600" b="0" dirty="0"/>
              <a:t>Statements: declarations, assignments, conditional statements (if-else), loops (while, for), function definitions and function calls, return statement, …</a:t>
            </a:r>
          </a:p>
          <a:p>
            <a:pPr marL="685800" lvl="1" indent="-342900">
              <a:buFont typeface="Courier New" panose="02070309020205020404" pitchFamily="49" charset="0"/>
              <a:buChar char="o"/>
            </a:pPr>
            <a:r>
              <a:rPr lang="en-GB" sz="1600" b="0" dirty="0"/>
              <a:t>Types: int, double, bool, char, string, address, array, …</a:t>
            </a:r>
          </a:p>
          <a:p>
            <a:pPr marL="685800" lvl="1" indent="-342900">
              <a:buFont typeface="Courier New" panose="02070309020205020404" pitchFamily="49" charset="0"/>
              <a:buChar char="o"/>
            </a:pPr>
            <a:r>
              <a:rPr lang="en-GB" sz="1600" b="0" dirty="0"/>
              <a:t>Expressions: arithmetic, comparisons, …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GB" sz="1800" dirty="0"/>
              <a:t>Avoid unnecessary details (e.g., imports) or complexity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GB" sz="1800" dirty="0"/>
              <a:t>We can use bits of English and maths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094908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8C76BC-957A-EA43-A4F9-FFC9528EC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 BACK TO ANALYSIS</a:t>
            </a:r>
          </a:p>
        </p:txBody>
      </p:sp>
    </p:spTree>
    <p:extLst>
      <p:ext uri="{BB962C8B-B14F-4D97-AF65-F5344CB8AC3E}">
        <p14:creationId xmlns:p14="http://schemas.microsoft.com/office/powerpoint/2010/main" val="6230962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2">
            <a:extLst>
              <a:ext uri="{FF2B5EF4-FFF2-40B4-BE49-F238E27FC236}">
                <a16:creationId xmlns:a16="http://schemas.microsoft.com/office/drawing/2014/main" id="{0600B787-4323-8B4F-9A36-D93740B9B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12" y="158892"/>
            <a:ext cx="7886700" cy="580884"/>
          </a:xfrm>
        </p:spPr>
        <p:txBody>
          <a:bodyPr/>
          <a:lstStyle/>
          <a:p>
            <a:r>
              <a:rPr lang="en-US" dirty="0"/>
              <a:t>ANALYSIS – ORDER OF GROWTH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8C0689-A34F-6845-9821-019028A99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Example: binary search</a:t>
            </a:r>
          </a:p>
          <a:p>
            <a:r>
              <a:rPr lang="en-US" sz="2000" dirty="0"/>
              <a:t>Pseudocode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CB45B6-00F7-344A-BCEB-E8F892BD07F8}"/>
              </a:ext>
            </a:extLst>
          </p:cNvPr>
          <p:cNvSpPr txBox="1"/>
          <p:nvPr/>
        </p:nvSpPr>
        <p:spPr>
          <a:xfrm>
            <a:off x="287999" y="1959308"/>
            <a:ext cx="362150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</a:rPr>
              <a:t>low=0</a:t>
            </a:r>
          </a:p>
          <a:p>
            <a:r>
              <a:rPr lang="en-US" sz="1400" dirty="0">
                <a:latin typeface="Courier" pitchFamily="2" charset="0"/>
              </a:rPr>
              <a:t>high=</a:t>
            </a:r>
            <a:r>
              <a:rPr lang="en-US" sz="1400" dirty="0" err="1">
                <a:latin typeface="Courier" pitchFamily="2" charset="0"/>
              </a:rPr>
              <a:t>len</a:t>
            </a:r>
            <a:r>
              <a:rPr lang="en-US" sz="1400" dirty="0">
                <a:latin typeface="Courier" pitchFamily="2" charset="0"/>
              </a:rPr>
              <a:t>(a)</a:t>
            </a:r>
          </a:p>
          <a:p>
            <a:r>
              <a:rPr lang="en-US" sz="1400" dirty="0">
                <a:latin typeface="Courier" pitchFamily="2" charset="0"/>
              </a:rPr>
              <a:t>while (low &lt;= high)</a:t>
            </a:r>
          </a:p>
          <a:p>
            <a:r>
              <a:rPr lang="en-US" sz="1400" dirty="0">
                <a:latin typeface="Courier" pitchFamily="2" charset="0"/>
              </a:rPr>
              <a:t>    mid = low + (high - low)/2</a:t>
            </a:r>
          </a:p>
          <a:p>
            <a:r>
              <a:rPr lang="en-US" sz="1400" dirty="0">
                <a:latin typeface="Courier" pitchFamily="2" charset="0"/>
              </a:rPr>
              <a:t>    if x &lt; a[mid] high=mid-1</a:t>
            </a:r>
          </a:p>
          <a:p>
            <a:r>
              <a:rPr lang="en-US" sz="1400" dirty="0">
                <a:latin typeface="Courier" pitchFamily="2" charset="0"/>
              </a:rPr>
              <a:t>    else if x &gt; a[mid] low=mid+1</a:t>
            </a:r>
          </a:p>
          <a:p>
            <a:r>
              <a:rPr lang="en-US" sz="1400" dirty="0">
                <a:latin typeface="Courier" pitchFamily="2" charset="0"/>
              </a:rPr>
              <a:t>            else return mid</a:t>
            </a:r>
          </a:p>
          <a:p>
            <a:r>
              <a:rPr lang="en-US" sz="1400" dirty="0">
                <a:latin typeface="Courier" pitchFamily="2" charset="0"/>
              </a:rPr>
              <a:t>return -1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3A9099E-03E7-8A4F-BC12-C50DF28334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517453"/>
              </p:ext>
            </p:extLst>
          </p:nvPr>
        </p:nvGraphicFramePr>
        <p:xfrm>
          <a:off x="4803228" y="1660634"/>
          <a:ext cx="3960968" cy="6263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88">
                  <a:extLst>
                    <a:ext uri="{9D8B030D-6E8A-4147-A177-3AD203B41FA5}">
                      <a16:colId xmlns:a16="http://schemas.microsoft.com/office/drawing/2014/main" val="2417013641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70969348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2051403689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3323660465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1932912921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3474579673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3268023359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3323960887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3831085353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2075113799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430682033"/>
                    </a:ext>
                  </a:extLst>
                </a:gridCol>
              </a:tblGrid>
              <a:tr h="313191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3258636"/>
                  </a:ext>
                </a:extLst>
              </a:tr>
              <a:tr h="313191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85428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F2E3956-4765-4A43-94EA-E62AF4BB4778}"/>
              </a:ext>
            </a:extLst>
          </p:cNvPr>
          <p:cNvSpPr txBox="1"/>
          <p:nvPr/>
        </p:nvSpPr>
        <p:spPr>
          <a:xfrm>
            <a:off x="4587766" y="2562190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  <a:cs typeface="Arial" panose="020B0604020202020204" pitchFamily="34" charset="0"/>
              </a:rPr>
              <a:t>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08761B-5559-F449-BEC4-7E477488F2BE}"/>
              </a:ext>
            </a:extLst>
          </p:cNvPr>
          <p:cNvSpPr txBox="1"/>
          <p:nvPr/>
        </p:nvSpPr>
        <p:spPr>
          <a:xfrm>
            <a:off x="8430809" y="2590250"/>
            <a:ext cx="5565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  <a:cs typeface="Arial" panose="020B0604020202020204" pitchFamily="34" charset="0"/>
              </a:rPr>
              <a:t>high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330384-6C6C-914A-B69A-2848F01431A4}"/>
              </a:ext>
            </a:extLst>
          </p:cNvPr>
          <p:cNvSpPr txBox="1"/>
          <p:nvPr/>
        </p:nvSpPr>
        <p:spPr>
          <a:xfrm>
            <a:off x="6551918" y="2562190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  <a:cs typeface="Arial" panose="020B0604020202020204" pitchFamily="34" charset="0"/>
              </a:rPr>
              <a:t>mid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B0D449-808F-2A43-82DD-803264CA8267}"/>
              </a:ext>
            </a:extLst>
          </p:cNvPr>
          <p:cNvSpPr txBox="1"/>
          <p:nvPr/>
        </p:nvSpPr>
        <p:spPr>
          <a:xfrm>
            <a:off x="4330353" y="1968990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  <a:cs typeface="Arial" panose="020B0604020202020204" pitchFamily="34" charset="0"/>
              </a:rPr>
              <a:t>a[]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3DAC749-5183-3742-9FBC-21E743825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6" idx="0"/>
          </p:cNvCxnSpPr>
          <p:nvPr/>
        </p:nvCxnSpPr>
        <p:spPr>
          <a:xfrm flipV="1">
            <a:off x="4819560" y="2286104"/>
            <a:ext cx="169566" cy="2760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1E40910-9833-464B-A019-62DD60D542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8" idx="0"/>
            <a:endCxn id="5" idx="2"/>
          </p:cNvCxnSpPr>
          <p:nvPr/>
        </p:nvCxnSpPr>
        <p:spPr>
          <a:xfrm flipV="1">
            <a:off x="6783712" y="2287016"/>
            <a:ext cx="0" cy="2751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205FC94-0A00-1B48-BB7C-2AE49591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8565215" y="2296576"/>
            <a:ext cx="143876" cy="2936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7230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48F868EE-6AFF-2442-B09D-B37C7C3B7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12" y="158892"/>
            <a:ext cx="7886700" cy="580884"/>
          </a:xfrm>
        </p:spPr>
        <p:txBody>
          <a:bodyPr/>
          <a:lstStyle/>
          <a:p>
            <a:r>
              <a:rPr lang="en-US" dirty="0"/>
              <a:t>ANALYSIS – ORDER OF GROWTH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8C0689-A34F-6845-9821-019028A99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Example: binary search</a:t>
            </a:r>
          </a:p>
          <a:p>
            <a:r>
              <a:rPr lang="en-US" sz="2000" dirty="0"/>
              <a:t>Pseudocode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CB45B6-00F7-344A-BCEB-E8F892BD07F8}"/>
              </a:ext>
            </a:extLst>
          </p:cNvPr>
          <p:cNvSpPr txBox="1"/>
          <p:nvPr/>
        </p:nvSpPr>
        <p:spPr>
          <a:xfrm>
            <a:off x="287999" y="1959308"/>
            <a:ext cx="362150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</a:rPr>
              <a:t>low=0</a:t>
            </a:r>
          </a:p>
          <a:p>
            <a:r>
              <a:rPr lang="en-US" sz="1400" dirty="0">
                <a:latin typeface="Courier" pitchFamily="2" charset="0"/>
              </a:rPr>
              <a:t>high=</a:t>
            </a:r>
            <a:r>
              <a:rPr lang="en-US" sz="1400" dirty="0" err="1">
                <a:latin typeface="Courier" pitchFamily="2" charset="0"/>
              </a:rPr>
              <a:t>len</a:t>
            </a:r>
            <a:r>
              <a:rPr lang="en-US" sz="1400" dirty="0">
                <a:latin typeface="Courier" pitchFamily="2" charset="0"/>
              </a:rPr>
              <a:t>(a)</a:t>
            </a:r>
          </a:p>
          <a:p>
            <a:r>
              <a:rPr lang="en-US" sz="1400" dirty="0">
                <a:latin typeface="Courier" pitchFamily="2" charset="0"/>
              </a:rPr>
              <a:t>while (low &lt;= high)</a:t>
            </a:r>
          </a:p>
          <a:p>
            <a:r>
              <a:rPr lang="en-US" sz="1400" dirty="0">
                <a:latin typeface="Courier" pitchFamily="2" charset="0"/>
              </a:rPr>
              <a:t>    mid = low + (high - low)/2</a:t>
            </a:r>
          </a:p>
          <a:p>
            <a:r>
              <a:rPr lang="en-US" sz="1400" dirty="0">
                <a:latin typeface="Courier" pitchFamily="2" charset="0"/>
              </a:rPr>
              <a:t>    if x &lt; a[mid] high=mid-1</a:t>
            </a:r>
          </a:p>
          <a:p>
            <a:r>
              <a:rPr lang="en-US" sz="1400" dirty="0">
                <a:latin typeface="Courier" pitchFamily="2" charset="0"/>
              </a:rPr>
              <a:t>    else if x &gt; a[mid] low=mid+1</a:t>
            </a:r>
          </a:p>
          <a:p>
            <a:r>
              <a:rPr lang="en-US" sz="1400" dirty="0">
                <a:latin typeface="Courier" pitchFamily="2" charset="0"/>
              </a:rPr>
              <a:t>            else return mid</a:t>
            </a:r>
          </a:p>
          <a:p>
            <a:r>
              <a:rPr lang="en-US" sz="1400" dirty="0">
                <a:latin typeface="Courier" pitchFamily="2" charset="0"/>
              </a:rPr>
              <a:t>return -1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3A9099E-03E7-8A4F-BC12-C50DF28334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0241773"/>
              </p:ext>
            </p:extLst>
          </p:nvPr>
        </p:nvGraphicFramePr>
        <p:xfrm>
          <a:off x="4803228" y="1660634"/>
          <a:ext cx="3960968" cy="6263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88">
                  <a:extLst>
                    <a:ext uri="{9D8B030D-6E8A-4147-A177-3AD203B41FA5}">
                      <a16:colId xmlns:a16="http://schemas.microsoft.com/office/drawing/2014/main" val="2417013641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70969348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2051403689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3323660465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1932912921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3474579673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3268023359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3323960887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3831085353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2075113799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430682033"/>
                    </a:ext>
                  </a:extLst>
                </a:gridCol>
              </a:tblGrid>
              <a:tr h="313191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3258636"/>
                  </a:ext>
                </a:extLst>
              </a:tr>
              <a:tr h="313191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85428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F2E3956-4765-4A43-94EA-E62AF4BB4778}"/>
              </a:ext>
            </a:extLst>
          </p:cNvPr>
          <p:cNvSpPr txBox="1"/>
          <p:nvPr/>
        </p:nvSpPr>
        <p:spPr>
          <a:xfrm>
            <a:off x="4587766" y="2562190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  <a:cs typeface="Arial" panose="020B0604020202020204" pitchFamily="34" charset="0"/>
              </a:rPr>
              <a:t>low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330384-6C6C-914A-B69A-2848F01431A4}"/>
              </a:ext>
            </a:extLst>
          </p:cNvPr>
          <p:cNvSpPr txBox="1"/>
          <p:nvPr/>
        </p:nvSpPr>
        <p:spPr>
          <a:xfrm>
            <a:off x="6551918" y="2562190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  <a:cs typeface="Arial" panose="020B0604020202020204" pitchFamily="34" charset="0"/>
              </a:rPr>
              <a:t>mid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B0D449-808F-2A43-82DD-803264CA8267}"/>
              </a:ext>
            </a:extLst>
          </p:cNvPr>
          <p:cNvSpPr txBox="1"/>
          <p:nvPr/>
        </p:nvSpPr>
        <p:spPr>
          <a:xfrm>
            <a:off x="4330353" y="1968990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  <a:cs typeface="Arial" panose="020B0604020202020204" pitchFamily="34" charset="0"/>
              </a:rPr>
              <a:t>a[]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3DAC749-5183-3742-9FBC-21E743825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6" idx="0"/>
          </p:cNvCxnSpPr>
          <p:nvPr/>
        </p:nvCxnSpPr>
        <p:spPr>
          <a:xfrm flipV="1">
            <a:off x="4819560" y="2286104"/>
            <a:ext cx="169566" cy="2760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1E40910-9833-464B-A019-62DD60D542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8" idx="0"/>
            <a:endCxn id="5" idx="2"/>
          </p:cNvCxnSpPr>
          <p:nvPr/>
        </p:nvCxnSpPr>
        <p:spPr>
          <a:xfrm flipV="1">
            <a:off x="6783712" y="2287016"/>
            <a:ext cx="0" cy="2751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B4E71C2-DE5E-004B-956B-1D50A921E6FE}"/>
              </a:ext>
            </a:extLst>
          </p:cNvPr>
          <p:cNvSpPr txBox="1"/>
          <p:nvPr/>
        </p:nvSpPr>
        <p:spPr>
          <a:xfrm>
            <a:off x="4330353" y="1315298"/>
            <a:ext cx="5565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  <a:cs typeface="Arial" panose="020B0604020202020204" pitchFamily="34" charset="0"/>
              </a:rPr>
              <a:t>x=44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C96195-1664-1D49-B416-3074EA9B6456}"/>
              </a:ext>
            </a:extLst>
          </p:cNvPr>
          <p:cNvSpPr txBox="1"/>
          <p:nvPr/>
        </p:nvSpPr>
        <p:spPr>
          <a:xfrm>
            <a:off x="4336175" y="2956464"/>
            <a:ext cx="25090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</a:rPr>
              <a:t>low=0, high=10</a:t>
            </a:r>
          </a:p>
          <a:p>
            <a:r>
              <a:rPr lang="en-US" sz="1400" dirty="0">
                <a:latin typeface="Courier" pitchFamily="2" charset="0"/>
              </a:rPr>
              <a:t>mid=5, x&lt;a[5]</a:t>
            </a:r>
            <a:r>
              <a:rPr lang="en-US" sz="1400" dirty="0">
                <a:latin typeface="Courier" pitchFamily="2" charset="0"/>
                <a:sym typeface="Wingdings" pitchFamily="2" charset="2"/>
              </a:rPr>
              <a:t> high=4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BC639C-2B02-A74B-A927-1A2FB88D177B}"/>
              </a:ext>
            </a:extLst>
          </p:cNvPr>
          <p:cNvSpPr txBox="1"/>
          <p:nvPr/>
        </p:nvSpPr>
        <p:spPr>
          <a:xfrm>
            <a:off x="8430809" y="2590250"/>
            <a:ext cx="5565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  <a:cs typeface="Arial" panose="020B0604020202020204" pitchFamily="34" charset="0"/>
              </a:rPr>
              <a:t>high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5B4EC1D-0AF4-264D-AC9E-10F9BA666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19" idx="0"/>
          </p:cNvCxnSpPr>
          <p:nvPr/>
        </p:nvCxnSpPr>
        <p:spPr>
          <a:xfrm flipH="1" flipV="1">
            <a:off x="8565215" y="2296576"/>
            <a:ext cx="143876" cy="2936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39178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2">
            <a:extLst>
              <a:ext uri="{FF2B5EF4-FFF2-40B4-BE49-F238E27FC236}">
                <a16:creationId xmlns:a16="http://schemas.microsoft.com/office/drawing/2014/main" id="{CE6C7E7F-3280-7D4F-8906-D1290D389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12" y="158892"/>
            <a:ext cx="7886700" cy="580884"/>
          </a:xfrm>
        </p:spPr>
        <p:txBody>
          <a:bodyPr/>
          <a:lstStyle/>
          <a:p>
            <a:r>
              <a:rPr lang="en-US" dirty="0"/>
              <a:t>ANALYSIS – ORDER OF GROWTH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8C0689-A34F-6845-9821-019028A99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Example: binary search</a:t>
            </a:r>
          </a:p>
          <a:p>
            <a:r>
              <a:rPr lang="en-US" sz="2000" dirty="0"/>
              <a:t>Pseudocode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CB45B6-00F7-344A-BCEB-E8F892BD07F8}"/>
              </a:ext>
            </a:extLst>
          </p:cNvPr>
          <p:cNvSpPr txBox="1"/>
          <p:nvPr/>
        </p:nvSpPr>
        <p:spPr>
          <a:xfrm>
            <a:off x="287999" y="1959308"/>
            <a:ext cx="362150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</a:rPr>
              <a:t>low=0</a:t>
            </a:r>
          </a:p>
          <a:p>
            <a:r>
              <a:rPr lang="en-US" sz="1400" dirty="0">
                <a:latin typeface="Courier" pitchFamily="2" charset="0"/>
              </a:rPr>
              <a:t>high=</a:t>
            </a:r>
            <a:r>
              <a:rPr lang="en-US" sz="1400" dirty="0" err="1">
                <a:latin typeface="Courier" pitchFamily="2" charset="0"/>
              </a:rPr>
              <a:t>len</a:t>
            </a:r>
            <a:r>
              <a:rPr lang="en-US" sz="1400" dirty="0">
                <a:latin typeface="Courier" pitchFamily="2" charset="0"/>
              </a:rPr>
              <a:t>(a)</a:t>
            </a:r>
          </a:p>
          <a:p>
            <a:r>
              <a:rPr lang="en-US" sz="1400" dirty="0">
                <a:latin typeface="Courier" pitchFamily="2" charset="0"/>
              </a:rPr>
              <a:t>while (low &lt;= high)</a:t>
            </a:r>
          </a:p>
          <a:p>
            <a:r>
              <a:rPr lang="en-US" sz="1400" dirty="0">
                <a:latin typeface="Courier" pitchFamily="2" charset="0"/>
              </a:rPr>
              <a:t>    mid = low + (high - low)/2</a:t>
            </a:r>
          </a:p>
          <a:p>
            <a:r>
              <a:rPr lang="en-US" sz="1400" dirty="0">
                <a:latin typeface="Courier" pitchFamily="2" charset="0"/>
              </a:rPr>
              <a:t>    if x &lt; a[mid] high=mid-1</a:t>
            </a:r>
          </a:p>
          <a:p>
            <a:r>
              <a:rPr lang="en-US" sz="1400" dirty="0">
                <a:latin typeface="Courier" pitchFamily="2" charset="0"/>
              </a:rPr>
              <a:t>    else if x &gt; a[mid] low=mid+1</a:t>
            </a:r>
          </a:p>
          <a:p>
            <a:r>
              <a:rPr lang="en-US" sz="1400" dirty="0">
                <a:latin typeface="Courier" pitchFamily="2" charset="0"/>
              </a:rPr>
              <a:t>            else return mid</a:t>
            </a:r>
          </a:p>
          <a:p>
            <a:r>
              <a:rPr lang="en-US" sz="1400" dirty="0">
                <a:latin typeface="Courier" pitchFamily="2" charset="0"/>
              </a:rPr>
              <a:t>return -1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3A9099E-03E7-8A4F-BC12-C50DF28334F1}"/>
              </a:ext>
            </a:extLst>
          </p:cNvPr>
          <p:cNvGraphicFramePr>
            <a:graphicFrameLocks noGrp="1"/>
          </p:cNvGraphicFramePr>
          <p:nvPr/>
        </p:nvGraphicFramePr>
        <p:xfrm>
          <a:off x="4803228" y="1660634"/>
          <a:ext cx="3960968" cy="6263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88">
                  <a:extLst>
                    <a:ext uri="{9D8B030D-6E8A-4147-A177-3AD203B41FA5}">
                      <a16:colId xmlns:a16="http://schemas.microsoft.com/office/drawing/2014/main" val="2417013641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70969348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2051403689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3323660465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1932912921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3474579673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3268023359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3323960887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3831085353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2075113799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430682033"/>
                    </a:ext>
                  </a:extLst>
                </a:gridCol>
              </a:tblGrid>
              <a:tr h="313191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3258636"/>
                  </a:ext>
                </a:extLst>
              </a:tr>
              <a:tr h="313191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85428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F2E3956-4765-4A43-94EA-E62AF4BB4778}"/>
              </a:ext>
            </a:extLst>
          </p:cNvPr>
          <p:cNvSpPr txBox="1"/>
          <p:nvPr/>
        </p:nvSpPr>
        <p:spPr>
          <a:xfrm>
            <a:off x="4587766" y="2562190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  <a:cs typeface="Arial" panose="020B0604020202020204" pitchFamily="34" charset="0"/>
              </a:rPr>
              <a:t>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08761B-5559-F449-BEC4-7E477488F2BE}"/>
              </a:ext>
            </a:extLst>
          </p:cNvPr>
          <p:cNvSpPr txBox="1"/>
          <p:nvPr/>
        </p:nvSpPr>
        <p:spPr>
          <a:xfrm>
            <a:off x="6288632" y="2579486"/>
            <a:ext cx="5565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  <a:cs typeface="Arial" panose="020B0604020202020204" pitchFamily="34" charset="0"/>
              </a:rPr>
              <a:t>high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330384-6C6C-914A-B69A-2848F01431A4}"/>
              </a:ext>
            </a:extLst>
          </p:cNvPr>
          <p:cNvSpPr txBox="1"/>
          <p:nvPr/>
        </p:nvSpPr>
        <p:spPr>
          <a:xfrm>
            <a:off x="5468946" y="2559856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  <a:cs typeface="Arial" panose="020B0604020202020204" pitchFamily="34" charset="0"/>
              </a:rPr>
              <a:t>mid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B0D449-808F-2A43-82DD-803264CA8267}"/>
              </a:ext>
            </a:extLst>
          </p:cNvPr>
          <p:cNvSpPr txBox="1"/>
          <p:nvPr/>
        </p:nvSpPr>
        <p:spPr>
          <a:xfrm>
            <a:off x="4330353" y="1968990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  <a:cs typeface="Arial" panose="020B0604020202020204" pitchFamily="34" charset="0"/>
              </a:rPr>
              <a:t>a[]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3DAC749-5183-3742-9FBC-21E743825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6" idx="0"/>
          </p:cNvCxnSpPr>
          <p:nvPr/>
        </p:nvCxnSpPr>
        <p:spPr>
          <a:xfrm flipV="1">
            <a:off x="4819560" y="2286104"/>
            <a:ext cx="169566" cy="2760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1E40910-9833-464B-A019-62DD60D542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5700740" y="2284682"/>
            <a:ext cx="0" cy="2751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205FC94-0A00-1B48-BB7C-2AE49591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6423038" y="2285812"/>
            <a:ext cx="143876" cy="2936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B4E71C2-DE5E-004B-956B-1D50A921E6FE}"/>
              </a:ext>
            </a:extLst>
          </p:cNvPr>
          <p:cNvSpPr txBox="1"/>
          <p:nvPr/>
        </p:nvSpPr>
        <p:spPr>
          <a:xfrm>
            <a:off x="4330353" y="1315298"/>
            <a:ext cx="5565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  <a:cs typeface="Arial" panose="020B0604020202020204" pitchFamily="34" charset="0"/>
              </a:rPr>
              <a:t>x=44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C96195-1664-1D49-B416-3074EA9B6456}"/>
              </a:ext>
            </a:extLst>
          </p:cNvPr>
          <p:cNvSpPr txBox="1"/>
          <p:nvPr/>
        </p:nvSpPr>
        <p:spPr>
          <a:xfrm>
            <a:off x="4336175" y="2956464"/>
            <a:ext cx="25090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</a:rPr>
              <a:t>low=0, high=10</a:t>
            </a:r>
          </a:p>
          <a:p>
            <a:r>
              <a:rPr lang="en-US" sz="1400" dirty="0">
                <a:latin typeface="Courier" pitchFamily="2" charset="0"/>
              </a:rPr>
              <a:t>mid=5, x&lt;a[5]</a:t>
            </a:r>
            <a:r>
              <a:rPr lang="en-US" sz="1400" dirty="0">
                <a:latin typeface="Courier" pitchFamily="2" charset="0"/>
                <a:sym typeface="Wingdings" pitchFamily="2" charset="2"/>
              </a:rPr>
              <a:t> high=4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5F3301-7811-7044-8C91-02AD260927DE}"/>
              </a:ext>
            </a:extLst>
          </p:cNvPr>
          <p:cNvSpPr txBox="1"/>
          <p:nvPr/>
        </p:nvSpPr>
        <p:spPr>
          <a:xfrm>
            <a:off x="4359404" y="3549664"/>
            <a:ext cx="24016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</a:rPr>
              <a:t>low=0, high=4</a:t>
            </a:r>
          </a:p>
          <a:p>
            <a:r>
              <a:rPr lang="en-US" sz="1400" dirty="0">
                <a:latin typeface="Courier" pitchFamily="2" charset="0"/>
              </a:rPr>
              <a:t>mid=2, x&gt;a[2]</a:t>
            </a:r>
            <a:r>
              <a:rPr lang="en-US" sz="1400" dirty="0">
                <a:latin typeface="Courier" pitchFamily="2" charset="0"/>
                <a:sym typeface="Wingdings" pitchFamily="2" charset="2"/>
              </a:rPr>
              <a:t> low=3</a:t>
            </a:r>
          </a:p>
        </p:txBody>
      </p:sp>
    </p:spTree>
    <p:extLst>
      <p:ext uri="{BB962C8B-B14F-4D97-AF65-F5344CB8AC3E}">
        <p14:creationId xmlns:p14="http://schemas.microsoft.com/office/powerpoint/2010/main" val="9295186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">
            <a:extLst>
              <a:ext uri="{FF2B5EF4-FFF2-40B4-BE49-F238E27FC236}">
                <a16:creationId xmlns:a16="http://schemas.microsoft.com/office/drawing/2014/main" id="{3857D78B-591E-6044-8351-8260500EC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12" y="158892"/>
            <a:ext cx="7886700" cy="580884"/>
          </a:xfrm>
        </p:spPr>
        <p:txBody>
          <a:bodyPr/>
          <a:lstStyle/>
          <a:p>
            <a:r>
              <a:rPr lang="en-US" dirty="0"/>
              <a:t>ANALYSIS – ORDER OF GROWTH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8C0689-A34F-6845-9821-019028A99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Example: binary search</a:t>
            </a:r>
          </a:p>
          <a:p>
            <a:r>
              <a:rPr lang="en-US" sz="2000" dirty="0"/>
              <a:t>Pseudocode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CB45B6-00F7-344A-BCEB-E8F892BD07F8}"/>
              </a:ext>
            </a:extLst>
          </p:cNvPr>
          <p:cNvSpPr txBox="1"/>
          <p:nvPr/>
        </p:nvSpPr>
        <p:spPr>
          <a:xfrm>
            <a:off x="287999" y="1959308"/>
            <a:ext cx="362150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</a:rPr>
              <a:t>low=0</a:t>
            </a:r>
          </a:p>
          <a:p>
            <a:r>
              <a:rPr lang="en-US" sz="1400" dirty="0">
                <a:latin typeface="Courier" pitchFamily="2" charset="0"/>
              </a:rPr>
              <a:t>high=</a:t>
            </a:r>
            <a:r>
              <a:rPr lang="en-US" sz="1400" dirty="0" err="1">
                <a:latin typeface="Courier" pitchFamily="2" charset="0"/>
              </a:rPr>
              <a:t>len</a:t>
            </a:r>
            <a:r>
              <a:rPr lang="en-US" sz="1400" dirty="0">
                <a:latin typeface="Courier" pitchFamily="2" charset="0"/>
              </a:rPr>
              <a:t>(a)</a:t>
            </a:r>
          </a:p>
          <a:p>
            <a:r>
              <a:rPr lang="en-US" sz="1400" dirty="0">
                <a:latin typeface="Courier" pitchFamily="2" charset="0"/>
              </a:rPr>
              <a:t>while (low &lt;= high)</a:t>
            </a:r>
          </a:p>
          <a:p>
            <a:r>
              <a:rPr lang="en-US" sz="1400" dirty="0">
                <a:latin typeface="Courier" pitchFamily="2" charset="0"/>
              </a:rPr>
              <a:t>    mid = low + (high - low)/2</a:t>
            </a:r>
          </a:p>
          <a:p>
            <a:r>
              <a:rPr lang="en-US" sz="1400" dirty="0">
                <a:latin typeface="Courier" pitchFamily="2" charset="0"/>
              </a:rPr>
              <a:t>    if x &lt; a[mid] high=mid-1</a:t>
            </a:r>
          </a:p>
          <a:p>
            <a:r>
              <a:rPr lang="en-US" sz="1400" dirty="0">
                <a:latin typeface="Courier" pitchFamily="2" charset="0"/>
              </a:rPr>
              <a:t>    else if x &gt; a[mid] low=mid+1</a:t>
            </a:r>
          </a:p>
          <a:p>
            <a:r>
              <a:rPr lang="en-US" sz="1400" dirty="0">
                <a:latin typeface="Courier" pitchFamily="2" charset="0"/>
              </a:rPr>
              <a:t>            else return mid</a:t>
            </a:r>
          </a:p>
          <a:p>
            <a:r>
              <a:rPr lang="en-US" sz="1400" dirty="0">
                <a:latin typeface="Courier" pitchFamily="2" charset="0"/>
              </a:rPr>
              <a:t>return -1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3A9099E-03E7-8A4F-BC12-C50DF28334F1}"/>
              </a:ext>
            </a:extLst>
          </p:cNvPr>
          <p:cNvGraphicFramePr>
            <a:graphicFrameLocks noGrp="1"/>
          </p:cNvGraphicFramePr>
          <p:nvPr/>
        </p:nvGraphicFramePr>
        <p:xfrm>
          <a:off x="4803228" y="1660634"/>
          <a:ext cx="3960968" cy="6263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88">
                  <a:extLst>
                    <a:ext uri="{9D8B030D-6E8A-4147-A177-3AD203B41FA5}">
                      <a16:colId xmlns:a16="http://schemas.microsoft.com/office/drawing/2014/main" val="2417013641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70969348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2051403689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3323660465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1932912921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3474579673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3268023359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3323960887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3831085353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2075113799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430682033"/>
                    </a:ext>
                  </a:extLst>
                </a:gridCol>
              </a:tblGrid>
              <a:tr h="313191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3258636"/>
                  </a:ext>
                </a:extLst>
              </a:tr>
              <a:tr h="313191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85428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F2E3956-4765-4A43-94EA-E62AF4BB4778}"/>
              </a:ext>
            </a:extLst>
          </p:cNvPr>
          <p:cNvSpPr txBox="1"/>
          <p:nvPr/>
        </p:nvSpPr>
        <p:spPr>
          <a:xfrm>
            <a:off x="5621785" y="2542334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  <a:cs typeface="Arial" panose="020B0604020202020204" pitchFamily="34" charset="0"/>
              </a:rPr>
              <a:t>low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330384-6C6C-914A-B69A-2848F01431A4}"/>
              </a:ext>
            </a:extLst>
          </p:cNvPr>
          <p:cNvSpPr txBox="1"/>
          <p:nvPr/>
        </p:nvSpPr>
        <p:spPr>
          <a:xfrm>
            <a:off x="5963785" y="2532406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  <a:cs typeface="Arial" panose="020B0604020202020204" pitchFamily="34" charset="0"/>
              </a:rPr>
              <a:t>mid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B0D449-808F-2A43-82DD-803264CA8267}"/>
              </a:ext>
            </a:extLst>
          </p:cNvPr>
          <p:cNvSpPr txBox="1"/>
          <p:nvPr/>
        </p:nvSpPr>
        <p:spPr>
          <a:xfrm>
            <a:off x="4330353" y="1968990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  <a:cs typeface="Arial" panose="020B0604020202020204" pitchFamily="34" charset="0"/>
              </a:rPr>
              <a:t>a[]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3DAC749-5183-3742-9FBC-21E743825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6" idx="0"/>
          </p:cNvCxnSpPr>
          <p:nvPr/>
        </p:nvCxnSpPr>
        <p:spPr>
          <a:xfrm flipV="1">
            <a:off x="5853579" y="2266248"/>
            <a:ext cx="169566" cy="2760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1E40910-9833-464B-A019-62DD60D542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6089913" y="2287016"/>
            <a:ext cx="105666" cy="2453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B4E71C2-DE5E-004B-956B-1D50A921E6FE}"/>
              </a:ext>
            </a:extLst>
          </p:cNvPr>
          <p:cNvSpPr txBox="1"/>
          <p:nvPr/>
        </p:nvSpPr>
        <p:spPr>
          <a:xfrm>
            <a:off x="4330353" y="1315298"/>
            <a:ext cx="5565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  <a:cs typeface="Arial" panose="020B0604020202020204" pitchFamily="34" charset="0"/>
              </a:rPr>
              <a:t>x=44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C96195-1664-1D49-B416-3074EA9B6456}"/>
              </a:ext>
            </a:extLst>
          </p:cNvPr>
          <p:cNvSpPr txBox="1"/>
          <p:nvPr/>
        </p:nvSpPr>
        <p:spPr>
          <a:xfrm>
            <a:off x="4336175" y="2956464"/>
            <a:ext cx="25090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</a:rPr>
              <a:t>low=0, high=10</a:t>
            </a:r>
          </a:p>
          <a:p>
            <a:r>
              <a:rPr lang="en-US" sz="1400" dirty="0">
                <a:latin typeface="Courier" pitchFamily="2" charset="0"/>
              </a:rPr>
              <a:t>mid=5, x&lt;a[5]</a:t>
            </a:r>
            <a:r>
              <a:rPr lang="en-US" sz="1400" dirty="0">
                <a:latin typeface="Courier" pitchFamily="2" charset="0"/>
                <a:sym typeface="Wingdings" pitchFamily="2" charset="2"/>
              </a:rPr>
              <a:t> high=4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D97571-F97D-DD4D-9A94-AEF13210A47D}"/>
              </a:ext>
            </a:extLst>
          </p:cNvPr>
          <p:cNvSpPr txBox="1"/>
          <p:nvPr/>
        </p:nvSpPr>
        <p:spPr>
          <a:xfrm>
            <a:off x="4359404" y="4142864"/>
            <a:ext cx="25090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</a:rPr>
              <a:t>low=3, high=3</a:t>
            </a:r>
          </a:p>
          <a:p>
            <a:r>
              <a:rPr lang="en-US" sz="1400" dirty="0">
                <a:latin typeface="Courier" pitchFamily="2" charset="0"/>
              </a:rPr>
              <a:t>mid=3, x&lt;a[3]</a:t>
            </a:r>
            <a:r>
              <a:rPr lang="en-US" sz="1400" dirty="0">
                <a:latin typeface="Courier" pitchFamily="2" charset="0"/>
                <a:sym typeface="Wingdings" pitchFamily="2" charset="2"/>
              </a:rPr>
              <a:t> high=2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BAAF6A-4B3C-954C-AD73-193E8A95B5AE}"/>
              </a:ext>
            </a:extLst>
          </p:cNvPr>
          <p:cNvSpPr txBox="1"/>
          <p:nvPr/>
        </p:nvSpPr>
        <p:spPr>
          <a:xfrm>
            <a:off x="6288632" y="2529033"/>
            <a:ext cx="5565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  <a:cs typeface="Arial" panose="020B0604020202020204" pitchFamily="34" charset="0"/>
              </a:rPr>
              <a:t>high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975674E-08C0-C14D-8897-D35181A4C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6423390" y="2277310"/>
            <a:ext cx="143876" cy="2936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664C2D2-DDFA-F041-84E9-6D3E3800E7AD}"/>
              </a:ext>
            </a:extLst>
          </p:cNvPr>
          <p:cNvSpPr txBox="1"/>
          <p:nvPr/>
        </p:nvSpPr>
        <p:spPr>
          <a:xfrm>
            <a:off x="4359404" y="3549664"/>
            <a:ext cx="24016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</a:rPr>
              <a:t>low=0, high=4</a:t>
            </a:r>
          </a:p>
          <a:p>
            <a:r>
              <a:rPr lang="en-US" sz="1400" dirty="0">
                <a:latin typeface="Courier" pitchFamily="2" charset="0"/>
              </a:rPr>
              <a:t>mid=2, x&gt;a[2]</a:t>
            </a:r>
            <a:r>
              <a:rPr lang="en-US" sz="1400" dirty="0">
                <a:latin typeface="Courier" pitchFamily="2" charset="0"/>
                <a:sym typeface="Wingdings" pitchFamily="2" charset="2"/>
              </a:rPr>
              <a:t> low=3</a:t>
            </a:r>
          </a:p>
        </p:txBody>
      </p:sp>
    </p:spTree>
    <p:extLst>
      <p:ext uri="{BB962C8B-B14F-4D97-AF65-F5344CB8AC3E}">
        <p14:creationId xmlns:p14="http://schemas.microsoft.com/office/powerpoint/2010/main" val="25614230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5041946A-CDF7-004F-8DE7-E1FECA08E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12" y="158892"/>
            <a:ext cx="7886700" cy="580884"/>
          </a:xfrm>
        </p:spPr>
        <p:txBody>
          <a:bodyPr/>
          <a:lstStyle/>
          <a:p>
            <a:r>
              <a:rPr lang="en-US" dirty="0"/>
              <a:t>ANALYSIS – ORDER OF GROWTH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8C0689-A34F-6845-9821-019028A99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Example: binary search</a:t>
            </a:r>
          </a:p>
          <a:p>
            <a:r>
              <a:rPr lang="en-US" sz="2000" dirty="0"/>
              <a:t>Pseudocode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CB45B6-00F7-344A-BCEB-E8F892BD07F8}"/>
              </a:ext>
            </a:extLst>
          </p:cNvPr>
          <p:cNvSpPr txBox="1"/>
          <p:nvPr/>
        </p:nvSpPr>
        <p:spPr>
          <a:xfrm>
            <a:off x="287999" y="1959308"/>
            <a:ext cx="362150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</a:rPr>
              <a:t>low=0</a:t>
            </a:r>
          </a:p>
          <a:p>
            <a:r>
              <a:rPr lang="en-US" sz="1400" dirty="0">
                <a:latin typeface="Courier" pitchFamily="2" charset="0"/>
              </a:rPr>
              <a:t>high=</a:t>
            </a:r>
            <a:r>
              <a:rPr lang="en-US" sz="1400" dirty="0" err="1">
                <a:latin typeface="Courier" pitchFamily="2" charset="0"/>
              </a:rPr>
              <a:t>len</a:t>
            </a:r>
            <a:r>
              <a:rPr lang="en-US" sz="1400" dirty="0">
                <a:latin typeface="Courier" pitchFamily="2" charset="0"/>
              </a:rPr>
              <a:t>(a)</a:t>
            </a:r>
          </a:p>
          <a:p>
            <a:r>
              <a:rPr lang="en-US" sz="1400" dirty="0">
                <a:latin typeface="Courier" pitchFamily="2" charset="0"/>
              </a:rPr>
              <a:t>while (low &lt;= high)</a:t>
            </a:r>
          </a:p>
          <a:p>
            <a:r>
              <a:rPr lang="en-US" sz="1400" dirty="0">
                <a:latin typeface="Courier" pitchFamily="2" charset="0"/>
              </a:rPr>
              <a:t>    mid = low + (high - low)/2</a:t>
            </a:r>
          </a:p>
          <a:p>
            <a:r>
              <a:rPr lang="en-US" sz="1400" dirty="0">
                <a:latin typeface="Courier" pitchFamily="2" charset="0"/>
              </a:rPr>
              <a:t>    if x &lt; a[mid] high=mid-1</a:t>
            </a:r>
          </a:p>
          <a:p>
            <a:r>
              <a:rPr lang="en-US" sz="1400" dirty="0">
                <a:latin typeface="Courier" pitchFamily="2" charset="0"/>
              </a:rPr>
              <a:t>    else if x &gt; a[mid] low=mid+1</a:t>
            </a:r>
          </a:p>
          <a:p>
            <a:r>
              <a:rPr lang="en-US" sz="1400" dirty="0">
                <a:latin typeface="Courier" pitchFamily="2" charset="0"/>
              </a:rPr>
              <a:t>            else return mid</a:t>
            </a:r>
          </a:p>
          <a:p>
            <a:r>
              <a:rPr lang="en-US" sz="1400" dirty="0">
                <a:latin typeface="Courier" pitchFamily="2" charset="0"/>
              </a:rPr>
              <a:t>return -1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3A9099E-03E7-8A4F-BC12-C50DF28334F1}"/>
              </a:ext>
            </a:extLst>
          </p:cNvPr>
          <p:cNvGraphicFramePr>
            <a:graphicFrameLocks noGrp="1"/>
          </p:cNvGraphicFramePr>
          <p:nvPr/>
        </p:nvGraphicFramePr>
        <p:xfrm>
          <a:off x="4803228" y="1660634"/>
          <a:ext cx="3960968" cy="6263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88">
                  <a:extLst>
                    <a:ext uri="{9D8B030D-6E8A-4147-A177-3AD203B41FA5}">
                      <a16:colId xmlns:a16="http://schemas.microsoft.com/office/drawing/2014/main" val="2417013641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70969348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2051403689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3323660465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1932912921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3474579673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3268023359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3323960887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3831085353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2075113799"/>
                    </a:ext>
                  </a:extLst>
                </a:gridCol>
                <a:gridCol w="360088">
                  <a:extLst>
                    <a:ext uri="{9D8B030D-6E8A-4147-A177-3AD203B41FA5}">
                      <a16:colId xmlns:a16="http://schemas.microsoft.com/office/drawing/2014/main" val="430682033"/>
                    </a:ext>
                  </a:extLst>
                </a:gridCol>
              </a:tblGrid>
              <a:tr h="313191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3258636"/>
                  </a:ext>
                </a:extLst>
              </a:tr>
              <a:tr h="313191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85428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F2E3956-4765-4A43-94EA-E62AF4BB4778}"/>
              </a:ext>
            </a:extLst>
          </p:cNvPr>
          <p:cNvSpPr txBox="1"/>
          <p:nvPr/>
        </p:nvSpPr>
        <p:spPr>
          <a:xfrm>
            <a:off x="5621785" y="2542334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  <a:cs typeface="Arial" panose="020B0604020202020204" pitchFamily="34" charset="0"/>
              </a:rPr>
              <a:t>low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330384-6C6C-914A-B69A-2848F01431A4}"/>
              </a:ext>
            </a:extLst>
          </p:cNvPr>
          <p:cNvSpPr txBox="1"/>
          <p:nvPr/>
        </p:nvSpPr>
        <p:spPr>
          <a:xfrm>
            <a:off x="5963785" y="2532406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  <a:cs typeface="Arial" panose="020B0604020202020204" pitchFamily="34" charset="0"/>
              </a:rPr>
              <a:t>mid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B0D449-808F-2A43-82DD-803264CA8267}"/>
              </a:ext>
            </a:extLst>
          </p:cNvPr>
          <p:cNvSpPr txBox="1"/>
          <p:nvPr/>
        </p:nvSpPr>
        <p:spPr>
          <a:xfrm>
            <a:off x="4330353" y="1968990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  <a:cs typeface="Arial" panose="020B0604020202020204" pitchFamily="34" charset="0"/>
              </a:rPr>
              <a:t>a[]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3DAC749-5183-3742-9FBC-21E743825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6" idx="0"/>
          </p:cNvCxnSpPr>
          <p:nvPr/>
        </p:nvCxnSpPr>
        <p:spPr>
          <a:xfrm flipV="1">
            <a:off x="5853579" y="2266248"/>
            <a:ext cx="169566" cy="2760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1E40910-9833-464B-A019-62DD60D542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6089913" y="2287016"/>
            <a:ext cx="105666" cy="2453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B4E71C2-DE5E-004B-956B-1D50A921E6FE}"/>
              </a:ext>
            </a:extLst>
          </p:cNvPr>
          <p:cNvSpPr txBox="1"/>
          <p:nvPr/>
        </p:nvSpPr>
        <p:spPr>
          <a:xfrm>
            <a:off x="4330353" y="1315298"/>
            <a:ext cx="5565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  <a:cs typeface="Arial" panose="020B0604020202020204" pitchFamily="34" charset="0"/>
              </a:rPr>
              <a:t>x=44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C96195-1664-1D49-B416-3074EA9B6456}"/>
              </a:ext>
            </a:extLst>
          </p:cNvPr>
          <p:cNvSpPr txBox="1"/>
          <p:nvPr/>
        </p:nvSpPr>
        <p:spPr>
          <a:xfrm>
            <a:off x="4336175" y="2956464"/>
            <a:ext cx="25090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</a:rPr>
              <a:t>low=0, high=10</a:t>
            </a:r>
          </a:p>
          <a:p>
            <a:r>
              <a:rPr lang="en-US" sz="1400" dirty="0">
                <a:latin typeface="Courier" pitchFamily="2" charset="0"/>
              </a:rPr>
              <a:t>mid=5, x&lt;a[5]</a:t>
            </a:r>
            <a:r>
              <a:rPr lang="en-US" sz="1400" dirty="0">
                <a:latin typeface="Courier" pitchFamily="2" charset="0"/>
                <a:sym typeface="Wingdings" pitchFamily="2" charset="2"/>
              </a:rPr>
              <a:t> high=4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D97571-F97D-DD4D-9A94-AEF13210A47D}"/>
              </a:ext>
            </a:extLst>
          </p:cNvPr>
          <p:cNvSpPr txBox="1"/>
          <p:nvPr/>
        </p:nvSpPr>
        <p:spPr>
          <a:xfrm>
            <a:off x="4359404" y="4142864"/>
            <a:ext cx="25090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</a:rPr>
              <a:t>low=3, high=3</a:t>
            </a:r>
          </a:p>
          <a:p>
            <a:r>
              <a:rPr lang="en-US" sz="1400" dirty="0">
                <a:latin typeface="Courier" pitchFamily="2" charset="0"/>
              </a:rPr>
              <a:t>mid=3, x&lt;a[3]</a:t>
            </a:r>
            <a:r>
              <a:rPr lang="en-US" sz="1400" dirty="0">
                <a:latin typeface="Courier" pitchFamily="2" charset="0"/>
                <a:sym typeface="Wingdings" pitchFamily="2" charset="2"/>
              </a:rPr>
              <a:t> high=2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BAAF6A-4B3C-954C-AD73-193E8A95B5AE}"/>
              </a:ext>
            </a:extLst>
          </p:cNvPr>
          <p:cNvSpPr txBox="1"/>
          <p:nvPr/>
        </p:nvSpPr>
        <p:spPr>
          <a:xfrm>
            <a:off x="6288632" y="2529033"/>
            <a:ext cx="5565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 pitchFamily="2" charset="0"/>
                <a:cs typeface="Arial" panose="020B0604020202020204" pitchFamily="34" charset="0"/>
              </a:rPr>
              <a:t>high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975674E-08C0-C14D-8897-D35181A4C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6423390" y="2277310"/>
            <a:ext cx="143876" cy="2936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E3E85A4-9176-A642-B80B-646A6F8B4821}"/>
              </a:ext>
            </a:extLst>
          </p:cNvPr>
          <p:cNvSpPr txBox="1"/>
          <p:nvPr/>
        </p:nvSpPr>
        <p:spPr>
          <a:xfrm>
            <a:off x="4357480" y="4713551"/>
            <a:ext cx="1580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</a:rPr>
              <a:t>low=3, high=2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92139C-28A8-5A48-891D-B53D5935BC9F}"/>
              </a:ext>
            </a:extLst>
          </p:cNvPr>
          <p:cNvSpPr txBox="1"/>
          <p:nvPr/>
        </p:nvSpPr>
        <p:spPr>
          <a:xfrm>
            <a:off x="4359404" y="3549664"/>
            <a:ext cx="24016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</a:rPr>
              <a:t>low=0, high=4</a:t>
            </a:r>
          </a:p>
          <a:p>
            <a:r>
              <a:rPr lang="en-US" sz="1400" dirty="0">
                <a:latin typeface="Courier" pitchFamily="2" charset="0"/>
              </a:rPr>
              <a:t>mid=2, x&gt;a[2]</a:t>
            </a:r>
            <a:r>
              <a:rPr lang="en-US" sz="1400" dirty="0">
                <a:latin typeface="Courier" pitchFamily="2" charset="0"/>
                <a:sym typeface="Wingdings" pitchFamily="2" charset="2"/>
              </a:rPr>
              <a:t> low=3</a:t>
            </a:r>
          </a:p>
        </p:txBody>
      </p:sp>
    </p:spTree>
    <p:extLst>
      <p:ext uri="{BB962C8B-B14F-4D97-AF65-F5344CB8AC3E}">
        <p14:creationId xmlns:p14="http://schemas.microsoft.com/office/powerpoint/2010/main" val="40211412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A7F53E69-F8F9-2340-B7B9-A2752FF9D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12" y="158892"/>
            <a:ext cx="7886700" cy="580884"/>
          </a:xfrm>
        </p:spPr>
        <p:txBody>
          <a:bodyPr/>
          <a:lstStyle/>
          <a:p>
            <a:r>
              <a:rPr lang="en-US" dirty="0"/>
              <a:t>ANALYSIS – ORDER OF GROWTH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8C0689-A34F-6845-9821-019028A99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Example: binary search</a:t>
            </a:r>
          </a:p>
          <a:p>
            <a:r>
              <a:rPr lang="en-US" sz="2000" dirty="0"/>
              <a:t>Pseudocode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CB45B6-00F7-344A-BCEB-E8F892BD07F8}"/>
              </a:ext>
            </a:extLst>
          </p:cNvPr>
          <p:cNvSpPr txBox="1"/>
          <p:nvPr/>
        </p:nvSpPr>
        <p:spPr>
          <a:xfrm>
            <a:off x="287999" y="1959308"/>
            <a:ext cx="362150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</a:rPr>
              <a:t>low=0</a:t>
            </a:r>
          </a:p>
          <a:p>
            <a:r>
              <a:rPr lang="en-US" sz="1400" dirty="0">
                <a:latin typeface="Courier" pitchFamily="2" charset="0"/>
              </a:rPr>
              <a:t>high=</a:t>
            </a:r>
            <a:r>
              <a:rPr lang="en-US" sz="1400" dirty="0" err="1">
                <a:latin typeface="Courier" pitchFamily="2" charset="0"/>
              </a:rPr>
              <a:t>len</a:t>
            </a:r>
            <a:r>
              <a:rPr lang="en-US" sz="1400" dirty="0">
                <a:latin typeface="Courier" pitchFamily="2" charset="0"/>
              </a:rPr>
              <a:t>(a)</a:t>
            </a:r>
          </a:p>
          <a:p>
            <a:r>
              <a:rPr lang="en-US" sz="1400" dirty="0">
                <a:latin typeface="Courier" pitchFamily="2" charset="0"/>
              </a:rPr>
              <a:t>while (low &lt;= high)</a:t>
            </a:r>
          </a:p>
          <a:p>
            <a:r>
              <a:rPr lang="en-US" sz="1400" dirty="0">
                <a:latin typeface="Courier" pitchFamily="2" charset="0"/>
              </a:rPr>
              <a:t>    mid = low + (high - low)/2</a:t>
            </a:r>
          </a:p>
          <a:p>
            <a:r>
              <a:rPr lang="en-US" sz="1400" dirty="0">
                <a:latin typeface="Courier" pitchFamily="2" charset="0"/>
              </a:rPr>
              <a:t>    if x &lt; a[mid] high=mid-1</a:t>
            </a:r>
          </a:p>
          <a:p>
            <a:r>
              <a:rPr lang="en-US" sz="1400" dirty="0">
                <a:latin typeface="Courier" pitchFamily="2" charset="0"/>
              </a:rPr>
              <a:t>    else if x &gt; a[mid] low=mid+1</a:t>
            </a:r>
          </a:p>
          <a:p>
            <a:r>
              <a:rPr lang="en-US" sz="1400" dirty="0">
                <a:latin typeface="Courier" pitchFamily="2" charset="0"/>
              </a:rPr>
              <a:t>            else return mid</a:t>
            </a:r>
          </a:p>
          <a:p>
            <a:r>
              <a:rPr lang="en-US" sz="1400" dirty="0">
                <a:latin typeface="Courier" pitchFamily="2" charset="0"/>
              </a:rPr>
              <a:t>return -1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CA88B7-0DB5-C44E-AFA6-3519040F533F}"/>
              </a:ext>
            </a:extLst>
          </p:cNvPr>
          <p:cNvSpPr txBox="1"/>
          <p:nvPr/>
        </p:nvSpPr>
        <p:spPr>
          <a:xfrm>
            <a:off x="4319752" y="1836094"/>
            <a:ext cx="432848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T(N) = number of compares that binary search needs to execute as a function of array size N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T(N) ~ ln(N)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9478DD-2AFD-D145-8081-597422BE0072}"/>
              </a:ext>
            </a:extLst>
          </p:cNvPr>
          <p:cNvSpPr txBox="1"/>
          <p:nvPr/>
        </p:nvSpPr>
        <p:spPr>
          <a:xfrm>
            <a:off x="7442708" y="2478223"/>
            <a:ext cx="13292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Approximation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CDD53FC-D6E8-D24F-A099-2E6122732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5444359" y="2636355"/>
            <a:ext cx="1996724" cy="2470"/>
          </a:xfrm>
          <a:prstGeom prst="straightConnector1">
            <a:avLst/>
          </a:prstGeom>
          <a:ln w="25400">
            <a:solidFill>
              <a:srgbClr val="D6D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34210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346F6795-EA6F-0B4D-AD85-3389BD5F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12" y="158892"/>
            <a:ext cx="7886700" cy="580884"/>
          </a:xfrm>
        </p:spPr>
        <p:txBody>
          <a:bodyPr/>
          <a:lstStyle/>
          <a:p>
            <a:r>
              <a:rPr lang="en-US" dirty="0"/>
              <a:t>ANALYSIS – ORDER OF GROWTH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8C0689-A34F-6845-9821-019028A99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GB" dirty="0"/>
              <a:t>Types of Analyses</a:t>
            </a:r>
          </a:p>
          <a:p>
            <a:endParaRPr lang="en-GB" sz="1600" dirty="0">
              <a:highlight>
                <a:srgbClr val="D6D2C4"/>
              </a:highlight>
            </a:endParaRPr>
          </a:p>
          <a:p>
            <a:r>
              <a:rPr lang="en-GB" sz="2000" dirty="0">
                <a:highlight>
                  <a:srgbClr val="D6D2C4"/>
                </a:highlight>
              </a:rPr>
              <a:t>Best case </a:t>
            </a:r>
            <a:r>
              <a:rPr lang="en-GB" sz="2000" dirty="0"/>
              <a:t>- Lower bound on cost</a:t>
            </a:r>
          </a:p>
          <a:p>
            <a:pPr marL="685800" lvl="1" indent="-342900">
              <a:buFont typeface="Courier New" panose="02070309020205020404" pitchFamily="49" charset="0"/>
              <a:buChar char="o"/>
            </a:pPr>
            <a:r>
              <a:rPr lang="en-GB" sz="1600" dirty="0"/>
              <a:t>Determined by “easiest” input</a:t>
            </a:r>
          </a:p>
          <a:p>
            <a:pPr marL="685800" lvl="1" indent="-342900">
              <a:buFont typeface="Courier New" panose="02070309020205020404" pitchFamily="49" charset="0"/>
              <a:buChar char="o"/>
            </a:pPr>
            <a:r>
              <a:rPr lang="en-GB" sz="1600" dirty="0"/>
              <a:t>Provides a goal for all inputs</a:t>
            </a:r>
          </a:p>
          <a:p>
            <a:r>
              <a:rPr lang="en-GB" sz="2000" dirty="0">
                <a:highlight>
                  <a:srgbClr val="D6D2C4"/>
                </a:highlight>
              </a:rPr>
              <a:t>Worst case </a:t>
            </a:r>
            <a:r>
              <a:rPr lang="en-GB" sz="2000" dirty="0"/>
              <a:t>- Upper bound on cost</a:t>
            </a:r>
          </a:p>
          <a:p>
            <a:pPr marL="685800" lvl="1" indent="-342900">
              <a:buFont typeface="Courier New" panose="02070309020205020404" pitchFamily="49" charset="0"/>
              <a:buChar char="o"/>
            </a:pPr>
            <a:r>
              <a:rPr lang="en-GB" sz="1600" dirty="0"/>
              <a:t>Determined by “most difficult” input</a:t>
            </a:r>
          </a:p>
          <a:p>
            <a:pPr marL="685800" lvl="1" indent="-342900">
              <a:buFont typeface="Courier New" panose="02070309020205020404" pitchFamily="49" charset="0"/>
              <a:buChar char="o"/>
            </a:pPr>
            <a:r>
              <a:rPr lang="en-GB" sz="1600" dirty="0"/>
              <a:t>Provides a guarantee for all inputs</a:t>
            </a:r>
          </a:p>
          <a:p>
            <a:r>
              <a:rPr lang="en-GB" sz="2000" dirty="0">
                <a:highlight>
                  <a:srgbClr val="D6D2C4"/>
                </a:highlight>
              </a:rPr>
              <a:t>Average case </a:t>
            </a:r>
            <a:r>
              <a:rPr lang="en-GB" sz="2000" dirty="0"/>
              <a:t>- Expected cost for random input</a:t>
            </a:r>
          </a:p>
          <a:p>
            <a:pPr marL="685800" lvl="1" indent="-342900">
              <a:buFont typeface="Courier New" panose="02070309020205020404" pitchFamily="49" charset="0"/>
              <a:buChar char="o"/>
            </a:pPr>
            <a:r>
              <a:rPr lang="en-GB" sz="1600" dirty="0"/>
              <a:t>Need a model for “random” input</a:t>
            </a:r>
          </a:p>
          <a:p>
            <a:pPr marL="685800" lvl="1" indent="-342900">
              <a:buFont typeface="Courier New" panose="02070309020205020404" pitchFamily="49" charset="0"/>
              <a:buChar char="o"/>
            </a:pPr>
            <a:r>
              <a:rPr lang="en-GB" sz="1600" dirty="0"/>
              <a:t>Provides a way to predict performance</a:t>
            </a:r>
            <a:r>
              <a:rPr lang="en-U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860915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2BDA3B34-6438-744B-B59C-F4E4C70C0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12" y="158892"/>
            <a:ext cx="7886700" cy="580884"/>
          </a:xfrm>
        </p:spPr>
        <p:txBody>
          <a:bodyPr/>
          <a:lstStyle/>
          <a:p>
            <a:r>
              <a:rPr lang="en-US" dirty="0"/>
              <a:t>ANALYSIS – ORDER OF GROWTH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8C0689-A34F-6845-9821-019028A99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87999" y="994718"/>
            <a:ext cx="8360242" cy="3955654"/>
          </a:xfrm>
        </p:spPr>
        <p:txBody>
          <a:bodyPr>
            <a:normAutofit/>
          </a:bodyPr>
          <a:lstStyle/>
          <a:p>
            <a:r>
              <a:rPr lang="en-GB" dirty="0"/>
              <a:t>How to design algorithms</a:t>
            </a:r>
          </a:p>
          <a:p>
            <a:pPr marL="685800" lvl="1" indent="-342900">
              <a:buFont typeface="Courier New" panose="02070309020205020404" pitchFamily="49" charset="0"/>
              <a:buChar char="o"/>
            </a:pPr>
            <a:r>
              <a:rPr lang="en-GB" sz="2000" dirty="0">
                <a:highlight>
                  <a:srgbClr val="D6D2C4"/>
                </a:highlight>
              </a:rPr>
              <a:t>Approach 1:</a:t>
            </a:r>
            <a:r>
              <a:rPr lang="en-GB" sz="2000" dirty="0"/>
              <a:t> design for the worst case scenario</a:t>
            </a:r>
          </a:p>
          <a:p>
            <a:pPr marL="685800" lvl="1" indent="-342900">
              <a:buFont typeface="Courier New" panose="02070309020205020404" pitchFamily="49" charset="0"/>
              <a:buChar char="o"/>
            </a:pPr>
            <a:r>
              <a:rPr lang="en-GB" sz="2000" dirty="0">
                <a:highlight>
                  <a:srgbClr val="D6D2C4"/>
                </a:highlight>
              </a:rPr>
              <a:t>Approach 2:</a:t>
            </a:r>
            <a:r>
              <a:rPr lang="en-GB" sz="2000" dirty="0"/>
              <a:t> design for the average case scenario (randomize input, probabilistic guarantee)</a:t>
            </a:r>
          </a:p>
          <a:p>
            <a:pPr marL="685800" lvl="1" indent="-342900">
              <a:buFont typeface="Courier New" panose="02070309020205020404" pitchFamily="49" charset="0"/>
              <a:buChar char="o"/>
            </a:pPr>
            <a:endParaRPr lang="en-GB" sz="2000" dirty="0"/>
          </a:p>
          <a:p>
            <a:r>
              <a:rPr lang="en-GB" dirty="0"/>
              <a:t>How to know if we can do better (optimal solution)</a:t>
            </a:r>
          </a:p>
        </p:txBody>
      </p:sp>
    </p:spTree>
    <p:extLst>
      <p:ext uri="{BB962C8B-B14F-4D97-AF65-F5344CB8AC3E}">
        <p14:creationId xmlns:p14="http://schemas.microsoft.com/office/powerpoint/2010/main" val="2021122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645BCD55-F132-FC44-A084-1A265FE3F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12" y="158892"/>
            <a:ext cx="7886700" cy="580884"/>
          </a:xfrm>
        </p:spPr>
        <p:txBody>
          <a:bodyPr/>
          <a:lstStyle/>
          <a:p>
            <a:r>
              <a:rPr lang="en-US" dirty="0"/>
              <a:t>ANALYSIS – ORDER OF GROWTH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8C0689-A34F-6845-9821-019028A99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GB" sz="2000" dirty="0"/>
              <a:t>Develop Upper Bound</a:t>
            </a:r>
          </a:p>
          <a:p>
            <a:pPr marL="457200" indent="-457200">
              <a:buAutoNum type="arabicPeriod"/>
            </a:pPr>
            <a:r>
              <a:rPr lang="en-GB" sz="2000" dirty="0"/>
              <a:t>Develop Lower Bound</a:t>
            </a:r>
          </a:p>
          <a:p>
            <a:pPr marL="457200" indent="-457200">
              <a:buAutoNum type="arabicPeriod"/>
            </a:pPr>
            <a:r>
              <a:rPr lang="en-GB" sz="2000" dirty="0"/>
              <a:t>Classify &amp; Compare Algorithms</a:t>
            </a:r>
            <a:endParaRPr lang="en-GB" sz="2000" dirty="0">
              <a:highlight>
                <a:srgbClr val="D6D2C4"/>
              </a:highlight>
            </a:endParaRPr>
          </a:p>
          <a:p>
            <a:endParaRPr lang="en-US" sz="16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D1655E0-64D1-8C47-9EE2-304BB5E96261}"/>
              </a:ext>
            </a:extLst>
          </p:cNvPr>
          <p:cNvGraphicFramePr>
            <a:graphicFrameLocks noGrp="1"/>
          </p:cNvGraphicFramePr>
          <p:nvPr/>
        </p:nvGraphicFramePr>
        <p:xfrm>
          <a:off x="416383" y="2179363"/>
          <a:ext cx="6961879" cy="283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9711">
                  <a:extLst>
                    <a:ext uri="{9D8B030D-6E8A-4147-A177-3AD203B41FA5}">
                      <a16:colId xmlns:a16="http://schemas.microsoft.com/office/drawing/2014/main" val="4286248686"/>
                    </a:ext>
                  </a:extLst>
                </a:gridCol>
                <a:gridCol w="2196662">
                  <a:extLst>
                    <a:ext uri="{9D8B030D-6E8A-4147-A177-3AD203B41FA5}">
                      <a16:colId xmlns:a16="http://schemas.microsoft.com/office/drawing/2014/main" val="3475695839"/>
                    </a:ext>
                  </a:extLst>
                </a:gridCol>
                <a:gridCol w="1166648">
                  <a:extLst>
                    <a:ext uri="{9D8B030D-6E8A-4147-A177-3AD203B41FA5}">
                      <a16:colId xmlns:a16="http://schemas.microsoft.com/office/drawing/2014/main" val="2419458733"/>
                    </a:ext>
                  </a:extLst>
                </a:gridCol>
                <a:gridCol w="2368858">
                  <a:extLst>
                    <a:ext uri="{9D8B030D-6E8A-4147-A177-3AD203B41FA5}">
                      <a16:colId xmlns:a16="http://schemas.microsoft.com/office/drawing/2014/main" val="8043481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Shorthand for…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9207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Big Oh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Develop Upper Bound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Ο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(N</a:t>
                      </a:r>
                      <a:r>
                        <a:rPr lang="en-US" sz="1400" b="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N</a:t>
                      </a:r>
                      <a:r>
                        <a:rPr lang="en-US" sz="1200" b="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  <a:p>
                      <a:r>
                        <a:rPr lang="en-US" sz="12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 N log N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 N</a:t>
                      </a:r>
                    </a:p>
                    <a:p>
                      <a:r>
                        <a:rPr lang="en-US" sz="12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1877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Big Omega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Develop Lower Bound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Ω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(N</a:t>
                      </a:r>
                      <a:r>
                        <a:rPr lang="en-US" sz="1400" b="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N</a:t>
                      </a:r>
                      <a:r>
                        <a:rPr lang="en-US" sz="1200" b="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  <a:p>
                      <a:r>
                        <a:rPr lang="en-US" sz="12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r>
                        <a:rPr lang="en-US" sz="1200" b="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200" b="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r>
                        <a:rPr lang="en-US" sz="1200" b="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+ N log N</a:t>
                      </a:r>
                    </a:p>
                    <a:p>
                      <a:r>
                        <a:rPr lang="en-US" sz="12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4661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Big Theta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 Classify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Θ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(N</a:t>
                      </a:r>
                      <a:r>
                        <a:rPr lang="en-US" sz="1400" b="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1/2 N</a:t>
                      </a:r>
                      <a:r>
                        <a:rPr lang="en-US" sz="1200" b="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  <a:p>
                      <a:r>
                        <a:rPr lang="en-US" sz="12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r>
                        <a:rPr lang="en-US" sz="1200" b="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r>
                        <a:rPr lang="en-US" sz="1200" b="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+ 5 N Log N</a:t>
                      </a:r>
                    </a:p>
                    <a:p>
                      <a:r>
                        <a:rPr lang="en-US" sz="12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584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83498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BC516A60-12CA-5B45-BCCD-61641C306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12" y="158892"/>
            <a:ext cx="7886700" cy="580884"/>
          </a:xfrm>
        </p:spPr>
        <p:txBody>
          <a:bodyPr/>
          <a:lstStyle/>
          <a:p>
            <a:r>
              <a:rPr lang="en-US" dirty="0"/>
              <a:t>ANALYSIS – ORDER OF GROWTH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D1655E0-64D1-8C47-9EE2-304BB5E962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934222"/>
              </p:ext>
            </p:extLst>
          </p:nvPr>
        </p:nvGraphicFramePr>
        <p:xfrm>
          <a:off x="287999" y="1151890"/>
          <a:ext cx="8614263" cy="366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5286">
                  <a:extLst>
                    <a:ext uri="{9D8B030D-6E8A-4147-A177-3AD203B41FA5}">
                      <a16:colId xmlns:a16="http://schemas.microsoft.com/office/drawing/2014/main" val="4286248686"/>
                    </a:ext>
                  </a:extLst>
                </a:gridCol>
                <a:gridCol w="2027988">
                  <a:extLst>
                    <a:ext uri="{9D8B030D-6E8A-4147-A177-3AD203B41FA5}">
                      <a16:colId xmlns:a16="http://schemas.microsoft.com/office/drawing/2014/main" val="3475695839"/>
                    </a:ext>
                  </a:extLst>
                </a:gridCol>
                <a:gridCol w="1077065">
                  <a:extLst>
                    <a:ext uri="{9D8B030D-6E8A-4147-A177-3AD203B41FA5}">
                      <a16:colId xmlns:a16="http://schemas.microsoft.com/office/drawing/2014/main" val="2419458733"/>
                    </a:ext>
                  </a:extLst>
                </a:gridCol>
                <a:gridCol w="2186962">
                  <a:extLst>
                    <a:ext uri="{9D8B030D-6E8A-4147-A177-3AD203B41FA5}">
                      <a16:colId xmlns:a16="http://schemas.microsoft.com/office/drawing/2014/main" val="804348159"/>
                    </a:ext>
                  </a:extLst>
                </a:gridCol>
                <a:gridCol w="2186962">
                  <a:extLst>
                    <a:ext uri="{9D8B030D-6E8A-4147-A177-3AD203B41FA5}">
                      <a16:colId xmlns:a16="http://schemas.microsoft.com/office/drawing/2014/main" val="42166725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Shorthand for…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Provides…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9207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Big Oh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Develop Upper Bound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Ο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(N</a:t>
                      </a:r>
                      <a:r>
                        <a:rPr lang="en-US" sz="1400" b="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N</a:t>
                      </a:r>
                      <a:r>
                        <a:rPr lang="en-US" sz="1200" b="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  <a:p>
                      <a:r>
                        <a:rPr lang="en-US" sz="12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 N log N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 N</a:t>
                      </a:r>
                    </a:p>
                    <a:p>
                      <a:r>
                        <a:rPr lang="en-US" sz="12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Θ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(N</a:t>
                      </a:r>
                      <a:r>
                        <a:rPr lang="en-US" sz="1200" b="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 and smaller </a:t>
                      </a:r>
                    </a:p>
                    <a:p>
                      <a:endParaRPr lang="en-US" sz="1200" b="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1877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Big Omega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Develop Lower Bound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Ω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(N</a:t>
                      </a:r>
                      <a:r>
                        <a:rPr lang="en-US" sz="1400" b="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N</a:t>
                      </a:r>
                      <a:r>
                        <a:rPr lang="en-US" sz="1200" b="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  <a:p>
                      <a:r>
                        <a:rPr lang="en-US" sz="12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r>
                        <a:rPr lang="en-US" sz="1200" b="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200" b="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r>
                        <a:rPr lang="en-US" sz="1200" b="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+ N log N</a:t>
                      </a:r>
                    </a:p>
                    <a:p>
                      <a:r>
                        <a:rPr lang="en-US" sz="12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Θ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(N</a:t>
                      </a:r>
                      <a:r>
                        <a:rPr lang="en-US" sz="1200" b="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 and larger </a:t>
                      </a:r>
                    </a:p>
                    <a:p>
                      <a:endParaRPr lang="en-US" sz="1200" b="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US" sz="1200" b="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4661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Big Theta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Classify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Θ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(N</a:t>
                      </a:r>
                      <a:r>
                        <a:rPr lang="en-US" sz="1400" b="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1/2 N</a:t>
                      </a:r>
                      <a:r>
                        <a:rPr lang="en-US" sz="1200" b="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  <a:p>
                      <a:r>
                        <a:rPr lang="en-US" sz="12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r>
                        <a:rPr lang="en-US" sz="1200" b="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r>
                        <a:rPr lang="en-US" sz="1200" b="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+ 5 N Log N</a:t>
                      </a:r>
                    </a:p>
                    <a:p>
                      <a:r>
                        <a:rPr lang="en-US" sz="12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Asymptotic growth rate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584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Tilde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Approximate 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~2 N</a:t>
                      </a:r>
                      <a:r>
                        <a:rPr lang="en-US" sz="1400" b="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r>
                        <a:rPr lang="en-US" sz="1200" b="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r>
                        <a:rPr lang="en-US" sz="1200" b="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+ 5 N log N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r>
                        <a:rPr lang="en-US" sz="1200" b="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+ 10 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r>
                        <a:rPr lang="en-US" sz="12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+ 50</a:t>
                      </a:r>
                    </a:p>
                    <a:p>
                      <a:r>
                        <a:rPr lang="en-US" sz="12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Leading term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80897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48552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2DC4CFC3-4FB5-6143-8C4F-7761C3E79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12" y="158892"/>
            <a:ext cx="7886700" cy="580884"/>
          </a:xfrm>
        </p:spPr>
        <p:txBody>
          <a:bodyPr/>
          <a:lstStyle/>
          <a:p>
            <a:r>
              <a:rPr lang="en-US" dirty="0"/>
              <a:t>ANALYSIS – MEMORY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1769A71-2B24-4C4D-BDD7-DA8985A4086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How many bytes does an algorithm use?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5AED246-249F-B440-9334-47C52F8E9E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4323550"/>
              </p:ext>
            </p:extLst>
          </p:nvPr>
        </p:nvGraphicFramePr>
        <p:xfrm>
          <a:off x="399393" y="1553823"/>
          <a:ext cx="60960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3388463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41982409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2609332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717856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Primitive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err="1">
                          <a:solidFill>
                            <a:schemeClr val="tx1"/>
                          </a:solidFill>
                        </a:rPr>
                        <a:t>boolean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34459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char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760533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84959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double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738700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1-D arrays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int[]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~ 4 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320397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double[]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~ 8 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190742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2-D arrays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int[][]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~ 4 N*M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203093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double[][]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~ 8 N*M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71806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03722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2">
            <a:extLst>
              <a:ext uri="{FF2B5EF4-FFF2-40B4-BE49-F238E27FC236}">
                <a16:creationId xmlns:a16="http://schemas.microsoft.com/office/drawing/2014/main" id="{FD7AC719-2E03-7242-A456-DB1AC044D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12" y="158892"/>
            <a:ext cx="7886700" cy="580884"/>
          </a:xfrm>
        </p:spPr>
        <p:txBody>
          <a:bodyPr/>
          <a:lstStyle/>
          <a:p>
            <a:r>
              <a:rPr lang="en-US" dirty="0"/>
              <a:t>ANALYSIS – MEMORY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1769A71-2B24-4C4D-BDD7-DA8985A4086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Example – Union Find</a:t>
            </a:r>
          </a:p>
        </p:txBody>
      </p:sp>
      <p:grpSp>
        <p:nvGrpSpPr>
          <p:cNvPr id="18" name="Group 17" descr="pseudo code for union find">
            <a:extLst>
              <a:ext uri="{FF2B5EF4-FFF2-40B4-BE49-F238E27FC236}">
                <a16:creationId xmlns:a16="http://schemas.microsoft.com/office/drawing/2014/main" id="{A3F0D4B4-91A3-BF40-8240-62642AF471C2}"/>
              </a:ext>
            </a:extLst>
          </p:cNvPr>
          <p:cNvGrpSpPr/>
          <p:nvPr/>
        </p:nvGrpSpPr>
        <p:grpSpPr>
          <a:xfrm>
            <a:off x="199697" y="1661061"/>
            <a:ext cx="8860220" cy="900179"/>
            <a:chOff x="199697" y="1661061"/>
            <a:chExt cx="8860220" cy="90017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4A5FAD3-66B0-6942-8537-A610F3980440}"/>
                </a:ext>
              </a:extLst>
            </p:cNvPr>
            <p:cNvSpPr txBox="1"/>
            <p:nvPr/>
          </p:nvSpPr>
          <p:spPr>
            <a:xfrm>
              <a:off x="288000" y="1679944"/>
              <a:ext cx="180049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Courier" pitchFamily="2" charset="0"/>
                </a:rPr>
                <a:t>#</a:t>
              </a:r>
              <a:r>
                <a:rPr lang="en-US" sz="1000" dirty="0" err="1">
                  <a:latin typeface="Courier" pitchFamily="2" charset="0"/>
                </a:rPr>
                <a:t>init</a:t>
              </a:r>
              <a:endParaRPr lang="en-US" sz="1000" dirty="0">
                <a:latin typeface="Courier" pitchFamily="2" charset="0"/>
              </a:endParaRPr>
            </a:p>
            <a:p>
              <a:r>
                <a:rPr lang="en-US" sz="1000" dirty="0">
                  <a:latin typeface="Courier" pitchFamily="2" charset="0"/>
                </a:rPr>
                <a:t>id = []</a:t>
              </a:r>
            </a:p>
            <a:p>
              <a:r>
                <a:rPr lang="en-US" sz="1000" dirty="0">
                  <a:latin typeface="Courier" pitchFamily="2" charset="0"/>
                </a:rPr>
                <a:t>for </a:t>
              </a:r>
              <a:r>
                <a:rPr lang="en-US" sz="1000" dirty="0" err="1">
                  <a:latin typeface="Courier" pitchFamily="2" charset="0"/>
                </a:rPr>
                <a:t>i</a:t>
              </a:r>
              <a:r>
                <a:rPr lang="en-US" sz="1000" dirty="0">
                  <a:latin typeface="Courier" pitchFamily="2" charset="0"/>
                </a:rPr>
                <a:t> in range (N-1):</a:t>
              </a:r>
            </a:p>
            <a:p>
              <a:r>
                <a:rPr lang="en-US" sz="1000" dirty="0">
                  <a:latin typeface="Courier" pitchFamily="2" charset="0"/>
                </a:rPr>
                <a:t>    </a:t>
              </a:r>
              <a:r>
                <a:rPr lang="en-US" sz="1000" dirty="0" err="1">
                  <a:latin typeface="Courier" pitchFamily="2" charset="0"/>
                </a:rPr>
                <a:t>id.append</a:t>
              </a:r>
              <a:r>
                <a:rPr lang="en-US" sz="1000" dirty="0">
                  <a:latin typeface="Courier" pitchFamily="2" charset="0"/>
                </a:rPr>
                <a:t>(</a:t>
              </a:r>
              <a:r>
                <a:rPr lang="en-US" sz="1000" dirty="0" err="1">
                  <a:latin typeface="Courier" pitchFamily="2" charset="0"/>
                </a:rPr>
                <a:t>i</a:t>
              </a:r>
              <a:r>
                <a:rPr lang="en-US" sz="1000" dirty="0">
                  <a:latin typeface="Courier" pitchFamily="2" charset="0"/>
                </a:rPr>
                <a:t>)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6C22775-8BA7-D146-8F11-CF586AF0AA3E}"/>
                </a:ext>
              </a:extLst>
            </p:cNvPr>
            <p:cNvSpPr txBox="1"/>
            <p:nvPr/>
          </p:nvSpPr>
          <p:spPr>
            <a:xfrm>
              <a:off x="6422273" y="1671571"/>
              <a:ext cx="1885411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Courier" pitchFamily="2" charset="0"/>
                </a:rPr>
                <a:t>#union</a:t>
              </a:r>
            </a:p>
            <a:p>
              <a:r>
                <a:rPr lang="en-US" sz="1000" dirty="0">
                  <a:latin typeface="Courier" pitchFamily="2" charset="0"/>
                </a:rPr>
                <a:t>def union(</a:t>
              </a:r>
              <a:r>
                <a:rPr lang="en-US" sz="1000" dirty="0" err="1">
                  <a:latin typeface="Courier" pitchFamily="2" charset="0"/>
                </a:rPr>
                <a:t>u,v</a:t>
              </a:r>
              <a:r>
                <a:rPr lang="en-US" sz="1000" dirty="0">
                  <a:latin typeface="Courier" pitchFamily="2" charset="0"/>
                </a:rPr>
                <a:t>):</a:t>
              </a:r>
            </a:p>
            <a:p>
              <a:r>
                <a:rPr lang="en-US" sz="1000" dirty="0">
                  <a:latin typeface="Courier" pitchFamily="2" charset="0"/>
                </a:rPr>
                <a:t>    </a:t>
              </a:r>
              <a:r>
                <a:rPr lang="en-US" sz="1000" dirty="0" err="1">
                  <a:latin typeface="Courier" pitchFamily="2" charset="0"/>
                </a:rPr>
                <a:t>r_u</a:t>
              </a:r>
              <a:r>
                <a:rPr lang="en-US" sz="1000" dirty="0">
                  <a:latin typeface="Courier" pitchFamily="2" charset="0"/>
                </a:rPr>
                <a:t>=root(u)</a:t>
              </a:r>
            </a:p>
            <a:p>
              <a:r>
                <a:rPr lang="en-US" sz="1000" dirty="0">
                  <a:latin typeface="Courier" pitchFamily="2" charset="0"/>
                </a:rPr>
                <a:t>    </a:t>
              </a:r>
              <a:r>
                <a:rPr lang="en-US" sz="1000" dirty="0" err="1">
                  <a:latin typeface="Courier" pitchFamily="2" charset="0"/>
                </a:rPr>
                <a:t>r_v</a:t>
              </a:r>
              <a:r>
                <a:rPr lang="en-US" sz="1000" dirty="0">
                  <a:latin typeface="Courier" pitchFamily="2" charset="0"/>
                </a:rPr>
                <a:t>=root(v)</a:t>
              </a:r>
            </a:p>
            <a:p>
              <a:r>
                <a:rPr lang="en-US" sz="1000" dirty="0">
                  <a:latin typeface="Courier" pitchFamily="2" charset="0"/>
                </a:rPr>
                <a:t>    id[</a:t>
              </a:r>
              <a:r>
                <a:rPr lang="en-US" sz="1000" dirty="0" err="1">
                  <a:latin typeface="Courier" pitchFamily="2" charset="0"/>
                </a:rPr>
                <a:t>r_u</a:t>
              </a:r>
              <a:r>
                <a:rPr lang="en-US" sz="1000" dirty="0">
                  <a:latin typeface="Courier" pitchFamily="2" charset="0"/>
                </a:rPr>
                <a:t>]=</a:t>
              </a:r>
              <a:r>
                <a:rPr lang="en-US" sz="1000" dirty="0" err="1">
                  <a:latin typeface="Courier" pitchFamily="2" charset="0"/>
                </a:rPr>
                <a:t>r_v</a:t>
              </a:r>
              <a:endParaRPr lang="en-US" sz="1000" dirty="0">
                <a:latin typeface="Courier" pitchFamily="2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A3B35BE-594E-FA47-BAFC-7178358E57CC}"/>
                </a:ext>
              </a:extLst>
            </p:cNvPr>
            <p:cNvSpPr txBox="1"/>
            <p:nvPr/>
          </p:nvSpPr>
          <p:spPr>
            <a:xfrm>
              <a:off x="3797836" y="1677407"/>
              <a:ext cx="241604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Courier" pitchFamily="2" charset="0"/>
                </a:rPr>
                <a:t>#find</a:t>
              </a:r>
            </a:p>
            <a:p>
              <a:r>
                <a:rPr lang="en-US" sz="1000" dirty="0">
                  <a:latin typeface="Courier" pitchFamily="2" charset="0"/>
                </a:rPr>
                <a:t>def find(</a:t>
              </a:r>
              <a:r>
                <a:rPr lang="en-US" sz="1000" dirty="0" err="1">
                  <a:latin typeface="Courier" pitchFamily="2" charset="0"/>
                </a:rPr>
                <a:t>u,v</a:t>
              </a:r>
              <a:r>
                <a:rPr lang="en-US" sz="1000" dirty="0">
                  <a:latin typeface="Courier" pitchFamily="2" charset="0"/>
                </a:rPr>
                <a:t>):</a:t>
              </a:r>
            </a:p>
            <a:p>
              <a:r>
                <a:rPr lang="en-US" sz="1000" dirty="0">
                  <a:latin typeface="Courier" pitchFamily="2" charset="0"/>
                </a:rPr>
                <a:t>    return root(u)==return(v)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9EED729-06D6-484B-ABC9-9325439386C7}"/>
                </a:ext>
              </a:extLst>
            </p:cNvPr>
            <p:cNvSpPr txBox="1"/>
            <p:nvPr/>
          </p:nvSpPr>
          <p:spPr>
            <a:xfrm>
              <a:off x="2376452" y="1680581"/>
              <a:ext cx="1338828" cy="861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Courier" pitchFamily="2" charset="0"/>
                </a:rPr>
                <a:t>#root</a:t>
              </a:r>
            </a:p>
            <a:p>
              <a:r>
                <a:rPr lang="en-US" sz="1000" dirty="0">
                  <a:latin typeface="Courier" pitchFamily="2" charset="0"/>
                </a:rPr>
                <a:t>def root(</a:t>
              </a:r>
              <a:r>
                <a:rPr lang="en-US" sz="1000" dirty="0" err="1">
                  <a:latin typeface="Courier" pitchFamily="2" charset="0"/>
                </a:rPr>
                <a:t>i</a:t>
              </a:r>
              <a:r>
                <a:rPr lang="en-US" sz="1000" dirty="0">
                  <a:latin typeface="Courier" pitchFamily="2" charset="0"/>
                </a:rPr>
                <a:t>):</a:t>
              </a:r>
            </a:p>
            <a:p>
              <a:r>
                <a:rPr lang="en-US" sz="1000" dirty="0">
                  <a:latin typeface="Courier" pitchFamily="2" charset="0"/>
                </a:rPr>
                <a:t>while </a:t>
              </a:r>
              <a:r>
                <a:rPr lang="en-US" sz="1000" dirty="0" err="1">
                  <a:latin typeface="Courier" pitchFamily="2" charset="0"/>
                </a:rPr>
                <a:t>i</a:t>
              </a:r>
              <a:r>
                <a:rPr lang="en-US" sz="1000" dirty="0">
                  <a:latin typeface="Courier" pitchFamily="2" charset="0"/>
                </a:rPr>
                <a:t>!=id[</a:t>
              </a:r>
              <a:r>
                <a:rPr lang="en-US" sz="1000" dirty="0" err="1">
                  <a:latin typeface="Courier" pitchFamily="2" charset="0"/>
                </a:rPr>
                <a:t>i</a:t>
              </a:r>
              <a:r>
                <a:rPr lang="en-US" sz="1000" dirty="0">
                  <a:latin typeface="Courier" pitchFamily="2" charset="0"/>
                </a:rPr>
                <a:t>]:</a:t>
              </a:r>
            </a:p>
            <a:p>
              <a:r>
                <a:rPr lang="en-US" sz="1000" dirty="0">
                  <a:latin typeface="Courier" pitchFamily="2" charset="0"/>
                </a:rPr>
                <a:t>    </a:t>
              </a:r>
              <a:r>
                <a:rPr lang="en-US" sz="1000" dirty="0" err="1">
                  <a:latin typeface="Courier" pitchFamily="2" charset="0"/>
                </a:rPr>
                <a:t>i</a:t>
              </a:r>
              <a:r>
                <a:rPr lang="en-US" sz="1000" dirty="0">
                  <a:latin typeface="Courier" pitchFamily="2" charset="0"/>
                </a:rPr>
                <a:t>=id[</a:t>
              </a:r>
              <a:r>
                <a:rPr lang="en-US" sz="1000" dirty="0" err="1">
                  <a:latin typeface="Courier" pitchFamily="2" charset="0"/>
                </a:rPr>
                <a:t>i</a:t>
              </a:r>
              <a:r>
                <a:rPr lang="en-US" sz="1000" dirty="0">
                  <a:latin typeface="Courier" pitchFamily="2" charset="0"/>
                </a:rPr>
                <a:t>]</a:t>
              </a:r>
            </a:p>
            <a:p>
              <a:r>
                <a:rPr lang="en-US" sz="1000" dirty="0">
                  <a:latin typeface="Courier" pitchFamily="2" charset="0"/>
                </a:rPr>
                <a:t>return </a:t>
              </a:r>
              <a:r>
                <a:rPr lang="en-US" sz="1000" dirty="0" err="1">
                  <a:latin typeface="Courier" pitchFamily="2" charset="0"/>
                </a:rPr>
                <a:t>i</a:t>
              </a:r>
              <a:endParaRPr lang="en-US" sz="1000" dirty="0">
                <a:latin typeface="Courier" pitchFamily="2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798171C-D230-B84A-AF35-929ABE12D9B0}"/>
                </a:ext>
              </a:extLst>
            </p:cNvPr>
            <p:cNvSpPr/>
            <p:nvPr/>
          </p:nvSpPr>
          <p:spPr>
            <a:xfrm>
              <a:off x="199697" y="1661061"/>
              <a:ext cx="8860220" cy="900179"/>
            </a:xfrm>
            <a:prstGeom prst="rect">
              <a:avLst/>
            </a:prstGeom>
            <a:noFill/>
            <a:ln w="25400">
              <a:solidFill>
                <a:srgbClr val="D6D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 descr="pseudo code for weighted union find">
            <a:extLst>
              <a:ext uri="{FF2B5EF4-FFF2-40B4-BE49-F238E27FC236}">
                <a16:creationId xmlns:a16="http://schemas.microsoft.com/office/drawing/2014/main" id="{9AB6563D-87FC-A34E-9D76-10CEC3122A85}"/>
              </a:ext>
            </a:extLst>
          </p:cNvPr>
          <p:cNvGrpSpPr/>
          <p:nvPr/>
        </p:nvGrpSpPr>
        <p:grpSpPr>
          <a:xfrm>
            <a:off x="199697" y="2928107"/>
            <a:ext cx="8944304" cy="1785104"/>
            <a:chOff x="199697" y="2928107"/>
            <a:chExt cx="8944304" cy="178510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892DF00-3225-2946-A5DF-089CAA752BF3}"/>
                </a:ext>
              </a:extLst>
            </p:cNvPr>
            <p:cNvSpPr txBox="1"/>
            <p:nvPr/>
          </p:nvSpPr>
          <p:spPr>
            <a:xfrm>
              <a:off x="287999" y="3055973"/>
              <a:ext cx="1800493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Courier" pitchFamily="2" charset="0"/>
                </a:rPr>
                <a:t>#</a:t>
              </a:r>
              <a:r>
                <a:rPr lang="en-US" sz="1000" dirty="0" err="1">
                  <a:latin typeface="Courier" pitchFamily="2" charset="0"/>
                </a:rPr>
                <a:t>init</a:t>
              </a:r>
              <a:endParaRPr lang="en-US" sz="1000" dirty="0">
                <a:latin typeface="Courier" pitchFamily="2" charset="0"/>
              </a:endParaRPr>
            </a:p>
            <a:p>
              <a:r>
                <a:rPr lang="en-US" sz="1000" dirty="0">
                  <a:latin typeface="Courier" pitchFamily="2" charset="0"/>
                </a:rPr>
                <a:t>id = []</a:t>
              </a:r>
            </a:p>
            <a:p>
              <a:r>
                <a:rPr lang="en-US" sz="1000" dirty="0">
                  <a:latin typeface="Courier" pitchFamily="2" charset="0"/>
                </a:rPr>
                <a:t>size =[]</a:t>
              </a:r>
            </a:p>
            <a:p>
              <a:r>
                <a:rPr lang="en-US" sz="1000" dirty="0">
                  <a:latin typeface="Courier" pitchFamily="2" charset="0"/>
                </a:rPr>
                <a:t>for </a:t>
              </a:r>
              <a:r>
                <a:rPr lang="en-US" sz="1000" dirty="0" err="1">
                  <a:latin typeface="Courier" pitchFamily="2" charset="0"/>
                </a:rPr>
                <a:t>i</a:t>
              </a:r>
              <a:r>
                <a:rPr lang="en-US" sz="1000" dirty="0">
                  <a:latin typeface="Courier" pitchFamily="2" charset="0"/>
                </a:rPr>
                <a:t> in range (N-1):</a:t>
              </a:r>
            </a:p>
            <a:p>
              <a:r>
                <a:rPr lang="en-US" sz="1000" dirty="0">
                  <a:latin typeface="Courier" pitchFamily="2" charset="0"/>
                </a:rPr>
                <a:t>    </a:t>
              </a:r>
              <a:r>
                <a:rPr lang="en-US" sz="1000" dirty="0" err="1">
                  <a:latin typeface="Courier" pitchFamily="2" charset="0"/>
                </a:rPr>
                <a:t>id.append</a:t>
              </a:r>
              <a:r>
                <a:rPr lang="en-US" sz="1000" dirty="0">
                  <a:latin typeface="Courier" pitchFamily="2" charset="0"/>
                </a:rPr>
                <a:t>(</a:t>
              </a:r>
              <a:r>
                <a:rPr lang="en-US" sz="1000" dirty="0" err="1">
                  <a:latin typeface="Courier" pitchFamily="2" charset="0"/>
                </a:rPr>
                <a:t>i</a:t>
              </a:r>
              <a:r>
                <a:rPr lang="en-US" sz="1000" dirty="0">
                  <a:latin typeface="Courier" pitchFamily="2" charset="0"/>
                </a:rPr>
                <a:t>)</a:t>
              </a:r>
            </a:p>
            <a:p>
              <a:r>
                <a:rPr lang="en-US" sz="1000" dirty="0">
                  <a:latin typeface="Courier" pitchFamily="2" charset="0"/>
                </a:rPr>
                <a:t>    </a:t>
              </a:r>
              <a:r>
                <a:rPr lang="en-US" sz="1000" dirty="0" err="1">
                  <a:latin typeface="Courier" pitchFamily="2" charset="0"/>
                </a:rPr>
                <a:t>size.append</a:t>
              </a:r>
              <a:r>
                <a:rPr lang="en-US" sz="1000" dirty="0">
                  <a:latin typeface="Courier" pitchFamily="2" charset="0"/>
                </a:rPr>
                <a:t>(1)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346218F-FE9F-E74C-902E-D554BAB911B2}"/>
                </a:ext>
              </a:extLst>
            </p:cNvPr>
            <p:cNvSpPr txBox="1"/>
            <p:nvPr/>
          </p:nvSpPr>
          <p:spPr>
            <a:xfrm>
              <a:off x="6428273" y="2928107"/>
              <a:ext cx="2715728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Courier" pitchFamily="2" charset="0"/>
                </a:rPr>
                <a:t>#union</a:t>
              </a:r>
            </a:p>
            <a:p>
              <a:r>
                <a:rPr lang="en-US" sz="1000" dirty="0">
                  <a:latin typeface="Courier" pitchFamily="2" charset="0"/>
                </a:rPr>
                <a:t>def union(</a:t>
              </a:r>
              <a:r>
                <a:rPr lang="en-US" sz="1000" dirty="0" err="1">
                  <a:latin typeface="Courier" pitchFamily="2" charset="0"/>
                </a:rPr>
                <a:t>u,v</a:t>
              </a:r>
              <a:r>
                <a:rPr lang="en-US" sz="1000" dirty="0">
                  <a:latin typeface="Courier" pitchFamily="2" charset="0"/>
                </a:rPr>
                <a:t>):</a:t>
              </a:r>
            </a:p>
            <a:p>
              <a:r>
                <a:rPr lang="en-US" sz="1000" dirty="0">
                  <a:latin typeface="Courier" pitchFamily="2" charset="0"/>
                </a:rPr>
                <a:t>    </a:t>
              </a:r>
              <a:r>
                <a:rPr lang="en-US" sz="1000" dirty="0" err="1">
                  <a:latin typeface="Courier" pitchFamily="2" charset="0"/>
                </a:rPr>
                <a:t>r_u</a:t>
              </a:r>
              <a:r>
                <a:rPr lang="en-US" sz="1000" dirty="0">
                  <a:latin typeface="Courier" pitchFamily="2" charset="0"/>
                </a:rPr>
                <a:t>=root(u)</a:t>
              </a:r>
            </a:p>
            <a:p>
              <a:r>
                <a:rPr lang="en-US" sz="1000" dirty="0">
                  <a:latin typeface="Courier" pitchFamily="2" charset="0"/>
                </a:rPr>
                <a:t>    </a:t>
              </a:r>
              <a:r>
                <a:rPr lang="en-US" sz="1000" dirty="0" err="1">
                  <a:latin typeface="Courier" pitchFamily="2" charset="0"/>
                </a:rPr>
                <a:t>r_v</a:t>
              </a:r>
              <a:r>
                <a:rPr lang="en-US" sz="1000" dirty="0">
                  <a:latin typeface="Courier" pitchFamily="2" charset="0"/>
                </a:rPr>
                <a:t>=root(v)</a:t>
              </a:r>
            </a:p>
            <a:p>
              <a:r>
                <a:rPr lang="en-US" sz="1000" dirty="0">
                  <a:latin typeface="Courier" pitchFamily="2" charset="0"/>
                </a:rPr>
                <a:t>    if </a:t>
              </a:r>
              <a:r>
                <a:rPr lang="en-US" sz="1000" dirty="0" err="1">
                  <a:latin typeface="Courier" pitchFamily="2" charset="0"/>
                </a:rPr>
                <a:t>r_u</a:t>
              </a:r>
              <a:r>
                <a:rPr lang="en-US" sz="1000" dirty="0">
                  <a:latin typeface="Courier" pitchFamily="2" charset="0"/>
                </a:rPr>
                <a:t>==</a:t>
              </a:r>
              <a:r>
                <a:rPr lang="en-US" sz="1000" dirty="0" err="1">
                  <a:latin typeface="Courier" pitchFamily="2" charset="0"/>
                </a:rPr>
                <a:t>r_v</a:t>
              </a:r>
              <a:r>
                <a:rPr lang="en-US" sz="1000" dirty="0">
                  <a:latin typeface="Courier" pitchFamily="2" charset="0"/>
                </a:rPr>
                <a:t> return</a:t>
              </a:r>
            </a:p>
            <a:p>
              <a:r>
                <a:rPr lang="en-US" sz="1000" dirty="0">
                  <a:latin typeface="Courier" pitchFamily="2" charset="0"/>
                </a:rPr>
                <a:t>    if size[</a:t>
              </a:r>
              <a:r>
                <a:rPr lang="en-US" sz="1000" dirty="0" err="1">
                  <a:latin typeface="Courier" pitchFamily="2" charset="0"/>
                </a:rPr>
                <a:t>r_u</a:t>
              </a:r>
              <a:r>
                <a:rPr lang="en-US" sz="1000" dirty="0">
                  <a:latin typeface="Courier" pitchFamily="2" charset="0"/>
                </a:rPr>
                <a:t>]&lt;size[</a:t>
              </a:r>
              <a:r>
                <a:rPr lang="en-US" sz="1000" dirty="0" err="1">
                  <a:latin typeface="Courier" pitchFamily="2" charset="0"/>
                </a:rPr>
                <a:t>r_v</a:t>
              </a:r>
              <a:r>
                <a:rPr lang="en-US" sz="1000" dirty="0">
                  <a:latin typeface="Courier" pitchFamily="2" charset="0"/>
                </a:rPr>
                <a:t>]:</a:t>
              </a:r>
            </a:p>
            <a:p>
              <a:r>
                <a:rPr lang="en-US" sz="1000" dirty="0">
                  <a:latin typeface="Courier" pitchFamily="2" charset="0"/>
                </a:rPr>
                <a:t>	id[</a:t>
              </a:r>
              <a:r>
                <a:rPr lang="en-US" sz="1000" dirty="0" err="1">
                  <a:latin typeface="Courier" pitchFamily="2" charset="0"/>
                </a:rPr>
                <a:t>r_u</a:t>
              </a:r>
              <a:r>
                <a:rPr lang="en-US" sz="1000" dirty="0">
                  <a:latin typeface="Courier" pitchFamily="2" charset="0"/>
                </a:rPr>
                <a:t>]=</a:t>
              </a:r>
              <a:r>
                <a:rPr lang="en-US" sz="1000" dirty="0" err="1">
                  <a:latin typeface="Courier" pitchFamily="2" charset="0"/>
                </a:rPr>
                <a:t>r_v</a:t>
              </a:r>
              <a:endParaRPr lang="en-US" sz="1000" dirty="0">
                <a:latin typeface="Courier" pitchFamily="2" charset="0"/>
              </a:endParaRPr>
            </a:p>
            <a:p>
              <a:r>
                <a:rPr lang="en-US" sz="1000" dirty="0">
                  <a:latin typeface="Courier" pitchFamily="2" charset="0"/>
                </a:rPr>
                <a:t>	size[</a:t>
              </a:r>
              <a:r>
                <a:rPr lang="en-US" sz="1000" dirty="0" err="1">
                  <a:latin typeface="Courier" pitchFamily="2" charset="0"/>
                </a:rPr>
                <a:t>r_v</a:t>
              </a:r>
              <a:r>
                <a:rPr lang="en-US" sz="1000" dirty="0">
                  <a:latin typeface="Courier" pitchFamily="2" charset="0"/>
                </a:rPr>
                <a:t>]+=size[</a:t>
              </a:r>
              <a:r>
                <a:rPr lang="en-US" sz="1000" dirty="0" err="1">
                  <a:latin typeface="Courier" pitchFamily="2" charset="0"/>
                </a:rPr>
                <a:t>r_u</a:t>
              </a:r>
              <a:r>
                <a:rPr lang="en-US" sz="1000" dirty="0">
                  <a:latin typeface="Courier" pitchFamily="2" charset="0"/>
                </a:rPr>
                <a:t>]</a:t>
              </a:r>
            </a:p>
            <a:p>
              <a:r>
                <a:rPr lang="en-US" sz="1000" dirty="0">
                  <a:latin typeface="Courier" pitchFamily="2" charset="0"/>
                </a:rPr>
                <a:t>    else</a:t>
              </a:r>
            </a:p>
            <a:p>
              <a:r>
                <a:rPr lang="en-US" sz="1000" dirty="0">
                  <a:latin typeface="Courier" pitchFamily="2" charset="0"/>
                </a:rPr>
                <a:t>	id[</a:t>
              </a:r>
              <a:r>
                <a:rPr lang="en-US" sz="1000" dirty="0" err="1">
                  <a:latin typeface="Courier" pitchFamily="2" charset="0"/>
                </a:rPr>
                <a:t>r_v</a:t>
              </a:r>
              <a:r>
                <a:rPr lang="en-US" sz="1000" dirty="0">
                  <a:latin typeface="Courier" pitchFamily="2" charset="0"/>
                </a:rPr>
                <a:t>]=</a:t>
              </a:r>
              <a:r>
                <a:rPr lang="en-US" sz="1000" dirty="0" err="1">
                  <a:latin typeface="Courier" pitchFamily="2" charset="0"/>
                </a:rPr>
                <a:t>r_u</a:t>
              </a:r>
              <a:endParaRPr lang="en-US" sz="1000" dirty="0">
                <a:latin typeface="Courier" pitchFamily="2" charset="0"/>
              </a:endParaRPr>
            </a:p>
            <a:p>
              <a:r>
                <a:rPr lang="en-US" sz="1000" dirty="0">
                  <a:latin typeface="Courier" pitchFamily="2" charset="0"/>
                </a:rPr>
                <a:t>	size[</a:t>
              </a:r>
              <a:r>
                <a:rPr lang="en-US" sz="1000" dirty="0" err="1">
                  <a:latin typeface="Courier" pitchFamily="2" charset="0"/>
                </a:rPr>
                <a:t>r_u</a:t>
              </a:r>
              <a:r>
                <a:rPr lang="en-US" sz="1000" dirty="0">
                  <a:latin typeface="Courier" pitchFamily="2" charset="0"/>
                </a:rPr>
                <a:t>]+=size[</a:t>
              </a:r>
              <a:r>
                <a:rPr lang="en-US" sz="1000" dirty="0" err="1">
                  <a:latin typeface="Courier" pitchFamily="2" charset="0"/>
                </a:rPr>
                <a:t>r_v</a:t>
              </a:r>
              <a:r>
                <a:rPr lang="en-US" sz="1000" dirty="0">
                  <a:latin typeface="Courier" pitchFamily="2" charset="0"/>
                </a:rPr>
                <a:t>]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2758DF1-B565-AC4A-9BE2-65D7F53C149E}"/>
                </a:ext>
              </a:extLst>
            </p:cNvPr>
            <p:cNvSpPr txBox="1"/>
            <p:nvPr/>
          </p:nvSpPr>
          <p:spPr>
            <a:xfrm>
              <a:off x="3797836" y="3056610"/>
              <a:ext cx="241604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Courier" pitchFamily="2" charset="0"/>
                </a:rPr>
                <a:t>#find</a:t>
              </a:r>
            </a:p>
            <a:p>
              <a:r>
                <a:rPr lang="en-US" sz="1000" dirty="0">
                  <a:latin typeface="Courier" pitchFamily="2" charset="0"/>
                </a:rPr>
                <a:t>def find(</a:t>
              </a:r>
              <a:r>
                <a:rPr lang="en-US" sz="1000" dirty="0" err="1">
                  <a:latin typeface="Courier" pitchFamily="2" charset="0"/>
                </a:rPr>
                <a:t>u,v</a:t>
              </a:r>
              <a:r>
                <a:rPr lang="en-US" sz="1000" dirty="0">
                  <a:latin typeface="Courier" pitchFamily="2" charset="0"/>
                </a:rPr>
                <a:t>):</a:t>
              </a:r>
            </a:p>
            <a:p>
              <a:r>
                <a:rPr lang="en-US" sz="1000" dirty="0">
                  <a:latin typeface="Courier" pitchFamily="2" charset="0"/>
                </a:rPr>
                <a:t>    return root(u)==return(v)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844FD00-8A4B-314E-B3D9-7C1977E29894}"/>
                </a:ext>
              </a:extLst>
            </p:cNvPr>
            <p:cNvSpPr txBox="1"/>
            <p:nvPr/>
          </p:nvSpPr>
          <p:spPr>
            <a:xfrm>
              <a:off x="2376452" y="3056610"/>
              <a:ext cx="1338828" cy="861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Courier" pitchFamily="2" charset="0"/>
                </a:rPr>
                <a:t>#root</a:t>
              </a:r>
            </a:p>
            <a:p>
              <a:r>
                <a:rPr lang="en-US" sz="1000" dirty="0">
                  <a:latin typeface="Courier" pitchFamily="2" charset="0"/>
                </a:rPr>
                <a:t>def root(</a:t>
              </a:r>
              <a:r>
                <a:rPr lang="en-US" sz="1000" dirty="0" err="1">
                  <a:latin typeface="Courier" pitchFamily="2" charset="0"/>
                </a:rPr>
                <a:t>i</a:t>
              </a:r>
              <a:r>
                <a:rPr lang="en-US" sz="1000" dirty="0">
                  <a:latin typeface="Courier" pitchFamily="2" charset="0"/>
                </a:rPr>
                <a:t>):</a:t>
              </a:r>
            </a:p>
            <a:p>
              <a:r>
                <a:rPr lang="en-US" sz="1000" dirty="0">
                  <a:latin typeface="Courier" pitchFamily="2" charset="0"/>
                </a:rPr>
                <a:t>while </a:t>
              </a:r>
              <a:r>
                <a:rPr lang="en-US" sz="1000" dirty="0" err="1">
                  <a:latin typeface="Courier" pitchFamily="2" charset="0"/>
                </a:rPr>
                <a:t>i</a:t>
              </a:r>
              <a:r>
                <a:rPr lang="en-US" sz="1000" dirty="0">
                  <a:latin typeface="Courier" pitchFamily="2" charset="0"/>
                </a:rPr>
                <a:t>!=id[</a:t>
              </a:r>
              <a:r>
                <a:rPr lang="en-US" sz="1000" dirty="0" err="1">
                  <a:latin typeface="Courier" pitchFamily="2" charset="0"/>
                </a:rPr>
                <a:t>i</a:t>
              </a:r>
              <a:r>
                <a:rPr lang="en-US" sz="1000" dirty="0">
                  <a:latin typeface="Courier" pitchFamily="2" charset="0"/>
                </a:rPr>
                <a:t>]:</a:t>
              </a:r>
            </a:p>
            <a:p>
              <a:r>
                <a:rPr lang="en-US" sz="1000" dirty="0">
                  <a:latin typeface="Courier" pitchFamily="2" charset="0"/>
                </a:rPr>
                <a:t>    </a:t>
              </a:r>
              <a:r>
                <a:rPr lang="en-US" sz="1000" dirty="0" err="1">
                  <a:latin typeface="Courier" pitchFamily="2" charset="0"/>
                </a:rPr>
                <a:t>i</a:t>
              </a:r>
              <a:r>
                <a:rPr lang="en-US" sz="1000" dirty="0">
                  <a:latin typeface="Courier" pitchFamily="2" charset="0"/>
                </a:rPr>
                <a:t>=id[</a:t>
              </a:r>
              <a:r>
                <a:rPr lang="en-US" sz="1000" dirty="0" err="1">
                  <a:latin typeface="Courier" pitchFamily="2" charset="0"/>
                </a:rPr>
                <a:t>i</a:t>
              </a:r>
              <a:r>
                <a:rPr lang="en-US" sz="1000" dirty="0">
                  <a:latin typeface="Courier" pitchFamily="2" charset="0"/>
                </a:rPr>
                <a:t>]</a:t>
              </a:r>
            </a:p>
            <a:p>
              <a:r>
                <a:rPr lang="en-US" sz="1000" dirty="0">
                  <a:latin typeface="Courier" pitchFamily="2" charset="0"/>
                </a:rPr>
                <a:t>return </a:t>
              </a:r>
              <a:r>
                <a:rPr lang="en-US" sz="1000" dirty="0" err="1">
                  <a:latin typeface="Courier" pitchFamily="2" charset="0"/>
                </a:rPr>
                <a:t>i</a:t>
              </a:r>
              <a:endParaRPr lang="en-US" sz="1000" dirty="0">
                <a:latin typeface="Courier" pitchFamily="2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7A0DEFC-1F34-7C4F-8989-0957A5050212}"/>
                </a:ext>
              </a:extLst>
            </p:cNvPr>
            <p:cNvSpPr/>
            <p:nvPr/>
          </p:nvSpPr>
          <p:spPr>
            <a:xfrm>
              <a:off x="199697" y="2947019"/>
              <a:ext cx="8860220" cy="1766192"/>
            </a:xfrm>
            <a:prstGeom prst="rect">
              <a:avLst/>
            </a:prstGeom>
            <a:noFill/>
            <a:ln w="25400">
              <a:solidFill>
                <a:srgbClr val="D6D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144738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FB7D8C5B-76BD-914E-A39B-79DBDB557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12" y="158892"/>
            <a:ext cx="7886700" cy="580884"/>
          </a:xfrm>
        </p:spPr>
        <p:txBody>
          <a:bodyPr/>
          <a:lstStyle/>
          <a:p>
            <a:r>
              <a:rPr lang="en-US" dirty="0"/>
              <a:t>ANALYSIS (RECAP)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1769A71-2B24-4C4D-BDD7-DA8985A4086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dirty="0"/>
              <a:t>Steps to developing algorithms</a:t>
            </a:r>
          </a:p>
          <a:p>
            <a:pPr marL="457200" indent="-457200">
              <a:buAutoNum type="arabicPeriod"/>
            </a:pPr>
            <a:r>
              <a:rPr lang="en-US" dirty="0">
                <a:highlight>
                  <a:srgbClr val="D6D2C4"/>
                </a:highlight>
              </a:rPr>
              <a:t>Analysis of algorithms</a:t>
            </a:r>
          </a:p>
          <a:p>
            <a:pPr marL="800100" lvl="1" indent="-457200">
              <a:buFont typeface="Courier New" panose="02070309020205020404" pitchFamily="49" charset="0"/>
              <a:buChar char="o"/>
            </a:pPr>
            <a:r>
              <a:rPr lang="en-US" sz="2000" dirty="0"/>
              <a:t>Observations</a:t>
            </a:r>
          </a:p>
          <a:p>
            <a:pPr marL="800100" lvl="1" indent="-457200">
              <a:buFont typeface="Courier New" panose="02070309020205020404" pitchFamily="49" charset="0"/>
              <a:buChar char="o"/>
            </a:pPr>
            <a:r>
              <a:rPr lang="en-US" sz="2000" dirty="0"/>
              <a:t>Mathematical Models</a:t>
            </a:r>
          </a:p>
          <a:p>
            <a:pPr marL="800100" lvl="1" indent="-457200">
              <a:buFont typeface="Courier New" panose="02070309020205020404" pitchFamily="49" charset="0"/>
              <a:buChar char="o"/>
            </a:pPr>
            <a:r>
              <a:rPr lang="en-US" sz="2000" dirty="0"/>
              <a:t>Order of growth classifications</a:t>
            </a:r>
          </a:p>
          <a:p>
            <a:pPr marL="800100" lvl="1" indent="-457200">
              <a:buFont typeface="Courier New" panose="02070309020205020404" pitchFamily="49" charset="0"/>
              <a:buChar char="o"/>
            </a:pPr>
            <a:endParaRPr lang="en-US" sz="2000" dirty="0"/>
          </a:p>
          <a:p>
            <a:pPr marL="457200" indent="-457200">
              <a:buAutoNum type="arabicPeriod"/>
            </a:pPr>
            <a:r>
              <a:rPr lang="en-US" dirty="0"/>
              <a:t>Abstract Data Types (ADTs)</a:t>
            </a:r>
          </a:p>
        </p:txBody>
      </p:sp>
    </p:spTree>
    <p:extLst>
      <p:ext uri="{BB962C8B-B14F-4D97-AF65-F5344CB8AC3E}">
        <p14:creationId xmlns:p14="http://schemas.microsoft.com/office/powerpoint/2010/main" val="3942751331"/>
      </p:ext>
    </p:extLst>
  </p:cSld>
  <p:clrMapOvr>
    <a:masterClrMapping/>
  </p:clrMapOvr>
</p:sld>
</file>

<file path=ppt/theme/theme1.xml><?xml version="1.0" encoding="utf-8"?>
<a:theme xmlns:a="http://schemas.openxmlformats.org/drawingml/2006/main" name="4_Custom Desig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3663</TotalTime>
  <Words>2739</Words>
  <Application>Microsoft Macintosh PowerPoint</Application>
  <PresentationFormat>On-screen Show (16:9)</PresentationFormat>
  <Paragraphs>748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Calibri</vt:lpstr>
      <vt:lpstr>Cambria Math</vt:lpstr>
      <vt:lpstr>Courier</vt:lpstr>
      <vt:lpstr>Courier New</vt:lpstr>
      <vt:lpstr>Wingdings</vt:lpstr>
      <vt:lpstr>4_Custom Design</vt:lpstr>
      <vt:lpstr>COMP0005 – ALGORITHMS   1.2 Analysis of Algorithms</vt:lpstr>
      <vt:lpstr>CONTENT</vt:lpstr>
      <vt:lpstr>ANALYSIS - OBSERVATIONS</vt:lpstr>
      <vt:lpstr>ANALYSIS - OBSERVATIONS</vt:lpstr>
      <vt:lpstr>ANALYSIS - OBSERVATIONS</vt:lpstr>
      <vt:lpstr>ANALYSIS – MATH MODELS</vt:lpstr>
      <vt:lpstr>ANALYSIS – MATH MODELS</vt:lpstr>
      <vt:lpstr>ANALYSIS – MATH MODELS</vt:lpstr>
      <vt:lpstr>ANALYSIS – MATH MODELS</vt:lpstr>
      <vt:lpstr>ANALYSIS – MATH MODELS</vt:lpstr>
      <vt:lpstr>ANALYSIS – MATH MODELS</vt:lpstr>
      <vt:lpstr>ANALYSIS – MATH MODELS</vt:lpstr>
      <vt:lpstr>ANALYSIS – MATH MODELS</vt:lpstr>
      <vt:lpstr>ANALYSIS – MATH MODELS</vt:lpstr>
      <vt:lpstr>ANALYSIS – ORDER OF GROWTH</vt:lpstr>
      <vt:lpstr>ANALYSIS – ORDER OF GROWTH</vt:lpstr>
      <vt:lpstr>ANALYSIS – ORDER OF GROWTH</vt:lpstr>
      <vt:lpstr>ANALYSIS – ORDER OF GROWTH</vt:lpstr>
      <vt:lpstr>QUICK DIGRESSION …</vt:lpstr>
      <vt:lpstr>WHAT IS PSEUDOCODE</vt:lpstr>
      <vt:lpstr>WHAT IS PSEUDOCODE</vt:lpstr>
      <vt:lpstr>… BACK TO ANALYSIS</vt:lpstr>
      <vt:lpstr>ANALYSIS – ORDER OF GROWTH</vt:lpstr>
      <vt:lpstr>ANALYSIS – ORDER OF GROWTH</vt:lpstr>
      <vt:lpstr>ANALYSIS – ORDER OF GROWTH</vt:lpstr>
      <vt:lpstr>ANALYSIS – ORDER OF GROWTH</vt:lpstr>
      <vt:lpstr>ANALYSIS – ORDER OF GROWTH</vt:lpstr>
      <vt:lpstr>ANALYSIS – ORDER OF GROWTH</vt:lpstr>
      <vt:lpstr>ANALYSIS – ORDER OF GROWTH</vt:lpstr>
      <vt:lpstr>ANALYSIS – ORDER OF GROWTH</vt:lpstr>
      <vt:lpstr>ANALYSIS – ORDER OF GROWTH</vt:lpstr>
      <vt:lpstr>ANALYSIS – ORDER OF GROWTH</vt:lpstr>
      <vt:lpstr>ANALYSIS – MEMORY</vt:lpstr>
      <vt:lpstr>ANALYSIS – MEMORY</vt:lpstr>
      <vt:lpstr>ANALYSIS (RECAP)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UCL 16:9 PP Plain - STONE</dc:title>
  <dc:subject/>
  <dc:creator>Clayton, Janine</dc:creator>
  <cp:keywords/>
  <dc:description/>
  <cp:lastModifiedBy>Capra, Licia</cp:lastModifiedBy>
  <cp:revision>253</cp:revision>
  <dcterms:created xsi:type="dcterms:W3CDTF">2016-12-07T10:36:45Z</dcterms:created>
  <dcterms:modified xsi:type="dcterms:W3CDTF">2020-10-28T10:27:26Z</dcterms:modified>
  <cp:category/>
</cp:coreProperties>
</file>