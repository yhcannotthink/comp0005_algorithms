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2"/>
  </p:notesMasterIdLst>
  <p:sldIdLst>
    <p:sldId id="266" r:id="rId3"/>
    <p:sldId id="274" r:id="rId4"/>
    <p:sldId id="281" r:id="rId5"/>
    <p:sldId id="279" r:id="rId6"/>
    <p:sldId id="283" r:id="rId7"/>
    <p:sldId id="284" r:id="rId8"/>
    <p:sldId id="285" r:id="rId9"/>
    <p:sldId id="286" r:id="rId10"/>
    <p:sldId id="287" r:id="rId11"/>
    <p:sldId id="288" r:id="rId12"/>
    <p:sldId id="290" r:id="rId13"/>
    <p:sldId id="291" r:id="rId14"/>
    <p:sldId id="289" r:id="rId15"/>
    <p:sldId id="292" r:id="rId16"/>
    <p:sldId id="293" r:id="rId17"/>
    <p:sldId id="294" r:id="rId18"/>
    <p:sldId id="295" r:id="rId19"/>
    <p:sldId id="299" r:id="rId20"/>
    <p:sldId id="296" r:id="rId21"/>
    <p:sldId id="297" r:id="rId22"/>
    <p:sldId id="298" r:id="rId23"/>
    <p:sldId id="300" r:id="rId24"/>
    <p:sldId id="301" r:id="rId25"/>
    <p:sldId id="302" r:id="rId26"/>
    <p:sldId id="275" r:id="rId27"/>
    <p:sldId id="303" r:id="rId28"/>
    <p:sldId id="282" r:id="rId29"/>
    <p:sldId id="304" r:id="rId30"/>
    <p:sldId id="306" r:id="rId31"/>
    <p:sldId id="328" r:id="rId32"/>
    <p:sldId id="307" r:id="rId33"/>
    <p:sldId id="308" r:id="rId34"/>
    <p:sldId id="309" r:id="rId35"/>
    <p:sldId id="310" r:id="rId36"/>
    <p:sldId id="311" r:id="rId37"/>
    <p:sldId id="312" r:id="rId38"/>
    <p:sldId id="314" r:id="rId39"/>
    <p:sldId id="315" r:id="rId40"/>
    <p:sldId id="317" r:id="rId41"/>
    <p:sldId id="318" r:id="rId42"/>
    <p:sldId id="320" r:id="rId43"/>
    <p:sldId id="321" r:id="rId44"/>
    <p:sldId id="319" r:id="rId45"/>
    <p:sldId id="323" r:id="rId46"/>
    <p:sldId id="325" r:id="rId47"/>
    <p:sldId id="324" r:id="rId48"/>
    <p:sldId id="326" r:id="rId49"/>
    <p:sldId id="327" r:id="rId50"/>
    <p:sldId id="28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7"/>
    <p:restoredTop sz="43278"/>
  </p:normalViewPr>
  <p:slideViewPr>
    <p:cSldViewPr snapToGrid="0" snapToObjects="1">
      <p:cViewPr varScale="1">
        <p:scale>
          <a:sx n="74" d="100"/>
          <a:sy n="74" d="100"/>
        </p:scale>
        <p:origin x="2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5A67-8926-CB42-854C-A7DAE0AE325F}" type="datetimeFigureOut">
              <a:rPr lang="en-US" smtClean="0"/>
              <a:t>11/9/20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E9652-8391-5B4D-BBDF-BC776AB7E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1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04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72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35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69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21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83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96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4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24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5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8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35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46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00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76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34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9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79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1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76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686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64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950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563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51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2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1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300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879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810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050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093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337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00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168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555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185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422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05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989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229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539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19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46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653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864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87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94251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5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54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3.3 Balanced Search Tree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15036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Balanced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2-3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Red-Black BST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318046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Balanced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highlight>
                  <a:srgbClr val="C0C0C0"/>
                </a:highlight>
              </a:rPr>
              <a:t>2-3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Red-Black BST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34832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2-3 search tree is a tree where each node can be of two types: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2</a:t>
            </a:r>
            <a:r>
              <a:rPr lang="en-US" dirty="0"/>
              <a:t>-node: one key, </a:t>
            </a:r>
            <a:r>
              <a:rPr lang="en-US" dirty="0">
                <a:solidFill>
                  <a:schemeClr val="accent5"/>
                </a:solidFill>
              </a:rPr>
              <a:t>two</a:t>
            </a:r>
            <a:r>
              <a:rPr lang="en-US" dirty="0"/>
              <a:t> children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3</a:t>
            </a:r>
            <a:r>
              <a:rPr lang="en-US" dirty="0"/>
              <a:t>-node: two keys, </a:t>
            </a:r>
            <a:r>
              <a:rPr lang="en-US" dirty="0">
                <a:solidFill>
                  <a:schemeClr val="accent5"/>
                </a:solidFill>
              </a:rPr>
              <a:t>three</a:t>
            </a:r>
            <a:r>
              <a:rPr lang="en-US" dirty="0"/>
              <a:t> children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4" name="Group 93" descr="example of a 2-node">
            <a:extLst>
              <a:ext uri="{FF2B5EF4-FFF2-40B4-BE49-F238E27FC236}">
                <a16:creationId xmlns:a16="http://schemas.microsoft.com/office/drawing/2014/main" id="{F439809C-13BD-8248-B9C5-47542F3C2198}"/>
              </a:ext>
            </a:extLst>
          </p:cNvPr>
          <p:cNvGrpSpPr/>
          <p:nvPr/>
        </p:nvGrpSpPr>
        <p:grpSpPr>
          <a:xfrm>
            <a:off x="1309170" y="2960379"/>
            <a:ext cx="3362642" cy="3459856"/>
            <a:chOff x="1309170" y="2960379"/>
            <a:chExt cx="3362642" cy="345985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2063990-757C-AD42-AEB5-E9F0980BAAEF}"/>
                </a:ext>
              </a:extLst>
            </p:cNvPr>
            <p:cNvGrpSpPr/>
            <p:nvPr/>
          </p:nvGrpSpPr>
          <p:grpSpPr>
            <a:xfrm>
              <a:off x="1309170" y="2960379"/>
              <a:ext cx="3362642" cy="2766081"/>
              <a:chOff x="1309170" y="2960379"/>
              <a:chExt cx="3362642" cy="2766081"/>
            </a:xfrm>
          </p:grpSpPr>
          <p:sp>
            <p:nvSpPr>
              <p:cNvPr id="52" name="Trapezium 51">
                <a:extLst>
                  <a:ext uri="{FF2B5EF4-FFF2-40B4-BE49-F238E27FC236}">
                    <a16:creationId xmlns:a16="http://schemas.microsoft.com/office/drawing/2014/main" id="{06DCF6AA-913C-EA4C-A319-FA25C98A47E3}"/>
                  </a:ext>
                </a:extLst>
              </p:cNvPr>
              <p:cNvSpPr/>
              <p:nvPr/>
            </p:nvSpPr>
            <p:spPr>
              <a:xfrm>
                <a:off x="3172803" y="3860203"/>
                <a:ext cx="1338527" cy="1107097"/>
              </a:xfrm>
              <a:prstGeom prst="trapezoid">
                <a:avLst/>
              </a:prstGeom>
              <a:solidFill>
                <a:schemeClr val="bg1">
                  <a:lumMod val="75000"/>
                  <a:alpha val="56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rapezium 23">
                <a:extLst>
                  <a:ext uri="{FF2B5EF4-FFF2-40B4-BE49-F238E27FC236}">
                    <a16:creationId xmlns:a16="http://schemas.microsoft.com/office/drawing/2014/main" id="{32222E9A-0626-D542-A6CF-34DCB8A9A7EB}"/>
                  </a:ext>
                </a:extLst>
              </p:cNvPr>
              <p:cNvSpPr/>
              <p:nvPr/>
            </p:nvSpPr>
            <p:spPr>
              <a:xfrm>
                <a:off x="1377968" y="3823063"/>
                <a:ext cx="1338527" cy="1107097"/>
              </a:xfrm>
              <a:prstGeom prst="trapezoid">
                <a:avLst/>
              </a:prstGeom>
              <a:solidFill>
                <a:schemeClr val="bg1">
                  <a:lumMod val="75000"/>
                  <a:alpha val="56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62B6AE1-AC44-3949-A184-B46856BC7DA2}"/>
                  </a:ext>
                </a:extLst>
              </p:cNvPr>
              <p:cNvGrpSpPr/>
              <p:nvPr/>
            </p:nvGrpSpPr>
            <p:grpSpPr>
              <a:xfrm>
                <a:off x="2060415" y="3419318"/>
                <a:ext cx="1730640" cy="636744"/>
                <a:chOff x="3429450" y="3492063"/>
                <a:chExt cx="1730640" cy="636744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57AC33CF-702A-2342-BD84-BC8B0151FBE9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E5CADF54-7953-3048-8DED-CA44F7F68A6E}"/>
                    </a:ext>
                  </a:extLst>
                </p:cNvPr>
                <p:cNvCxnSpPr>
                  <a:cxnSpLocks/>
                  <a:stCxn id="40" idx="3"/>
                  <a:endCxn id="16" idx="0"/>
                </p:cNvCxnSpPr>
                <p:nvPr/>
              </p:nvCxnSpPr>
              <p:spPr>
                <a:xfrm flipH="1">
                  <a:off x="3429450" y="3788111"/>
                  <a:ext cx="826889" cy="28990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0EA1C20-F7E3-F246-B931-E5183776D1BB}"/>
                    </a:ext>
                  </a:extLst>
                </p:cNvPr>
                <p:cNvCxnSpPr>
                  <a:cxnSpLocks/>
                  <a:stCxn id="40" idx="5"/>
                  <a:endCxn id="17" idx="1"/>
                </p:cNvCxnSpPr>
                <p:nvPr/>
              </p:nvCxnSpPr>
              <p:spPr>
                <a:xfrm>
                  <a:off x="4483013" y="3788111"/>
                  <a:ext cx="677077" cy="3406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B5640C4-09AD-5A45-A72B-6331CAECE6CE}"/>
                  </a:ext>
                </a:extLst>
              </p:cNvPr>
              <p:cNvSpPr/>
              <p:nvPr/>
            </p:nvSpPr>
            <p:spPr>
              <a:xfrm>
                <a:off x="1900132" y="400526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B696A49-3421-894B-BFD0-AEA6604C4A80}"/>
                  </a:ext>
                </a:extLst>
              </p:cNvPr>
              <p:cNvSpPr/>
              <p:nvPr/>
            </p:nvSpPr>
            <p:spPr>
              <a:xfrm>
                <a:off x="3744109" y="4005268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350C3F-1BC1-A941-B709-11C9A9DEACA0}"/>
                  </a:ext>
                </a:extLst>
              </p:cNvPr>
              <p:cNvSpPr txBox="1"/>
              <p:nvPr/>
            </p:nvSpPr>
            <p:spPr>
              <a:xfrm>
                <a:off x="3358632" y="5074997"/>
                <a:ext cx="13131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keys larger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than K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BD47BED-A9C0-2B43-ADC2-448D695DB621}"/>
                  </a:ext>
                </a:extLst>
              </p:cNvPr>
              <p:cNvGrpSpPr/>
              <p:nvPr/>
            </p:nvGrpSpPr>
            <p:grpSpPr>
              <a:xfrm>
                <a:off x="1377968" y="2960379"/>
                <a:ext cx="1430399" cy="575729"/>
                <a:chOff x="5455399" y="3432919"/>
                <a:chExt cx="1430399" cy="575729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5CA3C79-106C-A446-BAD9-681AE615F248}"/>
                    </a:ext>
                  </a:extLst>
                </p:cNvPr>
                <p:cNvSpPr txBox="1"/>
                <p:nvPr/>
              </p:nvSpPr>
              <p:spPr>
                <a:xfrm>
                  <a:off x="5455399" y="3432919"/>
                  <a:ext cx="5437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key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C62D286E-1214-234F-B01B-F7B4A7F5A6CA}"/>
                    </a:ext>
                  </a:extLst>
                </p:cNvPr>
                <p:cNvCxnSpPr>
                  <a:cxnSpLocks/>
                  <a:stCxn id="35" idx="3"/>
                </p:cNvCxnSpPr>
                <p:nvPr/>
              </p:nvCxnSpPr>
              <p:spPr>
                <a:xfrm>
                  <a:off x="5999138" y="3617585"/>
                  <a:ext cx="886660" cy="39106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A31DE9-4231-BD40-99DA-82415A0D9B8E}"/>
                  </a:ext>
                </a:extLst>
              </p:cNvPr>
              <p:cNvSpPr txBox="1"/>
              <p:nvPr/>
            </p:nvSpPr>
            <p:spPr>
              <a:xfrm>
                <a:off x="1309170" y="5080129"/>
                <a:ext cx="153118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keys smaller 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than K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BD844D4-3740-EA4B-BECB-24C4805FC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40335" y="428860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3C7C351-7AF9-A14B-AABA-A224796E30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47009" y="4273976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AAB6FAE-17F9-2741-B661-4B5812B49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7819" y="4288604"/>
                <a:ext cx="143956" cy="27962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B276AD-232F-F640-94C0-C0E7CFEC1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7909" y="4307619"/>
                <a:ext cx="183487" cy="21247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4692E3E-705C-2F47-B175-C44E3D91955F}"/>
                </a:ext>
              </a:extLst>
            </p:cNvPr>
            <p:cNvSpPr txBox="1"/>
            <p:nvPr/>
          </p:nvSpPr>
          <p:spPr>
            <a:xfrm>
              <a:off x="2266814" y="5958570"/>
              <a:ext cx="1192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2-node</a:t>
              </a:r>
            </a:p>
          </p:txBody>
        </p:sp>
      </p:grpSp>
      <p:grpSp>
        <p:nvGrpSpPr>
          <p:cNvPr id="95" name="Group 94" descr="example of a 3-node">
            <a:extLst>
              <a:ext uri="{FF2B5EF4-FFF2-40B4-BE49-F238E27FC236}">
                <a16:creationId xmlns:a16="http://schemas.microsoft.com/office/drawing/2014/main" id="{264262F2-9799-7E45-9D37-ACE95AFB38CA}"/>
              </a:ext>
            </a:extLst>
          </p:cNvPr>
          <p:cNvGrpSpPr/>
          <p:nvPr/>
        </p:nvGrpSpPr>
        <p:grpSpPr>
          <a:xfrm>
            <a:off x="6658103" y="2960379"/>
            <a:ext cx="4740568" cy="3542902"/>
            <a:chOff x="6658103" y="2960379"/>
            <a:chExt cx="4740568" cy="3542902"/>
          </a:xfrm>
        </p:grpSpPr>
        <p:sp>
          <p:nvSpPr>
            <p:cNvPr id="55" name="Trapezium 54">
              <a:extLst>
                <a:ext uri="{FF2B5EF4-FFF2-40B4-BE49-F238E27FC236}">
                  <a16:creationId xmlns:a16="http://schemas.microsoft.com/office/drawing/2014/main" id="{A563C88F-FD65-134F-A149-598DD806C1C0}"/>
                </a:ext>
              </a:extLst>
            </p:cNvPr>
            <p:cNvSpPr/>
            <p:nvPr/>
          </p:nvSpPr>
          <p:spPr>
            <a:xfrm>
              <a:off x="8352502" y="3829569"/>
              <a:ext cx="1338527" cy="1107097"/>
            </a:xfrm>
            <a:prstGeom prst="trapezoid">
              <a:avLst/>
            </a:prstGeom>
            <a:solidFill>
              <a:schemeClr val="bg1">
                <a:lumMod val="75000"/>
                <a:alpha val="56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rapezium 55">
              <a:extLst>
                <a:ext uri="{FF2B5EF4-FFF2-40B4-BE49-F238E27FC236}">
                  <a16:creationId xmlns:a16="http://schemas.microsoft.com/office/drawing/2014/main" id="{7B49B775-1E8D-D54C-AAFE-4D997A133064}"/>
                </a:ext>
              </a:extLst>
            </p:cNvPr>
            <p:cNvSpPr/>
            <p:nvPr/>
          </p:nvSpPr>
          <p:spPr>
            <a:xfrm>
              <a:off x="6741250" y="3823063"/>
              <a:ext cx="1338527" cy="1107097"/>
            </a:xfrm>
            <a:prstGeom prst="trapezoid">
              <a:avLst/>
            </a:prstGeom>
            <a:solidFill>
              <a:schemeClr val="bg1">
                <a:lumMod val="75000"/>
                <a:alpha val="56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FC6D13B-6088-0F4B-A083-5B70714327EC}"/>
                </a:ext>
              </a:extLst>
            </p:cNvPr>
            <p:cNvGrpSpPr/>
            <p:nvPr/>
          </p:nvGrpSpPr>
          <p:grpSpPr>
            <a:xfrm>
              <a:off x="7423697" y="3043334"/>
              <a:ext cx="2137132" cy="961934"/>
              <a:chOff x="3026549" y="3403987"/>
              <a:chExt cx="2137132" cy="961934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D94DD83-96BC-5346-BA24-F462F63D6BE6}"/>
                  </a:ext>
                </a:extLst>
              </p:cNvPr>
              <p:cNvSpPr/>
              <p:nvPr/>
            </p:nvSpPr>
            <p:spPr>
              <a:xfrm>
                <a:off x="3986220" y="3403987"/>
                <a:ext cx="1177461" cy="44088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K</a:t>
                </a:r>
                <a:r>
                  <a:rPr lang="en-US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1419A3C-E569-9C43-AC48-9B4627C1B9E5}"/>
                  </a:ext>
                </a:extLst>
              </p:cNvPr>
              <p:cNvCxnSpPr>
                <a:cxnSpLocks/>
                <a:stCxn id="69" idx="3"/>
                <a:endCxn id="58" idx="0"/>
              </p:cNvCxnSpPr>
              <p:nvPr/>
            </p:nvCxnSpPr>
            <p:spPr>
              <a:xfrm flipH="1">
                <a:off x="3026549" y="3780306"/>
                <a:ext cx="1132106" cy="5856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D76F366-8D1A-7B41-80A8-555AFD17F7F5}"/>
                  </a:ext>
                </a:extLst>
              </p:cNvPr>
              <p:cNvCxnSpPr>
                <a:cxnSpLocks/>
                <a:endCxn id="59" idx="0"/>
              </p:cNvCxnSpPr>
              <p:nvPr/>
            </p:nvCxnSpPr>
            <p:spPr>
              <a:xfrm>
                <a:off x="4648915" y="3858140"/>
                <a:ext cx="38028" cy="47714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030AB7A-67F8-8F42-A83A-3B863F2EA74A}"/>
                </a:ext>
              </a:extLst>
            </p:cNvPr>
            <p:cNvSpPr/>
            <p:nvPr/>
          </p:nvSpPr>
          <p:spPr>
            <a:xfrm>
              <a:off x="7263414" y="4005268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7C8FB9B-AFEA-3D44-8D5E-E2718746592B}"/>
                </a:ext>
              </a:extLst>
            </p:cNvPr>
            <p:cNvSpPr/>
            <p:nvPr/>
          </p:nvSpPr>
          <p:spPr>
            <a:xfrm>
              <a:off x="8923808" y="3974634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36DC779-76BE-BD4F-B2F1-2207C444909A}"/>
                </a:ext>
              </a:extLst>
            </p:cNvPr>
            <p:cNvSpPr txBox="1"/>
            <p:nvPr/>
          </p:nvSpPr>
          <p:spPr>
            <a:xfrm>
              <a:off x="8306840" y="4968250"/>
              <a:ext cx="18127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keys larger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than K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but smaller than K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BD1EFDB-0CCD-224A-B731-1ED88FD84783}"/>
                </a:ext>
              </a:extLst>
            </p:cNvPr>
            <p:cNvGrpSpPr/>
            <p:nvPr/>
          </p:nvGrpSpPr>
          <p:grpSpPr>
            <a:xfrm>
              <a:off x="6961106" y="2960379"/>
              <a:ext cx="1422262" cy="369332"/>
              <a:chOff x="5455399" y="3432919"/>
              <a:chExt cx="1422262" cy="369332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4643F19-C94C-AE41-9DFE-ADF67E0ACFFA}"/>
                  </a:ext>
                </a:extLst>
              </p:cNvPr>
              <p:cNvSpPr txBox="1"/>
              <p:nvPr/>
            </p:nvSpPr>
            <p:spPr>
              <a:xfrm>
                <a:off x="5455399" y="3432919"/>
                <a:ext cx="659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keys</a:t>
                </a: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46EC4B2D-F9E2-F04D-AEBC-984150F18FA8}"/>
                  </a:ext>
                </a:extLst>
              </p:cNvPr>
              <p:cNvCxnSpPr>
                <a:cxnSpLocks/>
                <a:stCxn id="67" idx="3"/>
                <a:endCxn id="69" idx="2"/>
              </p:cNvCxnSpPr>
              <p:nvPr/>
            </p:nvCxnSpPr>
            <p:spPr>
              <a:xfrm>
                <a:off x="6114554" y="3617585"/>
                <a:ext cx="763107" cy="11873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A90D68E-51EE-6B45-840C-C3852CE853F7}"/>
                </a:ext>
              </a:extLst>
            </p:cNvPr>
            <p:cNvSpPr txBox="1"/>
            <p:nvPr/>
          </p:nvSpPr>
          <p:spPr>
            <a:xfrm>
              <a:off x="6658103" y="4945982"/>
              <a:ext cx="15311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keys smaller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than K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A201924-572D-A044-B6AA-2761865624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617" y="4288604"/>
              <a:ext cx="284710" cy="1449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8F65EC2-96B2-CD41-9876-B44B17CAC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6708" y="4243342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732DFF-6FC5-4A42-95DD-D67F9DCC88B4}"/>
                </a:ext>
              </a:extLst>
            </p:cNvPr>
            <p:cNvCxnSpPr>
              <a:cxnSpLocks/>
            </p:cNvCxnSpPr>
            <p:nvPr/>
          </p:nvCxnSpPr>
          <p:spPr>
            <a:xfrm>
              <a:off x="9197518" y="4257970"/>
              <a:ext cx="143956" cy="2796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BA13143-4F4F-924E-BD13-7F6FD480E96D}"/>
                </a:ext>
              </a:extLst>
            </p:cNvPr>
            <p:cNvCxnSpPr>
              <a:cxnSpLocks/>
            </p:cNvCxnSpPr>
            <p:nvPr/>
          </p:nvCxnSpPr>
          <p:spPr>
            <a:xfrm>
              <a:off x="7531191" y="4307619"/>
              <a:ext cx="183487" cy="21247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rapezium 75">
              <a:extLst>
                <a:ext uri="{FF2B5EF4-FFF2-40B4-BE49-F238E27FC236}">
                  <a16:creationId xmlns:a16="http://schemas.microsoft.com/office/drawing/2014/main" id="{9125DA5F-C245-A44D-94DD-4B348362D17C}"/>
                </a:ext>
              </a:extLst>
            </p:cNvPr>
            <p:cNvSpPr/>
            <p:nvPr/>
          </p:nvSpPr>
          <p:spPr>
            <a:xfrm>
              <a:off x="9963754" y="3829569"/>
              <a:ext cx="1338527" cy="1107097"/>
            </a:xfrm>
            <a:prstGeom prst="trapezoid">
              <a:avLst/>
            </a:prstGeom>
            <a:solidFill>
              <a:schemeClr val="bg1">
                <a:lumMod val="75000"/>
                <a:alpha val="56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CD7F423-DBAB-6347-A78C-E769D900F6FA}"/>
                </a:ext>
              </a:extLst>
            </p:cNvPr>
            <p:cNvSpPr/>
            <p:nvPr/>
          </p:nvSpPr>
          <p:spPr>
            <a:xfrm>
              <a:off x="10535060" y="3974634"/>
              <a:ext cx="320566" cy="346842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E1D40AC-CA86-454A-BE70-7C1F899759B2}"/>
                </a:ext>
              </a:extLst>
            </p:cNvPr>
            <p:cNvSpPr txBox="1"/>
            <p:nvPr/>
          </p:nvSpPr>
          <p:spPr>
            <a:xfrm>
              <a:off x="10085491" y="4965677"/>
              <a:ext cx="13131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keys larger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than K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56BBF6-456B-3A4B-8FBB-4062BAA4C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7960" y="4243342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4530D0C-73D1-7A43-A110-0E27307204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8770" y="4257970"/>
              <a:ext cx="143956" cy="2796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4FA043C-92E4-C144-963F-8D840576EFE1}"/>
                </a:ext>
              </a:extLst>
            </p:cNvPr>
            <p:cNvCxnSpPr>
              <a:cxnSpLocks/>
              <a:stCxn id="69" idx="5"/>
              <a:endCxn id="77" idx="0"/>
            </p:cNvCxnSpPr>
            <p:nvPr/>
          </p:nvCxnSpPr>
          <p:spPr>
            <a:xfrm>
              <a:off x="9388394" y="3419653"/>
              <a:ext cx="1306949" cy="554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A177E8-9569-C04B-9566-FB626011B6F8}"/>
                </a:ext>
              </a:extLst>
            </p:cNvPr>
            <p:cNvSpPr txBox="1"/>
            <p:nvPr/>
          </p:nvSpPr>
          <p:spPr>
            <a:xfrm>
              <a:off x="8498074" y="6041616"/>
              <a:ext cx="1192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3-node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214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Invariants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Symmetric order</a:t>
            </a:r>
            <a:r>
              <a:rPr lang="en-US" dirty="0"/>
              <a:t>. In-order traversal yields keys in ascending order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Perfect balance</a:t>
            </a:r>
            <a:r>
              <a:rPr lang="en-US" dirty="0"/>
              <a:t>. Every path from the root to a null link has the same length</a:t>
            </a:r>
          </a:p>
          <a:p>
            <a:pPr lvl="1"/>
            <a:endParaRPr lang="en-US" dirty="0"/>
          </a:p>
          <a:p>
            <a:r>
              <a:rPr lang="en-US" dirty="0"/>
              <a:t>Example of a 2-3 Search Tree</a:t>
            </a:r>
          </a:p>
        </p:txBody>
      </p:sp>
      <p:grpSp>
        <p:nvGrpSpPr>
          <p:cNvPr id="87" name="Group 86" descr="example of a 2-3 tree of height 3">
            <a:extLst>
              <a:ext uri="{FF2B5EF4-FFF2-40B4-BE49-F238E27FC236}">
                <a16:creationId xmlns:a16="http://schemas.microsoft.com/office/drawing/2014/main" id="{4B59E258-2182-6A48-B0C3-F772207BEEF6}"/>
              </a:ext>
            </a:extLst>
          </p:cNvPr>
          <p:cNvGrpSpPr/>
          <p:nvPr/>
        </p:nvGrpSpPr>
        <p:grpSpPr>
          <a:xfrm>
            <a:off x="777467" y="4048387"/>
            <a:ext cx="5811038" cy="2720157"/>
            <a:chOff x="777467" y="4048387"/>
            <a:chExt cx="5811038" cy="272015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895272" y="4205124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798C3AD-0182-424C-BA9F-E2F4F75BB815}"/>
                </a:ext>
              </a:extLst>
            </p:cNvPr>
            <p:cNvSpPr txBox="1"/>
            <p:nvPr/>
          </p:nvSpPr>
          <p:spPr>
            <a:xfrm>
              <a:off x="5590948" y="4113034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2-node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55BCB8-E1E3-0B47-A8A9-6CF3793FFCD3}"/>
                </a:ext>
              </a:extLst>
            </p:cNvPr>
            <p:cNvSpPr txBox="1"/>
            <p:nvPr/>
          </p:nvSpPr>
          <p:spPr>
            <a:xfrm>
              <a:off x="2517801" y="4048387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3-node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55AA6CB-B73F-5B40-AF87-D3D490EA7667}"/>
                </a:ext>
              </a:extLst>
            </p:cNvPr>
            <p:cNvSpPr txBox="1"/>
            <p:nvPr/>
          </p:nvSpPr>
          <p:spPr>
            <a:xfrm>
              <a:off x="777467" y="4829270"/>
              <a:ext cx="537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93A119E-F867-AD48-A438-3C6F81D5FD97}"/>
                </a:ext>
              </a:extLst>
            </p:cNvPr>
            <p:cNvSpPr txBox="1"/>
            <p:nvPr/>
          </p:nvSpPr>
          <p:spPr>
            <a:xfrm>
              <a:off x="4443985" y="4775734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J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59F5A25-88F6-8348-B860-86ADDE710997}"/>
                </a:ext>
              </a:extLst>
            </p:cNvPr>
            <p:cNvSpPr txBox="1"/>
            <p:nvPr/>
          </p:nvSpPr>
          <p:spPr>
            <a:xfrm>
              <a:off x="1895272" y="6399212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E &amp; &lt; J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3A831BD-8163-E147-A2F8-CE7BEEBF8EC2}"/>
                </a:ext>
              </a:extLst>
            </p:cNvPr>
            <p:cNvCxnSpPr>
              <a:stCxn id="67" idx="2"/>
              <a:endCxn id="36" idx="7"/>
            </p:cNvCxnSpPr>
            <p:nvPr/>
          </p:nvCxnSpPr>
          <p:spPr>
            <a:xfrm flipH="1">
              <a:off x="5622566" y="4482366"/>
              <a:ext cx="419788" cy="382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45515FE7-41D2-3E47-8272-7D3EE0E78D64}"/>
                </a:ext>
              </a:extLst>
            </p:cNvPr>
            <p:cNvCxnSpPr>
              <a:cxnSpLocks/>
              <a:stCxn id="68" idx="2"/>
              <a:endCxn id="39" idx="1"/>
            </p:cNvCxnSpPr>
            <p:nvPr/>
          </p:nvCxnSpPr>
          <p:spPr>
            <a:xfrm>
              <a:off x="2969207" y="4417719"/>
              <a:ext cx="268128" cy="4054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05DDAA2-00D6-4C41-A755-306E333EAF50}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>
              <a:off x="1314794" y="5013936"/>
              <a:ext cx="1567738" cy="2176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052D5AF-A498-964B-8265-011960D8B146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V="1">
              <a:off x="2462094" y="5298053"/>
              <a:ext cx="1055679" cy="11011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46D18928-1A35-C742-B283-58624953BCA5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>
              <a:off x="4095468" y="4960400"/>
              <a:ext cx="348517" cy="3586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9A9FD7-82DE-5549-970B-413B2868D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865200" y="5813184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75DB49C-040F-1B49-A68A-463C27ED1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71736" y="5809255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2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operation – get (search key)</a:t>
            </a:r>
          </a:p>
          <a:p>
            <a:pPr lvl="1"/>
            <a:r>
              <a:rPr lang="en-US" dirty="0"/>
              <a:t>Compare the search key against those in a node</a:t>
            </a:r>
          </a:p>
          <a:p>
            <a:pPr lvl="1"/>
            <a:r>
              <a:rPr lang="en-US" dirty="0"/>
              <a:t>Find the interval containing the search key</a:t>
            </a:r>
          </a:p>
          <a:p>
            <a:pPr lvl="1"/>
            <a:r>
              <a:rPr lang="en-US" dirty="0"/>
              <a:t>Follow the associated link (recursively)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E7610A-F648-9847-9718-0C34C1C636A3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3591352"/>
              <a:ext cx="5449193" cy="2370049"/>
              <a:chOff x="646807" y="3591352"/>
              <a:chExt cx="5449193" cy="2370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693233" cy="1908384"/>
                <a:chOff x="5449328" y="3324591"/>
                <a:chExt cx="4693233" cy="1908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150813" cy="1004365"/>
                  <a:chOff x="2379146" y="3178812"/>
                  <a:chExt cx="2150813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5"/>
                  <a:endCxn id="60" idx="0"/>
                </p:cNvCxnSpPr>
                <p:nvPr/>
              </p:nvCxnSpPr>
              <p:spPr>
                <a:xfrm>
                  <a:off x="9176622" y="4229938"/>
                  <a:ext cx="495826" cy="4171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2335" y="4647134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X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39990" y="495016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6410" y="4979516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6981" y="494318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406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get(H)</a:t>
                </a:r>
              </a:p>
            </p:txBody>
          </p: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631649A-6E57-CD4C-ADF5-CD7CC3745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295" y="5661077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947A21D-CC10-5943-8DA6-F3EE5BEFE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664831" y="5657148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660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operation – get (search key)</a:t>
            </a:r>
          </a:p>
          <a:p>
            <a:pPr lvl="1"/>
            <a:r>
              <a:rPr lang="en-US" dirty="0"/>
              <a:t>Compare the search key against those in a node</a:t>
            </a:r>
          </a:p>
          <a:p>
            <a:pPr lvl="1"/>
            <a:r>
              <a:rPr lang="en-US" dirty="0"/>
              <a:t>Find the interval containing the search key</a:t>
            </a:r>
          </a:p>
          <a:p>
            <a:pPr lvl="1"/>
            <a:r>
              <a:rPr lang="en-US" dirty="0"/>
              <a:t>Follow the associated link (recursively)</a:t>
            </a:r>
          </a:p>
        </p:txBody>
      </p:sp>
      <p:grpSp>
        <p:nvGrpSpPr>
          <p:cNvPr id="5" name="Group 4" descr="Demo of successful seacrh for key H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053017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406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get(H)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F5BAA6-6962-324B-906E-C43C8BA1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58295" y="5650941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4CF1C1-C8BB-FA48-AAD4-40219B088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64831" y="5647012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2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operation – get (search key)</a:t>
            </a:r>
          </a:p>
          <a:p>
            <a:pPr lvl="1"/>
            <a:r>
              <a:rPr lang="en-US" dirty="0"/>
              <a:t>Compare the search key against those in a node</a:t>
            </a:r>
          </a:p>
          <a:p>
            <a:pPr lvl="1"/>
            <a:r>
              <a:rPr lang="en-US" dirty="0"/>
              <a:t>Find the interval containing the search key</a:t>
            </a:r>
          </a:p>
          <a:p>
            <a:pPr lvl="1"/>
            <a:r>
              <a:rPr lang="en-US" dirty="0"/>
              <a:t>Follow the associated link (recursively)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329B6A-874E-B04D-B933-E61AA836E375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3591352"/>
              <a:ext cx="5449193" cy="2370049"/>
              <a:chOff x="646807" y="3591352"/>
              <a:chExt cx="5449193" cy="2370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693233" cy="1908384"/>
                <a:chOff x="5449328" y="3324591"/>
                <a:chExt cx="4693233" cy="1908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150813" cy="1004365"/>
                  <a:chOff x="2379146" y="3178812"/>
                  <a:chExt cx="2150813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5"/>
                  <a:endCxn id="60" idx="0"/>
                </p:cNvCxnSpPr>
                <p:nvPr/>
              </p:nvCxnSpPr>
              <p:spPr>
                <a:xfrm>
                  <a:off x="9176622" y="4229938"/>
                  <a:ext cx="495826" cy="4171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2335" y="4647134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X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39990" y="495016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6410" y="4979516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6981" y="494318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054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get(Z)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400717-1C7F-B347-B05D-9AD6F0EB7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137" y="5650941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584FCA-43E1-944C-8F4E-7D777D3D0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679673" y="5647012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4826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operation – get (search key)</a:t>
            </a:r>
          </a:p>
          <a:p>
            <a:pPr lvl="1"/>
            <a:r>
              <a:rPr lang="en-US" dirty="0"/>
              <a:t>Compare the search key against those in a node</a:t>
            </a:r>
          </a:p>
          <a:p>
            <a:pPr lvl="1"/>
            <a:r>
              <a:rPr lang="en-US" dirty="0"/>
              <a:t>Find the interval containing the search key</a:t>
            </a:r>
          </a:p>
          <a:p>
            <a:pPr lvl="1"/>
            <a:r>
              <a:rPr lang="en-US" dirty="0"/>
              <a:t>Follow the associated link (recursively)</a:t>
            </a:r>
          </a:p>
        </p:txBody>
      </p:sp>
      <p:grpSp>
        <p:nvGrpSpPr>
          <p:cNvPr id="5" name="Group 4" descr="Demo of successful seacrh for key H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053017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054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get(Z)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EFA9C9-42D1-264D-9CA6-630823D20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58295" y="5661012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6E534B-E81F-3F46-86C8-E5495BA69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64831" y="5657083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07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1: insert the new key in a 2-node</a:t>
            </a:r>
          </a:p>
          <a:p>
            <a:pPr lvl="2"/>
            <a:r>
              <a:rPr lang="en-US" dirty="0"/>
              <a:t>Transform the 2-node into a 3-node</a:t>
            </a:r>
          </a:p>
        </p:txBody>
      </p:sp>
      <p:grpSp>
        <p:nvGrpSpPr>
          <p:cNvPr id="5" name="Group 4" descr="Demo of insert of key K in a 2-nod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053017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put(K)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A400717-1C7F-B347-B05D-9AD6F0EB7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73137" y="5650941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584FCA-43E1-944C-8F4E-7D777D3D0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79673" y="5647012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87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1: insert the new key in a 2-node</a:t>
            </a:r>
          </a:p>
          <a:p>
            <a:pPr lvl="2"/>
            <a:r>
              <a:rPr lang="en-US" dirty="0"/>
              <a:t>Transform the 2-node into a 3-node</a:t>
            </a:r>
          </a:p>
        </p:txBody>
      </p:sp>
      <p:grpSp>
        <p:nvGrpSpPr>
          <p:cNvPr id="5" name="Group 4" descr="Demo of insert of key K in a 2-nod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053017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solidFill>
                <a:schemeClr val="accent5">
                  <a:alpha val="5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put(K)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A400717-1C7F-B347-B05D-9AD6F0EB7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73137" y="5650941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584FCA-43E1-944C-8F4E-7D777D3D0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79673" y="5647012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33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1: insert the new key in a 2-node</a:t>
            </a:r>
          </a:p>
          <a:p>
            <a:pPr lvl="2"/>
            <a:r>
              <a:rPr lang="en-US" dirty="0"/>
              <a:t>Transform the 2-node into a 3-node</a:t>
            </a:r>
          </a:p>
        </p:txBody>
      </p:sp>
      <p:grpSp>
        <p:nvGrpSpPr>
          <p:cNvPr id="5" name="Group 4" descr="Demo of insert of key K in a 2-nod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3591352"/>
            <a:ext cx="5449193" cy="2370049"/>
            <a:chOff x="646807" y="3591352"/>
            <a:chExt cx="5449193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053017"/>
              <a:ext cx="4693233" cy="1908384"/>
              <a:chOff x="5449328" y="3324591"/>
              <a:chExt cx="4693233" cy="190838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D6B4B2-907B-3A4B-9C39-825DB8086F62}"/>
                  </a:ext>
                </a:extLst>
              </p:cNvPr>
              <p:cNvSpPr/>
              <p:nvPr/>
            </p:nvSpPr>
            <p:spPr>
              <a:xfrm>
                <a:off x="7774242" y="3324591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D78165-14EF-E740-9ACA-49ED06B6FFDF}"/>
                  </a:ext>
                </a:extLst>
              </p:cNvPr>
              <p:cNvCxnSpPr>
                <a:cxnSpLocks/>
                <a:stCxn id="11" idx="3"/>
                <a:endCxn id="39" idx="0"/>
              </p:cNvCxnSpPr>
              <p:nvPr/>
            </p:nvCxnSpPr>
            <p:spPr>
              <a:xfrm flipH="1">
                <a:off x="7110916" y="3620639"/>
                <a:ext cx="710272" cy="271219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567108" cy="740983"/>
                <a:chOff x="3420688" y="3492063"/>
                <a:chExt cx="1567108" cy="740983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218454" cy="444935"/>
                </a:xfrm>
                <a:prstGeom prst="lin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FB039E-4312-F048-8A17-60FFD3B110EB}"/>
                  </a:ext>
                </a:extLst>
              </p:cNvPr>
              <p:cNvSpPr/>
              <p:nvPr/>
            </p:nvSpPr>
            <p:spPr>
              <a:xfrm>
                <a:off x="8488959" y="458188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535064" y="4577849"/>
                <a:ext cx="777278" cy="375506"/>
              </a:xfrm>
              <a:prstGeom prst="ellipse">
                <a:avLst/>
              </a:prstGeom>
              <a:solidFill>
                <a:schemeClr val="accent5">
                  <a:alpha val="5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 L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29AB92B-D8F1-0D4A-B399-9F2C08C4854E}"/>
                  </a:ext>
                </a:extLst>
              </p:cNvPr>
              <p:cNvGrpSpPr/>
              <p:nvPr/>
            </p:nvGrpSpPr>
            <p:grpSpPr>
              <a:xfrm>
                <a:off x="7072755" y="3620639"/>
                <a:ext cx="2150813" cy="1004365"/>
                <a:chOff x="2379146" y="3178812"/>
                <a:chExt cx="2150813" cy="1004365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D07CB91-8F8D-B946-BDF0-1AFE5A1862B7}"/>
                    </a:ext>
                  </a:extLst>
                </p:cNvPr>
                <p:cNvSpPr/>
                <p:nvPr/>
              </p:nvSpPr>
              <p:spPr>
                <a:xfrm>
                  <a:off x="4209393" y="3492063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54AA4C9-B8A3-ED4D-A553-0977CEF179C7}"/>
                    </a:ext>
                  </a:extLst>
                </p:cNvPr>
                <p:cNvCxnSpPr>
                  <a:cxnSpLocks/>
                  <a:stCxn id="39" idx="4"/>
                  <a:endCxn id="10" idx="0"/>
                </p:cNvCxnSpPr>
                <p:nvPr/>
              </p:nvCxnSpPr>
              <p:spPr>
                <a:xfrm flipH="1">
                  <a:off x="2379146" y="3796873"/>
                  <a:ext cx="38161" cy="386304"/>
                </a:xfrm>
                <a:prstGeom prst="lin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E51B998-0D72-D449-ABEE-7E6C61C3BECA}"/>
                    </a:ext>
                  </a:extLst>
                </p:cNvPr>
                <p:cNvCxnSpPr>
                  <a:cxnSpLocks/>
                  <a:stCxn id="11" idx="5"/>
                  <a:endCxn id="36" idx="0"/>
                </p:cNvCxnSpPr>
                <p:nvPr/>
              </p:nvCxnSpPr>
              <p:spPr>
                <a:xfrm>
                  <a:off x="3354253" y="3178812"/>
                  <a:ext cx="1015423" cy="313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C64FB2-92B0-1A4D-8986-36DD522B994C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8649242" y="4229938"/>
                <a:ext cx="302638" cy="3519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B229C54-5492-5144-AE3B-B1E66186E0DC}"/>
                  </a:ext>
                </a:extLst>
              </p:cNvPr>
              <p:cNvCxnSpPr>
                <a:cxnSpLocks/>
                <a:stCxn id="36" idx="5"/>
                <a:endCxn id="60" idx="0"/>
              </p:cNvCxnSpPr>
              <p:nvPr/>
            </p:nvCxnSpPr>
            <p:spPr>
              <a:xfrm>
                <a:off x="9176622" y="4229938"/>
                <a:ext cx="495826" cy="41719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095712C-A36F-1E40-B58A-F526B590F9D8}"/>
                  </a:ext>
                </a:extLst>
              </p:cNvPr>
              <p:cNvSpPr/>
              <p:nvPr/>
            </p:nvSpPr>
            <p:spPr>
              <a:xfrm>
                <a:off x="9202335" y="4647134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X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9F5662-ECF3-4247-8C66-938146F29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39990" y="495016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A832F8A-9715-8E48-AE1B-437E6ABA5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6410" y="4979516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9931EA-F98C-C947-B09C-77D9AC46A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981" y="494318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put(K)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A400717-1C7F-B347-B05D-9AD6F0EB7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73137" y="5650941"/>
            <a:ext cx="145428" cy="284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584FCA-43E1-944C-8F4E-7D777D3D0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79673" y="5647012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46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2-nodes.</a:t>
            </a:r>
          </a:p>
        </p:txBody>
      </p:sp>
      <p:grpSp>
        <p:nvGrpSpPr>
          <p:cNvPr id="6" name="Group 5" descr="Demo of insert of key Z in a 3-node">
            <a:extLst>
              <a:ext uri="{FF2B5EF4-FFF2-40B4-BE49-F238E27FC236}">
                <a16:creationId xmlns:a16="http://schemas.microsoft.com/office/drawing/2014/main" id="{4286BE92-86DE-F545-8273-E2E2DF836258}"/>
              </a:ext>
            </a:extLst>
          </p:cNvPr>
          <p:cNvGrpSpPr/>
          <p:nvPr/>
        </p:nvGrpSpPr>
        <p:grpSpPr>
          <a:xfrm>
            <a:off x="646807" y="4234845"/>
            <a:ext cx="5449193" cy="2370049"/>
            <a:chOff x="646807" y="4234845"/>
            <a:chExt cx="5449193" cy="2370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4234845"/>
              <a:ext cx="5449193" cy="2370049"/>
              <a:chOff x="646807" y="3591352"/>
              <a:chExt cx="5449193" cy="2370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693233" cy="1908384"/>
                <a:chOff x="5449328" y="3324591"/>
                <a:chExt cx="4693233" cy="1908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150813" cy="1004365"/>
                  <a:chOff x="2379146" y="3178812"/>
                  <a:chExt cx="2150813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5"/>
                  <a:endCxn id="60" idx="0"/>
                </p:cNvCxnSpPr>
                <p:nvPr/>
              </p:nvCxnSpPr>
              <p:spPr>
                <a:xfrm>
                  <a:off x="9176622" y="4229938"/>
                  <a:ext cx="495826" cy="41719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2335" y="4647134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X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39990" y="495016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6410" y="4979516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6981" y="494318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054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put(Z)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400717-1C7F-B347-B05D-9AD6F0EB7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612" y="6276507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584FCA-43E1-944C-8F4E-7D777D3D0100}"/>
                </a:ext>
              </a:extLst>
            </p:cNvPr>
            <p:cNvCxnSpPr>
              <a:cxnSpLocks/>
            </p:cNvCxnSpPr>
            <p:nvPr/>
          </p:nvCxnSpPr>
          <p:spPr>
            <a:xfrm>
              <a:off x="4664148" y="6272578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9239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2-nodes.</a:t>
            </a:r>
          </a:p>
        </p:txBody>
      </p:sp>
      <p:grpSp>
        <p:nvGrpSpPr>
          <p:cNvPr id="6" name="Group 5" descr="Demo of insert of key Z in a 3-node">
            <a:extLst>
              <a:ext uri="{FF2B5EF4-FFF2-40B4-BE49-F238E27FC236}">
                <a16:creationId xmlns:a16="http://schemas.microsoft.com/office/drawing/2014/main" id="{4286BE92-86DE-F545-8273-E2E2DF836258}"/>
              </a:ext>
            </a:extLst>
          </p:cNvPr>
          <p:cNvGrpSpPr/>
          <p:nvPr/>
        </p:nvGrpSpPr>
        <p:grpSpPr>
          <a:xfrm>
            <a:off x="646807" y="4234845"/>
            <a:ext cx="5449193" cy="2370049"/>
            <a:chOff x="646807" y="4234845"/>
            <a:chExt cx="5449193" cy="2370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4234845"/>
              <a:ext cx="5449193" cy="2370049"/>
              <a:chOff x="646807" y="3591352"/>
              <a:chExt cx="5449193" cy="2370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693233" cy="1908384"/>
                <a:chOff x="5449328" y="3324591"/>
                <a:chExt cx="4693233" cy="1908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150813" cy="1004365"/>
                  <a:chOff x="2379146" y="3178812"/>
                  <a:chExt cx="2150813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accent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5"/>
                  <a:endCxn id="60" idx="0"/>
                </p:cNvCxnSpPr>
                <p:nvPr/>
              </p:nvCxnSpPr>
              <p:spPr>
                <a:xfrm>
                  <a:off x="9176622" y="4229938"/>
                  <a:ext cx="495826" cy="417196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2335" y="4647134"/>
                  <a:ext cx="940226" cy="332382"/>
                </a:xfrm>
                <a:prstGeom prst="ellips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X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39990" y="495016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6410" y="4979516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6981" y="494318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054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put(Z)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400717-1C7F-B347-B05D-9AD6F0EB7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612" y="6276507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584FCA-43E1-944C-8F4E-7D777D3D0100}"/>
                </a:ext>
              </a:extLst>
            </p:cNvPr>
            <p:cNvCxnSpPr>
              <a:cxnSpLocks/>
            </p:cNvCxnSpPr>
            <p:nvPr/>
          </p:nvCxnSpPr>
          <p:spPr>
            <a:xfrm>
              <a:off x="4664148" y="6272578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42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2-nodes.</a:t>
            </a:r>
          </a:p>
        </p:txBody>
      </p:sp>
      <p:grpSp>
        <p:nvGrpSpPr>
          <p:cNvPr id="6" name="Group 5" descr="Demo of insert of key Z in a 3-node">
            <a:extLst>
              <a:ext uri="{FF2B5EF4-FFF2-40B4-BE49-F238E27FC236}">
                <a16:creationId xmlns:a16="http://schemas.microsoft.com/office/drawing/2014/main" id="{4286BE92-86DE-F545-8273-E2E2DF836258}"/>
              </a:ext>
            </a:extLst>
          </p:cNvPr>
          <p:cNvGrpSpPr/>
          <p:nvPr/>
        </p:nvGrpSpPr>
        <p:grpSpPr>
          <a:xfrm>
            <a:off x="646807" y="4234845"/>
            <a:ext cx="5669325" cy="2386049"/>
            <a:chOff x="646807" y="4234845"/>
            <a:chExt cx="5669325" cy="2386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4234845"/>
              <a:ext cx="5669325" cy="2386049"/>
              <a:chOff x="646807" y="3591352"/>
              <a:chExt cx="5669325" cy="2386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913365" cy="1924384"/>
                <a:chOff x="5449328" y="3324591"/>
                <a:chExt cx="4913365" cy="1924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150813" cy="1004365"/>
                  <a:chOff x="2379146" y="3178812"/>
                  <a:chExt cx="2150813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320566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015423" cy="313251"/>
                  </a:xfrm>
                  <a:prstGeom prst="line">
                    <a:avLst/>
                  </a:prstGeom>
                  <a:ln w="28575">
                    <a:solidFill>
                      <a:schemeClr val="accent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5"/>
                  <a:endCxn id="60" idx="0"/>
                </p:cNvCxnSpPr>
                <p:nvPr/>
              </p:nvCxnSpPr>
              <p:spPr>
                <a:xfrm>
                  <a:off x="9176622" y="4229938"/>
                  <a:ext cx="605892" cy="417196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2334" y="4647134"/>
                  <a:ext cx="1160359" cy="332382"/>
                </a:xfrm>
                <a:prstGeom prst="ellips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X Z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039990" y="4950164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96410" y="4979516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26981" y="4960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054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put(Z)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400717-1C7F-B347-B05D-9AD6F0EB7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612" y="6276507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584FCA-43E1-944C-8F4E-7D777D3D0100}"/>
                </a:ext>
              </a:extLst>
            </p:cNvPr>
            <p:cNvCxnSpPr>
              <a:cxnSpLocks/>
            </p:cNvCxnSpPr>
            <p:nvPr/>
          </p:nvCxnSpPr>
          <p:spPr>
            <a:xfrm>
              <a:off x="4664148" y="6272578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84788E-BE55-E14C-9EFD-AE13EEFFF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34634" y="6298128"/>
            <a:ext cx="147631" cy="2888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582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6" name="Group 5" descr="Demo of insert of key Z in a 3-node">
            <a:extLst>
              <a:ext uri="{FF2B5EF4-FFF2-40B4-BE49-F238E27FC236}">
                <a16:creationId xmlns:a16="http://schemas.microsoft.com/office/drawing/2014/main" id="{4286BE92-86DE-F545-8273-E2E2DF836258}"/>
              </a:ext>
            </a:extLst>
          </p:cNvPr>
          <p:cNvGrpSpPr/>
          <p:nvPr/>
        </p:nvGrpSpPr>
        <p:grpSpPr>
          <a:xfrm>
            <a:off x="646807" y="4234845"/>
            <a:ext cx="5659146" cy="2370049"/>
            <a:chOff x="646807" y="4234845"/>
            <a:chExt cx="5659146" cy="2370049"/>
          </a:xfrm>
        </p:grpSpPr>
        <p:grpSp>
          <p:nvGrpSpPr>
            <p:cNvPr id="5" name="Group 4" descr="Demo of successful seacrh for key H">
              <a:extLst>
                <a:ext uri="{FF2B5EF4-FFF2-40B4-BE49-F238E27FC236}">
                  <a16:creationId xmlns:a16="http://schemas.microsoft.com/office/drawing/2014/main" id="{EA76684D-2BBD-A34C-99F8-D468FB632CB8}"/>
                </a:ext>
              </a:extLst>
            </p:cNvPr>
            <p:cNvGrpSpPr/>
            <p:nvPr/>
          </p:nvGrpSpPr>
          <p:grpSpPr>
            <a:xfrm>
              <a:off x="646807" y="4234845"/>
              <a:ext cx="5659146" cy="2370049"/>
              <a:chOff x="646807" y="3591352"/>
              <a:chExt cx="5659146" cy="2370049"/>
            </a:xfrm>
          </p:grpSpPr>
          <p:grpSp>
            <p:nvGrpSpPr>
              <p:cNvPr id="66" name="Group 65" descr="Demo of successful seacrh for key H">
                <a:extLst>
                  <a:ext uri="{FF2B5EF4-FFF2-40B4-BE49-F238E27FC236}">
                    <a16:creationId xmlns:a16="http://schemas.microsoft.com/office/drawing/2014/main" id="{E18BC34B-5A96-D445-9936-CA0F797530FC}"/>
                  </a:ext>
                </a:extLst>
              </p:cNvPr>
              <p:cNvGrpSpPr/>
              <p:nvPr/>
            </p:nvGrpSpPr>
            <p:grpSpPr>
              <a:xfrm>
                <a:off x="1402767" y="4053017"/>
                <a:ext cx="4903186" cy="1908384"/>
                <a:chOff x="5449328" y="3324591"/>
                <a:chExt cx="4903186" cy="1908384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41D7F70-10B6-F144-8D63-E37278B8D637}"/>
                    </a:ext>
                  </a:extLst>
                </p:cNvPr>
                <p:cNvSpPr/>
                <p:nvPr/>
              </p:nvSpPr>
              <p:spPr>
                <a:xfrm>
                  <a:off x="6912472" y="4625004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FD6B4B2-907B-3A4B-9C39-825DB8086F62}"/>
                    </a:ext>
                  </a:extLst>
                </p:cNvPr>
                <p:cNvSpPr/>
                <p:nvPr/>
              </p:nvSpPr>
              <p:spPr>
                <a:xfrm>
                  <a:off x="7774242" y="3324591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0BD78165-14EF-E740-9ACA-49ED06B6FFDF}"/>
                    </a:ext>
                  </a:extLst>
                </p:cNvPr>
                <p:cNvCxnSpPr>
                  <a:cxnSpLocks/>
                  <a:stCxn id="11" idx="3"/>
                  <a:endCxn id="39" idx="0"/>
                </p:cNvCxnSpPr>
                <p:nvPr/>
              </p:nvCxnSpPr>
              <p:spPr>
                <a:xfrm flipH="1">
                  <a:off x="7110916" y="3620639"/>
                  <a:ext cx="710272" cy="27121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096F00C-FA22-DF43-A814-061CE839EE5E}"/>
                    </a:ext>
                  </a:extLst>
                </p:cNvPr>
                <p:cNvGrpSpPr/>
                <p:nvPr/>
              </p:nvGrpSpPr>
              <p:grpSpPr>
                <a:xfrm>
                  <a:off x="6081786" y="3891858"/>
                  <a:ext cx="1739402" cy="755276"/>
                  <a:chOff x="3420688" y="3492063"/>
                  <a:chExt cx="1739402" cy="755276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F4AE662-61C9-A244-9303-8F15C8EE1958}"/>
                      </a:ext>
                    </a:extLst>
                  </p:cNvPr>
                  <p:cNvSpPr/>
                  <p:nvPr/>
                </p:nvSpPr>
                <p:spPr>
                  <a:xfrm>
                    <a:off x="3997942" y="3492063"/>
                    <a:ext cx="903751" cy="34684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J</a:t>
                    </a:r>
                  </a:p>
                </p:txBody>
              </p: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D07977D-8322-B848-81CA-5F1F9006B35D}"/>
                      </a:ext>
                    </a:extLst>
                  </p:cNvPr>
                  <p:cNvCxnSpPr>
                    <a:cxnSpLocks/>
                    <a:stCxn id="39" idx="3"/>
                    <a:endCxn id="15" idx="0"/>
                  </p:cNvCxnSpPr>
                  <p:nvPr/>
                </p:nvCxnSpPr>
                <p:spPr>
                  <a:xfrm flipH="1">
                    <a:off x="3420688" y="3788111"/>
                    <a:ext cx="709605" cy="4084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AD3987FE-57B6-FD42-9BA1-A120FC7888BE}"/>
                      </a:ext>
                    </a:extLst>
                  </p:cNvPr>
                  <p:cNvCxnSpPr>
                    <a:cxnSpLocks/>
                    <a:stCxn id="39" idx="5"/>
                    <a:endCxn id="16" idx="1"/>
                  </p:cNvCxnSpPr>
                  <p:nvPr/>
                </p:nvCxnSpPr>
                <p:spPr>
                  <a:xfrm>
                    <a:off x="4769342" y="3788111"/>
                    <a:ext cx="390748" cy="459228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3FB039E-4312-F048-8A17-60FFD3B110EB}"/>
                    </a:ext>
                  </a:extLst>
                </p:cNvPr>
                <p:cNvSpPr/>
                <p:nvPr/>
              </p:nvSpPr>
              <p:spPr>
                <a:xfrm>
                  <a:off x="8488959" y="458188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A305D24-DD0A-B843-99A4-A7A336490340}"/>
                    </a:ext>
                  </a:extLst>
                </p:cNvPr>
                <p:cNvSpPr/>
                <p:nvPr/>
              </p:nvSpPr>
              <p:spPr>
                <a:xfrm>
                  <a:off x="5611673" y="4596340"/>
                  <a:ext cx="940226" cy="33238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C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066A938-45DC-5346-91BB-1DC57F891CB0}"/>
                    </a:ext>
                  </a:extLst>
                </p:cNvPr>
                <p:cNvSpPr/>
                <p:nvPr/>
              </p:nvSpPr>
              <p:spPr>
                <a:xfrm>
                  <a:off x="7774242" y="4596340"/>
                  <a:ext cx="320566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29AB92B-D8F1-0D4A-B399-9F2C08C4854E}"/>
                    </a:ext>
                  </a:extLst>
                </p:cNvPr>
                <p:cNvGrpSpPr/>
                <p:nvPr/>
              </p:nvGrpSpPr>
              <p:grpSpPr>
                <a:xfrm>
                  <a:off x="7072755" y="3620639"/>
                  <a:ext cx="2707179" cy="1004365"/>
                  <a:chOff x="2379146" y="3178812"/>
                  <a:chExt cx="2707179" cy="1004365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DD07CB91-8F8D-B946-BDF0-1AFE5A1862B7}"/>
                      </a:ext>
                    </a:extLst>
                  </p:cNvPr>
                  <p:cNvSpPr/>
                  <p:nvPr/>
                </p:nvSpPr>
                <p:spPr>
                  <a:xfrm>
                    <a:off x="4209393" y="3492063"/>
                    <a:ext cx="876932" cy="332382"/>
                  </a:xfrm>
                  <a:prstGeom prst="ellipse">
                    <a:avLst/>
                  </a:prstGeom>
                  <a:solidFill>
                    <a:schemeClr val="accent5">
                      <a:alpha val="50000"/>
                    </a:schemeClr>
                  </a:solidFill>
                  <a:ln w="28575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  <a:r>
                      <a: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454AA4C9-B8A3-ED4D-A553-0977CEF179C7}"/>
                      </a:ext>
                    </a:extLst>
                  </p:cNvPr>
                  <p:cNvCxnSpPr>
                    <a:cxnSpLocks/>
                    <a:stCxn id="39" idx="4"/>
                    <a:endCxn id="10" idx="0"/>
                  </p:cNvCxnSpPr>
                  <p:nvPr/>
                </p:nvCxnSpPr>
                <p:spPr>
                  <a:xfrm flipH="1">
                    <a:off x="2379146" y="3796873"/>
                    <a:ext cx="38161" cy="38630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51B998-0D72-D449-ABEE-7E6C61C3BECA}"/>
                      </a:ext>
                    </a:extLst>
                  </p:cNvPr>
                  <p:cNvCxnSpPr>
                    <a:cxnSpLocks/>
                    <a:stCxn id="11" idx="5"/>
                    <a:endCxn id="36" idx="0"/>
                  </p:cNvCxnSpPr>
                  <p:nvPr/>
                </p:nvCxnSpPr>
                <p:spPr>
                  <a:xfrm>
                    <a:off x="3354253" y="3178812"/>
                    <a:ext cx="1293606" cy="313251"/>
                  </a:xfrm>
                  <a:prstGeom prst="line">
                    <a:avLst/>
                  </a:prstGeom>
                  <a:ln w="28575">
                    <a:solidFill>
                      <a:schemeClr val="accent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F511349-E52A-FC4A-AE6B-A26ABCB2E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9328" y="4899370"/>
                  <a:ext cx="284710" cy="1449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4C64FB2-92B0-1A4D-8986-36DD522B994C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 flipH="1">
                  <a:off x="8649242" y="4229938"/>
                  <a:ext cx="302638" cy="35194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C9683CB-925E-CB47-B3B9-D75BF5F47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35802" y="4948044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B229C54-5492-5144-AE3B-B1E66186E0DC}"/>
                    </a:ext>
                  </a:extLst>
                </p:cNvPr>
                <p:cNvCxnSpPr>
                  <a:cxnSpLocks/>
                  <a:stCxn id="36" idx="4"/>
                  <a:endCxn id="60" idx="0"/>
                </p:cNvCxnSpPr>
                <p:nvPr/>
              </p:nvCxnSpPr>
              <p:spPr>
                <a:xfrm>
                  <a:off x="9341468" y="4266272"/>
                  <a:ext cx="86043" cy="313251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7D571D-DCD3-F14F-B67F-05BB8835B4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42338" y="4944115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D62824C-73C0-1C4E-91E1-FB135941D9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5748" y="4928722"/>
                  <a:ext cx="1973" cy="25252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017611B-AFDB-9D48-AD19-0E2FBED6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36319" y="4892388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9267567-A097-3448-8354-CD4CC5DD3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92133" y="4932651"/>
                  <a:ext cx="145428" cy="28493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6430250-5E5B-7041-9BC9-5A744D8FB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8669" y="4928722"/>
                  <a:ext cx="147631" cy="28886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095712C-A36F-1E40-B58A-F526B590F9D8}"/>
                    </a:ext>
                  </a:extLst>
                </p:cNvPr>
                <p:cNvSpPr/>
                <p:nvPr/>
              </p:nvSpPr>
              <p:spPr>
                <a:xfrm>
                  <a:off x="9201723" y="4579523"/>
                  <a:ext cx="451575" cy="365905"/>
                </a:xfrm>
                <a:prstGeom prst="ellips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09F5662-ECF3-4247-8C66-938146F29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01723" y="4950164"/>
                  <a:ext cx="122977" cy="13838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A832F8A-9715-8E48-AE1B-437E6ABA56D7}"/>
                    </a:ext>
                  </a:extLst>
                </p:cNvPr>
                <p:cNvCxnSpPr>
                  <a:cxnSpLocks/>
                  <a:stCxn id="60" idx="5"/>
                </p:cNvCxnSpPr>
                <p:nvPr/>
              </p:nvCxnSpPr>
              <p:spPr>
                <a:xfrm>
                  <a:off x="9587166" y="4891842"/>
                  <a:ext cx="105554" cy="24962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E9931EA-F98C-C947-B09C-77D9AC46A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66276" y="4925682"/>
                  <a:ext cx="86238" cy="16286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7F0B4-E988-A04F-A627-A814A7AFF30A}"/>
                  </a:ext>
                </a:extLst>
              </p:cNvPr>
              <p:cNvSpPr txBox="1"/>
              <p:nvPr/>
            </p:nvSpPr>
            <p:spPr>
              <a:xfrm>
                <a:off x="646807" y="3591352"/>
                <a:ext cx="10054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put(Z)</a:t>
                </a: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A400717-1C7F-B347-B05D-9AD6F0EB7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612" y="6276507"/>
              <a:ext cx="145428" cy="28493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584FCA-43E1-944C-8F4E-7D777D3D0100}"/>
                </a:ext>
              </a:extLst>
            </p:cNvPr>
            <p:cNvCxnSpPr>
              <a:cxnSpLocks/>
            </p:cNvCxnSpPr>
            <p:nvPr/>
          </p:nvCxnSpPr>
          <p:spPr>
            <a:xfrm>
              <a:off x="4664148" y="6272578"/>
              <a:ext cx="147631" cy="2888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0762B1F1-2BB4-3745-8694-B415559D90C2}"/>
              </a:ext>
            </a:extLst>
          </p:cNvPr>
          <p:cNvSpPr/>
          <p:nvPr/>
        </p:nvSpPr>
        <p:spPr>
          <a:xfrm>
            <a:off x="5840998" y="5968259"/>
            <a:ext cx="464955" cy="383176"/>
          </a:xfrm>
          <a:prstGeom prst="ellipse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820599-A9B0-C645-B0CA-C35D5D74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851695" y="6339546"/>
            <a:ext cx="122977" cy="1383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7BA8D7-0BF8-474A-9D82-8D2A85E9B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6" idx="5"/>
            <a:endCxn id="42" idx="0"/>
          </p:cNvCxnSpPr>
          <p:nvPr/>
        </p:nvCxnSpPr>
        <p:spPr>
          <a:xfrm>
            <a:off x="5604949" y="5589515"/>
            <a:ext cx="468527" cy="37874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76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5" name="Group 4" descr="Demo of insert of key B in a 3-node which leads to root splitting and height of tree increasing by on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4234845"/>
            <a:ext cx="3452932" cy="2370049"/>
            <a:chOff x="646807" y="3591352"/>
            <a:chExt cx="3452932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620284"/>
              <a:ext cx="2696972" cy="1341117"/>
              <a:chOff x="5449328" y="3891858"/>
              <a:chExt cx="2696972" cy="134111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54AA4C9-B8A3-ED4D-A553-0977CEF179C7}"/>
                  </a:ext>
                </a:extLst>
              </p:cNvPr>
              <p:cNvCxnSpPr>
                <a:cxnSpLocks/>
                <a:stCxn id="39" idx="4"/>
                <a:endCxn id="10" idx="0"/>
              </p:cNvCxnSpPr>
              <p:nvPr/>
            </p:nvCxnSpPr>
            <p:spPr>
              <a:xfrm flipH="1">
                <a:off x="7072755" y="4238700"/>
                <a:ext cx="38161" cy="3863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67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5" name="Group 4" descr="Demo of insert of key B in a 3-node which leads to root splitting and height of tree increasing by on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4234845"/>
            <a:ext cx="3452932" cy="2370049"/>
            <a:chOff x="646807" y="3591352"/>
            <a:chExt cx="3452932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402767" y="4620284"/>
              <a:ext cx="2696972" cy="1341117"/>
              <a:chOff x="5449328" y="3891858"/>
              <a:chExt cx="2696972" cy="134111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81786" y="3891858"/>
                <a:ext cx="1739402" cy="755276"/>
                <a:chOff x="3420688" y="3492063"/>
                <a:chExt cx="1739402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420688" y="3788111"/>
                  <a:ext cx="709605" cy="408434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611673" y="4596340"/>
                <a:ext cx="940226" cy="332382"/>
              </a:xfrm>
              <a:prstGeom prst="ellipse">
                <a:avLst/>
              </a:prstGeom>
              <a:noFill/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54AA4C9-B8A3-ED4D-A553-0977CEF179C7}"/>
                  </a:ext>
                </a:extLst>
              </p:cNvPr>
              <p:cNvCxnSpPr>
                <a:cxnSpLocks/>
                <a:stCxn id="39" idx="4"/>
                <a:endCxn id="10" idx="0"/>
              </p:cNvCxnSpPr>
              <p:nvPr/>
            </p:nvCxnSpPr>
            <p:spPr>
              <a:xfrm flipH="1">
                <a:off x="7072755" y="4238700"/>
                <a:ext cx="38161" cy="3863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9328" y="4899370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5748" y="4928722"/>
                <a:ext cx="1973" cy="252526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892388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2613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5" name="Group 4" descr="Demo of insert of key B in a 3-node which leads to root splitting and height of tree increasing by on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4234845"/>
            <a:ext cx="3452932" cy="2370049"/>
            <a:chOff x="646807" y="3591352"/>
            <a:chExt cx="3452932" cy="2370049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301169" y="4620284"/>
              <a:ext cx="2798570" cy="1341117"/>
              <a:chOff x="5347730" y="3891858"/>
              <a:chExt cx="2798570" cy="134111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6005755" y="3891858"/>
                <a:ext cx="1815433" cy="755276"/>
                <a:chOff x="3344657" y="3492063"/>
                <a:chExt cx="1815433" cy="755276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492063"/>
                  <a:ext cx="903751" cy="346842"/>
                </a:xfrm>
                <a:prstGeom prst="ellipse">
                  <a:avLst/>
                </a:prstGeom>
                <a:noFill/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344657" y="3788111"/>
                  <a:ext cx="785636" cy="333073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769342" y="3788111"/>
                  <a:ext cx="390748" cy="459228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449328" y="4520979"/>
                <a:ext cx="1112854" cy="461665"/>
              </a:xfrm>
              <a:prstGeom prst="ellipse">
                <a:avLst/>
              </a:prstGeom>
              <a:solidFill>
                <a:schemeClr val="accent5">
                  <a:alpha val="5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54AA4C9-B8A3-ED4D-A553-0977CEF179C7}"/>
                  </a:ext>
                </a:extLst>
              </p:cNvPr>
              <p:cNvCxnSpPr>
                <a:cxnSpLocks/>
                <a:stCxn id="39" idx="4"/>
                <a:endCxn id="10" idx="0"/>
              </p:cNvCxnSpPr>
              <p:nvPr/>
            </p:nvCxnSpPr>
            <p:spPr>
              <a:xfrm flipH="1">
                <a:off x="7072755" y="4238700"/>
                <a:ext cx="38161" cy="3863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7730" y="4916303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7306" y="4965838"/>
                <a:ext cx="1973" cy="2525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6319" y="4909321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put(B)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F0D59D-0A05-1B49-AE53-C2B0A6F7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662549" y="6343765"/>
            <a:ext cx="135530" cy="24573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82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5" name="Group 4" descr="Demo of insert of key B in a 3-node which leads to root splitting and height of tree increasing by on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4234845"/>
            <a:ext cx="3452932" cy="2402497"/>
            <a:chOff x="646807" y="3591352"/>
            <a:chExt cx="3452932" cy="2402497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198769" y="4453440"/>
              <a:ext cx="2900970" cy="1540409"/>
              <a:chOff x="5245330" y="3725014"/>
              <a:chExt cx="2900970" cy="1540409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5703881" y="3725014"/>
                <a:ext cx="2117307" cy="922120"/>
                <a:chOff x="3042783" y="3325219"/>
                <a:chExt cx="2117307" cy="92212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997942" y="3325219"/>
                  <a:ext cx="1115202" cy="513686"/>
                </a:xfrm>
                <a:prstGeom prst="ellips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 </a:t>
                  </a:r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J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042783" y="3763677"/>
                  <a:ext cx="1118477" cy="357507"/>
                </a:xfrm>
                <a:prstGeom prst="line">
                  <a:avLst/>
                </a:prstGeom>
                <a:ln w="28575"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39" idx="5"/>
                  <a:endCxn id="16" idx="1"/>
                </p:cNvCxnSpPr>
                <p:nvPr/>
              </p:nvCxnSpPr>
              <p:spPr>
                <a:xfrm>
                  <a:off x="4949826" y="3763677"/>
                  <a:ext cx="210264" cy="48366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449328" y="4520979"/>
                <a:ext cx="509105" cy="461665"/>
              </a:xfrm>
              <a:prstGeom prst="ellipse">
                <a:avLst/>
              </a:prstGeom>
              <a:solidFill>
                <a:schemeClr val="accent5">
                  <a:alpha val="5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54AA4C9-B8A3-ED4D-A553-0977CEF179C7}"/>
                  </a:ext>
                </a:extLst>
              </p:cNvPr>
              <p:cNvCxnSpPr>
                <a:cxnSpLocks/>
                <a:stCxn id="39" idx="4"/>
                <a:endCxn id="10" idx="0"/>
              </p:cNvCxnSpPr>
              <p:nvPr/>
            </p:nvCxnSpPr>
            <p:spPr>
              <a:xfrm flipH="1">
                <a:off x="7072755" y="4238700"/>
                <a:ext cx="143886" cy="3863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5330" y="491388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 flipH="1">
                <a:off x="6079279" y="4961648"/>
                <a:ext cx="199192" cy="25671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063" y="4976563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put(B)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F0D59D-0A05-1B49-AE53-C2B0A6F7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47449" y="6345949"/>
            <a:ext cx="61588" cy="19824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9DFBFF8-87C4-D646-9AAB-1891B7A374DA}"/>
              </a:ext>
            </a:extLst>
          </p:cNvPr>
          <p:cNvSpPr/>
          <p:nvPr/>
        </p:nvSpPr>
        <p:spPr>
          <a:xfrm>
            <a:off x="2171739" y="5939511"/>
            <a:ext cx="410876" cy="461665"/>
          </a:xfrm>
          <a:prstGeom prst="ellipse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48C74A-6C4A-9C4F-B5DB-670BBD61C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2377177" y="5610619"/>
            <a:ext cx="632620" cy="32889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18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 (new key)</a:t>
            </a:r>
          </a:p>
          <a:p>
            <a:pPr lvl="1"/>
            <a:r>
              <a:rPr lang="en-US" dirty="0"/>
              <a:t>Case 2: insert the new key in a 3-node</a:t>
            </a:r>
          </a:p>
          <a:p>
            <a:pPr lvl="2"/>
            <a:r>
              <a:rPr lang="en-US" dirty="0"/>
              <a:t>Add the new key to a 3-node to create a temporary 4-node</a:t>
            </a:r>
          </a:p>
          <a:p>
            <a:pPr lvl="2"/>
            <a:r>
              <a:rPr lang="en-US" dirty="0"/>
              <a:t>Move the middle key of the 4-node into its parent node and create two 2-nodes children</a:t>
            </a:r>
          </a:p>
          <a:p>
            <a:pPr lvl="2"/>
            <a:r>
              <a:rPr lang="en-US" dirty="0"/>
              <a:t>Repeat up the tree as necessary</a:t>
            </a:r>
          </a:p>
          <a:p>
            <a:pPr lvl="2"/>
            <a:r>
              <a:rPr lang="en-US" dirty="0"/>
              <a:t>If you reach the root and it is a 4-node, split it into three 2-nodes</a:t>
            </a:r>
          </a:p>
        </p:txBody>
      </p:sp>
      <p:grpSp>
        <p:nvGrpSpPr>
          <p:cNvPr id="5" name="Group 4" descr="Demo of insert of key B in a 3-node which leads to root splitting and height of tree increasing by one">
            <a:extLst>
              <a:ext uri="{FF2B5EF4-FFF2-40B4-BE49-F238E27FC236}">
                <a16:creationId xmlns:a16="http://schemas.microsoft.com/office/drawing/2014/main" id="{EA76684D-2BBD-A34C-99F8-D468FB632CB8}"/>
              </a:ext>
            </a:extLst>
          </p:cNvPr>
          <p:cNvGrpSpPr/>
          <p:nvPr/>
        </p:nvGrpSpPr>
        <p:grpSpPr>
          <a:xfrm>
            <a:off x="646807" y="4234845"/>
            <a:ext cx="3452932" cy="2402497"/>
            <a:chOff x="646807" y="3591352"/>
            <a:chExt cx="3452932" cy="2402497"/>
          </a:xfrm>
        </p:grpSpPr>
        <p:grpSp>
          <p:nvGrpSpPr>
            <p:cNvPr id="66" name="Group 65" descr="Demo of successful seacrh for key H">
              <a:extLst>
                <a:ext uri="{FF2B5EF4-FFF2-40B4-BE49-F238E27FC236}">
                  <a16:creationId xmlns:a16="http://schemas.microsoft.com/office/drawing/2014/main" id="{E18BC34B-5A96-D445-9936-CA0F797530FC}"/>
                </a:ext>
              </a:extLst>
            </p:cNvPr>
            <p:cNvGrpSpPr/>
            <p:nvPr/>
          </p:nvGrpSpPr>
          <p:grpSpPr>
            <a:xfrm>
              <a:off x="1198769" y="4467685"/>
              <a:ext cx="2900970" cy="1526164"/>
              <a:chOff x="5245330" y="3739259"/>
              <a:chExt cx="2900970" cy="1526164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1D7F70-10B6-F144-8D63-E37278B8D637}"/>
                  </a:ext>
                </a:extLst>
              </p:cNvPr>
              <p:cNvSpPr/>
              <p:nvPr/>
            </p:nvSpPr>
            <p:spPr>
              <a:xfrm>
                <a:off x="6912472" y="4625004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096F00C-FA22-DF43-A814-061CE839EE5E}"/>
                  </a:ext>
                </a:extLst>
              </p:cNvPr>
              <p:cNvGrpSpPr/>
              <p:nvPr/>
            </p:nvGrpSpPr>
            <p:grpSpPr>
              <a:xfrm>
                <a:off x="5703881" y="3739259"/>
                <a:ext cx="2230644" cy="857081"/>
                <a:chOff x="3042783" y="3339464"/>
                <a:chExt cx="2230644" cy="857081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F4AE662-61C9-A244-9303-8F15C8EE1958}"/>
                    </a:ext>
                  </a:extLst>
                </p:cNvPr>
                <p:cNvSpPr/>
                <p:nvPr/>
              </p:nvSpPr>
              <p:spPr>
                <a:xfrm>
                  <a:off x="3349518" y="3339464"/>
                  <a:ext cx="483298" cy="513686"/>
                </a:xfrm>
                <a:prstGeom prst="ellipse">
                  <a:avLst/>
                </a:prstGeom>
                <a:solidFill>
                  <a:schemeClr val="accent5">
                    <a:alpha val="50000"/>
                  </a:schemeClr>
                </a:solidFill>
                <a:ln w="28575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D07977D-8322-B848-81CA-5F1F9006B35D}"/>
                    </a:ext>
                  </a:extLst>
                </p:cNvPr>
                <p:cNvCxnSpPr>
                  <a:cxnSpLocks/>
                  <a:stCxn id="39" idx="3"/>
                  <a:endCxn id="15" idx="0"/>
                </p:cNvCxnSpPr>
                <p:nvPr/>
              </p:nvCxnSpPr>
              <p:spPr>
                <a:xfrm flipH="1">
                  <a:off x="3042783" y="3777922"/>
                  <a:ext cx="377512" cy="34326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D3987FE-57B6-FD42-9BA1-A120FC7888BE}"/>
                    </a:ext>
                  </a:extLst>
                </p:cNvPr>
                <p:cNvCxnSpPr>
                  <a:cxnSpLocks/>
                  <a:stCxn id="29" idx="5"/>
                  <a:endCxn id="16" idx="0"/>
                </p:cNvCxnSpPr>
                <p:nvPr/>
              </p:nvCxnSpPr>
              <p:spPr>
                <a:xfrm>
                  <a:off x="5149526" y="3791888"/>
                  <a:ext cx="123901" cy="40465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A305D24-DD0A-B843-99A4-A7A336490340}"/>
                  </a:ext>
                </a:extLst>
              </p:cNvPr>
              <p:cNvSpPr/>
              <p:nvPr/>
            </p:nvSpPr>
            <p:spPr>
              <a:xfrm>
                <a:off x="5449328" y="4520979"/>
                <a:ext cx="509105" cy="46166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066A938-45DC-5346-91BB-1DC57F891CB0}"/>
                  </a:ext>
                </a:extLst>
              </p:cNvPr>
              <p:cNvSpPr/>
              <p:nvPr/>
            </p:nvSpPr>
            <p:spPr>
              <a:xfrm>
                <a:off x="7774242" y="4596340"/>
                <a:ext cx="320566" cy="346842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54AA4C9-B8A3-ED4D-A553-0977CEF179C7}"/>
                  </a:ext>
                </a:extLst>
              </p:cNvPr>
              <p:cNvCxnSpPr>
                <a:cxnSpLocks/>
                <a:stCxn id="39" idx="4"/>
                <a:endCxn id="26" idx="7"/>
              </p:cNvCxnSpPr>
              <p:nvPr/>
            </p:nvCxnSpPr>
            <p:spPr>
              <a:xfrm>
                <a:off x="6252265" y="4252945"/>
                <a:ext cx="316740" cy="38225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F511349-E52A-FC4A-AE6B-A26ABCB2E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5330" y="4913884"/>
                <a:ext cx="284710" cy="1449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C9683CB-925E-CB47-B3B9-D75BF5F4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5802" y="4948044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17D571D-DCD3-F14F-B67F-05BB8835B4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2338" y="4944115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D62824C-73C0-1C4E-91E1-FB135941D900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 flipH="1">
                <a:off x="6079279" y="4961648"/>
                <a:ext cx="199192" cy="25671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017611B-AFDB-9D48-AD19-0E2FBED6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063" y="4976563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9267567-A097-3448-8354-CD4CC5DD3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2133" y="4932651"/>
                <a:ext cx="145428" cy="28493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6430250-5E5B-7041-9BC9-5A744D8F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669" y="4928722"/>
                <a:ext cx="147631" cy="28886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67F0B4-E988-A04F-A627-A814A7AFF30A}"/>
                </a:ext>
              </a:extLst>
            </p:cNvPr>
            <p:cNvSpPr txBox="1"/>
            <p:nvPr/>
          </p:nvSpPr>
          <p:spPr>
            <a:xfrm>
              <a:off x="646807" y="3591352"/>
              <a:ext cx="10230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put(B)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F0D59D-0A05-1B49-AE53-C2B0A6F7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47449" y="6345949"/>
            <a:ext cx="61588" cy="19824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9DFBFF8-87C4-D646-9AAB-1891B7A374DA}"/>
              </a:ext>
            </a:extLst>
          </p:cNvPr>
          <p:cNvSpPr/>
          <p:nvPr/>
        </p:nvSpPr>
        <p:spPr>
          <a:xfrm>
            <a:off x="2171739" y="5939511"/>
            <a:ext cx="410876" cy="461665"/>
          </a:xfrm>
          <a:prstGeom prst="ellips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48C74A-6C4A-9C4F-B5DB-670BBD61C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026194" y="5575634"/>
            <a:ext cx="406834" cy="42128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7787864-8FB0-EE48-9478-F45573E737D2}"/>
              </a:ext>
            </a:extLst>
          </p:cNvPr>
          <p:cNvSpPr/>
          <p:nvPr/>
        </p:nvSpPr>
        <p:spPr>
          <a:xfrm>
            <a:off x="2710565" y="4458433"/>
            <a:ext cx="532844" cy="545712"/>
          </a:xfrm>
          <a:prstGeom prst="ellipse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0D2248A-B6DF-2A4E-8859-DFFF7EDD2CDC}"/>
              </a:ext>
            </a:extLst>
          </p:cNvPr>
          <p:cNvSpPr/>
          <p:nvPr/>
        </p:nvSpPr>
        <p:spPr>
          <a:xfrm>
            <a:off x="3351541" y="5125144"/>
            <a:ext cx="483299" cy="513686"/>
          </a:xfrm>
          <a:prstGeom prst="ellipse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817502F-F37C-3D4E-8BC1-A31069AE4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358768" y="4805275"/>
            <a:ext cx="377512" cy="343262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35E92F3-C027-E641-9FF6-4DFFF1294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8" idx="6"/>
            <a:endCxn id="29" idx="0"/>
          </p:cNvCxnSpPr>
          <p:nvPr/>
        </p:nvCxnSpPr>
        <p:spPr>
          <a:xfrm>
            <a:off x="3243409" y="4731289"/>
            <a:ext cx="349782" cy="39385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33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Splitting a 4-node is a </a:t>
            </a:r>
            <a:r>
              <a:rPr lang="en-US" dirty="0">
                <a:highlight>
                  <a:srgbClr val="C0C0C0"/>
                </a:highlight>
              </a:rPr>
              <a:t>local transformation </a:t>
            </a:r>
            <a:r>
              <a:rPr lang="en-US" dirty="0"/>
              <a:t>only (constant number of operations)</a:t>
            </a:r>
          </a:p>
        </p:txBody>
      </p:sp>
      <p:grpSp>
        <p:nvGrpSpPr>
          <p:cNvPr id="67" name="Group 66" descr="Visualisation of scope of local transofrmation of insert">
            <a:extLst>
              <a:ext uri="{FF2B5EF4-FFF2-40B4-BE49-F238E27FC236}">
                <a16:creationId xmlns:a16="http://schemas.microsoft.com/office/drawing/2014/main" id="{DB0CA116-B03E-824F-90CB-D89F62D32F6B}"/>
              </a:ext>
            </a:extLst>
          </p:cNvPr>
          <p:cNvGrpSpPr/>
          <p:nvPr/>
        </p:nvGrpSpPr>
        <p:grpSpPr>
          <a:xfrm>
            <a:off x="1303867" y="2720101"/>
            <a:ext cx="9973733" cy="2311615"/>
            <a:chOff x="1303867" y="2720101"/>
            <a:chExt cx="9973733" cy="231161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E60BFA1-5119-3B46-850A-8D1A99852471}"/>
                </a:ext>
              </a:extLst>
            </p:cNvPr>
            <p:cNvSpPr/>
            <p:nvPr/>
          </p:nvSpPr>
          <p:spPr>
            <a:xfrm>
              <a:off x="5779075" y="2720101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E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7F32FF9A-4B3B-BD4B-9576-42EE5DD81D14}"/>
                </a:ext>
              </a:extLst>
            </p:cNvPr>
            <p:cNvSpPr/>
            <p:nvPr/>
          </p:nvSpPr>
          <p:spPr>
            <a:xfrm>
              <a:off x="5615918" y="3469390"/>
              <a:ext cx="14732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  C   D </a:t>
              </a:r>
            </a:p>
          </p:txBody>
        </p:sp>
        <p:sp>
          <p:nvSpPr>
            <p:cNvPr id="35" name="Trapezium 34">
              <a:extLst>
                <a:ext uri="{FF2B5EF4-FFF2-40B4-BE49-F238E27FC236}">
                  <a16:creationId xmlns:a16="http://schemas.microsoft.com/office/drawing/2014/main" id="{B755ACCB-52E4-4C4A-9869-2B9DE18B39B5}"/>
                </a:ext>
              </a:extLst>
            </p:cNvPr>
            <p:cNvSpPr/>
            <p:nvPr/>
          </p:nvSpPr>
          <p:spPr>
            <a:xfrm>
              <a:off x="2268840" y="3979333"/>
              <a:ext cx="1253066" cy="1052383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A</a:t>
              </a:r>
            </a:p>
          </p:txBody>
        </p: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B625F277-B342-494C-9952-64E93BBAFF47}"/>
                </a:ext>
              </a:extLst>
            </p:cNvPr>
            <p:cNvSpPr/>
            <p:nvPr/>
          </p:nvSpPr>
          <p:spPr>
            <a:xfrm>
              <a:off x="3668127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47" name="Trapezium 46">
              <a:extLst>
                <a:ext uri="{FF2B5EF4-FFF2-40B4-BE49-F238E27FC236}">
                  <a16:creationId xmlns:a16="http://schemas.microsoft.com/office/drawing/2014/main" id="{EDB297CF-6A88-F74E-9B52-827B8200D2AC}"/>
                </a:ext>
              </a:extLst>
            </p:cNvPr>
            <p:cNvSpPr/>
            <p:nvPr/>
          </p:nvSpPr>
          <p:spPr>
            <a:xfrm>
              <a:off x="5065586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B&lt;…&lt;C</a:t>
              </a:r>
            </a:p>
          </p:txBody>
        </p:sp>
        <p:sp>
          <p:nvSpPr>
            <p:cNvPr id="48" name="Trapezium 47">
              <a:extLst>
                <a:ext uri="{FF2B5EF4-FFF2-40B4-BE49-F238E27FC236}">
                  <a16:creationId xmlns:a16="http://schemas.microsoft.com/office/drawing/2014/main" id="{80A7F2EB-6F44-424A-952A-97834E2A4EBF}"/>
                </a:ext>
              </a:extLst>
            </p:cNvPr>
            <p:cNvSpPr/>
            <p:nvPr/>
          </p:nvSpPr>
          <p:spPr>
            <a:xfrm>
              <a:off x="6464873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C&lt;…&lt;D</a:t>
              </a:r>
            </a:p>
          </p:txBody>
        </p:sp>
        <p:sp>
          <p:nvSpPr>
            <p:cNvPr id="49" name="Trapezium 48">
              <a:extLst>
                <a:ext uri="{FF2B5EF4-FFF2-40B4-BE49-F238E27FC236}">
                  <a16:creationId xmlns:a16="http://schemas.microsoft.com/office/drawing/2014/main" id="{B75F4CA4-1362-6F46-B6F8-11FB93E0C57D}"/>
                </a:ext>
              </a:extLst>
            </p:cNvPr>
            <p:cNvSpPr/>
            <p:nvPr/>
          </p:nvSpPr>
          <p:spPr>
            <a:xfrm>
              <a:off x="7863246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D&lt;…&lt;E</a:t>
              </a:r>
            </a:p>
          </p:txBody>
        </p:sp>
        <p:sp>
          <p:nvSpPr>
            <p:cNvPr id="50" name="Trapezium 49">
              <a:extLst>
                <a:ext uri="{FF2B5EF4-FFF2-40B4-BE49-F238E27FC236}">
                  <a16:creationId xmlns:a16="http://schemas.microsoft.com/office/drawing/2014/main" id="{A5918F1C-6EE6-A749-92C6-0BAA7127142F}"/>
                </a:ext>
              </a:extLst>
            </p:cNvPr>
            <p:cNvSpPr/>
            <p:nvPr/>
          </p:nvSpPr>
          <p:spPr>
            <a:xfrm>
              <a:off x="9262533" y="3979333"/>
              <a:ext cx="1253066" cy="1052383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AF746E-023B-E947-B61C-29C8B0A0D01A}"/>
                </a:ext>
              </a:extLst>
            </p:cNvPr>
            <p:cNvCxnSpPr>
              <a:stCxn id="6" idx="1"/>
              <a:endCxn id="35" idx="0"/>
            </p:cNvCxnSpPr>
            <p:nvPr/>
          </p:nvCxnSpPr>
          <p:spPr>
            <a:xfrm flipH="1">
              <a:off x="2895373" y="2897901"/>
              <a:ext cx="2883702" cy="108143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E5FAC1-E0C9-544A-B16C-171159ED9D0C}"/>
                </a:ext>
              </a:extLst>
            </p:cNvPr>
            <p:cNvCxnSpPr>
              <a:cxnSpLocks/>
              <a:stCxn id="6" idx="3"/>
              <a:endCxn id="50" idx="0"/>
            </p:cNvCxnSpPr>
            <p:nvPr/>
          </p:nvCxnSpPr>
          <p:spPr>
            <a:xfrm>
              <a:off x="6947475" y="2897901"/>
              <a:ext cx="2941591" cy="108143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B969797-2329-7145-A90E-C40E5EBFDAF6}"/>
                </a:ext>
              </a:extLst>
            </p:cNvPr>
            <p:cNvCxnSpPr>
              <a:cxnSpLocks/>
              <a:stCxn id="6" idx="2"/>
              <a:endCxn id="34" idx="0"/>
            </p:cNvCxnSpPr>
            <p:nvPr/>
          </p:nvCxnSpPr>
          <p:spPr>
            <a:xfrm flipH="1">
              <a:off x="6352518" y="3075700"/>
              <a:ext cx="10757" cy="39369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AC35F6A-BC8B-AC47-97E5-5CB9C5DBAA8C}"/>
                </a:ext>
              </a:extLst>
            </p:cNvPr>
            <p:cNvCxnSpPr>
              <a:cxnSpLocks/>
              <a:stCxn id="34" idx="1"/>
              <a:endCxn id="46" idx="0"/>
            </p:cNvCxnSpPr>
            <p:nvPr/>
          </p:nvCxnSpPr>
          <p:spPr>
            <a:xfrm flipH="1">
              <a:off x="4294660" y="3647190"/>
              <a:ext cx="1321258" cy="6962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8F22B7-0554-E544-877E-2D88FD62A9E2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 flipH="1">
              <a:off x="5692119" y="3824989"/>
              <a:ext cx="392899" cy="51841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E2602F6-AFF6-8241-A972-B2BCC285FF68}"/>
                </a:ext>
              </a:extLst>
            </p:cNvPr>
            <p:cNvCxnSpPr>
              <a:cxnSpLocks/>
              <a:stCxn id="34" idx="3"/>
              <a:endCxn id="49" idx="0"/>
            </p:cNvCxnSpPr>
            <p:nvPr/>
          </p:nvCxnSpPr>
          <p:spPr>
            <a:xfrm>
              <a:off x="7089118" y="3647190"/>
              <a:ext cx="1400661" cy="6962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8C7B463-1E08-AC4B-A90F-DDC32C9A0D9D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>
              <a:off x="6698507" y="3824989"/>
              <a:ext cx="392899" cy="51841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821D717-10DB-8F4D-8F9F-2161622D6908}"/>
                </a:ext>
              </a:extLst>
            </p:cNvPr>
            <p:cNvSpPr/>
            <p:nvPr/>
          </p:nvSpPr>
          <p:spPr>
            <a:xfrm>
              <a:off x="1303867" y="3105709"/>
              <a:ext cx="9973733" cy="1082414"/>
            </a:xfrm>
            <a:custGeom>
              <a:avLst/>
              <a:gdLst>
                <a:gd name="connsiteX0" fmla="*/ 0 w 9973733"/>
                <a:gd name="connsiteY0" fmla="*/ 94691 h 1082414"/>
                <a:gd name="connsiteX1" fmla="*/ 2150533 w 9973733"/>
                <a:gd name="connsiteY1" fmla="*/ 77758 h 1082414"/>
                <a:gd name="connsiteX2" fmla="*/ 3810000 w 9973733"/>
                <a:gd name="connsiteY2" fmla="*/ 941358 h 1082414"/>
                <a:gd name="connsiteX3" fmla="*/ 5757333 w 9973733"/>
                <a:gd name="connsiteY3" fmla="*/ 1009091 h 1082414"/>
                <a:gd name="connsiteX4" fmla="*/ 7382933 w 9973733"/>
                <a:gd name="connsiteY4" fmla="*/ 213224 h 1082414"/>
                <a:gd name="connsiteX5" fmla="*/ 9973733 w 9973733"/>
                <a:gd name="connsiteY5" fmla="*/ 145491 h 1082414"/>
                <a:gd name="connsiteX6" fmla="*/ 9973733 w 9973733"/>
                <a:gd name="connsiteY6" fmla="*/ 145491 h 108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73733" h="1082414">
                  <a:moveTo>
                    <a:pt x="0" y="94691"/>
                  </a:moveTo>
                  <a:cubicBezTo>
                    <a:pt x="757766" y="15669"/>
                    <a:pt x="1515533" y="-63353"/>
                    <a:pt x="2150533" y="77758"/>
                  </a:cubicBezTo>
                  <a:cubicBezTo>
                    <a:pt x="2785533" y="218869"/>
                    <a:pt x="3208867" y="786136"/>
                    <a:pt x="3810000" y="941358"/>
                  </a:cubicBezTo>
                  <a:cubicBezTo>
                    <a:pt x="4411133" y="1096580"/>
                    <a:pt x="5161844" y="1130447"/>
                    <a:pt x="5757333" y="1009091"/>
                  </a:cubicBezTo>
                  <a:cubicBezTo>
                    <a:pt x="6352822" y="887735"/>
                    <a:pt x="6680200" y="357157"/>
                    <a:pt x="7382933" y="213224"/>
                  </a:cubicBezTo>
                  <a:cubicBezTo>
                    <a:pt x="8085666" y="69291"/>
                    <a:pt x="9973733" y="145491"/>
                    <a:pt x="9973733" y="145491"/>
                  </a:cubicBezTo>
                  <a:lnTo>
                    <a:pt x="9973733" y="145491"/>
                  </a:lnTo>
                </a:path>
              </a:pathLst>
            </a:cu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6426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27663"/>
            <a:ext cx="11479427" cy="5016842"/>
          </a:xfrm>
        </p:spPr>
        <p:txBody>
          <a:bodyPr/>
          <a:lstStyle/>
          <a:p>
            <a:r>
              <a:rPr lang="en-US" dirty="0"/>
              <a:t>Splitting a 4-node is a </a:t>
            </a:r>
            <a:r>
              <a:rPr lang="en-US" dirty="0">
                <a:highlight>
                  <a:srgbClr val="C0C0C0"/>
                </a:highlight>
              </a:rPr>
              <a:t>local transformation </a:t>
            </a:r>
            <a:r>
              <a:rPr lang="en-US" dirty="0"/>
              <a:t>only (constant number of operations)</a:t>
            </a:r>
          </a:p>
        </p:txBody>
      </p:sp>
      <p:grpSp>
        <p:nvGrpSpPr>
          <p:cNvPr id="26" name="Group 25" descr="Visualisation of scope of local transofrmation of insert">
            <a:extLst>
              <a:ext uri="{FF2B5EF4-FFF2-40B4-BE49-F238E27FC236}">
                <a16:creationId xmlns:a16="http://schemas.microsoft.com/office/drawing/2014/main" id="{9C3CE5DA-0A9A-254D-8AE9-BBF459A25CE2}"/>
              </a:ext>
            </a:extLst>
          </p:cNvPr>
          <p:cNvGrpSpPr/>
          <p:nvPr/>
        </p:nvGrpSpPr>
        <p:grpSpPr>
          <a:xfrm>
            <a:off x="1320800" y="2703168"/>
            <a:ext cx="9736667" cy="2328548"/>
            <a:chOff x="1320800" y="2703168"/>
            <a:chExt cx="9736667" cy="232854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E60BFA1-5119-3B46-850A-8D1A99852471}"/>
                </a:ext>
              </a:extLst>
            </p:cNvPr>
            <p:cNvSpPr/>
            <p:nvPr/>
          </p:nvSpPr>
          <p:spPr>
            <a:xfrm>
              <a:off x="5779075" y="2703168"/>
              <a:ext cx="1168400" cy="355599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3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C   E</a:t>
              </a:r>
            </a:p>
          </p:txBody>
        </p:sp>
        <p:sp>
          <p:nvSpPr>
            <p:cNvPr id="35" name="Trapezium 34">
              <a:extLst>
                <a:ext uri="{FF2B5EF4-FFF2-40B4-BE49-F238E27FC236}">
                  <a16:creationId xmlns:a16="http://schemas.microsoft.com/office/drawing/2014/main" id="{B755ACCB-52E4-4C4A-9869-2B9DE18B39B5}"/>
                </a:ext>
              </a:extLst>
            </p:cNvPr>
            <p:cNvSpPr/>
            <p:nvPr/>
          </p:nvSpPr>
          <p:spPr>
            <a:xfrm>
              <a:off x="2268840" y="3979333"/>
              <a:ext cx="1253066" cy="1052383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A</a:t>
              </a:r>
            </a:p>
          </p:txBody>
        </p:sp>
        <p:sp>
          <p:nvSpPr>
            <p:cNvPr id="46" name="Trapezium 45">
              <a:extLst>
                <a:ext uri="{FF2B5EF4-FFF2-40B4-BE49-F238E27FC236}">
                  <a16:creationId xmlns:a16="http://schemas.microsoft.com/office/drawing/2014/main" id="{B625F277-B342-494C-9952-64E93BBAFF47}"/>
                </a:ext>
              </a:extLst>
            </p:cNvPr>
            <p:cNvSpPr/>
            <p:nvPr/>
          </p:nvSpPr>
          <p:spPr>
            <a:xfrm>
              <a:off x="3668127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47" name="Trapezium 46">
              <a:extLst>
                <a:ext uri="{FF2B5EF4-FFF2-40B4-BE49-F238E27FC236}">
                  <a16:creationId xmlns:a16="http://schemas.microsoft.com/office/drawing/2014/main" id="{EDB297CF-6A88-F74E-9B52-827B8200D2AC}"/>
                </a:ext>
              </a:extLst>
            </p:cNvPr>
            <p:cNvSpPr/>
            <p:nvPr/>
          </p:nvSpPr>
          <p:spPr>
            <a:xfrm>
              <a:off x="5065586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B&lt;…&lt;C</a:t>
              </a:r>
            </a:p>
          </p:txBody>
        </p:sp>
        <p:sp>
          <p:nvSpPr>
            <p:cNvPr id="48" name="Trapezium 47">
              <a:extLst>
                <a:ext uri="{FF2B5EF4-FFF2-40B4-BE49-F238E27FC236}">
                  <a16:creationId xmlns:a16="http://schemas.microsoft.com/office/drawing/2014/main" id="{80A7F2EB-6F44-424A-952A-97834E2A4EBF}"/>
                </a:ext>
              </a:extLst>
            </p:cNvPr>
            <p:cNvSpPr/>
            <p:nvPr/>
          </p:nvSpPr>
          <p:spPr>
            <a:xfrm>
              <a:off x="6464873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C&lt;…&lt;D</a:t>
              </a:r>
            </a:p>
          </p:txBody>
        </p:sp>
        <p:sp>
          <p:nvSpPr>
            <p:cNvPr id="49" name="Trapezium 48">
              <a:extLst>
                <a:ext uri="{FF2B5EF4-FFF2-40B4-BE49-F238E27FC236}">
                  <a16:creationId xmlns:a16="http://schemas.microsoft.com/office/drawing/2014/main" id="{B75F4CA4-1362-6F46-B6F8-11FB93E0C57D}"/>
                </a:ext>
              </a:extLst>
            </p:cNvPr>
            <p:cNvSpPr/>
            <p:nvPr/>
          </p:nvSpPr>
          <p:spPr>
            <a:xfrm>
              <a:off x="7863246" y="43434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D&lt;…&lt;E</a:t>
              </a:r>
            </a:p>
          </p:txBody>
        </p:sp>
        <p:sp>
          <p:nvSpPr>
            <p:cNvPr id="50" name="Trapezium 49">
              <a:extLst>
                <a:ext uri="{FF2B5EF4-FFF2-40B4-BE49-F238E27FC236}">
                  <a16:creationId xmlns:a16="http://schemas.microsoft.com/office/drawing/2014/main" id="{A5918F1C-6EE6-A749-92C6-0BAA7127142F}"/>
                </a:ext>
              </a:extLst>
            </p:cNvPr>
            <p:cNvSpPr/>
            <p:nvPr/>
          </p:nvSpPr>
          <p:spPr>
            <a:xfrm>
              <a:off x="9262533" y="3979333"/>
              <a:ext cx="1253066" cy="1052383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AF746E-023B-E947-B61C-29C8B0A0D01A}"/>
                </a:ext>
              </a:extLst>
            </p:cNvPr>
            <p:cNvCxnSpPr>
              <a:stCxn id="6" idx="1"/>
              <a:endCxn id="35" idx="0"/>
            </p:cNvCxnSpPr>
            <p:nvPr/>
          </p:nvCxnSpPr>
          <p:spPr>
            <a:xfrm flipH="1">
              <a:off x="2895373" y="2880968"/>
              <a:ext cx="2883702" cy="10983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E5FAC1-E0C9-544A-B16C-171159ED9D0C}"/>
                </a:ext>
              </a:extLst>
            </p:cNvPr>
            <p:cNvCxnSpPr>
              <a:cxnSpLocks/>
              <a:stCxn id="6" idx="3"/>
              <a:endCxn id="50" idx="0"/>
            </p:cNvCxnSpPr>
            <p:nvPr/>
          </p:nvCxnSpPr>
          <p:spPr>
            <a:xfrm>
              <a:off x="6947475" y="2880968"/>
              <a:ext cx="2941591" cy="10983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B969797-2329-7145-A90E-C40E5EBFDAF6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5071997" y="3070365"/>
              <a:ext cx="1133041" cy="42036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AC35F6A-BC8B-AC47-97E5-5CB9C5DBAA8C}"/>
                </a:ext>
              </a:extLst>
            </p:cNvPr>
            <p:cNvCxnSpPr>
              <a:cxnSpLocks/>
              <a:stCxn id="19" idx="1"/>
              <a:endCxn id="46" idx="0"/>
            </p:cNvCxnSpPr>
            <p:nvPr/>
          </p:nvCxnSpPr>
          <p:spPr>
            <a:xfrm flipH="1">
              <a:off x="4294660" y="3657862"/>
              <a:ext cx="301145" cy="6855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8F22B7-0554-E544-877E-2D88FD62A9E2}"/>
                </a:ext>
              </a:extLst>
            </p:cNvPr>
            <p:cNvCxnSpPr>
              <a:cxnSpLocks/>
              <a:stCxn id="19" idx="3"/>
              <a:endCxn id="47" idx="0"/>
            </p:cNvCxnSpPr>
            <p:nvPr/>
          </p:nvCxnSpPr>
          <p:spPr>
            <a:xfrm>
              <a:off x="5548188" y="3657862"/>
              <a:ext cx="143931" cy="6855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E2602F6-AFF6-8241-A972-B2BCC285FF68}"/>
                </a:ext>
              </a:extLst>
            </p:cNvPr>
            <p:cNvCxnSpPr>
              <a:cxnSpLocks/>
              <a:stCxn id="23" idx="3"/>
              <a:endCxn id="49" idx="0"/>
            </p:cNvCxnSpPr>
            <p:nvPr/>
          </p:nvCxnSpPr>
          <p:spPr>
            <a:xfrm>
              <a:off x="8237386" y="3637312"/>
              <a:ext cx="252393" cy="70608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8C7B463-1E08-AC4B-A90F-DDC32C9A0D9D}"/>
                </a:ext>
              </a:extLst>
            </p:cNvPr>
            <p:cNvCxnSpPr>
              <a:cxnSpLocks/>
              <a:stCxn id="23" idx="1"/>
              <a:endCxn id="48" idx="0"/>
            </p:cNvCxnSpPr>
            <p:nvPr/>
          </p:nvCxnSpPr>
          <p:spPr>
            <a:xfrm flipH="1">
              <a:off x="7091406" y="3637312"/>
              <a:ext cx="193597" cy="70608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4C4F7E2-7C7B-794F-944F-BA62742841D0}"/>
                </a:ext>
              </a:extLst>
            </p:cNvPr>
            <p:cNvSpPr/>
            <p:nvPr/>
          </p:nvSpPr>
          <p:spPr>
            <a:xfrm>
              <a:off x="4595805" y="3490734"/>
              <a:ext cx="952383" cy="334255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3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F51E00D-61CA-C345-ABA5-7B91DFCCB1B0}"/>
                </a:ext>
              </a:extLst>
            </p:cNvPr>
            <p:cNvSpPr/>
            <p:nvPr/>
          </p:nvSpPr>
          <p:spPr>
            <a:xfrm>
              <a:off x="7285003" y="3470184"/>
              <a:ext cx="952383" cy="334255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30000"/>
              </a:srgb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885C638-5D22-D542-AD86-CBA4E9CBF36F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6542566" y="3070365"/>
              <a:ext cx="1218629" cy="3998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3269869-4B38-4344-A116-F2724AEC02A0}"/>
                </a:ext>
              </a:extLst>
            </p:cNvPr>
            <p:cNvSpPr/>
            <p:nvPr/>
          </p:nvSpPr>
          <p:spPr>
            <a:xfrm>
              <a:off x="1320800" y="2735633"/>
              <a:ext cx="9736667" cy="1443771"/>
            </a:xfrm>
            <a:custGeom>
              <a:avLst/>
              <a:gdLst>
                <a:gd name="connsiteX0" fmla="*/ 0 w 9736667"/>
                <a:gd name="connsiteY0" fmla="*/ 109170 h 1443771"/>
                <a:gd name="connsiteX1" fmla="*/ 2167467 w 9736667"/>
                <a:gd name="connsiteY1" fmla="*/ 109170 h 1443771"/>
                <a:gd name="connsiteX2" fmla="*/ 3149600 w 9736667"/>
                <a:gd name="connsiteY2" fmla="*/ 1243703 h 1443771"/>
                <a:gd name="connsiteX3" fmla="*/ 4572000 w 9736667"/>
                <a:gd name="connsiteY3" fmla="*/ 1345303 h 1443771"/>
                <a:gd name="connsiteX4" fmla="*/ 7382933 w 9736667"/>
                <a:gd name="connsiteY4" fmla="*/ 1362237 h 1443771"/>
                <a:gd name="connsiteX5" fmla="*/ 8178800 w 9736667"/>
                <a:gd name="connsiteY5" fmla="*/ 244637 h 1443771"/>
                <a:gd name="connsiteX6" fmla="*/ 9736667 w 9736667"/>
                <a:gd name="connsiteY6" fmla="*/ 92237 h 144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36667" h="1443771">
                  <a:moveTo>
                    <a:pt x="0" y="109170"/>
                  </a:moveTo>
                  <a:cubicBezTo>
                    <a:pt x="821267" y="14625"/>
                    <a:pt x="1642534" y="-79919"/>
                    <a:pt x="2167467" y="109170"/>
                  </a:cubicBezTo>
                  <a:cubicBezTo>
                    <a:pt x="2692400" y="298259"/>
                    <a:pt x="2748845" y="1037681"/>
                    <a:pt x="3149600" y="1243703"/>
                  </a:cubicBezTo>
                  <a:cubicBezTo>
                    <a:pt x="3550356" y="1449725"/>
                    <a:pt x="3866444" y="1325547"/>
                    <a:pt x="4572000" y="1345303"/>
                  </a:cubicBezTo>
                  <a:cubicBezTo>
                    <a:pt x="5277556" y="1365059"/>
                    <a:pt x="6781800" y="1545681"/>
                    <a:pt x="7382933" y="1362237"/>
                  </a:cubicBezTo>
                  <a:cubicBezTo>
                    <a:pt x="7984066" y="1178793"/>
                    <a:pt x="7786511" y="456304"/>
                    <a:pt x="8178800" y="244637"/>
                  </a:cubicBezTo>
                  <a:cubicBezTo>
                    <a:pt x="8571089" y="32970"/>
                    <a:pt x="9153878" y="62603"/>
                    <a:pt x="9736667" y="92237"/>
                  </a:cubicBezTo>
                </a:path>
              </a:pathLst>
            </a:cu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696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2-3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27663"/>
            <a:ext cx="11479427" cy="5016842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Perfect balance </a:t>
            </a:r>
            <a:r>
              <a:rPr lang="en-US" dirty="0"/>
              <a:t>– every path from the root to a null link has the same length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Tree height</a:t>
            </a:r>
          </a:p>
          <a:p>
            <a:pPr lvl="1"/>
            <a:r>
              <a:rPr lang="en-US" dirty="0"/>
              <a:t>Worst case: </a:t>
            </a:r>
            <a:r>
              <a:rPr lang="en-US" dirty="0" err="1"/>
              <a:t>lg</a:t>
            </a:r>
            <a:r>
              <a:rPr lang="en-US" i="1" dirty="0" err="1"/>
              <a:t>N</a:t>
            </a:r>
            <a:r>
              <a:rPr lang="en-US" dirty="0"/>
              <a:t> (all nodes are 2-nodes)</a:t>
            </a:r>
          </a:p>
          <a:p>
            <a:pPr lvl="1"/>
            <a:r>
              <a:rPr lang="en-US" dirty="0"/>
              <a:t>Best case: log</a:t>
            </a:r>
            <a:r>
              <a:rPr lang="en-US" baseline="-25000" dirty="0"/>
              <a:t>3</a:t>
            </a:r>
            <a:r>
              <a:rPr lang="en-US" i="1" dirty="0"/>
              <a:t>N</a:t>
            </a:r>
            <a:r>
              <a:rPr lang="en-US" dirty="0"/>
              <a:t> (all nodes are 3-nodes)</a:t>
            </a:r>
          </a:p>
          <a:p>
            <a:pPr lvl="1"/>
            <a:endParaRPr lang="en-US" dirty="0"/>
          </a:p>
          <a:p>
            <a:r>
              <a:rPr lang="en-US" dirty="0"/>
              <a:t>Guaranteed </a:t>
            </a:r>
            <a:r>
              <a:rPr lang="en-US" dirty="0">
                <a:highlight>
                  <a:srgbClr val="C0C0C0"/>
                </a:highlight>
              </a:rPr>
              <a:t>logarithmic</a:t>
            </a:r>
            <a:r>
              <a:rPr lang="en-US" dirty="0"/>
              <a:t> performance (</a:t>
            </a:r>
            <a:r>
              <a:rPr lang="en-US" i="1" dirty="0"/>
              <a:t>c</a:t>
            </a:r>
            <a:r>
              <a:rPr lang="en-US" dirty="0"/>
              <a:t> </a:t>
            </a:r>
            <a:r>
              <a:rPr lang="en-US" dirty="0" err="1"/>
              <a:t>lg</a:t>
            </a:r>
            <a:r>
              <a:rPr lang="en-US" i="1" dirty="0" err="1"/>
              <a:t>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0552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Symbol Table – Implementation Summary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482468"/>
              </p:ext>
            </p:extLst>
          </p:nvPr>
        </p:nvGraphicFramePr>
        <p:xfrm>
          <a:off x="383058" y="2549884"/>
          <a:ext cx="10543771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67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8044769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927896190"/>
                    </a:ext>
                  </a:extLst>
                </a:gridCol>
                <a:gridCol w="1565564">
                  <a:extLst>
                    <a:ext uri="{9D8B030D-6E8A-4147-A177-3AD203B41FA5}">
                      <a16:colId xmlns:a16="http://schemas.microsoft.com/office/drawing/2014/main" val="1353745324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506253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inserts)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search (unordered list)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8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Search (ordered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00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47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 Search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63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440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Balanced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2-3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highlight>
                  <a:srgbClr val="C0C0C0"/>
                </a:highlight>
              </a:rPr>
              <a:t>Red-Black BST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3129805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represent a 2-3 Tree as a BST</a:t>
            </a:r>
          </a:p>
          <a:p>
            <a:r>
              <a:rPr lang="en-US" dirty="0"/>
              <a:t>How: transform a 3-node into a </a:t>
            </a:r>
            <a:r>
              <a:rPr lang="en-US" dirty="0">
                <a:highlight>
                  <a:srgbClr val="C0C0C0"/>
                </a:highlight>
              </a:rPr>
              <a:t>left-leaning BST </a:t>
            </a:r>
            <a:r>
              <a:rPr lang="en-US" dirty="0"/>
              <a:t>(two 2-nodes connected by an ”internal” red link)</a:t>
            </a:r>
          </a:p>
        </p:txBody>
      </p:sp>
      <p:grpSp>
        <p:nvGrpSpPr>
          <p:cNvPr id="47" name="Group 46" descr="epresentation of a 3-node">
            <a:extLst>
              <a:ext uri="{FF2B5EF4-FFF2-40B4-BE49-F238E27FC236}">
                <a16:creationId xmlns:a16="http://schemas.microsoft.com/office/drawing/2014/main" id="{D930EBE6-E485-F149-AD27-67B6ECFE2D24}"/>
              </a:ext>
            </a:extLst>
          </p:cNvPr>
          <p:cNvGrpSpPr/>
          <p:nvPr/>
        </p:nvGrpSpPr>
        <p:grpSpPr>
          <a:xfrm>
            <a:off x="635811" y="3797925"/>
            <a:ext cx="3894662" cy="2552004"/>
            <a:chOff x="635811" y="3797925"/>
            <a:chExt cx="3894662" cy="2552004"/>
          </a:xfrm>
        </p:grpSpPr>
        <p:grpSp>
          <p:nvGrpSpPr>
            <p:cNvPr id="29" name="Group 28" descr="representation of a 3-node">
              <a:extLst>
                <a:ext uri="{FF2B5EF4-FFF2-40B4-BE49-F238E27FC236}">
                  <a16:creationId xmlns:a16="http://schemas.microsoft.com/office/drawing/2014/main" id="{9ED79E26-8F26-0744-AD56-09B5CDCC83A8}"/>
                </a:ext>
              </a:extLst>
            </p:cNvPr>
            <p:cNvGrpSpPr/>
            <p:nvPr/>
          </p:nvGrpSpPr>
          <p:grpSpPr>
            <a:xfrm>
              <a:off x="635811" y="3797925"/>
              <a:ext cx="3894662" cy="1475715"/>
              <a:chOff x="713322" y="3073401"/>
              <a:chExt cx="3894662" cy="1475715"/>
            </a:xfrm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46C572D-8808-F345-9B0C-BBADD9999D6E}"/>
                  </a:ext>
                </a:extLst>
              </p:cNvPr>
              <p:cNvSpPr/>
              <p:nvPr/>
            </p:nvSpPr>
            <p:spPr>
              <a:xfrm>
                <a:off x="2053742" y="3073401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 B</a:t>
                </a:r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05B105A-CCCA-E640-98C1-8B3CAAEEA00B}"/>
                  </a:ext>
                </a:extLst>
              </p:cNvPr>
              <p:cNvCxnSpPr>
                <a:cxnSpLocks/>
                <a:stCxn id="4" idx="1"/>
                <a:endCxn id="16" idx="0"/>
              </p:cNvCxnSpPr>
              <p:nvPr/>
            </p:nvCxnSpPr>
            <p:spPr>
              <a:xfrm flipH="1">
                <a:off x="1339855" y="3251201"/>
                <a:ext cx="713887" cy="6095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E7FC411-E328-4D40-8573-BDB34A293D11}"/>
                  </a:ext>
                </a:extLst>
              </p:cNvPr>
              <p:cNvCxnSpPr>
                <a:cxnSpLocks/>
                <a:stCxn id="4" idx="3"/>
                <a:endCxn id="18" idx="0"/>
              </p:cNvCxnSpPr>
              <p:nvPr/>
            </p:nvCxnSpPr>
            <p:spPr>
              <a:xfrm>
                <a:off x="3222142" y="3251201"/>
                <a:ext cx="759309" cy="6095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5E8C400-3F7F-A947-AE42-7AB965BFBCB0}"/>
                  </a:ext>
                </a:extLst>
              </p:cNvPr>
              <p:cNvCxnSpPr>
                <a:cxnSpLocks/>
                <a:stCxn id="4" idx="2"/>
                <a:endCxn id="17" idx="0"/>
              </p:cNvCxnSpPr>
              <p:nvPr/>
            </p:nvCxnSpPr>
            <p:spPr>
              <a:xfrm>
                <a:off x="2637942" y="3429000"/>
                <a:ext cx="5778" cy="43180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rapezium 15">
                <a:extLst>
                  <a:ext uri="{FF2B5EF4-FFF2-40B4-BE49-F238E27FC236}">
                    <a16:creationId xmlns:a16="http://schemas.microsoft.com/office/drawing/2014/main" id="{701D3791-CC68-124E-966F-5AA86D071DF7}"/>
                  </a:ext>
                </a:extLst>
              </p:cNvPr>
              <p:cNvSpPr/>
              <p:nvPr/>
            </p:nvSpPr>
            <p:spPr>
              <a:xfrm>
                <a:off x="713322" y="3860800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 A</a:t>
                </a:r>
              </a:p>
            </p:txBody>
          </p:sp>
          <p:sp>
            <p:nvSpPr>
              <p:cNvPr id="17" name="Trapezium 16">
                <a:extLst>
                  <a:ext uri="{FF2B5EF4-FFF2-40B4-BE49-F238E27FC236}">
                    <a16:creationId xmlns:a16="http://schemas.microsoft.com/office/drawing/2014/main" id="{F82EF17A-FD56-6A4A-8816-99F40D4CCCC3}"/>
                  </a:ext>
                </a:extLst>
              </p:cNvPr>
              <p:cNvSpPr/>
              <p:nvPr/>
            </p:nvSpPr>
            <p:spPr>
              <a:xfrm>
                <a:off x="2017187" y="3860800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A&lt;…&lt;B</a:t>
                </a:r>
              </a:p>
            </p:txBody>
          </p:sp>
          <p:sp>
            <p:nvSpPr>
              <p:cNvPr id="18" name="Trapezium 17">
                <a:extLst>
                  <a:ext uri="{FF2B5EF4-FFF2-40B4-BE49-F238E27FC236}">
                    <a16:creationId xmlns:a16="http://schemas.microsoft.com/office/drawing/2014/main" id="{643B0EB3-0D52-A249-AE5B-972676257F15}"/>
                  </a:ext>
                </a:extLst>
              </p:cNvPr>
              <p:cNvSpPr/>
              <p:nvPr/>
            </p:nvSpPr>
            <p:spPr>
              <a:xfrm>
                <a:off x="3354918" y="3860800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 B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A92D4B1-C7ED-0B4A-912F-919F2D3AE5E7}"/>
                </a:ext>
              </a:extLst>
            </p:cNvPr>
            <p:cNvSpPr txBox="1"/>
            <p:nvPr/>
          </p:nvSpPr>
          <p:spPr>
            <a:xfrm>
              <a:off x="1888877" y="5980597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3-node</a:t>
              </a:r>
            </a:p>
          </p:txBody>
        </p:sp>
      </p:grpSp>
      <p:grpSp>
        <p:nvGrpSpPr>
          <p:cNvPr id="48" name="Group 47" descr="representation of a 3-node as a left-leaning BST">
            <a:extLst>
              <a:ext uri="{FF2B5EF4-FFF2-40B4-BE49-F238E27FC236}">
                <a16:creationId xmlns:a16="http://schemas.microsoft.com/office/drawing/2014/main" id="{327AE356-6A31-194A-81F5-D1134F0A81EA}"/>
              </a:ext>
            </a:extLst>
          </p:cNvPr>
          <p:cNvGrpSpPr/>
          <p:nvPr/>
        </p:nvGrpSpPr>
        <p:grpSpPr>
          <a:xfrm>
            <a:off x="5757333" y="3539609"/>
            <a:ext cx="5682005" cy="2810320"/>
            <a:chOff x="5757333" y="3539609"/>
            <a:chExt cx="5682005" cy="2810320"/>
          </a:xfrm>
        </p:grpSpPr>
        <p:grpSp>
          <p:nvGrpSpPr>
            <p:cNvPr id="44" name="Group 43" descr="representation of a 3-node as a left-leaning BST">
              <a:extLst>
                <a:ext uri="{FF2B5EF4-FFF2-40B4-BE49-F238E27FC236}">
                  <a16:creationId xmlns:a16="http://schemas.microsoft.com/office/drawing/2014/main" id="{CBDA88AF-5ED5-DB42-B2B8-5A3D9F313D95}"/>
                </a:ext>
              </a:extLst>
            </p:cNvPr>
            <p:cNvGrpSpPr/>
            <p:nvPr/>
          </p:nvGrpSpPr>
          <p:grpSpPr>
            <a:xfrm>
              <a:off x="5937420" y="3539609"/>
              <a:ext cx="4908252" cy="2091430"/>
              <a:chOff x="6157141" y="3132669"/>
              <a:chExt cx="4908252" cy="209143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CBE24DD0-3138-7F4A-A444-7D6BBBA6AF65}"/>
                  </a:ext>
                </a:extLst>
              </p:cNvPr>
              <p:cNvSpPr/>
              <p:nvPr/>
            </p:nvSpPr>
            <p:spPr>
              <a:xfrm>
                <a:off x="7117765" y="3822699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BFDD0AC-99B7-A948-9003-305D0D11F1FA}"/>
                  </a:ext>
                </a:extLst>
              </p:cNvPr>
              <p:cNvCxnSpPr>
                <a:cxnSpLocks/>
                <a:stCxn id="22" idx="1"/>
                <a:endCxn id="26" idx="0"/>
              </p:cNvCxnSpPr>
              <p:nvPr/>
            </p:nvCxnSpPr>
            <p:spPr>
              <a:xfrm flipH="1">
                <a:off x="6783674" y="4000499"/>
                <a:ext cx="334091" cy="53528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7543D68-48D3-CB46-8811-C48DA8C312D8}"/>
                  </a:ext>
                </a:extLst>
              </p:cNvPr>
              <p:cNvCxnSpPr>
                <a:cxnSpLocks/>
                <a:stCxn id="30" idx="3"/>
                <a:endCxn id="28" idx="0"/>
              </p:cNvCxnSpPr>
              <p:nvPr/>
            </p:nvCxnSpPr>
            <p:spPr>
              <a:xfrm>
                <a:off x="9687883" y="3310469"/>
                <a:ext cx="750977" cy="60536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01BF4A7-92DC-934B-916B-5D32BDD52AA8}"/>
                  </a:ext>
                </a:extLst>
              </p:cNvPr>
              <p:cNvCxnSpPr>
                <a:cxnSpLocks/>
                <a:stCxn id="22" idx="3"/>
                <a:endCxn id="27" idx="0"/>
              </p:cNvCxnSpPr>
              <p:nvPr/>
            </p:nvCxnSpPr>
            <p:spPr>
              <a:xfrm>
                <a:off x="8286165" y="4000499"/>
                <a:ext cx="287888" cy="53528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rapezium 25">
                <a:extLst>
                  <a:ext uri="{FF2B5EF4-FFF2-40B4-BE49-F238E27FC236}">
                    <a16:creationId xmlns:a16="http://schemas.microsoft.com/office/drawing/2014/main" id="{99818EC2-A7AD-994D-B88E-2FC837EF7683}"/>
                  </a:ext>
                </a:extLst>
              </p:cNvPr>
              <p:cNvSpPr/>
              <p:nvPr/>
            </p:nvSpPr>
            <p:spPr>
              <a:xfrm>
                <a:off x="6157141" y="4535783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 A</a:t>
                </a:r>
              </a:p>
            </p:txBody>
          </p:sp>
          <p:sp>
            <p:nvSpPr>
              <p:cNvPr id="27" name="Trapezium 26">
                <a:extLst>
                  <a:ext uri="{FF2B5EF4-FFF2-40B4-BE49-F238E27FC236}">
                    <a16:creationId xmlns:a16="http://schemas.microsoft.com/office/drawing/2014/main" id="{C86E9DEA-551F-BE4B-AA60-195D54F37E95}"/>
                  </a:ext>
                </a:extLst>
              </p:cNvPr>
              <p:cNvSpPr/>
              <p:nvPr/>
            </p:nvSpPr>
            <p:spPr>
              <a:xfrm>
                <a:off x="7947520" y="4535783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A&lt;…&lt;B</a:t>
                </a:r>
              </a:p>
            </p:txBody>
          </p:sp>
          <p:sp>
            <p:nvSpPr>
              <p:cNvPr id="28" name="Trapezium 27">
                <a:extLst>
                  <a:ext uri="{FF2B5EF4-FFF2-40B4-BE49-F238E27FC236}">
                    <a16:creationId xmlns:a16="http://schemas.microsoft.com/office/drawing/2014/main" id="{28DD02D5-3D5E-C64C-BF58-F21D544C8595}"/>
                  </a:ext>
                </a:extLst>
              </p:cNvPr>
              <p:cNvSpPr/>
              <p:nvPr/>
            </p:nvSpPr>
            <p:spPr>
              <a:xfrm>
                <a:off x="9812327" y="3915832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 B</a:t>
                </a: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1F52FEEF-D148-CF47-81D1-B1D29C5CDE45}"/>
                  </a:ext>
                </a:extLst>
              </p:cNvPr>
              <p:cNvSpPr/>
              <p:nvPr/>
            </p:nvSpPr>
            <p:spPr>
              <a:xfrm>
                <a:off x="8519483" y="3132669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E143314-E9D2-1D40-9F28-4E262543BA7B}"/>
                  </a:ext>
                </a:extLst>
              </p:cNvPr>
              <p:cNvCxnSpPr>
                <a:stCxn id="30" idx="1"/>
                <a:endCxn id="22" idx="0"/>
              </p:cNvCxnSpPr>
              <p:nvPr/>
            </p:nvCxnSpPr>
            <p:spPr>
              <a:xfrm flipH="1">
                <a:off x="7701965" y="3310469"/>
                <a:ext cx="817518" cy="51223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E4E87B-26F3-1C49-9719-9013016011F3}"/>
                </a:ext>
              </a:extLst>
            </p:cNvPr>
            <p:cNvSpPr txBox="1"/>
            <p:nvPr/>
          </p:nvSpPr>
          <p:spPr>
            <a:xfrm>
              <a:off x="5757333" y="5980597"/>
              <a:ext cx="5682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left-leaning red-black BST representation of a 3-node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086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represent a 2-3 Tree as a BST</a:t>
            </a:r>
          </a:p>
          <a:p>
            <a:r>
              <a:rPr lang="en-US" dirty="0"/>
              <a:t>How: transform a 3-node into a </a:t>
            </a:r>
            <a:r>
              <a:rPr lang="en-US" dirty="0">
                <a:highlight>
                  <a:srgbClr val="C0C0C0"/>
                </a:highlight>
              </a:rPr>
              <a:t>left-leaning BST </a:t>
            </a:r>
            <a:r>
              <a:rPr lang="en-US" dirty="0"/>
              <a:t>(two 2-nodes connected by an ”internal” red link)</a:t>
            </a:r>
          </a:p>
        </p:txBody>
      </p:sp>
      <p:grpSp>
        <p:nvGrpSpPr>
          <p:cNvPr id="29" name="Group 28" descr="representation of a 3-node">
            <a:extLst>
              <a:ext uri="{FF2B5EF4-FFF2-40B4-BE49-F238E27FC236}">
                <a16:creationId xmlns:a16="http://schemas.microsoft.com/office/drawing/2014/main" id="{9ED79E26-8F26-0744-AD56-09B5CDCC83A8}"/>
              </a:ext>
            </a:extLst>
          </p:cNvPr>
          <p:cNvGrpSpPr/>
          <p:nvPr/>
        </p:nvGrpSpPr>
        <p:grpSpPr>
          <a:xfrm>
            <a:off x="635811" y="3797925"/>
            <a:ext cx="3894662" cy="1475715"/>
            <a:chOff x="713322" y="3073401"/>
            <a:chExt cx="3894662" cy="147571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46C572D-8808-F345-9B0C-BBADD9999D6E}"/>
                </a:ext>
              </a:extLst>
            </p:cNvPr>
            <p:cNvSpPr/>
            <p:nvPr/>
          </p:nvSpPr>
          <p:spPr>
            <a:xfrm>
              <a:off x="2053742" y="3073401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B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5B105A-CCCA-E640-98C1-8B3CAAEEA00B}"/>
                </a:ext>
              </a:extLst>
            </p:cNvPr>
            <p:cNvCxnSpPr>
              <a:cxnSpLocks/>
              <a:stCxn id="4" idx="1"/>
              <a:endCxn id="16" idx="0"/>
            </p:cNvCxnSpPr>
            <p:nvPr/>
          </p:nvCxnSpPr>
          <p:spPr>
            <a:xfrm flipH="1">
              <a:off x="1339855" y="3251201"/>
              <a:ext cx="713887" cy="6095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E7FC411-E328-4D40-8573-BDB34A293D11}"/>
                </a:ext>
              </a:extLst>
            </p:cNvPr>
            <p:cNvCxnSpPr>
              <a:cxnSpLocks/>
              <a:stCxn id="4" idx="3"/>
              <a:endCxn id="18" idx="0"/>
            </p:cNvCxnSpPr>
            <p:nvPr/>
          </p:nvCxnSpPr>
          <p:spPr>
            <a:xfrm>
              <a:off x="3222142" y="3251201"/>
              <a:ext cx="759309" cy="6095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E8C400-3F7F-A947-AE42-7AB965BFBCB0}"/>
                </a:ext>
              </a:extLst>
            </p:cNvPr>
            <p:cNvCxnSpPr>
              <a:cxnSpLocks/>
              <a:stCxn id="4" idx="2"/>
              <a:endCxn id="17" idx="0"/>
            </p:cNvCxnSpPr>
            <p:nvPr/>
          </p:nvCxnSpPr>
          <p:spPr>
            <a:xfrm>
              <a:off x="2637942" y="3429000"/>
              <a:ext cx="5778" cy="43180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rapezium 15">
              <a:extLst>
                <a:ext uri="{FF2B5EF4-FFF2-40B4-BE49-F238E27FC236}">
                  <a16:creationId xmlns:a16="http://schemas.microsoft.com/office/drawing/2014/main" id="{701D3791-CC68-124E-966F-5AA86D071DF7}"/>
                </a:ext>
              </a:extLst>
            </p:cNvPr>
            <p:cNvSpPr/>
            <p:nvPr/>
          </p:nvSpPr>
          <p:spPr>
            <a:xfrm>
              <a:off x="713322" y="38608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F82EF17A-FD56-6A4A-8816-99F40D4CCCC3}"/>
                </a:ext>
              </a:extLst>
            </p:cNvPr>
            <p:cNvSpPr/>
            <p:nvPr/>
          </p:nvSpPr>
          <p:spPr>
            <a:xfrm>
              <a:off x="2017187" y="38608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643B0EB3-0D52-A249-AE5B-972676257F15}"/>
                </a:ext>
              </a:extLst>
            </p:cNvPr>
            <p:cNvSpPr/>
            <p:nvPr/>
          </p:nvSpPr>
          <p:spPr>
            <a:xfrm>
              <a:off x="3354918" y="3860800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</p:grpSp>
      <p:grpSp>
        <p:nvGrpSpPr>
          <p:cNvPr id="44" name="Group 43" descr="representation of a 3-node as a left-leaning BST">
            <a:extLst>
              <a:ext uri="{FF2B5EF4-FFF2-40B4-BE49-F238E27FC236}">
                <a16:creationId xmlns:a16="http://schemas.microsoft.com/office/drawing/2014/main" id="{CBDA88AF-5ED5-DB42-B2B8-5A3D9F313D95}"/>
              </a:ext>
            </a:extLst>
          </p:cNvPr>
          <p:cNvGrpSpPr/>
          <p:nvPr/>
        </p:nvGrpSpPr>
        <p:grpSpPr>
          <a:xfrm>
            <a:off x="5673740" y="3539609"/>
            <a:ext cx="5171932" cy="1471479"/>
            <a:chOff x="5893461" y="3132669"/>
            <a:chExt cx="5171932" cy="1471479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E24DD0-3138-7F4A-A444-7D6BBBA6AF65}"/>
                </a:ext>
              </a:extLst>
            </p:cNvPr>
            <p:cNvSpPr/>
            <p:nvPr/>
          </p:nvSpPr>
          <p:spPr>
            <a:xfrm>
              <a:off x="6854085" y="3132669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FDD0AC-99B7-A948-9003-305D0D11F1FA}"/>
                </a:ext>
              </a:extLst>
            </p:cNvPr>
            <p:cNvCxnSpPr>
              <a:cxnSpLocks/>
              <a:stCxn id="22" idx="1"/>
              <a:endCxn id="26" idx="0"/>
            </p:cNvCxnSpPr>
            <p:nvPr/>
          </p:nvCxnSpPr>
          <p:spPr>
            <a:xfrm flipH="1">
              <a:off x="6519994" y="3310469"/>
              <a:ext cx="334091" cy="53528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543D68-48D3-CB46-8811-C48DA8C312D8}"/>
                </a:ext>
              </a:extLst>
            </p:cNvPr>
            <p:cNvCxnSpPr>
              <a:cxnSpLocks/>
              <a:stCxn id="30" idx="3"/>
              <a:endCxn id="28" idx="0"/>
            </p:cNvCxnSpPr>
            <p:nvPr/>
          </p:nvCxnSpPr>
          <p:spPr>
            <a:xfrm>
              <a:off x="9687883" y="3310469"/>
              <a:ext cx="750977" cy="60536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1BF4A7-92DC-934B-916B-5D32BDD52AA8}"/>
                </a:ext>
              </a:extLst>
            </p:cNvPr>
            <p:cNvCxnSpPr>
              <a:cxnSpLocks/>
              <a:stCxn id="22" idx="3"/>
              <a:endCxn id="27" idx="0"/>
            </p:cNvCxnSpPr>
            <p:nvPr/>
          </p:nvCxnSpPr>
          <p:spPr>
            <a:xfrm>
              <a:off x="8022485" y="3310469"/>
              <a:ext cx="287888" cy="53528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rapezium 25">
              <a:extLst>
                <a:ext uri="{FF2B5EF4-FFF2-40B4-BE49-F238E27FC236}">
                  <a16:creationId xmlns:a16="http://schemas.microsoft.com/office/drawing/2014/main" id="{99818EC2-A7AD-994D-B88E-2FC837EF7683}"/>
                </a:ext>
              </a:extLst>
            </p:cNvPr>
            <p:cNvSpPr/>
            <p:nvPr/>
          </p:nvSpPr>
          <p:spPr>
            <a:xfrm>
              <a:off x="5893461" y="3845753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27" name="Trapezium 26">
              <a:extLst>
                <a:ext uri="{FF2B5EF4-FFF2-40B4-BE49-F238E27FC236}">
                  <a16:creationId xmlns:a16="http://schemas.microsoft.com/office/drawing/2014/main" id="{C86E9DEA-551F-BE4B-AA60-195D54F37E95}"/>
                </a:ext>
              </a:extLst>
            </p:cNvPr>
            <p:cNvSpPr/>
            <p:nvPr/>
          </p:nvSpPr>
          <p:spPr>
            <a:xfrm>
              <a:off x="7683840" y="3845753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28" name="Trapezium 27">
              <a:extLst>
                <a:ext uri="{FF2B5EF4-FFF2-40B4-BE49-F238E27FC236}">
                  <a16:creationId xmlns:a16="http://schemas.microsoft.com/office/drawing/2014/main" id="{28DD02D5-3D5E-C64C-BF58-F21D544C8595}"/>
                </a:ext>
              </a:extLst>
            </p:cNvPr>
            <p:cNvSpPr/>
            <p:nvPr/>
          </p:nvSpPr>
          <p:spPr>
            <a:xfrm>
              <a:off x="9812327" y="3915832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F52FEEF-D148-CF47-81D1-B1D29C5CDE45}"/>
                </a:ext>
              </a:extLst>
            </p:cNvPr>
            <p:cNvSpPr/>
            <p:nvPr/>
          </p:nvSpPr>
          <p:spPr>
            <a:xfrm>
              <a:off x="8519483" y="3132669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E143314-E9D2-1D40-9F28-4E262543BA7B}"/>
                </a:ext>
              </a:extLst>
            </p:cNvPr>
            <p:cNvCxnSpPr>
              <a:cxnSpLocks/>
              <a:stCxn id="30" idx="1"/>
              <a:endCxn id="22" idx="3"/>
            </p:cNvCxnSpPr>
            <p:nvPr/>
          </p:nvCxnSpPr>
          <p:spPr>
            <a:xfrm flipH="1">
              <a:off x="8022485" y="3310469"/>
              <a:ext cx="496998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53AD0E3-9696-7F46-A805-3073FC668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88877" y="598059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3-node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BD5B5-B778-2A40-AE35-4C94309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757333" y="5980597"/>
            <a:ext cx="5682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left-leaning red-black BST representation of a 3-node</a:t>
            </a:r>
          </a:p>
        </p:txBody>
      </p:sp>
    </p:spTree>
    <p:extLst>
      <p:ext uri="{BB962C8B-B14F-4D97-AF65-F5344CB8AC3E}">
        <p14:creationId xmlns:p14="http://schemas.microsoft.com/office/powerpoint/2010/main" val="3506389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45" name="Group 44" descr="Example of a full 2-3 search tree">
            <a:extLst>
              <a:ext uri="{FF2B5EF4-FFF2-40B4-BE49-F238E27FC236}">
                <a16:creationId xmlns:a16="http://schemas.microsoft.com/office/drawing/2014/main" id="{D950E63E-BDC2-EF4C-AC77-94428FAC6CCB}"/>
              </a:ext>
            </a:extLst>
          </p:cNvPr>
          <p:cNvGrpSpPr/>
          <p:nvPr/>
        </p:nvGrpSpPr>
        <p:grpSpPr>
          <a:xfrm>
            <a:off x="383058" y="2998415"/>
            <a:ext cx="4720417" cy="2314989"/>
            <a:chOff x="466209" y="2409524"/>
            <a:chExt cx="4720417" cy="231498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46C572D-8808-F345-9B0C-BBADD9999D6E}"/>
                </a:ext>
              </a:extLst>
            </p:cNvPr>
            <p:cNvSpPr/>
            <p:nvPr/>
          </p:nvSpPr>
          <p:spPr>
            <a:xfrm>
              <a:off x="4018226" y="3764521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X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5B105A-CCCA-E640-98C1-8B3CAAEEA00B}"/>
                </a:ext>
              </a:extLst>
            </p:cNvPr>
            <p:cNvCxnSpPr>
              <a:cxnSpLocks/>
              <a:stCxn id="34" idx="1"/>
              <a:endCxn id="37" idx="0"/>
            </p:cNvCxnSpPr>
            <p:nvPr/>
          </p:nvCxnSpPr>
          <p:spPr>
            <a:xfrm flipH="1">
              <a:off x="3590060" y="3158814"/>
              <a:ext cx="236873" cy="60660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E7FC411-E328-4D40-8573-BDB34A293D11}"/>
                </a:ext>
              </a:extLst>
            </p:cNvPr>
            <p:cNvCxnSpPr>
              <a:cxnSpLocks/>
              <a:stCxn id="22" idx="3"/>
              <a:endCxn id="36" idx="0"/>
            </p:cNvCxnSpPr>
            <p:nvPr/>
          </p:nvCxnSpPr>
          <p:spPr>
            <a:xfrm>
              <a:off x="2652601" y="3155639"/>
              <a:ext cx="276865" cy="6097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E8C400-3F7F-A947-AE42-7AB965BFBCB0}"/>
                </a:ext>
              </a:extLst>
            </p:cNvPr>
            <p:cNvCxnSpPr>
              <a:cxnSpLocks/>
              <a:stCxn id="34" idx="3"/>
              <a:endCxn id="4" idx="0"/>
            </p:cNvCxnSpPr>
            <p:nvPr/>
          </p:nvCxnSpPr>
          <p:spPr>
            <a:xfrm>
              <a:off x="4291789" y="3158814"/>
              <a:ext cx="310637" cy="6057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E24DD0-3138-7F4A-A444-7D6BBBA6AF65}"/>
                </a:ext>
              </a:extLst>
            </p:cNvPr>
            <p:cNvSpPr/>
            <p:nvPr/>
          </p:nvSpPr>
          <p:spPr>
            <a:xfrm>
              <a:off x="1484201" y="2977839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  J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FDD0AC-99B7-A948-9003-305D0D11F1FA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1150110" y="3155639"/>
              <a:ext cx="334091" cy="53528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543D68-48D3-CB46-8811-C48DA8C312D8}"/>
                </a:ext>
              </a:extLst>
            </p:cNvPr>
            <p:cNvCxnSpPr>
              <a:cxnSpLocks/>
              <a:stCxn id="33" idx="3"/>
              <a:endCxn id="34" idx="0"/>
            </p:cNvCxnSpPr>
            <p:nvPr/>
          </p:nvCxnSpPr>
          <p:spPr>
            <a:xfrm>
              <a:off x="3454399" y="2587324"/>
              <a:ext cx="604962" cy="39369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1BF4A7-92DC-934B-916B-5D32BDD52AA8}"/>
                </a:ext>
              </a:extLst>
            </p:cNvPr>
            <p:cNvCxnSpPr>
              <a:cxnSpLocks/>
              <a:stCxn id="33" idx="1"/>
              <a:endCxn id="22" idx="0"/>
            </p:cNvCxnSpPr>
            <p:nvPr/>
          </p:nvCxnSpPr>
          <p:spPr>
            <a:xfrm flipH="1">
              <a:off x="2068401" y="2587324"/>
              <a:ext cx="921142" cy="3905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F52FEEF-D148-CF47-81D1-B1D29C5CDE45}"/>
                </a:ext>
              </a:extLst>
            </p:cNvPr>
            <p:cNvSpPr/>
            <p:nvPr/>
          </p:nvSpPr>
          <p:spPr>
            <a:xfrm>
              <a:off x="466209" y="3690923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3AD0E3-9696-7F46-A805-3073FC668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199005" y="4355181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2-3 search tree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5FC645E-A575-E947-9469-E0E02DAD3FB6}"/>
                </a:ext>
              </a:extLst>
            </p:cNvPr>
            <p:cNvSpPr/>
            <p:nvPr/>
          </p:nvSpPr>
          <p:spPr>
            <a:xfrm>
              <a:off x="2989543" y="240952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  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734EE8F-3927-084F-A4E8-F73FFC6FE41F}"/>
                </a:ext>
              </a:extLst>
            </p:cNvPr>
            <p:cNvSpPr/>
            <p:nvPr/>
          </p:nvSpPr>
          <p:spPr>
            <a:xfrm>
              <a:off x="3826933" y="298101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   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769E015-E045-5E45-8F4D-C34189438F99}"/>
                </a:ext>
              </a:extLst>
            </p:cNvPr>
            <p:cNvSpPr/>
            <p:nvPr/>
          </p:nvSpPr>
          <p:spPr>
            <a:xfrm>
              <a:off x="1839103" y="3762340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  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E01D6FE-D48B-124E-BEAC-871025E4A6DF}"/>
                </a:ext>
              </a:extLst>
            </p:cNvPr>
            <p:cNvSpPr/>
            <p:nvPr/>
          </p:nvSpPr>
          <p:spPr>
            <a:xfrm>
              <a:off x="2697038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   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B195CF4A-C402-1243-BCA4-A2E030DFA989}"/>
                </a:ext>
              </a:extLst>
            </p:cNvPr>
            <p:cNvSpPr/>
            <p:nvPr/>
          </p:nvSpPr>
          <p:spPr>
            <a:xfrm>
              <a:off x="3357632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  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632133-BCA7-734E-8DA8-331D92D14FB7}"/>
                </a:ext>
              </a:extLst>
            </p:cNvPr>
            <p:cNvCxnSpPr>
              <a:cxnSpLocks/>
              <a:stCxn id="22" idx="2"/>
              <a:endCxn id="35" idx="0"/>
            </p:cNvCxnSpPr>
            <p:nvPr/>
          </p:nvCxnSpPr>
          <p:spPr>
            <a:xfrm>
              <a:off x="2068401" y="3333438"/>
              <a:ext cx="3130" cy="4289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4771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BD5B5-B778-2A40-AE35-4C94309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28659" y="623999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Corresponding red-black BST</a:t>
            </a:r>
          </a:p>
        </p:txBody>
      </p:sp>
      <p:grpSp>
        <p:nvGrpSpPr>
          <p:cNvPr id="45" name="Group 44" descr="Example of a full 2-3 search tree">
            <a:extLst>
              <a:ext uri="{FF2B5EF4-FFF2-40B4-BE49-F238E27FC236}">
                <a16:creationId xmlns:a16="http://schemas.microsoft.com/office/drawing/2014/main" id="{D950E63E-BDC2-EF4C-AC77-94428FAC6CCB}"/>
              </a:ext>
            </a:extLst>
          </p:cNvPr>
          <p:cNvGrpSpPr/>
          <p:nvPr/>
        </p:nvGrpSpPr>
        <p:grpSpPr>
          <a:xfrm>
            <a:off x="383058" y="2998415"/>
            <a:ext cx="4720417" cy="2314989"/>
            <a:chOff x="466209" y="2409524"/>
            <a:chExt cx="4720417" cy="231498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46C572D-8808-F345-9B0C-BBADD9999D6E}"/>
                </a:ext>
              </a:extLst>
            </p:cNvPr>
            <p:cNvSpPr/>
            <p:nvPr/>
          </p:nvSpPr>
          <p:spPr>
            <a:xfrm>
              <a:off x="4018226" y="3764521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X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5B105A-CCCA-E640-98C1-8B3CAAEEA00B}"/>
                </a:ext>
              </a:extLst>
            </p:cNvPr>
            <p:cNvCxnSpPr>
              <a:cxnSpLocks/>
              <a:stCxn id="34" idx="1"/>
              <a:endCxn id="37" idx="0"/>
            </p:cNvCxnSpPr>
            <p:nvPr/>
          </p:nvCxnSpPr>
          <p:spPr>
            <a:xfrm flipH="1">
              <a:off x="3590060" y="3158814"/>
              <a:ext cx="236873" cy="60660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E7FC411-E328-4D40-8573-BDB34A293D11}"/>
                </a:ext>
              </a:extLst>
            </p:cNvPr>
            <p:cNvCxnSpPr>
              <a:cxnSpLocks/>
              <a:stCxn id="22" idx="3"/>
              <a:endCxn id="36" idx="0"/>
            </p:cNvCxnSpPr>
            <p:nvPr/>
          </p:nvCxnSpPr>
          <p:spPr>
            <a:xfrm>
              <a:off x="2652601" y="3155639"/>
              <a:ext cx="276865" cy="6097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E8C400-3F7F-A947-AE42-7AB965BFBCB0}"/>
                </a:ext>
              </a:extLst>
            </p:cNvPr>
            <p:cNvCxnSpPr>
              <a:cxnSpLocks/>
              <a:stCxn id="34" idx="3"/>
              <a:endCxn id="4" idx="0"/>
            </p:cNvCxnSpPr>
            <p:nvPr/>
          </p:nvCxnSpPr>
          <p:spPr>
            <a:xfrm>
              <a:off x="4291789" y="3158814"/>
              <a:ext cx="310637" cy="6057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E24DD0-3138-7F4A-A444-7D6BBBA6AF65}"/>
                </a:ext>
              </a:extLst>
            </p:cNvPr>
            <p:cNvSpPr/>
            <p:nvPr/>
          </p:nvSpPr>
          <p:spPr>
            <a:xfrm>
              <a:off x="1484201" y="2977839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  J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FDD0AC-99B7-A948-9003-305D0D11F1FA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1150110" y="3155639"/>
              <a:ext cx="334091" cy="535284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543D68-48D3-CB46-8811-C48DA8C312D8}"/>
                </a:ext>
              </a:extLst>
            </p:cNvPr>
            <p:cNvCxnSpPr>
              <a:cxnSpLocks/>
              <a:stCxn id="33" idx="3"/>
              <a:endCxn id="34" idx="0"/>
            </p:cNvCxnSpPr>
            <p:nvPr/>
          </p:nvCxnSpPr>
          <p:spPr>
            <a:xfrm>
              <a:off x="3454399" y="2587324"/>
              <a:ext cx="604962" cy="39369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1BF4A7-92DC-934B-916B-5D32BDD52AA8}"/>
                </a:ext>
              </a:extLst>
            </p:cNvPr>
            <p:cNvCxnSpPr>
              <a:cxnSpLocks/>
              <a:stCxn id="33" idx="1"/>
              <a:endCxn id="22" idx="0"/>
            </p:cNvCxnSpPr>
            <p:nvPr/>
          </p:nvCxnSpPr>
          <p:spPr>
            <a:xfrm flipH="1">
              <a:off x="2068401" y="2587324"/>
              <a:ext cx="921142" cy="3905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F52FEEF-D148-CF47-81D1-B1D29C5CDE45}"/>
                </a:ext>
              </a:extLst>
            </p:cNvPr>
            <p:cNvSpPr/>
            <p:nvPr/>
          </p:nvSpPr>
          <p:spPr>
            <a:xfrm>
              <a:off x="466209" y="3690923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3AD0E3-9696-7F46-A805-3073FC668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199005" y="4355181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2-3 search tree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5FC645E-A575-E947-9469-E0E02DAD3FB6}"/>
                </a:ext>
              </a:extLst>
            </p:cNvPr>
            <p:cNvSpPr/>
            <p:nvPr/>
          </p:nvSpPr>
          <p:spPr>
            <a:xfrm>
              <a:off x="2989543" y="240952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  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734EE8F-3927-084F-A4E8-F73FFC6FE41F}"/>
                </a:ext>
              </a:extLst>
            </p:cNvPr>
            <p:cNvSpPr/>
            <p:nvPr/>
          </p:nvSpPr>
          <p:spPr>
            <a:xfrm>
              <a:off x="3826933" y="298101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   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769E015-E045-5E45-8F4D-C34189438F99}"/>
                </a:ext>
              </a:extLst>
            </p:cNvPr>
            <p:cNvSpPr/>
            <p:nvPr/>
          </p:nvSpPr>
          <p:spPr>
            <a:xfrm>
              <a:off x="1839103" y="3762340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  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E01D6FE-D48B-124E-BEAC-871025E4A6DF}"/>
                </a:ext>
              </a:extLst>
            </p:cNvPr>
            <p:cNvSpPr/>
            <p:nvPr/>
          </p:nvSpPr>
          <p:spPr>
            <a:xfrm>
              <a:off x="2697038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   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B195CF4A-C402-1243-BCA4-A2E030DFA989}"/>
                </a:ext>
              </a:extLst>
            </p:cNvPr>
            <p:cNvSpPr/>
            <p:nvPr/>
          </p:nvSpPr>
          <p:spPr>
            <a:xfrm>
              <a:off x="3357632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  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632133-BCA7-734E-8DA8-331D92D14FB7}"/>
                </a:ext>
              </a:extLst>
            </p:cNvPr>
            <p:cNvCxnSpPr>
              <a:cxnSpLocks/>
              <a:stCxn id="22" idx="2"/>
              <a:endCxn id="35" idx="0"/>
            </p:cNvCxnSpPr>
            <p:nvPr/>
          </p:nvCxnSpPr>
          <p:spPr>
            <a:xfrm>
              <a:off x="2068401" y="3333438"/>
              <a:ext cx="3130" cy="42890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 descr="creating corresponding red-black BST">
            <a:extLst>
              <a:ext uri="{FF2B5EF4-FFF2-40B4-BE49-F238E27FC236}">
                <a16:creationId xmlns:a16="http://schemas.microsoft.com/office/drawing/2014/main" id="{7F729EDE-B857-4645-B286-21A61298327F}"/>
              </a:ext>
            </a:extLst>
          </p:cNvPr>
          <p:cNvGrpSpPr/>
          <p:nvPr/>
        </p:nvGrpSpPr>
        <p:grpSpPr>
          <a:xfrm>
            <a:off x="8468980" y="3057467"/>
            <a:ext cx="2557004" cy="1589676"/>
            <a:chOff x="8468980" y="3057467"/>
            <a:chExt cx="2557004" cy="1589676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2D8CE6-3211-EF40-A68E-F29BC7AA0FE8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10692368" y="3806757"/>
              <a:ext cx="333616" cy="4847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3C274B0-7252-A84A-B4BA-AA00DCCA7350}"/>
                </a:ext>
              </a:extLst>
            </p:cNvPr>
            <p:cNvCxnSpPr>
              <a:cxnSpLocks/>
              <a:stCxn id="49" idx="3"/>
              <a:endCxn id="50" idx="0"/>
            </p:cNvCxnSpPr>
            <p:nvPr/>
          </p:nvCxnSpPr>
          <p:spPr>
            <a:xfrm>
              <a:off x="9854978" y="3235267"/>
              <a:ext cx="604962" cy="39369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21664D-B829-4A47-BD0D-626D75423356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>
              <a:off x="8468980" y="3235267"/>
              <a:ext cx="921142" cy="3905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895E982-F4E3-EC4A-BED2-30DE0BA4C781}"/>
                </a:ext>
              </a:extLst>
            </p:cNvPr>
            <p:cNvSpPr/>
            <p:nvPr/>
          </p:nvSpPr>
          <p:spPr>
            <a:xfrm>
              <a:off x="9390122" y="3057467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  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7A141229-B77C-3F45-806D-91DDD033BAD8}"/>
                </a:ext>
              </a:extLst>
            </p:cNvPr>
            <p:cNvSpPr/>
            <p:nvPr/>
          </p:nvSpPr>
          <p:spPr>
            <a:xfrm>
              <a:off x="10227512" y="3628957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   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636102AD-C34B-DE48-9AB1-912C7C7BEA33}"/>
                </a:ext>
              </a:extLst>
            </p:cNvPr>
            <p:cNvSpPr/>
            <p:nvPr/>
          </p:nvSpPr>
          <p:spPr>
            <a:xfrm>
              <a:off x="9723738" y="429154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  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102E5A2-37DC-564D-8301-16A5A3206FA7}"/>
                </a:ext>
              </a:extLst>
            </p:cNvPr>
            <p:cNvCxnSpPr>
              <a:cxnSpLocks/>
              <a:stCxn id="50" idx="1"/>
              <a:endCxn id="53" idx="0"/>
            </p:cNvCxnSpPr>
            <p:nvPr/>
          </p:nvCxnSpPr>
          <p:spPr>
            <a:xfrm flipH="1">
              <a:off x="9956166" y="3806757"/>
              <a:ext cx="271346" cy="4847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 descr="creating corresponding red-black BST">
            <a:extLst>
              <a:ext uri="{FF2B5EF4-FFF2-40B4-BE49-F238E27FC236}">
                <a16:creationId xmlns:a16="http://schemas.microsoft.com/office/drawing/2014/main" id="{CC7850F5-3BB9-5142-A683-404B8E0D6581}"/>
              </a:ext>
            </a:extLst>
          </p:cNvPr>
          <p:cNvGrpSpPr/>
          <p:nvPr/>
        </p:nvGrpSpPr>
        <p:grpSpPr>
          <a:xfrm>
            <a:off x="6991254" y="3637034"/>
            <a:ext cx="2148076" cy="1657078"/>
            <a:chOff x="6991254" y="3637034"/>
            <a:chExt cx="2148076" cy="165707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E143314-E9D2-1D40-9F28-4E262543BA7B}"/>
                </a:ext>
              </a:extLst>
            </p:cNvPr>
            <p:cNvCxnSpPr>
              <a:cxnSpLocks/>
              <a:stCxn id="52" idx="1"/>
              <a:endCxn id="51" idx="0"/>
            </p:cNvCxnSpPr>
            <p:nvPr/>
          </p:nvCxnSpPr>
          <p:spPr>
            <a:xfrm flipH="1">
              <a:off x="7807882" y="3814834"/>
              <a:ext cx="424144" cy="433337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CCD8D93F-0BC8-2B43-96CC-2F0DCD02A483}"/>
                </a:ext>
              </a:extLst>
            </p:cNvPr>
            <p:cNvSpPr/>
            <p:nvPr/>
          </p:nvSpPr>
          <p:spPr>
            <a:xfrm>
              <a:off x="7575454" y="4248171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  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C8A457E9-158D-C844-B4E7-60BC3AC21347}"/>
                </a:ext>
              </a:extLst>
            </p:cNvPr>
            <p:cNvSpPr/>
            <p:nvPr/>
          </p:nvSpPr>
          <p:spPr>
            <a:xfrm>
              <a:off x="8232026" y="363703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   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90F3599-17F3-484F-86B8-A4FF5AF2BE7D}"/>
                </a:ext>
              </a:extLst>
            </p:cNvPr>
            <p:cNvSpPr/>
            <p:nvPr/>
          </p:nvSpPr>
          <p:spPr>
            <a:xfrm>
              <a:off x="8232026" y="4938513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  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6A674283-80ED-6E48-97A6-6BBD9D788852}"/>
                </a:ext>
              </a:extLst>
            </p:cNvPr>
            <p:cNvSpPr/>
            <p:nvPr/>
          </p:nvSpPr>
          <p:spPr>
            <a:xfrm>
              <a:off x="8674474" y="429154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   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AC5D3F4-F37A-2446-AC49-61C923A0AF0F}"/>
                </a:ext>
              </a:extLst>
            </p:cNvPr>
            <p:cNvCxnSpPr>
              <a:cxnSpLocks/>
              <a:stCxn id="52" idx="3"/>
              <a:endCxn id="55" idx="0"/>
            </p:cNvCxnSpPr>
            <p:nvPr/>
          </p:nvCxnSpPr>
          <p:spPr>
            <a:xfrm>
              <a:off x="8696882" y="3814834"/>
              <a:ext cx="210020" cy="47671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79ED426-07A2-9849-9F76-6CC358239AB6}"/>
                </a:ext>
              </a:extLst>
            </p:cNvPr>
            <p:cNvCxnSpPr>
              <a:cxnSpLocks/>
              <a:stCxn id="51" idx="3"/>
              <a:endCxn id="54" idx="0"/>
            </p:cNvCxnSpPr>
            <p:nvPr/>
          </p:nvCxnSpPr>
          <p:spPr>
            <a:xfrm>
              <a:off x="8040310" y="4425971"/>
              <a:ext cx="424144" cy="51254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532C8B0-84D7-D245-9F07-7758F277038C}"/>
                </a:ext>
              </a:extLst>
            </p:cNvPr>
            <p:cNvCxnSpPr>
              <a:cxnSpLocks/>
              <a:stCxn id="51" idx="1"/>
            </p:cNvCxnSpPr>
            <p:nvPr/>
          </p:nvCxnSpPr>
          <p:spPr>
            <a:xfrm flipH="1">
              <a:off x="6991254" y="4425971"/>
              <a:ext cx="584200" cy="518101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 descr="creating corresponding red-black BST">
            <a:extLst>
              <a:ext uri="{FF2B5EF4-FFF2-40B4-BE49-F238E27FC236}">
                <a16:creationId xmlns:a16="http://schemas.microsoft.com/office/drawing/2014/main" id="{B9D081A7-AEB2-8C4C-A5E4-A3262A8E4B96}"/>
              </a:ext>
            </a:extLst>
          </p:cNvPr>
          <p:cNvGrpSpPr/>
          <p:nvPr/>
        </p:nvGrpSpPr>
        <p:grpSpPr>
          <a:xfrm>
            <a:off x="6097615" y="4938512"/>
            <a:ext cx="1126067" cy="1002570"/>
            <a:chOff x="6097615" y="4938512"/>
            <a:chExt cx="1126067" cy="1002570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DD742261-1DCB-7A4F-AD91-0C0CDB6F9757}"/>
                </a:ext>
              </a:extLst>
            </p:cNvPr>
            <p:cNvSpPr/>
            <p:nvPr/>
          </p:nvSpPr>
          <p:spPr>
            <a:xfrm>
              <a:off x="6097615" y="5585483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88B44B60-AB0A-8F47-96DB-076E343F8E17}"/>
                </a:ext>
              </a:extLst>
            </p:cNvPr>
            <p:cNvSpPr/>
            <p:nvPr/>
          </p:nvSpPr>
          <p:spPr>
            <a:xfrm>
              <a:off x="6758826" y="4938512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  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4207D65-FA47-8D40-B3DC-34C292F9DB86}"/>
                </a:ext>
              </a:extLst>
            </p:cNvPr>
            <p:cNvCxnSpPr>
              <a:cxnSpLocks/>
              <a:stCxn id="58" idx="1"/>
              <a:endCxn id="56" idx="0"/>
            </p:cNvCxnSpPr>
            <p:nvPr/>
          </p:nvCxnSpPr>
          <p:spPr>
            <a:xfrm flipH="1">
              <a:off x="6330043" y="5116312"/>
              <a:ext cx="428783" cy="469171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creating corresponding red-black BST">
            <a:extLst>
              <a:ext uri="{FF2B5EF4-FFF2-40B4-BE49-F238E27FC236}">
                <a16:creationId xmlns:a16="http://schemas.microsoft.com/office/drawing/2014/main" id="{BD1148C2-F3A1-A04F-B691-E9159A3321F6}"/>
              </a:ext>
            </a:extLst>
          </p:cNvPr>
          <p:cNvGrpSpPr/>
          <p:nvPr/>
        </p:nvGrpSpPr>
        <p:grpSpPr>
          <a:xfrm>
            <a:off x="9995084" y="4291544"/>
            <a:ext cx="1242774" cy="1059353"/>
            <a:chOff x="9995084" y="4291544"/>
            <a:chExt cx="1242774" cy="1059353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40645823-2BFC-5F44-B938-CCDABB613CC0}"/>
                </a:ext>
              </a:extLst>
            </p:cNvPr>
            <p:cNvSpPr/>
            <p:nvPr/>
          </p:nvSpPr>
          <p:spPr>
            <a:xfrm>
              <a:off x="10773002" y="429154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   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4F90D092-6DB6-FD4D-9184-48437F93E7AA}"/>
                </a:ext>
              </a:extLst>
            </p:cNvPr>
            <p:cNvSpPr/>
            <p:nvPr/>
          </p:nvSpPr>
          <p:spPr>
            <a:xfrm>
              <a:off x="9995084" y="4995298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5A65DAE-0A27-9142-9250-53332256F8A1}"/>
                </a:ext>
              </a:extLst>
            </p:cNvPr>
            <p:cNvCxnSpPr>
              <a:cxnSpLocks/>
              <a:stCxn id="57" idx="1"/>
              <a:endCxn id="59" idx="0"/>
            </p:cNvCxnSpPr>
            <p:nvPr/>
          </p:nvCxnSpPr>
          <p:spPr>
            <a:xfrm flipH="1">
              <a:off x="10227512" y="4469344"/>
              <a:ext cx="545490" cy="52595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DEDD88A0-7297-8B4B-9D2B-579E862BBDC3}"/>
              </a:ext>
            </a:extLst>
          </p:cNvPr>
          <p:cNvSpPr/>
          <p:nvPr/>
        </p:nvSpPr>
        <p:spPr>
          <a:xfrm>
            <a:off x="5624423" y="4520242"/>
            <a:ext cx="2467154" cy="1742535"/>
          </a:xfrm>
          <a:custGeom>
            <a:avLst/>
            <a:gdLst>
              <a:gd name="connsiteX0" fmla="*/ 1000664 w 2467154"/>
              <a:gd name="connsiteY0" fmla="*/ 0 h 1742535"/>
              <a:gd name="connsiteX1" fmla="*/ 327803 w 2467154"/>
              <a:gd name="connsiteY1" fmla="*/ 621101 h 1742535"/>
              <a:gd name="connsiteX2" fmla="*/ 0 w 2467154"/>
              <a:gd name="connsiteY2" fmla="*/ 1483743 h 1742535"/>
              <a:gd name="connsiteX3" fmla="*/ 862641 w 2467154"/>
              <a:gd name="connsiteY3" fmla="*/ 1742535 h 1742535"/>
              <a:gd name="connsiteX4" fmla="*/ 1915064 w 2467154"/>
              <a:gd name="connsiteY4" fmla="*/ 1552754 h 1742535"/>
              <a:gd name="connsiteX5" fmla="*/ 2467154 w 2467154"/>
              <a:gd name="connsiteY5" fmla="*/ 1328467 h 1742535"/>
              <a:gd name="connsiteX6" fmla="*/ 2053086 w 2467154"/>
              <a:gd name="connsiteY6" fmla="*/ 448573 h 1742535"/>
              <a:gd name="connsiteX7" fmla="*/ 1000664 w 2467154"/>
              <a:gd name="connsiteY7" fmla="*/ 0 h 174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67154" h="1742535">
                <a:moveTo>
                  <a:pt x="1000664" y="0"/>
                </a:moveTo>
                <a:lnTo>
                  <a:pt x="327803" y="621101"/>
                </a:lnTo>
                <a:lnTo>
                  <a:pt x="0" y="1483743"/>
                </a:lnTo>
                <a:lnTo>
                  <a:pt x="862641" y="1742535"/>
                </a:lnTo>
                <a:lnTo>
                  <a:pt x="1915064" y="1552754"/>
                </a:lnTo>
                <a:lnTo>
                  <a:pt x="2467154" y="1328467"/>
                </a:lnTo>
                <a:lnTo>
                  <a:pt x="2053086" y="448573"/>
                </a:lnTo>
                <a:lnTo>
                  <a:pt x="10006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B3EC0A3-C169-EB4A-A9B8-223DE7080EA4}"/>
              </a:ext>
            </a:extLst>
          </p:cNvPr>
          <p:cNvSpPr/>
          <p:nvPr/>
        </p:nvSpPr>
        <p:spPr>
          <a:xfrm>
            <a:off x="9540815" y="3950898"/>
            <a:ext cx="2363638" cy="1656272"/>
          </a:xfrm>
          <a:custGeom>
            <a:avLst/>
            <a:gdLst>
              <a:gd name="connsiteX0" fmla="*/ 1500996 w 2363638"/>
              <a:gd name="connsiteY0" fmla="*/ 0 h 1656272"/>
              <a:gd name="connsiteX1" fmla="*/ 793630 w 2363638"/>
              <a:gd name="connsiteY1" fmla="*/ 552091 h 1656272"/>
              <a:gd name="connsiteX2" fmla="*/ 207034 w 2363638"/>
              <a:gd name="connsiteY2" fmla="*/ 1224951 h 1656272"/>
              <a:gd name="connsiteX3" fmla="*/ 0 w 2363638"/>
              <a:gd name="connsiteY3" fmla="*/ 1656272 h 1656272"/>
              <a:gd name="connsiteX4" fmla="*/ 1949570 w 2363638"/>
              <a:gd name="connsiteY4" fmla="*/ 1397479 h 1656272"/>
              <a:gd name="connsiteX5" fmla="*/ 2363638 w 2363638"/>
              <a:gd name="connsiteY5" fmla="*/ 810883 h 1656272"/>
              <a:gd name="connsiteX6" fmla="*/ 1500996 w 2363638"/>
              <a:gd name="connsiteY6" fmla="*/ 0 h 1656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638" h="1656272">
                <a:moveTo>
                  <a:pt x="1500996" y="0"/>
                </a:moveTo>
                <a:lnTo>
                  <a:pt x="793630" y="552091"/>
                </a:lnTo>
                <a:lnTo>
                  <a:pt x="207034" y="1224951"/>
                </a:lnTo>
                <a:lnTo>
                  <a:pt x="0" y="1656272"/>
                </a:lnTo>
                <a:lnTo>
                  <a:pt x="1949570" y="1397479"/>
                </a:lnTo>
                <a:lnTo>
                  <a:pt x="2363638" y="810883"/>
                </a:lnTo>
                <a:lnTo>
                  <a:pt x="1500996" y="0"/>
                </a:ln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990280E-0301-8848-8C8F-E3A0E1ADB8C7}"/>
              </a:ext>
            </a:extLst>
          </p:cNvPr>
          <p:cNvSpPr/>
          <p:nvPr/>
        </p:nvSpPr>
        <p:spPr>
          <a:xfrm>
            <a:off x="6918385" y="3191774"/>
            <a:ext cx="2277373" cy="1725283"/>
          </a:xfrm>
          <a:custGeom>
            <a:avLst/>
            <a:gdLst>
              <a:gd name="connsiteX0" fmla="*/ 1035170 w 2277373"/>
              <a:gd name="connsiteY0" fmla="*/ 0 h 1725283"/>
              <a:gd name="connsiteX1" fmla="*/ 0 w 2277373"/>
              <a:gd name="connsiteY1" fmla="*/ 983411 h 1725283"/>
              <a:gd name="connsiteX2" fmla="*/ 914400 w 2277373"/>
              <a:gd name="connsiteY2" fmla="*/ 1725283 h 1725283"/>
              <a:gd name="connsiteX3" fmla="*/ 2277373 w 2277373"/>
              <a:gd name="connsiteY3" fmla="*/ 638354 h 1725283"/>
              <a:gd name="connsiteX4" fmla="*/ 2053087 w 2277373"/>
              <a:gd name="connsiteY4" fmla="*/ 17252 h 1725283"/>
              <a:gd name="connsiteX5" fmla="*/ 1035170 w 2277373"/>
              <a:gd name="connsiteY5" fmla="*/ 0 h 172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7373" h="1725283">
                <a:moveTo>
                  <a:pt x="1035170" y="0"/>
                </a:moveTo>
                <a:lnTo>
                  <a:pt x="0" y="983411"/>
                </a:lnTo>
                <a:lnTo>
                  <a:pt x="914400" y="1725283"/>
                </a:lnTo>
                <a:lnTo>
                  <a:pt x="2277373" y="638354"/>
                </a:lnTo>
                <a:lnTo>
                  <a:pt x="2053087" y="17252"/>
                </a:lnTo>
                <a:lnTo>
                  <a:pt x="1035170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615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45" name="Group 44" descr="Example of a full 2-3 search tree">
            <a:extLst>
              <a:ext uri="{FF2B5EF4-FFF2-40B4-BE49-F238E27FC236}">
                <a16:creationId xmlns:a16="http://schemas.microsoft.com/office/drawing/2014/main" id="{D950E63E-BDC2-EF4C-AC77-94428FAC6CCB}"/>
              </a:ext>
            </a:extLst>
          </p:cNvPr>
          <p:cNvGrpSpPr/>
          <p:nvPr/>
        </p:nvGrpSpPr>
        <p:grpSpPr>
          <a:xfrm>
            <a:off x="383058" y="2998415"/>
            <a:ext cx="4720417" cy="2314989"/>
            <a:chOff x="466209" y="2409524"/>
            <a:chExt cx="4720417" cy="231498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46C572D-8808-F345-9B0C-BBADD9999D6E}"/>
                </a:ext>
              </a:extLst>
            </p:cNvPr>
            <p:cNvSpPr/>
            <p:nvPr/>
          </p:nvSpPr>
          <p:spPr>
            <a:xfrm>
              <a:off x="4018226" y="3764521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X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5B105A-CCCA-E640-98C1-8B3CAAEEA00B}"/>
                </a:ext>
              </a:extLst>
            </p:cNvPr>
            <p:cNvCxnSpPr>
              <a:cxnSpLocks/>
              <a:stCxn id="34" idx="1"/>
              <a:endCxn id="37" idx="0"/>
            </p:cNvCxnSpPr>
            <p:nvPr/>
          </p:nvCxnSpPr>
          <p:spPr>
            <a:xfrm flipH="1">
              <a:off x="3590060" y="3158814"/>
              <a:ext cx="236873" cy="60660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E7FC411-E328-4D40-8573-BDB34A293D11}"/>
                </a:ext>
              </a:extLst>
            </p:cNvPr>
            <p:cNvCxnSpPr>
              <a:cxnSpLocks/>
              <a:stCxn id="22" idx="3"/>
              <a:endCxn id="36" idx="0"/>
            </p:cNvCxnSpPr>
            <p:nvPr/>
          </p:nvCxnSpPr>
          <p:spPr>
            <a:xfrm>
              <a:off x="2652601" y="3155639"/>
              <a:ext cx="276865" cy="6097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5E8C400-3F7F-A947-AE42-7AB965BFBCB0}"/>
                </a:ext>
              </a:extLst>
            </p:cNvPr>
            <p:cNvCxnSpPr>
              <a:cxnSpLocks/>
              <a:stCxn id="34" idx="3"/>
              <a:endCxn id="4" idx="0"/>
            </p:cNvCxnSpPr>
            <p:nvPr/>
          </p:nvCxnSpPr>
          <p:spPr>
            <a:xfrm>
              <a:off x="4291789" y="3158814"/>
              <a:ext cx="310637" cy="6057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E24DD0-3138-7F4A-A444-7D6BBBA6AF65}"/>
                </a:ext>
              </a:extLst>
            </p:cNvPr>
            <p:cNvSpPr/>
            <p:nvPr/>
          </p:nvSpPr>
          <p:spPr>
            <a:xfrm>
              <a:off x="1484201" y="2977839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  J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FDD0AC-99B7-A948-9003-305D0D11F1FA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1150110" y="3155639"/>
              <a:ext cx="334091" cy="53528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543D68-48D3-CB46-8811-C48DA8C312D8}"/>
                </a:ext>
              </a:extLst>
            </p:cNvPr>
            <p:cNvCxnSpPr>
              <a:cxnSpLocks/>
              <a:stCxn id="33" idx="3"/>
              <a:endCxn id="34" idx="0"/>
            </p:cNvCxnSpPr>
            <p:nvPr/>
          </p:nvCxnSpPr>
          <p:spPr>
            <a:xfrm>
              <a:off x="3454399" y="2587324"/>
              <a:ext cx="604962" cy="39369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1BF4A7-92DC-934B-916B-5D32BDD52AA8}"/>
                </a:ext>
              </a:extLst>
            </p:cNvPr>
            <p:cNvCxnSpPr>
              <a:cxnSpLocks/>
              <a:stCxn id="33" idx="1"/>
              <a:endCxn id="22" idx="0"/>
            </p:cNvCxnSpPr>
            <p:nvPr/>
          </p:nvCxnSpPr>
          <p:spPr>
            <a:xfrm flipH="1">
              <a:off x="2068401" y="2587324"/>
              <a:ext cx="921142" cy="3905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F52FEEF-D148-CF47-81D1-B1D29C5CDE45}"/>
                </a:ext>
              </a:extLst>
            </p:cNvPr>
            <p:cNvSpPr/>
            <p:nvPr/>
          </p:nvSpPr>
          <p:spPr>
            <a:xfrm>
              <a:off x="466209" y="3690923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 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3AD0E3-9696-7F46-A805-3073FC668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199005" y="4355181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2-3 search tree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5FC645E-A575-E947-9469-E0E02DAD3FB6}"/>
                </a:ext>
              </a:extLst>
            </p:cNvPr>
            <p:cNvSpPr/>
            <p:nvPr/>
          </p:nvSpPr>
          <p:spPr>
            <a:xfrm>
              <a:off x="2989543" y="240952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  </a:t>
              </a:r>
            </a:p>
          </p:txBody>
        </p:sp>
        <p:sp>
          <p:nvSpPr>
            <p:cNvPr id="34" name="Rounded Rectangle 33" descr="2-3 tree example">
              <a:extLst>
                <a:ext uri="{FF2B5EF4-FFF2-40B4-BE49-F238E27FC236}">
                  <a16:creationId xmlns:a16="http://schemas.microsoft.com/office/drawing/2014/main" id="{9734EE8F-3927-084F-A4E8-F73FFC6FE41F}"/>
                </a:ext>
              </a:extLst>
            </p:cNvPr>
            <p:cNvSpPr/>
            <p:nvPr/>
          </p:nvSpPr>
          <p:spPr>
            <a:xfrm>
              <a:off x="3826933" y="2981014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   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769E015-E045-5E45-8F4D-C34189438F99}"/>
                </a:ext>
              </a:extLst>
            </p:cNvPr>
            <p:cNvSpPr/>
            <p:nvPr/>
          </p:nvSpPr>
          <p:spPr>
            <a:xfrm>
              <a:off x="1839103" y="3762340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  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E01D6FE-D48B-124E-BEAC-871025E4A6DF}"/>
                </a:ext>
              </a:extLst>
            </p:cNvPr>
            <p:cNvSpPr/>
            <p:nvPr/>
          </p:nvSpPr>
          <p:spPr>
            <a:xfrm>
              <a:off x="2697038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   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B195CF4A-C402-1243-BCA4-A2E030DFA989}"/>
                </a:ext>
              </a:extLst>
            </p:cNvPr>
            <p:cNvSpPr/>
            <p:nvPr/>
          </p:nvSpPr>
          <p:spPr>
            <a:xfrm>
              <a:off x="3357632" y="376541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   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632133-BCA7-734E-8DA8-331D92D14FB7}"/>
                </a:ext>
              </a:extLst>
            </p:cNvPr>
            <p:cNvCxnSpPr>
              <a:cxnSpLocks/>
              <a:stCxn id="22" idx="2"/>
              <a:endCxn id="35" idx="0"/>
            </p:cNvCxnSpPr>
            <p:nvPr/>
          </p:nvCxnSpPr>
          <p:spPr>
            <a:xfrm>
              <a:off x="2068401" y="3333438"/>
              <a:ext cx="3130" cy="4289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 descr="horizontaly visualised red-black BST">
            <a:extLst>
              <a:ext uri="{FF2B5EF4-FFF2-40B4-BE49-F238E27FC236}">
                <a16:creationId xmlns:a16="http://schemas.microsoft.com/office/drawing/2014/main" id="{731F26A2-A3BB-CB4F-AC55-8DD660699ECD}"/>
              </a:ext>
            </a:extLst>
          </p:cNvPr>
          <p:cNvGrpSpPr/>
          <p:nvPr/>
        </p:nvGrpSpPr>
        <p:grpSpPr>
          <a:xfrm>
            <a:off x="5941179" y="3074402"/>
            <a:ext cx="5972828" cy="2399393"/>
            <a:chOff x="5941179" y="3074402"/>
            <a:chExt cx="5972828" cy="239939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6BD5B5-B778-2A40-AE35-4C94309C7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7635108" y="5104463"/>
              <a:ext cx="3211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Corresponding red-black BST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88E68A1-E8D0-254A-A478-82207A4B8A14}"/>
                </a:ext>
              </a:extLst>
            </p:cNvPr>
            <p:cNvGrpSpPr/>
            <p:nvPr/>
          </p:nvGrpSpPr>
          <p:grpSpPr>
            <a:xfrm>
              <a:off x="5941179" y="3074402"/>
              <a:ext cx="5972828" cy="1632428"/>
              <a:chOff x="5502395" y="3057467"/>
              <a:chExt cx="5972828" cy="1632428"/>
            </a:xfrm>
          </p:grpSpPr>
          <p:grpSp>
            <p:nvGrpSpPr>
              <p:cNvPr id="63" name="Group 62" descr="creating corresponding red-black BST">
                <a:extLst>
                  <a:ext uri="{FF2B5EF4-FFF2-40B4-BE49-F238E27FC236}">
                    <a16:creationId xmlns:a16="http://schemas.microsoft.com/office/drawing/2014/main" id="{7F729EDE-B857-4645-B286-21A61298327F}"/>
                  </a:ext>
                </a:extLst>
              </p:cNvPr>
              <p:cNvGrpSpPr/>
              <p:nvPr/>
            </p:nvGrpSpPr>
            <p:grpSpPr>
              <a:xfrm>
                <a:off x="8468980" y="3057467"/>
                <a:ext cx="2773815" cy="1577944"/>
                <a:chOff x="8468980" y="3057467"/>
                <a:chExt cx="2773815" cy="1577944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042D8CE6-3211-EF40-A68E-F29BC7AA0FE8}"/>
                    </a:ext>
                  </a:extLst>
                </p:cNvPr>
                <p:cNvCxnSpPr>
                  <a:cxnSpLocks/>
                  <a:stCxn id="50" idx="3"/>
                  <a:endCxn id="57" idx="0"/>
                </p:cNvCxnSpPr>
                <p:nvPr/>
              </p:nvCxnSpPr>
              <p:spPr>
                <a:xfrm>
                  <a:off x="10692368" y="3806757"/>
                  <a:ext cx="550427" cy="473056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3C274B0-7252-A84A-B4BA-AA00DCCA7350}"/>
                    </a:ext>
                  </a:extLst>
                </p:cNvPr>
                <p:cNvCxnSpPr>
                  <a:cxnSpLocks/>
                  <a:stCxn id="49" idx="3"/>
                  <a:endCxn id="50" idx="0"/>
                </p:cNvCxnSpPr>
                <p:nvPr/>
              </p:nvCxnSpPr>
              <p:spPr>
                <a:xfrm>
                  <a:off x="9854978" y="3235267"/>
                  <a:ext cx="604962" cy="39369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F21664D-B829-4A47-BD0D-626D75423356}"/>
                    </a:ext>
                  </a:extLst>
                </p:cNvPr>
                <p:cNvCxnSpPr>
                  <a:cxnSpLocks/>
                  <a:stCxn id="49" idx="1"/>
                </p:cNvCxnSpPr>
                <p:nvPr/>
              </p:nvCxnSpPr>
              <p:spPr>
                <a:xfrm flipH="1">
                  <a:off x="8468980" y="3235267"/>
                  <a:ext cx="921142" cy="3905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Rounded Rectangle 48">
                  <a:extLst>
                    <a:ext uri="{FF2B5EF4-FFF2-40B4-BE49-F238E27FC236}">
                      <a16:creationId xmlns:a16="http://schemas.microsoft.com/office/drawing/2014/main" id="{7895E982-F4E3-EC4A-BED2-30DE0BA4C781}"/>
                    </a:ext>
                  </a:extLst>
                </p:cNvPr>
                <p:cNvSpPr/>
                <p:nvPr/>
              </p:nvSpPr>
              <p:spPr>
                <a:xfrm>
                  <a:off x="9390122" y="305746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   </a:t>
                  </a:r>
                </a:p>
              </p:txBody>
            </p:sp>
            <p:sp>
              <p:nvSpPr>
                <p:cNvPr id="50" name="Rounded Rectangle 49">
                  <a:extLst>
                    <a:ext uri="{FF2B5EF4-FFF2-40B4-BE49-F238E27FC236}">
                      <a16:creationId xmlns:a16="http://schemas.microsoft.com/office/drawing/2014/main" id="{7A141229-B77C-3F45-806D-91DDD033BAD8}"/>
                    </a:ext>
                  </a:extLst>
                </p:cNvPr>
                <p:cNvSpPr/>
                <p:nvPr/>
              </p:nvSpPr>
              <p:spPr>
                <a:xfrm>
                  <a:off x="10227512" y="362895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   </a:t>
                  </a:r>
                </a:p>
              </p:txBody>
            </p:sp>
            <p:sp>
              <p:nvSpPr>
                <p:cNvPr id="53" name="Rounded Rectangle 52">
                  <a:extLst>
                    <a:ext uri="{FF2B5EF4-FFF2-40B4-BE49-F238E27FC236}">
                      <a16:creationId xmlns:a16="http://schemas.microsoft.com/office/drawing/2014/main" id="{636102AD-C34B-DE48-9AB1-912C7C7BEA33}"/>
                    </a:ext>
                  </a:extLst>
                </p:cNvPr>
                <p:cNvSpPr/>
                <p:nvPr/>
              </p:nvSpPr>
              <p:spPr>
                <a:xfrm>
                  <a:off x="9567207" y="42798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   </a:t>
                  </a:r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102E5A2-37DC-564D-8301-16A5A3206FA7}"/>
                    </a:ext>
                  </a:extLst>
                </p:cNvPr>
                <p:cNvCxnSpPr>
                  <a:cxnSpLocks/>
                  <a:stCxn id="50" idx="1"/>
                  <a:endCxn id="53" idx="0"/>
                </p:cNvCxnSpPr>
                <p:nvPr/>
              </p:nvCxnSpPr>
              <p:spPr>
                <a:xfrm flipH="1">
                  <a:off x="9799635" y="3806757"/>
                  <a:ext cx="427877" cy="47305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E143314-E9D2-1D40-9F28-4E262543BA7B}"/>
                  </a:ext>
                </a:extLst>
              </p:cNvPr>
              <p:cNvCxnSpPr>
                <a:cxnSpLocks/>
                <a:stCxn id="52" idx="1"/>
                <a:endCxn id="51" idx="3"/>
              </p:cNvCxnSpPr>
              <p:nvPr/>
            </p:nvCxnSpPr>
            <p:spPr>
              <a:xfrm flipH="1" flipV="1">
                <a:off x="7715678" y="3803582"/>
                <a:ext cx="516348" cy="11252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CCD8D93F-0BC8-2B43-96CC-2F0DCD02A483}"/>
                  </a:ext>
                </a:extLst>
              </p:cNvPr>
              <p:cNvSpPr/>
              <p:nvPr/>
            </p:nvSpPr>
            <p:spPr>
              <a:xfrm>
                <a:off x="7250822" y="3625782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  </a:t>
                </a:r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C8A457E9-158D-C844-B4E7-60BC3AC21347}"/>
                  </a:ext>
                </a:extLst>
              </p:cNvPr>
              <p:cNvSpPr/>
              <p:nvPr/>
            </p:nvSpPr>
            <p:spPr>
              <a:xfrm>
                <a:off x="8232026" y="3637034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   </a:t>
                </a: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E90F3599-17F3-484F-86B8-A4FF5AF2BE7D}"/>
                  </a:ext>
                </a:extLst>
              </p:cNvPr>
              <p:cNvSpPr/>
              <p:nvPr/>
            </p:nvSpPr>
            <p:spPr>
              <a:xfrm>
                <a:off x="7625210" y="4334295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   </a:t>
                </a: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6A674283-80ED-6E48-97A6-6BBD9D788852}"/>
                  </a:ext>
                </a:extLst>
              </p:cNvPr>
              <p:cNvSpPr/>
              <p:nvPr/>
            </p:nvSpPr>
            <p:spPr>
              <a:xfrm>
                <a:off x="8674474" y="4291544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   </a:t>
                </a:r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AC5D3F4-F37A-2446-AC49-61C923A0AF0F}"/>
                  </a:ext>
                </a:extLst>
              </p:cNvPr>
              <p:cNvCxnSpPr>
                <a:cxnSpLocks/>
                <a:stCxn id="52" idx="3"/>
                <a:endCxn id="55" idx="0"/>
              </p:cNvCxnSpPr>
              <p:nvPr/>
            </p:nvCxnSpPr>
            <p:spPr>
              <a:xfrm>
                <a:off x="8696882" y="3814834"/>
                <a:ext cx="210020" cy="4767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79ED426-07A2-9849-9F76-6CC358239AB6}"/>
                  </a:ext>
                </a:extLst>
              </p:cNvPr>
              <p:cNvCxnSpPr>
                <a:cxnSpLocks/>
                <a:endCxn id="54" idx="0"/>
              </p:cNvCxnSpPr>
              <p:nvPr/>
            </p:nvCxnSpPr>
            <p:spPr>
              <a:xfrm>
                <a:off x="7734278" y="3800736"/>
                <a:ext cx="123360" cy="53355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532C8B0-84D7-D245-9F07-7758F277038C}"/>
                  </a:ext>
                </a:extLst>
              </p:cNvPr>
              <p:cNvCxnSpPr>
                <a:cxnSpLocks/>
                <a:stCxn id="51" idx="1"/>
              </p:cNvCxnSpPr>
              <p:nvPr/>
            </p:nvCxnSpPr>
            <p:spPr>
              <a:xfrm flipH="1">
                <a:off x="6666622" y="3803582"/>
                <a:ext cx="584200" cy="51810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9D081A7-AEB2-8C4C-A5E4-A3262A8E4B96}"/>
                  </a:ext>
                </a:extLst>
              </p:cNvPr>
              <p:cNvGrpSpPr/>
              <p:nvPr/>
            </p:nvGrpSpPr>
            <p:grpSpPr>
              <a:xfrm>
                <a:off x="5502395" y="4334296"/>
                <a:ext cx="1346385" cy="355599"/>
                <a:chOff x="5877297" y="4938512"/>
                <a:chExt cx="1346385" cy="355599"/>
              </a:xfrm>
            </p:grpSpPr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DD742261-1DCB-7A4F-AD91-0C0CDB6F9757}"/>
                    </a:ext>
                  </a:extLst>
                </p:cNvPr>
                <p:cNvSpPr/>
                <p:nvPr/>
              </p:nvSpPr>
              <p:spPr>
                <a:xfrm>
                  <a:off x="5877297" y="49385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   </a:t>
                  </a:r>
                </a:p>
              </p:txBody>
            </p:sp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88B44B60-AB0A-8F47-96DB-076E343F8E17}"/>
                    </a:ext>
                  </a:extLst>
                </p:cNvPr>
                <p:cNvSpPr/>
                <p:nvPr/>
              </p:nvSpPr>
              <p:spPr>
                <a:xfrm>
                  <a:off x="6758826" y="49385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4207D65-FA47-8D40-B3DC-34C292F9DB86}"/>
                    </a:ext>
                  </a:extLst>
                </p:cNvPr>
                <p:cNvCxnSpPr>
                  <a:cxnSpLocks/>
                  <a:stCxn id="58" idx="1"/>
                  <a:endCxn id="56" idx="3"/>
                </p:cNvCxnSpPr>
                <p:nvPr/>
              </p:nvCxnSpPr>
              <p:spPr>
                <a:xfrm flipH="1">
                  <a:off x="6342153" y="5116312"/>
                  <a:ext cx="416673" cy="0"/>
                </a:xfrm>
                <a:prstGeom prst="line">
                  <a:avLst/>
                </a:prstGeom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0645823-2BFC-5F44-B938-CCDABB613CC0}"/>
                  </a:ext>
                </a:extLst>
              </p:cNvPr>
              <p:cNvSpPr/>
              <p:nvPr/>
            </p:nvSpPr>
            <p:spPr>
              <a:xfrm>
                <a:off x="11010367" y="427981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  </a:t>
                </a: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4F90D092-6DB6-FD4D-9184-48437F93E7AA}"/>
                  </a:ext>
                </a:extLst>
              </p:cNvPr>
              <p:cNvSpPr/>
              <p:nvPr/>
            </p:nvSpPr>
            <p:spPr>
              <a:xfrm>
                <a:off x="10252690" y="4287881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  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5A65DAE-0A27-9142-9250-53332256F8A1}"/>
                  </a:ext>
                </a:extLst>
              </p:cNvPr>
              <p:cNvCxnSpPr>
                <a:cxnSpLocks/>
                <a:stCxn id="57" idx="1"/>
                <a:endCxn id="59" idx="3"/>
              </p:cNvCxnSpPr>
              <p:nvPr/>
            </p:nvCxnSpPr>
            <p:spPr>
              <a:xfrm flipH="1">
                <a:off x="10717546" y="4457613"/>
                <a:ext cx="292821" cy="8068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75887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a </a:t>
            </a:r>
            <a:r>
              <a:rPr lang="en-US" dirty="0">
                <a:highlight>
                  <a:srgbClr val="C0C0C0"/>
                </a:highlight>
              </a:rPr>
              <a:t>left-leaning red-black (LLRB) BST</a:t>
            </a:r>
            <a:r>
              <a:rPr lang="en-US" dirty="0"/>
              <a:t>: a BST such that</a:t>
            </a:r>
          </a:p>
          <a:p>
            <a:pPr lvl="1"/>
            <a:r>
              <a:rPr lang="en-US" dirty="0"/>
              <a:t>Every path from the root to null links has the same number of black links</a:t>
            </a:r>
          </a:p>
          <a:p>
            <a:pPr lvl="1"/>
            <a:r>
              <a:rPr lang="en-US" dirty="0"/>
              <a:t>No node has 2 red links connected to it</a:t>
            </a:r>
          </a:p>
          <a:p>
            <a:pPr lvl="1"/>
            <a:r>
              <a:rPr lang="en-US" dirty="0"/>
              <a:t>Red links lean left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Key property</a:t>
            </a:r>
            <a:r>
              <a:rPr lang="en-US" dirty="0"/>
              <a:t>: there exists a 1-1 correspondence between a 2-3 search tree and a LLRB BST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5D561-38D9-CD4F-8622-8238D5F481D9}"/>
              </a:ext>
            </a:extLst>
          </p:cNvPr>
          <p:cNvSpPr txBox="1"/>
          <p:nvPr/>
        </p:nvSpPr>
        <p:spPr>
          <a:xfrm>
            <a:off x="8839200" y="3228945"/>
            <a:ext cx="26068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perfect black balance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347A97-DB75-4F48-B93E-CB18B2A47032}"/>
              </a:ext>
            </a:extLst>
          </p:cNvPr>
          <p:cNvSpPr txBox="1"/>
          <p:nvPr/>
        </p:nvSpPr>
        <p:spPr>
          <a:xfrm>
            <a:off x="4571999" y="4053017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else that would be a 4-node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8C0F42-388E-E64A-8232-AA2E1BF72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8585200" y="2421467"/>
            <a:ext cx="1557402" cy="807478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7ACAF0E-52E7-A043-875D-7DA124749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5130800" y="2804983"/>
            <a:ext cx="1256760" cy="1248034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279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operation – get(key): exactly the same as for BST (ignore color)</a:t>
            </a:r>
          </a:p>
          <a:p>
            <a:pPr lvl="1"/>
            <a:r>
              <a:rPr lang="en-US" dirty="0"/>
              <a:t>If key == </a:t>
            </a:r>
            <a:r>
              <a:rPr lang="en-US" dirty="0" err="1"/>
              <a:t>node.key</a:t>
            </a:r>
            <a:r>
              <a:rPr lang="en-US" dirty="0"/>
              <a:t>, hit</a:t>
            </a:r>
          </a:p>
          <a:p>
            <a:pPr lvl="1"/>
            <a:r>
              <a:rPr lang="en-US" dirty="0"/>
              <a:t>If key &lt; </a:t>
            </a:r>
            <a:r>
              <a:rPr lang="en-US" dirty="0" err="1"/>
              <a:t>node.key</a:t>
            </a:r>
            <a:r>
              <a:rPr lang="en-US" dirty="0"/>
              <a:t>, go left</a:t>
            </a:r>
          </a:p>
          <a:p>
            <a:pPr lvl="1"/>
            <a:r>
              <a:rPr lang="en-US" dirty="0"/>
              <a:t>If key &gt; </a:t>
            </a:r>
            <a:r>
              <a:rPr lang="en-US" dirty="0" err="1"/>
              <a:t>node.key</a:t>
            </a:r>
            <a:r>
              <a:rPr lang="en-US" dirty="0"/>
              <a:t>, go right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0531B-6FED-8040-93D1-F6248203265F}"/>
              </a:ext>
            </a:extLst>
          </p:cNvPr>
          <p:cNvSpPr txBox="1"/>
          <p:nvPr/>
        </p:nvSpPr>
        <p:spPr>
          <a:xfrm>
            <a:off x="992886" y="3913020"/>
            <a:ext cx="462819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class Node: </a:t>
            </a:r>
          </a:p>
          <a:p>
            <a:r>
              <a:rPr lang="en-GB" sz="1600" dirty="0">
                <a:latin typeface="Courier" pitchFamily="2" charset="0"/>
              </a:rPr>
              <a:t>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__(self, key, value):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= key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self.left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self.right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get(self, key): …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put(self, key, value): …</a:t>
            </a:r>
          </a:p>
          <a:p>
            <a:endParaRPr lang="en-GB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1F276-373A-A140-828E-FAFD4647F072}"/>
              </a:ext>
            </a:extLst>
          </p:cNvPr>
          <p:cNvSpPr txBox="1"/>
          <p:nvPr/>
        </p:nvSpPr>
        <p:spPr>
          <a:xfrm>
            <a:off x="5937420" y="3913020"/>
            <a:ext cx="5121915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def get(self, key):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if 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== key: </a:t>
            </a:r>
          </a:p>
          <a:p>
            <a:r>
              <a:rPr lang="en-GB" sz="1600" dirty="0">
                <a:latin typeface="Courier" pitchFamily="2" charset="0"/>
              </a:rPr>
              <a:t>        return 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key &lt; 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and </a:t>
            </a:r>
            <a:r>
              <a:rPr lang="en-GB" sz="1600" dirty="0" err="1">
                <a:latin typeface="Courier" pitchFamily="2" charset="0"/>
              </a:rPr>
              <a:t>self.left</a:t>
            </a:r>
            <a:r>
              <a:rPr lang="en-GB" sz="1600" dirty="0">
                <a:latin typeface="Courier" pitchFamily="2" charset="0"/>
              </a:rPr>
              <a:t>:</a:t>
            </a:r>
          </a:p>
          <a:p>
            <a:r>
              <a:rPr lang="en-GB" sz="1600" dirty="0">
                <a:latin typeface="Courier" pitchFamily="2" charset="0"/>
              </a:rPr>
              <a:t>	 return </a:t>
            </a:r>
            <a:r>
              <a:rPr lang="en-GB" sz="1600" dirty="0" err="1">
                <a:latin typeface="Courier" pitchFamily="2" charset="0"/>
              </a:rPr>
              <a:t>self.left.get</a:t>
            </a:r>
            <a:r>
              <a:rPr lang="en-GB" sz="1600" dirty="0">
                <a:latin typeface="Courier" pitchFamily="2" charset="0"/>
              </a:rPr>
              <a:t>(key) 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key &gt; 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and </a:t>
            </a:r>
            <a:r>
              <a:rPr lang="en-GB" sz="1600" dirty="0" err="1">
                <a:latin typeface="Courier" pitchFamily="2" charset="0"/>
              </a:rPr>
              <a:t>self.right</a:t>
            </a:r>
            <a:r>
              <a:rPr lang="en-GB" sz="1600" dirty="0">
                <a:latin typeface="Courier" pitchFamily="2" charset="0"/>
              </a:rPr>
              <a:t>: </a:t>
            </a:r>
          </a:p>
          <a:p>
            <a:r>
              <a:rPr lang="en-GB" sz="1600" dirty="0">
                <a:latin typeface="Courier" pitchFamily="2" charset="0"/>
              </a:rPr>
              <a:t>        return </a:t>
            </a:r>
            <a:r>
              <a:rPr lang="en-GB" sz="1600" dirty="0" err="1">
                <a:latin typeface="Courier" pitchFamily="2" charset="0"/>
              </a:rPr>
              <a:t>self.right.get</a:t>
            </a:r>
            <a:r>
              <a:rPr lang="en-GB" sz="1600" dirty="0">
                <a:latin typeface="Courier" pitchFamily="2" charset="0"/>
              </a:rPr>
              <a:t>(key) </a:t>
            </a:r>
          </a:p>
          <a:p>
            <a:r>
              <a:rPr lang="en-GB" sz="1600" dirty="0">
                <a:latin typeface="Courier" pitchFamily="2" charset="0"/>
              </a:rPr>
              <a:t>    else: </a:t>
            </a:r>
          </a:p>
          <a:p>
            <a:r>
              <a:rPr lang="en-GB" sz="1600" dirty="0">
                <a:latin typeface="Courier" pitchFamily="2" charset="0"/>
              </a:rPr>
              <a:t>        return None</a:t>
            </a:r>
          </a:p>
          <a:p>
            <a:endParaRPr lang="en-GB" sz="1600" dirty="0">
              <a:latin typeface="Courier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C6ED75-C93A-F745-837C-06322A84E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213600" y="2032000"/>
            <a:ext cx="2150533" cy="91298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47D798-281E-DE49-9436-8CBA776E3C2E}"/>
              </a:ext>
            </a:extLst>
          </p:cNvPr>
          <p:cNvSpPr txBox="1"/>
          <p:nvPr/>
        </p:nvSpPr>
        <p:spPr>
          <a:xfrm>
            <a:off x="6942667" y="2944980"/>
            <a:ext cx="486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runs faster because of better tree balance</a:t>
            </a:r>
          </a:p>
        </p:txBody>
      </p:sp>
    </p:spTree>
    <p:extLst>
      <p:ext uri="{BB962C8B-B14F-4D97-AF65-F5344CB8AC3E}">
        <p14:creationId xmlns:p14="http://schemas.microsoft.com/office/powerpoint/2010/main" val="1057195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color representation</a:t>
            </a:r>
          </a:p>
          <a:p>
            <a:pPr lvl="1"/>
            <a:r>
              <a:rPr lang="en-US" dirty="0"/>
              <a:t>Each node is pointed to by precisely one link (from its parent) </a:t>
            </a:r>
            <a:r>
              <a:rPr lang="en-US" dirty="0">
                <a:sym typeface="Wingdings" pitchFamily="2" charset="2"/>
              </a:rPr>
              <a:t> Can encode link color in child node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0531B-6FED-8040-93D1-F6248203265F}"/>
              </a:ext>
            </a:extLst>
          </p:cNvPr>
          <p:cNvSpPr txBox="1"/>
          <p:nvPr/>
        </p:nvSpPr>
        <p:spPr>
          <a:xfrm>
            <a:off x="992886" y="3066353"/>
            <a:ext cx="462819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class Node: </a:t>
            </a:r>
          </a:p>
          <a:p>
            <a:r>
              <a:rPr lang="en-GB" sz="1600" dirty="0">
                <a:latin typeface="Courier" pitchFamily="2" charset="0"/>
              </a:rPr>
              <a:t>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__(self, key, value):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= key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self.left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self.right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self.color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 = BLACK </a:t>
            </a:r>
          </a:p>
          <a:p>
            <a:r>
              <a:rPr lang="en-GB" sz="1600" dirty="0">
                <a:latin typeface="Courier" pitchFamily="2" charset="0"/>
              </a:rPr>
              <a:t>       </a:t>
            </a:r>
          </a:p>
          <a:p>
            <a:r>
              <a:rPr lang="en-GB" sz="1600" dirty="0">
                <a:latin typeface="Courier" pitchFamily="2" charset="0"/>
              </a:rPr>
              <a:t>    def get(self, key): …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put(self, key, value):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DE374-20AF-C94D-937C-614671276B40}"/>
              </a:ext>
            </a:extLst>
          </p:cNvPr>
          <p:cNvSpPr txBox="1"/>
          <p:nvPr/>
        </p:nvSpPr>
        <p:spPr>
          <a:xfrm>
            <a:off x="6570926" y="4066286"/>
            <a:ext cx="54681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attribute representing color of incoming link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BLACK  false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Null links are BLACK</a:t>
            </a:r>
            <a:endParaRPr lang="en-US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AFF319-1D14-1543-80C2-9BB984595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1"/>
          </p:cNvCxnSpPr>
          <p:nvPr/>
        </p:nvCxnSpPr>
        <p:spPr>
          <a:xfrm flipH="1">
            <a:off x="4318000" y="4666451"/>
            <a:ext cx="2252926" cy="5794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202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color representation</a:t>
            </a:r>
          </a:p>
          <a:p>
            <a:pPr lvl="1"/>
            <a:r>
              <a:rPr lang="en-US" dirty="0"/>
              <a:t>Each node is pointed to by precisely one link (from its parent) </a:t>
            </a:r>
            <a:r>
              <a:rPr lang="en-US" dirty="0">
                <a:sym typeface="Wingdings" pitchFamily="2" charset="2"/>
              </a:rPr>
              <a:t> Can encode link color in child node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0531B-6FED-8040-93D1-F6248203265F}"/>
              </a:ext>
            </a:extLst>
          </p:cNvPr>
          <p:cNvSpPr txBox="1"/>
          <p:nvPr/>
        </p:nvSpPr>
        <p:spPr>
          <a:xfrm>
            <a:off x="992886" y="3066353"/>
            <a:ext cx="462819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class Node: </a:t>
            </a:r>
          </a:p>
          <a:p>
            <a:r>
              <a:rPr lang="en-GB" sz="1600" dirty="0">
                <a:latin typeface="Courier" pitchFamily="2" charset="0"/>
              </a:rPr>
              <a:t>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__(self, key, value):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= key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self.left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latin typeface="Courier" pitchFamily="2" charset="0"/>
              </a:rPr>
              <a:t>self.right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r>
              <a:rPr lang="en-GB" sz="1600" dirty="0">
                <a:latin typeface="Courier" pitchFamily="2" charset="0"/>
              </a:rPr>
              <a:t>	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self.color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 = BLACK </a:t>
            </a:r>
          </a:p>
          <a:p>
            <a:r>
              <a:rPr lang="en-GB" sz="1600" dirty="0">
                <a:latin typeface="Courier" pitchFamily="2" charset="0"/>
              </a:rPr>
              <a:t>       </a:t>
            </a:r>
          </a:p>
          <a:p>
            <a:r>
              <a:rPr lang="en-GB" sz="1600" dirty="0">
                <a:latin typeface="Courier" pitchFamily="2" charset="0"/>
              </a:rPr>
              <a:t>    def get(self, key): …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put(self, key, value): …</a:t>
            </a:r>
          </a:p>
        </p:txBody>
      </p:sp>
      <p:grpSp>
        <p:nvGrpSpPr>
          <p:cNvPr id="35" name="Group 34" descr="example red-black BST to match the companion code">
            <a:extLst>
              <a:ext uri="{FF2B5EF4-FFF2-40B4-BE49-F238E27FC236}">
                <a16:creationId xmlns:a16="http://schemas.microsoft.com/office/drawing/2014/main" id="{406C2D63-64FE-B74A-9A7B-FFC5744CB5D1}"/>
              </a:ext>
            </a:extLst>
          </p:cNvPr>
          <p:cNvGrpSpPr/>
          <p:nvPr/>
        </p:nvGrpSpPr>
        <p:grpSpPr>
          <a:xfrm>
            <a:off x="6824347" y="3985103"/>
            <a:ext cx="2380504" cy="1657078"/>
            <a:chOff x="6758826" y="3637034"/>
            <a:chExt cx="2380504" cy="16570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C256E2E-4374-3B47-B2A0-D0478A9AD425}"/>
                </a:ext>
              </a:extLst>
            </p:cNvPr>
            <p:cNvGrpSpPr/>
            <p:nvPr/>
          </p:nvGrpSpPr>
          <p:grpSpPr>
            <a:xfrm>
              <a:off x="6991254" y="3637034"/>
              <a:ext cx="2148076" cy="1657078"/>
              <a:chOff x="6991254" y="3637034"/>
              <a:chExt cx="2148076" cy="1657078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1F86B5A-79CA-E24D-B5C6-0B27D56B62A0}"/>
                  </a:ext>
                </a:extLst>
              </p:cNvPr>
              <p:cNvCxnSpPr>
                <a:cxnSpLocks/>
                <a:stCxn id="25" idx="1"/>
                <a:endCxn id="24" idx="0"/>
              </p:cNvCxnSpPr>
              <p:nvPr/>
            </p:nvCxnSpPr>
            <p:spPr>
              <a:xfrm flipH="1">
                <a:off x="7807882" y="3814834"/>
                <a:ext cx="424144" cy="433337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8C58463F-C41B-6346-BA68-971BF6A56CB5}"/>
                  </a:ext>
                </a:extLst>
              </p:cNvPr>
              <p:cNvSpPr/>
              <p:nvPr/>
            </p:nvSpPr>
            <p:spPr>
              <a:xfrm>
                <a:off x="7575454" y="4248171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  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94B655F7-641A-A841-B036-B5506CB2B358}"/>
                  </a:ext>
                </a:extLst>
              </p:cNvPr>
              <p:cNvSpPr/>
              <p:nvPr/>
            </p:nvSpPr>
            <p:spPr>
              <a:xfrm>
                <a:off x="8232026" y="3637034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   </a:t>
                </a: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875733D9-3551-3F4C-9A76-E62D208414EC}"/>
                  </a:ext>
                </a:extLst>
              </p:cNvPr>
              <p:cNvSpPr/>
              <p:nvPr/>
            </p:nvSpPr>
            <p:spPr>
              <a:xfrm>
                <a:off x="8232026" y="493851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   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2C998719-F512-654A-890E-4B6E7F618C50}"/>
                  </a:ext>
                </a:extLst>
              </p:cNvPr>
              <p:cNvSpPr/>
              <p:nvPr/>
            </p:nvSpPr>
            <p:spPr>
              <a:xfrm>
                <a:off x="8674474" y="4291544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   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2D7E87F-B577-C04A-AE0D-87F061D248FB}"/>
                  </a:ext>
                </a:extLst>
              </p:cNvPr>
              <p:cNvCxnSpPr>
                <a:cxnSpLocks/>
                <a:stCxn id="25" idx="3"/>
                <a:endCxn id="27" idx="0"/>
              </p:cNvCxnSpPr>
              <p:nvPr/>
            </p:nvCxnSpPr>
            <p:spPr>
              <a:xfrm>
                <a:off x="8696882" y="3814834"/>
                <a:ext cx="210020" cy="4767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3CAA3C1-A15E-2847-A328-947280AF9271}"/>
                  </a:ext>
                </a:extLst>
              </p:cNvPr>
              <p:cNvCxnSpPr>
                <a:cxnSpLocks/>
                <a:stCxn id="24" idx="3"/>
                <a:endCxn id="26" idx="0"/>
              </p:cNvCxnSpPr>
              <p:nvPr/>
            </p:nvCxnSpPr>
            <p:spPr>
              <a:xfrm>
                <a:off x="8040310" y="4425971"/>
                <a:ext cx="424144" cy="51254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E680DBE-73E6-9D4C-9349-DFFA27440BEA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 flipH="1">
                <a:off x="6991254" y="4425971"/>
                <a:ext cx="584200" cy="51810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F1ED456-B97E-CD4E-9620-E50034ABC2A1}"/>
                </a:ext>
              </a:extLst>
            </p:cNvPr>
            <p:cNvSpPr/>
            <p:nvPr/>
          </p:nvSpPr>
          <p:spPr>
            <a:xfrm>
              <a:off x="6758826" y="4938512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  </a:t>
              </a:r>
            </a:p>
          </p:txBody>
        </p:sp>
      </p:grpSp>
      <p:grpSp>
        <p:nvGrpSpPr>
          <p:cNvPr id="49" name="Group 48" descr="example red-black BST to match the companion code">
            <a:extLst>
              <a:ext uri="{FF2B5EF4-FFF2-40B4-BE49-F238E27FC236}">
                <a16:creationId xmlns:a16="http://schemas.microsoft.com/office/drawing/2014/main" id="{FF1C1B31-24F7-5741-8217-022EA1E3BC70}"/>
              </a:ext>
            </a:extLst>
          </p:cNvPr>
          <p:cNvGrpSpPr/>
          <p:nvPr/>
        </p:nvGrpSpPr>
        <p:grpSpPr>
          <a:xfrm>
            <a:off x="6879110" y="3477928"/>
            <a:ext cx="5306132" cy="1494820"/>
            <a:chOff x="6879110" y="3477928"/>
            <a:chExt cx="5306132" cy="14948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5371E72-F61A-114B-AE7F-848304C319C4}"/>
                </a:ext>
              </a:extLst>
            </p:cNvPr>
            <p:cNvGrpSpPr/>
            <p:nvPr/>
          </p:nvGrpSpPr>
          <p:grpSpPr>
            <a:xfrm>
              <a:off x="8195778" y="3477928"/>
              <a:ext cx="3989464" cy="923330"/>
              <a:chOff x="8195778" y="3477928"/>
              <a:chExt cx="3989464" cy="92333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93F8F1-0166-6F4F-A249-BFA0F4CD2F92}"/>
                  </a:ext>
                </a:extLst>
              </p:cNvPr>
              <p:cNvSpPr txBox="1"/>
              <p:nvPr/>
            </p:nvSpPr>
            <p:spPr>
              <a:xfrm>
                <a:off x="8195778" y="362950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DE4871-084F-E145-992C-60129CA3FFAB}"/>
                  </a:ext>
                </a:extLst>
              </p:cNvPr>
              <p:cNvSpPr txBox="1"/>
              <p:nvPr/>
            </p:nvSpPr>
            <p:spPr>
              <a:xfrm>
                <a:off x="9743548" y="3477928"/>
                <a:ext cx="244169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 is BLACK</a:t>
                </a:r>
              </a:p>
              <a:p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n.left.color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RED</a:t>
                </a:r>
              </a:p>
              <a:p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n.right.color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BLACK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2076E1D-FBA6-7E44-BC9E-03827BF71F23}"/>
                </a:ext>
              </a:extLst>
            </p:cNvPr>
            <p:cNvSpPr txBox="1"/>
            <p:nvPr/>
          </p:nvSpPr>
          <p:spPr>
            <a:xfrm>
              <a:off x="6879110" y="4543283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n.left</a:t>
              </a:r>
              <a:endPara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304ED9-8E71-0342-BB57-30CF8F5B74E5}"/>
                </a:ext>
              </a:extLst>
            </p:cNvPr>
            <p:cNvSpPr txBox="1"/>
            <p:nvPr/>
          </p:nvSpPr>
          <p:spPr>
            <a:xfrm>
              <a:off x="9177866" y="4603416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n.right</a:t>
              </a:r>
              <a:endPara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4448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operations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Left rotation</a:t>
            </a:r>
            <a:r>
              <a:rPr lang="en-US" dirty="0"/>
              <a:t>: orient a (temporarily) right-leaning red link so to lean left</a:t>
            </a:r>
          </a:p>
        </p:txBody>
      </p:sp>
      <p:grpSp>
        <p:nvGrpSpPr>
          <p:cNvPr id="63" name="Group 62" descr="example red-black BST with right-leaning red link">
            <a:extLst>
              <a:ext uri="{FF2B5EF4-FFF2-40B4-BE49-F238E27FC236}">
                <a16:creationId xmlns:a16="http://schemas.microsoft.com/office/drawing/2014/main" id="{39A58E65-BBFF-4D43-A115-095C9BE763B9}"/>
              </a:ext>
            </a:extLst>
          </p:cNvPr>
          <p:cNvGrpSpPr/>
          <p:nvPr/>
        </p:nvGrpSpPr>
        <p:grpSpPr>
          <a:xfrm>
            <a:off x="254357" y="3155653"/>
            <a:ext cx="4052460" cy="2308125"/>
            <a:chOff x="439700" y="3177622"/>
            <a:chExt cx="4052460" cy="230812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D5C4F77-3892-6147-9F7E-E152D7A8E0D1}"/>
                </a:ext>
              </a:extLst>
            </p:cNvPr>
            <p:cNvSpPr/>
            <p:nvPr/>
          </p:nvSpPr>
          <p:spPr>
            <a:xfrm>
              <a:off x="1520141" y="3177622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E2AA4-8C3C-0349-A5ED-273DBF7366C5}"/>
                </a:ext>
              </a:extLst>
            </p:cNvPr>
            <p:cNvCxnSpPr>
              <a:cxnSpLocks/>
              <a:stCxn id="13" idx="1"/>
              <a:endCxn id="17" idx="0"/>
            </p:cNvCxnSpPr>
            <p:nvPr/>
          </p:nvCxnSpPr>
          <p:spPr>
            <a:xfrm flipH="1">
              <a:off x="1066233" y="3355422"/>
              <a:ext cx="453908" cy="51979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FC1CCC-4E98-E645-A03D-8C4EB4791296}"/>
                </a:ext>
              </a:extLst>
            </p:cNvPr>
            <p:cNvCxnSpPr>
              <a:cxnSpLocks/>
              <a:stCxn id="20" idx="3"/>
              <a:endCxn id="19" idx="0"/>
            </p:cNvCxnSpPr>
            <p:nvPr/>
          </p:nvCxnSpPr>
          <p:spPr>
            <a:xfrm>
              <a:off x="3710331" y="4053017"/>
              <a:ext cx="155296" cy="74441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8CE25-0175-9B42-AADA-9E6254CD713E}"/>
                </a:ext>
              </a:extLst>
            </p:cNvPr>
            <p:cNvCxnSpPr>
              <a:cxnSpLocks/>
              <a:stCxn id="20" idx="1"/>
              <a:endCxn id="18" idx="0"/>
            </p:cNvCxnSpPr>
            <p:nvPr/>
          </p:nvCxnSpPr>
          <p:spPr>
            <a:xfrm flipH="1">
              <a:off x="2419916" y="4053017"/>
              <a:ext cx="122015" cy="7351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34398683-E1A9-9D46-9F72-8C7884826754}"/>
                </a:ext>
              </a:extLst>
            </p:cNvPr>
            <p:cNvSpPr/>
            <p:nvPr/>
          </p:nvSpPr>
          <p:spPr>
            <a:xfrm>
              <a:off x="439700" y="38752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2F46A912-35C3-4D48-85A2-ACC2EF7836A7}"/>
                </a:ext>
              </a:extLst>
            </p:cNvPr>
            <p:cNvSpPr/>
            <p:nvPr/>
          </p:nvSpPr>
          <p:spPr>
            <a:xfrm>
              <a:off x="1793383" y="4788159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9" name="Trapezium 18">
              <a:extLst>
                <a:ext uri="{FF2B5EF4-FFF2-40B4-BE49-F238E27FC236}">
                  <a16:creationId xmlns:a16="http://schemas.microsoft.com/office/drawing/2014/main" id="{E8A10F38-7C00-9846-B3E1-9394DB73D8F7}"/>
                </a:ext>
              </a:extLst>
            </p:cNvPr>
            <p:cNvSpPr/>
            <p:nvPr/>
          </p:nvSpPr>
          <p:spPr>
            <a:xfrm>
              <a:off x="3239094" y="4797431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F4308A5-5EF2-AF48-99E9-357680188C75}"/>
                </a:ext>
              </a:extLst>
            </p:cNvPr>
            <p:cNvSpPr/>
            <p:nvPr/>
          </p:nvSpPr>
          <p:spPr>
            <a:xfrm>
              <a:off x="2541931" y="3875217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9E8663-257C-904D-B3E7-4896AD32BC85}"/>
                </a:ext>
              </a:extLst>
            </p:cNvPr>
            <p:cNvCxnSpPr>
              <a:cxnSpLocks/>
              <a:stCxn id="20" idx="0"/>
              <a:endCxn id="13" idx="3"/>
            </p:cNvCxnSpPr>
            <p:nvPr/>
          </p:nvCxnSpPr>
          <p:spPr>
            <a:xfrm flipH="1" flipV="1">
              <a:off x="2688541" y="3355422"/>
              <a:ext cx="437590" cy="51979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 descr="example red-black BST after left-rotation">
            <a:extLst>
              <a:ext uri="{FF2B5EF4-FFF2-40B4-BE49-F238E27FC236}">
                <a16:creationId xmlns:a16="http://schemas.microsoft.com/office/drawing/2014/main" id="{D9689E61-92CF-2241-98C3-11E637C41522}"/>
              </a:ext>
            </a:extLst>
          </p:cNvPr>
          <p:cNvGrpSpPr/>
          <p:nvPr/>
        </p:nvGrpSpPr>
        <p:grpSpPr>
          <a:xfrm>
            <a:off x="4161265" y="3107008"/>
            <a:ext cx="4567812" cy="2356770"/>
            <a:chOff x="4161265" y="3107008"/>
            <a:chExt cx="4567812" cy="23567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6DE1287-FE11-D14A-BF9D-06DADB33DEAF}"/>
                </a:ext>
              </a:extLst>
            </p:cNvPr>
            <p:cNvGrpSpPr/>
            <p:nvPr/>
          </p:nvGrpSpPr>
          <p:grpSpPr>
            <a:xfrm>
              <a:off x="4904572" y="3107008"/>
              <a:ext cx="3824505" cy="2356770"/>
              <a:chOff x="4904572" y="3107008"/>
              <a:chExt cx="3824505" cy="2356770"/>
            </a:xfrm>
          </p:grpSpPr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CE32D18-B211-A648-93AC-6B881C2598A6}"/>
                  </a:ext>
                </a:extLst>
              </p:cNvPr>
              <p:cNvSpPr/>
              <p:nvPr/>
            </p:nvSpPr>
            <p:spPr>
              <a:xfrm>
                <a:off x="5684731" y="3837575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17C0FE0-29E5-7A42-9257-A08A9DF910A2}"/>
                  </a:ext>
                </a:extLst>
              </p:cNvPr>
              <p:cNvCxnSpPr>
                <a:cxnSpLocks/>
                <a:stCxn id="23" idx="1"/>
                <a:endCxn id="27" idx="0"/>
              </p:cNvCxnSpPr>
              <p:nvPr/>
            </p:nvCxnSpPr>
            <p:spPr>
              <a:xfrm flipH="1">
                <a:off x="5531105" y="4015375"/>
                <a:ext cx="153626" cy="760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E8C7E59-58B8-2F49-95AA-4F8D7C9B87EA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>
                <a:off x="7840575" y="3284808"/>
                <a:ext cx="261969" cy="57988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14D8F14-5626-384D-9D60-FC1EC6A4530D}"/>
                  </a:ext>
                </a:extLst>
              </p:cNvPr>
              <p:cNvCxnSpPr>
                <a:cxnSpLocks/>
                <a:stCxn id="23" idx="3"/>
                <a:endCxn id="28" idx="0"/>
              </p:cNvCxnSpPr>
              <p:nvPr/>
            </p:nvCxnSpPr>
            <p:spPr>
              <a:xfrm>
                <a:off x="6853131" y="4015375"/>
                <a:ext cx="184656" cy="760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rapezium 26">
                <a:extLst>
                  <a:ext uri="{FF2B5EF4-FFF2-40B4-BE49-F238E27FC236}">
                    <a16:creationId xmlns:a16="http://schemas.microsoft.com/office/drawing/2014/main" id="{FC70BA15-D0DB-DD43-A321-F38D950F2A0E}"/>
                  </a:ext>
                </a:extLst>
              </p:cNvPr>
              <p:cNvSpPr/>
              <p:nvPr/>
            </p:nvSpPr>
            <p:spPr>
              <a:xfrm>
                <a:off x="4904572" y="4775462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 A</a:t>
                </a:r>
              </a:p>
            </p:txBody>
          </p:sp>
          <p:sp>
            <p:nvSpPr>
              <p:cNvPr id="28" name="Trapezium 27">
                <a:extLst>
                  <a:ext uri="{FF2B5EF4-FFF2-40B4-BE49-F238E27FC236}">
                    <a16:creationId xmlns:a16="http://schemas.microsoft.com/office/drawing/2014/main" id="{C3F1E497-FE98-BB4E-B64B-7CC0AAB39705}"/>
                  </a:ext>
                </a:extLst>
              </p:cNvPr>
              <p:cNvSpPr/>
              <p:nvPr/>
            </p:nvSpPr>
            <p:spPr>
              <a:xfrm>
                <a:off x="6411254" y="4775462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A&lt;…&lt;B</a:t>
                </a:r>
              </a:p>
            </p:txBody>
          </p:sp>
          <p:sp>
            <p:nvSpPr>
              <p:cNvPr id="29" name="Trapezium 28">
                <a:extLst>
                  <a:ext uri="{FF2B5EF4-FFF2-40B4-BE49-F238E27FC236}">
                    <a16:creationId xmlns:a16="http://schemas.microsoft.com/office/drawing/2014/main" id="{76AD0B5C-D1CC-B346-B844-2E612227933D}"/>
                  </a:ext>
                </a:extLst>
              </p:cNvPr>
              <p:cNvSpPr/>
              <p:nvPr/>
            </p:nvSpPr>
            <p:spPr>
              <a:xfrm>
                <a:off x="7476011" y="3864689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 B</a:t>
                </a: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C3F0EB37-B488-064A-8650-FAF356879240}"/>
                  </a:ext>
                </a:extLst>
              </p:cNvPr>
              <p:cNvSpPr/>
              <p:nvPr/>
            </p:nvSpPr>
            <p:spPr>
              <a:xfrm>
                <a:off x="6672175" y="3107008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7AFE899-5ACD-6845-9471-F0DF55EC2FAC}"/>
                  </a:ext>
                </a:extLst>
              </p:cNvPr>
              <p:cNvCxnSpPr>
                <a:stCxn id="30" idx="1"/>
                <a:endCxn id="23" idx="0"/>
              </p:cNvCxnSpPr>
              <p:nvPr/>
            </p:nvCxnSpPr>
            <p:spPr>
              <a:xfrm flipH="1">
                <a:off x="6268931" y="3284808"/>
                <a:ext cx="403244" cy="552767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Right Arrow 73">
              <a:extLst>
                <a:ext uri="{FF2B5EF4-FFF2-40B4-BE49-F238E27FC236}">
                  <a16:creationId xmlns:a16="http://schemas.microsoft.com/office/drawing/2014/main" id="{C3FA14D5-ABCC-6E41-8A68-38CA886171EF}"/>
                </a:ext>
              </a:extLst>
            </p:cNvPr>
            <p:cNvSpPr/>
            <p:nvPr/>
          </p:nvSpPr>
          <p:spPr>
            <a:xfrm>
              <a:off x="4161265" y="3676307"/>
              <a:ext cx="978408" cy="484632"/>
            </a:xfrm>
            <a:prstGeom prst="rightArrow">
              <a:avLst/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274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operations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Left rotation</a:t>
            </a:r>
            <a:r>
              <a:rPr lang="en-US" dirty="0"/>
              <a:t>: orient a (temporarily) right-leaning red link so to lean left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Invariants</a:t>
            </a:r>
            <a:r>
              <a:rPr lang="en-US" dirty="0"/>
              <a:t>: maintains symmetric order and perfect black balance</a:t>
            </a:r>
          </a:p>
        </p:txBody>
      </p:sp>
      <p:grpSp>
        <p:nvGrpSpPr>
          <p:cNvPr id="63" name="Group 62" descr="example red-black BST with right leaning red link">
            <a:extLst>
              <a:ext uri="{FF2B5EF4-FFF2-40B4-BE49-F238E27FC236}">
                <a16:creationId xmlns:a16="http://schemas.microsoft.com/office/drawing/2014/main" id="{39A58E65-BBFF-4D43-A115-095C9BE763B9}"/>
              </a:ext>
            </a:extLst>
          </p:cNvPr>
          <p:cNvGrpSpPr/>
          <p:nvPr/>
        </p:nvGrpSpPr>
        <p:grpSpPr>
          <a:xfrm>
            <a:off x="254357" y="3155653"/>
            <a:ext cx="4052460" cy="2308125"/>
            <a:chOff x="439700" y="3177622"/>
            <a:chExt cx="4052460" cy="230812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D5C4F77-3892-6147-9F7E-E152D7A8E0D1}"/>
                </a:ext>
              </a:extLst>
            </p:cNvPr>
            <p:cNvSpPr/>
            <p:nvPr/>
          </p:nvSpPr>
          <p:spPr>
            <a:xfrm>
              <a:off x="1520141" y="3177622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E2AA4-8C3C-0349-A5ED-273DBF7366C5}"/>
                </a:ext>
              </a:extLst>
            </p:cNvPr>
            <p:cNvCxnSpPr>
              <a:cxnSpLocks/>
              <a:stCxn id="13" idx="1"/>
              <a:endCxn id="17" idx="0"/>
            </p:cNvCxnSpPr>
            <p:nvPr/>
          </p:nvCxnSpPr>
          <p:spPr>
            <a:xfrm flipH="1">
              <a:off x="1066233" y="3355422"/>
              <a:ext cx="453908" cy="51979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FC1CCC-4E98-E645-A03D-8C4EB4791296}"/>
                </a:ext>
              </a:extLst>
            </p:cNvPr>
            <p:cNvCxnSpPr>
              <a:cxnSpLocks/>
              <a:stCxn id="20" idx="3"/>
              <a:endCxn id="19" idx="0"/>
            </p:cNvCxnSpPr>
            <p:nvPr/>
          </p:nvCxnSpPr>
          <p:spPr>
            <a:xfrm>
              <a:off x="3710331" y="4053017"/>
              <a:ext cx="155296" cy="74441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8CE25-0175-9B42-AADA-9E6254CD713E}"/>
                </a:ext>
              </a:extLst>
            </p:cNvPr>
            <p:cNvCxnSpPr>
              <a:cxnSpLocks/>
              <a:stCxn id="20" idx="1"/>
              <a:endCxn id="18" idx="0"/>
            </p:cNvCxnSpPr>
            <p:nvPr/>
          </p:nvCxnSpPr>
          <p:spPr>
            <a:xfrm flipH="1">
              <a:off x="2419916" y="4053017"/>
              <a:ext cx="122015" cy="7351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34398683-E1A9-9D46-9F72-8C7884826754}"/>
                </a:ext>
              </a:extLst>
            </p:cNvPr>
            <p:cNvSpPr/>
            <p:nvPr/>
          </p:nvSpPr>
          <p:spPr>
            <a:xfrm>
              <a:off x="439700" y="38752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2F46A912-35C3-4D48-85A2-ACC2EF7836A7}"/>
                </a:ext>
              </a:extLst>
            </p:cNvPr>
            <p:cNvSpPr/>
            <p:nvPr/>
          </p:nvSpPr>
          <p:spPr>
            <a:xfrm>
              <a:off x="1793383" y="4788159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9" name="Trapezium 18">
              <a:extLst>
                <a:ext uri="{FF2B5EF4-FFF2-40B4-BE49-F238E27FC236}">
                  <a16:creationId xmlns:a16="http://schemas.microsoft.com/office/drawing/2014/main" id="{E8A10F38-7C00-9846-B3E1-9394DB73D8F7}"/>
                </a:ext>
              </a:extLst>
            </p:cNvPr>
            <p:cNvSpPr/>
            <p:nvPr/>
          </p:nvSpPr>
          <p:spPr>
            <a:xfrm>
              <a:off x="3239094" y="4797431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F4308A5-5EF2-AF48-99E9-357680188C75}"/>
                </a:ext>
              </a:extLst>
            </p:cNvPr>
            <p:cNvSpPr/>
            <p:nvPr/>
          </p:nvSpPr>
          <p:spPr>
            <a:xfrm>
              <a:off x="2541931" y="3875217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9E8663-257C-904D-B3E7-4896AD32BC85}"/>
                </a:ext>
              </a:extLst>
            </p:cNvPr>
            <p:cNvCxnSpPr>
              <a:cxnSpLocks/>
              <a:stCxn id="20" idx="0"/>
              <a:endCxn id="13" idx="3"/>
            </p:cNvCxnSpPr>
            <p:nvPr/>
          </p:nvCxnSpPr>
          <p:spPr>
            <a:xfrm flipH="1" flipV="1">
              <a:off x="2688541" y="3355422"/>
              <a:ext cx="437590" cy="51979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 descr="red-black tree after left rotation">
            <a:extLst>
              <a:ext uri="{FF2B5EF4-FFF2-40B4-BE49-F238E27FC236}">
                <a16:creationId xmlns:a16="http://schemas.microsoft.com/office/drawing/2014/main" id="{D9689E61-92CF-2241-98C3-11E637C41522}"/>
              </a:ext>
            </a:extLst>
          </p:cNvPr>
          <p:cNvGrpSpPr/>
          <p:nvPr/>
        </p:nvGrpSpPr>
        <p:grpSpPr>
          <a:xfrm>
            <a:off x="4161265" y="3107008"/>
            <a:ext cx="4567812" cy="2356770"/>
            <a:chOff x="4161265" y="3107008"/>
            <a:chExt cx="4567812" cy="23567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6DE1287-FE11-D14A-BF9D-06DADB33DEAF}"/>
                </a:ext>
              </a:extLst>
            </p:cNvPr>
            <p:cNvGrpSpPr/>
            <p:nvPr/>
          </p:nvGrpSpPr>
          <p:grpSpPr>
            <a:xfrm>
              <a:off x="4904572" y="3107008"/>
              <a:ext cx="3824505" cy="2356770"/>
              <a:chOff x="4904572" y="3107008"/>
              <a:chExt cx="3824505" cy="2356770"/>
            </a:xfrm>
          </p:grpSpPr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CE32D18-B211-A648-93AC-6B881C2598A6}"/>
                  </a:ext>
                </a:extLst>
              </p:cNvPr>
              <p:cNvSpPr/>
              <p:nvPr/>
            </p:nvSpPr>
            <p:spPr>
              <a:xfrm>
                <a:off x="5684731" y="3837575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17C0FE0-29E5-7A42-9257-A08A9DF910A2}"/>
                  </a:ext>
                </a:extLst>
              </p:cNvPr>
              <p:cNvCxnSpPr>
                <a:cxnSpLocks/>
                <a:stCxn id="23" idx="1"/>
                <a:endCxn id="27" idx="0"/>
              </p:cNvCxnSpPr>
              <p:nvPr/>
            </p:nvCxnSpPr>
            <p:spPr>
              <a:xfrm flipH="1">
                <a:off x="5531105" y="4015375"/>
                <a:ext cx="153626" cy="760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E8C7E59-58B8-2F49-95AA-4F8D7C9B87EA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>
                <a:off x="7840575" y="3284808"/>
                <a:ext cx="261969" cy="57988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14D8F14-5626-384D-9D60-FC1EC6A4530D}"/>
                  </a:ext>
                </a:extLst>
              </p:cNvPr>
              <p:cNvCxnSpPr>
                <a:cxnSpLocks/>
                <a:stCxn id="23" idx="3"/>
                <a:endCxn id="28" idx="0"/>
              </p:cNvCxnSpPr>
              <p:nvPr/>
            </p:nvCxnSpPr>
            <p:spPr>
              <a:xfrm>
                <a:off x="6853131" y="4015375"/>
                <a:ext cx="184656" cy="760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rapezium 26">
                <a:extLst>
                  <a:ext uri="{FF2B5EF4-FFF2-40B4-BE49-F238E27FC236}">
                    <a16:creationId xmlns:a16="http://schemas.microsoft.com/office/drawing/2014/main" id="{FC70BA15-D0DB-DD43-A321-F38D950F2A0E}"/>
                  </a:ext>
                </a:extLst>
              </p:cNvPr>
              <p:cNvSpPr/>
              <p:nvPr/>
            </p:nvSpPr>
            <p:spPr>
              <a:xfrm>
                <a:off x="4904572" y="4775462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&lt; A</a:t>
                </a:r>
              </a:p>
            </p:txBody>
          </p:sp>
          <p:sp>
            <p:nvSpPr>
              <p:cNvPr id="28" name="Trapezium 27">
                <a:extLst>
                  <a:ext uri="{FF2B5EF4-FFF2-40B4-BE49-F238E27FC236}">
                    <a16:creationId xmlns:a16="http://schemas.microsoft.com/office/drawing/2014/main" id="{C3F1E497-FE98-BB4E-B64B-7CC0AAB39705}"/>
                  </a:ext>
                </a:extLst>
              </p:cNvPr>
              <p:cNvSpPr/>
              <p:nvPr/>
            </p:nvSpPr>
            <p:spPr>
              <a:xfrm>
                <a:off x="6411254" y="4775462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A&lt;…&lt;B</a:t>
                </a:r>
              </a:p>
            </p:txBody>
          </p:sp>
          <p:sp>
            <p:nvSpPr>
              <p:cNvPr id="29" name="Trapezium 28">
                <a:extLst>
                  <a:ext uri="{FF2B5EF4-FFF2-40B4-BE49-F238E27FC236}">
                    <a16:creationId xmlns:a16="http://schemas.microsoft.com/office/drawing/2014/main" id="{76AD0B5C-D1CC-B346-B844-2E612227933D}"/>
                  </a:ext>
                </a:extLst>
              </p:cNvPr>
              <p:cNvSpPr/>
              <p:nvPr/>
            </p:nvSpPr>
            <p:spPr>
              <a:xfrm>
                <a:off x="7476011" y="3864689"/>
                <a:ext cx="1253066" cy="688316"/>
              </a:xfrm>
              <a:prstGeom prst="trapezoid">
                <a:avLst/>
              </a:prstGeom>
              <a:solidFill>
                <a:schemeClr val="bg1">
                  <a:lumMod val="50000"/>
                  <a:alpha val="30000"/>
                </a:schemeClr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 B</a:t>
                </a: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C3F0EB37-B488-064A-8650-FAF356879240}"/>
                  </a:ext>
                </a:extLst>
              </p:cNvPr>
              <p:cNvSpPr/>
              <p:nvPr/>
            </p:nvSpPr>
            <p:spPr>
              <a:xfrm>
                <a:off x="6672175" y="3107008"/>
                <a:ext cx="1168400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7AFE899-5ACD-6845-9471-F0DF55EC2FAC}"/>
                  </a:ext>
                </a:extLst>
              </p:cNvPr>
              <p:cNvCxnSpPr>
                <a:stCxn id="30" idx="1"/>
                <a:endCxn id="23" idx="0"/>
              </p:cNvCxnSpPr>
              <p:nvPr/>
            </p:nvCxnSpPr>
            <p:spPr>
              <a:xfrm flipH="1">
                <a:off x="6268931" y="3284808"/>
                <a:ext cx="403244" cy="552767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Right Arrow 73">
              <a:extLst>
                <a:ext uri="{FF2B5EF4-FFF2-40B4-BE49-F238E27FC236}">
                  <a16:creationId xmlns:a16="http://schemas.microsoft.com/office/drawing/2014/main" id="{C3FA14D5-ABCC-6E41-8A68-38CA886171EF}"/>
                </a:ext>
              </a:extLst>
            </p:cNvPr>
            <p:cNvSpPr/>
            <p:nvPr/>
          </p:nvSpPr>
          <p:spPr>
            <a:xfrm>
              <a:off x="4161265" y="3676307"/>
              <a:ext cx="978408" cy="484632"/>
            </a:xfrm>
            <a:prstGeom prst="rightArrow">
              <a:avLst/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DC2A05A-7C6B-B04F-AE78-3020B8CFF6CF}"/>
              </a:ext>
            </a:extLst>
          </p:cNvPr>
          <p:cNvSpPr txBox="1"/>
          <p:nvPr/>
        </p:nvSpPr>
        <p:spPr>
          <a:xfrm>
            <a:off x="1021892" y="30316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8A84A3-AF85-714C-A668-32B1486D4B9C}"/>
              </a:ext>
            </a:extLst>
          </p:cNvPr>
          <p:cNvSpPr txBox="1"/>
          <p:nvPr/>
        </p:nvSpPr>
        <p:spPr>
          <a:xfrm>
            <a:off x="2928591" y="35112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1186D1-E534-3344-BC1D-876184D496AD}"/>
              </a:ext>
            </a:extLst>
          </p:cNvPr>
          <p:cNvSpPr txBox="1"/>
          <p:nvPr/>
        </p:nvSpPr>
        <p:spPr>
          <a:xfrm>
            <a:off x="5872172" y="35112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E69EF8-B9BF-7449-9EF0-8F3F4CAC252D}"/>
              </a:ext>
            </a:extLst>
          </p:cNvPr>
          <p:cNvSpPr txBox="1"/>
          <p:nvPr/>
        </p:nvSpPr>
        <p:spPr>
          <a:xfrm>
            <a:off x="6672175" y="27445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EB1DEB-378A-3743-AC7D-83FC82CA5955}"/>
              </a:ext>
            </a:extLst>
          </p:cNvPr>
          <p:cNvSpPr txBox="1"/>
          <p:nvPr/>
        </p:nvSpPr>
        <p:spPr>
          <a:xfrm>
            <a:off x="9197896" y="3241256"/>
            <a:ext cx="2776722" cy="230832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def </a:t>
            </a:r>
            <a:r>
              <a:rPr lang="en-GB" sz="1600" dirty="0" err="1">
                <a:latin typeface="Courier" pitchFamily="2" charset="0"/>
              </a:rPr>
              <a:t>rotateLeft</a:t>
            </a:r>
            <a:r>
              <a:rPr lang="en-GB" sz="1600" dirty="0">
                <a:latin typeface="Courier" pitchFamily="2" charset="0"/>
              </a:rPr>
              <a:t>(n):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x = </a:t>
            </a:r>
            <a:r>
              <a:rPr lang="en-GB" sz="1600" dirty="0" err="1">
                <a:latin typeface="Courier" pitchFamily="2" charset="0"/>
              </a:rPr>
              <a:t>n.right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n.right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x.left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x.left</a:t>
            </a:r>
            <a:r>
              <a:rPr lang="en-GB" sz="1600" dirty="0">
                <a:latin typeface="Courier" pitchFamily="2" charset="0"/>
              </a:rPr>
              <a:t> = n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x.color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n.color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n.color</a:t>
            </a:r>
            <a:r>
              <a:rPr lang="en-GB" sz="1600" dirty="0">
                <a:latin typeface="Courier" pitchFamily="2" charset="0"/>
              </a:rPr>
              <a:t> = RED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return x</a:t>
            </a:r>
          </a:p>
        </p:txBody>
      </p:sp>
    </p:spTree>
    <p:extLst>
      <p:ext uri="{BB962C8B-B14F-4D97-AF65-F5344CB8AC3E}">
        <p14:creationId xmlns:p14="http://schemas.microsoft.com/office/powerpoint/2010/main" val="2772404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Supporting operations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Right rotation</a:t>
            </a:r>
            <a:r>
              <a:rPr lang="en-US" dirty="0"/>
              <a:t>: orient a left-leaning red link so to (temporarily) lean right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Invariants</a:t>
            </a:r>
            <a:r>
              <a:rPr lang="en-US" dirty="0"/>
              <a:t>: maintains symmetric order and perfect black balance</a:t>
            </a:r>
          </a:p>
        </p:txBody>
      </p:sp>
      <p:grpSp>
        <p:nvGrpSpPr>
          <p:cNvPr id="73" name="Group 72" descr="example red-black tree">
            <a:extLst>
              <a:ext uri="{FF2B5EF4-FFF2-40B4-BE49-F238E27FC236}">
                <a16:creationId xmlns:a16="http://schemas.microsoft.com/office/drawing/2014/main" id="{16DE1287-FE11-D14A-BF9D-06DADB33DEAF}"/>
              </a:ext>
            </a:extLst>
          </p:cNvPr>
          <p:cNvGrpSpPr/>
          <p:nvPr/>
        </p:nvGrpSpPr>
        <p:grpSpPr>
          <a:xfrm>
            <a:off x="96109" y="2956634"/>
            <a:ext cx="3824505" cy="2356770"/>
            <a:chOff x="4904572" y="3107008"/>
            <a:chExt cx="3824505" cy="235677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CE32D18-B211-A648-93AC-6B881C2598A6}"/>
                </a:ext>
              </a:extLst>
            </p:cNvPr>
            <p:cNvSpPr/>
            <p:nvPr/>
          </p:nvSpPr>
          <p:spPr>
            <a:xfrm>
              <a:off x="5684731" y="3837575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7C0FE0-29E5-7A42-9257-A08A9DF910A2}"/>
                </a:ext>
              </a:extLst>
            </p:cNvPr>
            <p:cNvCxnSpPr>
              <a:cxnSpLocks/>
              <a:stCxn id="23" idx="1"/>
              <a:endCxn id="27" idx="0"/>
            </p:cNvCxnSpPr>
            <p:nvPr/>
          </p:nvCxnSpPr>
          <p:spPr>
            <a:xfrm flipH="1">
              <a:off x="5531105" y="4015375"/>
              <a:ext cx="153626" cy="7600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E8C7E59-58B8-2F49-95AA-4F8D7C9B87EA}"/>
                </a:ext>
              </a:extLst>
            </p:cNvPr>
            <p:cNvCxnSpPr>
              <a:cxnSpLocks/>
              <a:stCxn id="30" idx="3"/>
              <a:endCxn id="29" idx="0"/>
            </p:cNvCxnSpPr>
            <p:nvPr/>
          </p:nvCxnSpPr>
          <p:spPr>
            <a:xfrm>
              <a:off x="7840575" y="3284808"/>
              <a:ext cx="261969" cy="5798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14D8F14-5626-384D-9D60-FC1EC6A4530D}"/>
                </a:ext>
              </a:extLst>
            </p:cNvPr>
            <p:cNvCxnSpPr>
              <a:cxnSpLocks/>
              <a:stCxn id="23" idx="3"/>
              <a:endCxn id="28" idx="0"/>
            </p:cNvCxnSpPr>
            <p:nvPr/>
          </p:nvCxnSpPr>
          <p:spPr>
            <a:xfrm>
              <a:off x="6853131" y="4015375"/>
              <a:ext cx="184656" cy="7600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rapezium 26">
              <a:extLst>
                <a:ext uri="{FF2B5EF4-FFF2-40B4-BE49-F238E27FC236}">
                  <a16:creationId xmlns:a16="http://schemas.microsoft.com/office/drawing/2014/main" id="{FC70BA15-D0DB-DD43-A321-F38D950F2A0E}"/>
                </a:ext>
              </a:extLst>
            </p:cNvPr>
            <p:cNvSpPr/>
            <p:nvPr/>
          </p:nvSpPr>
          <p:spPr>
            <a:xfrm>
              <a:off x="4904572" y="4775462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28" name="Trapezium 27">
              <a:extLst>
                <a:ext uri="{FF2B5EF4-FFF2-40B4-BE49-F238E27FC236}">
                  <a16:creationId xmlns:a16="http://schemas.microsoft.com/office/drawing/2014/main" id="{C3F1E497-FE98-BB4E-B64B-7CC0AAB39705}"/>
                </a:ext>
              </a:extLst>
            </p:cNvPr>
            <p:cNvSpPr/>
            <p:nvPr/>
          </p:nvSpPr>
          <p:spPr>
            <a:xfrm>
              <a:off x="6411254" y="4775462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29" name="Trapezium 28">
              <a:extLst>
                <a:ext uri="{FF2B5EF4-FFF2-40B4-BE49-F238E27FC236}">
                  <a16:creationId xmlns:a16="http://schemas.microsoft.com/office/drawing/2014/main" id="{76AD0B5C-D1CC-B346-B844-2E612227933D}"/>
                </a:ext>
              </a:extLst>
            </p:cNvPr>
            <p:cNvSpPr/>
            <p:nvPr/>
          </p:nvSpPr>
          <p:spPr>
            <a:xfrm>
              <a:off x="7476011" y="3864689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C3F0EB37-B488-064A-8650-FAF356879240}"/>
                </a:ext>
              </a:extLst>
            </p:cNvPr>
            <p:cNvSpPr/>
            <p:nvPr/>
          </p:nvSpPr>
          <p:spPr>
            <a:xfrm>
              <a:off x="6672175" y="3107008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7AFE899-5ACD-6845-9471-F0DF55EC2FAC}"/>
                </a:ext>
              </a:extLst>
            </p:cNvPr>
            <p:cNvCxnSpPr>
              <a:stCxn id="30" idx="1"/>
              <a:endCxn id="23" idx="0"/>
            </p:cNvCxnSpPr>
            <p:nvPr/>
          </p:nvCxnSpPr>
          <p:spPr>
            <a:xfrm flipH="1">
              <a:off x="6268931" y="3284808"/>
              <a:ext cx="403244" cy="552767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D7A4600-718F-0C4B-B6AC-AB0E07C08D93}"/>
              </a:ext>
            </a:extLst>
          </p:cNvPr>
          <p:cNvSpPr txBox="1"/>
          <p:nvPr/>
        </p:nvSpPr>
        <p:spPr>
          <a:xfrm>
            <a:off x="1863712" y="264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EB4FB-FF07-4C45-A1B9-BB1DE83B4C40}"/>
              </a:ext>
            </a:extLst>
          </p:cNvPr>
          <p:cNvSpPr txBox="1"/>
          <p:nvPr/>
        </p:nvSpPr>
        <p:spPr>
          <a:xfrm>
            <a:off x="1184249" y="33770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C3FA14D5-ABCC-6E41-8A68-38CA88617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91935" y="3676307"/>
            <a:ext cx="978408" cy="484632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 descr="example red-black tree after right rotation">
            <a:extLst>
              <a:ext uri="{FF2B5EF4-FFF2-40B4-BE49-F238E27FC236}">
                <a16:creationId xmlns:a16="http://schemas.microsoft.com/office/drawing/2014/main" id="{39A58E65-BBFF-4D43-A115-095C9BE763B9}"/>
              </a:ext>
            </a:extLst>
          </p:cNvPr>
          <p:cNvGrpSpPr/>
          <p:nvPr/>
        </p:nvGrpSpPr>
        <p:grpSpPr>
          <a:xfrm>
            <a:off x="5011145" y="3057675"/>
            <a:ext cx="4052460" cy="2308125"/>
            <a:chOff x="439700" y="3177622"/>
            <a:chExt cx="4052460" cy="230812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D5C4F77-3892-6147-9F7E-E152D7A8E0D1}"/>
                </a:ext>
              </a:extLst>
            </p:cNvPr>
            <p:cNvSpPr/>
            <p:nvPr/>
          </p:nvSpPr>
          <p:spPr>
            <a:xfrm>
              <a:off x="1520141" y="3177622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E2AA4-8C3C-0349-A5ED-273DBF7366C5}"/>
                </a:ext>
              </a:extLst>
            </p:cNvPr>
            <p:cNvCxnSpPr>
              <a:cxnSpLocks/>
              <a:stCxn id="13" idx="1"/>
              <a:endCxn id="17" idx="0"/>
            </p:cNvCxnSpPr>
            <p:nvPr/>
          </p:nvCxnSpPr>
          <p:spPr>
            <a:xfrm flipH="1">
              <a:off x="1066233" y="3355422"/>
              <a:ext cx="453908" cy="51979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FC1CCC-4E98-E645-A03D-8C4EB4791296}"/>
                </a:ext>
              </a:extLst>
            </p:cNvPr>
            <p:cNvCxnSpPr>
              <a:cxnSpLocks/>
              <a:stCxn id="20" idx="3"/>
              <a:endCxn id="19" idx="0"/>
            </p:cNvCxnSpPr>
            <p:nvPr/>
          </p:nvCxnSpPr>
          <p:spPr>
            <a:xfrm>
              <a:off x="3710331" y="4053017"/>
              <a:ext cx="155296" cy="74441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8CE25-0175-9B42-AADA-9E6254CD713E}"/>
                </a:ext>
              </a:extLst>
            </p:cNvPr>
            <p:cNvCxnSpPr>
              <a:cxnSpLocks/>
              <a:stCxn id="20" idx="1"/>
              <a:endCxn id="18" idx="0"/>
            </p:cNvCxnSpPr>
            <p:nvPr/>
          </p:nvCxnSpPr>
          <p:spPr>
            <a:xfrm flipH="1">
              <a:off x="2419916" y="4053017"/>
              <a:ext cx="122015" cy="73514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34398683-E1A9-9D46-9F72-8C7884826754}"/>
                </a:ext>
              </a:extLst>
            </p:cNvPr>
            <p:cNvSpPr/>
            <p:nvPr/>
          </p:nvSpPr>
          <p:spPr>
            <a:xfrm>
              <a:off x="439700" y="38752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2F46A912-35C3-4D48-85A2-ACC2EF7836A7}"/>
                </a:ext>
              </a:extLst>
            </p:cNvPr>
            <p:cNvSpPr/>
            <p:nvPr/>
          </p:nvSpPr>
          <p:spPr>
            <a:xfrm>
              <a:off x="1793383" y="4788159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9" name="Trapezium 18">
              <a:extLst>
                <a:ext uri="{FF2B5EF4-FFF2-40B4-BE49-F238E27FC236}">
                  <a16:creationId xmlns:a16="http://schemas.microsoft.com/office/drawing/2014/main" id="{E8A10F38-7C00-9846-B3E1-9394DB73D8F7}"/>
                </a:ext>
              </a:extLst>
            </p:cNvPr>
            <p:cNvSpPr/>
            <p:nvPr/>
          </p:nvSpPr>
          <p:spPr>
            <a:xfrm>
              <a:off x="3239094" y="4797431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B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F4308A5-5EF2-AF48-99E9-357680188C75}"/>
                </a:ext>
              </a:extLst>
            </p:cNvPr>
            <p:cNvSpPr/>
            <p:nvPr/>
          </p:nvSpPr>
          <p:spPr>
            <a:xfrm>
              <a:off x="2541931" y="3875217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9E8663-257C-904D-B3E7-4896AD32BC85}"/>
                </a:ext>
              </a:extLst>
            </p:cNvPr>
            <p:cNvCxnSpPr>
              <a:cxnSpLocks/>
              <a:stCxn id="20" idx="0"/>
              <a:endCxn id="13" idx="3"/>
            </p:cNvCxnSpPr>
            <p:nvPr/>
          </p:nvCxnSpPr>
          <p:spPr>
            <a:xfrm flipH="1" flipV="1">
              <a:off x="2688541" y="3355422"/>
              <a:ext cx="437590" cy="51979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7BD7E13-A4B2-3141-9A7C-FF16C9A7283C}"/>
              </a:ext>
            </a:extLst>
          </p:cNvPr>
          <p:cNvSpPr txBox="1"/>
          <p:nvPr/>
        </p:nvSpPr>
        <p:spPr>
          <a:xfrm>
            <a:off x="7694677" y="34246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0FA26F-1336-DA4B-ABE9-0A7F125EAAF0}"/>
              </a:ext>
            </a:extLst>
          </p:cNvPr>
          <p:cNvSpPr txBox="1"/>
          <p:nvPr/>
        </p:nvSpPr>
        <p:spPr>
          <a:xfrm>
            <a:off x="6114170" y="27156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FE016A-E04C-9347-A43C-0A8652E7797A}"/>
              </a:ext>
            </a:extLst>
          </p:cNvPr>
          <p:cNvSpPr txBox="1"/>
          <p:nvPr/>
        </p:nvSpPr>
        <p:spPr>
          <a:xfrm>
            <a:off x="9300667" y="3235474"/>
            <a:ext cx="2776722" cy="230832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def </a:t>
            </a:r>
            <a:r>
              <a:rPr lang="en-GB" sz="1600" dirty="0" err="1">
                <a:latin typeface="Courier" pitchFamily="2" charset="0"/>
              </a:rPr>
              <a:t>rotateRight</a:t>
            </a:r>
            <a:r>
              <a:rPr lang="en-GB" sz="1600" dirty="0">
                <a:latin typeface="Courier" pitchFamily="2" charset="0"/>
              </a:rPr>
              <a:t>(n):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x = </a:t>
            </a:r>
            <a:r>
              <a:rPr lang="en-GB" sz="1600" dirty="0" err="1">
                <a:latin typeface="Courier" pitchFamily="2" charset="0"/>
              </a:rPr>
              <a:t>n.left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n.left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x.right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x.right</a:t>
            </a:r>
            <a:r>
              <a:rPr lang="en-GB" sz="1600" dirty="0">
                <a:latin typeface="Courier" pitchFamily="2" charset="0"/>
              </a:rPr>
              <a:t> = n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x.color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n.color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n.color</a:t>
            </a:r>
            <a:r>
              <a:rPr lang="en-GB" sz="1600" dirty="0">
                <a:latin typeface="Courier" pitchFamily="2" charset="0"/>
              </a:rPr>
              <a:t> = RED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return x</a:t>
            </a:r>
          </a:p>
        </p:txBody>
      </p:sp>
    </p:spTree>
    <p:extLst>
      <p:ext uri="{BB962C8B-B14F-4D97-AF65-F5344CB8AC3E}">
        <p14:creationId xmlns:p14="http://schemas.microsoft.com/office/powerpoint/2010/main" val="1827440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Supporting operations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Color flip</a:t>
            </a:r>
            <a:r>
              <a:rPr lang="en-US" dirty="0"/>
              <a:t>: recolor to split a (temporary) 4-node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Invariants</a:t>
            </a:r>
            <a:r>
              <a:rPr lang="en-US" dirty="0"/>
              <a:t>: maintains symmetric order and perfect black balance</a:t>
            </a:r>
          </a:p>
        </p:txBody>
      </p:sp>
      <p:grpSp>
        <p:nvGrpSpPr>
          <p:cNvPr id="51" name="Group 50" descr="example red-black tree with 2 red links">
            <a:extLst>
              <a:ext uri="{FF2B5EF4-FFF2-40B4-BE49-F238E27FC236}">
                <a16:creationId xmlns:a16="http://schemas.microsoft.com/office/drawing/2014/main" id="{B6860341-C371-B947-B1E1-31AEE8269138}"/>
              </a:ext>
            </a:extLst>
          </p:cNvPr>
          <p:cNvGrpSpPr/>
          <p:nvPr/>
        </p:nvGrpSpPr>
        <p:grpSpPr>
          <a:xfrm>
            <a:off x="991271" y="3007722"/>
            <a:ext cx="5762834" cy="2305682"/>
            <a:chOff x="500204" y="2435651"/>
            <a:chExt cx="5762834" cy="2305682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D5C4F77-3892-6147-9F7E-E152D7A8E0D1}"/>
                </a:ext>
              </a:extLst>
            </p:cNvPr>
            <p:cNvSpPr/>
            <p:nvPr/>
          </p:nvSpPr>
          <p:spPr>
            <a:xfrm>
              <a:off x="1356938" y="3429000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E2AA4-8C3C-0349-A5ED-273DBF7366C5}"/>
                </a:ext>
              </a:extLst>
            </p:cNvPr>
            <p:cNvCxnSpPr>
              <a:cxnSpLocks/>
              <a:stCxn id="13" idx="1"/>
              <a:endCxn id="17" idx="0"/>
            </p:cNvCxnSpPr>
            <p:nvPr/>
          </p:nvCxnSpPr>
          <p:spPr>
            <a:xfrm flipH="1">
              <a:off x="1126737" y="3606800"/>
              <a:ext cx="230201" cy="4462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FC1CCC-4E98-E645-A03D-8C4EB4791296}"/>
                </a:ext>
              </a:extLst>
            </p:cNvPr>
            <p:cNvCxnSpPr>
              <a:cxnSpLocks/>
              <a:stCxn id="38" idx="3"/>
              <a:endCxn id="19" idx="0"/>
            </p:cNvCxnSpPr>
            <p:nvPr/>
          </p:nvCxnSpPr>
          <p:spPr>
            <a:xfrm>
              <a:off x="5448229" y="3634613"/>
              <a:ext cx="188276" cy="4184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8CE25-0175-9B42-AADA-9E6254CD713E}"/>
                </a:ext>
              </a:extLst>
            </p:cNvPr>
            <p:cNvCxnSpPr>
              <a:cxnSpLocks/>
              <a:stCxn id="13" idx="3"/>
              <a:endCxn id="18" idx="0"/>
            </p:cNvCxnSpPr>
            <p:nvPr/>
          </p:nvCxnSpPr>
          <p:spPr>
            <a:xfrm>
              <a:off x="2525338" y="3606800"/>
              <a:ext cx="115326" cy="4462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34398683-E1A9-9D46-9F72-8C7884826754}"/>
                </a:ext>
              </a:extLst>
            </p:cNvPr>
            <p:cNvSpPr/>
            <p:nvPr/>
          </p:nvSpPr>
          <p:spPr>
            <a:xfrm>
              <a:off x="500204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2F46A912-35C3-4D48-85A2-ACC2EF7836A7}"/>
                </a:ext>
              </a:extLst>
            </p:cNvPr>
            <p:cNvSpPr/>
            <p:nvPr/>
          </p:nvSpPr>
          <p:spPr>
            <a:xfrm>
              <a:off x="2014131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9" name="Trapezium 18">
              <a:extLst>
                <a:ext uri="{FF2B5EF4-FFF2-40B4-BE49-F238E27FC236}">
                  <a16:creationId xmlns:a16="http://schemas.microsoft.com/office/drawing/2014/main" id="{E8A10F38-7C00-9846-B3E1-9394DB73D8F7}"/>
                </a:ext>
              </a:extLst>
            </p:cNvPr>
            <p:cNvSpPr/>
            <p:nvPr/>
          </p:nvSpPr>
          <p:spPr>
            <a:xfrm>
              <a:off x="5009972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C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F4308A5-5EF2-AF48-99E9-357680188C75}"/>
                </a:ext>
              </a:extLst>
            </p:cNvPr>
            <p:cNvSpPr/>
            <p:nvPr/>
          </p:nvSpPr>
          <p:spPr>
            <a:xfrm>
              <a:off x="2816104" y="2826952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9E8663-257C-904D-B3E7-4896AD32BC85}"/>
                </a:ext>
              </a:extLst>
            </p:cNvPr>
            <p:cNvCxnSpPr>
              <a:cxnSpLocks/>
              <a:stCxn id="20" idx="1"/>
              <a:endCxn id="13" idx="0"/>
            </p:cNvCxnSpPr>
            <p:nvPr/>
          </p:nvCxnSpPr>
          <p:spPr>
            <a:xfrm flipH="1">
              <a:off x="1941138" y="3004752"/>
              <a:ext cx="874966" cy="42424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DC2A05A-7C6B-B04F-AE78-3020B8CFF6CF}"/>
                </a:ext>
              </a:extLst>
            </p:cNvPr>
            <p:cNvSpPr txBox="1"/>
            <p:nvPr/>
          </p:nvSpPr>
          <p:spPr>
            <a:xfrm>
              <a:off x="3069617" y="243565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33" name="Trapezium 32">
              <a:extLst>
                <a:ext uri="{FF2B5EF4-FFF2-40B4-BE49-F238E27FC236}">
                  <a16:creationId xmlns:a16="http://schemas.microsoft.com/office/drawing/2014/main" id="{A2764479-9447-0D43-9AD0-C5B036C9A953}"/>
                </a:ext>
              </a:extLst>
            </p:cNvPr>
            <p:cNvSpPr/>
            <p:nvPr/>
          </p:nvSpPr>
          <p:spPr>
            <a:xfrm>
              <a:off x="3453932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B&lt;…&lt;C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246E9538-BC7B-5C45-8DD3-F4A20CA21574}"/>
                </a:ext>
              </a:extLst>
            </p:cNvPr>
            <p:cNvSpPr/>
            <p:nvPr/>
          </p:nvSpPr>
          <p:spPr>
            <a:xfrm>
              <a:off x="4279829" y="3456813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A56B77D-6D24-484A-AD50-ADE6F93A8236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4000049" y="2986268"/>
              <a:ext cx="863980" cy="47054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B82D5E-331A-DC41-962B-658EBD456D1D}"/>
                </a:ext>
              </a:extLst>
            </p:cNvPr>
            <p:cNvCxnSpPr>
              <a:cxnSpLocks/>
              <a:stCxn id="38" idx="1"/>
              <a:endCxn id="33" idx="0"/>
            </p:cNvCxnSpPr>
            <p:nvPr/>
          </p:nvCxnSpPr>
          <p:spPr>
            <a:xfrm flipH="1">
              <a:off x="4080465" y="3634613"/>
              <a:ext cx="199364" cy="4184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A883587-D6B5-6E49-9FCA-03ED575D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73590" y="2997200"/>
            <a:ext cx="0" cy="40182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421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8E52865-F4C5-9E4E-8AF6-802E0DE9EB60}"/>
              </a:ext>
            </a:extLst>
          </p:cNvPr>
          <p:cNvSpPr txBox="1">
            <a:spLocks/>
          </p:cNvSpPr>
          <p:nvPr/>
        </p:nvSpPr>
        <p:spPr>
          <a:xfrm>
            <a:off x="197707" y="1544596"/>
            <a:ext cx="11479427" cy="5016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75000"/>
                </a:schemeClr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Supporting operations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Color flip</a:t>
            </a:r>
            <a:r>
              <a:rPr lang="en-US" dirty="0"/>
              <a:t>: recolor to split a (temporary) 4-node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Invariants</a:t>
            </a:r>
            <a:r>
              <a:rPr lang="en-US" dirty="0"/>
              <a:t>: maintains symmetric order and perfect black balance</a:t>
            </a:r>
          </a:p>
        </p:txBody>
      </p:sp>
      <p:grpSp>
        <p:nvGrpSpPr>
          <p:cNvPr id="51" name="Group 50" descr="example red black tree after color flip">
            <a:extLst>
              <a:ext uri="{FF2B5EF4-FFF2-40B4-BE49-F238E27FC236}">
                <a16:creationId xmlns:a16="http://schemas.microsoft.com/office/drawing/2014/main" id="{B6860341-C371-B947-B1E1-31AEE8269138}"/>
              </a:ext>
            </a:extLst>
          </p:cNvPr>
          <p:cNvGrpSpPr/>
          <p:nvPr/>
        </p:nvGrpSpPr>
        <p:grpSpPr>
          <a:xfrm>
            <a:off x="991271" y="3399023"/>
            <a:ext cx="5762834" cy="1914381"/>
            <a:chOff x="500204" y="2826952"/>
            <a:chExt cx="5762834" cy="191438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D5C4F77-3892-6147-9F7E-E152D7A8E0D1}"/>
                </a:ext>
              </a:extLst>
            </p:cNvPr>
            <p:cNvSpPr/>
            <p:nvPr/>
          </p:nvSpPr>
          <p:spPr>
            <a:xfrm>
              <a:off x="1356938" y="3429000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E2AA4-8C3C-0349-A5ED-273DBF7366C5}"/>
                </a:ext>
              </a:extLst>
            </p:cNvPr>
            <p:cNvCxnSpPr>
              <a:cxnSpLocks/>
              <a:stCxn id="13" idx="1"/>
              <a:endCxn id="17" idx="0"/>
            </p:cNvCxnSpPr>
            <p:nvPr/>
          </p:nvCxnSpPr>
          <p:spPr>
            <a:xfrm flipH="1">
              <a:off x="1126737" y="3606800"/>
              <a:ext cx="230201" cy="4462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FC1CCC-4E98-E645-A03D-8C4EB4791296}"/>
                </a:ext>
              </a:extLst>
            </p:cNvPr>
            <p:cNvCxnSpPr>
              <a:cxnSpLocks/>
              <a:stCxn id="38" idx="3"/>
              <a:endCxn id="19" idx="0"/>
            </p:cNvCxnSpPr>
            <p:nvPr/>
          </p:nvCxnSpPr>
          <p:spPr>
            <a:xfrm>
              <a:off x="5448229" y="3634613"/>
              <a:ext cx="188276" cy="4184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8CE25-0175-9B42-AADA-9E6254CD713E}"/>
                </a:ext>
              </a:extLst>
            </p:cNvPr>
            <p:cNvCxnSpPr>
              <a:cxnSpLocks/>
              <a:stCxn id="13" idx="3"/>
              <a:endCxn id="18" idx="0"/>
            </p:cNvCxnSpPr>
            <p:nvPr/>
          </p:nvCxnSpPr>
          <p:spPr>
            <a:xfrm>
              <a:off x="2525338" y="3606800"/>
              <a:ext cx="115326" cy="4462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apezium 16">
              <a:extLst>
                <a:ext uri="{FF2B5EF4-FFF2-40B4-BE49-F238E27FC236}">
                  <a16:creationId xmlns:a16="http://schemas.microsoft.com/office/drawing/2014/main" id="{34398683-E1A9-9D46-9F72-8C7884826754}"/>
                </a:ext>
              </a:extLst>
            </p:cNvPr>
            <p:cNvSpPr/>
            <p:nvPr/>
          </p:nvSpPr>
          <p:spPr>
            <a:xfrm>
              <a:off x="500204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A</a:t>
              </a:r>
            </a:p>
          </p:txBody>
        </p:sp>
        <p:sp>
          <p:nvSpPr>
            <p:cNvPr id="18" name="Trapezium 17">
              <a:extLst>
                <a:ext uri="{FF2B5EF4-FFF2-40B4-BE49-F238E27FC236}">
                  <a16:creationId xmlns:a16="http://schemas.microsoft.com/office/drawing/2014/main" id="{2F46A912-35C3-4D48-85A2-ACC2EF7836A7}"/>
                </a:ext>
              </a:extLst>
            </p:cNvPr>
            <p:cNvSpPr/>
            <p:nvPr/>
          </p:nvSpPr>
          <p:spPr>
            <a:xfrm>
              <a:off x="2014131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A&lt;…&lt;B</a:t>
              </a:r>
            </a:p>
          </p:txBody>
        </p:sp>
        <p:sp>
          <p:nvSpPr>
            <p:cNvPr id="19" name="Trapezium 18">
              <a:extLst>
                <a:ext uri="{FF2B5EF4-FFF2-40B4-BE49-F238E27FC236}">
                  <a16:creationId xmlns:a16="http://schemas.microsoft.com/office/drawing/2014/main" id="{E8A10F38-7C00-9846-B3E1-9394DB73D8F7}"/>
                </a:ext>
              </a:extLst>
            </p:cNvPr>
            <p:cNvSpPr/>
            <p:nvPr/>
          </p:nvSpPr>
          <p:spPr>
            <a:xfrm>
              <a:off x="5009972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C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F4308A5-5EF2-AF48-99E9-357680188C75}"/>
                </a:ext>
              </a:extLst>
            </p:cNvPr>
            <p:cNvSpPr/>
            <p:nvPr/>
          </p:nvSpPr>
          <p:spPr>
            <a:xfrm>
              <a:off x="2816104" y="2826952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9E8663-257C-904D-B3E7-4896AD32BC85}"/>
                </a:ext>
              </a:extLst>
            </p:cNvPr>
            <p:cNvCxnSpPr>
              <a:cxnSpLocks/>
              <a:stCxn id="20" idx="1"/>
              <a:endCxn id="13" idx="0"/>
            </p:cNvCxnSpPr>
            <p:nvPr/>
          </p:nvCxnSpPr>
          <p:spPr>
            <a:xfrm flipH="1">
              <a:off x="1941138" y="3004752"/>
              <a:ext cx="874966" cy="42424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rapezium 32">
              <a:extLst>
                <a:ext uri="{FF2B5EF4-FFF2-40B4-BE49-F238E27FC236}">
                  <a16:creationId xmlns:a16="http://schemas.microsoft.com/office/drawing/2014/main" id="{A2764479-9447-0D43-9AD0-C5B036C9A953}"/>
                </a:ext>
              </a:extLst>
            </p:cNvPr>
            <p:cNvSpPr/>
            <p:nvPr/>
          </p:nvSpPr>
          <p:spPr>
            <a:xfrm>
              <a:off x="3453932" y="4053017"/>
              <a:ext cx="1253066" cy="688316"/>
            </a:xfrm>
            <a:prstGeom prst="trapezoid">
              <a:avLst/>
            </a:prstGeom>
            <a:solidFill>
              <a:schemeClr val="bg1">
                <a:lumMod val="50000"/>
                <a:alpha val="30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B&lt;…&lt;C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246E9538-BC7B-5C45-8DD3-F4A20CA21574}"/>
                </a:ext>
              </a:extLst>
            </p:cNvPr>
            <p:cNvSpPr/>
            <p:nvPr/>
          </p:nvSpPr>
          <p:spPr>
            <a:xfrm>
              <a:off x="4279829" y="3456813"/>
              <a:ext cx="1168400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A56B77D-6D24-484A-AD50-ADE6F93A8236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4000049" y="2986268"/>
              <a:ext cx="863980" cy="47054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B82D5E-331A-DC41-962B-658EBD456D1D}"/>
                </a:ext>
              </a:extLst>
            </p:cNvPr>
            <p:cNvCxnSpPr>
              <a:cxnSpLocks/>
              <a:stCxn id="38" idx="1"/>
              <a:endCxn id="33" idx="0"/>
            </p:cNvCxnSpPr>
            <p:nvPr/>
          </p:nvCxnSpPr>
          <p:spPr>
            <a:xfrm flipH="1">
              <a:off x="4080465" y="3634613"/>
              <a:ext cx="199364" cy="4184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 hidden="1">
            <a:extLst>
              <a:ext uri="{FF2B5EF4-FFF2-40B4-BE49-F238E27FC236}">
                <a16:creationId xmlns:a16="http://schemas.microsoft.com/office/drawing/2014/main" id="{E295B869-9795-C047-9D3F-DDE68D4A9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73590" y="2997200"/>
            <a:ext cx="0" cy="40182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 hidden="1">
            <a:extLst>
              <a:ext uri="{FF2B5EF4-FFF2-40B4-BE49-F238E27FC236}">
                <a16:creationId xmlns:a16="http://schemas.microsoft.com/office/drawing/2014/main" id="{4432A79B-02FF-5642-A931-C51F82CF83EA}"/>
              </a:ext>
            </a:extLst>
          </p:cNvPr>
          <p:cNvSpPr txBox="1"/>
          <p:nvPr/>
        </p:nvSpPr>
        <p:spPr>
          <a:xfrm>
            <a:off x="3560684" y="3007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62179-66E2-3A47-8244-17A2399AE1BC}"/>
              </a:ext>
            </a:extLst>
          </p:cNvPr>
          <p:cNvSpPr txBox="1"/>
          <p:nvPr/>
        </p:nvSpPr>
        <p:spPr>
          <a:xfrm>
            <a:off x="7784163" y="3429000"/>
            <a:ext cx="3270447" cy="132343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def </a:t>
            </a:r>
            <a:r>
              <a:rPr lang="en-GB" sz="1600" dirty="0" err="1">
                <a:latin typeface="Courier" pitchFamily="2" charset="0"/>
              </a:rPr>
              <a:t>flipColor</a:t>
            </a:r>
            <a:r>
              <a:rPr lang="en-GB" sz="1600" dirty="0">
                <a:latin typeface="Courier" pitchFamily="2" charset="0"/>
              </a:rPr>
              <a:t>(n):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n.color</a:t>
            </a:r>
            <a:r>
              <a:rPr lang="en-GB" sz="1600" dirty="0">
                <a:latin typeface="Courier" pitchFamily="2" charset="0"/>
              </a:rPr>
              <a:t> = RED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n.left.color</a:t>
            </a:r>
            <a:r>
              <a:rPr lang="en-GB" sz="1600" dirty="0">
                <a:latin typeface="Courier" pitchFamily="2" charset="0"/>
              </a:rPr>
              <a:t> = BLACK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n.right.color</a:t>
            </a:r>
            <a:r>
              <a:rPr lang="en-GB" sz="1600" dirty="0">
                <a:latin typeface="Courier" pitchFamily="2" charset="0"/>
              </a:rPr>
              <a:t> = BLACK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C8E28A-63CA-2145-8C3B-6E07DD84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93240" y="2997200"/>
            <a:ext cx="0" cy="40182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7BC89A-23F9-3843-B283-AB60961980A0}"/>
              </a:ext>
            </a:extLst>
          </p:cNvPr>
          <p:cNvSpPr txBox="1"/>
          <p:nvPr/>
        </p:nvSpPr>
        <p:spPr>
          <a:xfrm>
            <a:off x="3532319" y="3007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81314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 descr="example put operation">
            <a:extLst>
              <a:ext uri="{FF2B5EF4-FFF2-40B4-BE49-F238E27FC236}">
                <a16:creationId xmlns:a16="http://schemas.microsoft.com/office/drawing/2014/main" id="{DBC1654D-CEB5-EF40-ACFB-5E408A5AB70F}"/>
              </a:ext>
            </a:extLst>
          </p:cNvPr>
          <p:cNvGrpSpPr/>
          <p:nvPr/>
        </p:nvGrpSpPr>
        <p:grpSpPr>
          <a:xfrm>
            <a:off x="5449328" y="4009279"/>
            <a:ext cx="2825114" cy="1577944"/>
            <a:chOff x="5449328" y="4009279"/>
            <a:chExt cx="2825114" cy="1577944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306C349-77F2-0145-9513-51498B484136}"/>
                </a:ext>
              </a:extLst>
            </p:cNvPr>
            <p:cNvSpPr/>
            <p:nvPr/>
          </p:nvSpPr>
          <p:spPr>
            <a:xfrm>
              <a:off x="5449328" y="5198205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42C9E8-EE8C-D847-8F3D-7D401369991D}"/>
                </a:ext>
              </a:extLst>
            </p:cNvPr>
            <p:cNvGrpSpPr/>
            <p:nvPr/>
          </p:nvGrpSpPr>
          <p:grpSpPr>
            <a:xfrm>
              <a:off x="6046769" y="4009279"/>
              <a:ext cx="2227673" cy="1577944"/>
              <a:chOff x="4009746" y="3836402"/>
              <a:chExt cx="2227673" cy="1577944"/>
            </a:xfrm>
          </p:grpSpPr>
          <p:grpSp>
            <p:nvGrpSpPr>
              <p:cNvPr id="36" name="Group 35" descr="creating corresponding red-black BST">
                <a:extLst>
                  <a:ext uri="{FF2B5EF4-FFF2-40B4-BE49-F238E27FC236}">
                    <a16:creationId xmlns:a16="http://schemas.microsoft.com/office/drawing/2014/main" id="{5A95258B-997A-3C4C-88DC-71D4FC781426}"/>
                  </a:ext>
                </a:extLst>
              </p:cNvPr>
              <p:cNvGrpSpPr/>
              <p:nvPr/>
            </p:nvGrpSpPr>
            <p:grpSpPr>
              <a:xfrm>
                <a:off x="4242174" y="3836402"/>
                <a:ext cx="1995245" cy="1577944"/>
                <a:chOff x="8697123" y="3057467"/>
                <a:chExt cx="1995245" cy="157794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E144088-AAD7-A146-9CDB-050E6F5F1D59}"/>
                    </a:ext>
                  </a:extLst>
                </p:cNvPr>
                <p:cNvCxnSpPr>
                  <a:cxnSpLocks/>
                  <a:stCxn id="40" idx="3"/>
                  <a:endCxn id="41" idx="0"/>
                </p:cNvCxnSpPr>
                <p:nvPr/>
              </p:nvCxnSpPr>
              <p:spPr>
                <a:xfrm>
                  <a:off x="9854978" y="3235267"/>
                  <a:ext cx="604962" cy="39369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F771C3C9-B1D7-E349-BC7C-D0B372A320F2}"/>
                    </a:ext>
                  </a:extLst>
                </p:cNvPr>
                <p:cNvCxnSpPr>
                  <a:cxnSpLocks/>
                  <a:stCxn id="40" idx="1"/>
                  <a:endCxn id="37" idx="0"/>
                </p:cNvCxnSpPr>
                <p:nvPr/>
              </p:nvCxnSpPr>
              <p:spPr>
                <a:xfrm flipH="1">
                  <a:off x="8697123" y="3235267"/>
                  <a:ext cx="692999" cy="3905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D0B3A720-BBFA-C244-921D-50C6CDE2CFCC}"/>
                    </a:ext>
                  </a:extLst>
                </p:cNvPr>
                <p:cNvSpPr/>
                <p:nvPr/>
              </p:nvSpPr>
              <p:spPr>
                <a:xfrm>
                  <a:off x="9390122" y="305746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  </a:t>
                  </a:r>
                </a:p>
              </p:txBody>
            </p:sp>
            <p:sp>
              <p:nvSpPr>
                <p:cNvPr id="41" name="Rounded Rectangle 40">
                  <a:extLst>
                    <a:ext uri="{FF2B5EF4-FFF2-40B4-BE49-F238E27FC236}">
                      <a16:creationId xmlns:a16="http://schemas.microsoft.com/office/drawing/2014/main" id="{00070DD8-603B-AB4B-ACFC-37AB79D5C0B8}"/>
                    </a:ext>
                  </a:extLst>
                </p:cNvPr>
                <p:cNvSpPr/>
                <p:nvPr/>
              </p:nvSpPr>
              <p:spPr>
                <a:xfrm>
                  <a:off x="10227512" y="362895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  </a:t>
                  </a:r>
                </a:p>
              </p:txBody>
            </p:sp>
            <p:sp>
              <p:nvSpPr>
                <p:cNvPr id="42" name="Rounded Rectangle 41">
                  <a:extLst>
                    <a:ext uri="{FF2B5EF4-FFF2-40B4-BE49-F238E27FC236}">
                      <a16:creationId xmlns:a16="http://schemas.microsoft.com/office/drawing/2014/main" id="{7B5B54AB-F533-FA44-A84A-F688D385EE1F}"/>
                    </a:ext>
                  </a:extLst>
                </p:cNvPr>
                <p:cNvSpPr/>
                <p:nvPr/>
              </p:nvSpPr>
              <p:spPr>
                <a:xfrm>
                  <a:off x="9567207" y="42798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   </a:t>
                  </a:r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26525B1-AD3B-3C4A-8220-55C94042CE9A}"/>
                    </a:ext>
                  </a:extLst>
                </p:cNvPr>
                <p:cNvCxnSpPr>
                  <a:cxnSpLocks/>
                  <a:stCxn id="41" idx="1"/>
                  <a:endCxn id="42" idx="0"/>
                </p:cNvCxnSpPr>
                <p:nvPr/>
              </p:nvCxnSpPr>
              <p:spPr>
                <a:xfrm flipH="1">
                  <a:off x="9799635" y="3806757"/>
                  <a:ext cx="427877" cy="473055"/>
                </a:xfrm>
                <a:prstGeom prst="line">
                  <a:avLst/>
                </a:prstGeom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8794F09-0864-1844-AEB7-E1F2DCE834AE}"/>
                  </a:ext>
                </a:extLst>
              </p:cNvPr>
              <p:cNvSpPr/>
              <p:nvPr/>
            </p:nvSpPr>
            <p:spPr>
              <a:xfrm>
                <a:off x="4009746" y="440471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  </a:t>
                </a:r>
              </a:p>
            </p:txBody>
          </p: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77E8E7-C006-8B45-8F90-05797EA71F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 flipH="1">
              <a:off x="5681756" y="4809475"/>
              <a:ext cx="389710" cy="3887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Case 1</a:t>
            </a:r>
            <a:r>
              <a:rPr lang="en-US" dirty="0"/>
              <a:t>: insert into a 2-node at the bottom</a:t>
            </a:r>
          </a:p>
          <a:p>
            <a:pPr lvl="2"/>
            <a:r>
              <a:rPr lang="en-US" dirty="0"/>
              <a:t>Do a standard BST insert</a:t>
            </a:r>
          </a:p>
          <a:p>
            <a:pPr lvl="2"/>
            <a:r>
              <a:rPr lang="en-US" dirty="0"/>
              <a:t>Color the new link RED</a:t>
            </a:r>
          </a:p>
          <a:p>
            <a:pPr lvl="2"/>
            <a:r>
              <a:rPr lang="en-US" dirty="0"/>
              <a:t>If the new red link is a right link, rotate left</a:t>
            </a:r>
          </a:p>
        </p:txBody>
      </p:sp>
      <p:grpSp>
        <p:nvGrpSpPr>
          <p:cNvPr id="5" name="Group 4" descr="example tree">
            <a:extLst>
              <a:ext uri="{FF2B5EF4-FFF2-40B4-BE49-F238E27FC236}">
                <a16:creationId xmlns:a16="http://schemas.microsoft.com/office/drawing/2014/main" id="{60DE3C33-5CF3-764A-A962-F17CE799A8F1}"/>
              </a:ext>
            </a:extLst>
          </p:cNvPr>
          <p:cNvGrpSpPr/>
          <p:nvPr/>
        </p:nvGrpSpPr>
        <p:grpSpPr>
          <a:xfrm>
            <a:off x="1138036" y="3975861"/>
            <a:ext cx="2227673" cy="1577944"/>
            <a:chOff x="4009746" y="3836402"/>
            <a:chExt cx="2227673" cy="1577944"/>
          </a:xfrm>
        </p:grpSpPr>
        <p:grpSp>
          <p:nvGrpSpPr>
            <p:cNvPr id="10" name="Group 9" descr="creating corresponding red-black BST">
              <a:extLst>
                <a:ext uri="{FF2B5EF4-FFF2-40B4-BE49-F238E27FC236}">
                  <a16:creationId xmlns:a16="http://schemas.microsoft.com/office/drawing/2014/main" id="{0AE156B6-522C-3447-830D-83BF538E6AAA}"/>
                </a:ext>
              </a:extLst>
            </p:cNvPr>
            <p:cNvGrpSpPr/>
            <p:nvPr/>
          </p:nvGrpSpPr>
          <p:grpSpPr>
            <a:xfrm>
              <a:off x="4242174" y="3836402"/>
              <a:ext cx="1995245" cy="1577944"/>
              <a:chOff x="8697123" y="3057467"/>
              <a:chExt cx="1995245" cy="1577944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FD307D1-7CC7-C848-9169-25006F0E70BD}"/>
                  </a:ext>
                </a:extLst>
              </p:cNvPr>
              <p:cNvCxnSpPr>
                <a:cxnSpLocks/>
                <a:stCxn id="30" idx="3"/>
                <a:endCxn id="31" idx="0"/>
              </p:cNvCxnSpPr>
              <p:nvPr/>
            </p:nvCxnSpPr>
            <p:spPr>
              <a:xfrm>
                <a:off x="9854978" y="3235267"/>
                <a:ext cx="604962" cy="39369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7EFDB08-D9BE-394E-B34B-020A0FB62DCA}"/>
                  </a:ext>
                </a:extLst>
              </p:cNvPr>
              <p:cNvCxnSpPr>
                <a:cxnSpLocks/>
                <a:stCxn id="30" idx="1"/>
                <a:endCxn id="14" idx="0"/>
              </p:cNvCxnSpPr>
              <p:nvPr/>
            </p:nvCxnSpPr>
            <p:spPr>
              <a:xfrm flipH="1">
                <a:off x="8697123" y="3235267"/>
                <a:ext cx="692999" cy="3905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F84A4051-17F2-FA4E-9C72-BFE45139F169}"/>
                  </a:ext>
                </a:extLst>
              </p:cNvPr>
              <p:cNvSpPr/>
              <p:nvPr/>
            </p:nvSpPr>
            <p:spPr>
              <a:xfrm>
                <a:off x="9390122" y="305746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  </a:t>
                </a: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CE37BA23-25C6-2D41-B514-C7B9A59AEA3C}"/>
                  </a:ext>
                </a:extLst>
              </p:cNvPr>
              <p:cNvSpPr/>
              <p:nvPr/>
            </p:nvSpPr>
            <p:spPr>
              <a:xfrm>
                <a:off x="10227512" y="362895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  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B2E4FD9-4FC9-D943-A5F7-DF73D959B1C7}"/>
                  </a:ext>
                </a:extLst>
              </p:cNvPr>
              <p:cNvSpPr/>
              <p:nvPr/>
            </p:nvSpPr>
            <p:spPr>
              <a:xfrm>
                <a:off x="9567207" y="4279812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   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C635096-F6EB-C14F-A13B-6695C7B65D91}"/>
                  </a:ext>
                </a:extLst>
              </p:cNvPr>
              <p:cNvCxnSpPr>
                <a:cxnSpLocks/>
                <a:stCxn id="31" idx="1"/>
                <a:endCxn id="32" idx="0"/>
              </p:cNvCxnSpPr>
              <p:nvPr/>
            </p:nvCxnSpPr>
            <p:spPr>
              <a:xfrm flipH="1">
                <a:off x="9799635" y="3806757"/>
                <a:ext cx="427877" cy="473055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868E729-41E8-EC47-AE53-45319B470A8A}"/>
                </a:ext>
              </a:extLst>
            </p:cNvPr>
            <p:cNvSpPr/>
            <p:nvPr/>
          </p:nvSpPr>
          <p:spPr>
            <a:xfrm>
              <a:off x="4009746" y="4404717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  </a:t>
              </a:r>
            </a:p>
          </p:txBody>
        </p:sp>
      </p:grpSp>
      <p:grpSp>
        <p:nvGrpSpPr>
          <p:cNvPr id="45" name="Group 44" descr="put operation">
            <a:extLst>
              <a:ext uri="{FF2B5EF4-FFF2-40B4-BE49-F238E27FC236}">
                <a16:creationId xmlns:a16="http://schemas.microsoft.com/office/drawing/2014/main" id="{1F0A1696-5F47-0646-9DEB-EC4C9AD02C5B}"/>
              </a:ext>
            </a:extLst>
          </p:cNvPr>
          <p:cNvGrpSpPr/>
          <p:nvPr/>
        </p:nvGrpSpPr>
        <p:grpSpPr>
          <a:xfrm>
            <a:off x="3929219" y="4059306"/>
            <a:ext cx="1091024" cy="760604"/>
            <a:chOff x="3929219" y="4059306"/>
            <a:chExt cx="1091024" cy="76060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5E26BD-13A2-1544-9705-C0A5BE23CC2C}"/>
                </a:ext>
              </a:extLst>
            </p:cNvPr>
            <p:cNvSpPr txBox="1"/>
            <p:nvPr/>
          </p:nvSpPr>
          <p:spPr>
            <a:xfrm>
              <a:off x="4041255" y="4059306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put(A)</a:t>
              </a:r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D9A75DC6-5DE3-A842-8E92-6862E1B9C0B4}"/>
                </a:ext>
              </a:extLst>
            </p:cNvPr>
            <p:cNvSpPr/>
            <p:nvPr/>
          </p:nvSpPr>
          <p:spPr>
            <a:xfrm>
              <a:off x="3929219" y="4335278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Straight Connector 45" descr="coloring red link">
            <a:extLst>
              <a:ext uri="{FF2B5EF4-FFF2-40B4-BE49-F238E27FC236}">
                <a16:creationId xmlns:a16="http://schemas.microsoft.com/office/drawing/2014/main" id="{88492DC6-30FF-1B49-AD2A-BB19FEBF1B7F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5681756" y="4809475"/>
            <a:ext cx="383504" cy="38873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2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Case 1</a:t>
            </a:r>
            <a:r>
              <a:rPr lang="en-US" dirty="0"/>
              <a:t>: insert into a 2-node at the bottom</a:t>
            </a:r>
          </a:p>
          <a:p>
            <a:pPr lvl="2"/>
            <a:r>
              <a:rPr lang="en-US" dirty="0"/>
              <a:t>Do a standard BST insert</a:t>
            </a:r>
          </a:p>
          <a:p>
            <a:pPr lvl="2"/>
            <a:r>
              <a:rPr lang="en-US" dirty="0"/>
              <a:t>Color the new link RED</a:t>
            </a:r>
          </a:p>
          <a:p>
            <a:pPr lvl="2"/>
            <a:r>
              <a:rPr lang="en-US" dirty="0"/>
              <a:t>If the new red link is a right link, rotate left</a:t>
            </a:r>
          </a:p>
        </p:txBody>
      </p:sp>
      <p:grpSp>
        <p:nvGrpSpPr>
          <p:cNvPr id="5" name="Group 4" descr="example tree">
            <a:extLst>
              <a:ext uri="{FF2B5EF4-FFF2-40B4-BE49-F238E27FC236}">
                <a16:creationId xmlns:a16="http://schemas.microsoft.com/office/drawing/2014/main" id="{60DE3C33-5CF3-764A-A962-F17CE799A8F1}"/>
              </a:ext>
            </a:extLst>
          </p:cNvPr>
          <p:cNvGrpSpPr/>
          <p:nvPr/>
        </p:nvGrpSpPr>
        <p:grpSpPr>
          <a:xfrm>
            <a:off x="1138036" y="3975861"/>
            <a:ext cx="2227673" cy="1577944"/>
            <a:chOff x="4009746" y="3836402"/>
            <a:chExt cx="2227673" cy="1577944"/>
          </a:xfrm>
        </p:grpSpPr>
        <p:grpSp>
          <p:nvGrpSpPr>
            <p:cNvPr id="10" name="Group 9" descr="creating corresponding red-black BST">
              <a:extLst>
                <a:ext uri="{FF2B5EF4-FFF2-40B4-BE49-F238E27FC236}">
                  <a16:creationId xmlns:a16="http://schemas.microsoft.com/office/drawing/2014/main" id="{0AE156B6-522C-3447-830D-83BF538E6AAA}"/>
                </a:ext>
              </a:extLst>
            </p:cNvPr>
            <p:cNvGrpSpPr/>
            <p:nvPr/>
          </p:nvGrpSpPr>
          <p:grpSpPr>
            <a:xfrm>
              <a:off x="4242174" y="3836402"/>
              <a:ext cx="1995245" cy="1577944"/>
              <a:chOff x="8697123" y="3057467"/>
              <a:chExt cx="1995245" cy="1577944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FD307D1-7CC7-C848-9169-25006F0E70BD}"/>
                  </a:ext>
                </a:extLst>
              </p:cNvPr>
              <p:cNvCxnSpPr>
                <a:cxnSpLocks/>
                <a:stCxn id="30" idx="3"/>
                <a:endCxn id="31" idx="0"/>
              </p:cNvCxnSpPr>
              <p:nvPr/>
            </p:nvCxnSpPr>
            <p:spPr>
              <a:xfrm>
                <a:off x="9854978" y="3235267"/>
                <a:ext cx="604962" cy="39369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7EFDB08-D9BE-394E-B34B-020A0FB62DCA}"/>
                  </a:ext>
                </a:extLst>
              </p:cNvPr>
              <p:cNvCxnSpPr>
                <a:cxnSpLocks/>
                <a:stCxn id="30" idx="1"/>
                <a:endCxn id="14" idx="0"/>
              </p:cNvCxnSpPr>
              <p:nvPr/>
            </p:nvCxnSpPr>
            <p:spPr>
              <a:xfrm flipH="1">
                <a:off x="8697123" y="3235267"/>
                <a:ext cx="692999" cy="3905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F84A4051-17F2-FA4E-9C72-BFE45139F169}"/>
                  </a:ext>
                </a:extLst>
              </p:cNvPr>
              <p:cNvSpPr/>
              <p:nvPr/>
            </p:nvSpPr>
            <p:spPr>
              <a:xfrm>
                <a:off x="9390122" y="305746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  </a:t>
                </a: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CE37BA23-25C6-2D41-B514-C7B9A59AEA3C}"/>
                  </a:ext>
                </a:extLst>
              </p:cNvPr>
              <p:cNvSpPr/>
              <p:nvPr/>
            </p:nvSpPr>
            <p:spPr>
              <a:xfrm>
                <a:off x="10227512" y="362895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  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B2E4FD9-4FC9-D943-A5F7-DF73D959B1C7}"/>
                  </a:ext>
                </a:extLst>
              </p:cNvPr>
              <p:cNvSpPr/>
              <p:nvPr/>
            </p:nvSpPr>
            <p:spPr>
              <a:xfrm>
                <a:off x="9567207" y="4279812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   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C635096-F6EB-C14F-A13B-6695C7B65D91}"/>
                  </a:ext>
                </a:extLst>
              </p:cNvPr>
              <p:cNvCxnSpPr>
                <a:cxnSpLocks/>
                <a:stCxn id="31" idx="1"/>
                <a:endCxn id="32" idx="0"/>
              </p:cNvCxnSpPr>
              <p:nvPr/>
            </p:nvCxnSpPr>
            <p:spPr>
              <a:xfrm flipH="1">
                <a:off x="9799635" y="3806757"/>
                <a:ext cx="427877" cy="473055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868E729-41E8-EC47-AE53-45319B470A8A}"/>
                </a:ext>
              </a:extLst>
            </p:cNvPr>
            <p:cNvSpPr/>
            <p:nvPr/>
          </p:nvSpPr>
          <p:spPr>
            <a:xfrm>
              <a:off x="4009746" y="4404717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  </a:t>
              </a:r>
            </a:p>
          </p:txBody>
        </p:sp>
      </p:grpSp>
      <p:grpSp>
        <p:nvGrpSpPr>
          <p:cNvPr id="45" name="Group 44" descr="put C node">
            <a:extLst>
              <a:ext uri="{FF2B5EF4-FFF2-40B4-BE49-F238E27FC236}">
                <a16:creationId xmlns:a16="http://schemas.microsoft.com/office/drawing/2014/main" id="{1F0A1696-5F47-0646-9DEB-EC4C9AD02C5B}"/>
              </a:ext>
            </a:extLst>
          </p:cNvPr>
          <p:cNvGrpSpPr/>
          <p:nvPr/>
        </p:nvGrpSpPr>
        <p:grpSpPr>
          <a:xfrm>
            <a:off x="3929219" y="4059306"/>
            <a:ext cx="1091024" cy="760604"/>
            <a:chOff x="3929219" y="4059306"/>
            <a:chExt cx="1091024" cy="76060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5E26BD-13A2-1544-9705-C0A5BE23CC2C}"/>
                </a:ext>
              </a:extLst>
            </p:cNvPr>
            <p:cNvSpPr txBox="1"/>
            <p:nvPr/>
          </p:nvSpPr>
          <p:spPr>
            <a:xfrm>
              <a:off x="4041255" y="4059306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put(C)</a:t>
              </a:r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D9A75DC6-5DE3-A842-8E92-6862E1B9C0B4}"/>
                </a:ext>
              </a:extLst>
            </p:cNvPr>
            <p:cNvSpPr/>
            <p:nvPr/>
          </p:nvSpPr>
          <p:spPr>
            <a:xfrm>
              <a:off x="3929219" y="4335278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 descr="example put operation">
            <a:extLst>
              <a:ext uri="{FF2B5EF4-FFF2-40B4-BE49-F238E27FC236}">
                <a16:creationId xmlns:a16="http://schemas.microsoft.com/office/drawing/2014/main" id="{0BBDD2A2-4E4C-7141-BE61-C6D0EF51D329}"/>
              </a:ext>
            </a:extLst>
          </p:cNvPr>
          <p:cNvGrpSpPr/>
          <p:nvPr/>
        </p:nvGrpSpPr>
        <p:grpSpPr>
          <a:xfrm>
            <a:off x="5293748" y="4022636"/>
            <a:ext cx="2227673" cy="1594548"/>
            <a:chOff x="6046769" y="4009279"/>
            <a:chExt cx="2227673" cy="159454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306C349-77F2-0145-9513-51498B484136}"/>
                </a:ext>
              </a:extLst>
            </p:cNvPr>
            <p:cNvSpPr/>
            <p:nvPr/>
          </p:nvSpPr>
          <p:spPr>
            <a:xfrm>
              <a:off x="6569930" y="5248228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42C9E8-EE8C-D847-8F3D-7D401369991D}"/>
                </a:ext>
              </a:extLst>
            </p:cNvPr>
            <p:cNvGrpSpPr/>
            <p:nvPr/>
          </p:nvGrpSpPr>
          <p:grpSpPr>
            <a:xfrm>
              <a:off x="6046769" y="4009279"/>
              <a:ext cx="2227673" cy="1577944"/>
              <a:chOff x="4009746" y="3836402"/>
              <a:chExt cx="2227673" cy="1577944"/>
            </a:xfrm>
          </p:grpSpPr>
          <p:grpSp>
            <p:nvGrpSpPr>
              <p:cNvPr id="36" name="Group 35" descr="creating corresponding red-black BST">
                <a:extLst>
                  <a:ext uri="{FF2B5EF4-FFF2-40B4-BE49-F238E27FC236}">
                    <a16:creationId xmlns:a16="http://schemas.microsoft.com/office/drawing/2014/main" id="{5A95258B-997A-3C4C-88DC-71D4FC781426}"/>
                  </a:ext>
                </a:extLst>
              </p:cNvPr>
              <p:cNvGrpSpPr/>
              <p:nvPr/>
            </p:nvGrpSpPr>
            <p:grpSpPr>
              <a:xfrm>
                <a:off x="4242174" y="3836402"/>
                <a:ext cx="1995245" cy="1577944"/>
                <a:chOff x="8697123" y="3057467"/>
                <a:chExt cx="1995245" cy="157794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E144088-AAD7-A146-9CDB-050E6F5F1D59}"/>
                    </a:ext>
                  </a:extLst>
                </p:cNvPr>
                <p:cNvCxnSpPr>
                  <a:cxnSpLocks/>
                  <a:stCxn id="40" idx="3"/>
                  <a:endCxn id="41" idx="0"/>
                </p:cNvCxnSpPr>
                <p:nvPr/>
              </p:nvCxnSpPr>
              <p:spPr>
                <a:xfrm>
                  <a:off x="9854978" y="3235267"/>
                  <a:ext cx="604962" cy="39369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F771C3C9-B1D7-E349-BC7C-D0B372A320F2}"/>
                    </a:ext>
                  </a:extLst>
                </p:cNvPr>
                <p:cNvCxnSpPr>
                  <a:cxnSpLocks/>
                  <a:stCxn id="40" idx="1"/>
                  <a:endCxn id="37" idx="0"/>
                </p:cNvCxnSpPr>
                <p:nvPr/>
              </p:nvCxnSpPr>
              <p:spPr>
                <a:xfrm flipH="1">
                  <a:off x="8697123" y="3235267"/>
                  <a:ext cx="692999" cy="3905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D0B3A720-BBFA-C244-921D-50C6CDE2CFCC}"/>
                    </a:ext>
                  </a:extLst>
                </p:cNvPr>
                <p:cNvSpPr/>
                <p:nvPr/>
              </p:nvSpPr>
              <p:spPr>
                <a:xfrm>
                  <a:off x="9390122" y="305746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  </a:t>
                  </a:r>
                </a:p>
              </p:txBody>
            </p:sp>
            <p:sp>
              <p:nvSpPr>
                <p:cNvPr id="41" name="Rounded Rectangle 40">
                  <a:extLst>
                    <a:ext uri="{FF2B5EF4-FFF2-40B4-BE49-F238E27FC236}">
                      <a16:creationId xmlns:a16="http://schemas.microsoft.com/office/drawing/2014/main" id="{00070DD8-603B-AB4B-ACFC-37AB79D5C0B8}"/>
                    </a:ext>
                  </a:extLst>
                </p:cNvPr>
                <p:cNvSpPr/>
                <p:nvPr/>
              </p:nvSpPr>
              <p:spPr>
                <a:xfrm>
                  <a:off x="10227512" y="362895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  </a:t>
                  </a:r>
                </a:p>
              </p:txBody>
            </p:sp>
            <p:sp>
              <p:nvSpPr>
                <p:cNvPr id="42" name="Rounded Rectangle 41">
                  <a:extLst>
                    <a:ext uri="{FF2B5EF4-FFF2-40B4-BE49-F238E27FC236}">
                      <a16:creationId xmlns:a16="http://schemas.microsoft.com/office/drawing/2014/main" id="{7B5B54AB-F533-FA44-A84A-F688D385EE1F}"/>
                    </a:ext>
                  </a:extLst>
                </p:cNvPr>
                <p:cNvSpPr/>
                <p:nvPr/>
              </p:nvSpPr>
              <p:spPr>
                <a:xfrm>
                  <a:off x="9567207" y="42798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   </a:t>
                  </a:r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26525B1-AD3B-3C4A-8220-55C94042CE9A}"/>
                    </a:ext>
                  </a:extLst>
                </p:cNvPr>
                <p:cNvCxnSpPr>
                  <a:cxnSpLocks/>
                  <a:stCxn id="41" idx="1"/>
                  <a:endCxn id="42" idx="0"/>
                </p:cNvCxnSpPr>
                <p:nvPr/>
              </p:nvCxnSpPr>
              <p:spPr>
                <a:xfrm flipH="1">
                  <a:off x="9799635" y="3806757"/>
                  <a:ext cx="427877" cy="473055"/>
                </a:xfrm>
                <a:prstGeom prst="line">
                  <a:avLst/>
                </a:prstGeom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8794F09-0864-1844-AEB7-E1F2DCE834AE}"/>
                  </a:ext>
                </a:extLst>
              </p:cNvPr>
              <p:cNvSpPr/>
              <p:nvPr/>
            </p:nvSpPr>
            <p:spPr>
              <a:xfrm>
                <a:off x="4009746" y="4404717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  </a:t>
                </a:r>
              </a:p>
            </p:txBody>
          </p: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77E8E7-C006-8B45-8F90-05797EA71F71}"/>
                </a:ext>
              </a:extLst>
            </p:cNvPr>
            <p:cNvCxnSpPr>
              <a:cxnSpLocks/>
              <a:stCxn id="37" idx="3"/>
              <a:endCxn id="25" idx="0"/>
            </p:cNvCxnSpPr>
            <p:nvPr/>
          </p:nvCxnSpPr>
          <p:spPr>
            <a:xfrm>
              <a:off x="6511625" y="4755394"/>
              <a:ext cx="290733" cy="4928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 descr="coloring link red" hidden="1">
            <a:extLst>
              <a:ext uri="{FF2B5EF4-FFF2-40B4-BE49-F238E27FC236}">
                <a16:creationId xmlns:a16="http://schemas.microsoft.com/office/drawing/2014/main" id="{88492DC6-30FF-1B49-AD2A-BB19FEBF1B7F}"/>
              </a:ext>
            </a:extLst>
          </p:cNvPr>
          <p:cNvCxnSpPr>
            <a:cxnSpLocks/>
            <a:stCxn id="37" idx="3"/>
            <a:endCxn id="25" idx="0"/>
          </p:cNvCxnSpPr>
          <p:nvPr/>
        </p:nvCxnSpPr>
        <p:spPr>
          <a:xfrm>
            <a:off x="5758604" y="4768751"/>
            <a:ext cx="290733" cy="49283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 descr="example put operation">
            <a:extLst>
              <a:ext uri="{FF2B5EF4-FFF2-40B4-BE49-F238E27FC236}">
                <a16:creationId xmlns:a16="http://schemas.microsoft.com/office/drawing/2014/main" id="{2C04FDC4-D2AF-3B4B-8296-70290617966B}"/>
              </a:ext>
            </a:extLst>
          </p:cNvPr>
          <p:cNvGrpSpPr/>
          <p:nvPr/>
        </p:nvGrpSpPr>
        <p:grpSpPr>
          <a:xfrm>
            <a:off x="7772536" y="4022636"/>
            <a:ext cx="3605270" cy="1577944"/>
            <a:chOff x="7772536" y="4022636"/>
            <a:chExt cx="3605270" cy="1577944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28D415AA-47EF-E845-8FEB-8802339FA4C9}"/>
                </a:ext>
              </a:extLst>
            </p:cNvPr>
            <p:cNvSpPr/>
            <p:nvPr/>
          </p:nvSpPr>
          <p:spPr>
            <a:xfrm>
              <a:off x="8746524" y="5193523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F292398-9D06-604B-999E-E9C115EDF025}"/>
                </a:ext>
              </a:extLst>
            </p:cNvPr>
            <p:cNvGrpSpPr/>
            <p:nvPr/>
          </p:nvGrpSpPr>
          <p:grpSpPr>
            <a:xfrm>
              <a:off x="9338383" y="4022636"/>
              <a:ext cx="2039423" cy="1577944"/>
              <a:chOff x="4197996" y="3836402"/>
              <a:chExt cx="2039423" cy="1577944"/>
            </a:xfrm>
          </p:grpSpPr>
          <p:grpSp>
            <p:nvGrpSpPr>
              <p:cNvPr id="53" name="Group 52" descr="creating corresponding red-black BST">
                <a:extLst>
                  <a:ext uri="{FF2B5EF4-FFF2-40B4-BE49-F238E27FC236}">
                    <a16:creationId xmlns:a16="http://schemas.microsoft.com/office/drawing/2014/main" id="{BCB0C912-436C-654D-A248-D6071A0629F4}"/>
                  </a:ext>
                </a:extLst>
              </p:cNvPr>
              <p:cNvGrpSpPr/>
              <p:nvPr/>
            </p:nvGrpSpPr>
            <p:grpSpPr>
              <a:xfrm>
                <a:off x="4430424" y="3836402"/>
                <a:ext cx="1806995" cy="1577944"/>
                <a:chOff x="8885373" y="3057467"/>
                <a:chExt cx="1806995" cy="1577944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25F529C-A2F7-4747-A9F9-EA666F9634BF}"/>
                    </a:ext>
                  </a:extLst>
                </p:cNvPr>
                <p:cNvCxnSpPr>
                  <a:cxnSpLocks/>
                  <a:stCxn id="57" idx="3"/>
                  <a:endCxn id="58" idx="0"/>
                </p:cNvCxnSpPr>
                <p:nvPr/>
              </p:nvCxnSpPr>
              <p:spPr>
                <a:xfrm>
                  <a:off x="9854978" y="3235267"/>
                  <a:ext cx="604962" cy="39369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4872A68D-B375-0945-AC85-8D572E18CDE4}"/>
                    </a:ext>
                  </a:extLst>
                </p:cNvPr>
                <p:cNvCxnSpPr>
                  <a:cxnSpLocks/>
                  <a:stCxn id="57" idx="1"/>
                  <a:endCxn id="54" idx="0"/>
                </p:cNvCxnSpPr>
                <p:nvPr/>
              </p:nvCxnSpPr>
              <p:spPr>
                <a:xfrm flipH="1">
                  <a:off x="8885373" y="3235267"/>
                  <a:ext cx="504749" cy="40564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Rounded Rectangle 56">
                  <a:extLst>
                    <a:ext uri="{FF2B5EF4-FFF2-40B4-BE49-F238E27FC236}">
                      <a16:creationId xmlns:a16="http://schemas.microsoft.com/office/drawing/2014/main" id="{2EDF2D93-3D5E-D94F-A3DB-480AEDE532F0}"/>
                    </a:ext>
                  </a:extLst>
                </p:cNvPr>
                <p:cNvSpPr/>
                <p:nvPr/>
              </p:nvSpPr>
              <p:spPr>
                <a:xfrm>
                  <a:off x="9390122" y="305746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  </a:t>
                  </a:r>
                </a:p>
              </p:txBody>
            </p:sp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F4A0083A-C38F-3B47-9D79-81386AB285E8}"/>
                    </a:ext>
                  </a:extLst>
                </p:cNvPr>
                <p:cNvSpPr/>
                <p:nvPr/>
              </p:nvSpPr>
              <p:spPr>
                <a:xfrm>
                  <a:off x="10227512" y="362895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  </a:t>
                  </a:r>
                </a:p>
              </p:txBody>
            </p:sp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76DCB5DD-ECBB-8146-8F3F-14C64D3BD944}"/>
                    </a:ext>
                  </a:extLst>
                </p:cNvPr>
                <p:cNvSpPr/>
                <p:nvPr/>
              </p:nvSpPr>
              <p:spPr>
                <a:xfrm>
                  <a:off x="9567207" y="42798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   </a:t>
                  </a:r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4E2D72E0-09C9-2E43-8144-7A63BC1B0408}"/>
                    </a:ext>
                  </a:extLst>
                </p:cNvPr>
                <p:cNvCxnSpPr>
                  <a:cxnSpLocks/>
                  <a:stCxn id="58" idx="1"/>
                  <a:endCxn id="59" idx="0"/>
                </p:cNvCxnSpPr>
                <p:nvPr/>
              </p:nvCxnSpPr>
              <p:spPr>
                <a:xfrm flipH="1">
                  <a:off x="9799635" y="3806757"/>
                  <a:ext cx="427877" cy="473055"/>
                </a:xfrm>
                <a:prstGeom prst="line">
                  <a:avLst/>
                </a:prstGeom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EDAD69B2-4C8C-454F-BF75-D92D2FD5FAA6}"/>
                  </a:ext>
                </a:extLst>
              </p:cNvPr>
              <p:cNvSpPr/>
              <p:nvPr/>
            </p:nvSpPr>
            <p:spPr>
              <a:xfrm>
                <a:off x="4197996" y="4419845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  </a:t>
                </a:r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9B7FD00-063B-BC4B-90CA-498955F18F6E}"/>
                </a:ext>
              </a:extLst>
            </p:cNvPr>
            <p:cNvCxnSpPr>
              <a:cxnSpLocks/>
              <a:stCxn id="54" idx="1"/>
              <a:endCxn id="50" idx="0"/>
            </p:cNvCxnSpPr>
            <p:nvPr/>
          </p:nvCxnSpPr>
          <p:spPr>
            <a:xfrm flipH="1">
              <a:off x="8978952" y="4783879"/>
              <a:ext cx="359431" cy="40964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58B34795-8579-584C-B25B-D57BE76E0649}"/>
                </a:ext>
              </a:extLst>
            </p:cNvPr>
            <p:cNvSpPr/>
            <p:nvPr/>
          </p:nvSpPr>
          <p:spPr>
            <a:xfrm>
              <a:off x="7772536" y="4443146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9EDA60-6210-ED40-BBED-223FA90BE34F}"/>
              </a:ext>
            </a:extLst>
          </p:cNvPr>
          <p:cNvCxnSpPr>
            <a:cxnSpLocks/>
          </p:cNvCxnSpPr>
          <p:nvPr/>
        </p:nvCxnSpPr>
        <p:spPr>
          <a:xfrm>
            <a:off x="5744500" y="4761830"/>
            <a:ext cx="291881" cy="493246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96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Case 2</a:t>
            </a:r>
            <a:r>
              <a:rPr lang="en-US" dirty="0"/>
              <a:t>: insert into a 3-node at the bottom</a:t>
            </a:r>
          </a:p>
          <a:p>
            <a:pPr lvl="2"/>
            <a:r>
              <a:rPr lang="en-US" dirty="0"/>
              <a:t>Do a standard BST insert</a:t>
            </a:r>
          </a:p>
          <a:p>
            <a:pPr lvl="2"/>
            <a:r>
              <a:rPr lang="en-US" dirty="0"/>
              <a:t>Color the new link RED</a:t>
            </a:r>
          </a:p>
          <a:p>
            <a:pPr lvl="2"/>
            <a:r>
              <a:rPr lang="en-US" dirty="0"/>
              <a:t>Rotate to balance the 4-node (if needed)</a:t>
            </a:r>
          </a:p>
          <a:p>
            <a:pPr lvl="2"/>
            <a:r>
              <a:rPr lang="en-US" dirty="0"/>
              <a:t>Flip colors to pass the red link up one level</a:t>
            </a:r>
          </a:p>
          <a:p>
            <a:pPr lvl="2"/>
            <a:r>
              <a:rPr lang="en-US" dirty="0"/>
              <a:t>If the propagated red link is a right link, rotate left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grpSp>
        <p:nvGrpSpPr>
          <p:cNvPr id="8" name="Group 7" descr="example tree">
            <a:extLst>
              <a:ext uri="{FF2B5EF4-FFF2-40B4-BE49-F238E27FC236}">
                <a16:creationId xmlns:a16="http://schemas.microsoft.com/office/drawing/2014/main" id="{BAC46BE5-A461-F94B-B7DE-F5528B6A5622}"/>
              </a:ext>
            </a:extLst>
          </p:cNvPr>
          <p:cNvGrpSpPr/>
          <p:nvPr/>
        </p:nvGrpSpPr>
        <p:grpSpPr>
          <a:xfrm>
            <a:off x="197707" y="4443146"/>
            <a:ext cx="2631282" cy="1577944"/>
            <a:chOff x="8746524" y="4022636"/>
            <a:chExt cx="2631282" cy="157794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3BA2714-4C3A-2648-80F0-D930AD58F222}"/>
                </a:ext>
              </a:extLst>
            </p:cNvPr>
            <p:cNvSpPr/>
            <p:nvPr/>
          </p:nvSpPr>
          <p:spPr>
            <a:xfrm>
              <a:off x="8746524" y="5193523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 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E2D5486-AAFB-0647-B179-C1D6F902D79E}"/>
                </a:ext>
              </a:extLst>
            </p:cNvPr>
            <p:cNvGrpSpPr/>
            <p:nvPr/>
          </p:nvGrpSpPr>
          <p:grpSpPr>
            <a:xfrm>
              <a:off x="9338383" y="4022636"/>
              <a:ext cx="2039423" cy="1577944"/>
              <a:chOff x="4197996" y="3836402"/>
              <a:chExt cx="2039423" cy="1577944"/>
            </a:xfrm>
          </p:grpSpPr>
          <p:grpSp>
            <p:nvGrpSpPr>
              <p:cNvPr id="16" name="Group 15" descr="creating corresponding red-black BST">
                <a:extLst>
                  <a:ext uri="{FF2B5EF4-FFF2-40B4-BE49-F238E27FC236}">
                    <a16:creationId xmlns:a16="http://schemas.microsoft.com/office/drawing/2014/main" id="{70A2B2D3-2815-584E-8A3A-4B67D63E0057}"/>
                  </a:ext>
                </a:extLst>
              </p:cNvPr>
              <p:cNvGrpSpPr/>
              <p:nvPr/>
            </p:nvGrpSpPr>
            <p:grpSpPr>
              <a:xfrm>
                <a:off x="4430424" y="3836402"/>
                <a:ext cx="1806995" cy="1577944"/>
                <a:chOff x="8885373" y="3057467"/>
                <a:chExt cx="1806995" cy="1577944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D236AB5E-7487-824C-B075-5811EA847AF2}"/>
                    </a:ext>
                  </a:extLst>
                </p:cNvPr>
                <p:cNvCxnSpPr>
                  <a:cxnSpLocks/>
                  <a:stCxn id="20" idx="3"/>
                  <a:endCxn id="21" idx="0"/>
                </p:cNvCxnSpPr>
                <p:nvPr/>
              </p:nvCxnSpPr>
              <p:spPr>
                <a:xfrm>
                  <a:off x="9854978" y="3235267"/>
                  <a:ext cx="604962" cy="39369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124931F-3184-A741-9A01-2627F2E0C227}"/>
                    </a:ext>
                  </a:extLst>
                </p:cNvPr>
                <p:cNvCxnSpPr>
                  <a:cxnSpLocks/>
                  <a:stCxn id="20" idx="1"/>
                  <a:endCxn id="17" idx="0"/>
                </p:cNvCxnSpPr>
                <p:nvPr/>
              </p:nvCxnSpPr>
              <p:spPr>
                <a:xfrm flipH="1">
                  <a:off x="8885373" y="3235267"/>
                  <a:ext cx="504749" cy="40564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54410446-E3FA-7442-9881-228376838161}"/>
                    </a:ext>
                  </a:extLst>
                </p:cNvPr>
                <p:cNvSpPr/>
                <p:nvPr/>
              </p:nvSpPr>
              <p:spPr>
                <a:xfrm>
                  <a:off x="9390122" y="305746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   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BC3F9EED-BE05-7E45-A064-50A33DE79C9A}"/>
                    </a:ext>
                  </a:extLst>
                </p:cNvPr>
                <p:cNvSpPr/>
                <p:nvPr/>
              </p:nvSpPr>
              <p:spPr>
                <a:xfrm>
                  <a:off x="10227512" y="3628957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  </a:t>
                  </a:r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5D42DC8D-5424-D646-8D24-A6E0A1906E5F}"/>
                    </a:ext>
                  </a:extLst>
                </p:cNvPr>
                <p:cNvSpPr/>
                <p:nvPr/>
              </p:nvSpPr>
              <p:spPr>
                <a:xfrm>
                  <a:off x="9567207" y="4279812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   </a:t>
                  </a: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382C4CD-37D5-3C42-852D-06CE43EC00AB}"/>
                    </a:ext>
                  </a:extLst>
                </p:cNvPr>
                <p:cNvCxnSpPr>
                  <a:cxnSpLocks/>
                  <a:stCxn id="21" idx="1"/>
                  <a:endCxn id="22" idx="0"/>
                </p:cNvCxnSpPr>
                <p:nvPr/>
              </p:nvCxnSpPr>
              <p:spPr>
                <a:xfrm flipH="1">
                  <a:off x="9799635" y="3806757"/>
                  <a:ext cx="427877" cy="473055"/>
                </a:xfrm>
                <a:prstGeom prst="line">
                  <a:avLst/>
                </a:prstGeom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5B9D341-1D0C-F749-8928-D16D1EA2B2EB}"/>
                  </a:ext>
                </a:extLst>
              </p:cNvPr>
              <p:cNvSpPr/>
              <p:nvPr/>
            </p:nvSpPr>
            <p:spPr>
              <a:xfrm>
                <a:off x="4197996" y="4419845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  </a:t>
                </a:r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E33D1F-42AA-2B4F-8A06-9F4A265EEE07}"/>
                </a:ext>
              </a:extLst>
            </p:cNvPr>
            <p:cNvCxnSpPr>
              <a:cxnSpLocks/>
              <a:stCxn id="17" idx="1"/>
              <a:endCxn id="12" idx="0"/>
            </p:cNvCxnSpPr>
            <p:nvPr/>
          </p:nvCxnSpPr>
          <p:spPr>
            <a:xfrm flipH="1">
              <a:off x="8978952" y="4783879"/>
              <a:ext cx="359431" cy="40964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 descr="put node H">
            <a:extLst>
              <a:ext uri="{FF2B5EF4-FFF2-40B4-BE49-F238E27FC236}">
                <a16:creationId xmlns:a16="http://schemas.microsoft.com/office/drawing/2014/main" id="{80946592-C8DF-9D49-8253-C73D18B7EE9D}"/>
              </a:ext>
            </a:extLst>
          </p:cNvPr>
          <p:cNvGrpSpPr/>
          <p:nvPr/>
        </p:nvGrpSpPr>
        <p:grpSpPr>
          <a:xfrm>
            <a:off x="2969095" y="4628783"/>
            <a:ext cx="1091024" cy="771706"/>
            <a:chOff x="3473844" y="4680803"/>
            <a:chExt cx="1091024" cy="771706"/>
          </a:xfrm>
        </p:grpSpPr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2BBB9E2F-7CD8-B94C-8E75-3995F4FD008E}"/>
                </a:ext>
              </a:extLst>
            </p:cNvPr>
            <p:cNvSpPr/>
            <p:nvPr/>
          </p:nvSpPr>
          <p:spPr>
            <a:xfrm>
              <a:off x="3473844" y="4967877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8A1AB7-8578-0640-9E07-D0F058312C66}"/>
                </a:ext>
              </a:extLst>
            </p:cNvPr>
            <p:cNvSpPr txBox="1"/>
            <p:nvPr/>
          </p:nvSpPr>
          <p:spPr>
            <a:xfrm>
              <a:off x="3571754" y="4680803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put(H)</a:t>
              </a:r>
            </a:p>
          </p:txBody>
        </p:sp>
      </p:grpSp>
      <p:grpSp>
        <p:nvGrpSpPr>
          <p:cNvPr id="40" name="Group 39" descr="example put operation">
            <a:extLst>
              <a:ext uri="{FF2B5EF4-FFF2-40B4-BE49-F238E27FC236}">
                <a16:creationId xmlns:a16="http://schemas.microsoft.com/office/drawing/2014/main" id="{1856842B-8DE8-1D49-BD74-AAD654F6D3C9}"/>
              </a:ext>
            </a:extLst>
          </p:cNvPr>
          <p:cNvGrpSpPr/>
          <p:nvPr/>
        </p:nvGrpSpPr>
        <p:grpSpPr>
          <a:xfrm>
            <a:off x="3857410" y="4443146"/>
            <a:ext cx="2631282" cy="2339186"/>
            <a:chOff x="4193902" y="4146585"/>
            <a:chExt cx="2631282" cy="233918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FAED15-4F76-074D-8B64-6B5695B7F2C2}"/>
                </a:ext>
              </a:extLst>
            </p:cNvPr>
            <p:cNvGrpSpPr/>
            <p:nvPr/>
          </p:nvGrpSpPr>
          <p:grpSpPr>
            <a:xfrm>
              <a:off x="4193902" y="4146585"/>
              <a:ext cx="2631282" cy="1577944"/>
              <a:chOff x="8746524" y="4022636"/>
              <a:chExt cx="2631282" cy="1577944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56AECB8C-4D2B-3D4B-861A-D35C348C32A2}"/>
                  </a:ext>
                </a:extLst>
              </p:cNvPr>
              <p:cNvSpPr/>
              <p:nvPr/>
            </p:nvSpPr>
            <p:spPr>
              <a:xfrm>
                <a:off x="8746524" y="519352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FFD1353-443A-2F4A-BE50-85AF795A6092}"/>
                  </a:ext>
                </a:extLst>
              </p:cNvPr>
              <p:cNvGrpSpPr/>
              <p:nvPr/>
            </p:nvGrpSpPr>
            <p:grpSpPr>
              <a:xfrm>
                <a:off x="9338383" y="4022636"/>
                <a:ext cx="2039423" cy="1577944"/>
                <a:chOff x="4197996" y="3836402"/>
                <a:chExt cx="2039423" cy="1577944"/>
              </a:xfrm>
            </p:grpSpPr>
            <p:grpSp>
              <p:nvGrpSpPr>
                <p:cNvPr id="30" name="Group 29" descr="creating corresponding red-black BST">
                  <a:extLst>
                    <a:ext uri="{FF2B5EF4-FFF2-40B4-BE49-F238E27FC236}">
                      <a16:creationId xmlns:a16="http://schemas.microsoft.com/office/drawing/2014/main" id="{CBF54B52-0A39-224D-8D4F-38A59640FD6D}"/>
                    </a:ext>
                  </a:extLst>
                </p:cNvPr>
                <p:cNvGrpSpPr/>
                <p:nvPr/>
              </p:nvGrpSpPr>
              <p:grpSpPr>
                <a:xfrm>
                  <a:off x="4430424" y="3836402"/>
                  <a:ext cx="1806995" cy="1577944"/>
                  <a:chOff x="8885373" y="3057467"/>
                  <a:chExt cx="1806995" cy="1577944"/>
                </a:xfrm>
              </p:grpSpPr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BF3FF051-C5C2-E34C-B739-E54324320267}"/>
                      </a:ext>
                    </a:extLst>
                  </p:cNvPr>
                  <p:cNvCxnSpPr>
                    <a:cxnSpLocks/>
                    <a:stCxn id="34" idx="3"/>
                    <a:endCxn id="35" idx="0"/>
                  </p:cNvCxnSpPr>
                  <p:nvPr/>
                </p:nvCxnSpPr>
                <p:spPr>
                  <a:xfrm>
                    <a:off x="9854978" y="3235267"/>
                    <a:ext cx="604962" cy="393690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1DA8BD65-071C-0240-A19D-F6536870836F}"/>
                      </a:ext>
                    </a:extLst>
                  </p:cNvPr>
                  <p:cNvCxnSpPr>
                    <a:cxnSpLocks/>
                    <a:stCxn id="34" idx="1"/>
                    <a:endCxn id="31" idx="0"/>
                  </p:cNvCxnSpPr>
                  <p:nvPr/>
                </p:nvCxnSpPr>
                <p:spPr>
                  <a:xfrm flipH="1">
                    <a:off x="8885373" y="3235267"/>
                    <a:ext cx="504749" cy="40564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Rounded Rectangle 33">
                    <a:extLst>
                      <a:ext uri="{FF2B5EF4-FFF2-40B4-BE49-F238E27FC236}">
                        <a16:creationId xmlns:a16="http://schemas.microsoft.com/office/drawing/2014/main" id="{FFF429BD-32D2-8C4D-8BD9-768D0564586C}"/>
                      </a:ext>
                    </a:extLst>
                  </p:cNvPr>
                  <p:cNvSpPr/>
                  <p:nvPr/>
                </p:nvSpPr>
                <p:spPr>
                  <a:xfrm>
                    <a:off x="9390122" y="305746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  </a:t>
                    </a:r>
                  </a:p>
                </p:txBody>
              </p:sp>
              <p:sp>
                <p:nvSpPr>
                  <p:cNvPr id="35" name="Rounded Rectangle 34">
                    <a:extLst>
                      <a:ext uri="{FF2B5EF4-FFF2-40B4-BE49-F238E27FC236}">
                        <a16:creationId xmlns:a16="http://schemas.microsoft.com/office/drawing/2014/main" id="{8256C96C-4FE3-754D-9BB4-1FDDC2549C79}"/>
                      </a:ext>
                    </a:extLst>
                  </p:cNvPr>
                  <p:cNvSpPr/>
                  <p:nvPr/>
                </p:nvSpPr>
                <p:spPr>
                  <a:xfrm>
                    <a:off x="10227512" y="362895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   </a:t>
                    </a:r>
                  </a:p>
                </p:txBody>
              </p:sp>
              <p:sp>
                <p:nvSpPr>
                  <p:cNvPr id="36" name="Rounded Rectangle 35">
                    <a:extLst>
                      <a:ext uri="{FF2B5EF4-FFF2-40B4-BE49-F238E27FC236}">
                        <a16:creationId xmlns:a16="http://schemas.microsoft.com/office/drawing/2014/main" id="{644D8C35-DA21-404B-90BA-623C10EAF491}"/>
                      </a:ext>
                    </a:extLst>
                  </p:cNvPr>
                  <p:cNvSpPr/>
                  <p:nvPr/>
                </p:nvSpPr>
                <p:spPr>
                  <a:xfrm>
                    <a:off x="9567207" y="4279812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   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F2642D6F-816F-1B4A-8900-56C010D54A82}"/>
                      </a:ext>
                    </a:extLst>
                  </p:cNvPr>
                  <p:cNvCxnSpPr>
                    <a:cxnSpLocks/>
                    <a:stCxn id="35" idx="1"/>
                    <a:endCxn id="36" idx="0"/>
                  </p:cNvCxnSpPr>
                  <p:nvPr/>
                </p:nvCxnSpPr>
                <p:spPr>
                  <a:xfrm flipH="1">
                    <a:off x="9799635" y="3806757"/>
                    <a:ext cx="427877" cy="473055"/>
                  </a:xfrm>
                  <a:prstGeom prst="line">
                    <a:avLst/>
                  </a:prstGeom>
                  <a:ln w="635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B93E7F4E-4DDD-2E48-9A06-36A5C42A5E50}"/>
                    </a:ext>
                  </a:extLst>
                </p:cNvPr>
                <p:cNvSpPr/>
                <p:nvPr/>
              </p:nvSpPr>
              <p:spPr>
                <a:xfrm>
                  <a:off x="4197996" y="4419845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E3FA414-7F4F-D84A-B5D7-23B8DC70FB1E}"/>
                  </a:ext>
                </a:extLst>
              </p:cNvPr>
              <p:cNvCxnSpPr>
                <a:cxnSpLocks/>
                <a:stCxn id="31" idx="1"/>
                <a:endCxn id="27" idx="0"/>
              </p:cNvCxnSpPr>
              <p:nvPr/>
            </p:nvCxnSpPr>
            <p:spPr>
              <a:xfrm flipH="1">
                <a:off x="8978952" y="4783879"/>
                <a:ext cx="359431" cy="409644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78DA696-8AF9-0340-B163-2F0FCA72DA61}"/>
                </a:ext>
              </a:extLst>
            </p:cNvPr>
            <p:cNvSpPr/>
            <p:nvPr/>
          </p:nvSpPr>
          <p:spPr>
            <a:xfrm>
              <a:off x="5076571" y="6130172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  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20D3FCB-9738-D748-AC1B-62CF49DCAB0D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5308999" y="5657117"/>
              <a:ext cx="427877" cy="473055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 descr="rotation operation">
            <a:extLst>
              <a:ext uri="{FF2B5EF4-FFF2-40B4-BE49-F238E27FC236}">
                <a16:creationId xmlns:a16="http://schemas.microsoft.com/office/drawing/2014/main" id="{7A4E5C19-591C-6A44-B106-99AB16B44BE3}"/>
              </a:ext>
            </a:extLst>
          </p:cNvPr>
          <p:cNvGrpSpPr/>
          <p:nvPr/>
        </p:nvGrpSpPr>
        <p:grpSpPr>
          <a:xfrm>
            <a:off x="6507191" y="4813449"/>
            <a:ext cx="1620957" cy="730577"/>
            <a:chOff x="3296894" y="4721932"/>
            <a:chExt cx="1620957" cy="730577"/>
          </a:xfrm>
        </p:grpSpPr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E513B635-1410-8146-9783-3D01DBC2DE1B}"/>
                </a:ext>
              </a:extLst>
            </p:cNvPr>
            <p:cNvSpPr/>
            <p:nvPr/>
          </p:nvSpPr>
          <p:spPr>
            <a:xfrm>
              <a:off x="3473844" y="4967877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E4C54F8-1C3B-E946-92A9-E2D8922E34C6}"/>
                </a:ext>
              </a:extLst>
            </p:cNvPr>
            <p:cNvSpPr txBox="1"/>
            <p:nvPr/>
          </p:nvSpPr>
          <p:spPr>
            <a:xfrm>
              <a:off x="3296894" y="4721932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rotateRight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(S)</a:t>
              </a:r>
            </a:p>
          </p:txBody>
        </p:sp>
      </p:grpSp>
      <p:grpSp>
        <p:nvGrpSpPr>
          <p:cNvPr id="44" name="Group 43" descr="example put operation">
            <a:extLst>
              <a:ext uri="{FF2B5EF4-FFF2-40B4-BE49-F238E27FC236}">
                <a16:creationId xmlns:a16="http://schemas.microsoft.com/office/drawing/2014/main" id="{50CE4D7E-CA50-AF49-8CE0-1AC8718D8BEA}"/>
              </a:ext>
            </a:extLst>
          </p:cNvPr>
          <p:cNvGrpSpPr/>
          <p:nvPr/>
        </p:nvGrpSpPr>
        <p:grpSpPr>
          <a:xfrm>
            <a:off x="7651058" y="4443146"/>
            <a:ext cx="3155591" cy="1598135"/>
            <a:chOff x="4193902" y="4146585"/>
            <a:chExt cx="3155591" cy="159813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42232E5-3CA7-8F4A-AFDC-A990B03758A7}"/>
                </a:ext>
              </a:extLst>
            </p:cNvPr>
            <p:cNvGrpSpPr/>
            <p:nvPr/>
          </p:nvGrpSpPr>
          <p:grpSpPr>
            <a:xfrm>
              <a:off x="4193902" y="4146585"/>
              <a:ext cx="2631282" cy="1577944"/>
              <a:chOff x="8746524" y="4022636"/>
              <a:chExt cx="2631282" cy="1577944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3CC70D88-BA70-F54B-8491-6A2443AA3883}"/>
                  </a:ext>
                </a:extLst>
              </p:cNvPr>
              <p:cNvSpPr/>
              <p:nvPr/>
            </p:nvSpPr>
            <p:spPr>
              <a:xfrm>
                <a:off x="8746524" y="519352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</a:t>
                </a: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2BFC18B-7A9B-5F47-89F9-DB027BC5F7C2}"/>
                  </a:ext>
                </a:extLst>
              </p:cNvPr>
              <p:cNvGrpSpPr/>
              <p:nvPr/>
            </p:nvGrpSpPr>
            <p:grpSpPr>
              <a:xfrm>
                <a:off x="9338383" y="4022636"/>
                <a:ext cx="2039423" cy="1577944"/>
                <a:chOff x="4197996" y="3836402"/>
                <a:chExt cx="2039423" cy="1577944"/>
              </a:xfrm>
            </p:grpSpPr>
            <p:grpSp>
              <p:nvGrpSpPr>
                <p:cNvPr id="51" name="Group 50" descr="creating corresponding red-black BST">
                  <a:extLst>
                    <a:ext uri="{FF2B5EF4-FFF2-40B4-BE49-F238E27FC236}">
                      <a16:creationId xmlns:a16="http://schemas.microsoft.com/office/drawing/2014/main" id="{E6249D2D-0AB6-1047-AA10-8780D4D1F649}"/>
                    </a:ext>
                  </a:extLst>
                </p:cNvPr>
                <p:cNvGrpSpPr/>
                <p:nvPr/>
              </p:nvGrpSpPr>
              <p:grpSpPr>
                <a:xfrm>
                  <a:off x="4430424" y="3836402"/>
                  <a:ext cx="1806995" cy="1577944"/>
                  <a:chOff x="8885373" y="3057467"/>
                  <a:chExt cx="1806995" cy="1577944"/>
                </a:xfrm>
              </p:grpSpPr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917FB1FB-477E-CE43-9CBF-F1FB81205E7F}"/>
                      </a:ext>
                    </a:extLst>
                  </p:cNvPr>
                  <p:cNvCxnSpPr>
                    <a:cxnSpLocks/>
                    <a:stCxn id="55" idx="3"/>
                    <a:endCxn id="56" idx="0"/>
                  </p:cNvCxnSpPr>
                  <p:nvPr/>
                </p:nvCxnSpPr>
                <p:spPr>
                  <a:xfrm>
                    <a:off x="9854978" y="3235267"/>
                    <a:ext cx="604962" cy="393690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85EDA198-777D-6845-85A6-E1654F98BF9C}"/>
                      </a:ext>
                    </a:extLst>
                  </p:cNvPr>
                  <p:cNvCxnSpPr>
                    <a:cxnSpLocks/>
                    <a:stCxn id="55" idx="1"/>
                    <a:endCxn id="52" idx="0"/>
                  </p:cNvCxnSpPr>
                  <p:nvPr/>
                </p:nvCxnSpPr>
                <p:spPr>
                  <a:xfrm flipH="1">
                    <a:off x="8885373" y="3235267"/>
                    <a:ext cx="504749" cy="40564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Rounded Rectangle 54">
                    <a:extLst>
                      <a:ext uri="{FF2B5EF4-FFF2-40B4-BE49-F238E27FC236}">
                        <a16:creationId xmlns:a16="http://schemas.microsoft.com/office/drawing/2014/main" id="{98CFDB79-38FA-7046-A413-95325501EC56}"/>
                      </a:ext>
                    </a:extLst>
                  </p:cNvPr>
                  <p:cNvSpPr/>
                  <p:nvPr/>
                </p:nvSpPr>
                <p:spPr>
                  <a:xfrm>
                    <a:off x="9390122" y="305746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  </a:t>
                    </a:r>
                  </a:p>
                </p:txBody>
              </p:sp>
              <p:sp>
                <p:nvSpPr>
                  <p:cNvPr id="56" name="Rounded Rectangle 55">
                    <a:extLst>
                      <a:ext uri="{FF2B5EF4-FFF2-40B4-BE49-F238E27FC236}">
                        <a16:creationId xmlns:a16="http://schemas.microsoft.com/office/drawing/2014/main" id="{57E5B203-7D01-D747-B1D5-98DED69C3DFD}"/>
                      </a:ext>
                    </a:extLst>
                  </p:cNvPr>
                  <p:cNvSpPr/>
                  <p:nvPr/>
                </p:nvSpPr>
                <p:spPr>
                  <a:xfrm>
                    <a:off x="10227512" y="362895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   </a:t>
                    </a:r>
                  </a:p>
                </p:txBody>
              </p:sp>
              <p:sp>
                <p:nvSpPr>
                  <p:cNvPr id="57" name="Rounded Rectangle 56">
                    <a:extLst>
                      <a:ext uri="{FF2B5EF4-FFF2-40B4-BE49-F238E27FC236}">
                        <a16:creationId xmlns:a16="http://schemas.microsoft.com/office/drawing/2014/main" id="{BEC48411-AF1D-674B-8EF3-FD4636A9D6A1}"/>
                      </a:ext>
                    </a:extLst>
                  </p:cNvPr>
                  <p:cNvSpPr/>
                  <p:nvPr/>
                </p:nvSpPr>
                <p:spPr>
                  <a:xfrm>
                    <a:off x="9567207" y="4279812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   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FB7E4A71-6D0F-AC46-A292-9F524AC746B9}"/>
                      </a:ext>
                    </a:extLst>
                  </p:cNvPr>
                  <p:cNvCxnSpPr>
                    <a:cxnSpLocks/>
                    <a:stCxn id="56" idx="1"/>
                    <a:endCxn id="57" idx="0"/>
                  </p:cNvCxnSpPr>
                  <p:nvPr/>
                </p:nvCxnSpPr>
                <p:spPr>
                  <a:xfrm flipH="1">
                    <a:off x="9799635" y="3806757"/>
                    <a:ext cx="427877" cy="473055"/>
                  </a:xfrm>
                  <a:prstGeom prst="line">
                    <a:avLst/>
                  </a:prstGeom>
                  <a:ln w="635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Rounded Rectangle 51">
                  <a:extLst>
                    <a:ext uri="{FF2B5EF4-FFF2-40B4-BE49-F238E27FC236}">
                      <a16:creationId xmlns:a16="http://schemas.microsoft.com/office/drawing/2014/main" id="{AA9B4C3D-C3D1-0643-B4ED-5252F97BA339}"/>
                    </a:ext>
                  </a:extLst>
                </p:cNvPr>
                <p:cNvSpPr/>
                <p:nvPr/>
              </p:nvSpPr>
              <p:spPr>
                <a:xfrm>
                  <a:off x="4197996" y="4419845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EDF410D-8FE2-504A-AAE4-B6AF28859A03}"/>
                  </a:ext>
                </a:extLst>
              </p:cNvPr>
              <p:cNvCxnSpPr>
                <a:cxnSpLocks/>
                <a:stCxn id="52" idx="1"/>
                <a:endCxn id="48" idx="0"/>
              </p:cNvCxnSpPr>
              <p:nvPr/>
            </p:nvCxnSpPr>
            <p:spPr>
              <a:xfrm flipH="1">
                <a:off x="8978952" y="4783879"/>
                <a:ext cx="359431" cy="409644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04A0E953-5CE9-BA40-B8DC-F10BB345A2DC}"/>
                </a:ext>
              </a:extLst>
            </p:cNvPr>
            <p:cNvSpPr/>
            <p:nvPr/>
          </p:nvSpPr>
          <p:spPr>
            <a:xfrm>
              <a:off x="6884637" y="5389121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08F673-FD5A-504D-9685-D3EC96D5EB92}"/>
                </a:ext>
              </a:extLst>
            </p:cNvPr>
            <p:cNvCxnSpPr>
              <a:cxnSpLocks/>
              <a:stCxn id="56" idx="3"/>
              <a:endCxn id="46" idx="0"/>
            </p:cNvCxnSpPr>
            <p:nvPr/>
          </p:nvCxnSpPr>
          <p:spPr>
            <a:xfrm>
              <a:off x="6825184" y="4895875"/>
              <a:ext cx="291881" cy="49324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 descr="flip color">
            <a:extLst>
              <a:ext uri="{FF2B5EF4-FFF2-40B4-BE49-F238E27FC236}">
                <a16:creationId xmlns:a16="http://schemas.microsoft.com/office/drawing/2014/main" id="{841FFA53-2720-BD41-BA99-CD35D44CC889}"/>
              </a:ext>
            </a:extLst>
          </p:cNvPr>
          <p:cNvGrpSpPr/>
          <p:nvPr/>
        </p:nvGrpSpPr>
        <p:grpSpPr>
          <a:xfrm>
            <a:off x="10467792" y="4767616"/>
            <a:ext cx="1351652" cy="730577"/>
            <a:chOff x="3296894" y="4721932"/>
            <a:chExt cx="1351652" cy="730577"/>
          </a:xfrm>
        </p:grpSpPr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EAD25BEC-119A-2A4A-B9E3-FEAE6ED40F7F}"/>
                </a:ext>
              </a:extLst>
            </p:cNvPr>
            <p:cNvSpPr/>
            <p:nvPr/>
          </p:nvSpPr>
          <p:spPr>
            <a:xfrm>
              <a:off x="3473844" y="4967877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601AC9-69FF-004F-9228-FCA537C3AC63}"/>
                </a:ext>
              </a:extLst>
            </p:cNvPr>
            <p:cNvSpPr txBox="1"/>
            <p:nvPr/>
          </p:nvSpPr>
          <p:spPr>
            <a:xfrm>
              <a:off x="3296894" y="4721932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flipColor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560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Case 2</a:t>
            </a:r>
            <a:r>
              <a:rPr lang="en-US" dirty="0"/>
              <a:t>: insert into a 3-node at the bottom</a:t>
            </a:r>
          </a:p>
          <a:p>
            <a:pPr lvl="2"/>
            <a:r>
              <a:rPr lang="en-US" dirty="0"/>
              <a:t>Do a standard BST insert</a:t>
            </a:r>
          </a:p>
          <a:p>
            <a:pPr lvl="2"/>
            <a:r>
              <a:rPr lang="en-US" dirty="0"/>
              <a:t>Color the new link RED</a:t>
            </a:r>
          </a:p>
          <a:p>
            <a:pPr lvl="2"/>
            <a:r>
              <a:rPr lang="en-US" dirty="0"/>
              <a:t>Rotate to balance the 4-node (if needed)</a:t>
            </a:r>
          </a:p>
          <a:p>
            <a:pPr lvl="2"/>
            <a:r>
              <a:rPr lang="en-US" dirty="0"/>
              <a:t>Flip colors to pass the red link up one level</a:t>
            </a:r>
          </a:p>
          <a:p>
            <a:pPr lvl="2"/>
            <a:r>
              <a:rPr lang="en-US" dirty="0"/>
              <a:t>If the propagated red link is a right link, rotate left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grpSp>
        <p:nvGrpSpPr>
          <p:cNvPr id="44" name="Group 43" descr="example put operation">
            <a:extLst>
              <a:ext uri="{FF2B5EF4-FFF2-40B4-BE49-F238E27FC236}">
                <a16:creationId xmlns:a16="http://schemas.microsoft.com/office/drawing/2014/main" id="{50CE4D7E-CA50-AF49-8CE0-1AC8718D8BEA}"/>
              </a:ext>
            </a:extLst>
          </p:cNvPr>
          <p:cNvGrpSpPr/>
          <p:nvPr/>
        </p:nvGrpSpPr>
        <p:grpSpPr>
          <a:xfrm>
            <a:off x="197707" y="4514336"/>
            <a:ext cx="3155591" cy="1598135"/>
            <a:chOff x="4193902" y="4146585"/>
            <a:chExt cx="3155591" cy="159813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42232E5-3CA7-8F4A-AFDC-A990B03758A7}"/>
                </a:ext>
              </a:extLst>
            </p:cNvPr>
            <p:cNvGrpSpPr/>
            <p:nvPr/>
          </p:nvGrpSpPr>
          <p:grpSpPr>
            <a:xfrm>
              <a:off x="4193902" y="4146585"/>
              <a:ext cx="2631282" cy="1577944"/>
              <a:chOff x="8746524" y="4022636"/>
              <a:chExt cx="2631282" cy="1577944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3CC70D88-BA70-F54B-8491-6A2443AA3883}"/>
                  </a:ext>
                </a:extLst>
              </p:cNvPr>
              <p:cNvSpPr/>
              <p:nvPr/>
            </p:nvSpPr>
            <p:spPr>
              <a:xfrm>
                <a:off x="8746524" y="519352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</a:t>
                </a: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2BFC18B-7A9B-5F47-89F9-DB027BC5F7C2}"/>
                  </a:ext>
                </a:extLst>
              </p:cNvPr>
              <p:cNvGrpSpPr/>
              <p:nvPr/>
            </p:nvGrpSpPr>
            <p:grpSpPr>
              <a:xfrm>
                <a:off x="9338383" y="4022636"/>
                <a:ext cx="2039423" cy="1577944"/>
                <a:chOff x="4197996" y="3836402"/>
                <a:chExt cx="2039423" cy="1577944"/>
              </a:xfrm>
            </p:grpSpPr>
            <p:grpSp>
              <p:nvGrpSpPr>
                <p:cNvPr id="51" name="Group 50" descr="creating corresponding red-black BST">
                  <a:extLst>
                    <a:ext uri="{FF2B5EF4-FFF2-40B4-BE49-F238E27FC236}">
                      <a16:creationId xmlns:a16="http://schemas.microsoft.com/office/drawing/2014/main" id="{E6249D2D-0AB6-1047-AA10-8780D4D1F649}"/>
                    </a:ext>
                  </a:extLst>
                </p:cNvPr>
                <p:cNvGrpSpPr/>
                <p:nvPr/>
              </p:nvGrpSpPr>
              <p:grpSpPr>
                <a:xfrm>
                  <a:off x="4430424" y="3836402"/>
                  <a:ext cx="1806995" cy="1577944"/>
                  <a:chOff x="8885373" y="3057467"/>
                  <a:chExt cx="1806995" cy="1577944"/>
                </a:xfrm>
              </p:grpSpPr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917FB1FB-477E-CE43-9CBF-F1FB81205E7F}"/>
                      </a:ext>
                    </a:extLst>
                  </p:cNvPr>
                  <p:cNvCxnSpPr>
                    <a:cxnSpLocks/>
                    <a:stCxn id="55" idx="3"/>
                    <a:endCxn id="56" idx="0"/>
                  </p:cNvCxnSpPr>
                  <p:nvPr/>
                </p:nvCxnSpPr>
                <p:spPr>
                  <a:xfrm>
                    <a:off x="9854978" y="3235267"/>
                    <a:ext cx="604962" cy="393690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85EDA198-777D-6845-85A6-E1654F98BF9C}"/>
                      </a:ext>
                    </a:extLst>
                  </p:cNvPr>
                  <p:cNvCxnSpPr>
                    <a:cxnSpLocks/>
                    <a:stCxn id="55" idx="1"/>
                    <a:endCxn id="52" idx="0"/>
                  </p:cNvCxnSpPr>
                  <p:nvPr/>
                </p:nvCxnSpPr>
                <p:spPr>
                  <a:xfrm flipH="1">
                    <a:off x="8885373" y="3235267"/>
                    <a:ext cx="504749" cy="40564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Rounded Rectangle 54">
                    <a:extLst>
                      <a:ext uri="{FF2B5EF4-FFF2-40B4-BE49-F238E27FC236}">
                        <a16:creationId xmlns:a16="http://schemas.microsoft.com/office/drawing/2014/main" id="{98CFDB79-38FA-7046-A413-95325501EC56}"/>
                      </a:ext>
                    </a:extLst>
                  </p:cNvPr>
                  <p:cNvSpPr/>
                  <p:nvPr/>
                </p:nvSpPr>
                <p:spPr>
                  <a:xfrm>
                    <a:off x="9390122" y="305746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  </a:t>
                    </a:r>
                  </a:p>
                </p:txBody>
              </p:sp>
              <p:sp>
                <p:nvSpPr>
                  <p:cNvPr id="56" name="Rounded Rectangle 55">
                    <a:extLst>
                      <a:ext uri="{FF2B5EF4-FFF2-40B4-BE49-F238E27FC236}">
                        <a16:creationId xmlns:a16="http://schemas.microsoft.com/office/drawing/2014/main" id="{57E5B203-7D01-D747-B1D5-98DED69C3DFD}"/>
                      </a:ext>
                    </a:extLst>
                  </p:cNvPr>
                  <p:cNvSpPr/>
                  <p:nvPr/>
                </p:nvSpPr>
                <p:spPr>
                  <a:xfrm>
                    <a:off x="10227512" y="362895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   </a:t>
                    </a:r>
                  </a:p>
                </p:txBody>
              </p:sp>
              <p:sp>
                <p:nvSpPr>
                  <p:cNvPr id="57" name="Rounded Rectangle 56">
                    <a:extLst>
                      <a:ext uri="{FF2B5EF4-FFF2-40B4-BE49-F238E27FC236}">
                        <a16:creationId xmlns:a16="http://schemas.microsoft.com/office/drawing/2014/main" id="{BEC48411-AF1D-674B-8EF3-FD4636A9D6A1}"/>
                      </a:ext>
                    </a:extLst>
                  </p:cNvPr>
                  <p:cNvSpPr/>
                  <p:nvPr/>
                </p:nvSpPr>
                <p:spPr>
                  <a:xfrm>
                    <a:off x="9567207" y="4279812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   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FB7E4A71-6D0F-AC46-A292-9F524AC746B9}"/>
                      </a:ext>
                    </a:extLst>
                  </p:cNvPr>
                  <p:cNvCxnSpPr>
                    <a:cxnSpLocks/>
                    <a:stCxn id="56" idx="1"/>
                    <a:endCxn id="57" idx="0"/>
                  </p:cNvCxnSpPr>
                  <p:nvPr/>
                </p:nvCxnSpPr>
                <p:spPr>
                  <a:xfrm flipH="1">
                    <a:off x="9799635" y="3806757"/>
                    <a:ext cx="427877" cy="473055"/>
                  </a:xfrm>
                  <a:prstGeom prst="line">
                    <a:avLst/>
                  </a:prstGeom>
                  <a:ln w="635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Rounded Rectangle 51">
                  <a:extLst>
                    <a:ext uri="{FF2B5EF4-FFF2-40B4-BE49-F238E27FC236}">
                      <a16:creationId xmlns:a16="http://schemas.microsoft.com/office/drawing/2014/main" id="{AA9B4C3D-C3D1-0643-B4ED-5252F97BA339}"/>
                    </a:ext>
                  </a:extLst>
                </p:cNvPr>
                <p:cNvSpPr/>
                <p:nvPr/>
              </p:nvSpPr>
              <p:spPr>
                <a:xfrm>
                  <a:off x="4197996" y="4419845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EDF410D-8FE2-504A-AAE4-B6AF28859A03}"/>
                  </a:ext>
                </a:extLst>
              </p:cNvPr>
              <p:cNvCxnSpPr>
                <a:cxnSpLocks/>
                <a:stCxn id="52" idx="1"/>
                <a:endCxn id="48" idx="0"/>
              </p:cNvCxnSpPr>
              <p:nvPr/>
            </p:nvCxnSpPr>
            <p:spPr>
              <a:xfrm flipH="1">
                <a:off x="8978952" y="4783879"/>
                <a:ext cx="359431" cy="409644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04A0E953-5CE9-BA40-B8DC-F10BB345A2DC}"/>
                </a:ext>
              </a:extLst>
            </p:cNvPr>
            <p:cNvSpPr/>
            <p:nvPr/>
          </p:nvSpPr>
          <p:spPr>
            <a:xfrm>
              <a:off x="6884637" y="5389121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08F673-FD5A-504D-9685-D3EC96D5EB92}"/>
                </a:ext>
              </a:extLst>
            </p:cNvPr>
            <p:cNvCxnSpPr>
              <a:cxnSpLocks/>
              <a:stCxn id="56" idx="3"/>
              <a:endCxn id="46" idx="0"/>
            </p:cNvCxnSpPr>
            <p:nvPr/>
          </p:nvCxnSpPr>
          <p:spPr>
            <a:xfrm>
              <a:off x="6825184" y="4895875"/>
              <a:ext cx="291881" cy="493246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 descr="flip color">
            <a:extLst>
              <a:ext uri="{FF2B5EF4-FFF2-40B4-BE49-F238E27FC236}">
                <a16:creationId xmlns:a16="http://schemas.microsoft.com/office/drawing/2014/main" id="{841FFA53-2720-BD41-BA99-CD35D44CC889}"/>
              </a:ext>
            </a:extLst>
          </p:cNvPr>
          <p:cNvGrpSpPr/>
          <p:nvPr/>
        </p:nvGrpSpPr>
        <p:grpSpPr>
          <a:xfrm>
            <a:off x="3201523" y="4720537"/>
            <a:ext cx="1351652" cy="730577"/>
            <a:chOff x="3296894" y="4721932"/>
            <a:chExt cx="1351652" cy="730577"/>
          </a:xfrm>
        </p:grpSpPr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EAD25BEC-119A-2A4A-B9E3-FEAE6ED40F7F}"/>
                </a:ext>
              </a:extLst>
            </p:cNvPr>
            <p:cNvSpPr/>
            <p:nvPr/>
          </p:nvSpPr>
          <p:spPr>
            <a:xfrm>
              <a:off x="3473844" y="4967877"/>
              <a:ext cx="1091024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601AC9-69FF-004F-9228-FCA537C3AC63}"/>
                </a:ext>
              </a:extLst>
            </p:cNvPr>
            <p:cNvSpPr txBox="1"/>
            <p:nvPr/>
          </p:nvSpPr>
          <p:spPr>
            <a:xfrm>
              <a:off x="3296894" y="4721932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flipColor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(R)</a:t>
              </a:r>
            </a:p>
          </p:txBody>
        </p:sp>
      </p:grpSp>
      <p:grpSp>
        <p:nvGrpSpPr>
          <p:cNvPr id="59" name="Group 58" descr="example put operation">
            <a:extLst>
              <a:ext uri="{FF2B5EF4-FFF2-40B4-BE49-F238E27FC236}">
                <a16:creationId xmlns:a16="http://schemas.microsoft.com/office/drawing/2014/main" id="{1B5C14F4-506E-A849-805E-3C4B13F0A0D0}"/>
              </a:ext>
            </a:extLst>
          </p:cNvPr>
          <p:cNvGrpSpPr/>
          <p:nvPr/>
        </p:nvGrpSpPr>
        <p:grpSpPr>
          <a:xfrm>
            <a:off x="4622980" y="4409730"/>
            <a:ext cx="3155591" cy="1598135"/>
            <a:chOff x="4193902" y="4146585"/>
            <a:chExt cx="3155591" cy="159813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E6ECB1C-D2EC-1541-ADFF-C782F7B5D1BC}"/>
                </a:ext>
              </a:extLst>
            </p:cNvPr>
            <p:cNvGrpSpPr/>
            <p:nvPr/>
          </p:nvGrpSpPr>
          <p:grpSpPr>
            <a:xfrm>
              <a:off x="4193902" y="4146585"/>
              <a:ext cx="2631282" cy="1577944"/>
              <a:chOff x="8746524" y="4022636"/>
              <a:chExt cx="2631282" cy="1577944"/>
            </a:xfrm>
          </p:grpSpPr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A2A3FBF1-FEE2-E042-BC75-D14D1F460C94}"/>
                  </a:ext>
                </a:extLst>
              </p:cNvPr>
              <p:cNvSpPr/>
              <p:nvPr/>
            </p:nvSpPr>
            <p:spPr>
              <a:xfrm>
                <a:off x="8746524" y="519352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</a:t>
                </a: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DCC521A-EC7F-D345-A76D-C35EC55679E9}"/>
                  </a:ext>
                </a:extLst>
              </p:cNvPr>
              <p:cNvGrpSpPr/>
              <p:nvPr/>
            </p:nvGrpSpPr>
            <p:grpSpPr>
              <a:xfrm>
                <a:off x="9338383" y="4022636"/>
                <a:ext cx="2039423" cy="1577944"/>
                <a:chOff x="4197996" y="3836402"/>
                <a:chExt cx="2039423" cy="1577944"/>
              </a:xfrm>
            </p:grpSpPr>
            <p:grpSp>
              <p:nvGrpSpPr>
                <p:cNvPr id="69" name="Group 68" descr="creating corresponding red-black BST">
                  <a:extLst>
                    <a:ext uri="{FF2B5EF4-FFF2-40B4-BE49-F238E27FC236}">
                      <a16:creationId xmlns:a16="http://schemas.microsoft.com/office/drawing/2014/main" id="{DA438C38-A522-5740-ACBA-1BA54882C72C}"/>
                    </a:ext>
                  </a:extLst>
                </p:cNvPr>
                <p:cNvGrpSpPr/>
                <p:nvPr/>
              </p:nvGrpSpPr>
              <p:grpSpPr>
                <a:xfrm>
                  <a:off x="4430424" y="3836402"/>
                  <a:ext cx="1806995" cy="1577944"/>
                  <a:chOff x="8885373" y="3057467"/>
                  <a:chExt cx="1806995" cy="1577944"/>
                </a:xfrm>
              </p:grpSpPr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1B9EDF11-DC43-984D-80B2-CC2914280A23}"/>
                      </a:ext>
                    </a:extLst>
                  </p:cNvPr>
                  <p:cNvCxnSpPr>
                    <a:cxnSpLocks/>
                    <a:stCxn id="73" idx="3"/>
                    <a:endCxn id="74" idx="0"/>
                  </p:cNvCxnSpPr>
                  <p:nvPr/>
                </p:nvCxnSpPr>
                <p:spPr>
                  <a:xfrm>
                    <a:off x="9854978" y="3235267"/>
                    <a:ext cx="604962" cy="393690"/>
                  </a:xfrm>
                  <a:prstGeom prst="line">
                    <a:avLst/>
                  </a:prstGeom>
                  <a:ln w="635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9E2DD49C-3D7C-9B4F-AD81-AC635735D5D2}"/>
                      </a:ext>
                    </a:extLst>
                  </p:cNvPr>
                  <p:cNvCxnSpPr>
                    <a:cxnSpLocks/>
                    <a:stCxn id="73" idx="1"/>
                    <a:endCxn id="70" idx="0"/>
                  </p:cNvCxnSpPr>
                  <p:nvPr/>
                </p:nvCxnSpPr>
                <p:spPr>
                  <a:xfrm flipH="1">
                    <a:off x="8885373" y="3235267"/>
                    <a:ext cx="504749" cy="40564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Rounded Rectangle 72">
                    <a:extLst>
                      <a:ext uri="{FF2B5EF4-FFF2-40B4-BE49-F238E27FC236}">
                        <a16:creationId xmlns:a16="http://schemas.microsoft.com/office/drawing/2014/main" id="{ED4C8A31-CFFC-8444-9277-A5502E91B3D2}"/>
                      </a:ext>
                    </a:extLst>
                  </p:cNvPr>
                  <p:cNvSpPr/>
                  <p:nvPr/>
                </p:nvSpPr>
                <p:spPr>
                  <a:xfrm>
                    <a:off x="9390122" y="305746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  </a:t>
                    </a:r>
                  </a:p>
                </p:txBody>
              </p:sp>
              <p:sp>
                <p:nvSpPr>
                  <p:cNvPr id="74" name="Rounded Rectangle 73">
                    <a:extLst>
                      <a:ext uri="{FF2B5EF4-FFF2-40B4-BE49-F238E27FC236}">
                        <a16:creationId xmlns:a16="http://schemas.microsoft.com/office/drawing/2014/main" id="{0B3257C6-8983-4A42-AE41-A451C0ABBBAD}"/>
                      </a:ext>
                    </a:extLst>
                  </p:cNvPr>
                  <p:cNvSpPr/>
                  <p:nvPr/>
                </p:nvSpPr>
                <p:spPr>
                  <a:xfrm>
                    <a:off x="10227512" y="3628957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   </a:t>
                    </a:r>
                  </a:p>
                </p:txBody>
              </p:sp>
              <p:sp>
                <p:nvSpPr>
                  <p:cNvPr id="75" name="Rounded Rectangle 74">
                    <a:extLst>
                      <a:ext uri="{FF2B5EF4-FFF2-40B4-BE49-F238E27FC236}">
                        <a16:creationId xmlns:a16="http://schemas.microsoft.com/office/drawing/2014/main" id="{3BD31283-DB69-2B4D-8D4D-5D9543F7E261}"/>
                      </a:ext>
                    </a:extLst>
                  </p:cNvPr>
                  <p:cNvSpPr/>
                  <p:nvPr/>
                </p:nvSpPr>
                <p:spPr>
                  <a:xfrm>
                    <a:off x="9567207" y="4279812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   </a:t>
                    </a:r>
                  </a:p>
                </p:txBody>
              </p: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A64AB08E-E9D7-7647-84BA-00D7D14ED9FF}"/>
                      </a:ext>
                    </a:extLst>
                  </p:cNvPr>
                  <p:cNvCxnSpPr>
                    <a:cxnSpLocks/>
                    <a:stCxn id="74" idx="1"/>
                    <a:endCxn id="75" idx="0"/>
                  </p:cNvCxnSpPr>
                  <p:nvPr/>
                </p:nvCxnSpPr>
                <p:spPr>
                  <a:xfrm flipH="1">
                    <a:off x="9799635" y="3806757"/>
                    <a:ext cx="427877" cy="47305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0" name="Rounded Rectangle 69">
                  <a:extLst>
                    <a:ext uri="{FF2B5EF4-FFF2-40B4-BE49-F238E27FC236}">
                      <a16:creationId xmlns:a16="http://schemas.microsoft.com/office/drawing/2014/main" id="{F96A7DB3-2F79-4C47-BF29-8248F44DD825}"/>
                    </a:ext>
                  </a:extLst>
                </p:cNvPr>
                <p:cNvSpPr/>
                <p:nvPr/>
              </p:nvSpPr>
              <p:spPr>
                <a:xfrm>
                  <a:off x="4197996" y="4419845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</p:grp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F88AA98-7D57-7C4F-8904-433309347788}"/>
                  </a:ext>
                </a:extLst>
              </p:cNvPr>
              <p:cNvCxnSpPr>
                <a:cxnSpLocks/>
                <a:stCxn id="70" idx="1"/>
                <a:endCxn id="66" idx="0"/>
              </p:cNvCxnSpPr>
              <p:nvPr/>
            </p:nvCxnSpPr>
            <p:spPr>
              <a:xfrm flipH="1">
                <a:off x="8978952" y="4783879"/>
                <a:ext cx="359431" cy="409644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0D6FA65C-A6D2-BF4B-B6CB-8646524B3696}"/>
                </a:ext>
              </a:extLst>
            </p:cNvPr>
            <p:cNvSpPr/>
            <p:nvPr/>
          </p:nvSpPr>
          <p:spPr>
            <a:xfrm>
              <a:off x="6884637" y="5389121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3A50-FFFD-EA49-8F84-88A290BB5460}"/>
                </a:ext>
              </a:extLst>
            </p:cNvPr>
            <p:cNvCxnSpPr>
              <a:cxnSpLocks/>
              <a:stCxn id="74" idx="3"/>
              <a:endCxn id="64" idx="0"/>
            </p:cNvCxnSpPr>
            <p:nvPr/>
          </p:nvCxnSpPr>
          <p:spPr>
            <a:xfrm>
              <a:off x="6825184" y="4895875"/>
              <a:ext cx="291881" cy="493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 descr="rotate operation">
            <a:extLst>
              <a:ext uri="{FF2B5EF4-FFF2-40B4-BE49-F238E27FC236}">
                <a16:creationId xmlns:a16="http://schemas.microsoft.com/office/drawing/2014/main" id="{AC6EB1D2-7F4B-A245-9314-206BEA604F1E}"/>
              </a:ext>
            </a:extLst>
          </p:cNvPr>
          <p:cNvGrpSpPr/>
          <p:nvPr/>
        </p:nvGrpSpPr>
        <p:grpSpPr>
          <a:xfrm>
            <a:off x="7546143" y="4685466"/>
            <a:ext cx="1644018" cy="730577"/>
            <a:chOff x="3296894" y="4721932"/>
            <a:chExt cx="1644018" cy="730577"/>
          </a:xfrm>
        </p:grpSpPr>
        <p:sp>
          <p:nvSpPr>
            <p:cNvPr id="78" name="Right Arrow 77">
              <a:extLst>
                <a:ext uri="{FF2B5EF4-FFF2-40B4-BE49-F238E27FC236}">
                  <a16:creationId xmlns:a16="http://schemas.microsoft.com/office/drawing/2014/main" id="{D2C77AD7-CD71-CE4B-8678-CF918356E597}"/>
                </a:ext>
              </a:extLst>
            </p:cNvPr>
            <p:cNvSpPr/>
            <p:nvPr/>
          </p:nvSpPr>
          <p:spPr>
            <a:xfrm>
              <a:off x="3296894" y="4967877"/>
              <a:ext cx="1644018" cy="484632"/>
            </a:xfrm>
            <a:prstGeom prst="rightArrow">
              <a:avLst>
                <a:gd name="adj1" fmla="val 29036"/>
                <a:gd name="adj2" fmla="val 39518"/>
              </a:avLst>
            </a:prstGeom>
            <a:solidFill>
              <a:schemeClr val="accent5">
                <a:alpha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9747F0-9940-B84E-8339-573F3AACC77D}"/>
                </a:ext>
              </a:extLst>
            </p:cNvPr>
            <p:cNvSpPr txBox="1"/>
            <p:nvPr/>
          </p:nvSpPr>
          <p:spPr>
            <a:xfrm>
              <a:off x="3296894" y="4721932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rotateLeft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</p:grpSp>
      <p:grpSp>
        <p:nvGrpSpPr>
          <p:cNvPr id="80" name="Group 79" descr="example put operation">
            <a:extLst>
              <a:ext uri="{FF2B5EF4-FFF2-40B4-BE49-F238E27FC236}">
                <a16:creationId xmlns:a16="http://schemas.microsoft.com/office/drawing/2014/main" id="{285C8CFF-E8E2-904B-B233-796D2648CA77}"/>
              </a:ext>
            </a:extLst>
          </p:cNvPr>
          <p:cNvGrpSpPr/>
          <p:nvPr/>
        </p:nvGrpSpPr>
        <p:grpSpPr>
          <a:xfrm>
            <a:off x="8907397" y="4138442"/>
            <a:ext cx="2851582" cy="1918673"/>
            <a:chOff x="4193902" y="3754398"/>
            <a:chExt cx="2851582" cy="1918673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6D53ABF-FCFE-D34A-B0C3-AED9AE62CD3F}"/>
                </a:ext>
              </a:extLst>
            </p:cNvPr>
            <p:cNvGrpSpPr/>
            <p:nvPr/>
          </p:nvGrpSpPr>
          <p:grpSpPr>
            <a:xfrm>
              <a:off x="4193902" y="3754398"/>
              <a:ext cx="2328893" cy="1918673"/>
              <a:chOff x="8746524" y="3630449"/>
              <a:chExt cx="2328893" cy="1918673"/>
            </a:xfrm>
          </p:grpSpPr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7FF7CCB7-2964-0D47-8B75-8B2BFF15A14A}"/>
                  </a:ext>
                </a:extLst>
              </p:cNvPr>
              <p:cNvSpPr/>
              <p:nvPr/>
            </p:nvSpPr>
            <p:spPr>
              <a:xfrm>
                <a:off x="8746524" y="5193523"/>
                <a:ext cx="464856" cy="355599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 </a:t>
                </a: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E98448C-322B-3040-A487-0B819EF9E3B4}"/>
                  </a:ext>
                </a:extLst>
              </p:cNvPr>
              <p:cNvGrpSpPr/>
              <p:nvPr/>
            </p:nvGrpSpPr>
            <p:grpSpPr>
              <a:xfrm>
                <a:off x="9338383" y="3630449"/>
                <a:ext cx="1737034" cy="1396237"/>
                <a:chOff x="4197996" y="3444215"/>
                <a:chExt cx="1737034" cy="1396237"/>
              </a:xfrm>
            </p:grpSpPr>
            <p:grpSp>
              <p:nvGrpSpPr>
                <p:cNvPr id="87" name="Group 86" descr="creating corresponding red-black BST">
                  <a:extLst>
                    <a:ext uri="{FF2B5EF4-FFF2-40B4-BE49-F238E27FC236}">
                      <a16:creationId xmlns:a16="http://schemas.microsoft.com/office/drawing/2014/main" id="{BE689EDF-8BD3-274B-9195-3D9DC8C0853C}"/>
                    </a:ext>
                  </a:extLst>
                </p:cNvPr>
                <p:cNvGrpSpPr/>
                <p:nvPr/>
              </p:nvGrpSpPr>
              <p:grpSpPr>
                <a:xfrm>
                  <a:off x="4430424" y="3444215"/>
                  <a:ext cx="1504606" cy="1396237"/>
                  <a:chOff x="8885373" y="2665280"/>
                  <a:chExt cx="1504606" cy="1396237"/>
                </a:xfrm>
              </p:grpSpPr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91D9DA96-D80C-6C49-862F-33804E2819B6}"/>
                      </a:ext>
                    </a:extLst>
                  </p:cNvPr>
                  <p:cNvCxnSpPr>
                    <a:cxnSpLocks/>
                    <a:stCxn id="91" idx="0"/>
                    <a:endCxn id="92" idx="1"/>
                  </p:cNvCxnSpPr>
                  <p:nvPr/>
                </p:nvCxnSpPr>
                <p:spPr>
                  <a:xfrm flipV="1">
                    <a:off x="9439827" y="2843080"/>
                    <a:ext cx="485296" cy="328366"/>
                  </a:xfrm>
                  <a:prstGeom prst="line">
                    <a:avLst/>
                  </a:prstGeom>
                  <a:ln w="635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3389E810-E87D-1A4F-90D5-804A08D2CFC1}"/>
                      </a:ext>
                    </a:extLst>
                  </p:cNvPr>
                  <p:cNvCxnSpPr>
                    <a:cxnSpLocks/>
                    <a:stCxn id="91" idx="1"/>
                    <a:endCxn id="88" idx="0"/>
                  </p:cNvCxnSpPr>
                  <p:nvPr/>
                </p:nvCxnSpPr>
                <p:spPr>
                  <a:xfrm flipH="1">
                    <a:off x="8885373" y="3349246"/>
                    <a:ext cx="322026" cy="29166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" name="Rounded Rectangle 90">
                    <a:extLst>
                      <a:ext uri="{FF2B5EF4-FFF2-40B4-BE49-F238E27FC236}">
                        <a16:creationId xmlns:a16="http://schemas.microsoft.com/office/drawing/2014/main" id="{E3C283CB-E717-1644-91DE-6A959F100719}"/>
                      </a:ext>
                    </a:extLst>
                  </p:cNvPr>
                  <p:cNvSpPr/>
                  <p:nvPr/>
                </p:nvSpPr>
                <p:spPr>
                  <a:xfrm>
                    <a:off x="9207399" y="3171446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   </a:t>
                    </a:r>
                  </a:p>
                </p:txBody>
              </p:sp>
              <p:sp>
                <p:nvSpPr>
                  <p:cNvPr id="92" name="Rounded Rectangle 91">
                    <a:extLst>
                      <a:ext uri="{FF2B5EF4-FFF2-40B4-BE49-F238E27FC236}">
                        <a16:creationId xmlns:a16="http://schemas.microsoft.com/office/drawing/2014/main" id="{22EF19FB-4EAF-854D-84D5-627B31A56BF8}"/>
                      </a:ext>
                    </a:extLst>
                  </p:cNvPr>
                  <p:cNvSpPr/>
                  <p:nvPr/>
                </p:nvSpPr>
                <p:spPr>
                  <a:xfrm>
                    <a:off x="9925123" y="2665280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   </a:t>
                    </a:r>
                  </a:p>
                </p:txBody>
              </p:sp>
              <p:sp>
                <p:nvSpPr>
                  <p:cNvPr id="93" name="Rounded Rectangle 92">
                    <a:extLst>
                      <a:ext uri="{FF2B5EF4-FFF2-40B4-BE49-F238E27FC236}">
                        <a16:creationId xmlns:a16="http://schemas.microsoft.com/office/drawing/2014/main" id="{C7626F8F-2927-4A4F-8B6F-B3C82775EA9F}"/>
                      </a:ext>
                    </a:extLst>
                  </p:cNvPr>
                  <p:cNvSpPr/>
                  <p:nvPr/>
                </p:nvSpPr>
                <p:spPr>
                  <a:xfrm>
                    <a:off x="9789004" y="3705918"/>
                    <a:ext cx="464856" cy="355599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   </a:t>
                    </a:r>
                  </a:p>
                </p:txBody>
              </p: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F957B664-E8D1-B14B-B1F8-824E04D6EFB2}"/>
                      </a:ext>
                    </a:extLst>
                  </p:cNvPr>
                  <p:cNvCxnSpPr>
                    <a:cxnSpLocks/>
                    <a:stCxn id="91" idx="3"/>
                    <a:endCxn id="93" idx="0"/>
                  </p:cNvCxnSpPr>
                  <p:nvPr/>
                </p:nvCxnSpPr>
                <p:spPr>
                  <a:xfrm>
                    <a:off x="9672255" y="3349246"/>
                    <a:ext cx="349177" cy="356672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38882820-B0CB-3C46-8185-B82907DDCA76}"/>
                    </a:ext>
                  </a:extLst>
                </p:cNvPr>
                <p:cNvSpPr/>
                <p:nvPr/>
              </p:nvSpPr>
              <p:spPr>
                <a:xfrm>
                  <a:off x="4197996" y="4419845"/>
                  <a:ext cx="464856" cy="355599"/>
                </a:xfrm>
                <a:prstGeom prst="roundRect">
                  <a:avLst>
                    <a:gd name="adj" fmla="val 50000"/>
                  </a:avLst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   </a:t>
                  </a:r>
                </a:p>
              </p:txBody>
            </p:sp>
          </p:grp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8B54A29E-3619-E446-A2D8-E59C0A946D6B}"/>
                  </a:ext>
                </a:extLst>
              </p:cNvPr>
              <p:cNvCxnSpPr>
                <a:cxnSpLocks/>
                <a:stCxn id="88" idx="1"/>
                <a:endCxn id="84" idx="0"/>
              </p:cNvCxnSpPr>
              <p:nvPr/>
            </p:nvCxnSpPr>
            <p:spPr>
              <a:xfrm flipH="1">
                <a:off x="8978952" y="4783879"/>
                <a:ext cx="359431" cy="409644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1752AC22-15EA-FD4A-9C9A-E0AB26609588}"/>
                </a:ext>
              </a:extLst>
            </p:cNvPr>
            <p:cNvSpPr/>
            <p:nvPr/>
          </p:nvSpPr>
          <p:spPr>
            <a:xfrm>
              <a:off x="6580628" y="4218233"/>
              <a:ext cx="464856" cy="355599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   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ACA9344-B669-0248-AD22-C88252B6F93A}"/>
                </a:ext>
              </a:extLst>
            </p:cNvPr>
            <p:cNvCxnSpPr>
              <a:cxnSpLocks/>
              <a:stCxn id="92" idx="3"/>
              <a:endCxn id="82" idx="0"/>
            </p:cNvCxnSpPr>
            <p:nvPr/>
          </p:nvCxnSpPr>
          <p:spPr>
            <a:xfrm>
              <a:off x="6522795" y="3932198"/>
              <a:ext cx="290261" cy="2860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82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Case 2</a:t>
            </a:r>
            <a:r>
              <a:rPr lang="en-US" dirty="0"/>
              <a:t>: insert into a 3-node at the bottom</a:t>
            </a:r>
          </a:p>
          <a:p>
            <a:pPr lvl="2"/>
            <a:r>
              <a:rPr lang="en-US" dirty="0"/>
              <a:t>Do a standard BST insert</a:t>
            </a:r>
          </a:p>
          <a:p>
            <a:pPr lvl="2"/>
            <a:r>
              <a:rPr lang="en-US" dirty="0"/>
              <a:t>Color the new link RED</a:t>
            </a:r>
          </a:p>
          <a:p>
            <a:pPr lvl="2"/>
            <a:r>
              <a:rPr lang="en-US" dirty="0"/>
              <a:t>Rotate to balance the 4-node (if needed)</a:t>
            </a:r>
          </a:p>
          <a:p>
            <a:pPr lvl="2"/>
            <a:r>
              <a:rPr lang="en-US" dirty="0"/>
              <a:t>Flip colors to pass the red link up one level</a:t>
            </a:r>
          </a:p>
          <a:p>
            <a:pPr lvl="2"/>
            <a:r>
              <a:rPr lang="en-US" dirty="0"/>
              <a:t>If the propagated red link is a right link, rotate left</a:t>
            </a:r>
          </a:p>
          <a:p>
            <a:pPr lvl="2"/>
            <a:r>
              <a:rPr lang="en-US" dirty="0">
                <a:solidFill>
                  <a:schemeClr val="accent5"/>
                </a:solidFill>
              </a:rPr>
              <a:t>Repeat case 1 or case 2 up the tree (if needed)</a:t>
            </a:r>
          </a:p>
          <a:p>
            <a:pPr lvl="2"/>
            <a:endParaRPr lang="en-US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181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 – put(key):</a:t>
            </a:r>
          </a:p>
          <a:p>
            <a:pPr lvl="1"/>
            <a:r>
              <a:rPr lang="en-US" dirty="0"/>
              <a:t>Right child red and left child black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chemeClr val="accent5"/>
                </a:solidFill>
              </a:rPr>
              <a:t>rotate left</a:t>
            </a:r>
          </a:p>
          <a:p>
            <a:pPr lvl="1"/>
            <a:r>
              <a:rPr lang="en-US" dirty="0"/>
              <a:t>Left child and left-left grand-child red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chemeClr val="accent5"/>
                </a:solidFill>
                <a:sym typeface="Wingdings" pitchFamily="2" charset="2"/>
              </a:rPr>
              <a:t>rotate right</a:t>
            </a:r>
            <a:endParaRPr lang="en-US" dirty="0">
              <a:solidFill>
                <a:schemeClr val="accent5"/>
              </a:solidFill>
            </a:endParaRPr>
          </a:p>
          <a:p>
            <a:pPr lvl="1"/>
            <a:r>
              <a:rPr lang="en-US" dirty="0"/>
              <a:t>Both children red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chemeClr val="accent5"/>
                </a:solidFill>
                <a:sym typeface="Wingdings" pitchFamily="2" charset="2"/>
              </a:rPr>
              <a:t>flip colors</a:t>
            </a:r>
            <a:endParaRPr lang="en-US" dirty="0">
              <a:solidFill>
                <a:schemeClr val="accent5"/>
              </a:solidFill>
            </a:endParaRPr>
          </a:p>
          <a:p>
            <a:pPr lvl="1"/>
            <a:endParaRPr lang="en-US" dirty="0">
              <a:solidFill>
                <a:schemeClr val="accent5"/>
              </a:solidFill>
            </a:endParaRPr>
          </a:p>
          <a:p>
            <a:pPr lvl="2"/>
            <a:endParaRPr lang="en-US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  <p:grpSp>
        <p:nvGrpSpPr>
          <p:cNvPr id="11" name="Group 10" descr="pseudocode">
            <a:extLst>
              <a:ext uri="{FF2B5EF4-FFF2-40B4-BE49-F238E27FC236}">
                <a16:creationId xmlns:a16="http://schemas.microsoft.com/office/drawing/2014/main" id="{1F67BB46-C36B-C549-A451-60D1056B0CD4}"/>
              </a:ext>
            </a:extLst>
          </p:cNvPr>
          <p:cNvGrpSpPr/>
          <p:nvPr/>
        </p:nvGrpSpPr>
        <p:grpSpPr>
          <a:xfrm>
            <a:off x="761499" y="3344446"/>
            <a:ext cx="11458637" cy="2800767"/>
            <a:chOff x="761499" y="3344446"/>
            <a:chExt cx="11458637" cy="2800767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43E07E0-A7DD-5143-96B3-713925550EFF}"/>
                </a:ext>
              </a:extLst>
            </p:cNvPr>
            <p:cNvSpPr txBox="1"/>
            <p:nvPr/>
          </p:nvSpPr>
          <p:spPr>
            <a:xfrm>
              <a:off x="761499" y="3683000"/>
              <a:ext cx="7702750" cy="2462213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Courier" pitchFamily="2" charset="0"/>
                </a:rPr>
                <a:t>def put(n, key, value):</a:t>
              </a:r>
            </a:p>
            <a:p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    if (n == null) return Node(key, value, RED)</a:t>
              </a:r>
            </a:p>
            <a:p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    # traditional BST put operation to locate where to insert new node</a:t>
              </a:r>
            </a:p>
            <a:p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    if (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n.right</a:t>
              </a:r>
              <a:r>
                <a:rPr lang="en-GB" sz="1400" dirty="0">
                  <a:latin typeface="Courier" pitchFamily="2" charset="0"/>
                </a:rPr>
                <a:t>) &amp;&amp; !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n.left</a:t>
              </a:r>
              <a:r>
                <a:rPr lang="en-GB" sz="1400" dirty="0">
                  <a:latin typeface="Courier" pitchFamily="2" charset="0"/>
                </a:rPr>
                <a:t>)) n = </a:t>
              </a:r>
              <a:r>
                <a:rPr lang="en-GB" sz="1400" dirty="0" err="1">
                  <a:latin typeface="Courier" pitchFamily="2" charset="0"/>
                </a:rPr>
                <a:t>rotateLeft</a:t>
              </a:r>
              <a:r>
                <a:rPr lang="en-GB" sz="1400" dirty="0">
                  <a:latin typeface="Courier" pitchFamily="2" charset="0"/>
                </a:rPr>
                <a:t>(n)</a:t>
              </a:r>
            </a:p>
            <a:p>
              <a:r>
                <a:rPr lang="en-GB" sz="1400" dirty="0">
                  <a:latin typeface="Courier" pitchFamily="2" charset="0"/>
                </a:rPr>
                <a:t>    if (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n.left</a:t>
              </a:r>
              <a:r>
                <a:rPr lang="en-GB" sz="1400" dirty="0">
                  <a:latin typeface="Courier" pitchFamily="2" charset="0"/>
                </a:rPr>
                <a:t>) &amp;&amp; 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n.left.left</a:t>
              </a:r>
              <a:r>
                <a:rPr lang="en-GB" sz="1400" dirty="0">
                  <a:latin typeface="Courier" pitchFamily="2" charset="0"/>
                </a:rPr>
                <a:t>)) n = </a:t>
              </a:r>
              <a:r>
                <a:rPr lang="en-GB" sz="1400" dirty="0" err="1">
                  <a:latin typeface="Courier" pitchFamily="2" charset="0"/>
                </a:rPr>
                <a:t>rotateRight</a:t>
              </a:r>
              <a:r>
                <a:rPr lang="en-GB" sz="1400" dirty="0">
                  <a:latin typeface="Courier" pitchFamily="2" charset="0"/>
                </a:rPr>
                <a:t>(n)</a:t>
              </a:r>
            </a:p>
            <a:p>
              <a:r>
                <a:rPr lang="en-GB" sz="1400" dirty="0">
                  <a:latin typeface="Courier" pitchFamily="2" charset="0"/>
                </a:rPr>
                <a:t>    if (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n.left</a:t>
              </a:r>
              <a:r>
                <a:rPr lang="en-GB" sz="1400" dirty="0">
                  <a:latin typeface="Courier" pitchFamily="2" charset="0"/>
                </a:rPr>
                <a:t>) &amp;&amp; </a:t>
              </a:r>
              <a:r>
                <a:rPr lang="en-GB" sz="1400" dirty="0" err="1">
                  <a:latin typeface="Courier" pitchFamily="2" charset="0"/>
                </a:rPr>
                <a:t>isRed</a:t>
              </a:r>
              <a:r>
                <a:rPr lang="en-GB" sz="1400" dirty="0">
                  <a:latin typeface="Courier" pitchFamily="2" charset="0"/>
                </a:rPr>
                <a:t>(</a:t>
              </a:r>
              <a:r>
                <a:rPr lang="en-GB" sz="1400" dirty="0" err="1">
                  <a:latin typeface="Courier" pitchFamily="2" charset="0"/>
                </a:rPr>
                <a:t>n.right</a:t>
              </a:r>
              <a:r>
                <a:rPr lang="en-GB" sz="1400" dirty="0">
                  <a:latin typeface="Courier" pitchFamily="2" charset="0"/>
                </a:rPr>
                <a:t>)) </a:t>
              </a:r>
              <a:r>
                <a:rPr lang="en-GB" sz="1400" dirty="0" err="1">
                  <a:latin typeface="Courier" pitchFamily="2" charset="0"/>
                </a:rPr>
                <a:t>flipColors</a:t>
              </a:r>
              <a:r>
                <a:rPr lang="en-GB" sz="1400" dirty="0">
                  <a:latin typeface="Courier" pitchFamily="2" charset="0"/>
                </a:rPr>
                <a:t>(n)</a:t>
              </a:r>
            </a:p>
            <a:p>
              <a:endParaRPr lang="en-GB" sz="1400" dirty="0">
                <a:latin typeface="Courier" pitchFamily="2" charset="0"/>
              </a:endParaRPr>
            </a:p>
            <a:p>
              <a:r>
                <a:rPr lang="en-GB" sz="1400" dirty="0">
                  <a:latin typeface="Courier" pitchFamily="2" charset="0"/>
                </a:rPr>
                <a:t>    return 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48F1714-1ADB-3D4B-B465-4EE0391CD9A2}"/>
                </a:ext>
              </a:extLst>
            </p:cNvPr>
            <p:cNvSpPr txBox="1"/>
            <p:nvPr/>
          </p:nvSpPr>
          <p:spPr>
            <a:xfrm>
              <a:off x="8842468" y="3344446"/>
              <a:ext cx="31518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at bottom and color it RED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1B552BA-39EE-B84C-806D-171004E106F9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5937420" y="3513723"/>
              <a:ext cx="2905048" cy="71961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5FEB6C0-2A71-C749-A384-EF49B1B69C51}"/>
                </a:ext>
              </a:extLst>
            </p:cNvPr>
            <p:cNvSpPr txBox="1"/>
            <p:nvPr/>
          </p:nvSpPr>
          <p:spPr>
            <a:xfrm>
              <a:off x="8811061" y="3856670"/>
              <a:ext cx="34090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recursive tree traversal to locate </a:t>
              </a:r>
            </a:p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where to insert new (</a:t>
              </a:r>
              <a:r>
                <a:rPr lang="en-US" sz="1600" dirty="0" err="1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key,value</a:t>
              </a:r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pair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379470E-8460-F84E-862C-B8ED6B93163D}"/>
                </a:ext>
              </a:extLst>
            </p:cNvPr>
            <p:cNvCxnSpPr>
              <a:cxnSpLocks/>
              <a:stCxn id="96" idx="1"/>
            </p:cNvCxnSpPr>
            <p:nvPr/>
          </p:nvCxnSpPr>
          <p:spPr>
            <a:xfrm flipH="1">
              <a:off x="7027333" y="4149058"/>
              <a:ext cx="1783728" cy="38490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C501BEB-594B-8849-920A-26BEA71C985D}"/>
                </a:ext>
              </a:extLst>
            </p:cNvPr>
            <p:cNvSpPr txBox="1"/>
            <p:nvPr/>
          </p:nvSpPr>
          <p:spPr>
            <a:xfrm>
              <a:off x="9028041" y="4907503"/>
              <a:ext cx="17347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make left leaning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4BDC501-636A-5346-96D8-EA1A16B774DC}"/>
                </a:ext>
              </a:extLst>
            </p:cNvPr>
            <p:cNvCxnSpPr>
              <a:cxnSpLocks/>
              <a:stCxn id="98" idx="1"/>
            </p:cNvCxnSpPr>
            <p:nvPr/>
          </p:nvCxnSpPr>
          <p:spPr>
            <a:xfrm flipH="1">
              <a:off x="7230533" y="5076780"/>
              <a:ext cx="1797508" cy="286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D4635EA-99E2-5B40-BD86-FA7B8436712A}"/>
                </a:ext>
              </a:extLst>
            </p:cNvPr>
            <p:cNvSpPr txBox="1"/>
            <p:nvPr/>
          </p:nvSpPr>
          <p:spPr>
            <a:xfrm>
              <a:off x="9325506" y="5182895"/>
              <a:ext cx="15969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balance 4-node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1483342-B21B-3D45-BE6F-9E495F3E0D10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 flipH="1">
              <a:off x="7527998" y="5352172"/>
              <a:ext cx="1797508" cy="2866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E9AABBF-4B83-5E42-8356-395805A37BFA}"/>
                </a:ext>
              </a:extLst>
            </p:cNvPr>
            <p:cNvSpPr txBox="1"/>
            <p:nvPr/>
          </p:nvSpPr>
          <p:spPr>
            <a:xfrm>
              <a:off x="8664908" y="5455906"/>
              <a:ext cx="12442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split 4-node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20F725C-A7F4-1949-882B-6223A895E202}"/>
                </a:ext>
              </a:extLst>
            </p:cNvPr>
            <p:cNvCxnSpPr>
              <a:cxnSpLocks/>
              <a:stCxn id="102" idx="1"/>
            </p:cNvCxnSpPr>
            <p:nvPr/>
          </p:nvCxnSpPr>
          <p:spPr>
            <a:xfrm flipH="1">
              <a:off x="6620933" y="5625183"/>
              <a:ext cx="2043975" cy="2308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98965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Performance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Every path from the root to null link has the same number of black links</a:t>
            </a:r>
          </a:p>
          <a:p>
            <a:pPr lvl="1"/>
            <a:r>
              <a:rPr lang="en-US" dirty="0"/>
              <a:t>There are never two red links in-a-row</a:t>
            </a:r>
          </a:p>
          <a:p>
            <a:pPr lvl="1"/>
            <a:r>
              <a:rPr lang="en-US" dirty="0"/>
              <a:t>Height of LLRD BST is ≤ </a:t>
            </a:r>
            <a:r>
              <a:rPr lang="en-US" i="1" dirty="0"/>
              <a:t>2</a:t>
            </a:r>
            <a:r>
              <a:rPr lang="en-US" dirty="0"/>
              <a:t> lg </a:t>
            </a:r>
            <a:r>
              <a:rPr lang="en-US" i="1" dirty="0"/>
              <a:t>N</a:t>
            </a:r>
            <a:r>
              <a:rPr lang="en-US" dirty="0"/>
              <a:t> in the worst case</a:t>
            </a:r>
          </a:p>
          <a:p>
            <a:pPr lvl="2"/>
            <a:endParaRPr lang="en-US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2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Symbol Table – Implementation Summary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07919"/>
              </p:ext>
            </p:extLst>
          </p:nvPr>
        </p:nvGraphicFramePr>
        <p:xfrm>
          <a:off x="383058" y="2549884"/>
          <a:ext cx="10543771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67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8044769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927896190"/>
                    </a:ext>
                  </a:extLst>
                </a:gridCol>
                <a:gridCol w="1565564">
                  <a:extLst>
                    <a:ext uri="{9D8B030D-6E8A-4147-A177-3AD203B41FA5}">
                      <a16:colId xmlns:a16="http://schemas.microsoft.com/office/drawing/2014/main" val="1353745324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271815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506253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inserts)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search (unordered list)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8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Search (ordered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00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47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 Search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6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LLRB 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262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265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Balanced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2-3 Search Tree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Red-Black BST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i="1" dirty="0">
                <a:solidFill>
                  <a:schemeClr val="accent5"/>
                </a:solidFill>
              </a:rPr>
              <a:t>B-tree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165858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6505</TotalTime>
  <Words>3303</Words>
  <Application>Microsoft Macintosh PowerPoint</Application>
  <PresentationFormat>Widescreen</PresentationFormat>
  <Paragraphs>896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3.3 Balanced Search Tree</vt:lpstr>
      <vt:lpstr>CONTENT</vt:lpstr>
      <vt:lpstr>CONTENT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2-3 search Tree</vt:lpstr>
      <vt:lpstr>CONTENT – recap </vt:lpstr>
      <vt:lpstr>CONTENT – recap 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RED-BLACK BINARY search Tree</vt:lpstr>
      <vt:lpstr>CONTENT – recap 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95</cp:revision>
  <dcterms:created xsi:type="dcterms:W3CDTF">2020-06-23T14:37:29Z</dcterms:created>
  <dcterms:modified xsi:type="dcterms:W3CDTF">2020-11-09T13:57:16Z</dcterms:modified>
</cp:coreProperties>
</file>