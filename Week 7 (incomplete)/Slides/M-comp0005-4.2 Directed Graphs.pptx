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2"/>
  </p:notesMasterIdLst>
  <p:sldIdLst>
    <p:sldId id="266" r:id="rId3"/>
    <p:sldId id="271" r:id="rId4"/>
    <p:sldId id="257" r:id="rId5"/>
    <p:sldId id="272" r:id="rId6"/>
    <p:sldId id="273" r:id="rId7"/>
    <p:sldId id="292" r:id="rId8"/>
    <p:sldId id="267" r:id="rId9"/>
    <p:sldId id="293" r:id="rId10"/>
    <p:sldId id="269" r:id="rId11"/>
    <p:sldId id="275" r:id="rId12"/>
    <p:sldId id="295" r:id="rId13"/>
    <p:sldId id="296" r:id="rId14"/>
    <p:sldId id="278" r:id="rId15"/>
    <p:sldId id="297" r:id="rId16"/>
    <p:sldId id="276" r:id="rId17"/>
    <p:sldId id="301" r:id="rId18"/>
    <p:sldId id="279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280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09" r:id="rId39"/>
    <p:sldId id="321" r:id="rId40"/>
    <p:sldId id="298" r:id="rId41"/>
    <p:sldId id="322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49" r:id="rId67"/>
    <p:sldId id="350" r:id="rId68"/>
    <p:sldId id="351" r:id="rId69"/>
    <p:sldId id="348" r:id="rId70"/>
    <p:sldId id="352" r:id="rId71"/>
    <p:sldId id="353" r:id="rId72"/>
    <p:sldId id="299" r:id="rId73"/>
    <p:sldId id="355" r:id="rId74"/>
    <p:sldId id="354" r:id="rId75"/>
    <p:sldId id="357" r:id="rId76"/>
    <p:sldId id="323" r:id="rId77"/>
    <p:sldId id="361" r:id="rId78"/>
    <p:sldId id="360" r:id="rId79"/>
    <p:sldId id="362" r:id="rId80"/>
    <p:sldId id="363" r:id="rId81"/>
    <p:sldId id="364" r:id="rId82"/>
    <p:sldId id="365" r:id="rId83"/>
    <p:sldId id="366" r:id="rId84"/>
    <p:sldId id="367" r:id="rId85"/>
    <p:sldId id="368" r:id="rId86"/>
    <p:sldId id="369" r:id="rId87"/>
    <p:sldId id="370" r:id="rId88"/>
    <p:sldId id="371" r:id="rId89"/>
    <p:sldId id="387" r:id="rId90"/>
    <p:sldId id="388" r:id="rId91"/>
    <p:sldId id="389" r:id="rId92"/>
    <p:sldId id="390" r:id="rId93"/>
    <p:sldId id="391" r:id="rId94"/>
    <p:sldId id="392" r:id="rId95"/>
    <p:sldId id="393" r:id="rId96"/>
    <p:sldId id="394" r:id="rId97"/>
    <p:sldId id="395" r:id="rId98"/>
    <p:sldId id="396" r:id="rId99"/>
    <p:sldId id="397" r:id="rId100"/>
    <p:sldId id="398" r:id="rId101"/>
    <p:sldId id="399" r:id="rId102"/>
    <p:sldId id="400" r:id="rId103"/>
    <p:sldId id="386" r:id="rId104"/>
    <p:sldId id="401" r:id="rId105"/>
    <p:sldId id="403" r:id="rId106"/>
    <p:sldId id="404" r:id="rId107"/>
    <p:sldId id="405" r:id="rId108"/>
    <p:sldId id="406" r:id="rId109"/>
    <p:sldId id="407" r:id="rId110"/>
    <p:sldId id="408" r:id="rId111"/>
    <p:sldId id="409" r:id="rId112"/>
    <p:sldId id="410" r:id="rId113"/>
    <p:sldId id="411" r:id="rId114"/>
    <p:sldId id="412" r:id="rId115"/>
    <p:sldId id="413" r:id="rId116"/>
    <p:sldId id="414" r:id="rId117"/>
    <p:sldId id="415" r:id="rId118"/>
    <p:sldId id="359" r:id="rId119"/>
    <p:sldId id="416" r:id="rId120"/>
    <p:sldId id="300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52789"/>
  </p:normalViewPr>
  <p:slideViewPr>
    <p:cSldViewPr snapToGrid="0" snapToObjects="1">
      <p:cViewPr varScale="1">
        <p:scale>
          <a:sx n="64" d="100"/>
          <a:sy n="64" d="100"/>
        </p:scale>
        <p:origin x="1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presProps" Target="pres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C787B-C83D-524D-8A19-75A5B9F69AC5}" type="datetimeFigureOut">
              <a:rPr lang="en-US" smtClean="0"/>
              <a:t>3/7/23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9D858-9414-8A41-B3E4-117759B25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4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370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7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8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9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4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43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22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9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25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32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7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84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38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06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="1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24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2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945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69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18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85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66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465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66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71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b="1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22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648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336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722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90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80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63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150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411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00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52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31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49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241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36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5199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715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249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048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19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719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191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2621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843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0634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655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950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066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58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413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250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4951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6096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249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377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792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351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6655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0190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838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71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4580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152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993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6898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0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340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6039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031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3286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09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317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7163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69341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189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0845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3720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068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8342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9306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4564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2625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1261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1792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156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872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8822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83580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7014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1816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4432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634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9689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9805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3309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4235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68630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7001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5004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1119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1130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3673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0341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3013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108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3816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3681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7701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8083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151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18674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9285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86237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9D858-9414-8A41-B3E4-117759B25145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62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3/7/23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991353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90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342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4.2 Directed Graphs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20504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1283-A3CD-9C4F-94B0-6331DAE6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directed graph (digraph)?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7D0B-594D-F942-810A-708FA4CF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Digraph</a:t>
            </a:r>
            <a:r>
              <a:rPr lang="en-US" dirty="0"/>
              <a:t>. Set of </a:t>
            </a:r>
            <a:r>
              <a:rPr lang="en-US" dirty="0">
                <a:highlight>
                  <a:srgbClr val="C0C0C0"/>
                </a:highlight>
              </a:rPr>
              <a:t>vertices</a:t>
            </a:r>
            <a:r>
              <a:rPr lang="en-US" dirty="0"/>
              <a:t> connected pairwise by </a:t>
            </a:r>
            <a:r>
              <a:rPr lang="en-US" dirty="0">
                <a:highlight>
                  <a:srgbClr val="C0C0C0"/>
                </a:highlight>
              </a:rPr>
              <a:t>directed edges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91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applications</a:t>
            </a:r>
          </a:p>
        </p:txBody>
      </p:sp>
      <p:pic>
        <p:nvPicPr>
          <p:cNvPr id="5" name="Picture 4" descr="example of a directed graph application: street network">
            <a:extLst>
              <a:ext uri="{FF2B5EF4-FFF2-40B4-BE49-F238E27FC236}">
                <a16:creationId xmlns:a16="http://schemas.microsoft.com/office/drawing/2014/main" id="{1FAD0D73-897E-A448-9A69-4771DDA86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143" y="1514189"/>
            <a:ext cx="7310895" cy="5200935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409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applications</a:t>
            </a:r>
          </a:p>
        </p:txBody>
      </p:sp>
      <p:pic>
        <p:nvPicPr>
          <p:cNvPr id="5" name="Picture 4" descr="the web is a directed graph (hyperlinks have a direction)">
            <a:extLst>
              <a:ext uri="{FF2B5EF4-FFF2-40B4-BE49-F238E27FC236}">
                <a16:creationId xmlns:a16="http://schemas.microsoft.com/office/drawing/2014/main" id="{1FAD0D73-897E-A448-9A69-4771DDA86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3143" y="2291003"/>
            <a:ext cx="7310895" cy="3647306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2618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applications</a:t>
            </a:r>
          </a:p>
        </p:txBody>
      </p:sp>
      <p:grpSp>
        <p:nvGrpSpPr>
          <p:cNvPr id="3" name="Group 2" descr="twitter is directed, facebook is undirected instead">
            <a:extLst>
              <a:ext uri="{FF2B5EF4-FFF2-40B4-BE49-F238E27FC236}">
                <a16:creationId xmlns:a16="http://schemas.microsoft.com/office/drawing/2014/main" id="{BA5027AC-744A-9640-88C7-9513AFFA0BFA}"/>
              </a:ext>
            </a:extLst>
          </p:cNvPr>
          <p:cNvGrpSpPr/>
          <p:nvPr/>
        </p:nvGrpSpPr>
        <p:grpSpPr>
          <a:xfrm>
            <a:off x="2116380" y="1882284"/>
            <a:ext cx="7673490" cy="4465435"/>
            <a:chOff x="3356783" y="2291003"/>
            <a:chExt cx="7673490" cy="44654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ED2863-3D39-1E46-BF77-BBE5377E2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934648" y="5120180"/>
              <a:ext cx="3095625" cy="1636258"/>
            </a:xfrm>
            <a:prstGeom prst="rect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5" name="Picture 4" descr="twitter is directed, facebook is undirected instead">
              <a:extLst>
                <a:ext uri="{FF2B5EF4-FFF2-40B4-BE49-F238E27FC236}">
                  <a16:creationId xmlns:a16="http://schemas.microsoft.com/office/drawing/2014/main" id="{1FAD0D73-897E-A448-9A69-4771DDA86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3356783" y="2291003"/>
              <a:ext cx="4863615" cy="3647306"/>
            </a:xfrm>
            <a:prstGeom prst="rect">
              <a:avLst/>
            </a:prstGeom>
            <a:ln w="38100"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81830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0306-D5A4-FA43-9C96-8EF7CA92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</a:t>
            </a:r>
            <a:r>
              <a:rPr lang="en-US" dirty="0" err="1"/>
              <a:t>DIgraph</a:t>
            </a:r>
            <a:r>
              <a:rPr lang="en-US" dirty="0"/>
              <a:t> applications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A1790-C563-3A42-B929-1246548ED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44703"/>
              </p:ext>
            </p:extLst>
          </p:nvPr>
        </p:nvGraphicFramePr>
        <p:xfrm>
          <a:off x="1189037" y="1934105"/>
          <a:ext cx="1029811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126">
                  <a:extLst>
                    <a:ext uri="{9D8B030D-6E8A-4147-A177-3AD203B41FA5}">
                      <a16:colId xmlns:a16="http://schemas.microsoft.com/office/drawing/2014/main" val="4069780125"/>
                    </a:ext>
                  </a:extLst>
                </a:gridCol>
                <a:gridCol w="4071938">
                  <a:extLst>
                    <a:ext uri="{9D8B030D-6E8A-4147-A177-3AD203B41FA5}">
                      <a16:colId xmlns:a16="http://schemas.microsoft.com/office/drawing/2014/main" val="1801998009"/>
                    </a:ext>
                  </a:extLst>
                </a:gridCol>
                <a:gridCol w="3829048">
                  <a:extLst>
                    <a:ext uri="{9D8B030D-6E8A-4147-A177-3AD203B41FA5}">
                      <a16:colId xmlns:a16="http://schemas.microsoft.com/office/drawing/2014/main" val="1869146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Digraph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Directed Edge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8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Transportation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Street intersection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One-way street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463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Website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Hyperlink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688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relationship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Follower/followed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466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957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Telephone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Call placed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38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Journal article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63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Inheritance hierarchy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Inherits-from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766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Infectious disease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46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94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4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/>
              <a:t>Search </a:t>
            </a:r>
          </a:p>
          <a:p>
            <a:pPr lvl="1"/>
            <a:r>
              <a:rPr lang="en-US" dirty="0"/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374145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1283-A3CD-9C4F-94B0-6331DAE6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DIgraph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7D0B-594D-F942-810A-708FA4CF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Terminology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Vertex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Directed Edge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Directed path</a:t>
            </a:r>
            <a:r>
              <a:rPr lang="en-US" dirty="0"/>
              <a:t>. Sequence of vertices connected by directed edges.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Directed Cycle</a:t>
            </a:r>
            <a:r>
              <a:rPr lang="en-US" dirty="0"/>
              <a:t>. Directed path whose first and last vertices are the same.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In/out degree</a:t>
            </a:r>
            <a:r>
              <a:rPr lang="en-US" dirty="0"/>
              <a:t>. Number of incoming / outgoing directed edges </a:t>
            </a:r>
          </a:p>
        </p:txBody>
      </p:sp>
      <p:grpSp>
        <p:nvGrpSpPr>
          <p:cNvPr id="21" name="Group 20" descr="vertices">
            <a:extLst>
              <a:ext uri="{FF2B5EF4-FFF2-40B4-BE49-F238E27FC236}">
                <a16:creationId xmlns:a16="http://schemas.microsoft.com/office/drawing/2014/main" id="{7F0DA893-C611-6C44-8699-55DA08872C98}"/>
              </a:ext>
            </a:extLst>
          </p:cNvPr>
          <p:cNvGrpSpPr/>
          <p:nvPr/>
        </p:nvGrpSpPr>
        <p:grpSpPr>
          <a:xfrm>
            <a:off x="2324612" y="4364282"/>
            <a:ext cx="4140082" cy="1776351"/>
            <a:chOff x="2324612" y="4364282"/>
            <a:chExt cx="4140082" cy="177635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DA047D6-B5C5-524E-8818-4FAFF9A7EFF9}"/>
                </a:ext>
              </a:extLst>
            </p:cNvPr>
            <p:cNvGrpSpPr/>
            <p:nvPr/>
          </p:nvGrpSpPr>
          <p:grpSpPr>
            <a:xfrm>
              <a:off x="2324612" y="4364282"/>
              <a:ext cx="682523" cy="668312"/>
              <a:chOff x="2900457" y="4479740"/>
              <a:chExt cx="682523" cy="668312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A0ABD42-A752-B24F-880D-08B77CF6B91D}"/>
                  </a:ext>
                </a:extLst>
              </p:cNvPr>
              <p:cNvSpPr txBox="1"/>
              <p:nvPr/>
            </p:nvSpPr>
            <p:spPr>
              <a:xfrm>
                <a:off x="2900457" y="4479740"/>
                <a:ext cx="6719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vertex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4E6CA01-3AA4-9740-874F-F42A9876AC7D}"/>
                  </a:ext>
                </a:extLst>
              </p:cNvPr>
              <p:cNvCxnSpPr>
                <a:cxnSpLocks/>
                <a:stCxn id="67" idx="2"/>
              </p:cNvCxnSpPr>
              <p:nvPr/>
            </p:nvCxnSpPr>
            <p:spPr>
              <a:xfrm>
                <a:off x="3236447" y="4787517"/>
                <a:ext cx="346533" cy="3605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20B5ACF-18FB-1342-80AC-FEFD79C08FE9}"/>
                </a:ext>
              </a:extLst>
            </p:cNvPr>
            <p:cNvSpPr/>
            <p:nvPr/>
          </p:nvSpPr>
          <p:spPr>
            <a:xfrm>
              <a:off x="5243858" y="475224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3F7D560-215A-834A-B8ED-04773B556824}"/>
                </a:ext>
              </a:extLst>
            </p:cNvPr>
            <p:cNvSpPr/>
            <p:nvPr/>
          </p:nvSpPr>
          <p:spPr>
            <a:xfrm>
              <a:off x="3075332" y="5120195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1EF47BE-A6A7-584B-A04E-03BA70846636}"/>
                </a:ext>
              </a:extLst>
            </p:cNvPr>
            <p:cNvSpPr/>
            <p:nvPr/>
          </p:nvSpPr>
          <p:spPr>
            <a:xfrm>
              <a:off x="4989856" y="59966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0753921-E220-C945-B9CF-1A322195F97F}"/>
                </a:ext>
              </a:extLst>
            </p:cNvPr>
            <p:cNvSpPr/>
            <p:nvPr/>
          </p:nvSpPr>
          <p:spPr>
            <a:xfrm>
              <a:off x="3439944" y="482424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46F6303-084D-A941-924E-6D5C9CE54A12}"/>
                </a:ext>
              </a:extLst>
            </p:cNvPr>
            <p:cNvSpPr/>
            <p:nvPr/>
          </p:nvSpPr>
          <p:spPr>
            <a:xfrm>
              <a:off x="4615822" y="59966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8E1CA09-7980-F940-B390-78763A319952}"/>
                </a:ext>
              </a:extLst>
            </p:cNvPr>
            <p:cNvSpPr/>
            <p:nvPr/>
          </p:nvSpPr>
          <p:spPr>
            <a:xfrm>
              <a:off x="3493455" y="606863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6299A03-26E7-0847-9D71-B59EE8934594}"/>
                </a:ext>
              </a:extLst>
            </p:cNvPr>
            <p:cNvSpPr/>
            <p:nvPr/>
          </p:nvSpPr>
          <p:spPr>
            <a:xfrm>
              <a:off x="2948845" y="5611285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FBEB2C09-8A62-F146-B816-A9AD65EDEFA8}"/>
                </a:ext>
              </a:extLst>
            </p:cNvPr>
            <p:cNvSpPr/>
            <p:nvPr/>
          </p:nvSpPr>
          <p:spPr>
            <a:xfrm>
              <a:off x="4799356" y="5016113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A122F07E-2DB0-E84B-BA3B-91C8B8BF60B2}"/>
                </a:ext>
              </a:extLst>
            </p:cNvPr>
            <p:cNvSpPr/>
            <p:nvPr/>
          </p:nvSpPr>
          <p:spPr>
            <a:xfrm>
              <a:off x="5768928" y="5156195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CF40264-4340-9442-90E9-0DA71BF6C617}"/>
                </a:ext>
              </a:extLst>
            </p:cNvPr>
            <p:cNvSpPr/>
            <p:nvPr/>
          </p:nvSpPr>
          <p:spPr>
            <a:xfrm>
              <a:off x="6392694" y="512076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9D2ABBE1-D705-AF41-AD5B-FA9286ECE024}"/>
                </a:ext>
              </a:extLst>
            </p:cNvPr>
            <p:cNvSpPr/>
            <p:nvPr/>
          </p:nvSpPr>
          <p:spPr>
            <a:xfrm>
              <a:off x="4769240" y="5664364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9AC93BD-215D-7F4C-9526-CB23CA0498D9}"/>
                </a:ext>
              </a:extLst>
            </p:cNvPr>
            <p:cNvSpPr/>
            <p:nvPr/>
          </p:nvSpPr>
          <p:spPr>
            <a:xfrm>
              <a:off x="6083908" y="4863685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9BB6C3D-DAC6-FA49-A391-9E25618254D0}"/>
                </a:ext>
              </a:extLst>
            </p:cNvPr>
            <p:cNvSpPr/>
            <p:nvPr/>
          </p:nvSpPr>
          <p:spPr>
            <a:xfrm>
              <a:off x="4721161" y="4658368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BC7A340-3A2B-7A41-9D9C-8BA17AE67CE1}"/>
                </a:ext>
              </a:extLst>
            </p:cNvPr>
            <p:cNvSpPr/>
            <p:nvPr/>
          </p:nvSpPr>
          <p:spPr>
            <a:xfrm>
              <a:off x="6083908" y="5455807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FF03BCE-BB62-264C-8767-AD10C87F6ED4}"/>
                </a:ext>
              </a:extLst>
            </p:cNvPr>
            <p:cNvSpPr/>
            <p:nvPr/>
          </p:nvSpPr>
          <p:spPr>
            <a:xfrm>
              <a:off x="3493455" y="5383807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4702D3A-EF3E-8343-AABD-76514823C01F}"/>
                </a:ext>
              </a:extLst>
            </p:cNvPr>
            <p:cNvSpPr/>
            <p:nvPr/>
          </p:nvSpPr>
          <p:spPr>
            <a:xfrm>
              <a:off x="4036146" y="5081679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D3E0733-B48F-644B-B09B-3048EB5F2EAC}"/>
                </a:ext>
              </a:extLst>
            </p:cNvPr>
            <p:cNvSpPr/>
            <p:nvPr/>
          </p:nvSpPr>
          <p:spPr>
            <a:xfrm>
              <a:off x="5501545" y="6022692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8" name="Group 187" descr="directed edges">
            <a:extLst>
              <a:ext uri="{FF2B5EF4-FFF2-40B4-BE49-F238E27FC236}">
                <a16:creationId xmlns:a16="http://schemas.microsoft.com/office/drawing/2014/main" id="{ACA0D5C4-5D36-4943-A1AA-0374BB5FC3E6}"/>
              </a:ext>
            </a:extLst>
          </p:cNvPr>
          <p:cNvGrpSpPr/>
          <p:nvPr/>
        </p:nvGrpSpPr>
        <p:grpSpPr>
          <a:xfrm>
            <a:off x="1600883" y="4719824"/>
            <a:ext cx="4853267" cy="1410265"/>
            <a:chOff x="1600883" y="4719824"/>
            <a:chExt cx="4853267" cy="1410265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2949DBD-5DD0-AD4F-A45F-D7A0CB39E8A8}"/>
                </a:ext>
              </a:extLst>
            </p:cNvPr>
            <p:cNvGrpSpPr/>
            <p:nvPr/>
          </p:nvGrpSpPr>
          <p:grpSpPr>
            <a:xfrm>
              <a:off x="1600883" y="5012066"/>
              <a:ext cx="1351607" cy="523220"/>
              <a:chOff x="2818330" y="4628525"/>
              <a:chExt cx="1351607" cy="523220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EB4B0F2-4521-B046-89BD-C14905B7DE3E}"/>
                  </a:ext>
                </a:extLst>
              </p:cNvPr>
              <p:cNvSpPr txBox="1"/>
              <p:nvPr/>
            </p:nvSpPr>
            <p:spPr>
              <a:xfrm>
                <a:off x="2818330" y="4628525"/>
                <a:ext cx="8415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directed edge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CF834F22-F94B-9640-82BD-5553B0C7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7505" y="4884741"/>
                <a:ext cx="582432" cy="1881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7A0A1A9-BAD6-344B-98C3-4BB82F503BD3}"/>
                </a:ext>
              </a:extLst>
            </p:cNvPr>
            <p:cNvCxnSpPr>
              <a:stCxn id="77" idx="6"/>
              <a:endCxn id="107" idx="2"/>
            </p:cNvCxnSpPr>
            <p:nvPr/>
          </p:nvCxnSpPr>
          <p:spPr>
            <a:xfrm>
              <a:off x="3511944" y="4860244"/>
              <a:ext cx="524202" cy="2574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47CA3A5-CE8E-264E-B232-0F87F204D421}"/>
                </a:ext>
              </a:extLst>
            </p:cNvPr>
            <p:cNvCxnSpPr>
              <a:cxnSpLocks/>
              <a:stCxn id="77" idx="5"/>
              <a:endCxn id="106" idx="5"/>
            </p:cNvCxnSpPr>
            <p:nvPr/>
          </p:nvCxnSpPr>
          <p:spPr>
            <a:xfrm>
              <a:off x="3501400" y="4885700"/>
              <a:ext cx="53511" cy="5595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BE28614A-D99C-2345-8BA1-6789304FA1ED}"/>
                </a:ext>
              </a:extLst>
            </p:cNvPr>
            <p:cNvCxnSpPr>
              <a:cxnSpLocks/>
              <a:stCxn id="85" idx="3"/>
              <a:endCxn id="79" idx="7"/>
            </p:cNvCxnSpPr>
            <p:nvPr/>
          </p:nvCxnSpPr>
          <p:spPr>
            <a:xfrm flipH="1">
              <a:off x="3554911" y="5077569"/>
              <a:ext cx="1254989" cy="100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098841D3-0950-7B4E-9568-2217EEB8CCC5}"/>
                </a:ext>
              </a:extLst>
            </p:cNvPr>
            <p:cNvCxnSpPr>
              <a:cxnSpLocks/>
              <a:stCxn id="74" idx="4"/>
              <a:endCxn id="77" idx="5"/>
            </p:cNvCxnSpPr>
            <p:nvPr/>
          </p:nvCxnSpPr>
          <p:spPr>
            <a:xfrm flipV="1">
              <a:off x="3111332" y="4885700"/>
              <a:ext cx="390068" cy="3064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BA7F9F8D-663C-424D-B54D-98BD5C5266A4}"/>
                </a:ext>
              </a:extLst>
            </p:cNvPr>
            <p:cNvCxnSpPr>
              <a:cxnSpLocks/>
              <a:stCxn id="80" idx="7"/>
              <a:endCxn id="74" idx="6"/>
            </p:cNvCxnSpPr>
            <p:nvPr/>
          </p:nvCxnSpPr>
          <p:spPr>
            <a:xfrm flipV="1">
              <a:off x="3010301" y="5156195"/>
              <a:ext cx="137031" cy="4656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98EC1702-9213-6C4B-B02A-95238ABDD325}"/>
                </a:ext>
              </a:extLst>
            </p:cNvPr>
            <p:cNvCxnSpPr>
              <a:cxnSpLocks/>
              <a:stCxn id="96" idx="5"/>
              <a:endCxn id="107" idx="0"/>
            </p:cNvCxnSpPr>
            <p:nvPr/>
          </p:nvCxnSpPr>
          <p:spPr>
            <a:xfrm flipH="1">
              <a:off x="4072146" y="4719824"/>
              <a:ext cx="710471" cy="3618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883E0CA4-7214-0A47-873D-2B9C976A3A4D}"/>
                </a:ext>
              </a:extLst>
            </p:cNvPr>
            <p:cNvCxnSpPr>
              <a:cxnSpLocks/>
              <a:stCxn id="96" idx="4"/>
              <a:endCxn id="72" idx="5"/>
            </p:cNvCxnSpPr>
            <p:nvPr/>
          </p:nvCxnSpPr>
          <p:spPr>
            <a:xfrm>
              <a:off x="4757161" y="4730368"/>
              <a:ext cx="548153" cy="833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08A1207-2F49-1044-88A8-8DBE3D877EE0}"/>
                </a:ext>
              </a:extLst>
            </p:cNvPr>
            <p:cNvCxnSpPr>
              <a:cxnSpLocks/>
              <a:stCxn id="95" idx="2"/>
              <a:endCxn id="86" idx="1"/>
            </p:cNvCxnSpPr>
            <p:nvPr/>
          </p:nvCxnSpPr>
          <p:spPr>
            <a:xfrm flipH="1">
              <a:off x="5779472" y="4899685"/>
              <a:ext cx="304436" cy="2670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23C7ED30-F12E-1842-AE87-7C3E690BD663}"/>
                </a:ext>
              </a:extLst>
            </p:cNvPr>
            <p:cNvCxnSpPr>
              <a:cxnSpLocks/>
              <a:stCxn id="93" idx="2"/>
              <a:endCxn id="86" idx="6"/>
            </p:cNvCxnSpPr>
            <p:nvPr/>
          </p:nvCxnSpPr>
          <p:spPr>
            <a:xfrm flipH="1">
              <a:off x="5840928" y="5156766"/>
              <a:ext cx="551766" cy="354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7E95E38B-D3F8-FE4C-A797-4769B368B09F}"/>
                </a:ext>
              </a:extLst>
            </p:cNvPr>
            <p:cNvCxnSpPr>
              <a:cxnSpLocks/>
              <a:stCxn id="95" idx="5"/>
              <a:endCxn id="93" idx="5"/>
            </p:cNvCxnSpPr>
            <p:nvPr/>
          </p:nvCxnSpPr>
          <p:spPr>
            <a:xfrm>
              <a:off x="6145364" y="4925141"/>
              <a:ext cx="308786" cy="2570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13E3023F-ED84-064C-AA4E-CECC3190C034}"/>
                </a:ext>
              </a:extLst>
            </p:cNvPr>
            <p:cNvCxnSpPr>
              <a:cxnSpLocks/>
              <a:stCxn id="109" idx="6"/>
              <a:endCxn id="103" idx="7"/>
            </p:cNvCxnSpPr>
            <p:nvPr/>
          </p:nvCxnSpPr>
          <p:spPr>
            <a:xfrm flipV="1">
              <a:off x="5573545" y="5466351"/>
              <a:ext cx="571819" cy="5923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5FD58850-3C73-7248-BE41-BEDEE819FE11}"/>
                </a:ext>
              </a:extLst>
            </p:cNvPr>
            <p:cNvCxnSpPr>
              <a:cxnSpLocks/>
              <a:stCxn id="109" idx="5"/>
              <a:endCxn id="75" idx="5"/>
            </p:cNvCxnSpPr>
            <p:nvPr/>
          </p:nvCxnSpPr>
          <p:spPr>
            <a:xfrm flipH="1" flipV="1">
              <a:off x="5051312" y="6058089"/>
              <a:ext cx="511689" cy="260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7C593981-45C5-4440-95A4-744CCBF3DA1B}"/>
                </a:ext>
              </a:extLst>
            </p:cNvPr>
            <p:cNvCxnSpPr>
              <a:cxnSpLocks/>
              <a:stCxn id="75" idx="3"/>
              <a:endCxn id="78" idx="4"/>
            </p:cNvCxnSpPr>
            <p:nvPr/>
          </p:nvCxnSpPr>
          <p:spPr>
            <a:xfrm flipH="1">
              <a:off x="4651822" y="6058089"/>
              <a:ext cx="348578" cy="105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75F43EC2-FF65-1D4F-91D4-EE218CFEA0E2}"/>
                </a:ext>
              </a:extLst>
            </p:cNvPr>
            <p:cNvCxnSpPr>
              <a:cxnSpLocks/>
              <a:stCxn id="79" idx="3"/>
              <a:endCxn id="80" idx="3"/>
            </p:cNvCxnSpPr>
            <p:nvPr/>
          </p:nvCxnSpPr>
          <p:spPr>
            <a:xfrm flipH="1" flipV="1">
              <a:off x="2959389" y="5672741"/>
              <a:ext cx="544610" cy="4573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9F6FD37F-2591-1C47-8881-6DBB7B961046}"/>
                </a:ext>
              </a:extLst>
            </p:cNvPr>
            <p:cNvCxnSpPr>
              <a:cxnSpLocks/>
              <a:stCxn id="78" idx="0"/>
              <a:endCxn id="94" idx="4"/>
            </p:cNvCxnSpPr>
            <p:nvPr/>
          </p:nvCxnSpPr>
          <p:spPr>
            <a:xfrm flipV="1">
              <a:off x="4651822" y="5736364"/>
              <a:ext cx="153418" cy="26026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urved Connector 152">
              <a:extLst>
                <a:ext uri="{FF2B5EF4-FFF2-40B4-BE49-F238E27FC236}">
                  <a16:creationId xmlns:a16="http://schemas.microsoft.com/office/drawing/2014/main" id="{D1E0300F-0B4B-0F40-8AE3-B099AB09680F}"/>
                </a:ext>
              </a:extLst>
            </p:cNvPr>
            <p:cNvCxnSpPr>
              <a:cxnSpLocks/>
              <a:stCxn id="78" idx="4"/>
              <a:endCxn id="109" idx="4"/>
            </p:cNvCxnSpPr>
            <p:nvPr/>
          </p:nvCxnSpPr>
          <p:spPr>
            <a:xfrm rot="16200000" flipH="1">
              <a:off x="5081654" y="5638800"/>
              <a:ext cx="26059" cy="885723"/>
            </a:xfrm>
            <a:prstGeom prst="curvedConnector3">
              <a:avLst>
                <a:gd name="adj1" fmla="val 97724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FCFEA00-6EBB-3F4D-AEB8-2AB3616D93A7}"/>
                </a:ext>
              </a:extLst>
            </p:cNvPr>
            <p:cNvCxnSpPr>
              <a:cxnSpLocks/>
              <a:stCxn id="85" idx="5"/>
              <a:endCxn id="96" idx="4"/>
            </p:cNvCxnSpPr>
            <p:nvPr/>
          </p:nvCxnSpPr>
          <p:spPr>
            <a:xfrm flipH="1" flipV="1">
              <a:off x="4757161" y="4730368"/>
              <a:ext cx="103651" cy="34720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urved Connector 164">
              <a:extLst>
                <a:ext uri="{FF2B5EF4-FFF2-40B4-BE49-F238E27FC236}">
                  <a16:creationId xmlns:a16="http://schemas.microsoft.com/office/drawing/2014/main" id="{5E02CBE0-64BD-354B-A714-D6B303FA2452}"/>
                </a:ext>
              </a:extLst>
            </p:cNvPr>
            <p:cNvCxnSpPr>
              <a:cxnSpLocks/>
              <a:stCxn id="78" idx="2"/>
              <a:endCxn id="85" idx="5"/>
            </p:cNvCxnSpPr>
            <p:nvPr/>
          </p:nvCxnSpPr>
          <p:spPr>
            <a:xfrm rot="10800000" flipH="1">
              <a:off x="4615822" y="5077569"/>
              <a:ext cx="244990" cy="955064"/>
            </a:xfrm>
            <a:prstGeom prst="curvedConnector4">
              <a:avLst>
                <a:gd name="adj1" fmla="val -93310"/>
                <a:gd name="adj2" fmla="val 51333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 descr="directed path">
            <a:extLst>
              <a:ext uri="{FF2B5EF4-FFF2-40B4-BE49-F238E27FC236}">
                <a16:creationId xmlns:a16="http://schemas.microsoft.com/office/drawing/2014/main" id="{798EA401-EA23-B047-BF2F-C2CBDB510C07}"/>
              </a:ext>
            </a:extLst>
          </p:cNvPr>
          <p:cNvGrpSpPr/>
          <p:nvPr/>
        </p:nvGrpSpPr>
        <p:grpSpPr>
          <a:xfrm>
            <a:off x="2996548" y="4066500"/>
            <a:ext cx="2572744" cy="1573365"/>
            <a:chOff x="2996548" y="4066500"/>
            <a:chExt cx="2572744" cy="1573365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3F7C8AD-95F8-7B40-8DB8-7BBA58767D97}"/>
                </a:ext>
              </a:extLst>
            </p:cNvPr>
            <p:cNvSpPr txBox="1"/>
            <p:nvPr/>
          </p:nvSpPr>
          <p:spPr>
            <a:xfrm>
              <a:off x="4300996" y="4066500"/>
              <a:ext cx="1268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directed path </a:t>
              </a:r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69D678B-AB7F-044D-85DE-2EAF77F47A45}"/>
                </a:ext>
              </a:extLst>
            </p:cNvPr>
            <p:cNvCxnSpPr>
              <a:cxnSpLocks/>
              <a:stCxn id="74" idx="6"/>
            </p:cNvCxnSpPr>
            <p:nvPr/>
          </p:nvCxnSpPr>
          <p:spPr>
            <a:xfrm flipH="1">
              <a:off x="2996548" y="5156195"/>
              <a:ext cx="150784" cy="483670"/>
            </a:xfrm>
            <a:prstGeom prst="line">
              <a:avLst/>
            </a:prstGeom>
            <a:ln w="57150">
              <a:solidFill>
                <a:schemeClr val="accent5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CE9FE0C-0978-094B-8526-20713FF70F62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flipH="1">
              <a:off x="3714756" y="4374277"/>
              <a:ext cx="1220388" cy="4530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055875BE-FEFB-3040-BA9D-3064CC981DA7}"/>
                </a:ext>
              </a:extLst>
            </p:cNvPr>
            <p:cNvCxnSpPr>
              <a:cxnSpLocks/>
              <a:stCxn id="77" idx="7"/>
              <a:endCxn id="74" idx="6"/>
            </p:cNvCxnSpPr>
            <p:nvPr/>
          </p:nvCxnSpPr>
          <p:spPr>
            <a:xfrm flipH="1">
              <a:off x="3147332" y="4834788"/>
              <a:ext cx="354068" cy="321407"/>
            </a:xfrm>
            <a:prstGeom prst="line">
              <a:avLst/>
            </a:prstGeom>
            <a:ln w="57150">
              <a:solidFill>
                <a:schemeClr val="accent5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F68E74B-010A-6949-B959-F07AD537C2DD}"/>
                </a:ext>
              </a:extLst>
            </p:cNvPr>
            <p:cNvCxnSpPr>
              <a:cxnSpLocks/>
              <a:stCxn id="107" idx="3"/>
              <a:endCxn id="77" idx="6"/>
            </p:cNvCxnSpPr>
            <p:nvPr/>
          </p:nvCxnSpPr>
          <p:spPr>
            <a:xfrm flipH="1" flipV="1">
              <a:off x="3511944" y="4860244"/>
              <a:ext cx="534746" cy="282891"/>
            </a:xfrm>
            <a:prstGeom prst="line">
              <a:avLst/>
            </a:prstGeom>
            <a:ln w="57150">
              <a:solidFill>
                <a:schemeClr val="accent5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1" name="Group 180" descr="directed cycle">
            <a:extLst>
              <a:ext uri="{FF2B5EF4-FFF2-40B4-BE49-F238E27FC236}">
                <a16:creationId xmlns:a16="http://schemas.microsoft.com/office/drawing/2014/main" id="{D8DA483E-1885-344E-A67E-A8926E5D87F0}"/>
              </a:ext>
            </a:extLst>
          </p:cNvPr>
          <p:cNvGrpSpPr/>
          <p:nvPr/>
        </p:nvGrpSpPr>
        <p:grpSpPr>
          <a:xfrm>
            <a:off x="4414838" y="5611285"/>
            <a:ext cx="3739569" cy="975253"/>
            <a:chOff x="4414838" y="5611285"/>
            <a:chExt cx="3739569" cy="97525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192B928-85BF-0C44-A74D-E86559CBEE52}"/>
                </a:ext>
              </a:extLst>
            </p:cNvPr>
            <p:cNvSpPr txBox="1"/>
            <p:nvPr/>
          </p:nvSpPr>
          <p:spPr>
            <a:xfrm>
              <a:off x="6874890" y="5611285"/>
              <a:ext cx="12795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directed cycle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B529DEB-8052-0643-BBD5-FB9E7A7334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8176" y="5791915"/>
              <a:ext cx="1056716" cy="3607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56585916-0477-9240-A214-AC3803837C73}"/>
                </a:ext>
              </a:extLst>
            </p:cNvPr>
            <p:cNvSpPr/>
            <p:nvPr/>
          </p:nvSpPr>
          <p:spPr>
            <a:xfrm>
              <a:off x="4414838" y="5872163"/>
              <a:ext cx="1328737" cy="714375"/>
            </a:xfrm>
            <a:custGeom>
              <a:avLst/>
              <a:gdLst>
                <a:gd name="connsiteX0" fmla="*/ 1328737 w 1328737"/>
                <a:gd name="connsiteY0" fmla="*/ 14287 h 714375"/>
                <a:gd name="connsiteX1" fmla="*/ 785812 w 1328737"/>
                <a:gd name="connsiteY1" fmla="*/ 0 h 714375"/>
                <a:gd name="connsiteX2" fmla="*/ 228600 w 1328737"/>
                <a:gd name="connsiteY2" fmla="*/ 28575 h 714375"/>
                <a:gd name="connsiteX3" fmla="*/ 0 w 1328737"/>
                <a:gd name="connsiteY3" fmla="*/ 157162 h 714375"/>
                <a:gd name="connsiteX4" fmla="*/ 485775 w 1328737"/>
                <a:gd name="connsiteY4" fmla="*/ 714375 h 714375"/>
                <a:gd name="connsiteX5" fmla="*/ 1271587 w 1328737"/>
                <a:gd name="connsiteY5" fmla="*/ 642937 h 714375"/>
                <a:gd name="connsiteX6" fmla="*/ 1328737 w 1328737"/>
                <a:gd name="connsiteY6" fmla="*/ 14287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8737" h="714375">
                  <a:moveTo>
                    <a:pt x="1328737" y="14287"/>
                  </a:moveTo>
                  <a:lnTo>
                    <a:pt x="785812" y="0"/>
                  </a:lnTo>
                  <a:lnTo>
                    <a:pt x="228600" y="28575"/>
                  </a:lnTo>
                  <a:lnTo>
                    <a:pt x="0" y="157162"/>
                  </a:lnTo>
                  <a:lnTo>
                    <a:pt x="485775" y="714375"/>
                  </a:lnTo>
                  <a:lnTo>
                    <a:pt x="1271587" y="642937"/>
                  </a:lnTo>
                  <a:lnTo>
                    <a:pt x="1328737" y="14287"/>
                  </a:lnTo>
                  <a:close/>
                </a:path>
              </a:pathLst>
            </a:cu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7" name="Group 186" descr="indegree and outdegree examples">
            <a:extLst>
              <a:ext uri="{FF2B5EF4-FFF2-40B4-BE49-F238E27FC236}">
                <a16:creationId xmlns:a16="http://schemas.microsoft.com/office/drawing/2014/main" id="{D9D035CB-6B49-9441-A0C8-10A07DD22202}"/>
              </a:ext>
            </a:extLst>
          </p:cNvPr>
          <p:cNvGrpSpPr/>
          <p:nvPr/>
        </p:nvGrpSpPr>
        <p:grpSpPr>
          <a:xfrm>
            <a:off x="6196673" y="4072138"/>
            <a:ext cx="2941375" cy="1286586"/>
            <a:chOff x="6196673" y="4072138"/>
            <a:chExt cx="2941375" cy="1286586"/>
          </a:xfrm>
        </p:grpSpPr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0437558-514B-3548-8E07-F8F39023620B}"/>
                </a:ext>
              </a:extLst>
            </p:cNvPr>
            <p:cNvSpPr txBox="1"/>
            <p:nvPr/>
          </p:nvSpPr>
          <p:spPr>
            <a:xfrm>
              <a:off x="6782902" y="4072138"/>
              <a:ext cx="11929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indegree=0</a:t>
              </a:r>
            </a:p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outdegree=2</a:t>
              </a:r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2608D02F-FCF8-A842-B787-F89CD658F8CA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 flipH="1">
              <a:off x="6196673" y="4595358"/>
              <a:ext cx="1182707" cy="2376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02AF9DA-15E4-EC49-B7BE-22A1F25F6AF2}"/>
                </a:ext>
              </a:extLst>
            </p:cNvPr>
            <p:cNvSpPr txBox="1"/>
            <p:nvPr/>
          </p:nvSpPr>
          <p:spPr>
            <a:xfrm>
              <a:off x="7945093" y="4835504"/>
              <a:ext cx="11929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indegree=1</a:t>
              </a:r>
            </a:p>
            <a:p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outdegree=1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296B9BB8-3458-254B-87D8-FB3D09E359C9}"/>
                </a:ext>
              </a:extLst>
            </p:cNvPr>
            <p:cNvCxnSpPr>
              <a:cxnSpLocks/>
              <a:stCxn id="184" idx="1"/>
            </p:cNvCxnSpPr>
            <p:nvPr/>
          </p:nvCxnSpPr>
          <p:spPr>
            <a:xfrm flipH="1">
              <a:off x="6499937" y="5097114"/>
              <a:ext cx="14451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954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DEA0-D920-CD43-A3AE-88C58AC2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DIGraph</a:t>
            </a:r>
            <a:r>
              <a:rPr lang="en-US" dirty="0"/>
              <a:t>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028DD-BDDE-5045-A609-70D11A64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representation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400" dirty="0"/>
          </a:p>
          <a:p>
            <a:r>
              <a:rPr lang="en-US" dirty="0"/>
              <a:t>Basic operations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D93355-190D-1C4F-8584-74A8DB33F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253359"/>
              </p:ext>
            </p:extLst>
          </p:nvPr>
        </p:nvGraphicFramePr>
        <p:xfrm>
          <a:off x="1371834" y="2122108"/>
          <a:ext cx="8758004" cy="1783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933">
                  <a:extLst>
                    <a:ext uri="{9D8B030D-6E8A-4147-A177-3AD203B41FA5}">
                      <a16:colId xmlns:a16="http://schemas.microsoft.com/office/drawing/2014/main" val="4021934710"/>
                    </a:ext>
                  </a:extLst>
                </a:gridCol>
                <a:gridCol w="3071954">
                  <a:extLst>
                    <a:ext uri="{9D8B030D-6E8A-4147-A177-3AD203B41FA5}">
                      <a16:colId xmlns:a16="http://schemas.microsoft.com/office/drawing/2014/main" val="696276425"/>
                    </a:ext>
                  </a:extLst>
                </a:gridCol>
                <a:gridCol w="3756117">
                  <a:extLst>
                    <a:ext uri="{9D8B030D-6E8A-4147-A177-3AD203B41FA5}">
                      <a16:colId xmlns:a16="http://schemas.microsoft.com/office/drawing/2014/main" val="2428419463"/>
                    </a:ext>
                  </a:extLst>
                </a:gridCol>
              </a:tblGrid>
              <a:tr h="535562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Graphical (intuitive)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Computer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780146"/>
                  </a:ext>
                </a:extLst>
              </a:tr>
              <a:tr h="53099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number in [0, V-1]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640757"/>
                  </a:ext>
                </a:extLst>
              </a:tr>
              <a:tr h="61286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Directed 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 of integer numbers (from-to)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49379"/>
                  </a:ext>
                </a:extLst>
              </a:tr>
            </a:tbl>
          </a:graphicData>
        </a:graphic>
      </p:graphicFrame>
      <p:sp>
        <p:nvSpPr>
          <p:cNvPr id="5" name="Oval 4" descr="graphical representation of a vertex">
            <a:extLst>
              <a:ext uri="{FF2B5EF4-FFF2-40B4-BE49-F238E27FC236}">
                <a16:creationId xmlns:a16="http://schemas.microsoft.com/office/drawing/2014/main" id="{EB755B69-2FEE-CD42-888F-76EB57671087}"/>
              </a:ext>
            </a:extLst>
          </p:cNvPr>
          <p:cNvSpPr/>
          <p:nvPr/>
        </p:nvSpPr>
        <p:spPr>
          <a:xfrm>
            <a:off x="4384915" y="2977547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 descr="arrow representation of a directed edge">
            <a:extLst>
              <a:ext uri="{FF2B5EF4-FFF2-40B4-BE49-F238E27FC236}">
                <a16:creationId xmlns:a16="http://schemas.microsoft.com/office/drawing/2014/main" id="{20A73646-46EC-AD4E-B314-62DC7EDAA523}"/>
              </a:ext>
            </a:extLst>
          </p:cNvPr>
          <p:cNvGrpSpPr/>
          <p:nvPr/>
        </p:nvGrpSpPr>
        <p:grpSpPr>
          <a:xfrm>
            <a:off x="3818062" y="3549037"/>
            <a:ext cx="1313705" cy="180000"/>
            <a:chOff x="3818062" y="3549037"/>
            <a:chExt cx="1313705" cy="180000"/>
          </a:xfrm>
        </p:grpSpPr>
        <p:grpSp>
          <p:nvGrpSpPr>
            <p:cNvPr id="10" name="Group 9" descr="graphical representation of an edge ">
              <a:extLst>
                <a:ext uri="{FF2B5EF4-FFF2-40B4-BE49-F238E27FC236}">
                  <a16:creationId xmlns:a16="http://schemas.microsoft.com/office/drawing/2014/main" id="{9FA53AAC-FF83-394F-A085-9C5F01576628}"/>
                </a:ext>
              </a:extLst>
            </p:cNvPr>
            <p:cNvGrpSpPr/>
            <p:nvPr/>
          </p:nvGrpSpPr>
          <p:grpSpPr>
            <a:xfrm>
              <a:off x="3818062" y="3549037"/>
              <a:ext cx="1313705" cy="180000"/>
              <a:chOff x="3728063" y="3819016"/>
              <a:chExt cx="1313705" cy="180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ED4BE19-BBB1-FE49-A909-2FA59A5E5747}"/>
                  </a:ext>
                </a:extLst>
              </p:cNvPr>
              <p:cNvSpPr/>
              <p:nvPr/>
            </p:nvSpPr>
            <p:spPr>
              <a:xfrm>
                <a:off x="4861768" y="3819016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D447689-D23A-E248-9D84-86499F5D9EC3}"/>
                  </a:ext>
                </a:extLst>
              </p:cNvPr>
              <p:cNvSpPr/>
              <p:nvPr/>
            </p:nvSpPr>
            <p:spPr>
              <a:xfrm>
                <a:off x="3728063" y="3819016"/>
                <a:ext cx="180000" cy="18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" name="Straight Arrow Connector 11" descr="arrow representation of a directed edge">
              <a:extLst>
                <a:ext uri="{FF2B5EF4-FFF2-40B4-BE49-F238E27FC236}">
                  <a16:creationId xmlns:a16="http://schemas.microsoft.com/office/drawing/2014/main" id="{1795378D-5907-1E4C-9E90-9C518E675C58}"/>
                </a:ext>
              </a:extLst>
            </p:cNvPr>
            <p:cNvCxnSpPr>
              <a:cxnSpLocks/>
              <a:stCxn id="7" idx="6"/>
              <a:endCxn id="6" idx="2"/>
            </p:cNvCxnSpPr>
            <p:nvPr/>
          </p:nvCxnSpPr>
          <p:spPr>
            <a:xfrm>
              <a:off x="3998062" y="3639037"/>
              <a:ext cx="95370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E029CEF-A23D-4E44-B095-D15AF17BA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162817"/>
              </p:ext>
            </p:extLst>
          </p:nvPr>
        </p:nvGraphicFramePr>
        <p:xfrm>
          <a:off x="1371834" y="4823812"/>
          <a:ext cx="81549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5672">
                  <a:extLst>
                    <a:ext uri="{9D8B030D-6E8A-4147-A177-3AD203B41FA5}">
                      <a16:colId xmlns:a16="http://schemas.microsoft.com/office/drawing/2014/main" val="43518633"/>
                    </a:ext>
                  </a:extLst>
                </a:gridCol>
                <a:gridCol w="4749315">
                  <a:extLst>
                    <a:ext uri="{9D8B030D-6E8A-4147-A177-3AD203B41FA5}">
                      <a16:colId xmlns:a16="http://schemas.microsoft.com/office/drawing/2014/main" val="28462120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309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addEdge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(int v, int w)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an edge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98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Adj (int v)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  <a:sym typeface="Wingdings" pitchFamily="2" charset="2"/>
                        </a:rPr>
                        <a:t> int []</a:t>
                      </a:r>
                      <a:endParaRPr lang="en-US" sz="1800" dirty="0">
                        <a:solidFill>
                          <a:schemeClr val="tx1"/>
                        </a:solidFill>
                        <a:latin typeface="Courier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 of vertices from v pointing outwards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61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V()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  <a:sym typeface="Wingdings" pitchFamily="2" charset="2"/>
                        </a:rPr>
                        <a:t> int</a:t>
                      </a:r>
                      <a:endParaRPr lang="en-US" sz="1800" dirty="0">
                        <a:solidFill>
                          <a:schemeClr val="tx1"/>
                        </a:solidFill>
                        <a:latin typeface="Courier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vertices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17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</a:rPr>
                        <a:t>E()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ourier" pitchFamily="2" charset="0"/>
                          <a:sym typeface="Wingdings" pitchFamily="2" charset="2"/>
                        </a:rPr>
                        <a:t> int</a:t>
                      </a:r>
                      <a:endParaRPr lang="en-US" sz="1800" dirty="0">
                        <a:solidFill>
                          <a:schemeClr val="tx1"/>
                        </a:solidFill>
                        <a:latin typeface="Courier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edges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991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2822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digraph </a:t>
            </a:r>
            <a:r>
              <a:rPr lang="en-US" dirty="0" err="1"/>
              <a:t>realisation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28D7-E09C-2846-9B76-BEB49064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Via </a:t>
            </a:r>
            <a:r>
              <a:rPr lang="en-US" dirty="0">
                <a:highlight>
                  <a:srgbClr val="C0C0C0"/>
                </a:highlight>
              </a:rPr>
              <a:t>adjacency list</a:t>
            </a:r>
          </a:p>
          <a:p>
            <a:pPr lvl="1"/>
            <a:r>
              <a:rPr lang="en-US" dirty="0"/>
              <a:t>Vertex-indexed array of lists</a:t>
            </a:r>
          </a:p>
        </p:txBody>
      </p:sp>
      <p:grpSp>
        <p:nvGrpSpPr>
          <p:cNvPr id="223" name="Group 222" descr="graphical representation of a a digraph">
            <a:extLst>
              <a:ext uri="{FF2B5EF4-FFF2-40B4-BE49-F238E27FC236}">
                <a16:creationId xmlns:a16="http://schemas.microsoft.com/office/drawing/2014/main" id="{F64B84E7-FD79-6044-BE83-614B5C7917AF}"/>
              </a:ext>
            </a:extLst>
          </p:cNvPr>
          <p:cNvGrpSpPr/>
          <p:nvPr/>
        </p:nvGrpSpPr>
        <p:grpSpPr>
          <a:xfrm>
            <a:off x="748548" y="3086100"/>
            <a:ext cx="3365036" cy="2446611"/>
            <a:chOff x="748548" y="3086100"/>
            <a:chExt cx="3365036" cy="2446611"/>
          </a:xfrm>
        </p:grpSpPr>
        <p:grpSp>
          <p:nvGrpSpPr>
            <p:cNvPr id="196" name="Group 195" descr="example of a digraph">
              <a:extLst>
                <a:ext uri="{FF2B5EF4-FFF2-40B4-BE49-F238E27FC236}">
                  <a16:creationId xmlns:a16="http://schemas.microsoft.com/office/drawing/2014/main" id="{8958CCAC-6C94-464C-AE63-5DB6DD5C955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5FF724C-A19A-FE4D-B8C7-B88C89D873F5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435C31F-3F11-1440-BF50-D12B3F657533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5382907-9747-B849-9066-9AC7EF77056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BCBCCDD-ED99-5E4D-88EC-8A2B7854AEE9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9850197-2021-054B-8E92-BE69A303E86A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E0E8C5-B734-7448-9045-88B99BAA0A93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6BD5CFF-52EE-3145-A9F5-4D9C34496246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F2B25D9E-00DC-B148-9DD8-ABD4BF51BB6E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B7A2F04-D748-FC4D-93AD-D8203FBC1152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9A9DCE6-0EA7-B84A-B9FF-676F0A704D91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336726E-297D-3641-B575-BF32983C42B4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09BB21B-D988-6D43-9E07-A5A73E22B6AD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8ED7E50-99DE-434A-B014-07F2B40562B0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7FC470FC-1904-3844-8872-428B4A89AE84}"/>
                  </a:ext>
                </a:extLst>
              </p:cNvPr>
              <p:cNvCxnSpPr>
                <a:stCxn id="19" idx="4"/>
                <a:endCxn id="20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Arrow Connector 148">
                <a:extLst>
                  <a:ext uri="{FF2B5EF4-FFF2-40B4-BE49-F238E27FC236}">
                    <a16:creationId xmlns:a16="http://schemas.microsoft.com/office/drawing/2014/main" id="{D10B11DB-FDF1-C14D-97D1-8427968CBDDB}"/>
                  </a:ext>
                </a:extLst>
              </p:cNvPr>
              <p:cNvCxnSpPr>
                <a:cxnSpLocks/>
                <a:stCxn id="19" idx="5"/>
                <a:endCxn id="21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468DE111-743F-CC4E-A1E9-541EE2043691}"/>
                  </a:ext>
                </a:extLst>
              </p:cNvPr>
              <p:cNvCxnSpPr>
                <a:cxnSpLocks/>
                <a:stCxn id="22" idx="3"/>
                <a:endCxn id="25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1FC436DC-6CE0-0C4E-8FDB-6464059F337E}"/>
                  </a:ext>
                </a:extLst>
              </p:cNvPr>
              <p:cNvCxnSpPr>
                <a:cxnSpLocks/>
                <a:stCxn id="22" idx="1"/>
                <a:endCxn id="19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7F9FE5F3-C8B8-F648-8390-11935C08AC5F}"/>
                  </a:ext>
                </a:extLst>
              </p:cNvPr>
              <p:cNvCxnSpPr>
                <a:cxnSpLocks/>
                <a:stCxn id="25" idx="3"/>
                <a:endCxn id="20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>
                <a:extLst>
                  <a:ext uri="{FF2B5EF4-FFF2-40B4-BE49-F238E27FC236}">
                    <a16:creationId xmlns:a16="http://schemas.microsoft.com/office/drawing/2014/main" id="{6E45F25C-10C7-FD45-9194-D865AA0C4B34}"/>
                  </a:ext>
                </a:extLst>
              </p:cNvPr>
              <p:cNvCxnSpPr>
                <a:cxnSpLocks/>
                <a:stCxn id="25" idx="6"/>
                <a:endCxn id="22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0B88BC77-E627-8347-A3EA-ACB017C55B0E}"/>
                  </a:ext>
                </a:extLst>
              </p:cNvPr>
              <p:cNvCxnSpPr>
                <a:cxnSpLocks/>
                <a:stCxn id="24" idx="7"/>
                <a:endCxn id="22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4F5150DC-E05D-2A48-A38D-2D9ABA259C11}"/>
                  </a:ext>
                </a:extLst>
              </p:cNvPr>
              <p:cNvCxnSpPr>
                <a:cxnSpLocks/>
                <a:stCxn id="24" idx="2"/>
                <a:endCxn id="25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50BE7E33-A156-964D-BE3B-891FD9E9880F}"/>
                  </a:ext>
                </a:extLst>
              </p:cNvPr>
              <p:cNvCxnSpPr>
                <a:cxnSpLocks/>
                <a:stCxn id="20" idx="5"/>
                <a:endCxn id="24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F973357C-B552-2340-996F-00FD830939D2}"/>
                  </a:ext>
                </a:extLst>
              </p:cNvPr>
              <p:cNvCxnSpPr>
                <a:cxnSpLocks/>
                <a:stCxn id="23" idx="2"/>
                <a:endCxn id="19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6165C4DF-D5CD-5D4D-9DA9-4C7370C70F65}"/>
                  </a:ext>
                </a:extLst>
              </p:cNvPr>
              <p:cNvCxnSpPr>
                <a:cxnSpLocks/>
                <a:stCxn id="23" idx="3"/>
                <a:endCxn id="24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E4FF37C7-981C-0640-A2CF-9CA5304D697A}"/>
                  </a:ext>
                </a:extLst>
              </p:cNvPr>
              <p:cNvCxnSpPr>
                <a:cxnSpLocks/>
                <a:stCxn id="23" idx="7"/>
                <a:endCxn id="17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B3A16C8D-56D0-1B42-8C17-41FDAB3A3D5F}"/>
                  </a:ext>
                </a:extLst>
              </p:cNvPr>
              <p:cNvCxnSpPr>
                <a:cxnSpLocks/>
                <a:stCxn id="23" idx="4"/>
                <a:endCxn id="8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F0B51871-B358-A243-A3AE-F54BBB27EF7F}"/>
                  </a:ext>
                </a:extLst>
              </p:cNvPr>
              <p:cNvCxnSpPr>
                <a:cxnSpLocks/>
                <a:stCxn id="16" idx="3"/>
                <a:endCxn id="8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30FBD24E-CA73-E144-ACA4-A724BAA50F05}"/>
                  </a:ext>
                </a:extLst>
              </p:cNvPr>
              <p:cNvCxnSpPr>
                <a:cxnSpLocks/>
                <a:stCxn id="16" idx="2"/>
                <a:endCxn id="23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Arrow Connector 191">
                <a:extLst>
                  <a:ext uri="{FF2B5EF4-FFF2-40B4-BE49-F238E27FC236}">
                    <a16:creationId xmlns:a16="http://schemas.microsoft.com/office/drawing/2014/main" id="{C622B306-B80E-164F-AC1F-88AF32755117}"/>
                  </a:ext>
                </a:extLst>
              </p:cNvPr>
              <p:cNvCxnSpPr>
                <a:cxnSpLocks/>
                <a:stCxn id="17" idx="2"/>
                <a:endCxn id="23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B861E41E-4C17-C34C-BBD5-EAD5796A58EB}"/>
                  </a:ext>
                </a:extLst>
              </p:cNvPr>
              <p:cNvCxnSpPr>
                <a:cxnSpLocks/>
                <a:stCxn id="8" idx="6"/>
                <a:endCxn id="9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41BDA56A-9C43-3546-98D0-99882E5A0723}"/>
                  </a:ext>
                </a:extLst>
              </p:cNvPr>
              <p:cNvCxnSpPr>
                <a:cxnSpLocks/>
                <a:stCxn id="8" idx="4"/>
                <a:endCxn id="11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Arrow Connector 206">
                <a:extLst>
                  <a:ext uri="{FF2B5EF4-FFF2-40B4-BE49-F238E27FC236}">
                    <a16:creationId xmlns:a16="http://schemas.microsoft.com/office/drawing/2014/main" id="{3B712AA8-6EE4-1846-BBAE-4703101E1180}"/>
                  </a:ext>
                </a:extLst>
              </p:cNvPr>
              <p:cNvCxnSpPr>
                <a:cxnSpLocks/>
                <a:stCxn id="9" idx="4"/>
                <a:endCxn id="10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A7D264C5-BC92-A14B-83B1-E738AD5ABBA0}"/>
                  </a:ext>
                </a:extLst>
              </p:cNvPr>
              <p:cNvCxnSpPr>
                <a:cxnSpLocks/>
                <a:stCxn id="11" idx="6"/>
                <a:endCxn id="10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Arrow Connector 216">
                <a:extLst>
                  <a:ext uri="{FF2B5EF4-FFF2-40B4-BE49-F238E27FC236}">
                    <a16:creationId xmlns:a16="http://schemas.microsoft.com/office/drawing/2014/main" id="{34861BDF-A46F-7F42-A8F5-235DD24C0096}"/>
                  </a:ext>
                </a:extLst>
              </p:cNvPr>
              <p:cNvCxnSpPr>
                <a:cxnSpLocks/>
                <a:stCxn id="10" idx="1"/>
                <a:endCxn id="8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ECD785D3-0C61-6346-9B57-CB7F41817625}"/>
                </a:ext>
              </a:extLst>
            </p:cNvPr>
            <p:cNvCxnSpPr>
              <a:cxnSpLocks/>
              <a:stCxn id="11" idx="2"/>
              <a:endCxn id="24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" name="Table 32" descr="adjecency matrix representation of the digraph (vertex index)">
            <a:extLst>
              <a:ext uri="{FF2B5EF4-FFF2-40B4-BE49-F238E27FC236}">
                <a16:creationId xmlns:a16="http://schemas.microsoft.com/office/drawing/2014/main" id="{17899976-C130-C743-9512-DAC1EF44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58552"/>
              </p:ext>
            </p:extLst>
          </p:nvPr>
        </p:nvGraphicFramePr>
        <p:xfrm>
          <a:off x="5352674" y="2817749"/>
          <a:ext cx="790576" cy="335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526">
                  <a:extLst>
                    <a:ext uri="{9D8B030D-6E8A-4147-A177-3AD203B41FA5}">
                      <a16:colId xmlns:a16="http://schemas.microsoft.com/office/drawing/2014/main" val="307556410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77797891"/>
                    </a:ext>
                  </a:extLst>
                </a:gridCol>
              </a:tblGrid>
              <a:tr h="2397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adj[]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41069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32271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405553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89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1841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303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98116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5940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35680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193532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048874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189797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442689"/>
                  </a:ext>
                </a:extLst>
              </a:tr>
              <a:tr h="2397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810939"/>
                  </a:ext>
                </a:extLst>
              </a:tr>
            </a:tbl>
          </a:graphicData>
        </a:graphic>
      </p:graphicFrame>
      <p:grpSp>
        <p:nvGrpSpPr>
          <p:cNvPr id="231" name="Group 230" descr="adjecency list representation of the digraph">
            <a:extLst>
              <a:ext uri="{FF2B5EF4-FFF2-40B4-BE49-F238E27FC236}">
                <a16:creationId xmlns:a16="http://schemas.microsoft.com/office/drawing/2014/main" id="{0C5C7104-A4D7-1444-87D7-B8C98B09F7A1}"/>
              </a:ext>
            </a:extLst>
          </p:cNvPr>
          <p:cNvGrpSpPr/>
          <p:nvPr/>
        </p:nvGrpSpPr>
        <p:grpSpPr>
          <a:xfrm>
            <a:off x="6131956" y="1446373"/>
            <a:ext cx="4220968" cy="5372064"/>
            <a:chOff x="6131956" y="1446373"/>
            <a:chExt cx="4220968" cy="537206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881FF17-9710-9949-B256-0F9E7593D128}"/>
                </a:ext>
              </a:extLst>
            </p:cNvPr>
            <p:cNvGrpSpPr/>
            <p:nvPr/>
          </p:nvGrpSpPr>
          <p:grpSpPr>
            <a:xfrm>
              <a:off x="7843007" y="1446373"/>
              <a:ext cx="1258131" cy="371475"/>
              <a:chOff x="7529514" y="2014536"/>
              <a:chExt cx="1258131" cy="37147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4CF1BA1-A00E-BC46-BAD2-19403772ED85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CB07B0-EAFA-834D-B1D1-0CD3BADD9D97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2528EF07-BB9B-3F41-BC43-328CC6B358E7}"/>
                  </a:ext>
                </a:extLst>
              </p:cNvPr>
              <p:cNvCxnSpPr>
                <a:stCxn id="34" idx="3"/>
                <a:endCxn id="35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6885EED-1D68-F944-80B7-082BCAE0F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4A9FC1DF-98B2-F846-8DEC-D164A82BEDA8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9218EBD-4456-1648-BD65-5CDF8A052A91}"/>
                </a:ext>
              </a:extLst>
            </p:cNvPr>
            <p:cNvSpPr/>
            <p:nvPr/>
          </p:nvSpPr>
          <p:spPr>
            <a:xfrm>
              <a:off x="8175864" y="2336959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43C7D56-6A1D-FB4C-BBC6-664A36E4704A}"/>
                </a:ext>
              </a:extLst>
            </p:cNvPr>
            <p:cNvCxnSpPr>
              <a:cxnSpLocks/>
            </p:cNvCxnSpPr>
            <p:nvPr/>
          </p:nvCxnSpPr>
          <p:spPr>
            <a:xfrm>
              <a:off x="7947264" y="2336959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BF3D6EA4-63C5-4846-BD20-1F659E3B64B2}"/>
                </a:ext>
              </a:extLst>
            </p:cNvPr>
            <p:cNvSpPr/>
            <p:nvPr/>
          </p:nvSpPr>
          <p:spPr>
            <a:xfrm>
              <a:off x="7847253" y="2265519"/>
              <a:ext cx="1253885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54EAC91-973A-5A47-BFBC-D985A26D4721}"/>
                </a:ext>
              </a:extLst>
            </p:cNvPr>
            <p:cNvGrpSpPr/>
            <p:nvPr/>
          </p:nvGrpSpPr>
          <p:grpSpPr>
            <a:xfrm>
              <a:off x="7843007" y="2689375"/>
              <a:ext cx="1258131" cy="371475"/>
              <a:chOff x="7529514" y="2014536"/>
              <a:chExt cx="1258131" cy="371475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0A2B77C-A941-9147-815B-B1A48F109A10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D00034D-E13F-D444-ADB6-EBB1FE559C1D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D82AECD-4509-F04F-AB35-6BE86D999896}"/>
                  </a:ext>
                </a:extLst>
              </p:cNvPr>
              <p:cNvCxnSpPr>
                <a:stCxn id="67" idx="3"/>
                <a:endCxn id="6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D78DBE4-8C78-854D-B244-944CE208C5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2D80D797-E70E-8947-B6FF-B9C73E44EF67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972EE5D-C6A7-BF4A-AA6F-5BAFA25A6495}"/>
                </a:ext>
              </a:extLst>
            </p:cNvPr>
            <p:cNvSpPr/>
            <p:nvPr/>
          </p:nvSpPr>
          <p:spPr>
            <a:xfrm>
              <a:off x="8166337" y="315610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B88E399-C7B1-094F-BF10-DAA141A86F30}"/>
                </a:ext>
              </a:extLst>
            </p:cNvPr>
            <p:cNvSpPr/>
            <p:nvPr/>
          </p:nvSpPr>
          <p:spPr>
            <a:xfrm>
              <a:off x="8687831" y="315610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90064C0-173E-594E-9962-CEC275849638}"/>
                </a:ext>
              </a:extLst>
            </p:cNvPr>
            <p:cNvSpPr/>
            <p:nvPr/>
          </p:nvSpPr>
          <p:spPr>
            <a:xfrm>
              <a:off x="9302264" y="399250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C837711-6CE1-2948-8980-9FDB182FE9FE}"/>
                </a:ext>
              </a:extLst>
            </p:cNvPr>
            <p:cNvCxnSpPr>
              <a:stCxn id="77" idx="3"/>
              <a:endCxn id="78" idx="1"/>
            </p:cNvCxnSpPr>
            <p:nvPr/>
          </p:nvCxnSpPr>
          <p:spPr>
            <a:xfrm>
              <a:off x="8466375" y="3284696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FC79A97-1F1C-A844-83AA-B9D8B0C40944}"/>
                </a:ext>
              </a:extLst>
            </p:cNvPr>
            <p:cNvCxnSpPr>
              <a:cxnSpLocks/>
            </p:cNvCxnSpPr>
            <p:nvPr/>
          </p:nvCxnSpPr>
          <p:spPr>
            <a:xfrm>
              <a:off x="7937737" y="3156108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ounded Rectangle 84">
              <a:extLst>
                <a:ext uri="{FF2B5EF4-FFF2-40B4-BE49-F238E27FC236}">
                  <a16:creationId xmlns:a16="http://schemas.microsoft.com/office/drawing/2014/main" id="{78E2910D-78A4-A94A-A3CF-DD836579D871}"/>
                </a:ext>
              </a:extLst>
            </p:cNvPr>
            <p:cNvSpPr/>
            <p:nvPr/>
          </p:nvSpPr>
          <p:spPr>
            <a:xfrm>
              <a:off x="7837727" y="3098956"/>
              <a:ext cx="1258131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58A767A-7626-8B40-86D5-52528620D08F}"/>
                </a:ext>
              </a:extLst>
            </p:cNvPr>
            <p:cNvSpPr/>
            <p:nvPr/>
          </p:nvSpPr>
          <p:spPr>
            <a:xfrm>
              <a:off x="8162092" y="3579962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88D2C4A-4713-7A4D-B7E9-972016F2C09F}"/>
                </a:ext>
              </a:extLst>
            </p:cNvPr>
            <p:cNvSpPr/>
            <p:nvPr/>
          </p:nvSpPr>
          <p:spPr>
            <a:xfrm>
              <a:off x="8668370" y="4404751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9D61383-0942-6941-A5F7-6FF406D1CE21}"/>
                </a:ext>
              </a:extLst>
            </p:cNvPr>
            <p:cNvSpPr/>
            <p:nvPr/>
          </p:nvSpPr>
          <p:spPr>
            <a:xfrm>
              <a:off x="9878165" y="3991365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C8F34353-5135-2048-A387-B8B1133A2C67}"/>
                </a:ext>
              </a:extLst>
            </p:cNvPr>
            <p:cNvCxnSpPr>
              <a:cxnSpLocks/>
            </p:cNvCxnSpPr>
            <p:nvPr/>
          </p:nvCxnSpPr>
          <p:spPr>
            <a:xfrm>
              <a:off x="8475902" y="2472891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FF69383-4295-1248-8088-D197DB98447C}"/>
                </a:ext>
              </a:extLst>
            </p:cNvPr>
            <p:cNvCxnSpPr/>
            <p:nvPr/>
          </p:nvCxnSpPr>
          <p:spPr>
            <a:xfrm>
              <a:off x="8997396" y="4135737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981FE0C-9377-7446-B997-C528748CC662}"/>
                </a:ext>
              </a:extLst>
            </p:cNvPr>
            <p:cNvCxnSpPr>
              <a:cxnSpLocks/>
            </p:cNvCxnSpPr>
            <p:nvPr/>
          </p:nvCxnSpPr>
          <p:spPr>
            <a:xfrm>
              <a:off x="7933492" y="3579962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4726DA57-701F-DC4A-A78D-8F7C15D74ED6}"/>
                </a:ext>
              </a:extLst>
            </p:cNvPr>
            <p:cNvSpPr/>
            <p:nvPr/>
          </p:nvSpPr>
          <p:spPr>
            <a:xfrm>
              <a:off x="7833482" y="3508522"/>
              <a:ext cx="788808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0B0D9E0-9434-504F-B2B2-F728B8C42994}"/>
                </a:ext>
              </a:extLst>
            </p:cNvPr>
            <p:cNvSpPr/>
            <p:nvPr/>
          </p:nvSpPr>
          <p:spPr>
            <a:xfrm>
              <a:off x="8169236" y="398953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49BEE4B-5600-E546-823C-9B69362218F7}"/>
                </a:ext>
              </a:extLst>
            </p:cNvPr>
            <p:cNvSpPr/>
            <p:nvPr/>
          </p:nvSpPr>
          <p:spPr>
            <a:xfrm>
              <a:off x="8690730" y="398953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06D2BED4-C128-8F4D-846A-AAE03E4A4E4E}"/>
                </a:ext>
              </a:extLst>
            </p:cNvPr>
            <p:cNvCxnSpPr>
              <a:stCxn id="97" idx="3"/>
              <a:endCxn id="98" idx="1"/>
            </p:cNvCxnSpPr>
            <p:nvPr/>
          </p:nvCxnSpPr>
          <p:spPr>
            <a:xfrm>
              <a:off x="8469274" y="4118126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C8F962F-9688-7C40-AC3B-C0BC48C781FE}"/>
                </a:ext>
              </a:extLst>
            </p:cNvPr>
            <p:cNvCxnSpPr>
              <a:cxnSpLocks/>
            </p:cNvCxnSpPr>
            <p:nvPr/>
          </p:nvCxnSpPr>
          <p:spPr>
            <a:xfrm>
              <a:off x="7940636" y="3989538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FA3FBE77-2424-504D-A4FB-3B58225DE207}"/>
                </a:ext>
              </a:extLst>
            </p:cNvPr>
            <p:cNvSpPr/>
            <p:nvPr/>
          </p:nvSpPr>
          <p:spPr>
            <a:xfrm>
              <a:off x="7840625" y="3932386"/>
              <a:ext cx="2512299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462C6F9-29F0-F042-92DA-38CF2FF124DA}"/>
                </a:ext>
              </a:extLst>
            </p:cNvPr>
            <p:cNvSpPr/>
            <p:nvPr/>
          </p:nvSpPr>
          <p:spPr>
            <a:xfrm>
              <a:off x="8175865" y="4399109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37D370E-B5E5-FF40-B8F3-7A75B747CA48}"/>
                </a:ext>
              </a:extLst>
            </p:cNvPr>
            <p:cNvCxnSpPr>
              <a:cxnSpLocks/>
            </p:cNvCxnSpPr>
            <p:nvPr/>
          </p:nvCxnSpPr>
          <p:spPr>
            <a:xfrm>
              <a:off x="7947265" y="4399109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D3DA4F14-BFFB-C945-8591-8DBAE1A4304D}"/>
                </a:ext>
              </a:extLst>
            </p:cNvPr>
            <p:cNvSpPr/>
            <p:nvPr/>
          </p:nvSpPr>
          <p:spPr>
            <a:xfrm>
              <a:off x="7847254" y="4341957"/>
              <a:ext cx="1248603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56F35D9-F9A0-0A4D-9568-84C777C90614}"/>
                </a:ext>
              </a:extLst>
            </p:cNvPr>
            <p:cNvGrpSpPr/>
            <p:nvPr/>
          </p:nvGrpSpPr>
          <p:grpSpPr>
            <a:xfrm>
              <a:off x="7847254" y="4751526"/>
              <a:ext cx="850104" cy="371475"/>
              <a:chOff x="7529515" y="2000248"/>
              <a:chExt cx="850104" cy="371475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F9B99E2-92FA-BD40-B436-8D10C8785715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023BA7E3-F998-E54A-A236-CFE680716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ounded Rectangle 124">
                <a:extLst>
                  <a:ext uri="{FF2B5EF4-FFF2-40B4-BE49-F238E27FC236}">
                    <a16:creationId xmlns:a16="http://schemas.microsoft.com/office/drawing/2014/main" id="{E55B73A7-D8B7-264D-B5CC-45CB43A23C83}"/>
                  </a:ext>
                </a:extLst>
              </p:cNvPr>
              <p:cNvSpPr/>
              <p:nvPr/>
            </p:nvSpPr>
            <p:spPr>
              <a:xfrm>
                <a:off x="7529515" y="2000248"/>
                <a:ext cx="850104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F0879A8-6D74-6847-9631-085BF0A51842}"/>
                </a:ext>
              </a:extLst>
            </p:cNvPr>
            <p:cNvSpPr/>
            <p:nvPr/>
          </p:nvSpPr>
          <p:spPr>
            <a:xfrm>
              <a:off x="8169235" y="5232539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621E3C4-0654-A54B-94C5-6031D68544E6}"/>
                </a:ext>
              </a:extLst>
            </p:cNvPr>
            <p:cNvSpPr/>
            <p:nvPr/>
          </p:nvSpPr>
          <p:spPr>
            <a:xfrm>
              <a:off x="8690729" y="5232539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C6CBBC16-0C16-C74D-AFF0-57BEFBDA63DF}"/>
                </a:ext>
              </a:extLst>
            </p:cNvPr>
            <p:cNvCxnSpPr>
              <a:stCxn id="127" idx="3"/>
              <a:endCxn id="128" idx="1"/>
            </p:cNvCxnSpPr>
            <p:nvPr/>
          </p:nvCxnSpPr>
          <p:spPr>
            <a:xfrm>
              <a:off x="8469273" y="5361127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5C036EF5-7E2D-574C-BA6C-1361AAA23725}"/>
                </a:ext>
              </a:extLst>
            </p:cNvPr>
            <p:cNvCxnSpPr>
              <a:cxnSpLocks/>
            </p:cNvCxnSpPr>
            <p:nvPr/>
          </p:nvCxnSpPr>
          <p:spPr>
            <a:xfrm>
              <a:off x="7940635" y="5232539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9CB85CE5-D50D-594F-8CAC-BE221BE935AF}"/>
                </a:ext>
              </a:extLst>
            </p:cNvPr>
            <p:cNvSpPr/>
            <p:nvPr/>
          </p:nvSpPr>
          <p:spPr>
            <a:xfrm>
              <a:off x="7840625" y="5175387"/>
              <a:ext cx="1260513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CF84E2D6-546D-D541-BEF2-80C5C8C28E79}"/>
                </a:ext>
              </a:extLst>
            </p:cNvPr>
            <p:cNvGrpSpPr/>
            <p:nvPr/>
          </p:nvGrpSpPr>
          <p:grpSpPr>
            <a:xfrm>
              <a:off x="7836535" y="5584964"/>
              <a:ext cx="847051" cy="371475"/>
              <a:chOff x="7529514" y="2014536"/>
              <a:chExt cx="847051" cy="371475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D69E18ED-B01C-E445-9F59-249FDB813FB7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55368AB3-FD85-8348-95E1-2B86A39C9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62CF6CCA-6592-3249-AB75-54AB04895E96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84705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8FDA598-B33A-FB44-A5D3-121983D853EB}"/>
                </a:ext>
              </a:extLst>
            </p:cNvPr>
            <p:cNvGrpSpPr/>
            <p:nvPr/>
          </p:nvGrpSpPr>
          <p:grpSpPr>
            <a:xfrm>
              <a:off x="7847253" y="6008815"/>
              <a:ext cx="1253885" cy="371475"/>
              <a:chOff x="7529514" y="2014536"/>
              <a:chExt cx="1253885" cy="371475"/>
            </a:xfrm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9EFB741-93B1-3E48-8947-784411B14BF8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7E38A25-15F2-F248-9ADD-DF8D77AE647A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05C85552-65F2-5C4A-A6DB-F6E471C846D3}"/>
                  </a:ext>
                </a:extLst>
              </p:cNvPr>
              <p:cNvCxnSpPr>
                <a:stCxn id="147" idx="3"/>
                <a:endCxn id="148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D3495BE5-6BED-E84C-BB18-DA143CC432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Rounded Rectangle 154">
                <a:extLst>
                  <a:ext uri="{FF2B5EF4-FFF2-40B4-BE49-F238E27FC236}">
                    <a16:creationId xmlns:a16="http://schemas.microsoft.com/office/drawing/2014/main" id="{77EBABA5-33C1-3247-86C2-7450992EED41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81478D63-5C1B-554A-B1D2-702CB3267A21}"/>
                </a:ext>
              </a:extLst>
            </p:cNvPr>
            <p:cNvSpPr/>
            <p:nvPr/>
          </p:nvSpPr>
          <p:spPr>
            <a:xfrm>
              <a:off x="8175864" y="6475538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7E295091-15B0-4D47-88B6-9B81B4FBA76A}"/>
                </a:ext>
              </a:extLst>
            </p:cNvPr>
            <p:cNvCxnSpPr>
              <a:cxnSpLocks/>
            </p:cNvCxnSpPr>
            <p:nvPr/>
          </p:nvCxnSpPr>
          <p:spPr>
            <a:xfrm>
              <a:off x="7947264" y="6475538"/>
              <a:ext cx="228600" cy="952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ounded Rectangle 164">
              <a:extLst>
                <a:ext uri="{FF2B5EF4-FFF2-40B4-BE49-F238E27FC236}">
                  <a16:creationId xmlns:a16="http://schemas.microsoft.com/office/drawing/2014/main" id="{588DBB99-D6F2-3B4C-9D0D-4F37B333B3AB}"/>
                </a:ext>
              </a:extLst>
            </p:cNvPr>
            <p:cNvSpPr/>
            <p:nvPr/>
          </p:nvSpPr>
          <p:spPr>
            <a:xfrm>
              <a:off x="7847253" y="6446962"/>
              <a:ext cx="850105" cy="371475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663D3EC8-E696-2D44-8D06-B2538C7ADA87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 flipV="1">
              <a:off x="6143250" y="1632111"/>
              <a:ext cx="1699757" cy="151257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BFA8CE23-E576-B143-B3F9-78B37279A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3250" y="2041687"/>
              <a:ext cx="1697375" cy="1387314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B09DF11-8512-514F-A07A-74A7776D84F0}"/>
                </a:ext>
              </a:extLst>
            </p:cNvPr>
            <p:cNvCxnSpPr>
              <a:cxnSpLocks/>
              <a:endCxn id="65" idx="1"/>
            </p:cNvCxnSpPr>
            <p:nvPr/>
          </p:nvCxnSpPr>
          <p:spPr>
            <a:xfrm flipV="1">
              <a:off x="6143249" y="2451257"/>
              <a:ext cx="1704004" cy="115712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E6BDB393-7A72-FF43-A473-4BF54B01E55D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6131956" y="2875113"/>
              <a:ext cx="1711051" cy="100736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A06DF733-11EE-084A-AAC8-8514A4B33367}"/>
                </a:ext>
              </a:extLst>
            </p:cNvPr>
            <p:cNvCxnSpPr>
              <a:cxnSpLocks/>
              <a:endCxn id="85" idx="1"/>
            </p:cNvCxnSpPr>
            <p:nvPr/>
          </p:nvCxnSpPr>
          <p:spPr>
            <a:xfrm flipV="1">
              <a:off x="6143249" y="3284694"/>
              <a:ext cx="1694478" cy="855208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08DCFCFC-5F68-A74C-9CAD-59A2AED700B6}"/>
                </a:ext>
              </a:extLst>
            </p:cNvPr>
            <p:cNvCxnSpPr>
              <a:cxnSpLocks/>
              <a:endCxn id="95" idx="1"/>
            </p:cNvCxnSpPr>
            <p:nvPr/>
          </p:nvCxnSpPr>
          <p:spPr>
            <a:xfrm flipV="1">
              <a:off x="6143249" y="3694260"/>
              <a:ext cx="1690233" cy="671408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77B58C1C-F845-324A-A7FF-CED625122576}"/>
                </a:ext>
              </a:extLst>
            </p:cNvPr>
            <p:cNvCxnSpPr>
              <a:cxnSpLocks/>
              <a:endCxn id="105" idx="1"/>
            </p:cNvCxnSpPr>
            <p:nvPr/>
          </p:nvCxnSpPr>
          <p:spPr>
            <a:xfrm flipV="1">
              <a:off x="6141858" y="4118124"/>
              <a:ext cx="1698767" cy="483938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62C5D55B-4538-3044-B549-2A27167185BA}"/>
                </a:ext>
              </a:extLst>
            </p:cNvPr>
            <p:cNvCxnSpPr>
              <a:cxnSpLocks/>
              <a:endCxn id="115" idx="1"/>
            </p:cNvCxnSpPr>
            <p:nvPr/>
          </p:nvCxnSpPr>
          <p:spPr>
            <a:xfrm flipV="1">
              <a:off x="6137603" y="4527695"/>
              <a:ext cx="1709651" cy="31685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13CA1DC1-F2D0-F54B-9329-02A0A78687F6}"/>
                </a:ext>
              </a:extLst>
            </p:cNvPr>
            <p:cNvCxnSpPr>
              <a:cxnSpLocks/>
              <a:endCxn id="125" idx="1"/>
            </p:cNvCxnSpPr>
            <p:nvPr/>
          </p:nvCxnSpPr>
          <p:spPr>
            <a:xfrm flipV="1">
              <a:off x="6153152" y="4937264"/>
              <a:ext cx="1694102" cy="11410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E6C8A59C-5E01-054B-9698-1FFCD0BBCE8B}"/>
                </a:ext>
              </a:extLst>
            </p:cNvPr>
            <p:cNvCxnSpPr>
              <a:cxnSpLocks/>
              <a:endCxn id="135" idx="1"/>
            </p:cNvCxnSpPr>
            <p:nvPr/>
          </p:nvCxnSpPr>
          <p:spPr>
            <a:xfrm>
              <a:off x="6134083" y="5349434"/>
              <a:ext cx="1706542" cy="1169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1FF125FF-8AB3-D244-9730-27C67BB26A58}"/>
                </a:ext>
              </a:extLst>
            </p:cNvPr>
            <p:cNvCxnSpPr>
              <a:cxnSpLocks/>
              <a:endCxn id="145" idx="1"/>
            </p:cNvCxnSpPr>
            <p:nvPr/>
          </p:nvCxnSpPr>
          <p:spPr>
            <a:xfrm>
              <a:off x="6153152" y="5556335"/>
              <a:ext cx="1683383" cy="214367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659124D6-7E1C-6F45-8A4D-405334CD2B34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6147684" y="5790730"/>
              <a:ext cx="1699569" cy="40382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DB92F8CE-0674-084B-B136-B818C1775DA2}"/>
                </a:ext>
              </a:extLst>
            </p:cNvPr>
            <p:cNvCxnSpPr>
              <a:cxnSpLocks/>
              <a:endCxn id="165" idx="1"/>
            </p:cNvCxnSpPr>
            <p:nvPr/>
          </p:nvCxnSpPr>
          <p:spPr>
            <a:xfrm>
              <a:off x="6144116" y="6070388"/>
              <a:ext cx="1703137" cy="56231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C679FA8-91C9-FE45-99DA-D2A21F95C050}"/>
                </a:ext>
              </a:extLst>
            </p:cNvPr>
            <p:cNvSpPr/>
            <p:nvPr/>
          </p:nvSpPr>
          <p:spPr>
            <a:xfrm>
              <a:off x="8654494" y="2344304"/>
              <a:ext cx="300038" cy="257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635F553F-8574-2642-957F-3B0551160843}"/>
                </a:ext>
              </a:extLst>
            </p:cNvPr>
            <p:cNvCxnSpPr/>
            <p:nvPr/>
          </p:nvCxnSpPr>
          <p:spPr>
            <a:xfrm>
              <a:off x="9636265" y="4134241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30AFE5A8-D55B-EA4B-A34B-85CFBA6A8791}"/>
                </a:ext>
              </a:extLst>
            </p:cNvPr>
            <p:cNvCxnSpPr/>
            <p:nvPr/>
          </p:nvCxnSpPr>
          <p:spPr>
            <a:xfrm>
              <a:off x="8462130" y="4543869"/>
              <a:ext cx="22145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7" name="Group 246" descr="example representationm of a directed edge">
            <a:extLst>
              <a:ext uri="{FF2B5EF4-FFF2-40B4-BE49-F238E27FC236}">
                <a16:creationId xmlns:a16="http://schemas.microsoft.com/office/drawing/2014/main" id="{5E9CB715-EDC5-1443-9F0B-8DE2A0B595A9}"/>
              </a:ext>
            </a:extLst>
          </p:cNvPr>
          <p:cNvGrpSpPr/>
          <p:nvPr/>
        </p:nvGrpSpPr>
        <p:grpSpPr>
          <a:xfrm>
            <a:off x="2630238" y="3143483"/>
            <a:ext cx="9315351" cy="1599620"/>
            <a:chOff x="2630238" y="3143483"/>
            <a:chExt cx="9315351" cy="1599620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AAFE1385-C6BC-514C-8697-E302F878B4C4}"/>
                </a:ext>
              </a:extLst>
            </p:cNvPr>
            <p:cNvGrpSpPr/>
            <p:nvPr/>
          </p:nvGrpSpPr>
          <p:grpSpPr>
            <a:xfrm>
              <a:off x="2630238" y="3143483"/>
              <a:ext cx="614019" cy="1599620"/>
              <a:chOff x="2789614" y="3286124"/>
              <a:chExt cx="614019" cy="1599620"/>
            </a:xfrm>
          </p:grpSpPr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660FB865-D969-324C-BE46-77D186A85EEB}"/>
                  </a:ext>
                </a:extLst>
              </p:cNvPr>
              <p:cNvSpPr/>
              <p:nvPr/>
            </p:nvSpPr>
            <p:spPr>
              <a:xfrm>
                <a:off x="2789614" y="3286124"/>
                <a:ext cx="385762" cy="400050"/>
              </a:xfrm>
              <a:prstGeom prst="ellipse">
                <a:avLst/>
              </a:prstGeom>
              <a:noFill/>
              <a:ln w="57150">
                <a:solidFill>
                  <a:schemeClr val="accent5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59444BF0-3EBA-1F4F-A5EC-1CB8EE82F4B3}"/>
                  </a:ext>
                </a:extLst>
              </p:cNvPr>
              <p:cNvSpPr/>
              <p:nvPr/>
            </p:nvSpPr>
            <p:spPr>
              <a:xfrm>
                <a:off x="3017871" y="4485694"/>
                <a:ext cx="385762" cy="400050"/>
              </a:xfrm>
              <a:prstGeom prst="ellipse">
                <a:avLst/>
              </a:prstGeom>
              <a:noFill/>
              <a:ln w="57150">
                <a:solidFill>
                  <a:schemeClr val="accent5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239" name="Straight Arrow Connector 238">
                <a:extLst>
                  <a:ext uri="{FF2B5EF4-FFF2-40B4-BE49-F238E27FC236}">
                    <a16:creationId xmlns:a16="http://schemas.microsoft.com/office/drawing/2014/main" id="{C586AC7B-C40A-8E45-A561-393096E74D00}"/>
                  </a:ext>
                </a:extLst>
              </p:cNvPr>
              <p:cNvCxnSpPr>
                <a:cxnSpLocks/>
                <a:stCxn id="236" idx="4"/>
                <a:endCxn id="237" idx="0"/>
              </p:cNvCxnSpPr>
              <p:nvPr/>
            </p:nvCxnSpPr>
            <p:spPr>
              <a:xfrm>
                <a:off x="2982495" y="3686174"/>
                <a:ext cx="228257" cy="799520"/>
              </a:xfrm>
              <a:prstGeom prst="straightConnector1">
                <a:avLst/>
              </a:prstGeom>
              <a:ln w="57150">
                <a:solidFill>
                  <a:schemeClr val="accent5">
                    <a:alpha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3" name="Group 232" descr="example representationm of a directed edge">
              <a:extLst>
                <a:ext uri="{FF2B5EF4-FFF2-40B4-BE49-F238E27FC236}">
                  <a16:creationId xmlns:a16="http://schemas.microsoft.com/office/drawing/2014/main" id="{FA892D22-99D7-DD4A-BB39-3AB278B60CBD}"/>
                </a:ext>
              </a:extLst>
            </p:cNvPr>
            <p:cNvGrpSpPr/>
            <p:nvPr/>
          </p:nvGrpSpPr>
          <p:grpSpPr>
            <a:xfrm>
              <a:off x="5762810" y="3272709"/>
              <a:ext cx="6182779" cy="1455010"/>
              <a:chOff x="5762810" y="3286997"/>
              <a:chExt cx="6182779" cy="1455010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3CCC242-285F-8B41-A4C4-5E0374BEE61C}"/>
                  </a:ext>
                </a:extLst>
              </p:cNvPr>
              <p:cNvSpPr txBox="1"/>
              <p:nvPr/>
            </p:nvSpPr>
            <p:spPr>
              <a:xfrm>
                <a:off x="10329441" y="3286997"/>
                <a:ext cx="16161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representation</a:t>
                </a:r>
              </a:p>
              <a:p>
                <a:r>
                  <a:rPr lang="en-US" sz="14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 a directed edge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F347BB9-2224-2E42-864A-5CB9F3EF5D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70809" y="4140905"/>
                <a:ext cx="1722564" cy="487997"/>
              </a:xfrm>
              <a:prstGeom prst="straightConnector1">
                <a:avLst/>
              </a:prstGeom>
              <a:ln w="63500">
                <a:solidFill>
                  <a:schemeClr val="accent5">
                    <a:alpha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A8373415-7595-CF4F-813F-EC441E4DB5B8}"/>
                  </a:ext>
                </a:extLst>
              </p:cNvPr>
              <p:cNvSpPr/>
              <p:nvPr/>
            </p:nvSpPr>
            <p:spPr>
              <a:xfrm>
                <a:off x="5762810" y="4482071"/>
                <a:ext cx="401370" cy="259936"/>
              </a:xfrm>
              <a:prstGeom prst="rect">
                <a:avLst/>
              </a:prstGeom>
              <a:noFill/>
              <a:ln w="63500">
                <a:solidFill>
                  <a:schemeClr val="accent5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75634CA-6C79-394A-B876-5A1B482A427F}"/>
                  </a:ext>
                </a:extLst>
              </p:cNvPr>
              <p:cNvSpPr/>
              <p:nvPr/>
            </p:nvSpPr>
            <p:spPr>
              <a:xfrm>
                <a:off x="8171463" y="3994237"/>
                <a:ext cx="300038" cy="257175"/>
              </a:xfrm>
              <a:prstGeom prst="rect">
                <a:avLst/>
              </a:prstGeom>
              <a:noFill/>
              <a:ln w="63500">
                <a:solidFill>
                  <a:schemeClr val="accent5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15110D51-FDF6-4946-8E36-ADF921B91B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75902" y="3548607"/>
                <a:ext cx="1853539" cy="459557"/>
              </a:xfrm>
              <a:prstGeom prst="straightConnector1">
                <a:avLst/>
              </a:prstGeom>
              <a:ln w="28575"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6158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digraph </a:t>
            </a:r>
            <a:r>
              <a:rPr lang="en-US" dirty="0" err="1"/>
              <a:t>realisation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28D7-E09C-2846-9B76-BEB490644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Via </a:t>
            </a:r>
            <a:r>
              <a:rPr lang="en-US" dirty="0">
                <a:highlight>
                  <a:srgbClr val="C0C0C0"/>
                </a:highlight>
              </a:rPr>
              <a:t>adjacency list</a:t>
            </a:r>
          </a:p>
          <a:p>
            <a:pPr lvl="1"/>
            <a:r>
              <a:rPr lang="en-US" dirty="0"/>
              <a:t>Vertex-indexed array of lists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F07BAA-AAAC-0A43-BD2C-CE7FECF7E875}"/>
              </a:ext>
            </a:extLst>
          </p:cNvPr>
          <p:cNvSpPr txBox="1"/>
          <p:nvPr/>
        </p:nvSpPr>
        <p:spPr>
          <a:xfrm>
            <a:off x="1757363" y="2517702"/>
            <a:ext cx="4381328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class Graph: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 = []</a:t>
            </a:r>
          </a:p>
          <a:p>
            <a:r>
              <a:rPr lang="en-US" sz="1600" dirty="0">
                <a:latin typeface="Courier" pitchFamily="2" charset="0"/>
              </a:rPr>
              <a:t>        for _ in range (0,V):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self.adj.append</a:t>
            </a:r>
            <a:r>
              <a:rPr lang="en-US" sz="1600" dirty="0">
                <a:latin typeface="Courier" pitchFamily="2" charset="0"/>
              </a:rPr>
              <a:t>(Bag())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addEdge</a:t>
            </a:r>
            <a:r>
              <a:rPr lang="en-US" sz="1600" dirty="0">
                <a:latin typeface="Courier" pitchFamily="2" charset="0"/>
              </a:rPr>
              <a:t>(self, v, w):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[v].add(w)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[w].add(v)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adj (self, v):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</a:t>
            </a: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5A5AF-0601-DE4E-82A7-F9660A559D98}"/>
              </a:ext>
            </a:extLst>
          </p:cNvPr>
          <p:cNvSpPr txBox="1"/>
          <p:nvPr/>
        </p:nvSpPr>
        <p:spPr>
          <a:xfrm>
            <a:off x="6367463" y="2517702"/>
            <a:ext cx="4381328" cy="403187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class 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Digraph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__</a:t>
            </a:r>
            <a:r>
              <a:rPr lang="en-US" sz="1600" dirty="0" err="1">
                <a:latin typeface="Courier" pitchFamily="2" charset="0"/>
              </a:rPr>
              <a:t>init</a:t>
            </a:r>
            <a:r>
              <a:rPr lang="en-US" sz="1600" dirty="0">
                <a:latin typeface="Courier" pitchFamily="2" charset="0"/>
              </a:rPr>
              <a:t>__(self,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self.V</a:t>
            </a:r>
            <a:r>
              <a:rPr lang="en-US" sz="1600" dirty="0">
                <a:latin typeface="Courier" pitchFamily="2" charset="0"/>
              </a:rPr>
              <a:t> = V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 = []</a:t>
            </a:r>
          </a:p>
          <a:p>
            <a:r>
              <a:rPr lang="en-US" sz="1600" dirty="0">
                <a:latin typeface="Courier" pitchFamily="2" charset="0"/>
              </a:rPr>
              <a:t>        for _ in range (0,V):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self.adj.append</a:t>
            </a:r>
            <a:r>
              <a:rPr lang="en-US" sz="1600" dirty="0">
                <a:latin typeface="Courier" pitchFamily="2" charset="0"/>
              </a:rPr>
              <a:t>(Bag())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</a:t>
            </a:r>
            <a:r>
              <a:rPr lang="en-US" sz="1600" dirty="0" err="1">
                <a:latin typeface="Courier" pitchFamily="2" charset="0"/>
              </a:rPr>
              <a:t>addEdge</a:t>
            </a:r>
            <a:r>
              <a:rPr lang="en-US" sz="1600" dirty="0">
                <a:latin typeface="Courier" pitchFamily="2" charset="0"/>
              </a:rPr>
              <a:t>(self, v, w):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solidFill>
                  <a:schemeClr val="accent5"/>
                </a:solidFill>
                <a:latin typeface="Courier" pitchFamily="2" charset="0"/>
              </a:rPr>
              <a:t>self.adj</a:t>
            </a:r>
            <a:r>
              <a:rPr lang="en-US" sz="1600" b="1" dirty="0">
                <a:solidFill>
                  <a:schemeClr val="accent5"/>
                </a:solidFill>
                <a:latin typeface="Courier" pitchFamily="2" charset="0"/>
              </a:rPr>
              <a:t>[v].add(w)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def adj (self, v):</a:t>
            </a:r>
          </a:p>
          <a:p>
            <a:r>
              <a:rPr lang="en-US" sz="1600" dirty="0">
                <a:latin typeface="Courier" pitchFamily="2" charset="0"/>
              </a:rPr>
              <a:t>        return </a:t>
            </a:r>
            <a:r>
              <a:rPr lang="en-US" sz="1600" dirty="0" err="1">
                <a:latin typeface="Courier" pitchFamily="2" charset="0"/>
              </a:rPr>
              <a:t>self.adj</a:t>
            </a:r>
            <a:r>
              <a:rPr lang="en-US" sz="1600" dirty="0">
                <a:latin typeface="Courier" pitchFamily="2" charset="0"/>
              </a:rPr>
              <a:t>[v]</a:t>
            </a:r>
          </a:p>
          <a:p>
            <a:endParaRPr lang="en-US" sz="16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969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EE43-3C6E-6D4D-ADC4-6048678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DIgraph</a:t>
            </a:r>
            <a:r>
              <a:rPr lang="en-US" dirty="0"/>
              <a:t> </a:t>
            </a:r>
            <a:r>
              <a:rPr lang="en-US" dirty="0" err="1"/>
              <a:t>realisation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4BB6BBF-D05F-524E-8FA9-5E7B7FEE3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409133"/>
              </p:ext>
            </p:extLst>
          </p:nvPr>
        </p:nvGraphicFramePr>
        <p:xfrm>
          <a:off x="717286" y="2401146"/>
          <a:ext cx="10757428" cy="1695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842">
                  <a:extLst>
                    <a:ext uri="{9D8B030D-6E8A-4147-A177-3AD203B41FA5}">
                      <a16:colId xmlns:a16="http://schemas.microsoft.com/office/drawing/2014/main" val="1384451323"/>
                    </a:ext>
                  </a:extLst>
                </a:gridCol>
                <a:gridCol w="1214120">
                  <a:extLst>
                    <a:ext uri="{9D8B030D-6E8A-4147-A177-3AD203B41FA5}">
                      <a16:colId xmlns:a16="http://schemas.microsoft.com/office/drawing/2014/main" val="34259465"/>
                    </a:ext>
                  </a:extLst>
                </a:gridCol>
                <a:gridCol w="1540933">
                  <a:extLst>
                    <a:ext uri="{9D8B030D-6E8A-4147-A177-3AD203B41FA5}">
                      <a16:colId xmlns:a16="http://schemas.microsoft.com/office/drawing/2014/main" val="3298677437"/>
                    </a:ext>
                  </a:extLst>
                </a:gridCol>
                <a:gridCol w="1964267">
                  <a:extLst>
                    <a:ext uri="{9D8B030D-6E8A-4147-A177-3AD203B41FA5}">
                      <a16:colId xmlns:a16="http://schemas.microsoft.com/office/drawing/2014/main" val="1595295048"/>
                    </a:ext>
                  </a:extLst>
                </a:gridCol>
                <a:gridCol w="3742266">
                  <a:extLst>
                    <a:ext uri="{9D8B030D-6E8A-4147-A177-3AD203B41FA5}">
                      <a16:colId xmlns:a16="http://schemas.microsoft.com/office/drawing/2014/main" val="728648003"/>
                    </a:ext>
                  </a:extLst>
                </a:gridCol>
              </a:tblGrid>
              <a:tr h="71276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(v, w)?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Iterate over vertices adjacent to 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864539"/>
                  </a:ext>
                </a:extLst>
              </a:tr>
              <a:tr h="526758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Adjacency matrix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668039"/>
                  </a:ext>
                </a:extLst>
              </a:tr>
              <a:tr h="456418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Adjacency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V+E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degree(v)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degree(v)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04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170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424C-3A79-A842-AE74-43D494A7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DIgraph</a:t>
            </a:r>
            <a:r>
              <a:rPr lang="en-US" dirty="0"/>
              <a:t> common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C020C-D13D-3C4E-81D0-E5F634D0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Search</a:t>
            </a:r>
            <a:r>
              <a:rPr lang="en-US" dirty="0"/>
              <a:t>. Is there a directed path from a vertex </a:t>
            </a:r>
            <a:r>
              <a:rPr lang="en-US" i="1" dirty="0"/>
              <a:t>s</a:t>
            </a:r>
            <a:r>
              <a:rPr lang="en-US" dirty="0"/>
              <a:t> to a vertex </a:t>
            </a:r>
            <a:r>
              <a:rPr lang="en-US" i="1" dirty="0"/>
              <a:t>t</a:t>
            </a:r>
            <a:r>
              <a:rPr lang="en-US" dirty="0"/>
              <a:t>? What is the shortest directed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t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Topological sort</a:t>
            </a:r>
            <a:r>
              <a:rPr lang="en-US" dirty="0"/>
              <a:t>: can you draw a digraph so that all edges point upwards?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Strong Connectivity</a:t>
            </a:r>
            <a:r>
              <a:rPr lang="en-US" dirty="0"/>
              <a:t>: is there a directed path between all pairs of vertices?</a:t>
            </a:r>
          </a:p>
        </p:txBody>
      </p:sp>
    </p:spTree>
    <p:extLst>
      <p:ext uri="{BB962C8B-B14F-4D97-AF65-F5344CB8AC3E}">
        <p14:creationId xmlns:p14="http://schemas.microsoft.com/office/powerpoint/2010/main" val="243987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Search </a:t>
            </a:r>
          </a:p>
          <a:p>
            <a:pPr lvl="1"/>
            <a:r>
              <a:rPr lang="en-US" dirty="0"/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1822225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Challenges.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Is there a directed path from a vertex </a:t>
            </a:r>
            <a:r>
              <a:rPr lang="en-US" i="1" dirty="0"/>
              <a:t>s</a:t>
            </a:r>
            <a:r>
              <a:rPr lang="en-US" dirty="0"/>
              <a:t> to a vertex </a:t>
            </a:r>
            <a:r>
              <a:rPr lang="en-US" i="1" dirty="0"/>
              <a:t>t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What is the shortest directed path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t</a:t>
            </a:r>
            <a:r>
              <a:rPr lang="en-US" dirty="0"/>
              <a:t>?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Approach.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Pre-compute all vertices reachable from </a:t>
            </a:r>
            <a:r>
              <a:rPr lang="en-US" i="1" dirty="0"/>
              <a:t>s</a:t>
            </a:r>
            <a:r>
              <a:rPr lang="en-US" dirty="0"/>
              <a:t> along a directed path in linear time</a:t>
            </a:r>
          </a:p>
          <a:p>
            <a:pPr lvl="1"/>
            <a:r>
              <a:rPr lang="en-US" dirty="0"/>
              <a:t>Answer the reachability / shortest path challenge in constant time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Algorithms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DFS (for reachability)</a:t>
            </a:r>
          </a:p>
          <a:p>
            <a:pPr lvl="1"/>
            <a:r>
              <a:rPr lang="en-US" dirty="0"/>
              <a:t>BFS (for shortest path)</a:t>
            </a:r>
          </a:p>
          <a:p>
            <a:endParaRPr 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82866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for digraphs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How-to. </a:t>
            </a:r>
            <a:r>
              <a:rPr lang="en-US" dirty="0"/>
              <a:t>To visit DFS a vertex </a:t>
            </a:r>
            <a:r>
              <a:rPr lang="en-US" i="1" dirty="0"/>
              <a:t>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Mark vertex </a:t>
            </a:r>
            <a:r>
              <a:rPr lang="en-US" i="1" dirty="0"/>
              <a:t>v</a:t>
            </a:r>
            <a:r>
              <a:rPr lang="en-US" dirty="0"/>
              <a:t> as visited</a:t>
            </a:r>
          </a:p>
          <a:p>
            <a:pPr lvl="1"/>
            <a:r>
              <a:rPr lang="en-US" dirty="0"/>
              <a:t>Recursively visit all unmarked vertices </a:t>
            </a:r>
            <a:r>
              <a:rPr lang="en-US" i="1" dirty="0"/>
              <a:t>w</a:t>
            </a:r>
            <a:r>
              <a:rPr lang="en-US" dirty="0"/>
              <a:t> </a:t>
            </a:r>
            <a:r>
              <a:rPr lang="en-US" b="1" dirty="0">
                <a:solidFill>
                  <a:schemeClr val="accent5"/>
                </a:solidFill>
              </a:rPr>
              <a:t>pointing out from </a:t>
            </a:r>
            <a:r>
              <a:rPr lang="en-US" b="1" i="1" dirty="0">
                <a:solidFill>
                  <a:schemeClr val="accent5"/>
                </a:solidFill>
              </a:rPr>
              <a:t>v</a:t>
            </a:r>
          </a:p>
          <a:p>
            <a:pPr lvl="1"/>
            <a:r>
              <a:rPr lang="en-US" dirty="0"/>
              <a:t>Return (retrace steps) when no unvisited options left</a:t>
            </a:r>
          </a:p>
        </p:txBody>
      </p:sp>
    </p:spTree>
    <p:extLst>
      <p:ext uri="{BB962C8B-B14F-4D97-AF65-F5344CB8AC3E}">
        <p14:creationId xmlns:p14="http://schemas.microsoft.com/office/powerpoint/2010/main" val="2707182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89439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312052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675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944538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518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816560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969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02988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5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82537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075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935886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00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197707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05942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10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DFS(0): find all vertices reachable from 0 along a directed path</a:t>
            </a:r>
          </a:p>
        </p:txBody>
      </p:sp>
      <p:grpSp>
        <p:nvGrpSpPr>
          <p:cNvPr id="224" name="Group 223" descr="graphical representation of a digraph">
            <a:extLst>
              <a:ext uri="{FF2B5EF4-FFF2-40B4-BE49-F238E27FC236}">
                <a16:creationId xmlns:a16="http://schemas.microsoft.com/office/drawing/2014/main" id="{887B4019-A78C-5A4F-A8DB-A804C8AE6780}"/>
              </a:ext>
            </a:extLst>
          </p:cNvPr>
          <p:cNvGrpSpPr/>
          <p:nvPr/>
        </p:nvGrpSpPr>
        <p:grpSpPr>
          <a:xfrm>
            <a:off x="367998" y="3190872"/>
            <a:ext cx="3365036" cy="2446611"/>
            <a:chOff x="748548" y="3086100"/>
            <a:chExt cx="3365036" cy="2446611"/>
          </a:xfrm>
        </p:grpSpPr>
        <p:grpSp>
          <p:nvGrpSpPr>
            <p:cNvPr id="225" name="Group 224" descr="example of a digraph">
              <a:extLst>
                <a:ext uri="{FF2B5EF4-FFF2-40B4-BE49-F238E27FC236}">
                  <a16:creationId xmlns:a16="http://schemas.microsoft.com/office/drawing/2014/main" id="{0E86ED27-0362-8C46-989D-99A683E33991}"/>
                </a:ext>
              </a:extLst>
            </p:cNvPr>
            <p:cNvGrpSpPr/>
            <p:nvPr/>
          </p:nvGrpSpPr>
          <p:grpSpPr>
            <a:xfrm>
              <a:off x="748548" y="3086100"/>
              <a:ext cx="3365036" cy="2446611"/>
              <a:chOff x="748548" y="3086100"/>
              <a:chExt cx="3365036" cy="2446611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0A358BA-92A9-FB4C-AEF9-37666124CA72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0A650662-E328-A64F-AFEF-95D6A77B393F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FCB25BFB-5AF4-8A44-BB71-A6215D2285BA}"/>
                  </a:ext>
                </a:extLst>
              </p:cNvPr>
              <p:cNvSpPr/>
              <p:nvPr/>
            </p:nvSpPr>
            <p:spPr>
              <a:xfrm>
                <a:off x="1268625" y="3632479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C92A00-ABA4-E640-9794-767539D98205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2997353E-66C6-8442-820A-E340A516A51E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F972E183-6E89-A145-9BE6-54CDD9BF5A0E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0EFEC2B6-B4B7-5F4F-A92F-FE824F8C2AAB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A819A444-9186-F045-8324-8964DBCEE0B7}"/>
                  </a:ext>
                </a:extLst>
              </p:cNvPr>
              <p:cNvSpPr/>
              <p:nvPr/>
            </p:nvSpPr>
            <p:spPr>
              <a:xfrm>
                <a:off x="3727822" y="38213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90813634-9A69-5D4A-AEBF-9B0E7FF2280F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26AB2E0E-0E75-ED4D-9715-9A72FA980C73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F5AF20E6-413C-E24D-BCE9-E1C70678B4AF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154A71A1-88C5-1E4D-BF85-6C788C3CC332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0AF1CB12-D9D7-1742-AFD3-68A3857D7ABC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240" name="Straight Arrow Connector 239">
                <a:extLst>
                  <a:ext uri="{FF2B5EF4-FFF2-40B4-BE49-F238E27FC236}">
                    <a16:creationId xmlns:a16="http://schemas.microsoft.com/office/drawing/2014/main" id="{233F8E2F-36EF-6B43-BF7E-14578D05CF8A}"/>
                  </a:ext>
                </a:extLst>
              </p:cNvPr>
              <p:cNvCxnSpPr>
                <a:stCxn id="227" idx="4"/>
                <a:endCxn id="228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240">
                <a:extLst>
                  <a:ext uri="{FF2B5EF4-FFF2-40B4-BE49-F238E27FC236}">
                    <a16:creationId xmlns:a16="http://schemas.microsoft.com/office/drawing/2014/main" id="{2500A668-DAD2-9547-A44F-BBE5A5AD3580}"/>
                  </a:ext>
                </a:extLst>
              </p:cNvPr>
              <p:cNvCxnSpPr>
                <a:cxnSpLocks/>
                <a:stCxn id="227" idx="5"/>
                <a:endCxn id="229" idx="1"/>
              </p:cNvCxnSpPr>
              <p:nvPr/>
            </p:nvCxnSpPr>
            <p:spPr>
              <a:xfrm>
                <a:off x="1086506" y="3427564"/>
                <a:ext cx="238613" cy="263501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75C49A25-B313-2348-ADC8-E3C60585D476}"/>
                  </a:ext>
                </a:extLst>
              </p:cNvPr>
              <p:cNvCxnSpPr>
                <a:cxnSpLocks/>
                <a:stCxn id="230" idx="3"/>
                <a:endCxn id="233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>
                <a:extLst>
                  <a:ext uri="{FF2B5EF4-FFF2-40B4-BE49-F238E27FC236}">
                    <a16:creationId xmlns:a16="http://schemas.microsoft.com/office/drawing/2014/main" id="{BF49E5C9-5F10-1145-A996-C6AFBB0F9371}"/>
                  </a:ext>
                </a:extLst>
              </p:cNvPr>
              <p:cNvCxnSpPr>
                <a:cxnSpLocks/>
                <a:stCxn id="230" idx="1"/>
                <a:endCxn id="227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CE7B41AF-9DAB-B045-BF14-154C835E59F1}"/>
                  </a:ext>
                </a:extLst>
              </p:cNvPr>
              <p:cNvCxnSpPr>
                <a:cxnSpLocks/>
                <a:stCxn id="233" idx="3"/>
                <a:endCxn id="228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Arrow Connector 244">
                <a:extLst>
                  <a:ext uri="{FF2B5EF4-FFF2-40B4-BE49-F238E27FC236}">
                    <a16:creationId xmlns:a16="http://schemas.microsoft.com/office/drawing/2014/main" id="{46093098-4671-F941-BB1A-304B40EC952E}"/>
                  </a:ext>
                </a:extLst>
              </p:cNvPr>
              <p:cNvCxnSpPr>
                <a:cxnSpLocks/>
                <a:stCxn id="233" idx="6"/>
                <a:endCxn id="230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Arrow Connector 245">
                <a:extLst>
                  <a:ext uri="{FF2B5EF4-FFF2-40B4-BE49-F238E27FC236}">
                    <a16:creationId xmlns:a16="http://schemas.microsoft.com/office/drawing/2014/main" id="{CAD041FC-4442-B44B-B90B-2F93A9B29E0A}"/>
                  </a:ext>
                </a:extLst>
              </p:cNvPr>
              <p:cNvCxnSpPr>
                <a:cxnSpLocks/>
                <a:stCxn id="232" idx="7"/>
                <a:endCxn id="230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>
                <a:extLst>
                  <a:ext uri="{FF2B5EF4-FFF2-40B4-BE49-F238E27FC236}">
                    <a16:creationId xmlns:a16="http://schemas.microsoft.com/office/drawing/2014/main" id="{A36180ED-181F-3D4A-847B-2C4B59521228}"/>
                  </a:ext>
                </a:extLst>
              </p:cNvPr>
              <p:cNvCxnSpPr>
                <a:cxnSpLocks/>
                <a:stCxn id="232" idx="2"/>
                <a:endCxn id="233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5CF751E8-5459-DB4A-B19E-D4E20F91A1FE}"/>
                  </a:ext>
                </a:extLst>
              </p:cNvPr>
              <p:cNvCxnSpPr>
                <a:cxnSpLocks/>
                <a:stCxn id="228" idx="5"/>
                <a:endCxn id="232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solidFill>
                <a:srgbClr val="FF0000">
                  <a:alpha val="50000"/>
                </a:srgbClr>
              </a:solidFill>
              <a:ln w="44450">
                <a:solidFill>
                  <a:srgbClr val="FF0000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Arrow Connector 248">
                <a:extLst>
                  <a:ext uri="{FF2B5EF4-FFF2-40B4-BE49-F238E27FC236}">
                    <a16:creationId xmlns:a16="http://schemas.microsoft.com/office/drawing/2014/main" id="{947D1607-589D-504F-B618-97564B65F447}"/>
                  </a:ext>
                </a:extLst>
              </p:cNvPr>
              <p:cNvCxnSpPr>
                <a:cxnSpLocks/>
                <a:stCxn id="231" idx="2"/>
                <a:endCxn id="227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Arrow Connector 249">
                <a:extLst>
                  <a:ext uri="{FF2B5EF4-FFF2-40B4-BE49-F238E27FC236}">
                    <a16:creationId xmlns:a16="http://schemas.microsoft.com/office/drawing/2014/main" id="{0CC7975C-E367-0942-AD27-16A8EDC17383}"/>
                  </a:ext>
                </a:extLst>
              </p:cNvPr>
              <p:cNvCxnSpPr>
                <a:cxnSpLocks/>
                <a:stCxn id="231" idx="3"/>
                <a:endCxn id="232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32E8ECF8-33D9-0546-A51E-B47255192818}"/>
                  </a:ext>
                </a:extLst>
              </p:cNvPr>
              <p:cNvCxnSpPr>
                <a:cxnSpLocks/>
                <a:stCxn id="231" idx="7"/>
                <a:endCxn id="235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Arrow Connector 251">
                <a:extLst>
                  <a:ext uri="{FF2B5EF4-FFF2-40B4-BE49-F238E27FC236}">
                    <a16:creationId xmlns:a16="http://schemas.microsoft.com/office/drawing/2014/main" id="{EDF07397-B848-A74B-8CC3-936556C848D5}"/>
                  </a:ext>
                </a:extLst>
              </p:cNvPr>
              <p:cNvCxnSpPr>
                <a:cxnSpLocks/>
                <a:stCxn id="231" idx="4"/>
                <a:endCxn id="236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D5CA634B-A626-4340-8485-8162CA927EF4}"/>
                  </a:ext>
                </a:extLst>
              </p:cNvPr>
              <p:cNvCxnSpPr>
                <a:cxnSpLocks/>
                <a:stCxn id="234" idx="3"/>
                <a:endCxn id="236" idx="7"/>
              </p:cNvCxnSpPr>
              <p:nvPr/>
            </p:nvCxnSpPr>
            <p:spPr>
              <a:xfrm flipH="1">
                <a:off x="3194739" y="4162817"/>
                <a:ext cx="589577" cy="229063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Arrow Connector 253">
                <a:extLst>
                  <a:ext uri="{FF2B5EF4-FFF2-40B4-BE49-F238E27FC236}">
                    <a16:creationId xmlns:a16="http://schemas.microsoft.com/office/drawing/2014/main" id="{D63E7E2C-D85F-5049-A7F8-9140820C77A2}"/>
                  </a:ext>
                </a:extLst>
              </p:cNvPr>
              <p:cNvCxnSpPr>
                <a:cxnSpLocks/>
                <a:stCxn id="234" idx="2"/>
                <a:endCxn id="231" idx="5"/>
              </p:cNvCxnSpPr>
              <p:nvPr/>
            </p:nvCxnSpPr>
            <p:spPr>
              <a:xfrm flipH="1" flipV="1">
                <a:off x="2966482" y="3475188"/>
                <a:ext cx="761340" cy="546190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>
                <a:extLst>
                  <a:ext uri="{FF2B5EF4-FFF2-40B4-BE49-F238E27FC236}">
                    <a16:creationId xmlns:a16="http://schemas.microsoft.com/office/drawing/2014/main" id="{00868B94-D835-AA40-9DD8-4E1202A376A1}"/>
                  </a:ext>
                </a:extLst>
              </p:cNvPr>
              <p:cNvCxnSpPr>
                <a:cxnSpLocks/>
                <a:stCxn id="235" idx="2"/>
                <a:endCxn id="231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EA0D89E7-65B2-3749-9E9C-70A1DA16F843}"/>
                  </a:ext>
                </a:extLst>
              </p:cNvPr>
              <p:cNvCxnSpPr>
                <a:cxnSpLocks/>
                <a:stCxn id="236" idx="6"/>
                <a:endCxn id="237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Arrow Connector 256">
                <a:extLst>
                  <a:ext uri="{FF2B5EF4-FFF2-40B4-BE49-F238E27FC236}">
                    <a16:creationId xmlns:a16="http://schemas.microsoft.com/office/drawing/2014/main" id="{D0FA33F9-0556-AA44-ACF0-CFDE491A0F17}"/>
                  </a:ext>
                </a:extLst>
              </p:cNvPr>
              <p:cNvCxnSpPr>
                <a:cxnSpLocks/>
                <a:stCxn id="236" idx="4"/>
                <a:endCxn id="239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83B792D6-AFA2-9C4D-8F3F-962428184798}"/>
                  </a:ext>
                </a:extLst>
              </p:cNvPr>
              <p:cNvCxnSpPr>
                <a:cxnSpLocks/>
                <a:stCxn id="237" idx="4"/>
                <a:endCxn id="238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C9BD30CF-5C85-1A45-823D-62EFDA3A3ADC}"/>
                  </a:ext>
                </a:extLst>
              </p:cNvPr>
              <p:cNvCxnSpPr>
                <a:cxnSpLocks/>
                <a:stCxn id="239" idx="6"/>
                <a:endCxn id="238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93F2518-4DCD-6C4E-A13B-C258BEB8B8E8}"/>
                  </a:ext>
                </a:extLst>
              </p:cNvPr>
              <p:cNvCxnSpPr>
                <a:cxnSpLocks/>
                <a:stCxn id="238" idx="1"/>
                <a:endCxn id="236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2E408E6E-4752-C148-883B-2ABB1BAFED6E}"/>
                </a:ext>
              </a:extLst>
            </p:cNvPr>
            <p:cNvCxnSpPr>
              <a:cxnSpLocks/>
              <a:stCxn id="239" idx="2"/>
              <a:endCxn id="232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 descr="computer representation of the same digraph">
            <a:extLst>
              <a:ext uri="{FF2B5EF4-FFF2-40B4-BE49-F238E27FC236}">
                <a16:creationId xmlns:a16="http://schemas.microsoft.com/office/drawing/2014/main" id="{5022E89A-6F9A-EF4D-BAC4-AB9F7673B1D5}"/>
              </a:ext>
            </a:extLst>
          </p:cNvPr>
          <p:cNvGrpSpPr/>
          <p:nvPr/>
        </p:nvGrpSpPr>
        <p:grpSpPr>
          <a:xfrm>
            <a:off x="3865056" y="2790028"/>
            <a:ext cx="2008217" cy="3293209"/>
            <a:chOff x="3865056" y="2790028"/>
            <a:chExt cx="2008217" cy="3293209"/>
          </a:xfrm>
        </p:grpSpPr>
        <p:sp>
          <p:nvSpPr>
            <p:cNvPr id="148" name="TextBox 147" descr="computer representation of the same digraph">
              <a:extLst>
                <a:ext uri="{FF2B5EF4-FFF2-40B4-BE49-F238E27FC236}">
                  <a16:creationId xmlns:a16="http://schemas.microsoft.com/office/drawing/2014/main" id="{1555C89E-B978-CC4C-8D2B-B0D994593D10}"/>
                </a:ext>
              </a:extLst>
            </p:cNvPr>
            <p:cNvSpPr txBox="1"/>
            <p:nvPr/>
          </p:nvSpPr>
          <p:spPr>
            <a:xfrm>
              <a:off x="3865056" y="2790028"/>
              <a:ext cx="412292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FB3BF-C1E0-0445-9B9D-15E7520F8EE0}"/>
                </a:ext>
              </a:extLst>
            </p:cNvPr>
            <p:cNvGrpSpPr/>
            <p:nvPr/>
          </p:nvGrpSpPr>
          <p:grpSpPr>
            <a:xfrm>
              <a:off x="4174165" y="2862013"/>
              <a:ext cx="1699108" cy="3120920"/>
              <a:chOff x="5314706" y="2437926"/>
              <a:chExt cx="2519442" cy="5372064"/>
            </a:xfrm>
          </p:grpSpPr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FCDB358-6ED5-7E41-A6F3-F278CC475EB1}"/>
                  </a:ext>
                </a:extLst>
              </p:cNvPr>
              <p:cNvGrpSpPr/>
              <p:nvPr/>
            </p:nvGrpSpPr>
            <p:grpSpPr>
              <a:xfrm>
                <a:off x="5324231" y="2437926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9" name="Rectangle 218">
                  <a:extLst>
                    <a:ext uri="{FF2B5EF4-FFF2-40B4-BE49-F238E27FC236}">
                      <a16:creationId xmlns:a16="http://schemas.microsoft.com/office/drawing/2014/main" id="{668C2079-49EA-A84E-8BCB-4117F086D596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182DC5E3-48A4-DD44-BB30-FB47D8224BF3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cxnSp>
              <p:nvCxnSpPr>
                <p:cNvPr id="221" name="Straight Arrow Connector 220">
                  <a:extLst>
                    <a:ext uri="{FF2B5EF4-FFF2-40B4-BE49-F238E27FC236}">
                      <a16:creationId xmlns:a16="http://schemas.microsoft.com/office/drawing/2014/main" id="{B8A46E6F-85A2-0C43-872F-57015F415C30}"/>
                    </a:ext>
                  </a:extLst>
                </p:cNvPr>
                <p:cNvCxnSpPr>
                  <a:stCxn id="219" idx="3"/>
                  <a:endCxn id="220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236C1004-35A7-CE4A-9281-F1C2EE531C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3" name="Rounded Rectangle 222">
                  <a:extLst>
                    <a:ext uri="{FF2B5EF4-FFF2-40B4-BE49-F238E27FC236}">
                      <a16:creationId xmlns:a16="http://schemas.microsoft.com/office/drawing/2014/main" id="{D3C371C1-ECAE-704E-94F5-B4FFBAA3E29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59F34A-7F55-6E4A-938A-FD188442E7AF}"/>
                  </a:ext>
                </a:extLst>
              </p:cNvPr>
              <p:cNvSpPr/>
              <p:nvPr/>
            </p:nvSpPr>
            <p:spPr>
              <a:xfrm>
                <a:off x="5657088" y="332851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7C9133B3-FC4E-D24B-BD8F-E75A145B8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332851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E56766C8-D5E5-B549-AF22-45A1ECE5D38B}"/>
                  </a:ext>
                </a:extLst>
              </p:cNvPr>
              <p:cNvSpPr/>
              <p:nvPr/>
            </p:nvSpPr>
            <p:spPr>
              <a:xfrm>
                <a:off x="5328477" y="3257072"/>
                <a:ext cx="125388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F873FA69-FCF1-AD43-A639-C8D19EA8CB4E}"/>
                  </a:ext>
                </a:extLst>
              </p:cNvPr>
              <p:cNvGrpSpPr/>
              <p:nvPr/>
            </p:nvGrpSpPr>
            <p:grpSpPr>
              <a:xfrm>
                <a:off x="5324231" y="3680928"/>
                <a:ext cx="1258131" cy="371475"/>
                <a:chOff x="7529514" y="2014536"/>
                <a:chExt cx="1258131" cy="371475"/>
              </a:xfrm>
            </p:grpSpPr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B9719B0F-F1B4-F74B-81A1-817D45E6C659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1F1757F-26D5-184A-9F72-5456DD4C90C8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cxnSp>
              <p:nvCxnSpPr>
                <p:cNvPr id="216" name="Straight Arrow Connector 215">
                  <a:extLst>
                    <a:ext uri="{FF2B5EF4-FFF2-40B4-BE49-F238E27FC236}">
                      <a16:creationId xmlns:a16="http://schemas.microsoft.com/office/drawing/2014/main" id="{16D9F8FD-A840-8E4A-86CF-C431F8E357C1}"/>
                    </a:ext>
                  </a:extLst>
                </p:cNvPr>
                <p:cNvCxnSpPr>
                  <a:stCxn id="214" idx="3"/>
                  <a:endCxn id="215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641B4130-02DF-F844-9DDA-1A0EB7BA07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8" name="Rounded Rectangle 217">
                  <a:extLst>
                    <a:ext uri="{FF2B5EF4-FFF2-40B4-BE49-F238E27FC236}">
                      <a16:creationId xmlns:a16="http://schemas.microsoft.com/office/drawing/2014/main" id="{BC82A988-0FE0-0241-993A-34217FB35C02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813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920344D-58A0-C444-8403-CF6D52F2C323}"/>
                  </a:ext>
                </a:extLst>
              </p:cNvPr>
              <p:cNvSpPr/>
              <p:nvPr/>
            </p:nvSpPr>
            <p:spPr>
              <a:xfrm>
                <a:off x="5647561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6B263D6A-D5BA-9E4B-B399-82CD50DF938F}"/>
                  </a:ext>
                </a:extLst>
              </p:cNvPr>
              <p:cNvSpPr/>
              <p:nvPr/>
            </p:nvSpPr>
            <p:spPr>
              <a:xfrm>
                <a:off x="6169055" y="41476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0CCDC852-26B4-3849-A6A9-DDDE5ECD15ED}"/>
                  </a:ext>
                </a:extLst>
              </p:cNvPr>
              <p:cNvSpPr/>
              <p:nvPr/>
            </p:nvSpPr>
            <p:spPr>
              <a:xfrm>
                <a:off x="6783488" y="498406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158" name="Straight Arrow Connector 157">
                <a:extLst>
                  <a:ext uri="{FF2B5EF4-FFF2-40B4-BE49-F238E27FC236}">
                    <a16:creationId xmlns:a16="http://schemas.microsoft.com/office/drawing/2014/main" id="{67842946-296D-404F-8D38-2D02138B42CF}"/>
                  </a:ext>
                </a:extLst>
              </p:cNvPr>
              <p:cNvCxnSpPr>
                <a:stCxn id="155" idx="3"/>
                <a:endCxn id="156" idx="1"/>
              </p:cNvCxnSpPr>
              <p:nvPr/>
            </p:nvCxnSpPr>
            <p:spPr>
              <a:xfrm>
                <a:off x="5947599" y="427624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2A35657-1B16-7E40-BA51-F02C39F6C1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961" y="414766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Rounded Rectangle 159">
                <a:extLst>
                  <a:ext uri="{FF2B5EF4-FFF2-40B4-BE49-F238E27FC236}">
                    <a16:creationId xmlns:a16="http://schemas.microsoft.com/office/drawing/2014/main" id="{B9E25386-D46B-F742-AB28-AA05DC7E8BF1}"/>
                  </a:ext>
                </a:extLst>
              </p:cNvPr>
              <p:cNvSpPr/>
              <p:nvPr/>
            </p:nvSpPr>
            <p:spPr>
              <a:xfrm>
                <a:off x="5318951" y="4090509"/>
                <a:ext cx="1258131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B4CBA01-BC80-6648-BF3E-504DCD412324}"/>
                  </a:ext>
                </a:extLst>
              </p:cNvPr>
              <p:cNvSpPr/>
              <p:nvPr/>
            </p:nvSpPr>
            <p:spPr>
              <a:xfrm>
                <a:off x="5643316" y="4571515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1AB7961-127A-8D4B-A06A-141F6298512A}"/>
                  </a:ext>
                </a:extLst>
              </p:cNvPr>
              <p:cNvSpPr/>
              <p:nvPr/>
            </p:nvSpPr>
            <p:spPr>
              <a:xfrm>
                <a:off x="6149594" y="5396304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582158F7-2513-F742-BC1E-1956B381573B}"/>
                  </a:ext>
                </a:extLst>
              </p:cNvPr>
              <p:cNvSpPr/>
              <p:nvPr/>
            </p:nvSpPr>
            <p:spPr>
              <a:xfrm>
                <a:off x="7359389" y="498291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D56A25D1-9B81-CB4E-9DD2-7EF41FF34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126" y="346444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1B985C18-43DB-B644-B2EE-D55CDE0BEADE}"/>
                  </a:ext>
                </a:extLst>
              </p:cNvPr>
              <p:cNvCxnSpPr/>
              <p:nvPr/>
            </p:nvCxnSpPr>
            <p:spPr>
              <a:xfrm>
                <a:off x="6478620" y="512729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A27B86A2-3B84-AC4F-93D2-1730855EF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4716" y="4571515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Rounded Rectangle 166">
                <a:extLst>
                  <a:ext uri="{FF2B5EF4-FFF2-40B4-BE49-F238E27FC236}">
                    <a16:creationId xmlns:a16="http://schemas.microsoft.com/office/drawing/2014/main" id="{A6FAC7BA-D09A-674A-A9C1-8B2CCEDA8FD3}"/>
                  </a:ext>
                </a:extLst>
              </p:cNvPr>
              <p:cNvSpPr/>
              <p:nvPr/>
            </p:nvSpPr>
            <p:spPr>
              <a:xfrm>
                <a:off x="5314706" y="4500075"/>
                <a:ext cx="788808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406AFD21-4E06-AC40-8C30-CD868FC361F6}"/>
                  </a:ext>
                </a:extLst>
              </p:cNvPr>
              <p:cNvSpPr/>
              <p:nvPr/>
            </p:nvSpPr>
            <p:spPr>
              <a:xfrm>
                <a:off x="5650460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08C9BDF-4D46-B448-BEAF-F0EA88665D29}"/>
                  </a:ext>
                </a:extLst>
              </p:cNvPr>
              <p:cNvSpPr/>
              <p:nvPr/>
            </p:nvSpPr>
            <p:spPr>
              <a:xfrm>
                <a:off x="6171954" y="4981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6F47F94-DFDF-B945-88CE-05338B5526B1}"/>
                  </a:ext>
                </a:extLst>
              </p:cNvPr>
              <p:cNvCxnSpPr>
                <a:stCxn id="168" idx="3"/>
                <a:endCxn id="169" idx="1"/>
              </p:cNvCxnSpPr>
              <p:nvPr/>
            </p:nvCxnSpPr>
            <p:spPr>
              <a:xfrm>
                <a:off x="5950498" y="5109679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357F49F-B5CE-0A4A-9CF0-F28FF77FE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60" y="4981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3C96A548-95B0-4C46-A35F-F25FD06D515A}"/>
                  </a:ext>
                </a:extLst>
              </p:cNvPr>
              <p:cNvSpPr/>
              <p:nvPr/>
            </p:nvSpPr>
            <p:spPr>
              <a:xfrm>
                <a:off x="5321849" y="4923939"/>
                <a:ext cx="2512299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6C5007B-D96F-B74D-BFE5-DA8182E27BE2}"/>
                  </a:ext>
                </a:extLst>
              </p:cNvPr>
              <p:cNvSpPr/>
              <p:nvPr/>
            </p:nvSpPr>
            <p:spPr>
              <a:xfrm>
                <a:off x="5657089" y="539066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3F2C23EB-0AC1-0B4B-948C-ABCFFE563C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9" y="539066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Rounded Rectangle 174">
                <a:extLst>
                  <a:ext uri="{FF2B5EF4-FFF2-40B4-BE49-F238E27FC236}">
                    <a16:creationId xmlns:a16="http://schemas.microsoft.com/office/drawing/2014/main" id="{0398EB9D-3F13-354A-A546-073B74A3E275}"/>
                  </a:ext>
                </a:extLst>
              </p:cNvPr>
              <p:cNvSpPr/>
              <p:nvPr/>
            </p:nvSpPr>
            <p:spPr>
              <a:xfrm>
                <a:off x="5328478" y="5333510"/>
                <a:ext cx="124860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A91D0443-CC27-AE4A-8AA1-312704778CC8}"/>
                  </a:ext>
                </a:extLst>
              </p:cNvPr>
              <p:cNvGrpSpPr/>
              <p:nvPr/>
            </p:nvGrpSpPr>
            <p:grpSpPr>
              <a:xfrm>
                <a:off x="5328478" y="5743079"/>
                <a:ext cx="850104" cy="371475"/>
                <a:chOff x="7529515" y="2000248"/>
                <a:chExt cx="850104" cy="371475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AF4339DA-9FD7-E140-9501-67569A42699C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cxnSp>
              <p:nvCxnSpPr>
                <p:cNvPr id="212" name="Straight Arrow Connector 211">
                  <a:extLst>
                    <a:ext uri="{FF2B5EF4-FFF2-40B4-BE49-F238E27FC236}">
                      <a16:creationId xmlns:a16="http://schemas.microsoft.com/office/drawing/2014/main" id="{1C502137-F038-0341-BEC5-11CEFBC8A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3" name="Rounded Rectangle 212">
                  <a:extLst>
                    <a:ext uri="{FF2B5EF4-FFF2-40B4-BE49-F238E27FC236}">
                      <a16:creationId xmlns:a16="http://schemas.microsoft.com/office/drawing/2014/main" id="{046BACD0-1071-6B45-AA3E-682E77434FA7}"/>
                    </a:ext>
                  </a:extLst>
                </p:cNvPr>
                <p:cNvSpPr/>
                <p:nvPr/>
              </p:nvSpPr>
              <p:spPr>
                <a:xfrm>
                  <a:off x="7529515" y="2000248"/>
                  <a:ext cx="850104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9CB5E4C-B787-6240-B567-57067F4C1CE4}"/>
                  </a:ext>
                </a:extLst>
              </p:cNvPr>
              <p:cNvSpPr/>
              <p:nvPr/>
            </p:nvSpPr>
            <p:spPr>
              <a:xfrm>
                <a:off x="5650459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96D3C87F-C9AA-6242-B5C6-A0F92AB671B1}"/>
                  </a:ext>
                </a:extLst>
              </p:cNvPr>
              <p:cNvSpPr/>
              <p:nvPr/>
            </p:nvSpPr>
            <p:spPr>
              <a:xfrm>
                <a:off x="6171953" y="6224092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5040ECC7-EACF-F545-B9B4-DFA7BA6D0DAC}"/>
                  </a:ext>
                </a:extLst>
              </p:cNvPr>
              <p:cNvCxnSpPr>
                <a:stCxn id="177" idx="3"/>
                <a:endCxn id="178" idx="1"/>
              </p:cNvCxnSpPr>
              <p:nvPr/>
            </p:nvCxnSpPr>
            <p:spPr>
              <a:xfrm>
                <a:off x="5950497" y="6352680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ECD6EB85-7D69-C643-8E05-60609D38E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1859" y="6224092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294D5A06-5664-554C-B34C-F677ABA4380C}"/>
                  </a:ext>
                </a:extLst>
              </p:cNvPr>
              <p:cNvSpPr/>
              <p:nvPr/>
            </p:nvSpPr>
            <p:spPr>
              <a:xfrm>
                <a:off x="5321849" y="6166940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011CEC49-EE2E-3449-ADA8-4852CFF5754D}"/>
                  </a:ext>
                </a:extLst>
              </p:cNvPr>
              <p:cNvGrpSpPr/>
              <p:nvPr/>
            </p:nvGrpSpPr>
            <p:grpSpPr>
              <a:xfrm>
                <a:off x="5317759" y="6576517"/>
                <a:ext cx="847051" cy="371475"/>
                <a:chOff x="7529514" y="2014536"/>
                <a:chExt cx="847051" cy="371475"/>
              </a:xfrm>
            </p:grpSpPr>
            <p:sp>
              <p:nvSpPr>
                <p:cNvPr id="208" name="Rectangle 207">
                  <a:extLst>
                    <a:ext uri="{FF2B5EF4-FFF2-40B4-BE49-F238E27FC236}">
                      <a16:creationId xmlns:a16="http://schemas.microsoft.com/office/drawing/2014/main" id="{58C24F61-AD1D-AA46-90C9-91F17AE9E837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9" name="Straight Arrow Connector 208">
                  <a:extLst>
                    <a:ext uri="{FF2B5EF4-FFF2-40B4-BE49-F238E27FC236}">
                      <a16:creationId xmlns:a16="http://schemas.microsoft.com/office/drawing/2014/main" id="{908EBABD-CA51-0446-875C-6DC2D4C949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" name="Rounded Rectangle 209">
                  <a:extLst>
                    <a:ext uri="{FF2B5EF4-FFF2-40B4-BE49-F238E27FC236}">
                      <a16:creationId xmlns:a16="http://schemas.microsoft.com/office/drawing/2014/main" id="{DE523251-5987-CD48-9E5D-4E66144FCA3F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847051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46F2CA5E-11BB-6346-9B37-09EB1A364079}"/>
                  </a:ext>
                </a:extLst>
              </p:cNvPr>
              <p:cNvGrpSpPr/>
              <p:nvPr/>
            </p:nvGrpSpPr>
            <p:grpSpPr>
              <a:xfrm>
                <a:off x="5328477" y="7000368"/>
                <a:ext cx="1253885" cy="371475"/>
                <a:chOff x="7529514" y="2014536"/>
                <a:chExt cx="1253885" cy="371475"/>
              </a:xfrm>
            </p:grpSpPr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513C4F67-7670-B949-9047-261D17D1C26F}"/>
                    </a:ext>
                  </a:extLst>
                </p:cNvPr>
                <p:cNvSpPr/>
                <p:nvPr/>
              </p:nvSpPr>
              <p:spPr>
                <a:xfrm>
                  <a:off x="7858125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C42A2CA0-68A9-9145-AD3F-B02EF59E78C0}"/>
                    </a:ext>
                  </a:extLst>
                </p:cNvPr>
                <p:cNvSpPr/>
                <p:nvPr/>
              </p:nvSpPr>
              <p:spPr>
                <a:xfrm>
                  <a:off x="8379619" y="2071688"/>
                  <a:ext cx="300038" cy="257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cxnSp>
              <p:nvCxnSpPr>
                <p:cNvPr id="205" name="Straight Arrow Connector 204">
                  <a:extLst>
                    <a:ext uri="{FF2B5EF4-FFF2-40B4-BE49-F238E27FC236}">
                      <a16:creationId xmlns:a16="http://schemas.microsoft.com/office/drawing/2014/main" id="{7AFFA1F7-01EE-AB47-91A4-395B5A6D94CB}"/>
                    </a:ext>
                  </a:extLst>
                </p:cNvPr>
                <p:cNvCxnSpPr>
                  <a:stCxn id="203" idx="3"/>
                  <a:endCxn id="204" idx="1"/>
                </p:cNvCxnSpPr>
                <p:nvPr/>
              </p:nvCxnSpPr>
              <p:spPr>
                <a:xfrm>
                  <a:off x="8158163" y="2200276"/>
                  <a:ext cx="221456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Arrow Connector 205">
                  <a:extLst>
                    <a:ext uri="{FF2B5EF4-FFF2-40B4-BE49-F238E27FC236}">
                      <a16:creationId xmlns:a16="http://schemas.microsoft.com/office/drawing/2014/main" id="{9687AFB1-9FEA-E04C-8CB6-38AC77A265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9525" y="2071688"/>
                  <a:ext cx="228600" cy="9524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Rounded Rectangle 206">
                  <a:extLst>
                    <a:ext uri="{FF2B5EF4-FFF2-40B4-BE49-F238E27FC236}">
                      <a16:creationId xmlns:a16="http://schemas.microsoft.com/office/drawing/2014/main" id="{B65AC002-DAC4-4B46-B561-FA6CAE41D11C}"/>
                    </a:ext>
                  </a:extLst>
                </p:cNvPr>
                <p:cNvSpPr/>
                <p:nvPr/>
              </p:nvSpPr>
              <p:spPr>
                <a:xfrm>
                  <a:off x="7529514" y="2014536"/>
                  <a:ext cx="1253885" cy="371475"/>
                </a:xfrm>
                <a:prstGeom prst="roundRect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0F3FD62-3BC0-014C-94C5-9A593E096911}"/>
                  </a:ext>
                </a:extLst>
              </p:cNvPr>
              <p:cNvSpPr/>
              <p:nvPr/>
            </p:nvSpPr>
            <p:spPr>
              <a:xfrm>
                <a:off x="5657088" y="746709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94550042-F073-8841-A073-6B7C74733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488" y="7467091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Rounded Rectangle 185">
                <a:extLst>
                  <a:ext uri="{FF2B5EF4-FFF2-40B4-BE49-F238E27FC236}">
                    <a16:creationId xmlns:a16="http://schemas.microsoft.com/office/drawing/2014/main" id="{B9B8C884-D425-3948-9434-8A577B6FE3B9}"/>
                  </a:ext>
                </a:extLst>
              </p:cNvPr>
              <p:cNvSpPr/>
              <p:nvPr/>
            </p:nvSpPr>
            <p:spPr>
              <a:xfrm>
                <a:off x="5328477" y="7438515"/>
                <a:ext cx="850105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C5858B8-E8A1-FF45-807B-C221CB8F674F}"/>
                  </a:ext>
                </a:extLst>
              </p:cNvPr>
              <p:cNvSpPr/>
              <p:nvPr/>
            </p:nvSpPr>
            <p:spPr>
              <a:xfrm>
                <a:off x="6135718" y="3335857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51918193-DF21-7848-803E-EF0C9107D3CC}"/>
                  </a:ext>
                </a:extLst>
              </p:cNvPr>
              <p:cNvCxnSpPr/>
              <p:nvPr/>
            </p:nvCxnSpPr>
            <p:spPr>
              <a:xfrm>
                <a:off x="7117489" y="5125794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C47087B7-87E7-1C42-A3A4-148B78EAD074}"/>
                  </a:ext>
                </a:extLst>
              </p:cNvPr>
              <p:cNvCxnSpPr/>
              <p:nvPr/>
            </p:nvCxnSpPr>
            <p:spPr>
              <a:xfrm>
                <a:off x="5943354" y="5535422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74559"/>
              </p:ext>
            </p:extLst>
          </p:nvPr>
        </p:nvGraphicFramePr>
        <p:xfrm>
          <a:off x="6699115" y="219058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[v]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18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F12503-72F2-2C48-8BF7-46F2CC128C12}"/>
              </a:ext>
            </a:extLst>
          </p:cNvPr>
          <p:cNvSpPr txBox="1"/>
          <p:nvPr/>
        </p:nvSpPr>
        <p:spPr>
          <a:xfrm>
            <a:off x="3623201" y="2205134"/>
            <a:ext cx="7904728" cy="397031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class </a:t>
            </a:r>
            <a:r>
              <a:rPr lang="en-US" b="1" dirty="0" err="1">
                <a:solidFill>
                  <a:schemeClr val="accent5"/>
                </a:solidFill>
                <a:latin typeface="Courier" pitchFamily="2" charset="0"/>
              </a:rPr>
              <a:t>DirectedDFS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  def __</a:t>
            </a:r>
            <a:r>
              <a:rPr lang="en-US" dirty="0" err="1">
                <a:latin typeface="Courier" pitchFamily="2" charset="0"/>
              </a:rPr>
              <a:t>init</a:t>
            </a:r>
            <a:r>
              <a:rPr lang="en-US" dirty="0">
                <a:latin typeface="Courier" pitchFamily="2" charset="0"/>
              </a:rPr>
              <a:t>__(self, G, s):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self.marked</a:t>
            </a:r>
            <a:r>
              <a:rPr lang="en-US" dirty="0">
                <a:latin typeface="Courier" pitchFamily="2" charset="0"/>
              </a:rPr>
              <a:t> = [False for v in range (0, G.V())]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self.edgeTo</a:t>
            </a:r>
            <a:r>
              <a:rPr lang="en-US" dirty="0">
                <a:latin typeface="Courier" pitchFamily="2" charset="0"/>
              </a:rPr>
              <a:t> = [-1 for v in range (0, G.V())]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self.dfs</a:t>
            </a:r>
            <a:r>
              <a:rPr lang="en-US" dirty="0">
                <a:latin typeface="Courier" pitchFamily="2" charset="0"/>
              </a:rPr>
              <a:t> (G, s)</a:t>
            </a:r>
          </a:p>
          <a:p>
            <a:endParaRPr lang="en-US" dirty="0">
              <a:latin typeface="Courier" pitchFamily="2" charset="0"/>
            </a:endParaRP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  def </a:t>
            </a:r>
            <a:r>
              <a:rPr lang="en-US" dirty="0" err="1">
                <a:latin typeface="Courier" pitchFamily="2" charset="0"/>
              </a:rPr>
              <a:t>dfs</a:t>
            </a:r>
            <a:r>
              <a:rPr lang="en-US" dirty="0">
                <a:latin typeface="Courier" pitchFamily="2" charset="0"/>
              </a:rPr>
              <a:t>(self, G, v):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self.marked</a:t>
            </a:r>
            <a:r>
              <a:rPr lang="en-US" dirty="0">
                <a:latin typeface="Courier" pitchFamily="2" charset="0"/>
              </a:rPr>
              <a:t>[v] = true</a:t>
            </a:r>
          </a:p>
          <a:p>
            <a:r>
              <a:rPr lang="en-US" dirty="0">
                <a:latin typeface="Courier" pitchFamily="2" charset="0"/>
              </a:rPr>
              <a:t>        for w in </a:t>
            </a:r>
            <a:r>
              <a:rPr lang="en-US" dirty="0" err="1">
                <a:latin typeface="Courier" pitchFamily="2" charset="0"/>
              </a:rPr>
              <a:t>G.adj</a:t>
            </a:r>
            <a:r>
              <a:rPr lang="en-US" dirty="0">
                <a:latin typeface="Courier" pitchFamily="2" charset="0"/>
              </a:rPr>
              <a:t>(v):</a:t>
            </a:r>
          </a:p>
          <a:p>
            <a:r>
              <a:rPr lang="en-US" dirty="0">
                <a:latin typeface="Courier" pitchFamily="2" charset="0"/>
              </a:rPr>
              <a:t>            if (!</a:t>
            </a:r>
            <a:r>
              <a:rPr lang="en-US" dirty="0" err="1">
                <a:latin typeface="Courier" pitchFamily="2" charset="0"/>
              </a:rPr>
              <a:t>self.marked</a:t>
            </a:r>
            <a:r>
              <a:rPr lang="en-US" dirty="0">
                <a:latin typeface="Courier" pitchFamily="2" charset="0"/>
              </a:rPr>
              <a:t>[w])</a:t>
            </a:r>
          </a:p>
          <a:p>
            <a:r>
              <a:rPr lang="en-US" dirty="0">
                <a:latin typeface="Courier" pitchFamily="2" charset="0"/>
              </a:rPr>
              <a:t>		  </a:t>
            </a:r>
            <a:r>
              <a:rPr lang="en-US" dirty="0" err="1">
                <a:latin typeface="Courier" pitchFamily="2" charset="0"/>
              </a:rPr>
              <a:t>self.dfs</a:t>
            </a:r>
            <a:r>
              <a:rPr lang="en-US" dirty="0">
                <a:latin typeface="Courier" pitchFamily="2" charset="0"/>
              </a:rPr>
              <a:t>(G, w)</a:t>
            </a:r>
          </a:p>
          <a:p>
            <a:r>
              <a:rPr lang="en-US" dirty="0">
                <a:latin typeface="Courier" pitchFamily="2" charset="0"/>
              </a:rPr>
              <a:t>		  </a:t>
            </a:r>
            <a:r>
              <a:rPr lang="en-US" dirty="0" err="1">
                <a:latin typeface="Courier" pitchFamily="2" charset="0"/>
              </a:rPr>
              <a:t>self.edgeTo</a:t>
            </a:r>
            <a:r>
              <a:rPr lang="en-US" dirty="0">
                <a:latin typeface="Courier" pitchFamily="2" charset="0"/>
              </a:rPr>
              <a:t>[w]=v</a:t>
            </a:r>
          </a:p>
        </p:txBody>
      </p:sp>
      <p:grpSp>
        <p:nvGrpSpPr>
          <p:cNvPr id="107" name="Group 106" descr="arrows highlighting support data structures in pseudocode">
            <a:extLst>
              <a:ext uri="{FF2B5EF4-FFF2-40B4-BE49-F238E27FC236}">
                <a16:creationId xmlns:a16="http://schemas.microsoft.com/office/drawing/2014/main" id="{C98CD40D-8B86-ED4C-891B-4960351B65C9}"/>
              </a:ext>
            </a:extLst>
          </p:cNvPr>
          <p:cNvGrpSpPr/>
          <p:nvPr/>
        </p:nvGrpSpPr>
        <p:grpSpPr>
          <a:xfrm>
            <a:off x="243060" y="2943838"/>
            <a:ext cx="4342207" cy="2046673"/>
            <a:chOff x="-97431" y="3003990"/>
            <a:chExt cx="4342207" cy="2046673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9781EE9-147F-B741-8EC2-B1A8918FF937}"/>
                </a:ext>
              </a:extLst>
            </p:cNvPr>
            <p:cNvSpPr txBox="1"/>
            <p:nvPr/>
          </p:nvSpPr>
          <p:spPr>
            <a:xfrm>
              <a:off x="68287" y="3003990"/>
              <a:ext cx="30187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support data structure to mark visited vertices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90E6594-D5F4-9B47-853D-183D9BA897C8}"/>
                </a:ext>
              </a:extLst>
            </p:cNvPr>
            <p:cNvSpPr txBox="1"/>
            <p:nvPr/>
          </p:nvSpPr>
          <p:spPr>
            <a:xfrm>
              <a:off x="-97431" y="3727224"/>
              <a:ext cx="31610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support data structure to remember reverse path (e.g., 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edgeTo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[w]=v means that 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was taken to visit w for the first time)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461500A-674D-3747-8813-37F07AE62D57}"/>
                </a:ext>
              </a:extLst>
            </p:cNvPr>
            <p:cNvCxnSpPr>
              <a:cxnSpLocks/>
            </p:cNvCxnSpPr>
            <p:nvPr/>
          </p:nvCxnSpPr>
          <p:spPr>
            <a:xfrm>
              <a:off x="3086996" y="3296378"/>
              <a:ext cx="1157780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426E07C-58DF-BB45-82C2-C58F6EC8F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3063" y="3606523"/>
              <a:ext cx="1201713" cy="45938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 descr="code is identtical but graph parameter is of type digrapgh instead of graph">
            <a:extLst>
              <a:ext uri="{FF2B5EF4-FFF2-40B4-BE49-F238E27FC236}">
                <a16:creationId xmlns:a16="http://schemas.microsoft.com/office/drawing/2014/main" id="{9A1C3174-AE01-8E44-ACFF-A0FE19E4B7F3}"/>
              </a:ext>
            </a:extLst>
          </p:cNvPr>
          <p:cNvGrpSpPr/>
          <p:nvPr/>
        </p:nvGrpSpPr>
        <p:grpSpPr>
          <a:xfrm>
            <a:off x="364845" y="2943838"/>
            <a:ext cx="6444203" cy="2502500"/>
            <a:chOff x="364845" y="2943838"/>
            <a:chExt cx="6444203" cy="25025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9C8AEB-B174-FD4B-82F3-61FCC96201F6}"/>
                </a:ext>
              </a:extLst>
            </p:cNvPr>
            <p:cNvSpPr txBox="1"/>
            <p:nvPr/>
          </p:nvSpPr>
          <p:spPr>
            <a:xfrm>
              <a:off x="364845" y="5107784"/>
              <a:ext cx="30187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 is a digraph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470F878-567D-3E4E-AD9F-5DDC83CCFCF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3383554" y="4692501"/>
              <a:ext cx="1966232" cy="58456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800E25-5B38-CF4A-BD30-104B76A920C6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3383554" y="2943838"/>
              <a:ext cx="3425494" cy="2333223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960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 for digraphs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How-to. </a:t>
            </a:r>
            <a:r>
              <a:rPr lang="en-US" dirty="0"/>
              <a:t>To visit BFS from a source vertex </a:t>
            </a:r>
            <a:r>
              <a:rPr lang="en-US" i="1" dirty="0"/>
              <a:t>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Put </a:t>
            </a:r>
            <a:r>
              <a:rPr lang="en-US" i="1" dirty="0"/>
              <a:t>s</a:t>
            </a:r>
            <a:r>
              <a:rPr lang="en-US" dirty="0"/>
              <a:t> onto a (FIFO) queue and mark </a:t>
            </a:r>
            <a:r>
              <a:rPr lang="en-US" i="1" dirty="0"/>
              <a:t>s</a:t>
            </a:r>
            <a:r>
              <a:rPr lang="en-US" dirty="0"/>
              <a:t> as visited</a:t>
            </a:r>
          </a:p>
          <a:p>
            <a:pPr lvl="1"/>
            <a:r>
              <a:rPr lang="en-US" dirty="0"/>
              <a:t>Repeat until the queue is empty:</a:t>
            </a:r>
          </a:p>
          <a:p>
            <a:pPr lvl="2"/>
            <a:r>
              <a:rPr lang="en-US" dirty="0"/>
              <a:t>Dequeue vertex </a:t>
            </a:r>
            <a:r>
              <a:rPr lang="en-US" i="1" dirty="0"/>
              <a:t>v</a:t>
            </a:r>
            <a:r>
              <a:rPr lang="en-US" dirty="0"/>
              <a:t> from the front of the queue (i.e., remove the least recently added vertex </a:t>
            </a:r>
            <a:r>
              <a:rPr lang="en-US" i="1" dirty="0"/>
              <a:t>v</a:t>
            </a:r>
            <a:r>
              <a:rPr lang="en-US" dirty="0"/>
              <a:t> rom the queue)</a:t>
            </a:r>
          </a:p>
          <a:p>
            <a:pPr lvl="2"/>
            <a:r>
              <a:rPr lang="en-US" dirty="0"/>
              <a:t>Enqueue all </a:t>
            </a:r>
            <a:r>
              <a:rPr lang="en-US" b="1" dirty="0">
                <a:solidFill>
                  <a:schemeClr val="accent5"/>
                </a:solidFill>
              </a:rPr>
              <a:t>unvisited vertices pointing out from </a:t>
            </a:r>
            <a:r>
              <a:rPr lang="en-US" b="1" i="1" dirty="0">
                <a:solidFill>
                  <a:schemeClr val="accent5"/>
                </a:solidFill>
              </a:rPr>
              <a:t>v </a:t>
            </a:r>
            <a:r>
              <a:rPr lang="en-US" dirty="0"/>
              <a:t>to the queue and mark them as visited</a:t>
            </a:r>
          </a:p>
        </p:txBody>
      </p:sp>
    </p:spTree>
    <p:extLst>
      <p:ext uri="{BB962C8B-B14F-4D97-AF65-F5344CB8AC3E}">
        <p14:creationId xmlns:p14="http://schemas.microsoft.com/office/powerpoint/2010/main" val="3256734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080182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03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628047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169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195508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0  </a:t>
            </a:r>
          </a:p>
        </p:txBody>
      </p:sp>
    </p:spTree>
    <p:extLst>
      <p:ext uri="{BB962C8B-B14F-4D97-AF65-F5344CB8AC3E}">
        <p14:creationId xmlns:p14="http://schemas.microsoft.com/office/powerpoint/2010/main" val="21157960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11658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1   2  </a:t>
            </a:r>
          </a:p>
        </p:txBody>
      </p:sp>
    </p:spTree>
    <p:extLst>
      <p:ext uri="{BB962C8B-B14F-4D97-AF65-F5344CB8AC3E}">
        <p14:creationId xmlns:p14="http://schemas.microsoft.com/office/powerpoint/2010/main" val="183163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07641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4   1  </a:t>
            </a:r>
          </a:p>
        </p:txBody>
      </p:sp>
    </p:spTree>
    <p:extLst>
      <p:ext uri="{BB962C8B-B14F-4D97-AF65-F5344CB8AC3E}">
        <p14:creationId xmlns:p14="http://schemas.microsoft.com/office/powerpoint/2010/main" val="4169768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561866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4 </a:t>
            </a:r>
          </a:p>
        </p:txBody>
      </p:sp>
    </p:spTree>
    <p:extLst>
      <p:ext uri="{BB962C8B-B14F-4D97-AF65-F5344CB8AC3E}">
        <p14:creationId xmlns:p14="http://schemas.microsoft.com/office/powerpoint/2010/main" val="447935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410742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3 </a:t>
            </a:r>
          </a:p>
        </p:txBody>
      </p:sp>
    </p:spTree>
    <p:extLst>
      <p:ext uri="{BB962C8B-B14F-4D97-AF65-F5344CB8AC3E}">
        <p14:creationId xmlns:p14="http://schemas.microsoft.com/office/powerpoint/2010/main" val="1846514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5694"/>
              </p:ext>
            </p:extLst>
          </p:nvPr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810C69A-5C43-B74B-B00D-D9201C3406CC}"/>
              </a:ext>
            </a:extLst>
          </p:cNvPr>
          <p:cNvSpPr txBox="1"/>
          <p:nvPr/>
        </p:nvSpPr>
        <p:spPr>
          <a:xfrm>
            <a:off x="8980462" y="290449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    5 </a:t>
            </a:r>
          </a:p>
        </p:txBody>
      </p:sp>
    </p:spTree>
    <p:extLst>
      <p:ext uri="{BB962C8B-B14F-4D97-AF65-F5344CB8AC3E}">
        <p14:creationId xmlns:p14="http://schemas.microsoft.com/office/powerpoint/2010/main" val="123800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 BFS(0): find all vertices reachable from 0 along a directed path</a:t>
            </a:r>
          </a:p>
        </p:txBody>
      </p:sp>
      <p:grpSp>
        <p:nvGrpSpPr>
          <p:cNvPr id="47" name="Group 46" descr="example digraph">
            <a:extLst>
              <a:ext uri="{FF2B5EF4-FFF2-40B4-BE49-F238E27FC236}">
                <a16:creationId xmlns:a16="http://schemas.microsoft.com/office/drawing/2014/main" id="{5CFCF43B-61BE-2B4B-AA62-1A16B86FBDD7}"/>
              </a:ext>
            </a:extLst>
          </p:cNvPr>
          <p:cNvGrpSpPr/>
          <p:nvPr/>
        </p:nvGrpSpPr>
        <p:grpSpPr>
          <a:xfrm>
            <a:off x="521446" y="2532597"/>
            <a:ext cx="2484236" cy="2414470"/>
            <a:chOff x="521446" y="2532597"/>
            <a:chExt cx="2484236" cy="241447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C13561-9726-594F-A765-41173B891179}"/>
                </a:ext>
              </a:extLst>
            </p:cNvPr>
            <p:cNvSpPr/>
            <p:nvPr/>
          </p:nvSpPr>
          <p:spPr>
            <a:xfrm>
              <a:off x="521446" y="2532597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CF809D-7513-A14E-AD91-04E2CD654039}"/>
                </a:ext>
              </a:extLst>
            </p:cNvPr>
            <p:cNvSpPr/>
            <p:nvPr/>
          </p:nvSpPr>
          <p:spPr>
            <a:xfrm>
              <a:off x="536249" y="4547017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39C5C4A-1BC1-834B-A2BA-9031C49754AD}"/>
                </a:ext>
              </a:extLst>
            </p:cNvPr>
            <p:cNvSpPr/>
            <p:nvPr/>
          </p:nvSpPr>
          <p:spPr>
            <a:xfrm>
              <a:off x="1508732" y="3089164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C8994A4-1253-C54D-8F9E-CB7EBC4A8117}"/>
                </a:ext>
              </a:extLst>
            </p:cNvPr>
            <p:cNvSpPr/>
            <p:nvPr/>
          </p:nvSpPr>
          <p:spPr>
            <a:xfrm>
              <a:off x="2509084" y="2585590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A7955C-A96E-DA43-8986-2557F70AAF89}"/>
                </a:ext>
              </a:extLst>
            </p:cNvPr>
            <p:cNvSpPr/>
            <p:nvPr/>
          </p:nvSpPr>
          <p:spPr>
            <a:xfrm>
              <a:off x="2619920" y="4436519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E265769-B04C-9A4E-8ED3-F96DFE52861D}"/>
                </a:ext>
              </a:extLst>
            </p:cNvPr>
            <p:cNvSpPr/>
            <p:nvPr/>
          </p:nvSpPr>
          <p:spPr>
            <a:xfrm>
              <a:off x="1508732" y="3942426"/>
              <a:ext cx="385762" cy="400050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4EBE3E-A7C5-C64D-8E2E-3717013664AE}"/>
                </a:ext>
              </a:extLst>
            </p:cNvPr>
            <p:cNvCxnSpPr>
              <a:stCxn id="20" idx="5"/>
              <a:endCxn id="22" idx="2"/>
            </p:cNvCxnSpPr>
            <p:nvPr/>
          </p:nvCxnSpPr>
          <p:spPr>
            <a:xfrm>
              <a:off x="850714" y="2874061"/>
              <a:ext cx="658018" cy="415128"/>
            </a:xfrm>
            <a:prstGeom prst="straightConnector1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5274E47E-5D77-A94F-A372-B51C17096F7D}"/>
                </a:ext>
              </a:extLst>
            </p:cNvPr>
            <p:cNvCxnSpPr>
              <a:cxnSpLocks/>
              <a:stCxn id="20" idx="6"/>
              <a:endCxn id="23" idx="2"/>
            </p:cNvCxnSpPr>
            <p:nvPr/>
          </p:nvCxnSpPr>
          <p:spPr>
            <a:xfrm>
              <a:off x="907208" y="2732622"/>
              <a:ext cx="1601876" cy="52993"/>
            </a:xfrm>
            <a:prstGeom prst="straightConnector1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0DD95919-8939-9144-907F-A3B99BFCBB56}"/>
                </a:ext>
              </a:extLst>
            </p:cNvPr>
            <p:cNvCxnSpPr>
              <a:cxnSpLocks/>
              <a:stCxn id="22" idx="6"/>
              <a:endCxn id="23" idx="3"/>
            </p:cNvCxnSpPr>
            <p:nvPr/>
          </p:nvCxnSpPr>
          <p:spPr>
            <a:xfrm flipV="1">
              <a:off x="1894494" y="2927054"/>
              <a:ext cx="671084" cy="362135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410852C-90EF-D949-A108-B343B1D5A034}"/>
                </a:ext>
              </a:extLst>
            </p:cNvPr>
            <p:cNvCxnSpPr>
              <a:cxnSpLocks/>
              <a:stCxn id="23" idx="5"/>
              <a:endCxn id="25" idx="0"/>
            </p:cNvCxnSpPr>
            <p:nvPr/>
          </p:nvCxnSpPr>
          <p:spPr>
            <a:xfrm flipH="1">
              <a:off x="2812801" y="2927054"/>
              <a:ext cx="25551" cy="1509465"/>
            </a:xfrm>
            <a:prstGeom prst="straightConnector1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E1E25BD-194C-C240-BB77-D99D684071C2}"/>
                </a:ext>
              </a:extLst>
            </p:cNvPr>
            <p:cNvCxnSpPr>
              <a:cxnSpLocks/>
              <a:stCxn id="26" idx="7"/>
              <a:endCxn id="23" idx="4"/>
            </p:cNvCxnSpPr>
            <p:nvPr/>
          </p:nvCxnSpPr>
          <p:spPr>
            <a:xfrm flipV="1">
              <a:off x="1838000" y="2985640"/>
              <a:ext cx="863965" cy="1015372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DD40395-188C-6543-B821-1C777ED04B22}"/>
                </a:ext>
              </a:extLst>
            </p:cNvPr>
            <p:cNvCxnSpPr>
              <a:cxnSpLocks/>
              <a:stCxn id="26" idx="2"/>
              <a:endCxn id="21" idx="7"/>
            </p:cNvCxnSpPr>
            <p:nvPr/>
          </p:nvCxnSpPr>
          <p:spPr>
            <a:xfrm flipH="1">
              <a:off x="865517" y="4142451"/>
              <a:ext cx="643215" cy="463152"/>
            </a:xfrm>
            <a:prstGeom prst="straightConnector1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FC73FC9-49AF-A449-9644-B6F70D7BC455}"/>
                </a:ext>
              </a:extLst>
            </p:cNvPr>
            <p:cNvCxnSpPr>
              <a:cxnSpLocks/>
              <a:stCxn id="21" idx="0"/>
              <a:endCxn id="20" idx="4"/>
            </p:cNvCxnSpPr>
            <p:nvPr/>
          </p:nvCxnSpPr>
          <p:spPr>
            <a:xfrm flipH="1" flipV="1">
              <a:off x="714327" y="2932647"/>
              <a:ext cx="14803" cy="1614370"/>
            </a:xfrm>
            <a:prstGeom prst="straightConnector1">
              <a:avLst/>
            </a:prstGeom>
            <a:ln w="28575">
              <a:solidFill>
                <a:schemeClr val="bg1">
                  <a:lumMod val="85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0D5F317-44A2-1C4C-9338-C941A1E72799}"/>
                </a:ext>
              </a:extLst>
            </p:cNvPr>
            <p:cNvCxnSpPr>
              <a:cxnSpLocks/>
              <a:stCxn id="25" idx="2"/>
              <a:endCxn id="26" idx="5"/>
            </p:cNvCxnSpPr>
            <p:nvPr/>
          </p:nvCxnSpPr>
          <p:spPr>
            <a:xfrm flipH="1" flipV="1">
              <a:off x="1838000" y="4283890"/>
              <a:ext cx="781920" cy="352654"/>
            </a:xfrm>
            <a:prstGeom prst="straightConnector1">
              <a:avLst/>
            </a:prstGeom>
            <a:solidFill>
              <a:srgbClr val="FF0000">
                <a:alpha val="50000"/>
              </a:srgbClr>
            </a:solidFill>
            <a:ln w="412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 descr="computer representation of the same digraph">
            <a:extLst>
              <a:ext uri="{FF2B5EF4-FFF2-40B4-BE49-F238E27FC236}">
                <a16:creationId xmlns:a16="http://schemas.microsoft.com/office/drawing/2014/main" id="{0E922BE2-6820-C74A-B289-F0ACBEB59464}"/>
              </a:ext>
            </a:extLst>
          </p:cNvPr>
          <p:cNvGrpSpPr/>
          <p:nvPr/>
        </p:nvGrpSpPr>
        <p:grpSpPr>
          <a:xfrm>
            <a:off x="3545144" y="2628097"/>
            <a:ext cx="1113447" cy="1815882"/>
            <a:chOff x="3545144" y="2628097"/>
            <a:chExt cx="1113447" cy="181588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2858230-6FC1-7B4C-9210-90B5E67D234F}"/>
                </a:ext>
              </a:extLst>
            </p:cNvPr>
            <p:cNvSpPr/>
            <p:nvPr/>
          </p:nvSpPr>
          <p:spPr>
            <a:xfrm>
              <a:off x="4025890" y="27130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F3B2D57-DB12-394F-B226-8E598D1752A2}"/>
                </a:ext>
              </a:extLst>
            </p:cNvPr>
            <p:cNvSpPr/>
            <p:nvPr/>
          </p:nvSpPr>
          <p:spPr>
            <a:xfrm>
              <a:off x="4343692" y="271583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4DC72EE-74F2-D744-B5DF-540FD0E4C035}"/>
                </a:ext>
              </a:extLst>
            </p:cNvPr>
            <p:cNvCxnSpPr/>
            <p:nvPr/>
          </p:nvCxnSpPr>
          <p:spPr>
            <a:xfrm>
              <a:off x="4208735" y="278874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13B66B2-9606-ED44-8BE2-725FB84E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271302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A9BF154D-470B-E949-AC06-CD91866EADF9}"/>
                </a:ext>
              </a:extLst>
            </p:cNvPr>
            <p:cNvSpPr/>
            <p:nvPr/>
          </p:nvSpPr>
          <p:spPr>
            <a:xfrm>
              <a:off x="3841874" y="2685749"/>
              <a:ext cx="81671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784E9177-CF6C-E24E-BE7B-32C66E51B609}"/>
                </a:ext>
              </a:extLst>
            </p:cNvPr>
            <p:cNvSpPr/>
            <p:nvPr/>
          </p:nvSpPr>
          <p:spPr>
            <a:xfrm>
              <a:off x="4049540" y="2954205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11E31161-8E9A-B34A-9D68-F43074516DEA}"/>
                </a:ext>
              </a:extLst>
            </p:cNvPr>
            <p:cNvCxnSpPr>
              <a:cxnSpLocks/>
            </p:cNvCxnSpPr>
            <p:nvPr/>
          </p:nvCxnSpPr>
          <p:spPr>
            <a:xfrm>
              <a:off x="3910230" y="2954205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ounded Rectangle 134">
              <a:extLst>
                <a:ext uri="{FF2B5EF4-FFF2-40B4-BE49-F238E27FC236}">
                  <a16:creationId xmlns:a16="http://schemas.microsoft.com/office/drawing/2014/main" id="{F08238D0-67FE-A14C-B4F7-5872162A5C0E}"/>
                </a:ext>
              </a:extLst>
            </p:cNvPr>
            <p:cNvSpPr/>
            <p:nvPr/>
          </p:nvSpPr>
          <p:spPr>
            <a:xfrm>
              <a:off x="3849283" y="2920551"/>
              <a:ext cx="513707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11FF5E0-3D47-3D43-84F5-43570D0D2C2C}"/>
                </a:ext>
              </a:extLst>
            </p:cNvPr>
            <p:cNvSpPr/>
            <p:nvPr/>
          </p:nvSpPr>
          <p:spPr>
            <a:xfrm>
              <a:off x="4053580" y="3203792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F6E75419-A223-684F-8170-110733C43109}"/>
                </a:ext>
              </a:extLst>
            </p:cNvPr>
            <p:cNvCxnSpPr>
              <a:cxnSpLocks/>
            </p:cNvCxnSpPr>
            <p:nvPr/>
          </p:nvCxnSpPr>
          <p:spPr>
            <a:xfrm>
              <a:off x="3914269" y="3203792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43F4F1B3-D59C-844A-979F-CEFBC8F52985}"/>
                </a:ext>
              </a:extLst>
            </p:cNvPr>
            <p:cNvSpPr/>
            <p:nvPr/>
          </p:nvSpPr>
          <p:spPr>
            <a:xfrm>
              <a:off x="3853322" y="3161725"/>
              <a:ext cx="518060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CE932B-E252-D449-8146-5E32C8D5AC60}"/>
                </a:ext>
              </a:extLst>
            </p:cNvPr>
            <p:cNvSpPr/>
            <p:nvPr/>
          </p:nvSpPr>
          <p:spPr>
            <a:xfrm>
              <a:off x="4050992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DE31C14-83B5-A149-96A9-EF952FBD9498}"/>
                </a:ext>
              </a:extLst>
            </p:cNvPr>
            <p:cNvSpPr/>
            <p:nvPr/>
          </p:nvSpPr>
          <p:spPr>
            <a:xfrm>
              <a:off x="4368794" y="344496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31427AAA-4D58-F245-B380-05E1DE5D8DC7}"/>
                </a:ext>
              </a:extLst>
            </p:cNvPr>
            <p:cNvCxnSpPr>
              <a:stCxn id="125" idx="3"/>
              <a:endCxn id="126" idx="1"/>
            </p:cNvCxnSpPr>
            <p:nvPr/>
          </p:nvCxnSpPr>
          <p:spPr>
            <a:xfrm>
              <a:off x="4233837" y="3520684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2383CE4-8B24-A948-AA27-110CB28C30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1681" y="344496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960D0BD1-ACD2-7E46-855B-61E8698A7078}"/>
                </a:ext>
              </a:extLst>
            </p:cNvPr>
            <p:cNvSpPr/>
            <p:nvPr/>
          </p:nvSpPr>
          <p:spPr>
            <a:xfrm>
              <a:off x="3850734" y="3411312"/>
              <a:ext cx="766714" cy="218742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D67088B-98D0-1143-80ED-15B9BFB8E68D}"/>
                </a:ext>
              </a:extLst>
            </p:cNvPr>
            <p:cNvSpPr/>
            <p:nvPr/>
          </p:nvSpPr>
          <p:spPr>
            <a:xfrm>
              <a:off x="4054722" y="3688950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693839B-5BF0-9E49-BA12-1E3C84C0C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08464" y="3686146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DD36E29-3EEA-8646-9B27-2F17562C15A0}"/>
                </a:ext>
              </a:extLst>
            </p:cNvPr>
            <p:cNvSpPr/>
            <p:nvPr/>
          </p:nvSpPr>
          <p:spPr>
            <a:xfrm>
              <a:off x="3847517" y="3652492"/>
              <a:ext cx="521277" cy="21593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D530515-9B33-2143-8DA9-659E6E500AEC}"/>
                </a:ext>
              </a:extLst>
            </p:cNvPr>
            <p:cNvSpPr/>
            <p:nvPr/>
          </p:nvSpPr>
          <p:spPr>
            <a:xfrm>
              <a:off x="4053579" y="3925293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51F0933-39F5-F742-A15C-35A638A06F8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876" y="393573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F73E59CD-78A2-8045-BC76-A456468310D3}"/>
                </a:ext>
              </a:extLst>
            </p:cNvPr>
            <p:cNvSpPr/>
            <p:nvPr/>
          </p:nvSpPr>
          <p:spPr>
            <a:xfrm>
              <a:off x="3844929" y="3893664"/>
              <a:ext cx="521277" cy="234804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D74F214-239A-1342-8C41-BE8749F5D8DA}"/>
                </a:ext>
              </a:extLst>
            </p:cNvPr>
            <p:cNvSpPr txBox="1"/>
            <p:nvPr/>
          </p:nvSpPr>
          <p:spPr>
            <a:xfrm>
              <a:off x="3545144" y="2628097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10B9D41-F07E-6D41-B2E1-A2948EAD8FE9}"/>
              </a:ext>
            </a:extLst>
          </p:cNvPr>
          <p:cNvGraphicFramePr>
            <a:graphicFrameLocks noGrp="1"/>
          </p:cNvGraphicFramePr>
          <p:nvPr/>
        </p:nvGraphicFramePr>
        <p:xfrm>
          <a:off x="5919083" y="3797381"/>
          <a:ext cx="5802220" cy="2207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278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344608">
                  <a:extLst>
                    <a:ext uri="{9D8B030D-6E8A-4147-A177-3AD203B41FA5}">
                      <a16:colId xmlns:a16="http://schemas.microsoft.com/office/drawing/2014/main" val="1691618910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855801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edgeTo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distToSource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</a:tbl>
          </a:graphicData>
        </a:graphic>
      </p:graphicFrame>
      <p:grpSp>
        <p:nvGrpSpPr>
          <p:cNvPr id="42" name="Group 41" descr="queue of yet to be visited verteces">
            <a:extLst>
              <a:ext uri="{FF2B5EF4-FFF2-40B4-BE49-F238E27FC236}">
                <a16:creationId xmlns:a16="http://schemas.microsoft.com/office/drawing/2014/main" id="{01BC71B9-16D7-474D-8871-8E968BACF3B7}"/>
              </a:ext>
            </a:extLst>
          </p:cNvPr>
          <p:cNvGrpSpPr/>
          <p:nvPr/>
        </p:nvGrpSpPr>
        <p:grpSpPr>
          <a:xfrm>
            <a:off x="7208992" y="2487843"/>
            <a:ext cx="3320824" cy="785987"/>
            <a:chOff x="907208" y="5469671"/>
            <a:chExt cx="3320824" cy="78598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72F1942-C9A5-B94C-A47B-74B5EC64D3D9}"/>
                </a:ext>
              </a:extLst>
            </p:cNvPr>
            <p:cNvSpPr txBox="1"/>
            <p:nvPr/>
          </p:nvSpPr>
          <p:spPr>
            <a:xfrm>
              <a:off x="1159419" y="5469671"/>
              <a:ext cx="2740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Unvisited vertices’ queue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63C2634-65C6-A546-AB6A-DAE86B2DCCD5}"/>
                </a:ext>
              </a:extLst>
            </p:cNvPr>
            <p:cNvCxnSpPr/>
            <p:nvPr/>
          </p:nvCxnSpPr>
          <p:spPr>
            <a:xfrm>
              <a:off x="907208" y="5848510"/>
              <a:ext cx="3320824" cy="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F481DF52-2992-DD45-B2B3-6020EBCA3309}"/>
                </a:ext>
              </a:extLst>
            </p:cNvPr>
            <p:cNvSpPr txBox="1"/>
            <p:nvPr/>
          </p:nvSpPr>
          <p:spPr>
            <a:xfrm>
              <a:off x="2678678" y="5886326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      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338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1E92-3B51-5341-826D-97DA5EA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1B1B-009E-E946-9A93-0762F508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41" y="1550530"/>
            <a:ext cx="11479427" cy="5016842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F12503-72F2-2C48-8BF7-46F2CC128C12}"/>
              </a:ext>
            </a:extLst>
          </p:cNvPr>
          <p:cNvSpPr txBox="1"/>
          <p:nvPr/>
        </p:nvSpPr>
        <p:spPr>
          <a:xfrm>
            <a:off x="2993575" y="2212523"/>
            <a:ext cx="9145452" cy="452431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class </a:t>
            </a:r>
            <a:r>
              <a:rPr lang="en-US" b="1" dirty="0" err="1">
                <a:solidFill>
                  <a:schemeClr val="accent5"/>
                </a:solidFill>
                <a:latin typeface="Courier" pitchFamily="2" charset="0"/>
              </a:rPr>
              <a:t>DirectedBFS</a:t>
            </a:r>
            <a:r>
              <a:rPr lang="en-US" dirty="0">
                <a:latin typeface="Courier" pitchFamily="2" charset="0"/>
              </a:rPr>
              <a:t>:</a:t>
            </a:r>
          </a:p>
          <a:p>
            <a:r>
              <a:rPr lang="en-US" dirty="0">
                <a:latin typeface="Courier" pitchFamily="2" charset="0"/>
              </a:rPr>
              <a:t>    def __</a:t>
            </a:r>
            <a:r>
              <a:rPr lang="en-US" dirty="0" err="1">
                <a:latin typeface="Courier" pitchFamily="2" charset="0"/>
              </a:rPr>
              <a:t>init</a:t>
            </a:r>
            <a:r>
              <a:rPr lang="en-US" dirty="0">
                <a:latin typeface="Courier" pitchFamily="2" charset="0"/>
              </a:rPr>
              <a:t>__(self, G):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self.distToSource</a:t>
            </a:r>
            <a:r>
              <a:rPr lang="en-US" dirty="0">
                <a:latin typeface="Courier" pitchFamily="2" charset="0"/>
              </a:rPr>
              <a:t> = [-1 for v in range (0, G.V())]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self.edgeTo</a:t>
            </a:r>
            <a:r>
              <a:rPr lang="en-US" dirty="0">
                <a:latin typeface="Courier" pitchFamily="2" charset="0"/>
              </a:rPr>
              <a:t> = [-1 for v in range (0, G.V())]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</a:p>
          <a:p>
            <a:r>
              <a:rPr lang="en-US" dirty="0">
                <a:latin typeface="Courier" pitchFamily="2" charset="0"/>
              </a:rPr>
              <a:t>    def </a:t>
            </a:r>
            <a:r>
              <a:rPr lang="en-US" dirty="0" err="1">
                <a:latin typeface="Courier" pitchFamily="2" charset="0"/>
              </a:rPr>
              <a:t>bfs</a:t>
            </a:r>
            <a:r>
              <a:rPr lang="en-US" dirty="0">
                <a:latin typeface="Courier" pitchFamily="2" charset="0"/>
              </a:rPr>
              <a:t>(self, G, s):</a:t>
            </a:r>
          </a:p>
          <a:p>
            <a:r>
              <a:rPr lang="en-US" dirty="0">
                <a:latin typeface="Courier" pitchFamily="2" charset="0"/>
              </a:rPr>
              <a:t>        q = Queue()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q.enqueue</a:t>
            </a:r>
            <a:r>
              <a:rPr lang="en-US" dirty="0">
                <a:latin typeface="Courier" pitchFamily="2" charset="0"/>
              </a:rPr>
              <a:t>(s)</a:t>
            </a:r>
          </a:p>
          <a:p>
            <a:r>
              <a:rPr lang="en-US" dirty="0">
                <a:latin typeface="Courier" pitchFamily="2" charset="0"/>
              </a:rPr>
              <a:t>        </a:t>
            </a:r>
            <a:r>
              <a:rPr lang="en-US" dirty="0" err="1">
                <a:latin typeface="Courier" pitchFamily="2" charset="0"/>
              </a:rPr>
              <a:t>self.distToSource</a:t>
            </a:r>
            <a:r>
              <a:rPr lang="en-US" dirty="0">
                <a:latin typeface="Courier" pitchFamily="2" charset="0"/>
              </a:rPr>
              <a:t>[s] = 0</a:t>
            </a:r>
          </a:p>
          <a:p>
            <a:r>
              <a:rPr lang="en-US" dirty="0">
                <a:latin typeface="Courier" pitchFamily="2" charset="0"/>
              </a:rPr>
              <a:t>        while (!</a:t>
            </a:r>
            <a:r>
              <a:rPr lang="en-US" dirty="0" err="1">
                <a:latin typeface="Courier" pitchFamily="2" charset="0"/>
              </a:rPr>
              <a:t>q.isEmpty</a:t>
            </a:r>
            <a:r>
              <a:rPr lang="en-US" dirty="0">
                <a:latin typeface="Courier" pitchFamily="2" charset="0"/>
              </a:rPr>
              <a:t>()):</a:t>
            </a:r>
          </a:p>
          <a:p>
            <a:r>
              <a:rPr lang="en-US" dirty="0">
                <a:latin typeface="Courier" pitchFamily="2" charset="0"/>
              </a:rPr>
              <a:t>            v = </a:t>
            </a:r>
            <a:r>
              <a:rPr lang="en-US" dirty="0" err="1">
                <a:latin typeface="Courier" pitchFamily="2" charset="0"/>
              </a:rPr>
              <a:t>q.dequeue</a:t>
            </a:r>
            <a:r>
              <a:rPr lang="en-US" dirty="0">
                <a:latin typeface="Courier" pitchFamily="2" charset="0"/>
              </a:rPr>
              <a:t>()</a:t>
            </a:r>
          </a:p>
          <a:p>
            <a:r>
              <a:rPr lang="en-US" dirty="0">
                <a:latin typeface="Courier" pitchFamily="2" charset="0"/>
              </a:rPr>
              <a:t>            for w in </a:t>
            </a:r>
            <a:r>
              <a:rPr lang="en-US" dirty="0" err="1">
                <a:latin typeface="Courier" pitchFamily="2" charset="0"/>
              </a:rPr>
              <a:t>G.adj</a:t>
            </a:r>
            <a:r>
              <a:rPr lang="en-US" dirty="0">
                <a:latin typeface="Courier" pitchFamily="2" charset="0"/>
              </a:rPr>
              <a:t>(v):</a:t>
            </a:r>
          </a:p>
          <a:p>
            <a:r>
              <a:rPr lang="en-US" dirty="0">
                <a:latin typeface="Courier" pitchFamily="2" charset="0"/>
              </a:rPr>
              <a:t>                if (</a:t>
            </a:r>
            <a:r>
              <a:rPr lang="en-US" dirty="0" err="1">
                <a:latin typeface="Courier" pitchFamily="2" charset="0"/>
              </a:rPr>
              <a:t>self.distToSource</a:t>
            </a:r>
            <a:r>
              <a:rPr lang="en-US" dirty="0">
                <a:latin typeface="Courier" pitchFamily="2" charset="0"/>
              </a:rPr>
              <a:t>[w</a:t>
            </a:r>
            <a:r>
              <a:rPr lang="en-US">
                <a:latin typeface="Courier" pitchFamily="2" charset="0"/>
              </a:rPr>
              <a:t>] == </a:t>
            </a:r>
            <a:r>
              <a:rPr lang="en-US" dirty="0">
                <a:latin typeface="Courier" pitchFamily="2" charset="0"/>
              </a:rPr>
              <a:t>-1):</a:t>
            </a:r>
          </a:p>
          <a:p>
            <a:r>
              <a:rPr lang="en-US" dirty="0">
                <a:latin typeface="Courier" pitchFamily="2" charset="0"/>
              </a:rPr>
              <a:t>                    </a:t>
            </a:r>
            <a:r>
              <a:rPr lang="en-US" dirty="0" err="1">
                <a:latin typeface="Courier" pitchFamily="2" charset="0"/>
              </a:rPr>
              <a:t>q.enqueue</a:t>
            </a:r>
            <a:r>
              <a:rPr lang="en-US" dirty="0">
                <a:latin typeface="Courier" pitchFamily="2" charset="0"/>
              </a:rPr>
              <a:t>(w)</a:t>
            </a:r>
          </a:p>
          <a:p>
            <a:r>
              <a:rPr lang="en-US" dirty="0">
                <a:latin typeface="Courier" pitchFamily="2" charset="0"/>
              </a:rPr>
              <a:t>                    </a:t>
            </a:r>
            <a:r>
              <a:rPr lang="en-US" dirty="0" err="1">
                <a:latin typeface="Courier" pitchFamily="2" charset="0"/>
              </a:rPr>
              <a:t>self.distToSource</a:t>
            </a:r>
            <a:r>
              <a:rPr lang="en-US" dirty="0">
                <a:latin typeface="Courier" pitchFamily="2" charset="0"/>
              </a:rPr>
              <a:t>[w] = </a:t>
            </a:r>
            <a:r>
              <a:rPr lang="en-US" dirty="0" err="1">
                <a:latin typeface="Courier" pitchFamily="2" charset="0"/>
              </a:rPr>
              <a:t>self.distToSource</a:t>
            </a:r>
            <a:r>
              <a:rPr lang="en-US" dirty="0">
                <a:latin typeface="Courier" pitchFamily="2" charset="0"/>
              </a:rPr>
              <a:t>[v]+1</a:t>
            </a:r>
          </a:p>
          <a:p>
            <a:r>
              <a:rPr lang="en-US" dirty="0">
                <a:latin typeface="Courier" pitchFamily="2" charset="0"/>
              </a:rPr>
              <a:t>                    </a:t>
            </a:r>
            <a:r>
              <a:rPr lang="en-US" dirty="0" err="1">
                <a:latin typeface="Courier" pitchFamily="2" charset="0"/>
              </a:rPr>
              <a:t>self.edgeTo</a:t>
            </a:r>
            <a:r>
              <a:rPr lang="en-US" dirty="0">
                <a:latin typeface="Courier" pitchFamily="2" charset="0"/>
              </a:rPr>
              <a:t>[w]=v</a:t>
            </a:r>
          </a:p>
        </p:txBody>
      </p:sp>
      <p:grpSp>
        <p:nvGrpSpPr>
          <p:cNvPr id="107" name="Group 106" descr="arrows highlighting support data structures in pseudocode">
            <a:extLst>
              <a:ext uri="{FF2B5EF4-FFF2-40B4-BE49-F238E27FC236}">
                <a16:creationId xmlns:a16="http://schemas.microsoft.com/office/drawing/2014/main" id="{C98CD40D-8B86-ED4C-891B-4960351B65C9}"/>
              </a:ext>
            </a:extLst>
          </p:cNvPr>
          <p:cNvGrpSpPr/>
          <p:nvPr/>
        </p:nvGrpSpPr>
        <p:grpSpPr>
          <a:xfrm>
            <a:off x="-295368" y="2597597"/>
            <a:ext cx="4362755" cy="2303023"/>
            <a:chOff x="-117979" y="2919325"/>
            <a:chExt cx="4362755" cy="2303023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9781EE9-147F-B741-8EC2-B1A8918FF937}"/>
                </a:ext>
              </a:extLst>
            </p:cNvPr>
            <p:cNvSpPr txBox="1"/>
            <p:nvPr/>
          </p:nvSpPr>
          <p:spPr>
            <a:xfrm>
              <a:off x="68287" y="2919325"/>
              <a:ext cx="30187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support data structure to mark visited vertices and store their (minimum) distance to 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90E6594-D5F4-9B47-853D-183D9BA897C8}"/>
                </a:ext>
              </a:extLst>
            </p:cNvPr>
            <p:cNvSpPr txBox="1"/>
            <p:nvPr/>
          </p:nvSpPr>
          <p:spPr>
            <a:xfrm>
              <a:off x="-117979" y="3898909"/>
              <a:ext cx="31610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support data structure to remember reverse path (e.g., 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edgeTo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[w]=v means that 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1600" dirty="0" err="1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rPr>
                <a:t>w</a:t>
              </a:r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was taken to visit w for the first time)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461500A-674D-3747-8813-37F07AE62D57}"/>
                </a:ext>
              </a:extLst>
            </p:cNvPr>
            <p:cNvCxnSpPr>
              <a:cxnSpLocks/>
            </p:cNvCxnSpPr>
            <p:nvPr/>
          </p:nvCxnSpPr>
          <p:spPr>
            <a:xfrm>
              <a:off x="3086996" y="3296378"/>
              <a:ext cx="1157780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426E07C-58DF-BB45-82C2-C58F6EC8F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3063" y="3606523"/>
              <a:ext cx="1201713" cy="45938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arrows highlighting the fact that G is now a digraph type, not graph (only change)">
            <a:extLst>
              <a:ext uri="{FF2B5EF4-FFF2-40B4-BE49-F238E27FC236}">
                <a16:creationId xmlns:a16="http://schemas.microsoft.com/office/drawing/2014/main" id="{47D05238-14DF-6341-9693-6D0C9CB5E3FB}"/>
              </a:ext>
            </a:extLst>
          </p:cNvPr>
          <p:cNvGrpSpPr/>
          <p:nvPr/>
        </p:nvGrpSpPr>
        <p:grpSpPr>
          <a:xfrm>
            <a:off x="5791200" y="1550530"/>
            <a:ext cx="4156737" cy="2026651"/>
            <a:chOff x="6096000" y="1550530"/>
            <a:chExt cx="4156737" cy="202665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7D9246-1358-0747-A3E4-0B373F485E23}"/>
                </a:ext>
              </a:extLst>
            </p:cNvPr>
            <p:cNvSpPr txBox="1"/>
            <p:nvPr/>
          </p:nvSpPr>
          <p:spPr>
            <a:xfrm>
              <a:off x="8475435" y="1550530"/>
              <a:ext cx="1777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 is a digraph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6F8BB2-6FE3-114B-A09A-C2D3E99F12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3811" y="1928813"/>
              <a:ext cx="2389884" cy="67471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D8D99AA-6F92-3C4D-8248-05067BD63E56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6096000" y="1889084"/>
              <a:ext cx="3268086" cy="1688097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3207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Search applications on digraphs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 control-flow analyses</a:t>
            </a:r>
          </a:p>
          <a:p>
            <a:pPr lvl="1"/>
            <a:r>
              <a:rPr lang="en-US" dirty="0"/>
              <a:t>Program = digraph (vertex: basic block of instructions; edge: jump)</a:t>
            </a:r>
          </a:p>
          <a:p>
            <a:pPr lvl="1"/>
            <a:r>
              <a:rPr lang="en-US" dirty="0"/>
              <a:t>Dead-code elimination (find and remove </a:t>
            </a:r>
            <a:r>
              <a:rPr lang="en-US" dirty="0">
                <a:highlight>
                  <a:srgbClr val="C0C0C0"/>
                </a:highlight>
              </a:rPr>
              <a:t>unreachable</a:t>
            </a:r>
            <a:r>
              <a:rPr lang="en-US" dirty="0"/>
              <a:t> code)</a:t>
            </a:r>
          </a:p>
          <a:p>
            <a:pPr lvl="2"/>
            <a:endParaRPr lang="en-US" dirty="0"/>
          </a:p>
          <a:p>
            <a:r>
              <a:rPr lang="en-US" dirty="0"/>
              <a:t>Garbage-collection</a:t>
            </a:r>
          </a:p>
          <a:p>
            <a:pPr lvl="1"/>
            <a:r>
              <a:rPr lang="en-US" dirty="0"/>
              <a:t>Data structure = digraph (vertex: run-time object; edge: reference to it)</a:t>
            </a:r>
          </a:p>
          <a:p>
            <a:pPr lvl="1"/>
            <a:r>
              <a:rPr lang="en-US" dirty="0"/>
              <a:t>Mark &amp; sweep (find all </a:t>
            </a:r>
            <a:r>
              <a:rPr lang="en-US" dirty="0">
                <a:highlight>
                  <a:srgbClr val="C0C0C0"/>
                </a:highlight>
              </a:rPr>
              <a:t>reachable</a:t>
            </a:r>
            <a:r>
              <a:rPr lang="en-US" dirty="0"/>
              <a:t> objects; those unmarked are garbage and added to release list)</a:t>
            </a:r>
          </a:p>
          <a:p>
            <a:pPr lvl="2"/>
            <a:endParaRPr lang="en-US" dirty="0"/>
          </a:p>
          <a:p>
            <a:r>
              <a:rPr lang="en-US" dirty="0"/>
              <a:t>Web crawling</a:t>
            </a:r>
          </a:p>
          <a:p>
            <a:pPr lvl="1"/>
            <a:r>
              <a:rPr lang="en-US" dirty="0"/>
              <a:t>Web = digraph (vertex: page, edge: hyperlink)</a:t>
            </a:r>
          </a:p>
          <a:p>
            <a:pPr lvl="1"/>
            <a:r>
              <a:rPr lang="en-US" dirty="0"/>
              <a:t>Start from webpage to be crawled &amp; </a:t>
            </a:r>
            <a:r>
              <a:rPr lang="en-US" b="1" dirty="0">
                <a:solidFill>
                  <a:schemeClr val="accent5"/>
                </a:solidFill>
              </a:rPr>
              <a:t>visit BFS </a:t>
            </a:r>
            <a:r>
              <a:rPr lang="en-US" dirty="0"/>
              <a:t>(output add discovered websites to output set)</a:t>
            </a:r>
          </a:p>
        </p:txBody>
      </p:sp>
    </p:spTree>
    <p:extLst>
      <p:ext uri="{BB962C8B-B14F-4D97-AF65-F5344CB8AC3E}">
        <p14:creationId xmlns:p14="http://schemas.microsoft.com/office/powerpoint/2010/main" val="31571050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Search </a:t>
            </a:r>
          </a:p>
          <a:p>
            <a:pPr lvl="1"/>
            <a:r>
              <a:rPr lang="en-US" dirty="0"/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4265716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/>
              <a:t>Search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1972949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2732-4F87-4049-B379-3C8FBD90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786C-74D8-674C-9104-2112B32FB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Challenge</a:t>
            </a:r>
            <a:r>
              <a:rPr lang="en-US" dirty="0"/>
              <a:t>. Given a directed </a:t>
            </a:r>
            <a:r>
              <a:rPr lang="en-US" b="1" dirty="0">
                <a:solidFill>
                  <a:schemeClr val="accent5"/>
                </a:solidFill>
              </a:rPr>
              <a:t>acyclic</a:t>
            </a:r>
            <a:r>
              <a:rPr lang="en-US" dirty="0"/>
              <a:t> graph (DAG), redraw it so that all edges point upwards.</a:t>
            </a:r>
          </a:p>
        </p:txBody>
      </p:sp>
      <p:grpSp>
        <p:nvGrpSpPr>
          <p:cNvPr id="70" name="Group 69" descr="example of a DAG">
            <a:extLst>
              <a:ext uri="{FF2B5EF4-FFF2-40B4-BE49-F238E27FC236}">
                <a16:creationId xmlns:a16="http://schemas.microsoft.com/office/drawing/2014/main" id="{A62B9658-880E-434E-BCF4-ED6EE999D972}"/>
              </a:ext>
            </a:extLst>
          </p:cNvPr>
          <p:cNvGrpSpPr/>
          <p:nvPr/>
        </p:nvGrpSpPr>
        <p:grpSpPr>
          <a:xfrm>
            <a:off x="1870292" y="3026655"/>
            <a:ext cx="2708578" cy="2974870"/>
            <a:chOff x="956205" y="3302000"/>
            <a:chExt cx="2708578" cy="297487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492B76-6417-2543-9216-F8E690353B34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00D4EC7-0360-A54B-9CB0-C78C0D8F4928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60E7236-4D97-164B-8CEC-C9C9B92E063B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DA79C79-67BE-B444-8CA2-4FECA5BBB62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2E6F12A-FB3E-C242-9EDB-3D678DE07AC2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F5865EE-BE71-F049-A242-470C5D85B5CE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D595C25-DCA3-C241-ABC8-D3C07DDB55E0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FE12E02-C4C5-9A4D-B5F1-E095AFE9016F}"/>
                </a:ext>
              </a:extLst>
            </p:cNvPr>
            <p:cNvCxnSpPr>
              <a:stCxn id="22" idx="0"/>
              <a:endCxn id="21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81A162D-7259-774B-A631-EC629A391E3B}"/>
                </a:ext>
              </a:extLst>
            </p:cNvPr>
            <p:cNvCxnSpPr>
              <a:cxnSpLocks/>
              <a:stCxn id="22" idx="6"/>
              <a:endCxn id="26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C89DEF0-0B5E-5A42-95EC-D42D1A19C835}"/>
                </a:ext>
              </a:extLst>
            </p:cNvPr>
            <p:cNvCxnSpPr>
              <a:cxnSpLocks/>
              <a:stCxn id="21" idx="5"/>
              <a:endCxn id="23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6F0723F-A468-C74B-B633-869D5A2B5B7D}"/>
                </a:ext>
              </a:extLst>
            </p:cNvPr>
            <p:cNvCxnSpPr>
              <a:cxnSpLocks/>
              <a:stCxn id="21" idx="6"/>
              <a:endCxn id="24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D7A6BDD-6796-9942-8FCC-FF121CADBA19}"/>
                </a:ext>
              </a:extLst>
            </p:cNvPr>
            <p:cNvCxnSpPr>
              <a:cxnSpLocks/>
              <a:stCxn id="21" idx="7"/>
              <a:endCxn id="25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52A6341-E32E-094D-A664-2095C8CAC1D3}"/>
                </a:ext>
              </a:extLst>
            </p:cNvPr>
            <p:cNvCxnSpPr>
              <a:cxnSpLocks/>
              <a:stCxn id="25" idx="4"/>
              <a:endCxn id="26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B300DE6-0E04-6248-807E-E9507022C50D}"/>
                </a:ext>
              </a:extLst>
            </p:cNvPr>
            <p:cNvCxnSpPr>
              <a:cxnSpLocks/>
              <a:stCxn id="24" idx="2"/>
              <a:endCxn id="23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AD742DA-5CBB-AB4D-91DF-719B98877C43}"/>
                </a:ext>
              </a:extLst>
            </p:cNvPr>
            <p:cNvCxnSpPr>
              <a:cxnSpLocks/>
              <a:stCxn id="27" idx="7"/>
              <a:endCxn id="24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8BCDD98-1F4C-0E42-A0F8-BB849E5441F8}"/>
                </a:ext>
              </a:extLst>
            </p:cNvPr>
            <p:cNvCxnSpPr>
              <a:cxnSpLocks/>
              <a:stCxn id="27" idx="1"/>
              <a:endCxn id="23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92DF466-75EB-664B-A402-D88F80A05068}"/>
                </a:ext>
              </a:extLst>
            </p:cNvPr>
            <p:cNvCxnSpPr>
              <a:cxnSpLocks/>
              <a:stCxn id="27" idx="3"/>
              <a:endCxn id="22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CE4F67C-03E9-5341-AB11-A596325AD09A}"/>
                </a:ext>
              </a:extLst>
            </p:cNvPr>
            <p:cNvCxnSpPr>
              <a:cxnSpLocks/>
              <a:stCxn id="27" idx="6"/>
              <a:endCxn id="26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495B0AC-0EC2-0D4B-BD94-BB9EEBE4667B}"/>
                </a:ext>
              </a:extLst>
            </p:cNvPr>
            <p:cNvSpPr txBox="1"/>
            <p:nvPr/>
          </p:nvSpPr>
          <p:spPr>
            <a:xfrm>
              <a:off x="1808869" y="5907538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DAG</a:t>
              </a:r>
            </a:p>
          </p:txBody>
        </p:sp>
      </p:grpSp>
      <p:grpSp>
        <p:nvGrpSpPr>
          <p:cNvPr id="144" name="Group 143" descr="topological order of the example DAG">
            <a:extLst>
              <a:ext uri="{FF2B5EF4-FFF2-40B4-BE49-F238E27FC236}">
                <a16:creationId xmlns:a16="http://schemas.microsoft.com/office/drawing/2014/main" id="{D3464826-31D6-D643-99D5-0220E04A8E4B}"/>
              </a:ext>
            </a:extLst>
          </p:cNvPr>
          <p:cNvGrpSpPr/>
          <p:nvPr/>
        </p:nvGrpSpPr>
        <p:grpSpPr>
          <a:xfrm>
            <a:off x="6873274" y="2289072"/>
            <a:ext cx="1992918" cy="4568928"/>
            <a:chOff x="7900943" y="2177176"/>
            <a:chExt cx="1992918" cy="4568928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17F1E74-43EF-BD47-B9BC-AE2DF8AE86CC}"/>
                </a:ext>
              </a:extLst>
            </p:cNvPr>
            <p:cNvSpPr/>
            <p:nvPr/>
          </p:nvSpPr>
          <p:spPr>
            <a:xfrm>
              <a:off x="8640800" y="441656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39DC105-239B-DF47-AEA9-5E0E120E64C2}"/>
                </a:ext>
              </a:extLst>
            </p:cNvPr>
            <p:cNvSpPr/>
            <p:nvPr/>
          </p:nvSpPr>
          <p:spPr>
            <a:xfrm>
              <a:off x="8640800" y="541485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AE8A034-B9CE-D24C-B51A-6D0D28E9A55B}"/>
                </a:ext>
              </a:extLst>
            </p:cNvPr>
            <p:cNvSpPr/>
            <p:nvPr/>
          </p:nvSpPr>
          <p:spPr>
            <a:xfrm>
              <a:off x="8640800" y="329967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04E6C06-598C-3B4D-A13D-B633FC54CB62}"/>
                </a:ext>
              </a:extLst>
            </p:cNvPr>
            <p:cNvSpPr/>
            <p:nvPr/>
          </p:nvSpPr>
          <p:spPr>
            <a:xfrm>
              <a:off x="8640800" y="38711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F3440B5-B682-8645-9EAD-F200560A2D1C}"/>
                </a:ext>
              </a:extLst>
            </p:cNvPr>
            <p:cNvSpPr/>
            <p:nvPr/>
          </p:nvSpPr>
          <p:spPr>
            <a:xfrm>
              <a:off x="8640800" y="272571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A2D3397-E783-F445-AFD5-778172930395}"/>
                </a:ext>
              </a:extLst>
            </p:cNvPr>
            <p:cNvSpPr/>
            <p:nvPr/>
          </p:nvSpPr>
          <p:spPr>
            <a:xfrm>
              <a:off x="8640800" y="21771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4A51200-2179-3D43-A6C9-F857507EF291}"/>
                </a:ext>
              </a:extLst>
            </p:cNvPr>
            <p:cNvSpPr/>
            <p:nvPr/>
          </p:nvSpPr>
          <p:spPr>
            <a:xfrm>
              <a:off x="8640800" y="592738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A5ABF01-DBD9-C44D-86E7-33FF362C214D}"/>
                </a:ext>
              </a:extLst>
            </p:cNvPr>
            <p:cNvSpPr txBox="1"/>
            <p:nvPr/>
          </p:nvSpPr>
          <p:spPr>
            <a:xfrm>
              <a:off x="7900943" y="6376772"/>
              <a:ext cx="19929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Topological Order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5D1FB603-0D9A-1347-9F07-D47EE336237F}"/>
                </a:ext>
              </a:extLst>
            </p:cNvPr>
            <p:cNvCxnSpPr>
              <a:stCxn id="78" idx="0"/>
              <a:endCxn id="73" idx="4"/>
            </p:cNvCxnSpPr>
            <p:nvPr/>
          </p:nvCxnSpPr>
          <p:spPr>
            <a:xfrm flipV="1">
              <a:off x="8833681" y="5814905"/>
              <a:ext cx="0" cy="11247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056E9A1-4F9E-0B45-A8A5-946EE9121566}"/>
                </a:ext>
              </a:extLst>
            </p:cNvPr>
            <p:cNvCxnSpPr>
              <a:cxnSpLocks/>
              <a:stCxn id="73" idx="0"/>
              <a:endCxn id="72" idx="4"/>
            </p:cNvCxnSpPr>
            <p:nvPr/>
          </p:nvCxnSpPr>
          <p:spPr>
            <a:xfrm flipV="1">
              <a:off x="8833681" y="4816610"/>
              <a:ext cx="0" cy="59824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16CDD1BF-C0B0-6042-9C1E-C0941CB7DD3E}"/>
                </a:ext>
              </a:extLst>
            </p:cNvPr>
            <p:cNvCxnSpPr>
              <a:cxnSpLocks/>
              <a:stCxn id="72" idx="0"/>
              <a:endCxn id="75" idx="4"/>
            </p:cNvCxnSpPr>
            <p:nvPr/>
          </p:nvCxnSpPr>
          <p:spPr>
            <a:xfrm flipV="1">
              <a:off x="8833681" y="4271211"/>
              <a:ext cx="0" cy="14534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A0465DE-DB61-0549-8FFF-02A8B50C5530}"/>
                </a:ext>
              </a:extLst>
            </p:cNvPr>
            <p:cNvCxnSpPr>
              <a:cxnSpLocks/>
              <a:stCxn id="75" idx="0"/>
              <a:endCxn id="74" idx="4"/>
            </p:cNvCxnSpPr>
            <p:nvPr/>
          </p:nvCxnSpPr>
          <p:spPr>
            <a:xfrm flipV="1">
              <a:off x="8833681" y="3699721"/>
              <a:ext cx="0" cy="17144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42C21D2-DD82-5245-963C-471565AF5CF0}"/>
                </a:ext>
              </a:extLst>
            </p:cNvPr>
            <p:cNvCxnSpPr>
              <a:cxnSpLocks/>
              <a:stCxn id="76" idx="0"/>
              <a:endCxn id="77" idx="4"/>
            </p:cNvCxnSpPr>
            <p:nvPr/>
          </p:nvCxnSpPr>
          <p:spPr>
            <a:xfrm flipV="1">
              <a:off x="8833681" y="2577226"/>
              <a:ext cx="0" cy="14849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urved Connector 116">
              <a:extLst>
                <a:ext uri="{FF2B5EF4-FFF2-40B4-BE49-F238E27FC236}">
                  <a16:creationId xmlns:a16="http://schemas.microsoft.com/office/drawing/2014/main" id="{DB94BA07-BF9C-1442-8FC7-E1CC26287A9B}"/>
                </a:ext>
              </a:extLst>
            </p:cNvPr>
            <p:cNvCxnSpPr>
              <a:cxnSpLocks/>
              <a:stCxn id="73" idx="2"/>
              <a:endCxn id="77" idx="2"/>
            </p:cNvCxnSpPr>
            <p:nvPr/>
          </p:nvCxnSpPr>
          <p:spPr>
            <a:xfrm rot="10800000">
              <a:off x="8640800" y="2377202"/>
              <a:ext cx="12700" cy="3237679"/>
            </a:xfrm>
            <a:prstGeom prst="curvedConnector3">
              <a:avLst>
                <a:gd name="adj1" fmla="val 63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urved Connector 119">
              <a:extLst>
                <a:ext uri="{FF2B5EF4-FFF2-40B4-BE49-F238E27FC236}">
                  <a16:creationId xmlns:a16="http://schemas.microsoft.com/office/drawing/2014/main" id="{13EE6DC9-94E8-0447-97A7-192683C841B0}"/>
                </a:ext>
              </a:extLst>
            </p:cNvPr>
            <p:cNvCxnSpPr>
              <a:cxnSpLocks/>
              <a:stCxn id="72" idx="2"/>
              <a:endCxn id="76" idx="2"/>
            </p:cNvCxnSpPr>
            <p:nvPr/>
          </p:nvCxnSpPr>
          <p:spPr>
            <a:xfrm rot="10800000">
              <a:off x="8640800" y="2925743"/>
              <a:ext cx="12700" cy="1690843"/>
            </a:xfrm>
            <a:prstGeom prst="curvedConnector3">
              <a:avLst>
                <a:gd name="adj1" fmla="val 49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urved Connector 123">
              <a:extLst>
                <a:ext uri="{FF2B5EF4-FFF2-40B4-BE49-F238E27FC236}">
                  <a16:creationId xmlns:a16="http://schemas.microsoft.com/office/drawing/2014/main" id="{FD89293F-75E3-BA48-A790-8ECFBBC52066}"/>
                </a:ext>
              </a:extLst>
            </p:cNvPr>
            <p:cNvCxnSpPr>
              <a:cxnSpLocks/>
              <a:stCxn id="72" idx="2"/>
              <a:endCxn id="74" idx="2"/>
            </p:cNvCxnSpPr>
            <p:nvPr/>
          </p:nvCxnSpPr>
          <p:spPr>
            <a:xfrm rot="10800000">
              <a:off x="8640800" y="3499697"/>
              <a:ext cx="12700" cy="1116889"/>
            </a:xfrm>
            <a:prstGeom prst="curvedConnector3">
              <a:avLst>
                <a:gd name="adj1" fmla="val 24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urved Connector 129">
              <a:extLst>
                <a:ext uri="{FF2B5EF4-FFF2-40B4-BE49-F238E27FC236}">
                  <a16:creationId xmlns:a16="http://schemas.microsoft.com/office/drawing/2014/main" id="{BB3D3BFD-B61F-B44B-8875-70787680BAB2}"/>
                </a:ext>
              </a:extLst>
            </p:cNvPr>
            <p:cNvCxnSpPr>
              <a:cxnSpLocks/>
              <a:stCxn id="78" idx="6"/>
              <a:endCxn id="77" idx="6"/>
            </p:cNvCxnSpPr>
            <p:nvPr/>
          </p:nvCxnSpPr>
          <p:spPr>
            <a:xfrm flipV="1">
              <a:off x="9026562" y="2377201"/>
              <a:ext cx="12700" cy="3750207"/>
            </a:xfrm>
            <a:prstGeom prst="curvedConnector3">
              <a:avLst>
                <a:gd name="adj1" fmla="val 145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urved Connector 133">
              <a:extLst>
                <a:ext uri="{FF2B5EF4-FFF2-40B4-BE49-F238E27FC236}">
                  <a16:creationId xmlns:a16="http://schemas.microsoft.com/office/drawing/2014/main" id="{52CF9848-C72F-0F45-A9DF-8BABA92D6750}"/>
                </a:ext>
              </a:extLst>
            </p:cNvPr>
            <p:cNvCxnSpPr>
              <a:cxnSpLocks/>
              <a:stCxn id="78" idx="6"/>
              <a:endCxn id="74" idx="6"/>
            </p:cNvCxnSpPr>
            <p:nvPr/>
          </p:nvCxnSpPr>
          <p:spPr>
            <a:xfrm flipV="1">
              <a:off x="9026562" y="3499696"/>
              <a:ext cx="12700" cy="2627712"/>
            </a:xfrm>
            <a:prstGeom prst="curvedConnector3">
              <a:avLst>
                <a:gd name="adj1" fmla="val 91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urved Connector 139">
              <a:extLst>
                <a:ext uri="{FF2B5EF4-FFF2-40B4-BE49-F238E27FC236}">
                  <a16:creationId xmlns:a16="http://schemas.microsoft.com/office/drawing/2014/main" id="{A205E37C-67C9-A344-8662-059FBA51552C}"/>
                </a:ext>
              </a:extLst>
            </p:cNvPr>
            <p:cNvCxnSpPr>
              <a:cxnSpLocks/>
              <a:stCxn id="78" idx="6"/>
              <a:endCxn id="75" idx="6"/>
            </p:cNvCxnSpPr>
            <p:nvPr/>
          </p:nvCxnSpPr>
          <p:spPr>
            <a:xfrm flipV="1">
              <a:off x="9026562" y="4071186"/>
              <a:ext cx="12700" cy="2056222"/>
            </a:xfrm>
            <a:prstGeom prst="curvedConnector3">
              <a:avLst>
                <a:gd name="adj1" fmla="val 4700000"/>
              </a:avLst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59572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2FC2-E12E-6C4E-80F9-21ED891C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25314-E516-5341-B0C1-FD88701A9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Precedence scheduling</a:t>
            </a:r>
            <a:r>
              <a:rPr lang="en-US" dirty="0"/>
              <a:t>. Given a set of tasks to be completed with precedence constraints, in which order should we schedule the tasks?</a:t>
            </a:r>
          </a:p>
          <a:p>
            <a:endParaRPr lang="en-US" dirty="0"/>
          </a:p>
          <a:p>
            <a:r>
              <a:rPr lang="en-US" dirty="0"/>
              <a:t>Digraph Model</a:t>
            </a:r>
          </a:p>
          <a:p>
            <a:pPr lvl="1"/>
            <a:r>
              <a:rPr lang="en-US" dirty="0"/>
              <a:t>Vertex = task</a:t>
            </a:r>
          </a:p>
          <a:p>
            <a:pPr lvl="1"/>
            <a:r>
              <a:rPr lang="en-US" dirty="0"/>
              <a:t>Directed edge = precedence constraints</a:t>
            </a:r>
          </a:p>
          <a:p>
            <a:pPr lvl="1"/>
            <a:endParaRPr lang="en-US" dirty="0"/>
          </a:p>
          <a:p>
            <a:r>
              <a:rPr lang="en-US" dirty="0"/>
              <a:t>Notes</a:t>
            </a:r>
          </a:p>
          <a:p>
            <a:pPr lvl="1"/>
            <a:r>
              <a:rPr lang="en-US" dirty="0"/>
              <a:t>A topological ordering is possible if-and-only-if the graph is a DAG</a:t>
            </a:r>
          </a:p>
          <a:p>
            <a:pPr lvl="1"/>
            <a:r>
              <a:rPr lang="en-US" dirty="0"/>
              <a:t>Any DAG has at least one topological ordering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950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E487-66EE-3A42-BF73-E4BAF4F7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9204-C0C1-E940-87D5-D56FCE555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Check the graph is a DAG</a:t>
            </a:r>
          </a:p>
          <a:p>
            <a:pPr lvl="1"/>
            <a:r>
              <a:rPr lang="en-US" dirty="0"/>
              <a:t>Run depth-first search</a:t>
            </a:r>
          </a:p>
          <a:p>
            <a:pPr lvl="1"/>
            <a:r>
              <a:rPr lang="en-US" dirty="0"/>
              <a:t>Return vertices in </a:t>
            </a:r>
            <a:r>
              <a:rPr lang="en-US" b="1" dirty="0">
                <a:solidFill>
                  <a:schemeClr val="accent5"/>
                </a:solidFill>
              </a:rPr>
              <a:t>reverse post-order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8657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02106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567334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33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31854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94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770850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747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956793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750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783270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989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34507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715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992313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0839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457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3764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06241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524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764423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173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067686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2810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704534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4970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10542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/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264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98109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037617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601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943171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08813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3829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CF88-0A57-BA4B-A3B2-1F7F77AD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34AB-C453-D94C-BCB7-8F73F6CF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Demo</a:t>
            </a:r>
            <a:r>
              <a:rPr lang="en-US" dirty="0"/>
              <a:t>.</a:t>
            </a:r>
          </a:p>
        </p:txBody>
      </p:sp>
      <p:grpSp>
        <p:nvGrpSpPr>
          <p:cNvPr id="4" name="Group 3" descr="example of a DAG">
            <a:extLst>
              <a:ext uri="{FF2B5EF4-FFF2-40B4-BE49-F238E27FC236}">
                <a16:creationId xmlns:a16="http://schemas.microsoft.com/office/drawing/2014/main" id="{3A92AA15-3918-F64B-A84B-D8F62CC43797}"/>
              </a:ext>
            </a:extLst>
          </p:cNvPr>
          <p:cNvGrpSpPr/>
          <p:nvPr/>
        </p:nvGrpSpPr>
        <p:grpSpPr>
          <a:xfrm>
            <a:off x="806966" y="2554566"/>
            <a:ext cx="2708578" cy="2459187"/>
            <a:chOff x="956205" y="3302000"/>
            <a:chExt cx="2708578" cy="24591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FEBFAD-635E-F94B-9A1D-51F663212511}"/>
                </a:ext>
              </a:extLst>
            </p:cNvPr>
            <p:cNvSpPr/>
            <p:nvPr/>
          </p:nvSpPr>
          <p:spPr>
            <a:xfrm>
              <a:off x="956205" y="330200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1F926A-68D8-3E43-A9A1-01BB9BD093DF}"/>
                </a:ext>
              </a:extLst>
            </p:cNvPr>
            <p:cNvSpPr/>
            <p:nvPr/>
          </p:nvSpPr>
          <p:spPr>
            <a:xfrm>
              <a:off x="956205" y="536113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DA778B-5E9A-3946-AB12-CBC546186E7E}"/>
                </a:ext>
              </a:extLst>
            </p:cNvPr>
            <p:cNvSpPr/>
            <p:nvPr/>
          </p:nvSpPr>
          <p:spPr>
            <a:xfrm>
              <a:off x="1544954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5256C2-091C-F243-9CAC-E622B6F4AD09}"/>
                </a:ext>
              </a:extLst>
            </p:cNvPr>
            <p:cNvSpPr/>
            <p:nvPr/>
          </p:nvSpPr>
          <p:spPr>
            <a:xfrm>
              <a:off x="2371826" y="398304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0CF22B-7A6E-234F-B17B-A1D52695D9B6}"/>
                </a:ext>
              </a:extLst>
            </p:cNvPr>
            <p:cNvSpPr/>
            <p:nvPr/>
          </p:nvSpPr>
          <p:spPr>
            <a:xfrm>
              <a:off x="3279021" y="399255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171F0BA-A576-614D-94DC-D3445C32C408}"/>
                </a:ext>
              </a:extLst>
            </p:cNvPr>
            <p:cNvSpPr/>
            <p:nvPr/>
          </p:nvSpPr>
          <p:spPr>
            <a:xfrm>
              <a:off x="2794435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6CD5210-F0BB-AF40-860E-68CB231BF943}"/>
                </a:ext>
              </a:extLst>
            </p:cNvPr>
            <p:cNvSpPr/>
            <p:nvPr/>
          </p:nvSpPr>
          <p:spPr>
            <a:xfrm>
              <a:off x="1943491" y="471182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9135812-7CB6-2E46-9B61-021FE4A67A54}"/>
                </a:ext>
              </a:extLst>
            </p:cNvPr>
            <p:cNvCxnSpPr>
              <a:stCxn id="6" idx="0"/>
              <a:endCxn id="5" idx="4"/>
            </p:cNvCxnSpPr>
            <p:nvPr/>
          </p:nvCxnSpPr>
          <p:spPr>
            <a:xfrm flipV="1">
              <a:off x="1149086" y="3702050"/>
              <a:ext cx="0" cy="165908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C1567E7-7EC3-1D47-943D-74D8F8EAF338}"/>
                </a:ext>
              </a:extLst>
            </p:cNvPr>
            <p:cNvCxnSpPr>
              <a:cxnSpLocks/>
              <a:stCxn id="6" idx="6"/>
              <a:endCxn id="10" idx="4"/>
            </p:cNvCxnSpPr>
            <p:nvPr/>
          </p:nvCxnSpPr>
          <p:spPr>
            <a:xfrm flipV="1">
              <a:off x="1341967" y="5111879"/>
              <a:ext cx="1645349" cy="44928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607602F-DCAA-3A43-AA93-B446E3D3020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1285473" y="3643464"/>
              <a:ext cx="315975" cy="40767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580CF6-3051-1B48-A3DF-E7D1327545B6}"/>
                </a:ext>
              </a:extLst>
            </p:cNvPr>
            <p:cNvCxnSpPr>
              <a:cxnSpLocks/>
              <a:stCxn id="5" idx="6"/>
              <a:endCxn id="8" idx="1"/>
            </p:cNvCxnSpPr>
            <p:nvPr/>
          </p:nvCxnSpPr>
          <p:spPr>
            <a:xfrm>
              <a:off x="1341967" y="3502025"/>
              <a:ext cx="1086353" cy="53960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D29485-1A6B-A946-8A8A-BB2560C14302}"/>
                </a:ext>
              </a:extLst>
            </p:cNvPr>
            <p:cNvCxnSpPr>
              <a:cxnSpLocks/>
              <a:stCxn id="5" idx="7"/>
              <a:endCxn id="9" idx="1"/>
            </p:cNvCxnSpPr>
            <p:nvPr/>
          </p:nvCxnSpPr>
          <p:spPr>
            <a:xfrm>
              <a:off x="1285473" y="3360586"/>
              <a:ext cx="2050042" cy="69055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B4C6AE4-0438-3645-84D2-1BC8CA91E8E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3123703" y="4392603"/>
              <a:ext cx="348199" cy="37781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0BEED3E-F997-A447-A63D-CE4381DBCAB2}"/>
                </a:ext>
              </a:extLst>
            </p:cNvPr>
            <p:cNvCxnSpPr>
              <a:cxnSpLocks/>
              <a:stCxn id="8" idx="2"/>
              <a:endCxn id="7" idx="6"/>
            </p:cNvCxnSpPr>
            <p:nvPr/>
          </p:nvCxnSpPr>
          <p:spPr>
            <a:xfrm flipH="1">
              <a:off x="1930716" y="4183071"/>
              <a:ext cx="441110" cy="950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E93808B-8FB6-2942-AC0C-F3A03D8C175B}"/>
                </a:ext>
              </a:extLst>
            </p:cNvPr>
            <p:cNvCxnSpPr>
              <a:cxnSpLocks/>
              <a:stCxn id="11" idx="7"/>
              <a:endCxn id="8" idx="4"/>
            </p:cNvCxnSpPr>
            <p:nvPr/>
          </p:nvCxnSpPr>
          <p:spPr>
            <a:xfrm flipV="1">
              <a:off x="2272759" y="4383096"/>
              <a:ext cx="291948" cy="38731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2D5B0F1-197B-DA4C-8096-543E4310ACFD}"/>
                </a:ext>
              </a:extLst>
            </p:cNvPr>
            <p:cNvCxnSpPr>
              <a:cxnSpLocks/>
              <a:stCxn id="11" idx="1"/>
              <a:endCxn id="7" idx="5"/>
            </p:cNvCxnSpPr>
            <p:nvPr/>
          </p:nvCxnSpPr>
          <p:spPr>
            <a:xfrm flipH="1" flipV="1">
              <a:off x="1874222" y="4334017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68386D-8039-C140-9BC1-9D2296345B8E}"/>
                </a:ext>
              </a:extLst>
            </p:cNvPr>
            <p:cNvCxnSpPr>
              <a:cxnSpLocks/>
              <a:stCxn id="11" idx="3"/>
              <a:endCxn id="6" idx="7"/>
            </p:cNvCxnSpPr>
            <p:nvPr/>
          </p:nvCxnSpPr>
          <p:spPr>
            <a:xfrm flipH="1">
              <a:off x="1285473" y="5053293"/>
              <a:ext cx="714512" cy="36643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F52012-8CDA-2446-BEF7-33EFE2586B6E}"/>
                </a:ext>
              </a:extLst>
            </p:cNvPr>
            <p:cNvCxnSpPr>
              <a:cxnSpLocks/>
              <a:stCxn id="11" idx="6"/>
              <a:endCxn id="10" idx="2"/>
            </p:cNvCxnSpPr>
            <p:nvPr/>
          </p:nvCxnSpPr>
          <p:spPr>
            <a:xfrm>
              <a:off x="2329253" y="4911854"/>
              <a:ext cx="465182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 descr="computer representation of a DAG">
            <a:extLst>
              <a:ext uri="{FF2B5EF4-FFF2-40B4-BE49-F238E27FC236}">
                <a16:creationId xmlns:a16="http://schemas.microsoft.com/office/drawing/2014/main" id="{257ED4F3-875F-584D-9E17-0E6543F786F4}"/>
              </a:ext>
            </a:extLst>
          </p:cNvPr>
          <p:cNvGrpSpPr/>
          <p:nvPr/>
        </p:nvGrpSpPr>
        <p:grpSpPr>
          <a:xfrm>
            <a:off x="3847675" y="2773204"/>
            <a:ext cx="1838131" cy="1815882"/>
            <a:chOff x="3911411" y="2228754"/>
            <a:chExt cx="1838131" cy="18158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989E9C4-5FEB-1F4A-BF7F-5F04DF666B9F}"/>
                </a:ext>
              </a:extLst>
            </p:cNvPr>
            <p:cNvGrpSpPr/>
            <p:nvPr/>
          </p:nvGrpSpPr>
          <p:grpSpPr>
            <a:xfrm>
              <a:off x="4259866" y="2251453"/>
              <a:ext cx="1144957" cy="241178"/>
              <a:chOff x="7529514" y="2014536"/>
              <a:chExt cx="1878805" cy="409577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C41407E-57B9-B647-A4B1-349374BCCD39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D65CD29-03ED-5B44-B2F9-4C0D942B5956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02C1C2B5-3B9B-5849-838F-45B6016C0747}"/>
                  </a:ext>
                </a:extLst>
              </p:cNvPr>
              <p:cNvSpPr/>
              <p:nvPr/>
            </p:nvSpPr>
            <p:spPr>
              <a:xfrm>
                <a:off x="8901113" y="2076451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C217B1FA-CF98-FB47-A507-6E40FE285DF1}"/>
                  </a:ext>
                </a:extLst>
              </p:cNvPr>
              <p:cNvCxnSpPr>
                <a:stCxn id="118" idx="3"/>
                <a:endCxn id="11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0DB4005-9AF0-B64C-9850-7CCB77CFF350}"/>
                  </a:ext>
                </a:extLst>
              </p:cNvPr>
              <p:cNvCxnSpPr/>
              <p:nvPr/>
            </p:nvCxnSpPr>
            <p:spPr>
              <a:xfrm>
                <a:off x="8679657" y="2200275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43535BBD-E1D1-B040-A2FA-1C529F9053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Rounded Rectangle 125">
                <a:extLst>
                  <a:ext uri="{FF2B5EF4-FFF2-40B4-BE49-F238E27FC236}">
                    <a16:creationId xmlns:a16="http://schemas.microsoft.com/office/drawing/2014/main" id="{558E1F1A-58C3-384D-88EF-18A3B220F60E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878805" cy="409577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1EC4F8B-00DF-1048-9501-2FB049BBF49C}"/>
                </a:ext>
              </a:extLst>
            </p:cNvPr>
            <p:cNvGrpSpPr/>
            <p:nvPr/>
          </p:nvGrpSpPr>
          <p:grpSpPr>
            <a:xfrm>
              <a:off x="4258414" y="2492632"/>
              <a:ext cx="513707" cy="218742"/>
              <a:chOff x="7529515" y="2014536"/>
              <a:chExt cx="842962" cy="371475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5C8794DF-F249-8640-9B71-29DE70DB4441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EF5C66F-7AB6-AE44-9431-DC0520471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533A0163-C357-8E41-9A85-EA8ADC01589D}"/>
                  </a:ext>
                </a:extLst>
              </p:cNvPr>
              <p:cNvSpPr/>
              <p:nvPr/>
            </p:nvSpPr>
            <p:spPr>
              <a:xfrm>
                <a:off x="7529515" y="2014536"/>
                <a:ext cx="842962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904B242-37C4-0044-A4DB-DCBA224E00B5}"/>
                </a:ext>
              </a:extLst>
            </p:cNvPr>
            <p:cNvSpPr/>
            <p:nvPr/>
          </p:nvSpPr>
          <p:spPr>
            <a:xfrm>
              <a:off x="4460123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8837E14-8797-7F44-BFE0-7FA2EA546879}"/>
                </a:ext>
              </a:extLst>
            </p:cNvPr>
            <p:cNvSpPr/>
            <p:nvPr/>
          </p:nvSpPr>
          <p:spPr>
            <a:xfrm>
              <a:off x="4777925" y="301704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D570424-BD51-C644-8A31-EB58FECED993}"/>
                </a:ext>
              </a:extLst>
            </p:cNvPr>
            <p:cNvCxnSpPr>
              <a:stCxn id="107" idx="3"/>
              <a:endCxn id="108" idx="1"/>
            </p:cNvCxnSpPr>
            <p:nvPr/>
          </p:nvCxnSpPr>
          <p:spPr>
            <a:xfrm>
              <a:off x="46429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179D454-CCB0-D84D-AE3C-1BFBC81A9B64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12" y="3017047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E527385A-9DAB-7442-9C3C-B990C6FD11C5}"/>
                </a:ext>
              </a:extLst>
            </p:cNvPr>
            <p:cNvSpPr/>
            <p:nvPr/>
          </p:nvSpPr>
          <p:spPr>
            <a:xfrm>
              <a:off x="4259865" y="2983393"/>
              <a:ext cx="1489677" cy="241178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CFC3F75-7F21-A24C-A92D-A696E968B5C9}"/>
                </a:ext>
              </a:extLst>
            </p:cNvPr>
            <p:cNvSpPr/>
            <p:nvPr/>
          </p:nvSpPr>
          <p:spPr>
            <a:xfrm>
              <a:off x="4454319" y="3507811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699E9906-E750-E746-9DEE-9797485CDAF2}"/>
                </a:ext>
              </a:extLst>
            </p:cNvPr>
            <p:cNvCxnSpPr>
              <a:cxnSpLocks/>
            </p:cNvCxnSpPr>
            <p:nvPr/>
          </p:nvCxnSpPr>
          <p:spPr>
            <a:xfrm>
              <a:off x="4315008" y="3507811"/>
              <a:ext cx="139310" cy="560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68EDC18E-1688-B546-B9B6-AE32810BC35D}"/>
                </a:ext>
              </a:extLst>
            </p:cNvPr>
            <p:cNvSpPr/>
            <p:nvPr/>
          </p:nvSpPr>
          <p:spPr>
            <a:xfrm>
              <a:off x="4254061" y="3465744"/>
              <a:ext cx="483559" cy="215940"/>
            </a:xfrm>
            <a:prstGeom prst="roundRect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09A68F2-3F92-7A48-81EB-F78496AEB71F}"/>
                </a:ext>
              </a:extLst>
            </p:cNvPr>
            <p:cNvGrpSpPr/>
            <p:nvPr/>
          </p:nvGrpSpPr>
          <p:grpSpPr>
            <a:xfrm>
              <a:off x="4258414" y="3715336"/>
              <a:ext cx="768165" cy="218742"/>
              <a:chOff x="7529514" y="2014536"/>
              <a:chExt cx="1260513" cy="37147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B077CAD-DC4B-EF4B-ABFE-7C50EC0C8ACA}"/>
                  </a:ext>
                </a:extLst>
              </p:cNvPr>
              <p:cNvSpPr/>
              <p:nvPr/>
            </p:nvSpPr>
            <p:spPr>
              <a:xfrm>
                <a:off x="7858125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3115BE-6D32-364B-A351-60D5FE8B14C5}"/>
                  </a:ext>
                </a:extLst>
              </p:cNvPr>
              <p:cNvSpPr/>
              <p:nvPr/>
            </p:nvSpPr>
            <p:spPr>
              <a:xfrm>
                <a:off x="8379619" y="2071688"/>
                <a:ext cx="300038" cy="25717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2DEE5D38-8F53-204E-A493-C4A76FB28254}"/>
                  </a:ext>
                </a:extLst>
              </p:cNvPr>
              <p:cNvCxnSpPr>
                <a:stCxn id="88" idx="3"/>
                <a:endCxn id="89" idx="1"/>
              </p:cNvCxnSpPr>
              <p:nvPr/>
            </p:nvCxnSpPr>
            <p:spPr>
              <a:xfrm>
                <a:off x="8158163" y="2200276"/>
                <a:ext cx="22145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5F7A16-7818-4C43-9209-8D187C8475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29525" y="2071688"/>
                <a:ext cx="228600" cy="9524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ounded Rectangle 91">
                <a:extLst>
                  <a:ext uri="{FF2B5EF4-FFF2-40B4-BE49-F238E27FC236}">
                    <a16:creationId xmlns:a16="http://schemas.microsoft.com/office/drawing/2014/main" id="{4DD894BD-A24B-9E41-917B-6360D8C20E45}"/>
                  </a:ext>
                </a:extLst>
              </p:cNvPr>
              <p:cNvSpPr/>
              <p:nvPr/>
            </p:nvSpPr>
            <p:spPr>
              <a:xfrm>
                <a:off x="7529514" y="2014536"/>
                <a:ext cx="1260513" cy="371475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D9E4C7-4D10-2D49-972B-82452A8367A8}"/>
                </a:ext>
              </a:extLst>
            </p:cNvPr>
            <p:cNvSpPr txBox="1"/>
            <p:nvPr/>
          </p:nvSpPr>
          <p:spPr>
            <a:xfrm>
              <a:off x="3911411" y="2228754"/>
              <a:ext cx="298480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DD37577-2C6E-1840-A041-A93703458E66}"/>
                </a:ext>
              </a:extLst>
            </p:cNvPr>
            <p:cNvSpPr/>
            <p:nvPr/>
          </p:nvSpPr>
          <p:spPr>
            <a:xfrm>
              <a:off x="5126758" y="3021776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7F6336-A054-9143-B612-6D2CFBA25359}"/>
                </a:ext>
              </a:extLst>
            </p:cNvPr>
            <p:cNvSpPr/>
            <p:nvPr/>
          </p:nvSpPr>
          <p:spPr>
            <a:xfrm>
              <a:off x="5444436" y="3018627"/>
              <a:ext cx="182845" cy="1514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25364D53-AB4E-654E-872B-99B9FB8298D3}"/>
                </a:ext>
              </a:extLst>
            </p:cNvPr>
            <p:cNvCxnSpPr/>
            <p:nvPr/>
          </p:nvCxnSpPr>
          <p:spPr>
            <a:xfrm>
              <a:off x="49858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94162DFD-E356-7346-98FB-42E844B28D3A}"/>
                </a:ext>
              </a:extLst>
            </p:cNvPr>
            <p:cNvCxnSpPr/>
            <p:nvPr/>
          </p:nvCxnSpPr>
          <p:spPr>
            <a:xfrm>
              <a:off x="5303368" y="3092765"/>
              <a:ext cx="1349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4" name="Table 43" descr="DFS suopport data structures">
            <a:extLst>
              <a:ext uri="{FF2B5EF4-FFF2-40B4-BE49-F238E27FC236}">
                <a16:creationId xmlns:a16="http://schemas.microsoft.com/office/drawing/2014/main" id="{23B6DC2B-E0B6-054F-B7E0-AC6189D0E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966905"/>
              </p:ext>
            </p:extLst>
          </p:nvPr>
        </p:nvGraphicFramePr>
        <p:xfrm>
          <a:off x="7524036" y="2228754"/>
          <a:ext cx="2949488" cy="252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</a:tbl>
          </a:graphicData>
        </a:graphic>
      </p:graphicFrame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A3D38FBC-1FE9-7A4A-B7EC-4CF2BFC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83619"/>
              </p:ext>
            </p:extLst>
          </p:nvPr>
        </p:nvGraphicFramePr>
        <p:xfrm>
          <a:off x="7524036" y="5050869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  <p:grpSp>
        <p:nvGrpSpPr>
          <p:cNvPr id="24" name="Group 23" descr="post order and reverse (topological) post order for the example">
            <a:extLst>
              <a:ext uri="{FF2B5EF4-FFF2-40B4-BE49-F238E27FC236}">
                <a16:creationId xmlns:a16="http://schemas.microsoft.com/office/drawing/2014/main" id="{41DF05DC-EB00-F642-8258-7593914C51B3}"/>
              </a:ext>
            </a:extLst>
          </p:cNvPr>
          <p:cNvGrpSpPr/>
          <p:nvPr/>
        </p:nvGrpSpPr>
        <p:grpSpPr>
          <a:xfrm>
            <a:off x="1452209" y="5249776"/>
            <a:ext cx="5050191" cy="1224207"/>
            <a:chOff x="1452209" y="5249776"/>
            <a:chExt cx="5050191" cy="1224207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ED91B2D-92B4-0644-B481-A07B996AED06}"/>
                </a:ext>
              </a:extLst>
            </p:cNvPr>
            <p:cNvSpPr txBox="1"/>
            <p:nvPr/>
          </p:nvSpPr>
          <p:spPr>
            <a:xfrm>
              <a:off x="3676643" y="5430637"/>
              <a:ext cx="2646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post-order: 4 1 2 5 0 6 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7CB6A77-C022-DD42-B9ED-DF6003A15731}"/>
                </a:ext>
              </a:extLst>
            </p:cNvPr>
            <p:cNvSpPr txBox="1"/>
            <p:nvPr/>
          </p:nvSpPr>
          <p:spPr>
            <a:xfrm>
              <a:off x="1551373" y="5885175"/>
              <a:ext cx="4891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reverse (topological) post-order: 3 6 0 5 2 1 4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B9A8BAE-0061-2243-B4BC-D2B6A4EF0BF8}"/>
                </a:ext>
              </a:extLst>
            </p:cNvPr>
            <p:cNvSpPr/>
            <p:nvPr/>
          </p:nvSpPr>
          <p:spPr>
            <a:xfrm>
              <a:off x="1452209" y="5249776"/>
              <a:ext cx="5050191" cy="1224207"/>
            </a:xfrm>
            <a:prstGeom prst="round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11485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26C1-FAD5-AB44-9257-84B7F45F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7363-4316-D340-A60F-7E0731DA9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973C8-E376-9C4E-B794-8FE762F55575}"/>
              </a:ext>
            </a:extLst>
          </p:cNvPr>
          <p:cNvSpPr txBox="1"/>
          <p:nvPr/>
        </p:nvSpPr>
        <p:spPr>
          <a:xfrm>
            <a:off x="4312508" y="2168268"/>
            <a:ext cx="6973384" cy="427809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class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DepthFirstOrder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__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init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__(self, G):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latin typeface="Courier" pitchFamily="2" charset="0"/>
              </a:rPr>
              <a:t>self.reversePost</a:t>
            </a:r>
            <a:r>
              <a:rPr lang="en-US" sz="1600" b="1" dirty="0">
                <a:latin typeface="Courier" pitchFamily="2" charset="0"/>
              </a:rPr>
              <a:t> = Stack()</a:t>
            </a:r>
          </a:p>
          <a:p>
            <a:r>
              <a:rPr lang="en-US" sz="1600" dirty="0">
                <a:latin typeface="Courier" pitchFamily="2" charset="0"/>
              </a:rPr>
              <a:t>        for v in range (0, G.V()):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self.dfs</a:t>
            </a:r>
            <a:r>
              <a:rPr lang="en-US" sz="1600" dirty="0">
                <a:latin typeface="Courier" pitchFamily="2" charset="0"/>
              </a:rPr>
              <a:t> (</a:t>
            </a:r>
            <a:r>
              <a:rPr lang="en-US" sz="1600" dirty="0" err="1">
                <a:latin typeface="Courier" pitchFamily="2" charset="0"/>
              </a:rPr>
              <a:t>G,v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dfs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(self, G,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 = true</a:t>
            </a:r>
          </a:p>
          <a:p>
            <a:r>
              <a:rPr lang="en-US" sz="1600" dirty="0">
                <a:latin typeface="Courier" pitchFamily="2" charset="0"/>
              </a:rPr>
              <a:t>        for w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(v):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[w])</a:t>
            </a:r>
          </a:p>
          <a:p>
            <a:r>
              <a:rPr lang="en-US" sz="1600" dirty="0">
                <a:latin typeface="Courier" pitchFamily="2" charset="0"/>
              </a:rPr>
              <a:t>		  </a:t>
            </a:r>
            <a:r>
              <a:rPr lang="en-US" sz="1600" dirty="0" err="1">
                <a:latin typeface="Courier" pitchFamily="2" charset="0"/>
              </a:rPr>
              <a:t>self.dfs</a:t>
            </a:r>
            <a:r>
              <a:rPr lang="en-US" sz="1600" dirty="0">
                <a:latin typeface="Courier" pitchFamily="2" charset="0"/>
              </a:rPr>
              <a:t>(G, w)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latin typeface="Courier" pitchFamily="2" charset="0"/>
              </a:rPr>
              <a:t>self.reversePost.push</a:t>
            </a:r>
            <a:r>
              <a:rPr lang="en-US" sz="1600" b="1" dirty="0">
                <a:latin typeface="Courier" pitchFamily="2" charset="0"/>
              </a:rPr>
              <a:t>(v)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reversePost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(self):</a:t>
            </a:r>
          </a:p>
          <a:p>
            <a:r>
              <a:rPr lang="en-US" sz="1600" dirty="0">
                <a:latin typeface="Courier" pitchFamily="2" charset="0"/>
              </a:rPr>
              <a:t>      return </a:t>
            </a:r>
            <a:r>
              <a:rPr lang="en-US" sz="1600" dirty="0" err="1">
                <a:latin typeface="Courier" pitchFamily="2" charset="0"/>
              </a:rPr>
              <a:t>self.reversePost</a:t>
            </a:r>
            <a:endParaRPr lang="en-US" sz="1600" dirty="0">
              <a:latin typeface="Courier" pitchFamily="2" charset="0"/>
            </a:endParaRPr>
          </a:p>
        </p:txBody>
      </p:sp>
      <p:grpSp>
        <p:nvGrpSpPr>
          <p:cNvPr id="8" name="Group 7" descr="highlighting code with stack declaration">
            <a:extLst>
              <a:ext uri="{FF2B5EF4-FFF2-40B4-BE49-F238E27FC236}">
                <a16:creationId xmlns:a16="http://schemas.microsoft.com/office/drawing/2014/main" id="{97D44A02-431B-0E48-A28B-6E98427F30B0}"/>
              </a:ext>
            </a:extLst>
          </p:cNvPr>
          <p:cNvGrpSpPr/>
          <p:nvPr/>
        </p:nvGrpSpPr>
        <p:grpSpPr>
          <a:xfrm>
            <a:off x="1728465" y="2827579"/>
            <a:ext cx="3374875" cy="523220"/>
            <a:chOff x="1728465" y="2827579"/>
            <a:chExt cx="3374875" cy="523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83B7E60-9D24-3540-9B54-D027768D32FD}"/>
                </a:ext>
              </a:extLst>
            </p:cNvPr>
            <p:cNvSpPr txBox="1"/>
            <p:nvPr/>
          </p:nvSpPr>
          <p:spPr>
            <a:xfrm>
              <a:off x="1728465" y="2827579"/>
              <a:ext cx="18549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stack where to push</a:t>
              </a:r>
            </a:p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 in post-order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B4418CD-9E0B-BF4D-9985-47038721136F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 descr="highlighting code where vertices are pushed onto the stack">
            <a:extLst>
              <a:ext uri="{FF2B5EF4-FFF2-40B4-BE49-F238E27FC236}">
                <a16:creationId xmlns:a16="http://schemas.microsoft.com/office/drawing/2014/main" id="{8937CA39-7B1A-254A-893A-F783A6F5321C}"/>
              </a:ext>
            </a:extLst>
          </p:cNvPr>
          <p:cNvGrpSpPr/>
          <p:nvPr/>
        </p:nvGrpSpPr>
        <p:grpSpPr>
          <a:xfrm>
            <a:off x="1" y="5183998"/>
            <a:ext cx="5103339" cy="523220"/>
            <a:chOff x="1" y="2807382"/>
            <a:chExt cx="5103339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4CAD9D-A018-C948-B45E-3632447C35EC}"/>
                </a:ext>
              </a:extLst>
            </p:cNvPr>
            <p:cNvSpPr txBox="1"/>
            <p:nvPr/>
          </p:nvSpPr>
          <p:spPr>
            <a:xfrm>
              <a:off x="1" y="2807382"/>
              <a:ext cx="3583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once all nodes in v’s adjacency list have been visited, push v onto the stack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18D2D6E-F548-E64B-ACE3-4A8C3548774B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 descr="highlighting code where the stack is returned">
            <a:extLst>
              <a:ext uri="{FF2B5EF4-FFF2-40B4-BE49-F238E27FC236}">
                <a16:creationId xmlns:a16="http://schemas.microsoft.com/office/drawing/2014/main" id="{220FF07B-3CBB-844C-8348-BEA10780CCCE}"/>
              </a:ext>
            </a:extLst>
          </p:cNvPr>
          <p:cNvGrpSpPr/>
          <p:nvPr/>
        </p:nvGrpSpPr>
        <p:grpSpPr>
          <a:xfrm>
            <a:off x="-20593" y="6017098"/>
            <a:ext cx="5103339" cy="523220"/>
            <a:chOff x="1" y="2807382"/>
            <a:chExt cx="5103339" cy="5232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AC8222-64E6-704E-A4ED-BCC6DB01F2C3}"/>
                </a:ext>
              </a:extLst>
            </p:cNvPr>
            <p:cNvSpPr txBox="1"/>
            <p:nvPr/>
          </p:nvSpPr>
          <p:spPr>
            <a:xfrm>
              <a:off x="1" y="2807382"/>
              <a:ext cx="3583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popping vertices out of the stack will give reverse (topological) post-order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31F44C0-D5C5-1044-B6AD-07A66510039E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62004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70530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3095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861468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519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65289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580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/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5972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05507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02323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525559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3059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219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4906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Problem</a:t>
            </a:r>
            <a:r>
              <a:rPr lang="en-US" dirty="0"/>
              <a:t>. Is a given digraph G a DAG?</a:t>
            </a:r>
          </a:p>
          <a:p>
            <a:r>
              <a:rPr lang="en-US" dirty="0">
                <a:highlight>
                  <a:srgbClr val="C0C0C0"/>
                </a:highlight>
              </a:rPr>
              <a:t>How-to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Visit G using DFS</a:t>
            </a:r>
          </a:p>
          <a:p>
            <a:pPr lvl="1"/>
            <a:r>
              <a:rPr lang="en-US" dirty="0"/>
              <a:t>Keep track of vertices whose recursive </a:t>
            </a:r>
            <a:r>
              <a:rPr lang="en-US" dirty="0" err="1"/>
              <a:t>dfs</a:t>
            </a:r>
            <a:r>
              <a:rPr lang="en-US" dirty="0"/>
              <a:t>() call has not completed yet</a:t>
            </a:r>
          </a:p>
          <a:p>
            <a:pPr lvl="1"/>
            <a:r>
              <a:rPr lang="en-US" dirty="0"/>
              <a:t>If a call is made to a vertex with an open </a:t>
            </a:r>
            <a:r>
              <a:rPr lang="en-US" dirty="0" err="1"/>
              <a:t>dfs</a:t>
            </a:r>
            <a:r>
              <a:rPr lang="en-US" dirty="0"/>
              <a:t>() call, G is not a DAG</a:t>
            </a:r>
          </a:p>
        </p:txBody>
      </p:sp>
      <p:grpSp>
        <p:nvGrpSpPr>
          <p:cNvPr id="78" name="Group 77" descr="example digraph with 5 nodes">
            <a:extLst>
              <a:ext uri="{FF2B5EF4-FFF2-40B4-BE49-F238E27FC236}">
                <a16:creationId xmlns:a16="http://schemas.microsoft.com/office/drawing/2014/main" id="{0DA8DB61-17FE-1D49-89AB-6C3A5413FB0F}"/>
              </a:ext>
            </a:extLst>
          </p:cNvPr>
          <p:cNvGrpSpPr/>
          <p:nvPr/>
        </p:nvGrpSpPr>
        <p:grpSpPr>
          <a:xfrm>
            <a:off x="1766757" y="3929157"/>
            <a:ext cx="1589305" cy="1890601"/>
            <a:chOff x="1002713" y="3716806"/>
            <a:chExt cx="1589305" cy="189060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11B3C1-8FD1-F74C-9DEE-4BA52BA398C5}"/>
                </a:ext>
              </a:extLst>
            </p:cNvPr>
            <p:cNvSpPr/>
            <p:nvPr/>
          </p:nvSpPr>
          <p:spPr>
            <a:xfrm>
              <a:off x="1002713" y="448808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551B614-F3BC-A645-87EF-69F294823442}"/>
                </a:ext>
              </a:extLst>
            </p:cNvPr>
            <p:cNvSpPr/>
            <p:nvPr/>
          </p:nvSpPr>
          <p:spPr>
            <a:xfrm>
              <a:off x="2206256" y="486785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E7962B-CA17-8643-B14A-31601E383864}"/>
                </a:ext>
              </a:extLst>
            </p:cNvPr>
            <p:cNvSpPr/>
            <p:nvPr/>
          </p:nvSpPr>
          <p:spPr>
            <a:xfrm>
              <a:off x="1401250" y="5207357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3A9494-6DAE-B242-901A-EBA6EE67D344}"/>
                </a:ext>
              </a:extLst>
            </p:cNvPr>
            <p:cNvCxnSpPr>
              <a:cxnSpLocks/>
              <a:stCxn id="5" idx="3"/>
              <a:endCxn id="6" idx="6"/>
            </p:cNvCxnSpPr>
            <p:nvPr/>
          </p:nvCxnSpPr>
          <p:spPr>
            <a:xfrm flipH="1">
              <a:off x="1787012" y="5209322"/>
              <a:ext cx="475738" cy="19806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C5D7145-3878-ED42-9446-D3FBEE002908}"/>
                </a:ext>
              </a:extLst>
            </p:cNvPr>
            <p:cNvCxnSpPr>
              <a:cxnSpLocks/>
              <a:stCxn id="6" idx="1"/>
              <a:endCxn id="4" idx="5"/>
            </p:cNvCxnSpPr>
            <p:nvPr/>
          </p:nvCxnSpPr>
          <p:spPr>
            <a:xfrm flipH="1" flipV="1">
              <a:off x="1331981" y="4829545"/>
              <a:ext cx="125763" cy="43639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2DF2AD-06EC-3040-B875-01D89EE93F0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95594" y="4006421"/>
              <a:ext cx="418112" cy="48166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3C32CA5-4F45-AB4E-B44E-973AAF48F5FA}"/>
                </a:ext>
              </a:extLst>
            </p:cNvPr>
            <p:cNvSpPr/>
            <p:nvPr/>
          </p:nvSpPr>
          <p:spPr>
            <a:xfrm>
              <a:off x="1838938" y="435244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E805DA1-AAC1-BD4C-9478-0C19E85BB200}"/>
                </a:ext>
              </a:extLst>
            </p:cNvPr>
            <p:cNvCxnSpPr>
              <a:cxnSpLocks/>
              <a:stCxn id="4" idx="6"/>
              <a:endCxn id="19" idx="2"/>
            </p:cNvCxnSpPr>
            <p:nvPr/>
          </p:nvCxnSpPr>
          <p:spPr>
            <a:xfrm flipV="1">
              <a:off x="1388475" y="4552469"/>
              <a:ext cx="450463" cy="13563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52DC98-3DEB-FE43-842D-3DA8772FC466}"/>
                </a:ext>
              </a:extLst>
            </p:cNvPr>
            <p:cNvCxnSpPr>
              <a:cxnSpLocks/>
              <a:stCxn id="19" idx="6"/>
              <a:endCxn id="5" idx="0"/>
            </p:cNvCxnSpPr>
            <p:nvPr/>
          </p:nvCxnSpPr>
          <p:spPr>
            <a:xfrm>
              <a:off x="2224700" y="4552469"/>
              <a:ext cx="174437" cy="3153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B2AECCD-AAF3-4E43-8AD2-A825856504EF}"/>
                </a:ext>
              </a:extLst>
            </p:cNvPr>
            <p:cNvSpPr/>
            <p:nvPr/>
          </p:nvSpPr>
          <p:spPr>
            <a:xfrm>
              <a:off x="1585985" y="37168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45" name="Table 44" descr="Stack as additional support data structure">
            <a:extLst>
              <a:ext uri="{FF2B5EF4-FFF2-40B4-BE49-F238E27FC236}">
                <a16:creationId xmlns:a16="http://schemas.microsoft.com/office/drawing/2014/main" id="{5BB7A1C5-CC68-1443-BDF0-0DE512706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41094"/>
              </p:ext>
            </p:extLst>
          </p:nvPr>
        </p:nvGraphicFramePr>
        <p:xfrm>
          <a:off x="4621257" y="4240040"/>
          <a:ext cx="294948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355">
                  <a:extLst>
                    <a:ext uri="{9D8B030D-6E8A-4147-A177-3AD203B41FA5}">
                      <a16:colId xmlns:a16="http://schemas.microsoft.com/office/drawing/2014/main" val="2122009081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2478596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532541003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110890331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401248436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344392748"/>
                    </a:ext>
                  </a:extLst>
                </a:gridCol>
                <a:gridCol w="421355">
                  <a:extLst>
                    <a:ext uri="{9D8B030D-6E8A-4147-A177-3AD203B41FA5}">
                      <a16:colId xmlns:a16="http://schemas.microsoft.com/office/drawing/2014/main" val="3856978366"/>
                    </a:ext>
                  </a:extLst>
                </a:gridCol>
              </a:tblGrid>
              <a:tr h="370840">
                <a:tc gridSpan="7"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Call Stack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itchFamily="2" charset="2"/>
                        </a:rPr>
                        <a:t>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1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</a:t>
                      </a:r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2642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CA74FFC-B5D9-2B45-BBB4-E9D5989D8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6714" y="4601866"/>
            <a:ext cx="444843" cy="40005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033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E7F2-C942-AD4A-9FB8-236517F2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7033-7DC4-7844-9F60-6EEF09222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D50D4-8499-4946-A49A-031815D2F3AE}"/>
              </a:ext>
            </a:extLst>
          </p:cNvPr>
          <p:cNvSpPr txBox="1"/>
          <p:nvPr/>
        </p:nvSpPr>
        <p:spPr>
          <a:xfrm>
            <a:off x="3871589" y="2196847"/>
            <a:ext cx="7837402" cy="427809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class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DirectedCyle</a:t>
            </a:r>
            <a:r>
              <a:rPr lang="en-US" sz="1600" dirty="0">
                <a:latin typeface="Courier" pitchFamily="2" charset="0"/>
              </a:rPr>
              <a:t>: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__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init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__(self, G):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latin typeface="Courier" pitchFamily="2" charset="0"/>
              </a:rPr>
              <a:t>self.onCallStack</a:t>
            </a:r>
            <a:r>
              <a:rPr lang="en-US" sz="1600" b="1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self.cycleDetected</a:t>
            </a:r>
            <a:r>
              <a:rPr lang="en-US" sz="1600" dirty="0">
                <a:latin typeface="Courier" pitchFamily="2" charset="0"/>
              </a:rPr>
              <a:t> = False </a:t>
            </a:r>
          </a:p>
          <a:p>
            <a:r>
              <a:rPr lang="en-US" sz="1600" dirty="0">
                <a:latin typeface="Courier" pitchFamily="2" charset="0"/>
              </a:rPr>
              <a:t>        for v in range (0, G.V()):</a:t>
            </a:r>
          </a:p>
          <a:p>
            <a:r>
              <a:rPr lang="en-US" sz="1600" dirty="0">
                <a:latin typeface="Courier" pitchFamily="2" charset="0"/>
              </a:rPr>
              <a:t>            if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[v]):</a:t>
            </a:r>
          </a:p>
          <a:p>
            <a:r>
              <a:rPr lang="en-US" sz="1600" dirty="0">
                <a:latin typeface="Courier" pitchFamily="2" charset="0"/>
              </a:rPr>
              <a:t>                </a:t>
            </a:r>
            <a:r>
              <a:rPr lang="en-US" sz="1600" dirty="0" err="1">
                <a:latin typeface="Courier" pitchFamily="2" charset="0"/>
              </a:rPr>
              <a:t>self.dfs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G,v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def </a:t>
            </a:r>
            <a:r>
              <a:rPr lang="en-US" sz="1600" dirty="0" err="1">
                <a:highlight>
                  <a:srgbClr val="C0C0C0"/>
                </a:highlight>
                <a:latin typeface="Courier" pitchFamily="2" charset="0"/>
              </a:rPr>
              <a:t>dfs</a:t>
            </a:r>
            <a:r>
              <a:rPr lang="en-US" sz="1600" dirty="0">
                <a:highlight>
                  <a:srgbClr val="C0C0C0"/>
                </a:highlight>
                <a:latin typeface="Courier" pitchFamily="2" charset="0"/>
              </a:rPr>
              <a:t>(self, G, v):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[v] = True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b="1" dirty="0" err="1">
                <a:latin typeface="Courier" pitchFamily="2" charset="0"/>
              </a:rPr>
              <a:t>self.onCallStack</a:t>
            </a:r>
            <a:r>
              <a:rPr lang="en-US" sz="1600" b="1" dirty="0">
                <a:latin typeface="Courier" pitchFamily="2" charset="0"/>
              </a:rPr>
              <a:t>[v] = True</a:t>
            </a:r>
          </a:p>
          <a:p>
            <a:r>
              <a:rPr lang="en-US" sz="1600" dirty="0">
                <a:latin typeface="Courier" pitchFamily="2" charset="0"/>
              </a:rPr>
              <a:t>        for w in </a:t>
            </a:r>
            <a:r>
              <a:rPr lang="en-US" sz="1600" dirty="0" err="1">
                <a:latin typeface="Courier" pitchFamily="2" charset="0"/>
              </a:rPr>
              <a:t>G.adj</a:t>
            </a:r>
            <a:r>
              <a:rPr lang="en-US" sz="1600" dirty="0">
                <a:latin typeface="Courier" pitchFamily="2" charset="0"/>
              </a:rPr>
              <a:t>(v):</a:t>
            </a:r>
          </a:p>
          <a:p>
            <a:r>
              <a:rPr lang="en-US" sz="1600" dirty="0">
                <a:latin typeface="Courier" pitchFamily="2" charset="0"/>
              </a:rPr>
              <a:t>            if </a:t>
            </a:r>
            <a:r>
              <a:rPr lang="en-US" sz="1600" dirty="0" err="1">
                <a:latin typeface="Courier" pitchFamily="2" charset="0"/>
              </a:rPr>
              <a:t>self.cycleDetected</a:t>
            </a:r>
            <a:r>
              <a:rPr lang="en-US" sz="1600" dirty="0">
                <a:latin typeface="Courier" pitchFamily="2" charset="0"/>
              </a:rPr>
              <a:t> return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dirty="0" err="1">
                <a:latin typeface="Courier" pitchFamily="2" charset="0"/>
              </a:rPr>
              <a:t>elif</a:t>
            </a:r>
            <a:r>
              <a:rPr lang="en-US" sz="1600" dirty="0">
                <a:latin typeface="Courier" pitchFamily="2" charset="0"/>
              </a:rPr>
              <a:t> (!</a:t>
            </a:r>
            <a:r>
              <a:rPr lang="en-US" sz="1600" dirty="0" err="1">
                <a:latin typeface="Courier" pitchFamily="2" charset="0"/>
              </a:rPr>
              <a:t>self.marked</a:t>
            </a:r>
            <a:r>
              <a:rPr lang="en-US" sz="1600" dirty="0">
                <a:latin typeface="Courier" pitchFamily="2" charset="0"/>
              </a:rPr>
              <a:t>[w]) </a:t>
            </a:r>
            <a:r>
              <a:rPr lang="en-US" sz="1600" dirty="0" err="1">
                <a:latin typeface="Courier" pitchFamily="2" charset="0"/>
              </a:rPr>
              <a:t>self.dfs</a:t>
            </a:r>
            <a:r>
              <a:rPr lang="en-US" sz="1600" dirty="0">
                <a:latin typeface="Courier" pitchFamily="2" charset="0"/>
              </a:rPr>
              <a:t>(G, w)</a:t>
            </a:r>
          </a:p>
          <a:p>
            <a:r>
              <a:rPr lang="en-US" sz="1600" dirty="0">
                <a:latin typeface="Courier" pitchFamily="2" charset="0"/>
              </a:rPr>
              <a:t>            </a:t>
            </a:r>
            <a:r>
              <a:rPr lang="en-US" sz="1600" b="1" dirty="0" err="1">
                <a:latin typeface="Courier" pitchFamily="2" charset="0"/>
              </a:rPr>
              <a:t>elif</a:t>
            </a:r>
            <a:r>
              <a:rPr lang="en-US" sz="1600" b="1" dirty="0">
                <a:latin typeface="Courier" pitchFamily="2" charset="0"/>
              </a:rPr>
              <a:t> (</a:t>
            </a:r>
            <a:r>
              <a:rPr lang="en-US" sz="1600" b="1" dirty="0" err="1">
                <a:latin typeface="Courier" pitchFamily="2" charset="0"/>
              </a:rPr>
              <a:t>self.onCallStack</a:t>
            </a:r>
            <a:r>
              <a:rPr lang="en-US" sz="1600" b="1" dirty="0">
                <a:latin typeface="Courier" pitchFamily="2" charset="0"/>
              </a:rPr>
              <a:t>[w]) </a:t>
            </a:r>
            <a:r>
              <a:rPr lang="en-US" sz="1600" b="1" dirty="0" err="1">
                <a:latin typeface="Courier" pitchFamily="2" charset="0"/>
              </a:rPr>
              <a:t>self.cycleDetected</a:t>
            </a:r>
            <a:r>
              <a:rPr lang="en-US" sz="1600" b="1" dirty="0">
                <a:latin typeface="Courier" pitchFamily="2" charset="0"/>
              </a:rPr>
              <a:t>=True</a:t>
            </a:r>
          </a:p>
          <a:p>
            <a:r>
              <a:rPr lang="en-US" sz="1600" dirty="0">
                <a:latin typeface="Courier" pitchFamily="2" charset="0"/>
              </a:rPr>
              <a:t>        </a:t>
            </a:r>
            <a:r>
              <a:rPr lang="en-US" sz="1600" dirty="0" err="1">
                <a:latin typeface="Courier" pitchFamily="2" charset="0"/>
              </a:rPr>
              <a:t>self.onCallStack</a:t>
            </a:r>
            <a:r>
              <a:rPr lang="en-US" sz="1600" dirty="0">
                <a:latin typeface="Courier" pitchFamily="2" charset="0"/>
              </a:rPr>
              <a:t>[v] = False</a:t>
            </a:r>
          </a:p>
        </p:txBody>
      </p:sp>
      <p:grpSp>
        <p:nvGrpSpPr>
          <p:cNvPr id="17" name="Group 16" descr="highlighting code with stack declaration">
            <a:extLst>
              <a:ext uri="{FF2B5EF4-FFF2-40B4-BE49-F238E27FC236}">
                <a16:creationId xmlns:a16="http://schemas.microsoft.com/office/drawing/2014/main" id="{E2CC194A-1B6B-1646-8E7F-4E8B56C01E45}"/>
              </a:ext>
            </a:extLst>
          </p:cNvPr>
          <p:cNvGrpSpPr/>
          <p:nvPr/>
        </p:nvGrpSpPr>
        <p:grpSpPr>
          <a:xfrm>
            <a:off x="704139" y="2827579"/>
            <a:ext cx="4102638" cy="523220"/>
            <a:chOff x="1000702" y="2827579"/>
            <a:chExt cx="4102638" cy="5232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8FE593E-FB2A-9A49-86C9-7984023FC752}"/>
                </a:ext>
              </a:extLst>
            </p:cNvPr>
            <p:cNvSpPr txBox="1"/>
            <p:nvPr/>
          </p:nvSpPr>
          <p:spPr>
            <a:xfrm>
              <a:off x="1000702" y="2827579"/>
              <a:ext cx="2582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stack where to push</a:t>
              </a:r>
            </a:p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 currently being visited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9D10365-3230-2C48-AE77-E529904C1E9D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 descr="highlighting code where vertices are pushed onto the stack">
            <a:extLst>
              <a:ext uri="{FF2B5EF4-FFF2-40B4-BE49-F238E27FC236}">
                <a16:creationId xmlns:a16="http://schemas.microsoft.com/office/drawing/2014/main" id="{56775E66-B80B-CD4D-BBC2-3F9199F628EF}"/>
              </a:ext>
            </a:extLst>
          </p:cNvPr>
          <p:cNvGrpSpPr/>
          <p:nvPr/>
        </p:nvGrpSpPr>
        <p:grpSpPr>
          <a:xfrm>
            <a:off x="-218303" y="4904449"/>
            <a:ext cx="5025080" cy="307777"/>
            <a:chOff x="78260" y="2917528"/>
            <a:chExt cx="5025080" cy="30777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E9D8CB-E9A8-3F49-8226-2D587C1ECE89}"/>
                </a:ext>
              </a:extLst>
            </p:cNvPr>
            <p:cNvSpPr txBox="1"/>
            <p:nvPr/>
          </p:nvSpPr>
          <p:spPr>
            <a:xfrm>
              <a:off x="78260" y="2917528"/>
              <a:ext cx="3583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push v onto the call stack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A2980D3-87B6-1B41-A63F-856629E20EC3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 descr="highlighting code where the stack is checked for cycles">
            <a:extLst>
              <a:ext uri="{FF2B5EF4-FFF2-40B4-BE49-F238E27FC236}">
                <a16:creationId xmlns:a16="http://schemas.microsoft.com/office/drawing/2014/main" id="{B3E9F9FF-40BE-FF4B-BCA6-7C5AFA6130AD}"/>
              </a:ext>
            </a:extLst>
          </p:cNvPr>
          <p:cNvGrpSpPr/>
          <p:nvPr/>
        </p:nvGrpSpPr>
        <p:grpSpPr>
          <a:xfrm>
            <a:off x="-296562" y="5725800"/>
            <a:ext cx="5103339" cy="523220"/>
            <a:chOff x="1" y="2807382"/>
            <a:chExt cx="5103339" cy="52322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C93A37-0B4E-C245-BF1A-1100BCD940EB}"/>
                </a:ext>
              </a:extLst>
            </p:cNvPr>
            <p:cNvSpPr txBox="1"/>
            <p:nvPr/>
          </p:nvSpPr>
          <p:spPr>
            <a:xfrm>
              <a:off x="1" y="2807382"/>
              <a:ext cx="35834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w is </a:t>
              </a:r>
              <a:r>
                <a:rPr lang="en-US" sz="1400" i="1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currently</a:t>
              </a:r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on the call stack, </a:t>
              </a:r>
            </a:p>
            <a:p>
              <a:pPr algn="r"/>
              <a:r>
                <a:rPr lang="en-US" sz="1400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cycle has been detected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BE41CA3-2AF8-884A-A2DC-A2F59771751D}"/>
                </a:ext>
              </a:extLst>
            </p:cNvPr>
            <p:cNvCxnSpPr>
              <a:cxnSpLocks/>
            </p:cNvCxnSpPr>
            <p:nvPr/>
          </p:nvCxnSpPr>
          <p:spPr>
            <a:xfrm>
              <a:off x="3682314" y="3089189"/>
              <a:ext cx="1421026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6951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3B0D-D977-1E46-8016-CDE079E3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Sub-problem: DIRECTED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CA1F-0732-A04C-8EE0-FC42D4400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applications</a:t>
            </a:r>
          </a:p>
          <a:p>
            <a:pPr lvl="1"/>
            <a:r>
              <a:rPr lang="en-US" dirty="0"/>
              <a:t>Cyclic inheritance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Spreadsheet manipulation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28AAB-72FC-DA4B-A68A-889169A28EDA}"/>
              </a:ext>
            </a:extLst>
          </p:cNvPr>
          <p:cNvSpPr txBox="1"/>
          <p:nvPr/>
        </p:nvSpPr>
        <p:spPr>
          <a:xfrm>
            <a:off x="980108" y="2530479"/>
            <a:ext cx="3270447" cy="107721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public class A extends B </a:t>
            </a:r>
          </a:p>
          <a:p>
            <a:r>
              <a:rPr lang="en-US" sz="1600" dirty="0">
                <a:latin typeface="Courier" pitchFamily="2" charset="0"/>
              </a:rPr>
              <a:t>{</a:t>
            </a:r>
          </a:p>
          <a:p>
            <a:r>
              <a:rPr lang="en-US" sz="1600" dirty="0">
                <a:latin typeface="Courier" pitchFamily="2" charset="0"/>
              </a:rPr>
              <a:t>   ... </a:t>
            </a:r>
          </a:p>
          <a:p>
            <a:r>
              <a:rPr lang="en-US" sz="1600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32BFA-7525-5E4C-B501-81C7C364AD2D}"/>
              </a:ext>
            </a:extLst>
          </p:cNvPr>
          <p:cNvSpPr txBox="1"/>
          <p:nvPr/>
        </p:nvSpPr>
        <p:spPr>
          <a:xfrm>
            <a:off x="4460776" y="2530479"/>
            <a:ext cx="3393878" cy="107721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public class B extends C </a:t>
            </a:r>
          </a:p>
          <a:p>
            <a:r>
              <a:rPr lang="en-US" sz="1600" dirty="0">
                <a:latin typeface="Courier" pitchFamily="2" charset="0"/>
              </a:rPr>
              <a:t>{</a:t>
            </a:r>
          </a:p>
          <a:p>
            <a:r>
              <a:rPr lang="en-US" sz="1600" dirty="0">
                <a:latin typeface="Courier" pitchFamily="2" charset="0"/>
              </a:rPr>
              <a:t>   ... </a:t>
            </a:r>
          </a:p>
          <a:p>
            <a:r>
              <a:rPr lang="en-US" sz="1600" dirty="0">
                <a:latin typeface="Courier" pitchFamily="2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05D09-FC9C-8942-A309-8AE6C3F8E2B3}"/>
              </a:ext>
            </a:extLst>
          </p:cNvPr>
          <p:cNvSpPr txBox="1"/>
          <p:nvPr/>
        </p:nvSpPr>
        <p:spPr>
          <a:xfrm>
            <a:off x="8064875" y="2530479"/>
            <a:ext cx="3270447" cy="107721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public class C extends A </a:t>
            </a:r>
          </a:p>
          <a:p>
            <a:r>
              <a:rPr lang="en-US" sz="1600" dirty="0">
                <a:latin typeface="Courier" pitchFamily="2" charset="0"/>
              </a:rPr>
              <a:t>{</a:t>
            </a:r>
          </a:p>
          <a:p>
            <a:r>
              <a:rPr lang="en-US" sz="1600" dirty="0">
                <a:latin typeface="Courier" pitchFamily="2" charset="0"/>
              </a:rPr>
              <a:t>   ... </a:t>
            </a:r>
          </a:p>
          <a:p>
            <a:r>
              <a:rPr lang="en-US" sz="1600" dirty="0">
                <a:latin typeface="Courier" pitchFamily="2" charset="0"/>
              </a:rPr>
              <a:t>}</a:t>
            </a:r>
          </a:p>
        </p:txBody>
      </p:sp>
      <p:pic>
        <p:nvPicPr>
          <p:cNvPr id="8" name="Picture 7" descr="A screenshot from excel spreadsheet with cyclic manipulation">
            <a:extLst>
              <a:ext uri="{FF2B5EF4-FFF2-40B4-BE49-F238E27FC236}">
                <a16:creationId xmlns:a16="http://schemas.microsoft.com/office/drawing/2014/main" id="{333E42F0-D6FD-A445-AB32-B70360551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08" y="4410720"/>
            <a:ext cx="4252292" cy="2356479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34335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/>
              <a:t>Search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42204478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/>
              <a:t>Search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lvl="1"/>
            <a:r>
              <a:rPr lang="en-US" dirty="0"/>
              <a:t>Topological Sort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8692854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Strongly-connected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Vertices </a:t>
            </a:r>
            <a:r>
              <a:rPr lang="en-US" i="1" dirty="0"/>
              <a:t>v</a:t>
            </a:r>
            <a:r>
              <a:rPr lang="en-US" dirty="0"/>
              <a:t> and </a:t>
            </a:r>
            <a:r>
              <a:rPr lang="en-US" i="1" dirty="0"/>
              <a:t>w</a:t>
            </a:r>
            <a:r>
              <a:rPr lang="en-US" dirty="0"/>
              <a:t> are </a:t>
            </a:r>
            <a:r>
              <a:rPr lang="en-US" dirty="0">
                <a:solidFill>
                  <a:schemeClr val="accent5"/>
                </a:solidFill>
              </a:rPr>
              <a:t>strongly connected </a:t>
            </a:r>
            <a:r>
              <a:rPr lang="en-US" dirty="0"/>
              <a:t>if there is both a directed path from </a:t>
            </a:r>
            <a:r>
              <a:rPr lang="en-US" i="1" dirty="0"/>
              <a:t>v</a:t>
            </a:r>
            <a:r>
              <a:rPr lang="en-US" dirty="0"/>
              <a:t> to </a:t>
            </a:r>
            <a:r>
              <a:rPr lang="en-US" i="1" dirty="0"/>
              <a:t>w</a:t>
            </a:r>
            <a:r>
              <a:rPr lang="en-US" dirty="0"/>
              <a:t> and a directed path from </a:t>
            </a:r>
            <a:r>
              <a:rPr lang="en-US" i="1" dirty="0"/>
              <a:t>w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Property</a:t>
            </a:r>
            <a:r>
              <a:rPr lang="en-US" dirty="0"/>
              <a:t>. Strong connectivity is an </a:t>
            </a:r>
            <a:r>
              <a:rPr lang="en-US" dirty="0">
                <a:solidFill>
                  <a:schemeClr val="accent5"/>
                </a:solidFill>
              </a:rPr>
              <a:t>equivalence relation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v</a:t>
            </a:r>
            <a:r>
              <a:rPr lang="en-US" dirty="0"/>
              <a:t> is strongly connected to itself.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v</a:t>
            </a:r>
            <a:r>
              <a:rPr lang="en-US" dirty="0"/>
              <a:t> is strongly connected to </a:t>
            </a:r>
            <a:r>
              <a:rPr lang="en-US" i="1" dirty="0"/>
              <a:t>w</a:t>
            </a:r>
            <a:r>
              <a:rPr lang="en-US" dirty="0"/>
              <a:t>, then </a:t>
            </a:r>
            <a:r>
              <a:rPr lang="en-US" i="1" dirty="0"/>
              <a:t>w</a:t>
            </a:r>
            <a:r>
              <a:rPr lang="en-US" dirty="0"/>
              <a:t> is strongly connected to </a:t>
            </a:r>
            <a:r>
              <a:rPr lang="en-US" i="1" dirty="0"/>
              <a:t>v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v</a:t>
            </a:r>
            <a:r>
              <a:rPr lang="en-US" dirty="0"/>
              <a:t> is strongly connected to </a:t>
            </a:r>
            <a:r>
              <a:rPr lang="en-US" i="1" dirty="0"/>
              <a:t>w</a:t>
            </a:r>
            <a:r>
              <a:rPr lang="en-US" dirty="0"/>
              <a:t> and </a:t>
            </a:r>
            <a:r>
              <a:rPr lang="en-US" i="1" dirty="0"/>
              <a:t>w</a:t>
            </a:r>
            <a:r>
              <a:rPr lang="en-US" dirty="0"/>
              <a:t> to </a:t>
            </a:r>
            <a:r>
              <a:rPr lang="en-US" i="1" dirty="0"/>
              <a:t>x</a:t>
            </a:r>
            <a:r>
              <a:rPr lang="en-US" dirty="0"/>
              <a:t>, then </a:t>
            </a:r>
            <a:r>
              <a:rPr lang="en-US" i="1" dirty="0"/>
              <a:t>v</a:t>
            </a:r>
            <a:r>
              <a:rPr lang="en-US" dirty="0"/>
              <a:t> is strongly connected to </a:t>
            </a:r>
            <a:r>
              <a:rPr lang="en-US" i="1" dirty="0"/>
              <a:t>x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Definition</a:t>
            </a:r>
            <a:r>
              <a:rPr lang="en-US" dirty="0"/>
              <a:t>. A </a:t>
            </a:r>
            <a:r>
              <a:rPr lang="en-US" dirty="0">
                <a:solidFill>
                  <a:schemeClr val="accent5"/>
                </a:solidFill>
              </a:rPr>
              <a:t>strong component </a:t>
            </a:r>
            <a:r>
              <a:rPr lang="en-US" dirty="0"/>
              <a:t>is a maximal subset of strongly-connected vertices.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239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77004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Connected vs Strongly-connected components</a:t>
            </a:r>
          </a:p>
        </p:txBody>
      </p:sp>
      <p:grpSp>
        <p:nvGrpSpPr>
          <p:cNvPr id="113" name="Group 112" descr="example undirected graph with 3 highlighted connected components">
            <a:extLst>
              <a:ext uri="{FF2B5EF4-FFF2-40B4-BE49-F238E27FC236}">
                <a16:creationId xmlns:a16="http://schemas.microsoft.com/office/drawing/2014/main" id="{49CBC264-19F1-224D-B0DB-FEB6CCC82C18}"/>
              </a:ext>
            </a:extLst>
          </p:cNvPr>
          <p:cNvGrpSpPr/>
          <p:nvPr/>
        </p:nvGrpSpPr>
        <p:grpSpPr>
          <a:xfrm>
            <a:off x="534765" y="2183589"/>
            <a:ext cx="4349449" cy="2459187"/>
            <a:chOff x="535159" y="2018793"/>
            <a:chExt cx="4349449" cy="2459187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C2A92B4-F7E5-304F-86E6-44BD52B3E06F}"/>
                </a:ext>
              </a:extLst>
            </p:cNvPr>
            <p:cNvGrpSpPr/>
            <p:nvPr/>
          </p:nvGrpSpPr>
          <p:grpSpPr>
            <a:xfrm>
              <a:off x="535159" y="2018793"/>
              <a:ext cx="2708578" cy="2459187"/>
              <a:chOff x="757238" y="3086100"/>
              <a:chExt cx="2708578" cy="2459187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20A7B27-A069-D241-A2D0-83ACE0F21415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88CD55E-8DEF-3D45-9399-35CA1A114309}"/>
                  </a:ext>
                </a:extLst>
              </p:cNvPr>
              <p:cNvSpPr/>
              <p:nvPr/>
            </p:nvSpPr>
            <p:spPr>
              <a:xfrm>
                <a:off x="757238" y="51452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166D598-232F-2D46-A051-2E7614A23780}"/>
                  </a:ext>
                </a:extLst>
              </p:cNvPr>
              <p:cNvSpPr/>
              <p:nvPr/>
            </p:nvSpPr>
            <p:spPr>
              <a:xfrm>
                <a:off x="1345987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ABF9830-2888-984B-BAEF-CA91B73982B2}"/>
                  </a:ext>
                </a:extLst>
              </p:cNvPr>
              <p:cNvSpPr/>
              <p:nvPr/>
            </p:nvSpPr>
            <p:spPr>
              <a:xfrm>
                <a:off x="2172859" y="376714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265E8558-B4DF-874E-83AD-B160FA031550}"/>
                  </a:ext>
                </a:extLst>
              </p:cNvPr>
              <p:cNvSpPr/>
              <p:nvPr/>
            </p:nvSpPr>
            <p:spPr>
              <a:xfrm>
                <a:off x="3080054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2E009A4-27DF-B84C-AB94-C9592BEF3BF6}"/>
                  </a:ext>
                </a:extLst>
              </p:cNvPr>
              <p:cNvSpPr/>
              <p:nvPr/>
            </p:nvSpPr>
            <p:spPr>
              <a:xfrm>
                <a:off x="2595468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BD6F995-554C-2A4C-8659-8914DF3D9E06}"/>
                  </a:ext>
                </a:extLst>
              </p:cNvPr>
              <p:cNvSpPr/>
              <p:nvPr/>
            </p:nvSpPr>
            <p:spPr>
              <a:xfrm>
                <a:off x="1744524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4CCDDD77-6F58-BA48-9DEF-39CC23340E06}"/>
                  </a:ext>
                </a:extLst>
              </p:cNvPr>
              <p:cNvCxnSpPr>
                <a:stCxn id="99" idx="4"/>
                <a:endCxn id="100" idx="0"/>
              </p:cNvCxnSpPr>
              <p:nvPr/>
            </p:nvCxnSpPr>
            <p:spPr>
              <a:xfrm>
                <a:off x="950119" y="3486150"/>
                <a:ext cx="0" cy="1659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A024F9C-43E9-A04F-8D92-9374A35E2FD3}"/>
                  </a:ext>
                </a:extLst>
              </p:cNvPr>
              <p:cNvCxnSpPr>
                <a:cxnSpLocks/>
                <a:stCxn id="99" idx="5"/>
                <a:endCxn id="101" idx="7"/>
              </p:cNvCxnSpPr>
              <p:nvPr/>
            </p:nvCxnSpPr>
            <p:spPr>
              <a:xfrm>
                <a:off x="1086506" y="3427564"/>
                <a:ext cx="588749" cy="4076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6C5A6C2-8561-9547-B560-5B78BA50875B}"/>
                  </a:ext>
                </a:extLst>
              </p:cNvPr>
              <p:cNvCxnSpPr>
                <a:cxnSpLocks/>
                <a:stCxn id="99" idx="6"/>
                <a:endCxn id="102" idx="1"/>
              </p:cNvCxnSpPr>
              <p:nvPr/>
            </p:nvCxnSpPr>
            <p:spPr>
              <a:xfrm>
                <a:off x="1143000" y="3286125"/>
                <a:ext cx="1086353" cy="5396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88609B2-4C01-F84F-B70A-BA0940BF348C}"/>
                  </a:ext>
                </a:extLst>
              </p:cNvPr>
              <p:cNvCxnSpPr>
                <a:cxnSpLocks/>
                <a:stCxn id="99" idx="7"/>
                <a:endCxn id="103" idx="1"/>
              </p:cNvCxnSpPr>
              <p:nvPr/>
            </p:nvCxnSpPr>
            <p:spPr>
              <a:xfrm>
                <a:off x="1086506" y="3144686"/>
                <a:ext cx="2050042" cy="69055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62F0618A-B65B-F949-A9FC-B6C767A49A16}"/>
                  </a:ext>
                </a:extLst>
              </p:cNvPr>
              <p:cNvCxnSpPr>
                <a:cxnSpLocks/>
                <a:stCxn id="105" idx="2"/>
                <a:endCxn id="100" idx="7"/>
              </p:cNvCxnSpPr>
              <p:nvPr/>
            </p:nvCxnSpPr>
            <p:spPr>
              <a:xfrm flipH="1">
                <a:off x="1086506" y="4695954"/>
                <a:ext cx="658018" cy="50786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8A7A7CEE-4D5B-FE42-92B7-8FA3CDB50A82}"/>
                  </a:ext>
                </a:extLst>
              </p:cNvPr>
              <p:cNvCxnSpPr>
                <a:cxnSpLocks/>
                <a:stCxn id="104" idx="2"/>
                <a:endCxn id="105" idx="6"/>
              </p:cNvCxnSpPr>
              <p:nvPr/>
            </p:nvCxnSpPr>
            <p:spPr>
              <a:xfrm flipH="1">
                <a:off x="2130286" y="4695954"/>
                <a:ext cx="465182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0DD27CB-510B-5642-8205-519632A849B2}"/>
                  </a:ext>
                </a:extLst>
              </p:cNvPr>
              <p:cNvCxnSpPr>
                <a:cxnSpLocks/>
                <a:stCxn id="103" idx="3"/>
                <a:endCxn id="104" idx="7"/>
              </p:cNvCxnSpPr>
              <p:nvPr/>
            </p:nvCxnSpPr>
            <p:spPr>
              <a:xfrm flipH="1">
                <a:off x="2924736" y="4118117"/>
                <a:ext cx="211812" cy="4363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05D762E-EE9F-5640-84B2-C9DAF3BEBD6D}"/>
                </a:ext>
              </a:extLst>
            </p:cNvPr>
            <p:cNvGrpSpPr/>
            <p:nvPr/>
          </p:nvGrpSpPr>
          <p:grpSpPr>
            <a:xfrm>
              <a:off x="3040379" y="3917848"/>
              <a:ext cx="1300756" cy="400050"/>
              <a:chOff x="757238" y="5829437"/>
              <a:chExt cx="1300756" cy="40005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469029CD-8482-0746-BE90-7D7D2E1371F3}"/>
                  </a:ext>
                </a:extLst>
              </p:cNvPr>
              <p:cNvSpPr/>
              <p:nvPr/>
            </p:nvSpPr>
            <p:spPr>
              <a:xfrm>
                <a:off x="757238" y="58294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0D22D78-4852-D442-B063-88C98BF20717}"/>
                  </a:ext>
                </a:extLst>
              </p:cNvPr>
              <p:cNvSpPr/>
              <p:nvPr/>
            </p:nvSpPr>
            <p:spPr>
              <a:xfrm>
                <a:off x="1672232" y="58294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C6FCEC14-1479-DB44-94E5-23FD830DAF79}"/>
                  </a:ext>
                </a:extLst>
              </p:cNvPr>
              <p:cNvCxnSpPr>
                <a:cxnSpLocks/>
                <a:stCxn id="97" idx="2"/>
                <a:endCxn id="96" idx="6"/>
              </p:cNvCxnSpPr>
              <p:nvPr/>
            </p:nvCxnSpPr>
            <p:spPr>
              <a:xfrm flipH="1">
                <a:off x="1143000" y="6029462"/>
                <a:ext cx="529232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A69E34C-AE60-4145-8CF0-BCBDE320E358}"/>
                </a:ext>
              </a:extLst>
            </p:cNvPr>
            <p:cNvGrpSpPr/>
            <p:nvPr/>
          </p:nvGrpSpPr>
          <p:grpSpPr>
            <a:xfrm>
              <a:off x="3614858" y="2045554"/>
              <a:ext cx="1269750" cy="1194208"/>
              <a:chOff x="2587226" y="5435329"/>
              <a:chExt cx="1269750" cy="119420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42FE71B4-48B3-2D41-B575-2C6C7E9B73D4}"/>
                  </a:ext>
                </a:extLst>
              </p:cNvPr>
              <p:cNvSpPr/>
              <p:nvPr/>
            </p:nvSpPr>
            <p:spPr>
              <a:xfrm>
                <a:off x="2587226" y="54353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5D88D85E-2548-BA47-9C19-98DA164A9B25}"/>
                  </a:ext>
                </a:extLst>
              </p:cNvPr>
              <p:cNvSpPr/>
              <p:nvPr/>
            </p:nvSpPr>
            <p:spPr>
              <a:xfrm>
                <a:off x="3471214" y="54353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4B1F9C7-D808-1142-A0B2-9672E8A4A9F7}"/>
                  </a:ext>
                </a:extLst>
              </p:cNvPr>
              <p:cNvSpPr/>
              <p:nvPr/>
            </p:nvSpPr>
            <p:spPr>
              <a:xfrm>
                <a:off x="3456926" y="622948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79597CC-57C0-A04C-9F42-4BE87DE1E619}"/>
                  </a:ext>
                </a:extLst>
              </p:cNvPr>
              <p:cNvSpPr/>
              <p:nvPr/>
            </p:nvSpPr>
            <p:spPr>
              <a:xfrm>
                <a:off x="2591788" y="621997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12B4182-CEE7-0B4D-8440-7E48CEA0F1F8}"/>
                  </a:ext>
                </a:extLst>
              </p:cNvPr>
              <p:cNvCxnSpPr>
                <a:cxnSpLocks/>
                <a:stCxn id="90" idx="2"/>
                <a:endCxn id="91" idx="6"/>
              </p:cNvCxnSpPr>
              <p:nvPr/>
            </p:nvCxnSpPr>
            <p:spPr>
              <a:xfrm flipH="1" flipV="1">
                <a:off x="2977550" y="6419999"/>
                <a:ext cx="479376" cy="95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75C3B30-D521-8649-B21E-6269E16C205F}"/>
                  </a:ext>
                </a:extLst>
              </p:cNvPr>
              <p:cNvCxnSpPr>
                <a:cxnSpLocks/>
                <a:stCxn id="88" idx="4"/>
                <a:endCxn id="91" idx="0"/>
              </p:cNvCxnSpPr>
              <p:nvPr/>
            </p:nvCxnSpPr>
            <p:spPr>
              <a:xfrm>
                <a:off x="2780107" y="5835379"/>
                <a:ext cx="4562" cy="38459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43259984-8707-F843-9BC7-BBBD52DC3604}"/>
                  </a:ext>
                </a:extLst>
              </p:cNvPr>
              <p:cNvCxnSpPr>
                <a:cxnSpLocks/>
                <a:stCxn id="89" idx="2"/>
                <a:endCxn id="88" idx="6"/>
              </p:cNvCxnSpPr>
              <p:nvPr/>
            </p:nvCxnSpPr>
            <p:spPr>
              <a:xfrm flipH="1">
                <a:off x="2972988" y="5635354"/>
                <a:ext cx="498226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B60997D-ECDE-2E4C-BCC7-4B8D13E77D67}"/>
                  </a:ext>
                </a:extLst>
              </p:cNvPr>
              <p:cNvCxnSpPr>
                <a:cxnSpLocks/>
                <a:stCxn id="90" idx="1"/>
                <a:endCxn id="88" idx="5"/>
              </p:cNvCxnSpPr>
              <p:nvPr/>
            </p:nvCxnSpPr>
            <p:spPr>
              <a:xfrm flipH="1" flipV="1">
                <a:off x="2916494" y="5776793"/>
                <a:ext cx="596926" cy="5112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C9C09E44-F6BB-5B47-B4EC-1BE849B5CFC5}"/>
              </a:ext>
            </a:extLst>
          </p:cNvPr>
          <p:cNvSpPr txBox="1"/>
          <p:nvPr/>
        </p:nvSpPr>
        <p:spPr>
          <a:xfrm>
            <a:off x="559604" y="1380766"/>
            <a:ext cx="4013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Undirected graph: v and w are </a:t>
            </a:r>
            <a:r>
              <a:rPr lang="en-US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if there is a path between v and w</a:t>
            </a:r>
          </a:p>
        </p:txBody>
      </p:sp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9360F1B6-D169-D14B-8E34-689C7DA82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083253"/>
              </p:ext>
            </p:extLst>
          </p:nvPr>
        </p:nvGraphicFramePr>
        <p:xfrm>
          <a:off x="43546" y="5055235"/>
          <a:ext cx="5628070" cy="55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05">
                  <a:extLst>
                    <a:ext uri="{9D8B030D-6E8A-4147-A177-3AD203B41FA5}">
                      <a16:colId xmlns:a16="http://schemas.microsoft.com/office/drawing/2014/main" val="3401542702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752112364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52596371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854940525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1505606505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74704163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957575242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959698746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83192566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23081656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7881833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52079534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84198938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194602133"/>
                    </a:ext>
                  </a:extLst>
                </a:gridCol>
              </a:tblGrid>
              <a:tr h="24403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68626"/>
                  </a:ext>
                </a:extLst>
              </a:tr>
              <a:tr h="30086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cc[]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410906"/>
                  </a:ext>
                </a:extLst>
              </a:tr>
            </a:tbl>
          </a:graphicData>
        </a:graphic>
      </p:graphicFrame>
      <p:grpSp>
        <p:nvGrpSpPr>
          <p:cNvPr id="117" name="Group 116" descr="highlighting connected components">
            <a:extLst>
              <a:ext uri="{FF2B5EF4-FFF2-40B4-BE49-F238E27FC236}">
                <a16:creationId xmlns:a16="http://schemas.microsoft.com/office/drawing/2014/main" id="{26182001-9606-F544-BD8A-449BC9C8025C}"/>
              </a:ext>
            </a:extLst>
          </p:cNvPr>
          <p:cNvGrpSpPr/>
          <p:nvPr/>
        </p:nvGrpSpPr>
        <p:grpSpPr>
          <a:xfrm>
            <a:off x="199244" y="2003541"/>
            <a:ext cx="5239077" cy="2912533"/>
            <a:chOff x="1032933" y="3759200"/>
            <a:chExt cx="5239077" cy="2912533"/>
          </a:xfrm>
        </p:grpSpPr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8969B36C-A53D-6148-AF1C-DF451CA1A0D4}"/>
                </a:ext>
              </a:extLst>
            </p:cNvPr>
            <p:cNvSpPr/>
            <p:nvPr/>
          </p:nvSpPr>
          <p:spPr>
            <a:xfrm>
              <a:off x="1032933" y="3759200"/>
              <a:ext cx="3335867" cy="2912533"/>
            </a:xfrm>
            <a:custGeom>
              <a:avLst/>
              <a:gdLst>
                <a:gd name="connsiteX0" fmla="*/ 186267 w 3335867"/>
                <a:gd name="connsiteY0" fmla="*/ 0 h 2912533"/>
                <a:gd name="connsiteX1" fmla="*/ 0 w 3335867"/>
                <a:gd name="connsiteY1" fmla="*/ 2421467 h 2912533"/>
                <a:gd name="connsiteX2" fmla="*/ 524934 w 3335867"/>
                <a:gd name="connsiteY2" fmla="*/ 2912533 h 2912533"/>
                <a:gd name="connsiteX3" fmla="*/ 1574800 w 3335867"/>
                <a:gd name="connsiteY3" fmla="*/ 2319867 h 2912533"/>
                <a:gd name="connsiteX4" fmla="*/ 1811867 w 3335867"/>
                <a:gd name="connsiteY4" fmla="*/ 2015067 h 2912533"/>
                <a:gd name="connsiteX5" fmla="*/ 2607734 w 3335867"/>
                <a:gd name="connsiteY5" fmla="*/ 2015067 h 2912533"/>
                <a:gd name="connsiteX6" fmla="*/ 3335867 w 3335867"/>
                <a:gd name="connsiteY6" fmla="*/ 914400 h 2912533"/>
                <a:gd name="connsiteX7" fmla="*/ 3183467 w 3335867"/>
                <a:gd name="connsiteY7" fmla="*/ 423333 h 2912533"/>
                <a:gd name="connsiteX8" fmla="*/ 186267 w 3335867"/>
                <a:gd name="connsiteY8" fmla="*/ 0 h 291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5867" h="2912533">
                  <a:moveTo>
                    <a:pt x="186267" y="0"/>
                  </a:moveTo>
                  <a:lnTo>
                    <a:pt x="0" y="2421467"/>
                  </a:lnTo>
                  <a:lnTo>
                    <a:pt x="524934" y="2912533"/>
                  </a:lnTo>
                  <a:lnTo>
                    <a:pt x="1574800" y="2319867"/>
                  </a:lnTo>
                  <a:lnTo>
                    <a:pt x="1811867" y="2015067"/>
                  </a:lnTo>
                  <a:lnTo>
                    <a:pt x="2607734" y="2015067"/>
                  </a:lnTo>
                  <a:lnTo>
                    <a:pt x="3335867" y="914400"/>
                  </a:lnTo>
                  <a:lnTo>
                    <a:pt x="3183467" y="423333"/>
                  </a:lnTo>
                  <a:lnTo>
                    <a:pt x="186267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5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 118" descr="example undirected graph">
              <a:extLst>
                <a:ext uri="{FF2B5EF4-FFF2-40B4-BE49-F238E27FC236}">
                  <a16:creationId xmlns:a16="http://schemas.microsoft.com/office/drawing/2014/main" id="{B7EECC16-B6D2-4440-B553-D0AF12856BDE}"/>
                </a:ext>
              </a:extLst>
            </p:cNvPr>
            <p:cNvSpPr/>
            <p:nvPr/>
          </p:nvSpPr>
          <p:spPr>
            <a:xfrm>
              <a:off x="4392410" y="3822163"/>
              <a:ext cx="1879600" cy="1642533"/>
            </a:xfrm>
            <a:custGeom>
              <a:avLst/>
              <a:gdLst>
                <a:gd name="connsiteX0" fmla="*/ 0 w 1879600"/>
                <a:gd name="connsiteY0" fmla="*/ 0 h 1642533"/>
                <a:gd name="connsiteX1" fmla="*/ 0 w 1879600"/>
                <a:gd name="connsiteY1" fmla="*/ 1574800 h 1642533"/>
                <a:gd name="connsiteX2" fmla="*/ 1202267 w 1879600"/>
                <a:gd name="connsiteY2" fmla="*/ 1642533 h 1642533"/>
                <a:gd name="connsiteX3" fmla="*/ 1879600 w 1879600"/>
                <a:gd name="connsiteY3" fmla="*/ 1303867 h 1642533"/>
                <a:gd name="connsiteX4" fmla="*/ 1778000 w 1879600"/>
                <a:gd name="connsiteY4" fmla="*/ 118533 h 1642533"/>
                <a:gd name="connsiteX5" fmla="*/ 0 w 1879600"/>
                <a:gd name="connsiteY5" fmla="*/ 0 h 164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9600" h="1642533">
                  <a:moveTo>
                    <a:pt x="0" y="0"/>
                  </a:moveTo>
                  <a:lnTo>
                    <a:pt x="0" y="1574800"/>
                  </a:lnTo>
                  <a:lnTo>
                    <a:pt x="1202267" y="1642533"/>
                  </a:lnTo>
                  <a:lnTo>
                    <a:pt x="1879600" y="1303867"/>
                  </a:lnTo>
                  <a:lnTo>
                    <a:pt x="1778000" y="118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CA408C18-D52E-8D40-84FE-74A7F118D791}"/>
                </a:ext>
              </a:extLst>
            </p:cNvPr>
            <p:cNvSpPr/>
            <p:nvPr/>
          </p:nvSpPr>
          <p:spPr>
            <a:xfrm>
              <a:off x="3434101" y="5612911"/>
              <a:ext cx="2252133" cy="965200"/>
            </a:xfrm>
            <a:custGeom>
              <a:avLst/>
              <a:gdLst>
                <a:gd name="connsiteX0" fmla="*/ 338666 w 2252133"/>
                <a:gd name="connsiteY0" fmla="*/ 118534 h 965200"/>
                <a:gd name="connsiteX1" fmla="*/ 0 w 2252133"/>
                <a:gd name="connsiteY1" fmla="*/ 677334 h 965200"/>
                <a:gd name="connsiteX2" fmla="*/ 694266 w 2252133"/>
                <a:gd name="connsiteY2" fmla="*/ 948267 h 965200"/>
                <a:gd name="connsiteX3" fmla="*/ 1727200 w 2252133"/>
                <a:gd name="connsiteY3" fmla="*/ 965200 h 965200"/>
                <a:gd name="connsiteX4" fmla="*/ 2252133 w 2252133"/>
                <a:gd name="connsiteY4" fmla="*/ 372534 h 965200"/>
                <a:gd name="connsiteX5" fmla="*/ 1608666 w 2252133"/>
                <a:gd name="connsiteY5" fmla="*/ 0 h 965200"/>
                <a:gd name="connsiteX6" fmla="*/ 338666 w 2252133"/>
                <a:gd name="connsiteY6" fmla="*/ 118534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2133" h="965200">
                  <a:moveTo>
                    <a:pt x="338666" y="118534"/>
                  </a:moveTo>
                  <a:lnTo>
                    <a:pt x="0" y="677334"/>
                  </a:lnTo>
                  <a:lnTo>
                    <a:pt x="694266" y="948267"/>
                  </a:lnTo>
                  <a:lnTo>
                    <a:pt x="1727200" y="965200"/>
                  </a:lnTo>
                  <a:lnTo>
                    <a:pt x="2252133" y="372534"/>
                  </a:lnTo>
                  <a:lnTo>
                    <a:pt x="1608666" y="0"/>
                  </a:lnTo>
                  <a:lnTo>
                    <a:pt x="338666" y="118534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  <a:alpha val="5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1459EA9-8526-5C42-81BC-539655990266}"/>
              </a:ext>
            </a:extLst>
          </p:cNvPr>
          <p:cNvSpPr txBox="1"/>
          <p:nvPr/>
        </p:nvSpPr>
        <p:spPr>
          <a:xfrm>
            <a:off x="223759" y="5873756"/>
            <a:ext cx="5872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DFS to discover connected components in linear time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v connected to w?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cc[v] == cc[w] (constant time)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7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770046" cy="720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Connected vs Strongly-connected components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9C09E44-F6BB-5B47-B4EC-1BE849B5CFC5}"/>
              </a:ext>
            </a:extLst>
          </p:cNvPr>
          <p:cNvSpPr txBox="1"/>
          <p:nvPr/>
        </p:nvSpPr>
        <p:spPr>
          <a:xfrm>
            <a:off x="559604" y="1380766"/>
            <a:ext cx="4013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Undirected graph: v and w are </a:t>
            </a:r>
            <a:r>
              <a:rPr lang="en-US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if there is a path between v and w</a:t>
            </a:r>
          </a:p>
        </p:txBody>
      </p:sp>
      <p:grpSp>
        <p:nvGrpSpPr>
          <p:cNvPr id="113" name="Group 112" descr="example undirected graph with 3 highlighted connected components">
            <a:extLst>
              <a:ext uri="{FF2B5EF4-FFF2-40B4-BE49-F238E27FC236}">
                <a16:creationId xmlns:a16="http://schemas.microsoft.com/office/drawing/2014/main" id="{49CBC264-19F1-224D-B0DB-FEB6CCC82C18}"/>
              </a:ext>
            </a:extLst>
          </p:cNvPr>
          <p:cNvGrpSpPr/>
          <p:nvPr/>
        </p:nvGrpSpPr>
        <p:grpSpPr>
          <a:xfrm>
            <a:off x="534765" y="2183589"/>
            <a:ext cx="4349449" cy="2459187"/>
            <a:chOff x="535159" y="2018793"/>
            <a:chExt cx="4349449" cy="2459187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C2A92B4-F7E5-304F-86E6-44BD52B3E06F}"/>
                </a:ext>
              </a:extLst>
            </p:cNvPr>
            <p:cNvGrpSpPr/>
            <p:nvPr/>
          </p:nvGrpSpPr>
          <p:grpSpPr>
            <a:xfrm>
              <a:off x="535159" y="2018793"/>
              <a:ext cx="2708578" cy="2459187"/>
              <a:chOff x="757238" y="3086100"/>
              <a:chExt cx="2708578" cy="2459187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20A7B27-A069-D241-A2D0-83ACE0F21415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88CD55E-8DEF-3D45-9399-35CA1A114309}"/>
                  </a:ext>
                </a:extLst>
              </p:cNvPr>
              <p:cNvSpPr/>
              <p:nvPr/>
            </p:nvSpPr>
            <p:spPr>
              <a:xfrm>
                <a:off x="757238" y="51452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166D598-232F-2D46-A051-2E7614A23780}"/>
                  </a:ext>
                </a:extLst>
              </p:cNvPr>
              <p:cNvSpPr/>
              <p:nvPr/>
            </p:nvSpPr>
            <p:spPr>
              <a:xfrm>
                <a:off x="1345987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ABF9830-2888-984B-BAEF-CA91B73982B2}"/>
                  </a:ext>
                </a:extLst>
              </p:cNvPr>
              <p:cNvSpPr/>
              <p:nvPr/>
            </p:nvSpPr>
            <p:spPr>
              <a:xfrm>
                <a:off x="2172859" y="376714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265E8558-B4DF-874E-83AD-B160FA031550}"/>
                  </a:ext>
                </a:extLst>
              </p:cNvPr>
              <p:cNvSpPr/>
              <p:nvPr/>
            </p:nvSpPr>
            <p:spPr>
              <a:xfrm>
                <a:off x="3080054" y="3776653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D2E009A4-27DF-B84C-AB94-C9592BEF3BF6}"/>
                  </a:ext>
                </a:extLst>
              </p:cNvPr>
              <p:cNvSpPr/>
              <p:nvPr/>
            </p:nvSpPr>
            <p:spPr>
              <a:xfrm>
                <a:off x="2595468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BD6F995-554C-2A4C-8659-8914DF3D9E06}"/>
                  </a:ext>
                </a:extLst>
              </p:cNvPr>
              <p:cNvSpPr/>
              <p:nvPr/>
            </p:nvSpPr>
            <p:spPr>
              <a:xfrm>
                <a:off x="1744524" y="44959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4CCDDD77-6F58-BA48-9DEF-39CC23340E06}"/>
                  </a:ext>
                </a:extLst>
              </p:cNvPr>
              <p:cNvCxnSpPr>
                <a:stCxn id="99" idx="4"/>
                <a:endCxn id="100" idx="0"/>
              </p:cNvCxnSpPr>
              <p:nvPr/>
            </p:nvCxnSpPr>
            <p:spPr>
              <a:xfrm>
                <a:off x="950119" y="3486150"/>
                <a:ext cx="0" cy="165908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A024F9C-43E9-A04F-8D92-9374A35E2FD3}"/>
                  </a:ext>
                </a:extLst>
              </p:cNvPr>
              <p:cNvCxnSpPr>
                <a:cxnSpLocks/>
                <a:stCxn id="99" idx="5"/>
                <a:endCxn id="101" idx="7"/>
              </p:cNvCxnSpPr>
              <p:nvPr/>
            </p:nvCxnSpPr>
            <p:spPr>
              <a:xfrm>
                <a:off x="1086506" y="3427564"/>
                <a:ext cx="588749" cy="40767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6C5A6C2-8561-9547-B560-5B78BA50875B}"/>
                  </a:ext>
                </a:extLst>
              </p:cNvPr>
              <p:cNvCxnSpPr>
                <a:cxnSpLocks/>
                <a:stCxn id="99" idx="6"/>
                <a:endCxn id="102" idx="1"/>
              </p:cNvCxnSpPr>
              <p:nvPr/>
            </p:nvCxnSpPr>
            <p:spPr>
              <a:xfrm>
                <a:off x="1143000" y="3286125"/>
                <a:ext cx="1086353" cy="539607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88609B2-4C01-F84F-B70A-BA0940BF348C}"/>
                  </a:ext>
                </a:extLst>
              </p:cNvPr>
              <p:cNvCxnSpPr>
                <a:cxnSpLocks/>
                <a:stCxn id="99" idx="7"/>
                <a:endCxn id="103" idx="1"/>
              </p:cNvCxnSpPr>
              <p:nvPr/>
            </p:nvCxnSpPr>
            <p:spPr>
              <a:xfrm>
                <a:off x="1086506" y="3144686"/>
                <a:ext cx="2050042" cy="69055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62F0618A-B65B-F949-A9FC-B6C767A49A16}"/>
                  </a:ext>
                </a:extLst>
              </p:cNvPr>
              <p:cNvCxnSpPr>
                <a:cxnSpLocks/>
                <a:stCxn id="105" idx="2"/>
                <a:endCxn id="100" idx="7"/>
              </p:cNvCxnSpPr>
              <p:nvPr/>
            </p:nvCxnSpPr>
            <p:spPr>
              <a:xfrm flipH="1">
                <a:off x="1086506" y="4695954"/>
                <a:ext cx="658018" cy="507869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8A7A7CEE-4D5B-FE42-92B7-8FA3CDB50A82}"/>
                  </a:ext>
                </a:extLst>
              </p:cNvPr>
              <p:cNvCxnSpPr>
                <a:cxnSpLocks/>
                <a:stCxn id="104" idx="2"/>
                <a:endCxn id="105" idx="6"/>
              </p:cNvCxnSpPr>
              <p:nvPr/>
            </p:nvCxnSpPr>
            <p:spPr>
              <a:xfrm flipH="1">
                <a:off x="2130286" y="4695954"/>
                <a:ext cx="465182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50DD27CB-510B-5642-8205-519632A849B2}"/>
                  </a:ext>
                </a:extLst>
              </p:cNvPr>
              <p:cNvCxnSpPr>
                <a:cxnSpLocks/>
                <a:stCxn id="103" idx="3"/>
                <a:endCxn id="104" idx="7"/>
              </p:cNvCxnSpPr>
              <p:nvPr/>
            </p:nvCxnSpPr>
            <p:spPr>
              <a:xfrm flipH="1">
                <a:off x="2924736" y="4118117"/>
                <a:ext cx="211812" cy="436398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05D762E-EE9F-5640-84B2-C9DAF3BEBD6D}"/>
                </a:ext>
              </a:extLst>
            </p:cNvPr>
            <p:cNvGrpSpPr/>
            <p:nvPr/>
          </p:nvGrpSpPr>
          <p:grpSpPr>
            <a:xfrm>
              <a:off x="3040379" y="3917848"/>
              <a:ext cx="1300756" cy="400050"/>
              <a:chOff x="757238" y="5829437"/>
              <a:chExt cx="1300756" cy="40005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469029CD-8482-0746-BE90-7D7D2E1371F3}"/>
                  </a:ext>
                </a:extLst>
              </p:cNvPr>
              <p:cNvSpPr/>
              <p:nvPr/>
            </p:nvSpPr>
            <p:spPr>
              <a:xfrm>
                <a:off x="757238" y="58294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0D22D78-4852-D442-B063-88C98BF20717}"/>
                  </a:ext>
                </a:extLst>
              </p:cNvPr>
              <p:cNvSpPr/>
              <p:nvPr/>
            </p:nvSpPr>
            <p:spPr>
              <a:xfrm>
                <a:off x="1672232" y="58294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C6FCEC14-1479-DB44-94E5-23FD830DAF79}"/>
                  </a:ext>
                </a:extLst>
              </p:cNvPr>
              <p:cNvCxnSpPr>
                <a:cxnSpLocks/>
                <a:stCxn id="97" idx="2"/>
                <a:endCxn id="96" idx="6"/>
              </p:cNvCxnSpPr>
              <p:nvPr/>
            </p:nvCxnSpPr>
            <p:spPr>
              <a:xfrm flipH="1">
                <a:off x="1143000" y="6029462"/>
                <a:ext cx="529232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5A69E34C-AE60-4145-8CF0-BCBDE320E358}"/>
                </a:ext>
              </a:extLst>
            </p:cNvPr>
            <p:cNvGrpSpPr/>
            <p:nvPr/>
          </p:nvGrpSpPr>
          <p:grpSpPr>
            <a:xfrm>
              <a:off x="3614858" y="2045554"/>
              <a:ext cx="1269750" cy="1194208"/>
              <a:chOff x="2587226" y="5435329"/>
              <a:chExt cx="1269750" cy="1194208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42FE71B4-48B3-2D41-B575-2C6C7E9B73D4}"/>
                  </a:ext>
                </a:extLst>
              </p:cNvPr>
              <p:cNvSpPr/>
              <p:nvPr/>
            </p:nvSpPr>
            <p:spPr>
              <a:xfrm>
                <a:off x="2587226" y="54353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5D88D85E-2548-BA47-9C19-98DA164A9B25}"/>
                  </a:ext>
                </a:extLst>
              </p:cNvPr>
              <p:cNvSpPr/>
              <p:nvPr/>
            </p:nvSpPr>
            <p:spPr>
              <a:xfrm>
                <a:off x="3471214" y="5435329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4B1F9C7-D808-1142-A0B2-9672E8A4A9F7}"/>
                  </a:ext>
                </a:extLst>
              </p:cNvPr>
              <p:cNvSpPr/>
              <p:nvPr/>
            </p:nvSpPr>
            <p:spPr>
              <a:xfrm>
                <a:off x="3456926" y="622948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79597CC-57C0-A04C-9F42-4BE87DE1E619}"/>
                  </a:ext>
                </a:extLst>
              </p:cNvPr>
              <p:cNvSpPr/>
              <p:nvPr/>
            </p:nvSpPr>
            <p:spPr>
              <a:xfrm>
                <a:off x="2591788" y="621997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12B4182-CEE7-0B4D-8440-7E48CEA0F1F8}"/>
                  </a:ext>
                </a:extLst>
              </p:cNvPr>
              <p:cNvCxnSpPr>
                <a:cxnSpLocks/>
                <a:stCxn id="90" idx="2"/>
                <a:endCxn id="91" idx="6"/>
              </p:cNvCxnSpPr>
              <p:nvPr/>
            </p:nvCxnSpPr>
            <p:spPr>
              <a:xfrm flipH="1" flipV="1">
                <a:off x="2977550" y="6419999"/>
                <a:ext cx="479376" cy="9513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75C3B30-D521-8649-B21E-6269E16C205F}"/>
                  </a:ext>
                </a:extLst>
              </p:cNvPr>
              <p:cNvCxnSpPr>
                <a:cxnSpLocks/>
                <a:stCxn id="88" idx="4"/>
                <a:endCxn id="91" idx="0"/>
              </p:cNvCxnSpPr>
              <p:nvPr/>
            </p:nvCxnSpPr>
            <p:spPr>
              <a:xfrm>
                <a:off x="2780107" y="5835379"/>
                <a:ext cx="4562" cy="384595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43259984-8707-F843-9BC7-BBBD52DC3604}"/>
                  </a:ext>
                </a:extLst>
              </p:cNvPr>
              <p:cNvCxnSpPr>
                <a:cxnSpLocks/>
                <a:stCxn id="89" idx="2"/>
                <a:endCxn id="88" idx="6"/>
              </p:cNvCxnSpPr>
              <p:nvPr/>
            </p:nvCxnSpPr>
            <p:spPr>
              <a:xfrm flipH="1">
                <a:off x="2972988" y="5635354"/>
                <a:ext cx="498226" cy="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B60997D-ECDE-2E4C-BCC7-4B8D13E77D67}"/>
                  </a:ext>
                </a:extLst>
              </p:cNvPr>
              <p:cNvCxnSpPr>
                <a:cxnSpLocks/>
                <a:stCxn id="90" idx="1"/>
                <a:endCxn id="88" idx="5"/>
              </p:cNvCxnSpPr>
              <p:nvPr/>
            </p:nvCxnSpPr>
            <p:spPr>
              <a:xfrm flipH="1" flipV="1">
                <a:off x="2916494" y="5776793"/>
                <a:ext cx="596926" cy="51128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 descr="highlighting connected components">
            <a:extLst>
              <a:ext uri="{FF2B5EF4-FFF2-40B4-BE49-F238E27FC236}">
                <a16:creationId xmlns:a16="http://schemas.microsoft.com/office/drawing/2014/main" id="{26182001-9606-F544-BD8A-449BC9C8025C}"/>
              </a:ext>
            </a:extLst>
          </p:cNvPr>
          <p:cNvGrpSpPr/>
          <p:nvPr/>
        </p:nvGrpSpPr>
        <p:grpSpPr>
          <a:xfrm>
            <a:off x="199244" y="2003541"/>
            <a:ext cx="5239077" cy="2912533"/>
            <a:chOff x="1032933" y="3759200"/>
            <a:chExt cx="5239077" cy="2912533"/>
          </a:xfrm>
        </p:grpSpPr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8969B36C-A53D-6148-AF1C-DF451CA1A0D4}"/>
                </a:ext>
              </a:extLst>
            </p:cNvPr>
            <p:cNvSpPr/>
            <p:nvPr/>
          </p:nvSpPr>
          <p:spPr>
            <a:xfrm>
              <a:off x="1032933" y="3759200"/>
              <a:ext cx="3335867" cy="2912533"/>
            </a:xfrm>
            <a:custGeom>
              <a:avLst/>
              <a:gdLst>
                <a:gd name="connsiteX0" fmla="*/ 186267 w 3335867"/>
                <a:gd name="connsiteY0" fmla="*/ 0 h 2912533"/>
                <a:gd name="connsiteX1" fmla="*/ 0 w 3335867"/>
                <a:gd name="connsiteY1" fmla="*/ 2421467 h 2912533"/>
                <a:gd name="connsiteX2" fmla="*/ 524934 w 3335867"/>
                <a:gd name="connsiteY2" fmla="*/ 2912533 h 2912533"/>
                <a:gd name="connsiteX3" fmla="*/ 1574800 w 3335867"/>
                <a:gd name="connsiteY3" fmla="*/ 2319867 h 2912533"/>
                <a:gd name="connsiteX4" fmla="*/ 1811867 w 3335867"/>
                <a:gd name="connsiteY4" fmla="*/ 2015067 h 2912533"/>
                <a:gd name="connsiteX5" fmla="*/ 2607734 w 3335867"/>
                <a:gd name="connsiteY5" fmla="*/ 2015067 h 2912533"/>
                <a:gd name="connsiteX6" fmla="*/ 3335867 w 3335867"/>
                <a:gd name="connsiteY6" fmla="*/ 914400 h 2912533"/>
                <a:gd name="connsiteX7" fmla="*/ 3183467 w 3335867"/>
                <a:gd name="connsiteY7" fmla="*/ 423333 h 2912533"/>
                <a:gd name="connsiteX8" fmla="*/ 186267 w 3335867"/>
                <a:gd name="connsiteY8" fmla="*/ 0 h 291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5867" h="2912533">
                  <a:moveTo>
                    <a:pt x="186267" y="0"/>
                  </a:moveTo>
                  <a:lnTo>
                    <a:pt x="0" y="2421467"/>
                  </a:lnTo>
                  <a:lnTo>
                    <a:pt x="524934" y="2912533"/>
                  </a:lnTo>
                  <a:lnTo>
                    <a:pt x="1574800" y="2319867"/>
                  </a:lnTo>
                  <a:lnTo>
                    <a:pt x="1811867" y="2015067"/>
                  </a:lnTo>
                  <a:lnTo>
                    <a:pt x="2607734" y="2015067"/>
                  </a:lnTo>
                  <a:lnTo>
                    <a:pt x="3335867" y="914400"/>
                  </a:lnTo>
                  <a:lnTo>
                    <a:pt x="3183467" y="423333"/>
                  </a:lnTo>
                  <a:lnTo>
                    <a:pt x="186267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50000"/>
              </a:schemeClr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B7EECC16-B6D2-4440-B553-D0AF12856BDE}"/>
                </a:ext>
              </a:extLst>
            </p:cNvPr>
            <p:cNvSpPr/>
            <p:nvPr/>
          </p:nvSpPr>
          <p:spPr>
            <a:xfrm>
              <a:off x="4392410" y="3822163"/>
              <a:ext cx="1879600" cy="1642533"/>
            </a:xfrm>
            <a:custGeom>
              <a:avLst/>
              <a:gdLst>
                <a:gd name="connsiteX0" fmla="*/ 0 w 1879600"/>
                <a:gd name="connsiteY0" fmla="*/ 0 h 1642533"/>
                <a:gd name="connsiteX1" fmla="*/ 0 w 1879600"/>
                <a:gd name="connsiteY1" fmla="*/ 1574800 h 1642533"/>
                <a:gd name="connsiteX2" fmla="*/ 1202267 w 1879600"/>
                <a:gd name="connsiteY2" fmla="*/ 1642533 h 1642533"/>
                <a:gd name="connsiteX3" fmla="*/ 1879600 w 1879600"/>
                <a:gd name="connsiteY3" fmla="*/ 1303867 h 1642533"/>
                <a:gd name="connsiteX4" fmla="*/ 1778000 w 1879600"/>
                <a:gd name="connsiteY4" fmla="*/ 118533 h 1642533"/>
                <a:gd name="connsiteX5" fmla="*/ 0 w 1879600"/>
                <a:gd name="connsiteY5" fmla="*/ 0 h 164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9600" h="1642533">
                  <a:moveTo>
                    <a:pt x="0" y="0"/>
                  </a:moveTo>
                  <a:lnTo>
                    <a:pt x="0" y="1574800"/>
                  </a:lnTo>
                  <a:lnTo>
                    <a:pt x="1202267" y="1642533"/>
                  </a:lnTo>
                  <a:lnTo>
                    <a:pt x="1879600" y="1303867"/>
                  </a:lnTo>
                  <a:lnTo>
                    <a:pt x="1778000" y="118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50000"/>
              </a:schemeClr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CA408C18-D52E-8D40-84FE-74A7F118D791}"/>
                </a:ext>
              </a:extLst>
            </p:cNvPr>
            <p:cNvSpPr/>
            <p:nvPr/>
          </p:nvSpPr>
          <p:spPr>
            <a:xfrm>
              <a:off x="3434101" y="5612911"/>
              <a:ext cx="2252133" cy="965200"/>
            </a:xfrm>
            <a:custGeom>
              <a:avLst/>
              <a:gdLst>
                <a:gd name="connsiteX0" fmla="*/ 338666 w 2252133"/>
                <a:gd name="connsiteY0" fmla="*/ 118534 h 965200"/>
                <a:gd name="connsiteX1" fmla="*/ 0 w 2252133"/>
                <a:gd name="connsiteY1" fmla="*/ 677334 h 965200"/>
                <a:gd name="connsiteX2" fmla="*/ 694266 w 2252133"/>
                <a:gd name="connsiteY2" fmla="*/ 948267 h 965200"/>
                <a:gd name="connsiteX3" fmla="*/ 1727200 w 2252133"/>
                <a:gd name="connsiteY3" fmla="*/ 965200 h 965200"/>
                <a:gd name="connsiteX4" fmla="*/ 2252133 w 2252133"/>
                <a:gd name="connsiteY4" fmla="*/ 372534 h 965200"/>
                <a:gd name="connsiteX5" fmla="*/ 1608666 w 2252133"/>
                <a:gd name="connsiteY5" fmla="*/ 0 h 965200"/>
                <a:gd name="connsiteX6" fmla="*/ 338666 w 2252133"/>
                <a:gd name="connsiteY6" fmla="*/ 118534 h 96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2133" h="965200">
                  <a:moveTo>
                    <a:pt x="338666" y="118534"/>
                  </a:moveTo>
                  <a:lnTo>
                    <a:pt x="0" y="677334"/>
                  </a:lnTo>
                  <a:lnTo>
                    <a:pt x="694266" y="948267"/>
                  </a:lnTo>
                  <a:lnTo>
                    <a:pt x="1727200" y="965200"/>
                  </a:lnTo>
                  <a:lnTo>
                    <a:pt x="2252133" y="372534"/>
                  </a:lnTo>
                  <a:lnTo>
                    <a:pt x="1608666" y="0"/>
                  </a:lnTo>
                  <a:lnTo>
                    <a:pt x="338666" y="118534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  <a:alpha val="5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9360F1B6-D169-D14B-8E34-689C7DA821E2}"/>
              </a:ext>
            </a:extLst>
          </p:cNvPr>
          <p:cNvGraphicFramePr>
            <a:graphicFrameLocks noGrp="1"/>
          </p:cNvGraphicFramePr>
          <p:nvPr/>
        </p:nvGraphicFramePr>
        <p:xfrm>
          <a:off x="43546" y="5055235"/>
          <a:ext cx="5628070" cy="55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05">
                  <a:extLst>
                    <a:ext uri="{9D8B030D-6E8A-4147-A177-3AD203B41FA5}">
                      <a16:colId xmlns:a16="http://schemas.microsoft.com/office/drawing/2014/main" val="3401542702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752112364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52596371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854940525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1505606505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74704163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957575242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959698746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83192566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23081656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78818337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52079534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2841989388"/>
                    </a:ext>
                  </a:extLst>
                </a:gridCol>
                <a:gridCol w="402005">
                  <a:extLst>
                    <a:ext uri="{9D8B030D-6E8A-4147-A177-3AD203B41FA5}">
                      <a16:colId xmlns:a16="http://schemas.microsoft.com/office/drawing/2014/main" val="3194602133"/>
                    </a:ext>
                  </a:extLst>
                </a:gridCol>
              </a:tblGrid>
              <a:tr h="24403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68626"/>
                  </a:ext>
                </a:extLst>
              </a:tr>
              <a:tr h="30086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cc[]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410906"/>
                  </a:ext>
                </a:extLst>
              </a:tr>
            </a:tbl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F1459EA9-8526-5C42-81BC-539655990266}"/>
              </a:ext>
            </a:extLst>
          </p:cNvPr>
          <p:cNvSpPr txBox="1"/>
          <p:nvPr/>
        </p:nvSpPr>
        <p:spPr>
          <a:xfrm>
            <a:off x="223759" y="5873756"/>
            <a:ext cx="5872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DFS to discover connected components in linear time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v connected to w?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cc[v] == cc[w] (constant time)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D71B94D-1F21-6142-BBC5-DEA71ADD33BB}"/>
              </a:ext>
            </a:extLst>
          </p:cNvPr>
          <p:cNvSpPr txBox="1"/>
          <p:nvPr/>
        </p:nvSpPr>
        <p:spPr>
          <a:xfrm>
            <a:off x="6790300" y="1392203"/>
            <a:ext cx="4841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Digraph: v and w are </a:t>
            </a:r>
            <a:r>
              <a:rPr lang="en-US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if there is both a directed path from v to w and from w to v</a:t>
            </a:r>
          </a:p>
        </p:txBody>
      </p:sp>
      <p:grpSp>
        <p:nvGrpSpPr>
          <p:cNvPr id="76" name="Group 75" descr="highlighting 5 strongly connected components in example">
            <a:extLst>
              <a:ext uri="{FF2B5EF4-FFF2-40B4-BE49-F238E27FC236}">
                <a16:creationId xmlns:a16="http://schemas.microsoft.com/office/drawing/2014/main" id="{69FD5650-95EF-4948-B874-240E29C1F0C2}"/>
              </a:ext>
            </a:extLst>
          </p:cNvPr>
          <p:cNvGrpSpPr/>
          <p:nvPr/>
        </p:nvGrpSpPr>
        <p:grpSpPr>
          <a:xfrm>
            <a:off x="6874603" y="2040651"/>
            <a:ext cx="4396870" cy="2961709"/>
            <a:chOff x="1292026" y="3619395"/>
            <a:chExt cx="4396870" cy="2961709"/>
          </a:xfrm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70168E9F-3F11-2A4F-90F5-77870B9360CD}"/>
                </a:ext>
              </a:extLst>
            </p:cNvPr>
            <p:cNvSpPr/>
            <p:nvPr/>
          </p:nvSpPr>
          <p:spPr>
            <a:xfrm>
              <a:off x="1970468" y="3631842"/>
              <a:ext cx="2163650" cy="2949262"/>
            </a:xfrm>
            <a:custGeom>
              <a:avLst/>
              <a:gdLst>
                <a:gd name="connsiteX0" fmla="*/ 90152 w 2163650"/>
                <a:gd name="connsiteY0" fmla="*/ 12879 h 2949262"/>
                <a:gd name="connsiteX1" fmla="*/ 0 w 2163650"/>
                <a:gd name="connsiteY1" fmla="*/ 2485623 h 2949262"/>
                <a:gd name="connsiteX2" fmla="*/ 1287887 w 2163650"/>
                <a:gd name="connsiteY2" fmla="*/ 2949262 h 2949262"/>
                <a:gd name="connsiteX3" fmla="*/ 2163650 w 2163650"/>
                <a:gd name="connsiteY3" fmla="*/ 2125014 h 2949262"/>
                <a:gd name="connsiteX4" fmla="*/ 1764405 w 2163650"/>
                <a:gd name="connsiteY4" fmla="*/ 0 h 2949262"/>
                <a:gd name="connsiteX5" fmla="*/ 90152 w 2163650"/>
                <a:gd name="connsiteY5" fmla="*/ 12879 h 2949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3650" h="2949262">
                  <a:moveTo>
                    <a:pt x="90152" y="12879"/>
                  </a:moveTo>
                  <a:lnTo>
                    <a:pt x="0" y="2485623"/>
                  </a:lnTo>
                  <a:lnTo>
                    <a:pt x="1287887" y="2949262"/>
                  </a:lnTo>
                  <a:lnTo>
                    <a:pt x="2163650" y="2125014"/>
                  </a:lnTo>
                  <a:lnTo>
                    <a:pt x="1764405" y="0"/>
                  </a:lnTo>
                  <a:lnTo>
                    <a:pt x="90152" y="12879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44450">
              <a:solidFill>
                <a:schemeClr val="accent2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6FBC73D5-A6B5-F940-B914-76A98A0CA6C7}"/>
                </a:ext>
              </a:extLst>
            </p:cNvPr>
            <p:cNvSpPr/>
            <p:nvPr/>
          </p:nvSpPr>
          <p:spPr>
            <a:xfrm>
              <a:off x="3930325" y="3619395"/>
              <a:ext cx="1558343" cy="772732"/>
            </a:xfrm>
            <a:custGeom>
              <a:avLst/>
              <a:gdLst>
                <a:gd name="connsiteX0" fmla="*/ 0 w 1558343"/>
                <a:gd name="connsiteY0" fmla="*/ 0 h 772732"/>
                <a:gd name="connsiteX1" fmla="*/ 25758 w 1558343"/>
                <a:gd name="connsiteY1" fmla="*/ 772732 h 772732"/>
                <a:gd name="connsiteX2" fmla="*/ 1558343 w 1558343"/>
                <a:gd name="connsiteY2" fmla="*/ 669701 h 772732"/>
                <a:gd name="connsiteX3" fmla="*/ 1519707 w 1558343"/>
                <a:gd name="connsiteY3" fmla="*/ 12879 h 772732"/>
                <a:gd name="connsiteX4" fmla="*/ 0 w 1558343"/>
                <a:gd name="connsiteY4" fmla="*/ 0 h 77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8343" h="772732">
                  <a:moveTo>
                    <a:pt x="0" y="0"/>
                  </a:moveTo>
                  <a:lnTo>
                    <a:pt x="25758" y="772732"/>
                  </a:lnTo>
                  <a:lnTo>
                    <a:pt x="1558343" y="669701"/>
                  </a:lnTo>
                  <a:lnTo>
                    <a:pt x="1519707" y="12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 w="4445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68F87ED9-4951-9E4D-B3D3-2C8B46088F39}"/>
                </a:ext>
              </a:extLst>
            </p:cNvPr>
            <p:cNvSpPr/>
            <p:nvPr/>
          </p:nvSpPr>
          <p:spPr>
            <a:xfrm>
              <a:off x="4172755" y="4958366"/>
              <a:ext cx="1468191" cy="1442434"/>
            </a:xfrm>
            <a:custGeom>
              <a:avLst/>
              <a:gdLst>
                <a:gd name="connsiteX0" fmla="*/ 0 w 1468191"/>
                <a:gd name="connsiteY0" fmla="*/ 0 h 1442434"/>
                <a:gd name="connsiteX1" fmla="*/ 12879 w 1468191"/>
                <a:gd name="connsiteY1" fmla="*/ 1429555 h 1442434"/>
                <a:gd name="connsiteX2" fmla="*/ 1468191 w 1468191"/>
                <a:gd name="connsiteY2" fmla="*/ 1442434 h 1442434"/>
                <a:gd name="connsiteX3" fmla="*/ 1429555 w 1468191"/>
                <a:gd name="connsiteY3" fmla="*/ 115910 h 1442434"/>
                <a:gd name="connsiteX4" fmla="*/ 0 w 1468191"/>
                <a:gd name="connsiteY4" fmla="*/ 0 h 144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8191" h="1442434">
                  <a:moveTo>
                    <a:pt x="0" y="0"/>
                  </a:moveTo>
                  <a:lnTo>
                    <a:pt x="12879" y="1429555"/>
                  </a:lnTo>
                  <a:lnTo>
                    <a:pt x="1468191" y="1442434"/>
                  </a:lnTo>
                  <a:lnTo>
                    <a:pt x="1429555" y="1159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>
                <a:alpha val="50000"/>
              </a:srgbClr>
            </a:solidFill>
            <a:ln w="44450">
              <a:solidFill>
                <a:srgbClr val="7030A0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ADC6EE8-9284-AA48-BCFD-629455C296D3}"/>
                </a:ext>
              </a:extLst>
            </p:cNvPr>
            <p:cNvSpPr/>
            <p:nvPr/>
          </p:nvSpPr>
          <p:spPr>
            <a:xfrm>
              <a:off x="1292026" y="4205789"/>
              <a:ext cx="638245" cy="625056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 w="44450">
              <a:solidFill>
                <a:schemeClr val="accent5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B3F107D-1810-1144-97A0-F5A017FF8455}"/>
                </a:ext>
              </a:extLst>
            </p:cNvPr>
            <p:cNvSpPr/>
            <p:nvPr/>
          </p:nvSpPr>
          <p:spPr>
            <a:xfrm>
              <a:off x="5082312" y="4401756"/>
              <a:ext cx="606584" cy="57157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 w="44450">
              <a:solidFill>
                <a:schemeClr val="accent6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 descr="graphical representation of a digraph">
            <a:extLst>
              <a:ext uri="{FF2B5EF4-FFF2-40B4-BE49-F238E27FC236}">
                <a16:creationId xmlns:a16="http://schemas.microsoft.com/office/drawing/2014/main" id="{EFFA66B1-1CE1-A24E-A984-B47A7EE0BF53}"/>
              </a:ext>
            </a:extLst>
          </p:cNvPr>
          <p:cNvGrpSpPr/>
          <p:nvPr/>
        </p:nvGrpSpPr>
        <p:grpSpPr>
          <a:xfrm>
            <a:off x="6990661" y="2196165"/>
            <a:ext cx="4162774" cy="2446611"/>
            <a:chOff x="-49190" y="3086100"/>
            <a:chExt cx="4162774" cy="2446611"/>
          </a:xfrm>
        </p:grpSpPr>
        <p:grpSp>
          <p:nvGrpSpPr>
            <p:cNvPr id="40" name="Group 39" descr="example of a digraph">
              <a:extLst>
                <a:ext uri="{FF2B5EF4-FFF2-40B4-BE49-F238E27FC236}">
                  <a16:creationId xmlns:a16="http://schemas.microsoft.com/office/drawing/2014/main" id="{28569137-2F35-354B-AB6C-1A153317E67A}"/>
                </a:ext>
              </a:extLst>
            </p:cNvPr>
            <p:cNvGrpSpPr/>
            <p:nvPr/>
          </p:nvGrpSpPr>
          <p:grpSpPr>
            <a:xfrm>
              <a:off x="-49190" y="3086100"/>
              <a:ext cx="4162774" cy="2446611"/>
              <a:chOff x="-49190" y="3086100"/>
              <a:chExt cx="4162774" cy="2446611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2AD67CA-3F27-0248-80DE-BAE6DB1B7D5B}"/>
                  </a:ext>
                </a:extLst>
              </p:cNvPr>
              <p:cNvSpPr/>
              <p:nvPr/>
            </p:nvSpPr>
            <p:spPr>
              <a:xfrm>
                <a:off x="757238" y="3086100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E8C85F1-342A-3844-A11C-FA7FBF72BDA2}"/>
                  </a:ext>
                </a:extLst>
              </p:cNvPr>
              <p:cNvSpPr/>
              <p:nvPr/>
            </p:nvSpPr>
            <p:spPr>
              <a:xfrm>
                <a:off x="748548" y="488342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97795E7-0674-E54D-9FDD-3AF055A9C6EC}"/>
                  </a:ext>
                </a:extLst>
              </p:cNvPr>
              <p:cNvSpPr/>
              <p:nvPr/>
            </p:nvSpPr>
            <p:spPr>
              <a:xfrm>
                <a:off x="-49190" y="362341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A1406DE-AF3C-6F46-8EBA-FAD7D6A387AE}"/>
                  </a:ext>
                </a:extLst>
              </p:cNvPr>
              <p:cNvSpPr/>
              <p:nvPr/>
            </p:nvSpPr>
            <p:spPr>
              <a:xfrm>
                <a:off x="1973472" y="3621328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4D1D533-19DB-E345-BA61-F0F2DF9D6CA7}"/>
                  </a:ext>
                </a:extLst>
              </p:cNvPr>
              <p:cNvSpPr/>
              <p:nvPr/>
            </p:nvSpPr>
            <p:spPr>
              <a:xfrm>
                <a:off x="2637214" y="313372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9C158FFA-EC8E-DD49-8AB0-10A897B36A88}"/>
                  </a:ext>
                </a:extLst>
              </p:cNvPr>
              <p:cNvSpPr/>
              <p:nvPr/>
            </p:nvSpPr>
            <p:spPr>
              <a:xfrm>
                <a:off x="1982997" y="469595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2947651-34D4-A847-AD02-95F2C8817FDE}"/>
                  </a:ext>
                </a:extLst>
              </p:cNvPr>
              <p:cNvSpPr/>
              <p:nvPr/>
            </p:nvSpPr>
            <p:spPr>
              <a:xfrm>
                <a:off x="1268625" y="434195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C29ED62-9208-6F4D-BC87-E5BE8589CA50}"/>
                  </a:ext>
                </a:extLst>
              </p:cNvPr>
              <p:cNvSpPr/>
              <p:nvPr/>
            </p:nvSpPr>
            <p:spPr>
              <a:xfrm>
                <a:off x="3727822" y="376983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CEB7899-885C-964B-BA19-DA14614F2861}"/>
                  </a:ext>
                </a:extLst>
              </p:cNvPr>
              <p:cNvSpPr/>
              <p:nvPr/>
            </p:nvSpPr>
            <p:spPr>
              <a:xfrm>
                <a:off x="3342060" y="3144686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EE74125-E19A-4A4B-A2D1-CB8CD2C5AA14}"/>
                  </a:ext>
                </a:extLst>
              </p:cNvPr>
              <p:cNvSpPr/>
              <p:nvPr/>
            </p:nvSpPr>
            <p:spPr>
              <a:xfrm>
                <a:off x="2865471" y="4333294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4F5F9E5-3470-AE41-8AB5-F479076D597C}"/>
                  </a:ext>
                </a:extLst>
              </p:cNvPr>
              <p:cNvSpPr/>
              <p:nvPr/>
            </p:nvSpPr>
            <p:spPr>
              <a:xfrm>
                <a:off x="3579843" y="4363407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742BE3E-E223-9F4F-BBE4-1F5074CEC07A}"/>
                  </a:ext>
                </a:extLst>
              </p:cNvPr>
              <p:cNvSpPr/>
              <p:nvPr/>
            </p:nvSpPr>
            <p:spPr>
              <a:xfrm>
                <a:off x="3592346" y="5132661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D28146A-337F-7841-B1B0-D3B73BC51846}"/>
                  </a:ext>
                </a:extLst>
              </p:cNvPr>
              <p:cNvSpPr/>
              <p:nvPr/>
            </p:nvSpPr>
            <p:spPr>
              <a:xfrm>
                <a:off x="2865471" y="5122902"/>
                <a:ext cx="385762" cy="400050"/>
              </a:xfrm>
              <a:prstGeom prst="ellipse">
                <a:avLst/>
              </a:prstGeom>
              <a:noFill/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EA3C635-E2D0-2740-A7C6-FC630488A399}"/>
                  </a:ext>
                </a:extLst>
              </p:cNvPr>
              <p:cNvCxnSpPr>
                <a:stCxn id="42" idx="4"/>
                <a:endCxn id="43" idx="0"/>
              </p:cNvCxnSpPr>
              <p:nvPr/>
            </p:nvCxnSpPr>
            <p:spPr>
              <a:xfrm flipH="1">
                <a:off x="941429" y="3486150"/>
                <a:ext cx="8690" cy="1397277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75304F78-6C8E-7042-8804-1690F826F9C6}"/>
                  </a:ext>
                </a:extLst>
              </p:cNvPr>
              <p:cNvCxnSpPr>
                <a:cxnSpLocks/>
                <a:stCxn id="42" idx="2"/>
                <a:endCxn id="44" idx="7"/>
              </p:cNvCxnSpPr>
              <p:nvPr/>
            </p:nvCxnSpPr>
            <p:spPr>
              <a:xfrm flipH="1">
                <a:off x="280078" y="3286125"/>
                <a:ext cx="477160" cy="3958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9D9E560-81BB-AE42-9472-94733AFE9D71}"/>
                  </a:ext>
                </a:extLst>
              </p:cNvPr>
              <p:cNvCxnSpPr>
                <a:cxnSpLocks/>
                <a:stCxn id="45" idx="3"/>
                <a:endCxn id="48" idx="7"/>
              </p:cNvCxnSpPr>
              <p:nvPr/>
            </p:nvCxnSpPr>
            <p:spPr>
              <a:xfrm flipH="1">
                <a:off x="1597893" y="3962792"/>
                <a:ext cx="432073" cy="43775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C8E89F79-3948-DD4D-8B2C-AD28E97BE90D}"/>
                  </a:ext>
                </a:extLst>
              </p:cNvPr>
              <p:cNvCxnSpPr>
                <a:cxnSpLocks/>
                <a:stCxn id="45" idx="1"/>
                <a:endCxn id="42" idx="6"/>
              </p:cNvCxnSpPr>
              <p:nvPr/>
            </p:nvCxnSpPr>
            <p:spPr>
              <a:xfrm flipH="1" flipV="1">
                <a:off x="1143000" y="3286125"/>
                <a:ext cx="886966" cy="3937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9C4440A-EAE9-8340-92A9-4CC3B5F02CB9}"/>
                  </a:ext>
                </a:extLst>
              </p:cNvPr>
              <p:cNvCxnSpPr>
                <a:cxnSpLocks/>
                <a:stCxn id="48" idx="3"/>
                <a:endCxn id="43" idx="7"/>
              </p:cNvCxnSpPr>
              <p:nvPr/>
            </p:nvCxnSpPr>
            <p:spPr>
              <a:xfrm flipH="1">
                <a:off x="1077816" y="4683421"/>
                <a:ext cx="247303" cy="25859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ABD1CDA9-6059-5645-B58A-4C5B18B13A26}"/>
                  </a:ext>
                </a:extLst>
              </p:cNvPr>
              <p:cNvCxnSpPr>
                <a:cxnSpLocks/>
                <a:stCxn id="48" idx="6"/>
                <a:endCxn id="45" idx="4"/>
              </p:cNvCxnSpPr>
              <p:nvPr/>
            </p:nvCxnSpPr>
            <p:spPr>
              <a:xfrm flipV="1">
                <a:off x="1654387" y="4021378"/>
                <a:ext cx="511966" cy="5206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4D418261-F576-F94A-8DF4-683A3630F32B}"/>
                  </a:ext>
                </a:extLst>
              </p:cNvPr>
              <p:cNvCxnSpPr>
                <a:cxnSpLocks/>
                <a:stCxn id="47" idx="7"/>
                <a:endCxn id="45" idx="5"/>
              </p:cNvCxnSpPr>
              <p:nvPr/>
            </p:nvCxnSpPr>
            <p:spPr>
              <a:xfrm flipH="1" flipV="1">
                <a:off x="2302740" y="3962792"/>
                <a:ext cx="9525" cy="79174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A7EB922-17C2-B04A-87D3-0799F6FD7E67}"/>
                  </a:ext>
                </a:extLst>
              </p:cNvPr>
              <p:cNvCxnSpPr>
                <a:cxnSpLocks/>
                <a:stCxn id="47" idx="2"/>
                <a:endCxn id="48" idx="5"/>
              </p:cNvCxnSpPr>
              <p:nvPr/>
            </p:nvCxnSpPr>
            <p:spPr>
              <a:xfrm flipH="1" flipV="1">
                <a:off x="1597893" y="4683421"/>
                <a:ext cx="385104" cy="212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CF2262BB-A296-0E42-9ED6-CFDAB8B35AF3}"/>
                  </a:ext>
                </a:extLst>
              </p:cNvPr>
              <p:cNvCxnSpPr>
                <a:cxnSpLocks/>
                <a:stCxn id="43" idx="5"/>
                <a:endCxn id="47" idx="3"/>
              </p:cNvCxnSpPr>
              <p:nvPr/>
            </p:nvCxnSpPr>
            <p:spPr>
              <a:xfrm flipV="1">
                <a:off x="1077816" y="5037418"/>
                <a:ext cx="961675" cy="18747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DAEC942-252D-CD41-B327-F78E1B34EDF2}"/>
                  </a:ext>
                </a:extLst>
              </p:cNvPr>
              <p:cNvCxnSpPr>
                <a:cxnSpLocks/>
                <a:stCxn id="46" idx="2"/>
                <a:endCxn id="42" idx="7"/>
              </p:cNvCxnSpPr>
              <p:nvPr/>
            </p:nvCxnSpPr>
            <p:spPr>
              <a:xfrm flipH="1" flipV="1">
                <a:off x="1086506" y="3144686"/>
                <a:ext cx="1550708" cy="18906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9BD4C6AB-15AF-EA43-AFB8-3B96C7FB2833}"/>
                  </a:ext>
                </a:extLst>
              </p:cNvPr>
              <p:cNvCxnSpPr>
                <a:cxnSpLocks/>
                <a:stCxn id="46" idx="3"/>
                <a:endCxn id="47" idx="6"/>
              </p:cNvCxnSpPr>
              <p:nvPr/>
            </p:nvCxnSpPr>
            <p:spPr>
              <a:xfrm flipH="1">
                <a:off x="2368759" y="3475188"/>
                <a:ext cx="324949" cy="1420791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EB19895-D3EC-F74D-A84F-F0CF677C1291}"/>
                  </a:ext>
                </a:extLst>
              </p:cNvPr>
              <p:cNvCxnSpPr>
                <a:cxnSpLocks/>
                <a:stCxn id="46" idx="7"/>
                <a:endCxn id="50" idx="1"/>
              </p:cNvCxnSpPr>
              <p:nvPr/>
            </p:nvCxnSpPr>
            <p:spPr>
              <a:xfrm>
                <a:off x="2966482" y="3192310"/>
                <a:ext cx="432072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578BDBC-8587-0F4D-83BE-1FA51350B3FC}"/>
                  </a:ext>
                </a:extLst>
              </p:cNvPr>
              <p:cNvCxnSpPr>
                <a:cxnSpLocks/>
                <a:stCxn id="46" idx="4"/>
                <a:endCxn id="51" idx="0"/>
              </p:cNvCxnSpPr>
              <p:nvPr/>
            </p:nvCxnSpPr>
            <p:spPr>
              <a:xfrm>
                <a:off x="2830095" y="3533774"/>
                <a:ext cx="228257" cy="799520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2FF06F61-4060-C940-BB7D-8DC1BE269AE9}"/>
                  </a:ext>
                </a:extLst>
              </p:cNvPr>
              <p:cNvCxnSpPr>
                <a:cxnSpLocks/>
                <a:stCxn id="49" idx="3"/>
                <a:endCxn id="51" idx="7"/>
              </p:cNvCxnSpPr>
              <p:nvPr/>
            </p:nvCxnSpPr>
            <p:spPr>
              <a:xfrm flipH="1">
                <a:off x="3194739" y="4111301"/>
                <a:ext cx="589577" cy="28057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63EA47B3-1B42-7441-BFDB-B59F6D3E5691}"/>
                  </a:ext>
                </a:extLst>
              </p:cNvPr>
              <p:cNvCxnSpPr>
                <a:cxnSpLocks/>
                <a:stCxn id="49" idx="2"/>
                <a:endCxn id="46" idx="5"/>
              </p:cNvCxnSpPr>
              <p:nvPr/>
            </p:nvCxnSpPr>
            <p:spPr>
              <a:xfrm flipH="1" flipV="1">
                <a:off x="2966482" y="3475188"/>
                <a:ext cx="761340" cy="49467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AEFD943-1291-8B4D-BC07-FC2EC2544B3C}"/>
                  </a:ext>
                </a:extLst>
              </p:cNvPr>
              <p:cNvCxnSpPr>
                <a:cxnSpLocks/>
                <a:stCxn id="50" idx="2"/>
                <a:endCxn id="46" idx="6"/>
              </p:cNvCxnSpPr>
              <p:nvPr/>
            </p:nvCxnSpPr>
            <p:spPr>
              <a:xfrm flipH="1" flipV="1">
                <a:off x="3022976" y="3333749"/>
                <a:ext cx="319084" cy="10962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72D2BF5-C7D9-4247-9B0E-ED393D3C819B}"/>
                  </a:ext>
                </a:extLst>
              </p:cNvPr>
              <p:cNvCxnSpPr>
                <a:cxnSpLocks/>
                <a:stCxn id="51" idx="6"/>
                <a:endCxn id="52" idx="2"/>
              </p:cNvCxnSpPr>
              <p:nvPr/>
            </p:nvCxnSpPr>
            <p:spPr>
              <a:xfrm>
                <a:off x="3251233" y="4533319"/>
                <a:ext cx="328610" cy="30113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DE91E3C1-FD17-3044-BDCC-C12B8C845DE2}"/>
                  </a:ext>
                </a:extLst>
              </p:cNvPr>
              <p:cNvCxnSpPr>
                <a:cxnSpLocks/>
                <a:stCxn id="51" idx="4"/>
                <a:endCxn id="54" idx="0"/>
              </p:cNvCxnSpPr>
              <p:nvPr/>
            </p:nvCxnSpPr>
            <p:spPr>
              <a:xfrm>
                <a:off x="3058352" y="4733344"/>
                <a:ext cx="0" cy="389558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D2F6ACD-66B2-3D4B-AE3D-BCCC4E833CA7}"/>
                  </a:ext>
                </a:extLst>
              </p:cNvPr>
              <p:cNvCxnSpPr>
                <a:cxnSpLocks/>
                <a:stCxn id="52" idx="4"/>
                <a:endCxn id="53" idx="0"/>
              </p:cNvCxnSpPr>
              <p:nvPr/>
            </p:nvCxnSpPr>
            <p:spPr>
              <a:xfrm>
                <a:off x="3772724" y="4763457"/>
                <a:ext cx="12503" cy="369204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D97B4EAB-41EE-7D48-85A8-D34854715DDE}"/>
                  </a:ext>
                </a:extLst>
              </p:cNvPr>
              <p:cNvCxnSpPr>
                <a:cxnSpLocks/>
                <a:stCxn id="54" idx="6"/>
                <a:endCxn id="53" idx="2"/>
              </p:cNvCxnSpPr>
              <p:nvPr/>
            </p:nvCxnSpPr>
            <p:spPr>
              <a:xfrm>
                <a:off x="3251233" y="5322927"/>
                <a:ext cx="341113" cy="975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3C51E39D-C7EB-914D-BD12-A6F7C376CB5A}"/>
                  </a:ext>
                </a:extLst>
              </p:cNvPr>
              <p:cNvCxnSpPr>
                <a:cxnSpLocks/>
                <a:stCxn id="53" idx="1"/>
                <a:endCxn id="51" idx="5"/>
              </p:cNvCxnSpPr>
              <p:nvPr/>
            </p:nvCxnSpPr>
            <p:spPr>
              <a:xfrm flipH="1" flipV="1">
                <a:off x="3194739" y="4674758"/>
                <a:ext cx="454101" cy="51648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ADC6C86-05B5-5848-9354-32B463C667B1}"/>
                </a:ext>
              </a:extLst>
            </p:cNvPr>
            <p:cNvCxnSpPr>
              <a:cxnSpLocks/>
              <a:stCxn id="54" idx="2"/>
              <a:endCxn id="47" idx="5"/>
            </p:cNvCxnSpPr>
            <p:nvPr/>
          </p:nvCxnSpPr>
          <p:spPr>
            <a:xfrm flipH="1" flipV="1">
              <a:off x="2312265" y="5037418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C290984A-263F-F64C-8856-D4089C43B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344247"/>
              </p:ext>
            </p:extLst>
          </p:nvPr>
        </p:nvGraphicFramePr>
        <p:xfrm>
          <a:off x="6265306" y="5066034"/>
          <a:ext cx="5883150" cy="55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981">
                  <a:extLst>
                    <a:ext uri="{9D8B030D-6E8A-4147-A177-3AD203B41FA5}">
                      <a16:colId xmlns:a16="http://schemas.microsoft.com/office/drawing/2014/main" val="3401542702"/>
                    </a:ext>
                  </a:extLst>
                </a:gridCol>
                <a:gridCol w="331469">
                  <a:extLst>
                    <a:ext uri="{9D8B030D-6E8A-4147-A177-3AD203B41FA5}">
                      <a16:colId xmlns:a16="http://schemas.microsoft.com/office/drawing/2014/main" val="3752112364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525963717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3854940525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1505606505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3747041637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3957575242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3959698746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283192566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2230816568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278818337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520795348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2841989388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3194602133"/>
                    </a:ext>
                  </a:extLst>
                </a:gridCol>
              </a:tblGrid>
              <a:tr h="24403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68626"/>
                  </a:ext>
                </a:extLst>
              </a:tr>
              <a:tr h="300865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accent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7030A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410906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8E6B7021-5437-784E-AFD9-DDABC403BF24}"/>
              </a:ext>
            </a:extLst>
          </p:cNvPr>
          <p:cNvSpPr txBox="1"/>
          <p:nvPr/>
        </p:nvSpPr>
        <p:spPr>
          <a:xfrm>
            <a:off x="6096001" y="5885725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???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discover strongly-connected components in linear time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v connected to w?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cc[v] == cc[w] (constant time)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9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Reverse graph</a:t>
            </a:r>
            <a:r>
              <a:rPr lang="en-US" dirty="0"/>
              <a:t>. Strong components in G are same as in G</a:t>
            </a:r>
            <a:r>
              <a:rPr lang="en-US" baseline="30000" dirty="0"/>
              <a:t>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Two phase approach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topological order (i.e., reverse post-order) in G</a:t>
            </a:r>
            <a:r>
              <a:rPr lang="en-US" baseline="30000" dirty="0"/>
              <a:t>R</a:t>
            </a:r>
            <a:endParaRPr lang="en-US" dirty="0"/>
          </a:p>
          <a:p>
            <a:pPr lvl="1"/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</a:t>
            </a:r>
            <a:r>
              <a:rPr lang="en-US" baseline="30000" dirty="0"/>
              <a:t>R</a:t>
            </a:r>
            <a:r>
              <a:rPr lang="en-US" dirty="0"/>
              <a:t> (rather than, for example, numerical order)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919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723694" y="2745154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pSp>
        <p:nvGrpSpPr>
          <p:cNvPr id="203" name="Group 202" descr="Reversed G (or G_R)">
            <a:extLst>
              <a:ext uri="{FF2B5EF4-FFF2-40B4-BE49-F238E27FC236}">
                <a16:creationId xmlns:a16="http://schemas.microsoft.com/office/drawing/2014/main" id="{3ACEF401-C54A-7F44-B2E0-8A2D2848BF76}"/>
              </a:ext>
            </a:extLst>
          </p:cNvPr>
          <p:cNvGrpSpPr/>
          <p:nvPr/>
        </p:nvGrpSpPr>
        <p:grpSpPr>
          <a:xfrm>
            <a:off x="5658239" y="2748882"/>
            <a:ext cx="3365036" cy="3264198"/>
            <a:chOff x="5658239" y="2748882"/>
            <a:chExt cx="3365036" cy="326419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8A2493A-9B00-2441-92E2-ABEFA83B1DCB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3F87317-EED6-9C45-A525-7FDE1FF7329E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19D7E92-61BF-4D45-B50E-6FFC77E186FF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BB9692C-6C8E-E143-A1E8-A14C429FB639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31EE41-9478-1549-AAD9-416CF0700375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EAF0C0-ECA4-9D4E-98A3-9E057A80EDB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A9D48DC-C55B-CB49-A27D-4274A2E957DD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46C0F19-9AA7-8849-A3A3-E59C70539988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2D909FF-5118-4C4E-9500-454B3E72FC67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B60B226-E3FB-494C-906F-3639D97FF97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216ECAE-A654-0445-A517-13FC85B979BA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CFC2532-E8D9-DB46-91B7-3E5C0B289DC5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C0D444C-FDE8-784F-BE04-F36392F542E2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67442B4-D0E2-684E-A1B3-1AE0C9F0845E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A8F68F7-20B8-BA41-820C-C3238C64F3D4}"/>
                </a:ext>
              </a:extLst>
            </p:cNvPr>
            <p:cNvCxnSpPr>
              <a:cxnSpLocks/>
              <a:stCxn id="9" idx="1"/>
              <a:endCxn id="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4EC3405-C07C-1646-8F16-673AE32C77A4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A3208FB-C510-DF4B-A2E6-911BFE7D13B8}"/>
                </a:ext>
              </a:extLst>
            </p:cNvPr>
            <p:cNvCxnSpPr>
              <a:cxnSpLocks/>
              <a:stCxn id="7" idx="6"/>
              <a:endCxn id="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C1B18DF-9A38-964E-A265-78DD3D90FF6A}"/>
                </a:ext>
              </a:extLst>
            </p:cNvPr>
            <p:cNvCxnSpPr>
              <a:cxnSpLocks/>
              <a:stCxn id="8" idx="7"/>
              <a:endCxn id="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15896C8-FB5F-DA45-A727-F7244C0E22A2}"/>
                </a:ext>
              </a:extLst>
            </p:cNvPr>
            <p:cNvCxnSpPr>
              <a:cxnSpLocks/>
              <a:stCxn id="13" idx="6"/>
              <a:endCxn id="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B431EB4-32E5-3C4E-92AD-B11911DE0334}"/>
                </a:ext>
              </a:extLst>
            </p:cNvPr>
            <p:cNvCxnSpPr>
              <a:cxnSpLocks/>
              <a:stCxn id="10" idx="5"/>
              <a:endCxn id="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B66F538-9961-E44A-AB62-68A68B7D5EF6}"/>
                </a:ext>
              </a:extLst>
            </p:cNvPr>
            <p:cNvCxnSpPr>
              <a:cxnSpLocks/>
              <a:stCxn id="13" idx="5"/>
              <a:endCxn id="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D1A06B2-0DFC-2243-9024-1091A14E6B30}"/>
                </a:ext>
              </a:extLst>
            </p:cNvPr>
            <p:cNvCxnSpPr>
              <a:cxnSpLocks/>
              <a:stCxn id="12" idx="3"/>
              <a:endCxn id="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8C27F13-3386-244B-8FD8-9D29BF86B1DB}"/>
                </a:ext>
              </a:extLst>
            </p:cNvPr>
            <p:cNvCxnSpPr>
              <a:cxnSpLocks/>
              <a:stCxn id="7" idx="7"/>
              <a:endCxn id="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11D9933-621E-664D-A2B1-812CD62038B4}"/>
                </a:ext>
              </a:extLst>
            </p:cNvPr>
            <p:cNvCxnSpPr>
              <a:cxnSpLocks/>
              <a:stCxn id="12" idx="7"/>
              <a:endCxn id="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97E93ED-581C-B149-B35C-E77C3F223B2A}"/>
                </a:ext>
              </a:extLst>
            </p:cNvPr>
            <p:cNvCxnSpPr>
              <a:cxnSpLocks/>
              <a:stCxn id="11" idx="7"/>
              <a:endCxn id="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B0FD43-0982-3543-AEB1-1C8D8209268F}"/>
                </a:ext>
              </a:extLst>
            </p:cNvPr>
            <p:cNvCxnSpPr>
              <a:cxnSpLocks/>
              <a:stCxn id="16" idx="0"/>
              <a:endCxn id="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EF63F43-E5D1-2749-B6B1-CFDC385640EE}"/>
                </a:ext>
              </a:extLst>
            </p:cNvPr>
            <p:cNvCxnSpPr>
              <a:cxnSpLocks/>
              <a:stCxn id="16" idx="7"/>
              <a:endCxn id="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4E9499D-51B0-2942-A38B-4D504B0CF2AE}"/>
                </a:ext>
              </a:extLst>
            </p:cNvPr>
            <p:cNvCxnSpPr>
              <a:cxnSpLocks/>
              <a:stCxn id="11" idx="5"/>
              <a:endCxn id="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548CDD-1A19-304B-BC73-FA2C8B8064EB}"/>
                </a:ext>
              </a:extLst>
            </p:cNvPr>
            <p:cNvCxnSpPr>
              <a:cxnSpLocks/>
              <a:stCxn id="15" idx="2"/>
              <a:endCxn id="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0CDB6CB-A490-D44D-A88F-4A5CB6CEB039}"/>
                </a:ext>
              </a:extLst>
            </p:cNvPr>
            <p:cNvCxnSpPr>
              <a:cxnSpLocks/>
              <a:stCxn id="17" idx="2"/>
              <a:endCxn id="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DFFB410-2242-2640-8680-7F31C0FF2161}"/>
                </a:ext>
              </a:extLst>
            </p:cNvPr>
            <p:cNvCxnSpPr>
              <a:cxnSpLocks/>
              <a:stCxn id="19" idx="0"/>
              <a:endCxn id="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EA3720-C0B1-5B47-B0F8-04F2A7DA01EA}"/>
                </a:ext>
              </a:extLst>
            </p:cNvPr>
            <p:cNvCxnSpPr>
              <a:cxnSpLocks/>
              <a:stCxn id="18" idx="0"/>
              <a:endCxn id="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3B49455-D605-014D-B170-6657D2FCA275}"/>
                </a:ext>
              </a:extLst>
            </p:cNvPr>
            <p:cNvCxnSpPr>
              <a:cxnSpLocks/>
              <a:stCxn id="18" idx="2"/>
              <a:endCxn id="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878002B-6986-FA46-8D3D-7E16C0434D3D}"/>
                </a:ext>
              </a:extLst>
            </p:cNvPr>
            <p:cNvCxnSpPr>
              <a:cxnSpLocks/>
              <a:stCxn id="16" idx="5"/>
              <a:endCxn id="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C8AA10D-5C46-A742-90DC-BA1DBD2986CF}"/>
                </a:ext>
              </a:extLst>
            </p:cNvPr>
            <p:cNvCxnSpPr>
              <a:cxnSpLocks/>
              <a:stCxn id="12" idx="5"/>
              <a:endCxn id="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56D0D5C7-EDC9-D44B-80E4-8BBA3ADCC814}"/>
                </a:ext>
              </a:extLst>
            </p:cNvPr>
            <p:cNvSpPr txBox="1"/>
            <p:nvPr/>
          </p:nvSpPr>
          <p:spPr>
            <a:xfrm>
              <a:off x="7149000" y="555141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10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31532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25210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3715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31438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046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455054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3381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12388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779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138517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4107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610439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595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652099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0787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253173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5450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126942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0315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888103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7560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893008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523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62418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5727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90855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5068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483359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2876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428986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8051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30737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8266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88503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307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906654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17482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97925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7855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864060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916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082731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389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036437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7104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02283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924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/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865800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928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979899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/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39119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1</a:t>
            </a:r>
            <a:r>
              <a:rPr lang="en-US" dirty="0"/>
              <a:t>. Compute reverse post-order in G</a:t>
            </a:r>
            <a:r>
              <a:rPr lang="en-US" baseline="30000" dirty="0"/>
              <a:t>R</a:t>
            </a:r>
          </a:p>
        </p:txBody>
      </p:sp>
      <p:grpSp>
        <p:nvGrpSpPr>
          <p:cNvPr id="106" name="Group 105" descr="Reversed G (or G_R)">
            <a:extLst>
              <a:ext uri="{FF2B5EF4-FFF2-40B4-BE49-F238E27FC236}">
                <a16:creationId xmlns:a16="http://schemas.microsoft.com/office/drawing/2014/main" id="{8240F909-5515-604E-88F9-A763C86B8F3E}"/>
              </a:ext>
            </a:extLst>
          </p:cNvPr>
          <p:cNvGrpSpPr/>
          <p:nvPr/>
        </p:nvGrpSpPr>
        <p:grpSpPr>
          <a:xfrm>
            <a:off x="738510" y="2607214"/>
            <a:ext cx="3365036" cy="3194248"/>
            <a:chOff x="5658239" y="2748882"/>
            <a:chExt cx="3365036" cy="3194248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11E0DB2-E595-AB45-A8CC-5CF98B40E397}"/>
                </a:ext>
              </a:extLst>
            </p:cNvPr>
            <p:cNvSpPr/>
            <p:nvPr/>
          </p:nvSpPr>
          <p:spPr>
            <a:xfrm>
              <a:off x="5666929" y="2748882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97724DF-D3C5-A844-9BD9-4531B5294512}"/>
                </a:ext>
              </a:extLst>
            </p:cNvPr>
            <p:cNvSpPr/>
            <p:nvPr/>
          </p:nvSpPr>
          <p:spPr>
            <a:xfrm>
              <a:off x="5658239" y="454620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DE457D2-5DD7-2D4F-ACE2-E246CF183A96}"/>
                </a:ext>
              </a:extLst>
            </p:cNvPr>
            <p:cNvSpPr/>
            <p:nvPr/>
          </p:nvSpPr>
          <p:spPr>
            <a:xfrm>
              <a:off x="6178316" y="3295261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15EB473-7B7A-A24C-ACE3-59D5B893BBAD}"/>
                </a:ext>
              </a:extLst>
            </p:cNvPr>
            <p:cNvSpPr/>
            <p:nvPr/>
          </p:nvSpPr>
          <p:spPr>
            <a:xfrm>
              <a:off x="6883163" y="3284110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BA626DFA-417C-204B-B47D-C69EA0A324E2}"/>
                </a:ext>
              </a:extLst>
            </p:cNvPr>
            <p:cNvSpPr/>
            <p:nvPr/>
          </p:nvSpPr>
          <p:spPr>
            <a:xfrm>
              <a:off x="7546905" y="279650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C165D5C-906C-D044-AD99-5C6938651D02}"/>
                </a:ext>
              </a:extLst>
            </p:cNvPr>
            <p:cNvSpPr/>
            <p:nvPr/>
          </p:nvSpPr>
          <p:spPr>
            <a:xfrm>
              <a:off x="6892688" y="435873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ED89BCA-7F44-8548-B797-6C60A18127BB}"/>
                </a:ext>
              </a:extLst>
            </p:cNvPr>
            <p:cNvSpPr/>
            <p:nvPr/>
          </p:nvSpPr>
          <p:spPr>
            <a:xfrm>
              <a:off x="6178316" y="400473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6104B37-5C84-3C48-9EEF-976CA265CB32}"/>
                </a:ext>
              </a:extLst>
            </p:cNvPr>
            <p:cNvSpPr/>
            <p:nvPr/>
          </p:nvSpPr>
          <p:spPr>
            <a:xfrm>
              <a:off x="8637513" y="3484135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C4A6FC0-174C-EC4B-8D47-1F512E892FF6}"/>
                </a:ext>
              </a:extLst>
            </p:cNvPr>
            <p:cNvSpPr/>
            <p:nvPr/>
          </p:nvSpPr>
          <p:spPr>
            <a:xfrm>
              <a:off x="8251751" y="2807468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F8A19A0-79F9-F04A-A63C-2D2F148DF368}"/>
                </a:ext>
              </a:extLst>
            </p:cNvPr>
            <p:cNvSpPr/>
            <p:nvPr/>
          </p:nvSpPr>
          <p:spPr>
            <a:xfrm>
              <a:off x="7775162" y="3996076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831E2AE4-7D0B-4944-8E14-904EF07B2CCC}"/>
                </a:ext>
              </a:extLst>
            </p:cNvPr>
            <p:cNvSpPr/>
            <p:nvPr/>
          </p:nvSpPr>
          <p:spPr>
            <a:xfrm>
              <a:off x="8489534" y="4026189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C3BA27E-16D8-0D47-9F73-C0F88C5C7051}"/>
                </a:ext>
              </a:extLst>
            </p:cNvPr>
            <p:cNvSpPr/>
            <p:nvPr/>
          </p:nvSpPr>
          <p:spPr>
            <a:xfrm>
              <a:off x="8502037" y="4795443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6924CD8-9C75-444C-8B49-CEED23C33067}"/>
                </a:ext>
              </a:extLst>
            </p:cNvPr>
            <p:cNvSpPr/>
            <p:nvPr/>
          </p:nvSpPr>
          <p:spPr>
            <a:xfrm>
              <a:off x="7775162" y="4785684"/>
              <a:ext cx="385762" cy="40005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BB51704-937B-B441-AD94-19A68E37C669}"/>
                </a:ext>
              </a:extLst>
            </p:cNvPr>
            <p:cNvCxnSpPr>
              <a:cxnSpLocks/>
              <a:stCxn id="108" idx="0"/>
              <a:endCxn id="107" idx="4"/>
            </p:cNvCxnSpPr>
            <p:nvPr/>
          </p:nvCxnSpPr>
          <p:spPr>
            <a:xfrm flipV="1">
              <a:off x="5851120" y="3148932"/>
              <a:ext cx="8690" cy="1397277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7ACC359-FD63-2149-8BA5-BEC51ECE38A7}"/>
                </a:ext>
              </a:extLst>
            </p:cNvPr>
            <p:cNvCxnSpPr>
              <a:cxnSpLocks/>
              <a:stCxn id="109" idx="1"/>
              <a:endCxn id="107" idx="5"/>
            </p:cNvCxnSpPr>
            <p:nvPr/>
          </p:nvCxnSpPr>
          <p:spPr>
            <a:xfrm flipH="1" flipV="1">
              <a:off x="5996197" y="3090346"/>
              <a:ext cx="238613" cy="26350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90EFAA9-C4C2-F14F-A91B-05CEB2F7EA66}"/>
                </a:ext>
              </a:extLst>
            </p:cNvPr>
            <p:cNvCxnSpPr>
              <a:cxnSpLocks/>
              <a:stCxn id="110" idx="3"/>
              <a:endCxn id="113" idx="7"/>
            </p:cNvCxnSpPr>
            <p:nvPr/>
          </p:nvCxnSpPr>
          <p:spPr>
            <a:xfrm flipH="1">
              <a:off x="6507584" y="3625574"/>
              <a:ext cx="432073" cy="43775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F7176AF6-CCFD-C14A-9911-5795929A5F5D}"/>
                </a:ext>
              </a:extLst>
            </p:cNvPr>
            <p:cNvCxnSpPr>
              <a:cxnSpLocks/>
              <a:stCxn id="107" idx="6"/>
              <a:endCxn id="110" idx="1"/>
            </p:cNvCxnSpPr>
            <p:nvPr/>
          </p:nvCxnSpPr>
          <p:spPr>
            <a:xfrm>
              <a:off x="6052691" y="2948907"/>
              <a:ext cx="886966" cy="393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48B12C8-CA3F-684C-898C-6CB0641D4FC9}"/>
                </a:ext>
              </a:extLst>
            </p:cNvPr>
            <p:cNvCxnSpPr>
              <a:cxnSpLocks/>
              <a:stCxn id="108" idx="7"/>
              <a:endCxn id="113" idx="3"/>
            </p:cNvCxnSpPr>
            <p:nvPr/>
          </p:nvCxnSpPr>
          <p:spPr>
            <a:xfrm flipV="1">
              <a:off x="5987507" y="4346203"/>
              <a:ext cx="247303" cy="2585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54A3F003-6932-0647-B0DF-6FB08765CC78}"/>
                </a:ext>
              </a:extLst>
            </p:cNvPr>
            <p:cNvCxnSpPr>
              <a:cxnSpLocks/>
              <a:stCxn id="113" idx="6"/>
              <a:endCxn id="110" idx="4"/>
            </p:cNvCxnSpPr>
            <p:nvPr/>
          </p:nvCxnSpPr>
          <p:spPr>
            <a:xfrm flipV="1">
              <a:off x="6564078" y="3684160"/>
              <a:ext cx="511966" cy="5206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FFBD41CD-BEBC-F040-A035-6316FC352765}"/>
                </a:ext>
              </a:extLst>
            </p:cNvPr>
            <p:cNvCxnSpPr>
              <a:cxnSpLocks/>
              <a:stCxn id="110" idx="5"/>
              <a:endCxn id="112" idx="0"/>
            </p:cNvCxnSpPr>
            <p:nvPr/>
          </p:nvCxnSpPr>
          <p:spPr>
            <a:xfrm flipH="1">
              <a:off x="7085569" y="3625574"/>
              <a:ext cx="126862" cy="7331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89411CA-575A-2E41-8667-2B05C1AACFB8}"/>
                </a:ext>
              </a:extLst>
            </p:cNvPr>
            <p:cNvCxnSpPr>
              <a:cxnSpLocks/>
              <a:stCxn id="113" idx="5"/>
              <a:endCxn id="112" idx="2"/>
            </p:cNvCxnSpPr>
            <p:nvPr/>
          </p:nvCxnSpPr>
          <p:spPr>
            <a:xfrm>
              <a:off x="6507584" y="4346203"/>
              <a:ext cx="385104" cy="212558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D52E41C-FE80-7B41-9E93-DE1ADC7D68D5}"/>
                </a:ext>
              </a:extLst>
            </p:cNvPr>
            <p:cNvCxnSpPr>
              <a:cxnSpLocks/>
              <a:stCxn id="112" idx="3"/>
              <a:endCxn id="108" idx="6"/>
            </p:cNvCxnSpPr>
            <p:nvPr/>
          </p:nvCxnSpPr>
          <p:spPr>
            <a:xfrm flipH="1">
              <a:off x="6044001" y="4700200"/>
              <a:ext cx="905181" cy="460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EC87E0B4-4FE4-864F-813B-51AAA5CF6A86}"/>
                </a:ext>
              </a:extLst>
            </p:cNvPr>
            <p:cNvCxnSpPr>
              <a:cxnSpLocks/>
              <a:stCxn id="107" idx="7"/>
              <a:endCxn id="111" idx="2"/>
            </p:cNvCxnSpPr>
            <p:nvPr/>
          </p:nvCxnSpPr>
          <p:spPr>
            <a:xfrm>
              <a:off x="5996197" y="2807468"/>
              <a:ext cx="1550708" cy="1890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E51F1C6F-2C55-AC44-BDC8-A25669CB89D1}"/>
                </a:ext>
              </a:extLst>
            </p:cNvPr>
            <p:cNvCxnSpPr>
              <a:cxnSpLocks/>
              <a:stCxn id="112" idx="7"/>
              <a:endCxn id="111" idx="3"/>
            </p:cNvCxnSpPr>
            <p:nvPr/>
          </p:nvCxnSpPr>
          <p:spPr>
            <a:xfrm flipV="1">
              <a:off x="7221956" y="3137970"/>
              <a:ext cx="381443" cy="127935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2B6F562F-8777-C748-9BC4-0CEE8ADCFF4C}"/>
                </a:ext>
              </a:extLst>
            </p:cNvPr>
            <p:cNvCxnSpPr>
              <a:cxnSpLocks/>
              <a:stCxn id="111" idx="7"/>
              <a:endCxn id="115" idx="1"/>
            </p:cNvCxnSpPr>
            <p:nvPr/>
          </p:nvCxnSpPr>
          <p:spPr>
            <a:xfrm>
              <a:off x="7876173" y="2855092"/>
              <a:ext cx="432072" cy="1096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E9932A4B-8ADA-9145-8A05-4B1D5A6930E7}"/>
                </a:ext>
              </a:extLst>
            </p:cNvPr>
            <p:cNvCxnSpPr>
              <a:cxnSpLocks/>
              <a:stCxn id="116" idx="0"/>
              <a:endCxn id="111" idx="4"/>
            </p:cNvCxnSpPr>
            <p:nvPr/>
          </p:nvCxnSpPr>
          <p:spPr>
            <a:xfrm flipH="1" flipV="1">
              <a:off x="7739786" y="3196556"/>
              <a:ext cx="228257" cy="79952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307C37AD-56F7-FE44-9091-FD49DC72BADB}"/>
                </a:ext>
              </a:extLst>
            </p:cNvPr>
            <p:cNvCxnSpPr>
              <a:cxnSpLocks/>
              <a:stCxn id="116" idx="7"/>
              <a:endCxn id="114" idx="3"/>
            </p:cNvCxnSpPr>
            <p:nvPr/>
          </p:nvCxnSpPr>
          <p:spPr>
            <a:xfrm flipV="1">
              <a:off x="8104430" y="3825599"/>
              <a:ext cx="589577" cy="22906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B0CB114-C2C0-5D46-B674-C21F72407203}"/>
                </a:ext>
              </a:extLst>
            </p:cNvPr>
            <p:cNvCxnSpPr>
              <a:cxnSpLocks/>
              <a:stCxn id="111" idx="5"/>
              <a:endCxn id="114" idx="1"/>
            </p:cNvCxnSpPr>
            <p:nvPr/>
          </p:nvCxnSpPr>
          <p:spPr>
            <a:xfrm>
              <a:off x="7876173" y="3137970"/>
              <a:ext cx="817834" cy="40475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5770A7D8-CD7F-F94C-8B01-3A9583696E2D}"/>
                </a:ext>
              </a:extLst>
            </p:cNvPr>
            <p:cNvCxnSpPr>
              <a:cxnSpLocks/>
              <a:stCxn id="115" idx="2"/>
              <a:endCxn id="111" idx="6"/>
            </p:cNvCxnSpPr>
            <p:nvPr/>
          </p:nvCxnSpPr>
          <p:spPr>
            <a:xfrm flipH="1" flipV="1">
              <a:off x="7932667" y="2996531"/>
              <a:ext cx="319084" cy="1096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BBC29C4-0676-EE4E-94EE-DD08D3D4F2B3}"/>
                </a:ext>
              </a:extLst>
            </p:cNvPr>
            <p:cNvCxnSpPr>
              <a:cxnSpLocks/>
              <a:stCxn id="117" idx="2"/>
              <a:endCxn id="116" idx="6"/>
            </p:cNvCxnSpPr>
            <p:nvPr/>
          </p:nvCxnSpPr>
          <p:spPr>
            <a:xfrm flipH="1" flipV="1">
              <a:off x="8160924" y="4196101"/>
              <a:ext cx="328610" cy="30113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A109B1-B0D6-8645-9B64-57DE84A63F48}"/>
                </a:ext>
              </a:extLst>
            </p:cNvPr>
            <p:cNvCxnSpPr>
              <a:cxnSpLocks/>
              <a:stCxn id="119" idx="0"/>
              <a:endCxn id="116" idx="4"/>
            </p:cNvCxnSpPr>
            <p:nvPr/>
          </p:nvCxnSpPr>
          <p:spPr>
            <a:xfrm flipV="1">
              <a:off x="7968043" y="4396126"/>
              <a:ext cx="0" cy="38955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3988AC8A-3F84-1A41-931E-1394811103AA}"/>
                </a:ext>
              </a:extLst>
            </p:cNvPr>
            <p:cNvCxnSpPr>
              <a:cxnSpLocks/>
              <a:stCxn id="118" idx="0"/>
              <a:endCxn id="117" idx="4"/>
            </p:cNvCxnSpPr>
            <p:nvPr/>
          </p:nvCxnSpPr>
          <p:spPr>
            <a:xfrm flipH="1" flipV="1">
              <a:off x="8682415" y="4426239"/>
              <a:ext cx="12503" cy="369204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C28FE442-9D5A-3E43-A8D4-20AD3C79390F}"/>
                </a:ext>
              </a:extLst>
            </p:cNvPr>
            <p:cNvCxnSpPr>
              <a:cxnSpLocks/>
              <a:stCxn id="118" idx="2"/>
              <a:endCxn id="119" idx="6"/>
            </p:cNvCxnSpPr>
            <p:nvPr/>
          </p:nvCxnSpPr>
          <p:spPr>
            <a:xfrm flipH="1" flipV="1">
              <a:off x="8160924" y="4985709"/>
              <a:ext cx="341113" cy="975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202E7CA5-4C0C-9A48-B45B-9A45859EF669}"/>
                </a:ext>
              </a:extLst>
            </p:cNvPr>
            <p:cNvCxnSpPr>
              <a:cxnSpLocks/>
              <a:stCxn id="116" idx="5"/>
              <a:endCxn id="118" idx="1"/>
            </p:cNvCxnSpPr>
            <p:nvPr/>
          </p:nvCxnSpPr>
          <p:spPr>
            <a:xfrm>
              <a:off x="8104430" y="4337540"/>
              <a:ext cx="454101" cy="516489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165188E4-5851-C74D-8F24-71FB3BB47BF2}"/>
                </a:ext>
              </a:extLst>
            </p:cNvPr>
            <p:cNvCxnSpPr>
              <a:cxnSpLocks/>
              <a:stCxn id="112" idx="5"/>
              <a:endCxn id="119" idx="2"/>
            </p:cNvCxnSpPr>
            <p:nvPr/>
          </p:nvCxnSpPr>
          <p:spPr>
            <a:xfrm>
              <a:off x="7221956" y="4700200"/>
              <a:ext cx="553206" cy="2855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9010B52-37DF-284B-B0DA-BC0A345F1998}"/>
                </a:ext>
              </a:extLst>
            </p:cNvPr>
            <p:cNvSpPr txBox="1"/>
            <p:nvPr/>
          </p:nvSpPr>
          <p:spPr>
            <a:xfrm>
              <a:off x="6648307" y="5481465"/>
              <a:ext cx="5709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  <a:r>
                <a:rPr lang="en-US" sz="2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F55CD9A-075D-1348-8B1E-D2CC92075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861172"/>
              </p:ext>
            </p:extLst>
          </p:nvPr>
        </p:nvGraphicFramePr>
        <p:xfrm>
          <a:off x="5120555" y="2147126"/>
          <a:ext cx="2949488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1600" b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  <p:graphicFrame>
        <p:nvGraphicFramePr>
          <p:cNvPr id="143" name="Table 142" descr="stack with post-order verteces">
            <a:extLst>
              <a:ext uri="{FF2B5EF4-FFF2-40B4-BE49-F238E27FC236}">
                <a16:creationId xmlns:a16="http://schemas.microsoft.com/office/drawing/2014/main" id="{F0D89982-D59D-5140-992A-19574933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7641"/>
              </p:ext>
            </p:extLst>
          </p:nvPr>
        </p:nvGraphicFramePr>
        <p:xfrm>
          <a:off x="9359827" y="2394163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sp>
        <p:nvSpPr>
          <p:cNvPr id="144" name="TextBox 143">
            <a:extLst>
              <a:ext uri="{FF2B5EF4-FFF2-40B4-BE49-F238E27FC236}">
                <a16:creationId xmlns:a16="http://schemas.microsoft.com/office/drawing/2014/main" id="{D46BB2C0-E0A8-F743-ABF9-20FF2F87D859}"/>
              </a:ext>
            </a:extLst>
          </p:cNvPr>
          <p:cNvSpPr txBox="1"/>
          <p:nvPr/>
        </p:nvSpPr>
        <p:spPr>
          <a:xfrm>
            <a:off x="8766644" y="617497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Post-order stack</a:t>
            </a:r>
            <a:endParaRPr 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 descr="reverse post-order">
            <a:extLst>
              <a:ext uri="{FF2B5EF4-FFF2-40B4-BE49-F238E27FC236}">
                <a16:creationId xmlns:a16="http://schemas.microsoft.com/office/drawing/2014/main" id="{4CE5A0AD-34ED-7347-8706-18E742300FA7}"/>
              </a:ext>
            </a:extLst>
          </p:cNvPr>
          <p:cNvGrpSpPr/>
          <p:nvPr/>
        </p:nvGrpSpPr>
        <p:grpSpPr>
          <a:xfrm>
            <a:off x="10891030" y="2394163"/>
            <a:ext cx="403612" cy="3671786"/>
            <a:chOff x="10891030" y="2394163"/>
            <a:chExt cx="403612" cy="36717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2BF8B7-6039-764C-9D39-DC218403BCE2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A45518E-97BD-6242-B133-B39FBBEAB38D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44769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535398"/>
              </p:ext>
            </p:extLst>
          </p:nvPr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01790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747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263942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53056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32980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37714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38459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97280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811290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6011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1580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501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60875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68615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683252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5752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508145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4233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9759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223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406889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02284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853723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97401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24689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18542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Phase 2</a:t>
            </a:r>
            <a:r>
              <a:rPr lang="en-US" dirty="0"/>
              <a:t>. Run DFS in G, visiting unmarked vertices in reverse post-order of GR</a:t>
            </a:r>
            <a:endParaRPr lang="en-US" baseline="30000" dirty="0"/>
          </a:p>
        </p:txBody>
      </p:sp>
      <p:grpSp>
        <p:nvGrpSpPr>
          <p:cNvPr id="201" name="Group 200" descr="example digrapgh G">
            <a:extLst>
              <a:ext uri="{FF2B5EF4-FFF2-40B4-BE49-F238E27FC236}">
                <a16:creationId xmlns:a16="http://schemas.microsoft.com/office/drawing/2014/main" id="{727E7FC8-B141-7D44-BA4C-13D2AD643E24}"/>
              </a:ext>
            </a:extLst>
          </p:cNvPr>
          <p:cNvGrpSpPr/>
          <p:nvPr/>
        </p:nvGrpSpPr>
        <p:grpSpPr>
          <a:xfrm>
            <a:off x="621233" y="2847263"/>
            <a:ext cx="3365036" cy="3267927"/>
            <a:chOff x="723694" y="2745154"/>
            <a:chExt cx="3365036" cy="3267927"/>
          </a:xfrm>
        </p:grpSpPr>
        <p:grpSp>
          <p:nvGrpSpPr>
            <p:cNvPr id="106" name="Group 105" descr="graphical representation of a digraph">
              <a:extLst>
                <a:ext uri="{FF2B5EF4-FFF2-40B4-BE49-F238E27FC236}">
                  <a16:creationId xmlns:a16="http://schemas.microsoft.com/office/drawing/2014/main" id="{ED2640EC-1EFA-5646-8AE3-0ECF754E7BD7}"/>
                </a:ext>
              </a:extLst>
            </p:cNvPr>
            <p:cNvGrpSpPr/>
            <p:nvPr/>
          </p:nvGrpSpPr>
          <p:grpSpPr>
            <a:xfrm>
              <a:off x="723694" y="2745154"/>
              <a:ext cx="3365036" cy="2446611"/>
              <a:chOff x="748548" y="3086100"/>
              <a:chExt cx="3365036" cy="2446611"/>
            </a:xfrm>
          </p:grpSpPr>
          <p:grpSp>
            <p:nvGrpSpPr>
              <p:cNvPr id="107" name="Group 106" descr="example of a digraph">
                <a:extLst>
                  <a:ext uri="{FF2B5EF4-FFF2-40B4-BE49-F238E27FC236}">
                    <a16:creationId xmlns:a16="http://schemas.microsoft.com/office/drawing/2014/main" id="{5EF06DDE-1E99-9D44-BB06-14CC62B2C960}"/>
                  </a:ext>
                </a:extLst>
              </p:cNvPr>
              <p:cNvGrpSpPr/>
              <p:nvPr/>
            </p:nvGrpSpPr>
            <p:grpSpPr>
              <a:xfrm>
                <a:off x="748548" y="3086100"/>
                <a:ext cx="3365036" cy="2446611"/>
                <a:chOff x="748548" y="3086100"/>
                <a:chExt cx="3365036" cy="2446611"/>
              </a:xfrm>
            </p:grpSpPr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8B56D54E-C0BD-AE46-9283-733CC43B6DAC}"/>
                    </a:ext>
                  </a:extLst>
                </p:cNvPr>
                <p:cNvSpPr/>
                <p:nvPr/>
              </p:nvSpPr>
              <p:spPr>
                <a:xfrm>
                  <a:off x="757238" y="3086100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7DF8EB70-CA76-C941-A26F-35ED53C1E52A}"/>
                    </a:ext>
                  </a:extLst>
                </p:cNvPr>
                <p:cNvSpPr/>
                <p:nvPr/>
              </p:nvSpPr>
              <p:spPr>
                <a:xfrm>
                  <a:off x="748548" y="488342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</a:p>
              </p:txBody>
            </p:sp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DDB3A042-DE42-2F4E-AD8D-9181DC10627F}"/>
                    </a:ext>
                  </a:extLst>
                </p:cNvPr>
                <p:cNvSpPr/>
                <p:nvPr/>
              </p:nvSpPr>
              <p:spPr>
                <a:xfrm>
                  <a:off x="1268625" y="3632479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8123B169-16FD-5649-B1E8-FDB13FBF389B}"/>
                    </a:ext>
                  </a:extLst>
                </p:cNvPr>
                <p:cNvSpPr/>
                <p:nvPr/>
              </p:nvSpPr>
              <p:spPr>
                <a:xfrm>
                  <a:off x="1973472" y="3621328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8CFC6AF6-9CEB-924A-81E8-DB93FA78AD21}"/>
                    </a:ext>
                  </a:extLst>
                </p:cNvPr>
                <p:cNvSpPr/>
                <p:nvPr/>
              </p:nvSpPr>
              <p:spPr>
                <a:xfrm>
                  <a:off x="2637214" y="313372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</a:t>
                  </a: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D956EF70-7FC9-874D-9F3D-8A378F9A46B7}"/>
                    </a:ext>
                  </a:extLst>
                </p:cNvPr>
                <p:cNvSpPr/>
                <p:nvPr/>
              </p:nvSpPr>
              <p:spPr>
                <a:xfrm>
                  <a:off x="1982997" y="469595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D2FEC23-925E-E843-94E3-9ABE849EFF08}"/>
                    </a:ext>
                  </a:extLst>
                </p:cNvPr>
                <p:cNvSpPr/>
                <p:nvPr/>
              </p:nvSpPr>
              <p:spPr>
                <a:xfrm>
                  <a:off x="1268625" y="434195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FD6245AA-F412-A147-9C1E-D14DF2647932}"/>
                    </a:ext>
                  </a:extLst>
                </p:cNvPr>
                <p:cNvSpPr/>
                <p:nvPr/>
              </p:nvSpPr>
              <p:spPr>
                <a:xfrm>
                  <a:off x="3727822" y="3821353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D74B18D8-4E1C-504F-80BA-DC79DD911664}"/>
                    </a:ext>
                  </a:extLst>
                </p:cNvPr>
                <p:cNvSpPr/>
                <p:nvPr/>
              </p:nvSpPr>
              <p:spPr>
                <a:xfrm>
                  <a:off x="3342060" y="3144686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118" name="Oval 117">
                  <a:extLst>
                    <a:ext uri="{FF2B5EF4-FFF2-40B4-BE49-F238E27FC236}">
                      <a16:creationId xmlns:a16="http://schemas.microsoft.com/office/drawing/2014/main" id="{C19AE90F-9A77-374D-965F-8B8716C0C460}"/>
                    </a:ext>
                  </a:extLst>
                </p:cNvPr>
                <p:cNvSpPr/>
                <p:nvPr/>
              </p:nvSpPr>
              <p:spPr>
                <a:xfrm>
                  <a:off x="2865471" y="4333294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381A2ECF-87FD-2640-938B-490DB077FED2}"/>
                    </a:ext>
                  </a:extLst>
                </p:cNvPr>
                <p:cNvSpPr/>
                <p:nvPr/>
              </p:nvSpPr>
              <p:spPr>
                <a:xfrm>
                  <a:off x="3579843" y="4363407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25691320-C85C-734D-AE85-B911AB5D898B}"/>
                    </a:ext>
                  </a:extLst>
                </p:cNvPr>
                <p:cNvSpPr/>
                <p:nvPr/>
              </p:nvSpPr>
              <p:spPr>
                <a:xfrm>
                  <a:off x="3592346" y="5132661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</a:t>
                  </a: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116A518-F510-064C-B941-EF807D3E67F7}"/>
                    </a:ext>
                  </a:extLst>
                </p:cNvPr>
                <p:cNvSpPr/>
                <p:nvPr/>
              </p:nvSpPr>
              <p:spPr>
                <a:xfrm>
                  <a:off x="2865471" y="5122902"/>
                  <a:ext cx="385762" cy="40005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11</a:t>
                  </a:r>
                </a:p>
              </p:txBody>
            </p:sp>
            <p:cxnSp>
              <p:nvCxnSpPr>
                <p:cNvPr id="122" name="Straight Arrow Connector 121">
                  <a:extLst>
                    <a:ext uri="{FF2B5EF4-FFF2-40B4-BE49-F238E27FC236}">
                      <a16:creationId xmlns:a16="http://schemas.microsoft.com/office/drawing/2014/main" id="{9CDD7DA7-444F-A14C-9A24-368D0B4C01D5}"/>
                    </a:ext>
                  </a:extLst>
                </p:cNvPr>
                <p:cNvCxnSpPr>
                  <a:stCxn id="109" idx="4"/>
                  <a:endCxn id="110" idx="0"/>
                </p:cNvCxnSpPr>
                <p:nvPr/>
              </p:nvCxnSpPr>
              <p:spPr>
                <a:xfrm flipH="1">
                  <a:off x="941429" y="3486150"/>
                  <a:ext cx="8690" cy="1397277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Arrow Connector 122">
                  <a:extLst>
                    <a:ext uri="{FF2B5EF4-FFF2-40B4-BE49-F238E27FC236}">
                      <a16:creationId xmlns:a16="http://schemas.microsoft.com/office/drawing/2014/main" id="{6337299C-4AAB-FC4F-B4F5-42A8C279E5A5}"/>
                    </a:ext>
                  </a:extLst>
                </p:cNvPr>
                <p:cNvCxnSpPr>
                  <a:cxnSpLocks/>
                  <a:stCxn id="109" idx="5"/>
                  <a:endCxn id="111" idx="1"/>
                </p:cNvCxnSpPr>
                <p:nvPr/>
              </p:nvCxnSpPr>
              <p:spPr>
                <a:xfrm>
                  <a:off x="1086506" y="3427564"/>
                  <a:ext cx="238613" cy="26350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Arrow Connector 123">
                  <a:extLst>
                    <a:ext uri="{FF2B5EF4-FFF2-40B4-BE49-F238E27FC236}">
                      <a16:creationId xmlns:a16="http://schemas.microsoft.com/office/drawing/2014/main" id="{FAB7E68B-391A-E243-9424-5738F981F8B3}"/>
                    </a:ext>
                  </a:extLst>
                </p:cNvPr>
                <p:cNvCxnSpPr>
                  <a:cxnSpLocks/>
                  <a:stCxn id="112" idx="3"/>
                  <a:endCxn id="115" idx="7"/>
                </p:cNvCxnSpPr>
                <p:nvPr/>
              </p:nvCxnSpPr>
              <p:spPr>
                <a:xfrm flipH="1">
                  <a:off x="1597893" y="3962792"/>
                  <a:ext cx="432073" cy="43775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Arrow Connector 124">
                  <a:extLst>
                    <a:ext uri="{FF2B5EF4-FFF2-40B4-BE49-F238E27FC236}">
                      <a16:creationId xmlns:a16="http://schemas.microsoft.com/office/drawing/2014/main" id="{5BD6E836-1197-C641-B646-B3D64FDB2F00}"/>
                    </a:ext>
                  </a:extLst>
                </p:cNvPr>
                <p:cNvCxnSpPr>
                  <a:cxnSpLocks/>
                  <a:stCxn id="112" idx="1"/>
                  <a:endCxn id="109" idx="6"/>
                </p:cNvCxnSpPr>
                <p:nvPr/>
              </p:nvCxnSpPr>
              <p:spPr>
                <a:xfrm flipH="1" flipV="1">
                  <a:off x="1143000" y="3286125"/>
                  <a:ext cx="886966" cy="393789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Arrow Connector 125">
                  <a:extLst>
                    <a:ext uri="{FF2B5EF4-FFF2-40B4-BE49-F238E27FC236}">
                      <a16:creationId xmlns:a16="http://schemas.microsoft.com/office/drawing/2014/main" id="{9018DA78-CE0F-3D4D-A5BE-2AB5D48EF89E}"/>
                    </a:ext>
                  </a:extLst>
                </p:cNvPr>
                <p:cNvCxnSpPr>
                  <a:cxnSpLocks/>
                  <a:stCxn id="115" idx="3"/>
                  <a:endCxn id="110" idx="7"/>
                </p:cNvCxnSpPr>
                <p:nvPr/>
              </p:nvCxnSpPr>
              <p:spPr>
                <a:xfrm flipH="1">
                  <a:off x="1077816" y="4683421"/>
                  <a:ext cx="247303" cy="25859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Arrow Connector 126">
                  <a:extLst>
                    <a:ext uri="{FF2B5EF4-FFF2-40B4-BE49-F238E27FC236}">
                      <a16:creationId xmlns:a16="http://schemas.microsoft.com/office/drawing/2014/main" id="{C5182BC3-FDF1-084B-BE8D-0004E06752B3}"/>
                    </a:ext>
                  </a:extLst>
                </p:cNvPr>
                <p:cNvCxnSpPr>
                  <a:cxnSpLocks/>
                  <a:stCxn id="115" idx="6"/>
                  <a:endCxn id="112" idx="4"/>
                </p:cNvCxnSpPr>
                <p:nvPr/>
              </p:nvCxnSpPr>
              <p:spPr>
                <a:xfrm flipV="1">
                  <a:off x="1654387" y="4021378"/>
                  <a:ext cx="511966" cy="520604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Arrow Connector 127">
                  <a:extLst>
                    <a:ext uri="{FF2B5EF4-FFF2-40B4-BE49-F238E27FC236}">
                      <a16:creationId xmlns:a16="http://schemas.microsoft.com/office/drawing/2014/main" id="{CA9EF367-1EDA-A147-AEED-FB28F1DA9562}"/>
                    </a:ext>
                  </a:extLst>
                </p:cNvPr>
                <p:cNvCxnSpPr>
                  <a:cxnSpLocks/>
                  <a:stCxn id="114" idx="7"/>
                  <a:endCxn id="112" idx="5"/>
                </p:cNvCxnSpPr>
                <p:nvPr/>
              </p:nvCxnSpPr>
              <p:spPr>
                <a:xfrm flipH="1" flipV="1">
                  <a:off x="2302740" y="3962792"/>
                  <a:ext cx="9525" cy="79174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Arrow Connector 128">
                  <a:extLst>
                    <a:ext uri="{FF2B5EF4-FFF2-40B4-BE49-F238E27FC236}">
                      <a16:creationId xmlns:a16="http://schemas.microsoft.com/office/drawing/2014/main" id="{6D5DCE9C-98C2-0746-A709-47EDA65AF05D}"/>
                    </a:ext>
                  </a:extLst>
                </p:cNvPr>
                <p:cNvCxnSpPr>
                  <a:cxnSpLocks/>
                  <a:stCxn id="114" idx="2"/>
                  <a:endCxn id="115" idx="5"/>
                </p:cNvCxnSpPr>
                <p:nvPr/>
              </p:nvCxnSpPr>
              <p:spPr>
                <a:xfrm flipH="1" flipV="1">
                  <a:off x="1597893" y="4683421"/>
                  <a:ext cx="385104" cy="21255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>
                  <a:extLst>
                    <a:ext uri="{FF2B5EF4-FFF2-40B4-BE49-F238E27FC236}">
                      <a16:creationId xmlns:a16="http://schemas.microsoft.com/office/drawing/2014/main" id="{FE9F05CD-21B1-CB44-81D9-3BB69025BF22}"/>
                    </a:ext>
                  </a:extLst>
                </p:cNvPr>
                <p:cNvCxnSpPr>
                  <a:cxnSpLocks/>
                  <a:stCxn id="110" idx="5"/>
                  <a:endCxn id="114" idx="3"/>
                </p:cNvCxnSpPr>
                <p:nvPr/>
              </p:nvCxnSpPr>
              <p:spPr>
                <a:xfrm flipV="1">
                  <a:off x="1077816" y="5037418"/>
                  <a:ext cx="961675" cy="1874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>
                  <a:extLst>
                    <a:ext uri="{FF2B5EF4-FFF2-40B4-BE49-F238E27FC236}">
                      <a16:creationId xmlns:a16="http://schemas.microsoft.com/office/drawing/2014/main" id="{281CB135-D1C3-B043-ADBB-EB66B7A65D20}"/>
                    </a:ext>
                  </a:extLst>
                </p:cNvPr>
                <p:cNvCxnSpPr>
                  <a:cxnSpLocks/>
                  <a:stCxn id="113" idx="2"/>
                  <a:endCxn id="109" idx="7"/>
                </p:cNvCxnSpPr>
                <p:nvPr/>
              </p:nvCxnSpPr>
              <p:spPr>
                <a:xfrm flipH="1" flipV="1">
                  <a:off x="1086506" y="3144686"/>
                  <a:ext cx="1550708" cy="18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Arrow Connector 131">
                  <a:extLst>
                    <a:ext uri="{FF2B5EF4-FFF2-40B4-BE49-F238E27FC236}">
                      <a16:creationId xmlns:a16="http://schemas.microsoft.com/office/drawing/2014/main" id="{B18E89EE-F5C5-F74F-B345-79771A078865}"/>
                    </a:ext>
                  </a:extLst>
                </p:cNvPr>
                <p:cNvCxnSpPr>
                  <a:cxnSpLocks/>
                  <a:stCxn id="113" idx="3"/>
                  <a:endCxn id="114" idx="6"/>
                </p:cNvCxnSpPr>
                <p:nvPr/>
              </p:nvCxnSpPr>
              <p:spPr>
                <a:xfrm flipH="1">
                  <a:off x="2368759" y="3475188"/>
                  <a:ext cx="324949" cy="1420791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Arrow Connector 132">
                  <a:extLst>
                    <a:ext uri="{FF2B5EF4-FFF2-40B4-BE49-F238E27FC236}">
                      <a16:creationId xmlns:a16="http://schemas.microsoft.com/office/drawing/2014/main" id="{1717D5E0-26C6-9247-B0D9-17DEBC58978E}"/>
                    </a:ext>
                  </a:extLst>
                </p:cNvPr>
                <p:cNvCxnSpPr>
                  <a:cxnSpLocks/>
                  <a:stCxn id="113" idx="7"/>
                  <a:endCxn id="117" idx="1"/>
                </p:cNvCxnSpPr>
                <p:nvPr/>
              </p:nvCxnSpPr>
              <p:spPr>
                <a:xfrm>
                  <a:off x="2966482" y="3192310"/>
                  <a:ext cx="432072" cy="10962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7333564-9346-724E-9E41-CB12EFACAD79}"/>
                    </a:ext>
                  </a:extLst>
                </p:cNvPr>
                <p:cNvCxnSpPr>
                  <a:cxnSpLocks/>
                  <a:stCxn id="113" idx="4"/>
                  <a:endCxn id="118" idx="0"/>
                </p:cNvCxnSpPr>
                <p:nvPr/>
              </p:nvCxnSpPr>
              <p:spPr>
                <a:xfrm>
                  <a:off x="2830095" y="3533774"/>
                  <a:ext cx="228257" cy="79952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Arrow Connector 134">
                  <a:extLst>
                    <a:ext uri="{FF2B5EF4-FFF2-40B4-BE49-F238E27FC236}">
                      <a16:creationId xmlns:a16="http://schemas.microsoft.com/office/drawing/2014/main" id="{70702E11-12B3-0741-A1C8-CC09001D9A86}"/>
                    </a:ext>
                  </a:extLst>
                </p:cNvPr>
                <p:cNvCxnSpPr>
                  <a:cxnSpLocks/>
                  <a:stCxn id="116" idx="3"/>
                  <a:endCxn id="118" idx="7"/>
                </p:cNvCxnSpPr>
                <p:nvPr/>
              </p:nvCxnSpPr>
              <p:spPr>
                <a:xfrm flipH="1">
                  <a:off x="3194739" y="4162817"/>
                  <a:ext cx="589577" cy="229063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Arrow Connector 135">
                  <a:extLst>
                    <a:ext uri="{FF2B5EF4-FFF2-40B4-BE49-F238E27FC236}">
                      <a16:creationId xmlns:a16="http://schemas.microsoft.com/office/drawing/2014/main" id="{EDF4F00B-8651-1940-AED2-8B911E6C8088}"/>
                    </a:ext>
                  </a:extLst>
                </p:cNvPr>
                <p:cNvCxnSpPr>
                  <a:cxnSpLocks/>
                  <a:stCxn id="116" idx="2"/>
                  <a:endCxn id="113" idx="5"/>
                </p:cNvCxnSpPr>
                <p:nvPr/>
              </p:nvCxnSpPr>
              <p:spPr>
                <a:xfrm flipH="1" flipV="1">
                  <a:off x="2966482" y="3475188"/>
                  <a:ext cx="761340" cy="546190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Arrow Connector 136">
                  <a:extLst>
                    <a:ext uri="{FF2B5EF4-FFF2-40B4-BE49-F238E27FC236}">
                      <a16:creationId xmlns:a16="http://schemas.microsoft.com/office/drawing/2014/main" id="{7039CD58-1B2C-1F46-A977-DDB7FAB56E75}"/>
                    </a:ext>
                  </a:extLst>
                </p:cNvPr>
                <p:cNvCxnSpPr>
                  <a:cxnSpLocks/>
                  <a:stCxn id="117" idx="2"/>
                  <a:endCxn id="113" idx="6"/>
                </p:cNvCxnSpPr>
                <p:nvPr/>
              </p:nvCxnSpPr>
              <p:spPr>
                <a:xfrm flipH="1" flipV="1">
                  <a:off x="3022976" y="3333749"/>
                  <a:ext cx="319084" cy="10962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Arrow Connector 137">
                  <a:extLst>
                    <a:ext uri="{FF2B5EF4-FFF2-40B4-BE49-F238E27FC236}">
                      <a16:creationId xmlns:a16="http://schemas.microsoft.com/office/drawing/2014/main" id="{7344F240-8557-A749-9949-4AD20B073F39}"/>
                    </a:ext>
                  </a:extLst>
                </p:cNvPr>
                <p:cNvCxnSpPr>
                  <a:cxnSpLocks/>
                  <a:stCxn id="118" idx="6"/>
                  <a:endCxn id="119" idx="2"/>
                </p:cNvCxnSpPr>
                <p:nvPr/>
              </p:nvCxnSpPr>
              <p:spPr>
                <a:xfrm>
                  <a:off x="3251233" y="4533319"/>
                  <a:ext cx="328610" cy="3011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Arrow Connector 138">
                  <a:extLst>
                    <a:ext uri="{FF2B5EF4-FFF2-40B4-BE49-F238E27FC236}">
                      <a16:creationId xmlns:a16="http://schemas.microsoft.com/office/drawing/2014/main" id="{73B5AD54-A517-EB44-B50C-C847003BDA3F}"/>
                    </a:ext>
                  </a:extLst>
                </p:cNvPr>
                <p:cNvCxnSpPr>
                  <a:cxnSpLocks/>
                  <a:stCxn id="118" idx="4"/>
                  <a:endCxn id="121" idx="0"/>
                </p:cNvCxnSpPr>
                <p:nvPr/>
              </p:nvCxnSpPr>
              <p:spPr>
                <a:xfrm>
                  <a:off x="3058352" y="4733344"/>
                  <a:ext cx="0" cy="389558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Arrow Connector 139">
                  <a:extLst>
                    <a:ext uri="{FF2B5EF4-FFF2-40B4-BE49-F238E27FC236}">
                      <a16:creationId xmlns:a16="http://schemas.microsoft.com/office/drawing/2014/main" id="{940F07AC-5389-384D-89C2-5E04A67939D6}"/>
                    </a:ext>
                  </a:extLst>
                </p:cNvPr>
                <p:cNvCxnSpPr>
                  <a:cxnSpLocks/>
                  <a:stCxn id="119" idx="4"/>
                  <a:endCxn id="120" idx="0"/>
                </p:cNvCxnSpPr>
                <p:nvPr/>
              </p:nvCxnSpPr>
              <p:spPr>
                <a:xfrm>
                  <a:off x="3772724" y="4763457"/>
                  <a:ext cx="12503" cy="369204"/>
                </a:xfrm>
                <a:prstGeom prst="straightConnector1">
                  <a:avLst/>
                </a:prstGeom>
                <a:ln w="28575">
                  <a:solidFill>
                    <a:schemeClr val="bg1">
                      <a:lumMod val="50000"/>
                    </a:schemeClr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Arrow Connector 140">
                  <a:extLst>
                    <a:ext uri="{FF2B5EF4-FFF2-40B4-BE49-F238E27FC236}">
                      <a16:creationId xmlns:a16="http://schemas.microsoft.com/office/drawing/2014/main" id="{C8648ECA-1DC2-5943-A8CB-AA4DEB317BE6}"/>
                    </a:ext>
                  </a:extLst>
                </p:cNvPr>
                <p:cNvCxnSpPr>
                  <a:cxnSpLocks/>
                  <a:stCxn id="121" idx="6"/>
                  <a:endCxn id="120" idx="2"/>
                </p:cNvCxnSpPr>
                <p:nvPr/>
              </p:nvCxnSpPr>
              <p:spPr>
                <a:xfrm>
                  <a:off x="3251233" y="5322927"/>
                  <a:ext cx="341113" cy="975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Arrow Connector 141">
                  <a:extLst>
                    <a:ext uri="{FF2B5EF4-FFF2-40B4-BE49-F238E27FC236}">
                      <a16:creationId xmlns:a16="http://schemas.microsoft.com/office/drawing/2014/main" id="{5C364A7F-4444-5047-9CA9-51C4DD563D01}"/>
                    </a:ext>
                  </a:extLst>
                </p:cNvPr>
                <p:cNvCxnSpPr>
                  <a:cxnSpLocks/>
                  <a:stCxn id="120" idx="1"/>
                  <a:endCxn id="118" idx="5"/>
                </p:cNvCxnSpPr>
                <p:nvPr/>
              </p:nvCxnSpPr>
              <p:spPr>
                <a:xfrm flipH="1" flipV="1">
                  <a:off x="3194739" y="4674758"/>
                  <a:ext cx="454101" cy="516489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5CAECB4-7838-CA41-A8FD-077EE63D59D3}"/>
                  </a:ext>
                </a:extLst>
              </p:cNvPr>
              <p:cNvCxnSpPr>
                <a:cxnSpLocks/>
                <a:stCxn id="121" idx="2"/>
                <a:endCxn id="114" idx="5"/>
              </p:cNvCxnSpPr>
              <p:nvPr/>
            </p:nvCxnSpPr>
            <p:spPr>
              <a:xfrm flipH="1" flipV="1">
                <a:off x="2312265" y="5037418"/>
                <a:ext cx="553206" cy="285509"/>
              </a:xfrm>
              <a:prstGeom prst="straightConnector1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28719E-A1E4-E148-A0CB-22B8644EFB16}"/>
                </a:ext>
              </a:extLst>
            </p:cNvPr>
            <p:cNvSpPr txBox="1"/>
            <p:nvPr/>
          </p:nvSpPr>
          <p:spPr>
            <a:xfrm>
              <a:off x="2042450" y="5551416"/>
              <a:ext cx="423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aphicFrame>
        <p:nvGraphicFramePr>
          <p:cNvPr id="80" name="Table 79" descr="stack with post-order verteces">
            <a:extLst>
              <a:ext uri="{FF2B5EF4-FFF2-40B4-BE49-F238E27FC236}">
                <a16:creationId xmlns:a16="http://schemas.microsoft.com/office/drawing/2014/main" id="{0AB99A05-4466-0A44-BB64-319A7DF7ED54}"/>
              </a:ext>
            </a:extLst>
          </p:cNvPr>
          <p:cNvGraphicFramePr>
            <a:graphicFrameLocks noGrp="1"/>
          </p:cNvGraphicFramePr>
          <p:nvPr/>
        </p:nvGraphicFramePr>
        <p:xfrm>
          <a:off x="4273053" y="2467252"/>
          <a:ext cx="709248" cy="378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248">
                  <a:extLst>
                    <a:ext uri="{9D8B030D-6E8A-4147-A177-3AD203B41FA5}">
                      <a16:colId xmlns:a16="http://schemas.microsoft.com/office/drawing/2014/main" val="3886110889"/>
                    </a:ext>
                  </a:extLst>
                </a:gridCol>
              </a:tblGrid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938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51302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15336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28501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3176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5317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29172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96059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48046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75500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010027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87302"/>
                  </a:ext>
                </a:extLst>
              </a:tr>
              <a:tr h="29083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539432"/>
                  </a:ext>
                </a:extLst>
              </a:tr>
            </a:tbl>
          </a:graphicData>
        </a:graphic>
      </p:graphicFrame>
      <p:grpSp>
        <p:nvGrpSpPr>
          <p:cNvPr id="81" name="Group 80" descr="reverse post-order">
            <a:extLst>
              <a:ext uri="{FF2B5EF4-FFF2-40B4-BE49-F238E27FC236}">
                <a16:creationId xmlns:a16="http://schemas.microsoft.com/office/drawing/2014/main" id="{666354B9-3854-3145-94BC-7990D1180201}"/>
              </a:ext>
            </a:extLst>
          </p:cNvPr>
          <p:cNvGrpSpPr/>
          <p:nvPr/>
        </p:nvGrpSpPr>
        <p:grpSpPr>
          <a:xfrm>
            <a:off x="5147506" y="2467252"/>
            <a:ext cx="403612" cy="3671786"/>
            <a:chOff x="10891030" y="2394163"/>
            <a:chExt cx="403612" cy="36717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AD4305C-73AB-2949-A091-EC7329C0BDC5}"/>
                </a:ext>
              </a:extLst>
            </p:cNvPr>
            <p:cNvSpPr txBox="1"/>
            <p:nvPr/>
          </p:nvSpPr>
          <p:spPr>
            <a:xfrm rot="16200000">
              <a:off x="10030193" y="3936766"/>
              <a:ext cx="2159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Reverse post-order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2702D96-C4AE-EA47-9F93-4394C338CB1E}"/>
                </a:ext>
              </a:extLst>
            </p:cNvPr>
            <p:cNvCxnSpPr/>
            <p:nvPr/>
          </p:nvCxnSpPr>
          <p:spPr>
            <a:xfrm>
              <a:off x="10891030" y="2394163"/>
              <a:ext cx="0" cy="3671786"/>
            </a:xfrm>
            <a:prstGeom prst="straightConnector1">
              <a:avLst/>
            </a:prstGeom>
            <a:ln w="444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4" name="Table 83" descr="data structures used by connected components algorithm">
            <a:extLst>
              <a:ext uri="{FF2B5EF4-FFF2-40B4-BE49-F238E27FC236}">
                <a16:creationId xmlns:a16="http://schemas.microsoft.com/office/drawing/2014/main" id="{4BDD7522-E0EA-884D-8E32-D8D695EE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36521"/>
              </p:ext>
            </p:extLst>
          </p:nvPr>
        </p:nvGraphicFramePr>
        <p:xfrm>
          <a:off x="6765780" y="2185242"/>
          <a:ext cx="4424232" cy="441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744">
                  <a:extLst>
                    <a:ext uri="{9D8B030D-6E8A-4147-A177-3AD203B41FA5}">
                      <a16:colId xmlns:a16="http://schemas.microsoft.com/office/drawing/2014/main" val="1137908209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413100032"/>
                    </a:ext>
                  </a:extLst>
                </a:gridCol>
                <a:gridCol w="1474744">
                  <a:extLst>
                    <a:ext uri="{9D8B030D-6E8A-4147-A177-3AD203B41FA5}">
                      <a16:colId xmlns:a16="http://schemas.microsoft.com/office/drawing/2014/main" val="2687826846"/>
                    </a:ext>
                  </a:extLst>
                </a:gridCol>
              </a:tblGrid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marked[]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scc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[]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74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4409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31766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38095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21491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27313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423678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38992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01213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34074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123120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02945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99804"/>
                  </a:ext>
                </a:extLst>
              </a:tr>
              <a:tr h="315308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723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68088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Kosaraju-Sharir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Pseudocode</a:t>
            </a:r>
            <a:r>
              <a:rPr lang="en-US" dirty="0"/>
              <a:t>.</a:t>
            </a:r>
          </a:p>
        </p:txBody>
      </p:sp>
      <p:sp>
        <p:nvSpPr>
          <p:cNvPr id="4" name="TextBox 3" descr="pseudocode for connected components algorithm">
            <a:extLst>
              <a:ext uri="{FF2B5EF4-FFF2-40B4-BE49-F238E27FC236}">
                <a16:creationId xmlns:a16="http://schemas.microsoft.com/office/drawing/2014/main" id="{40732A90-E493-CB40-8DC7-FF90FF05DB74}"/>
              </a:ext>
            </a:extLst>
          </p:cNvPr>
          <p:cNvSpPr txBox="1"/>
          <p:nvPr/>
        </p:nvSpPr>
        <p:spPr>
          <a:xfrm>
            <a:off x="514866" y="2056686"/>
            <a:ext cx="5662127" cy="461664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class </a:t>
            </a:r>
            <a:r>
              <a:rPr lang="en-US" sz="1400" dirty="0" err="1">
                <a:latin typeface="Courier" pitchFamily="2" charset="0"/>
              </a:rPr>
              <a:t>ConnectedComponents</a:t>
            </a:r>
            <a:r>
              <a:rPr lang="en-US" sz="1400" dirty="0">
                <a:latin typeface="Courier" pitchFamily="2" charset="0"/>
              </a:rPr>
              <a:t>: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__</a:t>
            </a:r>
            <a:r>
              <a:rPr lang="en-US" sz="1400" dirty="0" err="1">
                <a:latin typeface="Courier" pitchFamily="2" charset="0"/>
              </a:rPr>
              <a:t>init</a:t>
            </a:r>
            <a:r>
              <a:rPr lang="en-US" sz="1400" dirty="0">
                <a:latin typeface="Courier" pitchFamily="2" charset="0"/>
              </a:rPr>
              <a:t>__(self, G):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self.cc</a:t>
            </a:r>
            <a:r>
              <a:rPr lang="en-US" sz="1400" dirty="0">
                <a:latin typeface="Courier" pitchFamily="2" charset="0"/>
              </a:rPr>
              <a:t> = [-1 for v in range (0, G.V())]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self.count</a:t>
            </a:r>
            <a:r>
              <a:rPr lang="en-US" sz="1400" dirty="0">
                <a:latin typeface="Courier" pitchFamily="2" charset="0"/>
              </a:rPr>
              <a:t> = 0;</a:t>
            </a:r>
          </a:p>
          <a:p>
            <a:r>
              <a:rPr lang="en-US" sz="1400" dirty="0">
                <a:latin typeface="Courier" pitchFamily="2" charset="0"/>
              </a:rPr>
              <a:t>    for v in range (0, G.V()):</a:t>
            </a:r>
          </a:p>
          <a:p>
            <a:r>
              <a:rPr lang="en-US" sz="1400" dirty="0">
                <a:latin typeface="Courier" pitchFamily="2" charset="0"/>
              </a:rPr>
              <a:t>      if (!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[v]):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self.dfs</a:t>
            </a:r>
            <a:r>
              <a:rPr lang="en-US" sz="1400" dirty="0">
                <a:latin typeface="Courier" pitchFamily="2" charset="0"/>
              </a:rPr>
              <a:t>(G, v)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self.count</a:t>
            </a:r>
            <a:r>
              <a:rPr lang="en-US" sz="1400" dirty="0">
                <a:latin typeface="Courier" pitchFamily="2" charset="0"/>
              </a:rPr>
              <a:t>++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</a:t>
            </a:r>
            <a:r>
              <a:rPr lang="en-US" sz="1400" dirty="0" err="1">
                <a:latin typeface="Courier" pitchFamily="2" charset="0"/>
              </a:rPr>
              <a:t>dfs</a:t>
            </a:r>
            <a:r>
              <a:rPr lang="en-US" sz="1400" dirty="0">
                <a:latin typeface="Courier" pitchFamily="2" charset="0"/>
              </a:rPr>
              <a:t>(self, G, v):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[v] = true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self.cc</a:t>
            </a:r>
            <a:r>
              <a:rPr lang="en-US" sz="1400" dirty="0">
                <a:latin typeface="Courier" pitchFamily="2" charset="0"/>
              </a:rPr>
              <a:t>[v] = </a:t>
            </a:r>
            <a:r>
              <a:rPr lang="en-US" sz="1400" dirty="0" err="1">
                <a:latin typeface="Courier" pitchFamily="2" charset="0"/>
              </a:rPr>
              <a:t>self.count</a:t>
            </a:r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  for w in </a:t>
            </a:r>
            <a:r>
              <a:rPr lang="en-US" sz="1400" dirty="0" err="1">
                <a:latin typeface="Courier" pitchFamily="2" charset="0"/>
              </a:rPr>
              <a:t>G.adj</a:t>
            </a:r>
            <a:r>
              <a:rPr lang="en-US" sz="1400" dirty="0">
                <a:latin typeface="Courier" pitchFamily="2" charset="0"/>
              </a:rPr>
              <a:t>(v):</a:t>
            </a:r>
          </a:p>
          <a:p>
            <a:r>
              <a:rPr lang="en-US" sz="1400" dirty="0">
                <a:latin typeface="Courier" pitchFamily="2" charset="0"/>
              </a:rPr>
              <a:t>      if (!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[w])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self.dfs</a:t>
            </a:r>
            <a:r>
              <a:rPr lang="en-US" sz="1400" dirty="0">
                <a:latin typeface="Courier" pitchFamily="2" charset="0"/>
              </a:rPr>
              <a:t>(G, w)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</a:t>
            </a:r>
            <a:r>
              <a:rPr lang="en-US" sz="1400" dirty="0" err="1">
                <a:latin typeface="Courier" pitchFamily="2" charset="0"/>
              </a:rPr>
              <a:t>sameCC</a:t>
            </a:r>
            <a:r>
              <a:rPr lang="en-US" sz="1400" dirty="0">
                <a:latin typeface="Courier" pitchFamily="2" charset="0"/>
              </a:rPr>
              <a:t>(self, v, w):</a:t>
            </a:r>
          </a:p>
          <a:p>
            <a:r>
              <a:rPr lang="en-US" sz="1400" dirty="0">
                <a:latin typeface="Courier" pitchFamily="2" charset="0"/>
              </a:rPr>
              <a:t>        return (</a:t>
            </a:r>
            <a:r>
              <a:rPr lang="en-US" sz="1400" dirty="0" err="1">
                <a:latin typeface="Courier" pitchFamily="2" charset="0"/>
              </a:rPr>
              <a:t>self.cc</a:t>
            </a:r>
            <a:r>
              <a:rPr lang="en-US" sz="1400" dirty="0">
                <a:latin typeface="Courier" pitchFamily="2" charset="0"/>
              </a:rPr>
              <a:t>[v]==</a:t>
            </a:r>
            <a:r>
              <a:rPr lang="en-US" sz="1400" dirty="0" err="1">
                <a:latin typeface="Courier" pitchFamily="2" charset="0"/>
              </a:rPr>
              <a:t>self.cc</a:t>
            </a:r>
            <a:r>
              <a:rPr lang="en-US" sz="1400" dirty="0">
                <a:latin typeface="Courier" pitchFamily="2" charset="0"/>
              </a:rPr>
              <a:t>[w])</a:t>
            </a:r>
          </a:p>
          <a:p>
            <a:endParaRPr lang="en-US" sz="1400" dirty="0">
              <a:latin typeface="Courier" pitchFamily="2" charset="0"/>
            </a:endParaRPr>
          </a:p>
        </p:txBody>
      </p:sp>
      <p:sp>
        <p:nvSpPr>
          <p:cNvPr id="5" name="TextBox 4" descr="pseudocode for connected components algorithm">
            <a:extLst>
              <a:ext uri="{FF2B5EF4-FFF2-40B4-BE49-F238E27FC236}">
                <a16:creationId xmlns:a16="http://schemas.microsoft.com/office/drawing/2014/main" id="{2DDB775F-15E0-6240-8D0B-06A1312897D6}"/>
              </a:ext>
            </a:extLst>
          </p:cNvPr>
          <p:cNvSpPr txBox="1"/>
          <p:nvPr/>
        </p:nvSpPr>
        <p:spPr>
          <a:xfrm>
            <a:off x="6332166" y="1421527"/>
            <a:ext cx="5662127" cy="526297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class 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StronglyConnectedComponents</a:t>
            </a:r>
            <a:r>
              <a:rPr lang="en-US" sz="1400" dirty="0">
                <a:latin typeface="Courier" pitchFamily="2" charset="0"/>
              </a:rPr>
              <a:t>: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__</a:t>
            </a:r>
            <a:r>
              <a:rPr lang="en-US" sz="1400" dirty="0" err="1">
                <a:latin typeface="Courier" pitchFamily="2" charset="0"/>
              </a:rPr>
              <a:t>init</a:t>
            </a:r>
            <a:r>
              <a:rPr lang="en-US" sz="1400" dirty="0">
                <a:latin typeface="Courier" pitchFamily="2" charset="0"/>
              </a:rPr>
              <a:t>__(self, G):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 = [False for v in range (0, G.V())]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self.scc</a:t>
            </a:r>
            <a:r>
              <a:rPr lang="en-US" sz="1400" dirty="0">
                <a:latin typeface="Courier" pitchFamily="2" charset="0"/>
              </a:rPr>
              <a:t> = [-1 for v in range (0, G.V())]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self.count</a:t>
            </a:r>
            <a:r>
              <a:rPr lang="en-US" sz="1400" dirty="0">
                <a:latin typeface="Courier" pitchFamily="2" charset="0"/>
              </a:rPr>
              <a:t> = 0;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   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dfsOrder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= 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DepthFirstOrder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(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G.reverse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())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   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reverseOrder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= 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dfsOrder.reversePost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()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   while (!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reverseOrder.isEmpty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()):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      v=</a:t>
            </a:r>
            <a:r>
              <a:rPr lang="en-US" sz="1400" b="1" dirty="0" err="1">
                <a:solidFill>
                  <a:schemeClr val="accent5"/>
                </a:solidFill>
                <a:latin typeface="Courier" pitchFamily="2" charset="0"/>
              </a:rPr>
              <a:t>reverseOrder.pop</a:t>
            </a:r>
            <a:r>
              <a:rPr lang="en-US" sz="1400" b="1" dirty="0">
                <a:solidFill>
                  <a:schemeClr val="accent5"/>
                </a:solidFill>
                <a:latin typeface="Courier" pitchFamily="2" charset="0"/>
              </a:rPr>
              <a:t>()</a:t>
            </a:r>
          </a:p>
          <a:p>
            <a:r>
              <a:rPr lang="en-US" sz="1400" dirty="0">
                <a:latin typeface="Courier" pitchFamily="2" charset="0"/>
              </a:rPr>
              <a:t>      if (!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[v]):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self.dfs</a:t>
            </a:r>
            <a:r>
              <a:rPr lang="en-US" sz="1400" dirty="0">
                <a:latin typeface="Courier" pitchFamily="2" charset="0"/>
              </a:rPr>
              <a:t>(G, v)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self.count</a:t>
            </a:r>
            <a:r>
              <a:rPr lang="en-US" sz="1400" dirty="0">
                <a:latin typeface="Courier" pitchFamily="2" charset="0"/>
              </a:rPr>
              <a:t>++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</a:t>
            </a:r>
            <a:r>
              <a:rPr lang="en-US" sz="1400" dirty="0" err="1">
                <a:latin typeface="Courier" pitchFamily="2" charset="0"/>
              </a:rPr>
              <a:t>dfs</a:t>
            </a:r>
            <a:r>
              <a:rPr lang="en-US" sz="1400" dirty="0">
                <a:latin typeface="Courier" pitchFamily="2" charset="0"/>
              </a:rPr>
              <a:t>(self, G, v):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[v] = true</a:t>
            </a:r>
          </a:p>
          <a:p>
            <a:r>
              <a:rPr lang="en-US" sz="1400" dirty="0">
                <a:latin typeface="Courier" pitchFamily="2" charset="0"/>
              </a:rPr>
              <a:t>    </a:t>
            </a:r>
            <a:r>
              <a:rPr lang="en-US" sz="1400" dirty="0" err="1">
                <a:latin typeface="Courier" pitchFamily="2" charset="0"/>
              </a:rPr>
              <a:t>self.scc</a:t>
            </a:r>
            <a:r>
              <a:rPr lang="en-US" sz="1400" dirty="0">
                <a:latin typeface="Courier" pitchFamily="2" charset="0"/>
              </a:rPr>
              <a:t>[v] = </a:t>
            </a:r>
            <a:r>
              <a:rPr lang="en-US" sz="1400" dirty="0" err="1">
                <a:latin typeface="Courier" pitchFamily="2" charset="0"/>
              </a:rPr>
              <a:t>self.count</a:t>
            </a:r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  for w in </a:t>
            </a:r>
            <a:r>
              <a:rPr lang="en-US" sz="1400" dirty="0" err="1">
                <a:latin typeface="Courier" pitchFamily="2" charset="0"/>
              </a:rPr>
              <a:t>G.adj</a:t>
            </a:r>
            <a:r>
              <a:rPr lang="en-US" sz="1400" dirty="0">
                <a:latin typeface="Courier" pitchFamily="2" charset="0"/>
              </a:rPr>
              <a:t>(v):</a:t>
            </a:r>
          </a:p>
          <a:p>
            <a:r>
              <a:rPr lang="en-US" sz="1400" dirty="0">
                <a:latin typeface="Courier" pitchFamily="2" charset="0"/>
              </a:rPr>
              <a:t>      if (!</a:t>
            </a:r>
            <a:r>
              <a:rPr lang="en-US" sz="1400" dirty="0" err="1">
                <a:latin typeface="Courier" pitchFamily="2" charset="0"/>
              </a:rPr>
              <a:t>self.marked</a:t>
            </a:r>
            <a:r>
              <a:rPr lang="en-US" sz="1400" dirty="0">
                <a:latin typeface="Courier" pitchFamily="2" charset="0"/>
              </a:rPr>
              <a:t>[w])</a:t>
            </a:r>
          </a:p>
          <a:p>
            <a:r>
              <a:rPr lang="en-US" sz="1400" dirty="0">
                <a:latin typeface="Courier" pitchFamily="2" charset="0"/>
              </a:rPr>
              <a:t>        </a:t>
            </a:r>
            <a:r>
              <a:rPr lang="en-US" sz="1400" dirty="0" err="1">
                <a:latin typeface="Courier" pitchFamily="2" charset="0"/>
              </a:rPr>
              <a:t>self.dfs</a:t>
            </a:r>
            <a:r>
              <a:rPr lang="en-US" sz="1400" dirty="0">
                <a:latin typeface="Courier" pitchFamily="2" charset="0"/>
              </a:rPr>
              <a:t>(G, w)</a:t>
            </a:r>
          </a:p>
          <a:p>
            <a:endParaRPr lang="en-US" sz="1400" dirty="0">
              <a:latin typeface="Courier" pitchFamily="2" charset="0"/>
            </a:endParaRPr>
          </a:p>
          <a:p>
            <a:r>
              <a:rPr lang="en-US" sz="1400" dirty="0">
                <a:latin typeface="Courier" pitchFamily="2" charset="0"/>
              </a:rPr>
              <a:t>  def </a:t>
            </a:r>
            <a:r>
              <a:rPr lang="en-US" sz="1400" dirty="0" err="1">
                <a:latin typeface="Courier" pitchFamily="2" charset="0"/>
              </a:rPr>
              <a:t>sameSCC</a:t>
            </a:r>
            <a:r>
              <a:rPr lang="en-US" sz="1400" dirty="0">
                <a:latin typeface="Courier" pitchFamily="2" charset="0"/>
              </a:rPr>
              <a:t>(self, v, w):</a:t>
            </a:r>
          </a:p>
          <a:p>
            <a:r>
              <a:rPr lang="en-US" sz="1400" dirty="0">
                <a:latin typeface="Courier" pitchFamily="2" charset="0"/>
              </a:rPr>
              <a:t>        return (</a:t>
            </a:r>
            <a:r>
              <a:rPr lang="en-US" sz="1400" dirty="0" err="1">
                <a:latin typeface="Courier" pitchFamily="2" charset="0"/>
              </a:rPr>
              <a:t>self.scc</a:t>
            </a:r>
            <a:r>
              <a:rPr lang="en-US" sz="1400" dirty="0">
                <a:latin typeface="Courier" pitchFamily="2" charset="0"/>
              </a:rPr>
              <a:t>[v]==</a:t>
            </a:r>
            <a:r>
              <a:rPr lang="en-US" sz="1400" dirty="0" err="1">
                <a:latin typeface="Courier" pitchFamily="2" charset="0"/>
              </a:rPr>
              <a:t>self.scc</a:t>
            </a:r>
            <a:r>
              <a:rPr lang="en-US" sz="1400" dirty="0">
                <a:latin typeface="Courier" pitchFamily="2" charset="0"/>
              </a:rPr>
              <a:t>[w])</a:t>
            </a:r>
          </a:p>
          <a:p>
            <a:endParaRPr lang="en-US" sz="1400" dirty="0">
              <a:latin typeface="Courier" pitchFamily="2" charset="0"/>
            </a:endParaRPr>
          </a:p>
        </p:txBody>
      </p:sp>
      <p:grpSp>
        <p:nvGrpSpPr>
          <p:cNvPr id="12" name="Group 11" descr="highlighting code for phase 1">
            <a:extLst>
              <a:ext uri="{FF2B5EF4-FFF2-40B4-BE49-F238E27FC236}">
                <a16:creationId xmlns:a16="http://schemas.microsoft.com/office/drawing/2014/main" id="{38193C1B-188B-0B4F-9CBC-4E0B46EBF66B}"/>
              </a:ext>
            </a:extLst>
          </p:cNvPr>
          <p:cNvGrpSpPr/>
          <p:nvPr/>
        </p:nvGrpSpPr>
        <p:grpSpPr>
          <a:xfrm>
            <a:off x="6709893" y="2704563"/>
            <a:ext cx="5358463" cy="1093769"/>
            <a:chOff x="6709893" y="2704563"/>
            <a:chExt cx="5358463" cy="109376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BBDEBD-4485-6645-A185-884417BA5103}"/>
                </a:ext>
              </a:extLst>
            </p:cNvPr>
            <p:cNvSpPr txBox="1"/>
            <p:nvPr/>
          </p:nvSpPr>
          <p:spPr>
            <a:xfrm>
              <a:off x="11062953" y="3429000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1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412BD5D-FBAE-9649-8ED4-C703F81550FC}"/>
                </a:ext>
              </a:extLst>
            </p:cNvPr>
            <p:cNvCxnSpPr>
              <a:cxnSpLocks/>
              <a:endCxn id="10" idx="3"/>
            </p:cNvCxnSpPr>
            <p:nvPr/>
          </p:nvCxnSpPr>
          <p:spPr>
            <a:xfrm flipH="1" flipV="1">
              <a:off x="11114468" y="2852670"/>
              <a:ext cx="514332" cy="63034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05C5FBB-7C37-B049-AC49-3AD01B4B1C62}"/>
                </a:ext>
              </a:extLst>
            </p:cNvPr>
            <p:cNvSpPr/>
            <p:nvPr/>
          </p:nvSpPr>
          <p:spPr>
            <a:xfrm>
              <a:off x="6709893" y="2704563"/>
              <a:ext cx="4404575" cy="296214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 descr="highlighting code for phase 2">
            <a:extLst>
              <a:ext uri="{FF2B5EF4-FFF2-40B4-BE49-F238E27FC236}">
                <a16:creationId xmlns:a16="http://schemas.microsoft.com/office/drawing/2014/main" id="{F8725380-2CCF-B44D-A573-FBB3219770FE}"/>
              </a:ext>
            </a:extLst>
          </p:cNvPr>
          <p:cNvGrpSpPr/>
          <p:nvPr/>
        </p:nvGrpSpPr>
        <p:grpSpPr>
          <a:xfrm>
            <a:off x="6709893" y="3000777"/>
            <a:ext cx="4661741" cy="2132954"/>
            <a:chOff x="6709893" y="2704563"/>
            <a:chExt cx="4661741" cy="213295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D23B3F-DBCF-FA4D-8A6D-BEFA4F2BD847}"/>
                </a:ext>
              </a:extLst>
            </p:cNvPr>
            <p:cNvSpPr txBox="1"/>
            <p:nvPr/>
          </p:nvSpPr>
          <p:spPr>
            <a:xfrm>
              <a:off x="10366231" y="446818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2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E69AA29-6A93-894B-8D86-14A5B01C4E25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10366231" y="4068796"/>
              <a:ext cx="502702" cy="399389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C5556D7-583A-7840-ACF8-BDE0DF5B6E9D}"/>
                </a:ext>
              </a:extLst>
            </p:cNvPr>
            <p:cNvSpPr/>
            <p:nvPr/>
          </p:nvSpPr>
          <p:spPr>
            <a:xfrm>
              <a:off x="6709893" y="2704563"/>
              <a:ext cx="4404575" cy="1308074"/>
            </a:xfrm>
            <a:prstGeom prst="round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848497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4721-C2A7-4843-9210-8FA5208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Strongly-connected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D0DE6-608E-614D-850B-C4EBFD95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…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3D7B8B-D6F1-E346-947F-E8D4DD045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94844"/>
              </p:ext>
            </p:extLst>
          </p:nvPr>
        </p:nvGraphicFramePr>
        <p:xfrm>
          <a:off x="1774422" y="2651497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544">
                  <a:extLst>
                    <a:ext uri="{9D8B030D-6E8A-4147-A177-3AD203B41FA5}">
                      <a16:colId xmlns:a16="http://schemas.microsoft.com/office/drawing/2014/main" val="1372796516"/>
                    </a:ext>
                  </a:extLst>
                </a:gridCol>
                <a:gridCol w="2292440">
                  <a:extLst>
                    <a:ext uri="{9D8B030D-6E8A-4147-A177-3AD203B41FA5}">
                      <a16:colId xmlns:a16="http://schemas.microsoft.com/office/drawing/2014/main" val="3949009647"/>
                    </a:ext>
                  </a:extLst>
                </a:gridCol>
                <a:gridCol w="3566015">
                  <a:extLst>
                    <a:ext uri="{9D8B030D-6E8A-4147-A177-3AD203B41FA5}">
                      <a16:colId xmlns:a16="http://schemas.microsoft.com/office/drawing/2014/main" val="23572585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341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Kosaraju-Sharir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algorithm)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4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25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BFS on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39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BFS on G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2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BFS on G</a:t>
                      </a:r>
                      <a:r>
                        <a:rPr lang="en-US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 on 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289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89814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Undirected Graphs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Directed Graphs</a:t>
            </a:r>
          </a:p>
          <a:p>
            <a:pPr lvl="1"/>
            <a:r>
              <a:rPr lang="en-US" dirty="0"/>
              <a:t>Digraph API</a:t>
            </a:r>
          </a:p>
          <a:p>
            <a:pPr lvl="1"/>
            <a:r>
              <a:rPr lang="en-US" dirty="0"/>
              <a:t>Search</a:t>
            </a:r>
            <a:r>
              <a:rPr lang="en-US" dirty="0">
                <a:highlight>
                  <a:srgbClr val="C0C0C0"/>
                </a:highlight>
              </a:rPr>
              <a:t> </a:t>
            </a:r>
          </a:p>
          <a:p>
            <a:pPr lvl="1"/>
            <a:r>
              <a:rPr lang="en-US" dirty="0"/>
              <a:t>Topological Sort</a:t>
            </a:r>
          </a:p>
          <a:p>
            <a:pPr lvl="1"/>
            <a:r>
              <a:rPr lang="en-US" dirty="0"/>
              <a:t>Strong 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Minimum Spanning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2969017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7953</TotalTime>
  <Words>8719</Words>
  <Application>Microsoft Macintosh PowerPoint</Application>
  <PresentationFormat>Widescreen</PresentationFormat>
  <Paragraphs>5170</Paragraphs>
  <Slides>119</Slides>
  <Notes>119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119</vt:i4>
      </vt:variant>
    </vt:vector>
  </HeadingPairs>
  <TitlesOfParts>
    <vt:vector size="126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4.2 Directed Graphs</vt:lpstr>
      <vt:lpstr>What is a directed graph (digraph)?</vt:lpstr>
      <vt:lpstr>Example applications</vt:lpstr>
      <vt:lpstr>Example applications</vt:lpstr>
      <vt:lpstr>Example applications</vt:lpstr>
      <vt:lpstr>overview of DIgraph applications</vt:lpstr>
      <vt:lpstr>content</vt:lpstr>
      <vt:lpstr>DIgraph DEFINITION</vt:lpstr>
      <vt:lpstr>DIGraph api</vt:lpstr>
      <vt:lpstr>digraph realisation</vt:lpstr>
      <vt:lpstr>digraph realisation</vt:lpstr>
      <vt:lpstr>DIgraph realisation</vt:lpstr>
      <vt:lpstr>DIgraph common challenges</vt:lpstr>
      <vt:lpstr>content</vt:lpstr>
      <vt:lpstr>search</vt:lpstr>
      <vt:lpstr>Depth-first search for digraphs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breadth-first search for digraphs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breadth-first search</vt:lpstr>
      <vt:lpstr>Some Search applications on digraphs </vt:lpstr>
      <vt:lpstr>Content RECAP</vt:lpstr>
      <vt:lpstr>content</vt:lpstr>
      <vt:lpstr>Topological order</vt:lpstr>
      <vt:lpstr>Topological order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Topological sorting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Sub-problem: DIRECTED cycle DETECTION</vt:lpstr>
      <vt:lpstr>Content recap</vt:lpstr>
      <vt:lpstr>content</vt:lpstr>
      <vt:lpstr>Strongly-connected components</vt:lpstr>
      <vt:lpstr>Connected vs Strongly-connected components</vt:lpstr>
      <vt:lpstr>Connected vs Strongly-connected components</vt:lpstr>
      <vt:lpstr>Kosaraju-Sharir algorithm: intuition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algorithm: demo</vt:lpstr>
      <vt:lpstr>Kosaraju-Sharir algorithm</vt:lpstr>
      <vt:lpstr>Strongly-connected components</vt:lpstr>
      <vt:lpstr>Content 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105</cp:revision>
  <dcterms:created xsi:type="dcterms:W3CDTF">2020-06-23T14:37:29Z</dcterms:created>
  <dcterms:modified xsi:type="dcterms:W3CDTF">2023-03-07T11:21:07Z</dcterms:modified>
</cp:coreProperties>
</file>