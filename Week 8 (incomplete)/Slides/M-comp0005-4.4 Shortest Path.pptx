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86"/>
  </p:notesMasterIdLst>
  <p:sldIdLst>
    <p:sldId id="266" r:id="rId3"/>
    <p:sldId id="287" r:id="rId4"/>
    <p:sldId id="288" r:id="rId5"/>
    <p:sldId id="289" r:id="rId6"/>
    <p:sldId id="290" r:id="rId7"/>
    <p:sldId id="291" r:id="rId8"/>
    <p:sldId id="274" r:id="rId9"/>
    <p:sldId id="340" r:id="rId10"/>
    <p:sldId id="336" r:id="rId11"/>
    <p:sldId id="341" r:id="rId12"/>
    <p:sldId id="283" r:id="rId13"/>
    <p:sldId id="342" r:id="rId14"/>
    <p:sldId id="344" r:id="rId15"/>
    <p:sldId id="345" r:id="rId16"/>
    <p:sldId id="343" r:id="rId17"/>
    <p:sldId id="346" r:id="rId18"/>
    <p:sldId id="347" r:id="rId19"/>
    <p:sldId id="348" r:id="rId20"/>
    <p:sldId id="349" r:id="rId21"/>
    <p:sldId id="275" r:id="rId22"/>
    <p:sldId id="284" r:id="rId23"/>
    <p:sldId id="351" r:id="rId24"/>
    <p:sldId id="350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277" r:id="rId37"/>
    <p:sldId id="363" r:id="rId38"/>
    <p:sldId id="364" r:id="rId39"/>
    <p:sldId id="365" r:id="rId40"/>
    <p:sldId id="367" r:id="rId41"/>
    <p:sldId id="366" r:id="rId42"/>
    <p:sldId id="368" r:id="rId43"/>
    <p:sldId id="369" r:id="rId44"/>
    <p:sldId id="370" r:id="rId45"/>
    <p:sldId id="371" r:id="rId46"/>
    <p:sldId id="372" r:id="rId47"/>
    <p:sldId id="373" r:id="rId48"/>
    <p:sldId id="374" r:id="rId49"/>
    <p:sldId id="375" r:id="rId50"/>
    <p:sldId id="376" r:id="rId51"/>
    <p:sldId id="279" r:id="rId52"/>
    <p:sldId id="378" r:id="rId53"/>
    <p:sldId id="423" r:id="rId54"/>
    <p:sldId id="422" r:id="rId55"/>
    <p:sldId id="285" r:id="rId56"/>
    <p:sldId id="379" r:id="rId57"/>
    <p:sldId id="377" r:id="rId58"/>
    <p:sldId id="382" r:id="rId59"/>
    <p:sldId id="383" r:id="rId60"/>
    <p:sldId id="384" r:id="rId61"/>
    <p:sldId id="385" r:id="rId62"/>
    <p:sldId id="386" r:id="rId63"/>
    <p:sldId id="387" r:id="rId64"/>
    <p:sldId id="388" r:id="rId65"/>
    <p:sldId id="389" r:id="rId66"/>
    <p:sldId id="390" r:id="rId67"/>
    <p:sldId id="391" r:id="rId68"/>
    <p:sldId id="392" r:id="rId69"/>
    <p:sldId id="393" r:id="rId70"/>
    <p:sldId id="394" r:id="rId71"/>
    <p:sldId id="395" r:id="rId72"/>
    <p:sldId id="396" r:id="rId73"/>
    <p:sldId id="397" r:id="rId74"/>
    <p:sldId id="398" r:id="rId75"/>
    <p:sldId id="399" r:id="rId76"/>
    <p:sldId id="400" r:id="rId77"/>
    <p:sldId id="401" r:id="rId78"/>
    <p:sldId id="402" r:id="rId79"/>
    <p:sldId id="403" r:id="rId80"/>
    <p:sldId id="404" r:id="rId81"/>
    <p:sldId id="405" r:id="rId82"/>
    <p:sldId id="406" r:id="rId83"/>
    <p:sldId id="420" r:id="rId84"/>
    <p:sldId id="421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16"/>
    <p:restoredTop sz="65059"/>
  </p:normalViewPr>
  <p:slideViewPr>
    <p:cSldViewPr snapToGrid="0" snapToObjects="1">
      <p:cViewPr varScale="1">
        <p:scale>
          <a:sx n="112" d="100"/>
          <a:sy n="112" d="100"/>
        </p:scale>
        <p:origin x="23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heme" Target="theme/theme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ableStyles" Target="tableStyle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C787B-C83D-524D-8A19-75A5B9F69AC5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9D858-9414-8A41-B3E4-117759B25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4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370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85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94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63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15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47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2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69D858-9414-8A41-B3E4-117759B251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18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52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64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58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80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78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75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30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5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40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942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242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984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78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66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906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92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77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91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898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757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159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708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542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62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754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244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254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479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497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357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877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079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627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8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783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167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053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883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888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4107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29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554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904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211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717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761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1191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705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0268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983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4458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9381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0133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8764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0696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4295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8768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806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117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1989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27654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165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09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7108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3357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16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843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4356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9995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09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1856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556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25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34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11/17/20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9913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342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4.4 Shortest Path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20504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D78F-69DF-E440-8818-61D59AF6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422A-3B2F-5B43-B31F-A7628521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Weights on an </a:t>
            </a:r>
            <a:r>
              <a:rPr lang="en-US" b="1" dirty="0">
                <a:solidFill>
                  <a:schemeClr val="accent5"/>
                </a:solidFill>
              </a:rPr>
              <a:t>undirected</a:t>
            </a:r>
            <a:r>
              <a:rPr lang="en-US" dirty="0"/>
              <a:t> graph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5"/>
                </a:solidFill>
              </a:rPr>
              <a:t>Minimum spanning tree </a:t>
            </a:r>
            <a:r>
              <a:rPr lang="en-US" dirty="0"/>
              <a:t>problem</a:t>
            </a:r>
          </a:p>
        </p:txBody>
      </p:sp>
      <p:grpSp>
        <p:nvGrpSpPr>
          <p:cNvPr id="4" name="Group 3" descr="this is an example of a spanning tree">
            <a:extLst>
              <a:ext uri="{FF2B5EF4-FFF2-40B4-BE49-F238E27FC236}">
                <a16:creationId xmlns:a16="http://schemas.microsoft.com/office/drawing/2014/main" id="{42348916-CEC3-4D49-BEA7-26DB395F7C9C}"/>
              </a:ext>
            </a:extLst>
          </p:cNvPr>
          <p:cNvGrpSpPr>
            <a:grpSpLocks noChangeAspect="1"/>
          </p:cNvGrpSpPr>
          <p:nvPr/>
        </p:nvGrpSpPr>
        <p:grpSpPr>
          <a:xfrm>
            <a:off x="922374" y="2218332"/>
            <a:ext cx="5371497" cy="3109820"/>
            <a:chOff x="1895762" y="1935824"/>
            <a:chExt cx="5968330" cy="345535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8EA5C1C-2310-9D41-83DC-CC8C14519894}"/>
                </a:ext>
              </a:extLst>
            </p:cNvPr>
            <p:cNvSpPr/>
            <p:nvPr/>
          </p:nvSpPr>
          <p:spPr>
            <a:xfrm>
              <a:off x="1895762" y="3256019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CCCD7FA-EE01-DB47-8F2C-B471483E63B4}"/>
                </a:ext>
              </a:extLst>
            </p:cNvPr>
            <p:cNvSpPr/>
            <p:nvPr/>
          </p:nvSpPr>
          <p:spPr>
            <a:xfrm>
              <a:off x="3414011" y="4991130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7AB7FBA-C929-7E44-9842-5AA81123340D}"/>
                </a:ext>
              </a:extLst>
            </p:cNvPr>
            <p:cNvSpPr/>
            <p:nvPr/>
          </p:nvSpPr>
          <p:spPr>
            <a:xfrm>
              <a:off x="3679671" y="2219077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57ED2A0-5D28-034E-B7BE-1187DE643F98}"/>
                </a:ext>
              </a:extLst>
            </p:cNvPr>
            <p:cNvSpPr/>
            <p:nvPr/>
          </p:nvSpPr>
          <p:spPr>
            <a:xfrm>
              <a:off x="3859265" y="3274786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C89F3-82BE-0A41-8957-F52B8102334B}"/>
                </a:ext>
              </a:extLst>
            </p:cNvPr>
            <p:cNvSpPr/>
            <p:nvPr/>
          </p:nvSpPr>
          <p:spPr>
            <a:xfrm>
              <a:off x="7264393" y="201905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919431-D00D-9B46-B6D7-87D63940521D}"/>
                </a:ext>
              </a:extLst>
            </p:cNvPr>
            <p:cNvSpPr/>
            <p:nvPr/>
          </p:nvSpPr>
          <p:spPr>
            <a:xfrm>
              <a:off x="6906878" y="3483748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D9746-20EE-8E41-B783-772A87AC07A7}"/>
                </a:ext>
              </a:extLst>
            </p:cNvPr>
            <p:cNvSpPr/>
            <p:nvPr/>
          </p:nvSpPr>
          <p:spPr>
            <a:xfrm>
              <a:off x="4818345" y="3866682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314609-4443-3643-BAA3-DD333D33494E}"/>
                </a:ext>
              </a:extLst>
            </p:cNvPr>
            <p:cNvCxnSpPr>
              <a:cxnSpLocks/>
              <a:stCxn id="5" idx="5"/>
              <a:endCxn id="6" idx="1"/>
            </p:cNvCxnSpPr>
            <p:nvPr/>
          </p:nvCxnSpPr>
          <p:spPr>
            <a:xfrm>
              <a:off x="2225030" y="3597483"/>
              <a:ext cx="1245475" cy="1452233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7E1E41-B930-F24B-A81F-722992AD52AE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flipV="1">
              <a:off x="2088643" y="2419102"/>
              <a:ext cx="1591028" cy="83691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BBF0AE-0A7F-7247-ACCA-A0D2CD352BE5}"/>
                </a:ext>
              </a:extLst>
            </p:cNvPr>
            <p:cNvCxnSpPr>
              <a:cxnSpLocks/>
              <a:stCxn id="5" idx="6"/>
              <a:endCxn id="8" idx="2"/>
            </p:cNvCxnSpPr>
            <p:nvPr/>
          </p:nvCxnSpPr>
          <p:spPr>
            <a:xfrm>
              <a:off x="2281524" y="3456044"/>
              <a:ext cx="1577741" cy="18767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9ED81CA-D4E1-6B4A-8193-751F12F80B85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 flipV="1">
              <a:off x="4065433" y="2077638"/>
              <a:ext cx="3255454" cy="34146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4F0ED87-BD66-CE44-BA37-FA131204A0F0}"/>
                </a:ext>
              </a:extLst>
            </p:cNvPr>
            <p:cNvCxnSpPr>
              <a:cxnSpLocks/>
              <a:stCxn id="8" idx="4"/>
              <a:endCxn id="6" idx="7"/>
            </p:cNvCxnSpPr>
            <p:nvPr/>
          </p:nvCxnSpPr>
          <p:spPr>
            <a:xfrm flipH="1">
              <a:off x="3743279" y="3674836"/>
              <a:ext cx="308867" cy="137488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37896B2-547C-4E44-A506-FD71C12EBE01}"/>
                </a:ext>
              </a:extLst>
            </p:cNvPr>
            <p:cNvCxnSpPr>
              <a:cxnSpLocks/>
              <a:stCxn id="10" idx="2"/>
              <a:endCxn id="11" idx="6"/>
            </p:cNvCxnSpPr>
            <p:nvPr/>
          </p:nvCxnSpPr>
          <p:spPr>
            <a:xfrm flipH="1">
              <a:off x="5204107" y="3683773"/>
              <a:ext cx="1702771" cy="382934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4720371-D70C-3D4C-9CAE-0328A335EA63}"/>
                </a:ext>
              </a:extLst>
            </p:cNvPr>
            <p:cNvCxnSpPr>
              <a:cxnSpLocks/>
              <a:stCxn id="9" idx="5"/>
              <a:endCxn id="10" idx="7"/>
            </p:cNvCxnSpPr>
            <p:nvPr/>
          </p:nvCxnSpPr>
          <p:spPr>
            <a:xfrm flipH="1">
              <a:off x="7236146" y="2360516"/>
              <a:ext cx="357515" cy="118181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E45248-0E0B-9B4A-8CD3-FEDA81173C44}"/>
                </a:ext>
              </a:extLst>
            </p:cNvPr>
            <p:cNvSpPr/>
            <p:nvPr/>
          </p:nvSpPr>
          <p:spPr>
            <a:xfrm>
              <a:off x="7478330" y="4849691"/>
              <a:ext cx="385762" cy="400050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308620-781E-7245-B532-8A163481870C}"/>
                </a:ext>
              </a:extLst>
            </p:cNvPr>
            <p:cNvCxnSpPr>
              <a:cxnSpLocks/>
              <a:stCxn id="11" idx="4"/>
              <a:endCxn id="6" idx="6"/>
            </p:cNvCxnSpPr>
            <p:nvPr/>
          </p:nvCxnSpPr>
          <p:spPr>
            <a:xfrm flipH="1">
              <a:off x="3799773" y="4266732"/>
              <a:ext cx="1211453" cy="92442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735C3C8-8494-D949-9F21-4E85B0CB616E}"/>
                </a:ext>
              </a:extLst>
            </p:cNvPr>
            <p:cNvCxnSpPr>
              <a:cxnSpLocks/>
              <a:stCxn id="11" idx="1"/>
              <a:endCxn id="8" idx="5"/>
            </p:cNvCxnSpPr>
            <p:nvPr/>
          </p:nvCxnSpPr>
          <p:spPr>
            <a:xfrm flipH="1" flipV="1">
              <a:off x="4188533" y="3616250"/>
              <a:ext cx="686306" cy="309018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 descr="example of a weighted undirected graph">
              <a:extLst>
                <a:ext uri="{FF2B5EF4-FFF2-40B4-BE49-F238E27FC236}">
                  <a16:creationId xmlns:a16="http://schemas.microsoft.com/office/drawing/2014/main" id="{175400C2-3997-F74E-9409-EF6D5542A9F7}"/>
                </a:ext>
              </a:extLst>
            </p:cNvPr>
            <p:cNvCxnSpPr>
              <a:cxnSpLocks/>
              <a:stCxn id="19" idx="2"/>
              <a:endCxn id="6" idx="5"/>
            </p:cNvCxnSpPr>
            <p:nvPr/>
          </p:nvCxnSpPr>
          <p:spPr>
            <a:xfrm flipH="1">
              <a:off x="3743279" y="5049716"/>
              <a:ext cx="3735051" cy="282878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E5DA87-C944-E540-B864-5885DBBC5541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7236146" y="3825212"/>
              <a:ext cx="298678" cy="108306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98CE0F4-4F8C-DD45-8642-0B9F02EA61E2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4245027" y="2219077"/>
              <a:ext cx="3019366" cy="1255734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5E35FB-9AB0-4C41-AB04-D23E0B7F6FBE}"/>
                </a:ext>
              </a:extLst>
            </p:cNvPr>
            <p:cNvSpPr txBox="1"/>
            <p:nvPr/>
          </p:nvSpPr>
          <p:spPr>
            <a:xfrm>
              <a:off x="2656870" y="246822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31A673-5AB2-8140-A4CF-010AF515AD34}"/>
                </a:ext>
              </a:extLst>
            </p:cNvPr>
            <p:cNvSpPr txBox="1"/>
            <p:nvPr/>
          </p:nvSpPr>
          <p:spPr>
            <a:xfrm>
              <a:off x="5271286" y="1935824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F64D09-60AC-344D-8013-FFAA4672DA74}"/>
                </a:ext>
              </a:extLst>
            </p:cNvPr>
            <p:cNvSpPr txBox="1"/>
            <p:nvPr/>
          </p:nvSpPr>
          <p:spPr>
            <a:xfrm>
              <a:off x="3002651" y="30861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4C5F3D-B0C1-6049-91C7-4F34C05B5DEC}"/>
                </a:ext>
              </a:extLst>
            </p:cNvPr>
            <p:cNvSpPr txBox="1"/>
            <p:nvPr/>
          </p:nvSpPr>
          <p:spPr>
            <a:xfrm>
              <a:off x="2715014" y="397886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EC8EDB-7BE3-F64E-85B5-0F7C042E87ED}"/>
                </a:ext>
              </a:extLst>
            </p:cNvPr>
            <p:cNvSpPr txBox="1"/>
            <p:nvPr/>
          </p:nvSpPr>
          <p:spPr>
            <a:xfrm>
              <a:off x="3643320" y="394179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9E4EF1-085A-F343-88AA-BABC7AA52757}"/>
                </a:ext>
              </a:extLst>
            </p:cNvPr>
            <p:cNvSpPr txBox="1"/>
            <p:nvPr/>
          </p:nvSpPr>
          <p:spPr>
            <a:xfrm>
              <a:off x="4477805" y="345330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09B497-9DBA-8A47-95FB-7B795AC2114D}"/>
                </a:ext>
              </a:extLst>
            </p:cNvPr>
            <p:cNvSpPr txBox="1"/>
            <p:nvPr/>
          </p:nvSpPr>
          <p:spPr>
            <a:xfrm>
              <a:off x="4083039" y="442499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B7AC6D2-6A53-CA4F-A7AB-746AE4C883F3}"/>
                </a:ext>
              </a:extLst>
            </p:cNvPr>
            <p:cNvSpPr txBox="1"/>
            <p:nvPr/>
          </p:nvSpPr>
          <p:spPr>
            <a:xfrm>
              <a:off x="5296948" y="484969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D026C1-2423-3040-A1AA-C1DE32EF2374}"/>
                </a:ext>
              </a:extLst>
            </p:cNvPr>
            <p:cNvSpPr txBox="1"/>
            <p:nvPr/>
          </p:nvSpPr>
          <p:spPr>
            <a:xfrm>
              <a:off x="7010269" y="401379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B5E5B0-099C-CE47-80CC-5FCA74B38950}"/>
                </a:ext>
              </a:extLst>
            </p:cNvPr>
            <p:cNvSpPr txBox="1"/>
            <p:nvPr/>
          </p:nvSpPr>
          <p:spPr>
            <a:xfrm>
              <a:off x="7087874" y="280078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C0D8C5D-757C-D04B-BDA4-AF6F28BD155D}"/>
                </a:ext>
              </a:extLst>
            </p:cNvPr>
            <p:cNvSpPr txBox="1"/>
            <p:nvPr/>
          </p:nvSpPr>
          <p:spPr>
            <a:xfrm>
              <a:off x="5772120" y="3498764"/>
              <a:ext cx="424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EB6449-5D9D-C941-99A8-BDCA9F8CDBFF}"/>
                </a:ext>
              </a:extLst>
            </p:cNvPr>
            <p:cNvSpPr txBox="1"/>
            <p:nvPr/>
          </p:nvSpPr>
          <p:spPr>
            <a:xfrm>
              <a:off x="5067038" y="264631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B68A2F7-8E92-CB45-813D-5B05AFF223A3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5147613" y="4208146"/>
              <a:ext cx="2330717" cy="841570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9B9C2B4-C342-DD44-B4CE-E508891A56F4}"/>
                </a:ext>
              </a:extLst>
            </p:cNvPr>
            <p:cNvSpPr txBox="1"/>
            <p:nvPr/>
          </p:nvSpPr>
          <p:spPr>
            <a:xfrm>
              <a:off x="6079548" y="427542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75962B-034E-9B47-9120-0FBDBEC8579D}"/>
                </a:ext>
              </a:extLst>
            </p:cNvPr>
            <p:cNvCxnSpPr>
              <a:cxnSpLocks/>
              <a:stCxn id="9" idx="3"/>
              <a:endCxn id="11" idx="7"/>
            </p:cNvCxnSpPr>
            <p:nvPr/>
          </p:nvCxnSpPr>
          <p:spPr>
            <a:xfrm flipH="1">
              <a:off x="5147613" y="2360516"/>
              <a:ext cx="2173274" cy="1564752"/>
            </a:xfrm>
            <a:prstGeom prst="line">
              <a:avLst/>
            </a:prstGeom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F97273-5931-354A-B874-42645F60093D}"/>
                </a:ext>
              </a:extLst>
            </p:cNvPr>
            <p:cNvSpPr txBox="1"/>
            <p:nvPr/>
          </p:nvSpPr>
          <p:spPr>
            <a:xfrm>
              <a:off x="5777041" y="288236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3616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D78F-69DF-E440-8818-61D59AF6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422A-3B2F-5B43-B31F-A7628521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Weights on a </a:t>
            </a:r>
            <a:r>
              <a:rPr lang="en-US" b="1" dirty="0">
                <a:solidFill>
                  <a:schemeClr val="accent5"/>
                </a:solidFill>
              </a:rPr>
              <a:t>directed</a:t>
            </a:r>
            <a:r>
              <a:rPr lang="en-US" dirty="0"/>
              <a:t> graph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5"/>
                </a:solidFill>
              </a:rPr>
              <a:t>Shortest path </a:t>
            </a:r>
            <a:r>
              <a:rPr lang="en-US" dirty="0"/>
              <a:t>problem: given an edge-weighted digraph, find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t</a:t>
            </a:r>
          </a:p>
        </p:txBody>
      </p:sp>
      <p:grpSp>
        <p:nvGrpSpPr>
          <p:cNvPr id="91" name="Group 90" descr="adding weights to a digraph">
            <a:extLst>
              <a:ext uri="{FF2B5EF4-FFF2-40B4-BE49-F238E27FC236}">
                <a16:creationId xmlns:a16="http://schemas.microsoft.com/office/drawing/2014/main" id="{D15E54A3-BEE8-7749-9B01-F779D2FCFA05}"/>
              </a:ext>
            </a:extLst>
          </p:cNvPr>
          <p:cNvGrpSpPr/>
          <p:nvPr/>
        </p:nvGrpSpPr>
        <p:grpSpPr>
          <a:xfrm>
            <a:off x="544362" y="2429425"/>
            <a:ext cx="5336029" cy="2942732"/>
            <a:chOff x="543624" y="2424615"/>
            <a:chExt cx="5336029" cy="29427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5E35FB-9AB0-4C41-AB04-D23E0B7F6FBE}"/>
                </a:ext>
              </a:extLst>
            </p:cNvPr>
            <p:cNvSpPr txBox="1"/>
            <p:nvPr/>
          </p:nvSpPr>
          <p:spPr>
            <a:xfrm>
              <a:off x="1547545" y="2663001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31A673-5AB2-8140-A4CF-010AF515AD34}"/>
                </a:ext>
              </a:extLst>
            </p:cNvPr>
            <p:cNvSpPr txBox="1"/>
            <p:nvPr/>
          </p:nvSpPr>
          <p:spPr>
            <a:xfrm>
              <a:off x="3527828" y="242461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0.29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F64D09-60AC-344D-8013-FFAA4672DA74}"/>
                </a:ext>
              </a:extLst>
            </p:cNvPr>
            <p:cNvSpPr txBox="1"/>
            <p:nvPr/>
          </p:nvSpPr>
          <p:spPr>
            <a:xfrm>
              <a:off x="1918574" y="3283088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4C5F3D-B0C1-6049-91C7-4F34C05B5DEC}"/>
                </a:ext>
              </a:extLst>
            </p:cNvPr>
            <p:cNvSpPr txBox="1"/>
            <p:nvPr/>
          </p:nvSpPr>
          <p:spPr>
            <a:xfrm>
              <a:off x="1188764" y="4040702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EC8EDB-7BE3-F64E-85B5-0F7C042E87ED}"/>
                </a:ext>
              </a:extLst>
            </p:cNvPr>
            <p:cNvSpPr txBox="1"/>
            <p:nvPr/>
          </p:nvSpPr>
          <p:spPr>
            <a:xfrm>
              <a:off x="2049255" y="41545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9E4EF1-085A-F343-88AA-BABC7AA52757}"/>
                </a:ext>
              </a:extLst>
            </p:cNvPr>
            <p:cNvSpPr txBox="1"/>
            <p:nvPr/>
          </p:nvSpPr>
          <p:spPr>
            <a:xfrm>
              <a:off x="3803051" y="345093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09B497-9DBA-8A47-95FB-7B795AC2114D}"/>
                </a:ext>
              </a:extLst>
            </p:cNvPr>
            <p:cNvSpPr txBox="1"/>
            <p:nvPr/>
          </p:nvSpPr>
          <p:spPr>
            <a:xfrm>
              <a:off x="2701485" y="4501777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B7AC6D2-6A53-CA4F-A7AB-746AE4C883F3}"/>
                </a:ext>
              </a:extLst>
            </p:cNvPr>
            <p:cNvSpPr txBox="1"/>
            <p:nvPr/>
          </p:nvSpPr>
          <p:spPr>
            <a:xfrm>
              <a:off x="4119090" y="4427312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0.58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D026C1-2423-3040-A1AA-C1DE32EF2374}"/>
                </a:ext>
              </a:extLst>
            </p:cNvPr>
            <p:cNvSpPr txBox="1"/>
            <p:nvPr/>
          </p:nvSpPr>
          <p:spPr>
            <a:xfrm>
              <a:off x="4810724" y="429561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0.40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B5E5B0-099C-CE47-80CC-5FCA74B38950}"/>
                </a:ext>
              </a:extLst>
            </p:cNvPr>
            <p:cNvSpPr txBox="1"/>
            <p:nvPr/>
          </p:nvSpPr>
          <p:spPr>
            <a:xfrm>
              <a:off x="5347135" y="345093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0.52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EB6449-5D9D-C941-99A8-BDCA9F8CDBFF}"/>
                </a:ext>
              </a:extLst>
            </p:cNvPr>
            <p:cNvSpPr txBox="1"/>
            <p:nvPr/>
          </p:nvSpPr>
          <p:spPr>
            <a:xfrm>
              <a:off x="3619551" y="3004391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0.39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9B9C2B4-C342-DD44-B4CE-E508891A56F4}"/>
                </a:ext>
              </a:extLst>
            </p:cNvPr>
            <p:cNvSpPr txBox="1"/>
            <p:nvPr/>
          </p:nvSpPr>
          <p:spPr>
            <a:xfrm>
              <a:off x="3938272" y="386910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F97273-5931-354A-B874-42645F60093D}"/>
                </a:ext>
              </a:extLst>
            </p:cNvPr>
            <p:cNvSpPr txBox="1"/>
            <p:nvPr/>
          </p:nvSpPr>
          <p:spPr>
            <a:xfrm>
              <a:off x="2839847" y="5059570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0.93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18D922E-6966-294B-8809-E92A2D8609E6}"/>
                </a:ext>
              </a:extLst>
            </p:cNvPr>
            <p:cNvSpPr txBox="1"/>
            <p:nvPr/>
          </p:nvSpPr>
          <p:spPr>
            <a:xfrm>
              <a:off x="543624" y="4075188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A591C32-7447-D040-93D8-B164AAAFE72D}"/>
                </a:ext>
              </a:extLst>
            </p:cNvPr>
            <p:cNvSpPr txBox="1"/>
            <p:nvPr/>
          </p:nvSpPr>
          <p:spPr>
            <a:xfrm>
              <a:off x="1880184" y="368368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0.28</a:t>
              </a:r>
            </a:p>
          </p:txBody>
        </p:sp>
      </p:grpSp>
      <p:grpSp>
        <p:nvGrpSpPr>
          <p:cNvPr id="92" name="Group 91" descr="example digraph">
            <a:extLst>
              <a:ext uri="{FF2B5EF4-FFF2-40B4-BE49-F238E27FC236}">
                <a16:creationId xmlns:a16="http://schemas.microsoft.com/office/drawing/2014/main" id="{97283FA7-E170-3245-910B-B51AFC7444FC}"/>
              </a:ext>
            </a:extLst>
          </p:cNvPr>
          <p:cNvGrpSpPr/>
          <p:nvPr/>
        </p:nvGrpSpPr>
        <p:grpSpPr>
          <a:xfrm>
            <a:off x="922374" y="2473260"/>
            <a:ext cx="4917456" cy="2727596"/>
            <a:chOff x="922374" y="2473260"/>
            <a:chExt cx="4917456" cy="272759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8EA5C1C-2310-9D41-83DC-CC8C14519894}"/>
                </a:ext>
              </a:extLst>
            </p:cNvPr>
            <p:cNvSpPr/>
            <p:nvPr/>
          </p:nvSpPr>
          <p:spPr>
            <a:xfrm>
              <a:off x="922374" y="3406507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CCCD7FA-EE01-DB47-8F2C-B471483E63B4}"/>
                </a:ext>
              </a:extLst>
            </p:cNvPr>
            <p:cNvSpPr/>
            <p:nvPr/>
          </p:nvSpPr>
          <p:spPr>
            <a:xfrm>
              <a:off x="922374" y="466078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7AB7FBA-C929-7E44-9842-5AA81123340D}"/>
                </a:ext>
              </a:extLst>
            </p:cNvPr>
            <p:cNvSpPr/>
            <p:nvPr/>
          </p:nvSpPr>
          <p:spPr>
            <a:xfrm>
              <a:off x="2527892" y="2473260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57ED2A0-5D28-034E-B7BE-1187DE643F98}"/>
                </a:ext>
              </a:extLst>
            </p:cNvPr>
            <p:cNvSpPr/>
            <p:nvPr/>
          </p:nvSpPr>
          <p:spPr>
            <a:xfrm>
              <a:off x="2666254" y="3570242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C89F3-82BE-0A41-8957-F52B8102334B}"/>
                </a:ext>
              </a:extLst>
            </p:cNvPr>
            <p:cNvSpPr/>
            <p:nvPr/>
          </p:nvSpPr>
          <p:spPr>
            <a:xfrm>
              <a:off x="4846414" y="2650072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919431-D00D-9B46-B6D7-87D63940521D}"/>
                </a:ext>
              </a:extLst>
            </p:cNvPr>
            <p:cNvSpPr/>
            <p:nvPr/>
          </p:nvSpPr>
          <p:spPr>
            <a:xfrm>
              <a:off x="4823434" y="3676078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D9746-20EE-8E41-B783-772A87AC07A7}"/>
                </a:ext>
              </a:extLst>
            </p:cNvPr>
            <p:cNvSpPr/>
            <p:nvPr/>
          </p:nvSpPr>
          <p:spPr>
            <a:xfrm>
              <a:off x="3567924" y="4254700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E45248-0E0B-9B4A-8CD3-FEDA81173C44}"/>
                </a:ext>
              </a:extLst>
            </p:cNvPr>
            <p:cNvSpPr/>
            <p:nvPr/>
          </p:nvSpPr>
          <p:spPr>
            <a:xfrm>
              <a:off x="5492644" y="4840811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524C33A-4ED3-414A-AD92-9A0DBC580312}"/>
                </a:ext>
              </a:extLst>
            </p:cNvPr>
            <p:cNvCxnSpPr>
              <a:stCxn id="5" idx="0"/>
              <a:endCxn id="7" idx="2"/>
            </p:cNvCxnSpPr>
            <p:nvPr/>
          </p:nvCxnSpPr>
          <p:spPr>
            <a:xfrm flipV="1">
              <a:off x="1095967" y="2653283"/>
              <a:ext cx="1431925" cy="753224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FF11324-69E0-684E-98F6-A858484942A5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269560" y="3586530"/>
              <a:ext cx="1447538" cy="36439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3935D9-25E1-7645-822D-2DB880F774C7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1095967" y="3766552"/>
              <a:ext cx="0" cy="894237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DA947D7-DA53-0147-81CC-51A6BDD79642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2875078" y="2653283"/>
              <a:ext cx="1971336" cy="176812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916A701-79C9-F545-8499-20DE187F1789}"/>
                </a:ext>
              </a:extLst>
            </p:cNvPr>
            <p:cNvCxnSpPr>
              <a:cxnSpLocks/>
              <a:stCxn id="9" idx="6"/>
              <a:endCxn id="19" idx="0"/>
            </p:cNvCxnSpPr>
            <p:nvPr/>
          </p:nvCxnSpPr>
          <p:spPr>
            <a:xfrm>
              <a:off x="5193600" y="2830095"/>
              <a:ext cx="472637" cy="2010716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DC07F26-C9DA-8B41-935D-A7CED09DC12A}"/>
                </a:ext>
              </a:extLst>
            </p:cNvPr>
            <p:cNvCxnSpPr>
              <a:cxnSpLocks/>
              <a:stCxn id="10" idx="1"/>
              <a:endCxn id="8" idx="6"/>
            </p:cNvCxnSpPr>
            <p:nvPr/>
          </p:nvCxnSpPr>
          <p:spPr>
            <a:xfrm flipH="1">
              <a:off x="3013440" y="3728805"/>
              <a:ext cx="1860838" cy="2146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76057D7-4F53-5144-9505-60B1B94EF3DC}"/>
                </a:ext>
              </a:extLst>
            </p:cNvPr>
            <p:cNvCxnSpPr>
              <a:cxnSpLocks/>
              <a:stCxn id="6" idx="7"/>
              <a:endCxn id="5" idx="5"/>
            </p:cNvCxnSpPr>
            <p:nvPr/>
          </p:nvCxnSpPr>
          <p:spPr>
            <a:xfrm flipV="1">
              <a:off x="1218716" y="3713825"/>
              <a:ext cx="0" cy="999691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29BAB9E8-8458-CF45-A8E3-F4C0ED61C7CD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18716" y="3930288"/>
              <a:ext cx="1558075" cy="783228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C11AE9A-26C7-EF4A-B348-CAEC3FE55FDA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5119776" y="3983396"/>
              <a:ext cx="423712" cy="910142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22B2C6D-3D8A-E246-936F-B3EB7166192E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3864266" y="4562018"/>
              <a:ext cx="1628378" cy="458816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BA19FD0-6E7E-3540-989B-44184F99E536}"/>
                </a:ext>
              </a:extLst>
            </p:cNvPr>
            <p:cNvCxnSpPr>
              <a:cxnSpLocks/>
              <a:stCxn id="19" idx="3"/>
              <a:endCxn id="6" idx="4"/>
            </p:cNvCxnSpPr>
            <p:nvPr/>
          </p:nvCxnSpPr>
          <p:spPr>
            <a:xfrm flipH="1" flipV="1">
              <a:off x="1095967" y="5020834"/>
              <a:ext cx="4447521" cy="127295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3E08E63-8ACE-0C4A-B5FC-006A038545F1}"/>
                </a:ext>
              </a:extLst>
            </p:cNvPr>
            <p:cNvCxnSpPr>
              <a:cxnSpLocks/>
              <a:stCxn id="11" idx="7"/>
              <a:endCxn id="10" idx="3"/>
            </p:cNvCxnSpPr>
            <p:nvPr/>
          </p:nvCxnSpPr>
          <p:spPr>
            <a:xfrm flipV="1">
              <a:off x="3864266" y="3983396"/>
              <a:ext cx="1010012" cy="324031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83BC5BC-2A26-014F-97A0-0C8C011B0A6F}"/>
                </a:ext>
              </a:extLst>
            </p:cNvPr>
            <p:cNvCxnSpPr>
              <a:cxnSpLocks/>
              <a:stCxn id="8" idx="2"/>
              <a:endCxn id="5" idx="5"/>
            </p:cNvCxnSpPr>
            <p:nvPr/>
          </p:nvCxnSpPr>
          <p:spPr>
            <a:xfrm flipH="1" flipV="1">
              <a:off x="1218716" y="3713825"/>
              <a:ext cx="1447538" cy="3644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FA2775B5-E1C6-E34F-B370-13E90BF38E64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2962596" y="2957390"/>
              <a:ext cx="1934662" cy="665579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A4AF41C-A951-B749-8B33-EC01B7E00D23}"/>
                </a:ext>
              </a:extLst>
            </p:cNvPr>
            <p:cNvCxnSpPr>
              <a:cxnSpLocks/>
              <a:stCxn id="11" idx="2"/>
              <a:endCxn id="6" idx="6"/>
            </p:cNvCxnSpPr>
            <p:nvPr/>
          </p:nvCxnSpPr>
          <p:spPr>
            <a:xfrm flipH="1">
              <a:off x="1269560" y="4434723"/>
              <a:ext cx="2298364" cy="406089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917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D78F-69DF-E440-8818-61D59AF6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422A-3B2F-5B43-B31F-A7628521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Weights on a </a:t>
            </a:r>
            <a:r>
              <a:rPr lang="en-US" b="1" dirty="0">
                <a:solidFill>
                  <a:schemeClr val="accent5"/>
                </a:solidFill>
              </a:rPr>
              <a:t>directed</a:t>
            </a:r>
            <a:r>
              <a:rPr lang="en-US" dirty="0"/>
              <a:t> graph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5"/>
                </a:solidFill>
              </a:rPr>
              <a:t>Shortest path </a:t>
            </a:r>
            <a:r>
              <a:rPr lang="en-US" dirty="0"/>
              <a:t>problem: given an edge-weighted digraph, find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t</a:t>
            </a:r>
          </a:p>
        </p:txBody>
      </p:sp>
      <p:grpSp>
        <p:nvGrpSpPr>
          <p:cNvPr id="91" name="Group 90" descr="adding weights to a digraph">
            <a:extLst>
              <a:ext uri="{FF2B5EF4-FFF2-40B4-BE49-F238E27FC236}">
                <a16:creationId xmlns:a16="http://schemas.microsoft.com/office/drawing/2014/main" id="{D15E54A3-BEE8-7749-9B01-F779D2FCFA05}"/>
              </a:ext>
            </a:extLst>
          </p:cNvPr>
          <p:cNvGrpSpPr/>
          <p:nvPr/>
        </p:nvGrpSpPr>
        <p:grpSpPr>
          <a:xfrm>
            <a:off x="544362" y="2429425"/>
            <a:ext cx="5336029" cy="2942732"/>
            <a:chOff x="543624" y="2424615"/>
            <a:chExt cx="5336029" cy="29427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5E35FB-9AB0-4C41-AB04-D23E0B7F6FBE}"/>
                </a:ext>
              </a:extLst>
            </p:cNvPr>
            <p:cNvSpPr txBox="1"/>
            <p:nvPr/>
          </p:nvSpPr>
          <p:spPr>
            <a:xfrm>
              <a:off x="1547545" y="2663001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31A673-5AB2-8140-A4CF-010AF515AD34}"/>
                </a:ext>
              </a:extLst>
            </p:cNvPr>
            <p:cNvSpPr txBox="1"/>
            <p:nvPr/>
          </p:nvSpPr>
          <p:spPr>
            <a:xfrm>
              <a:off x="3527828" y="242461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0.29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F64D09-60AC-344D-8013-FFAA4672DA74}"/>
                </a:ext>
              </a:extLst>
            </p:cNvPr>
            <p:cNvSpPr txBox="1"/>
            <p:nvPr/>
          </p:nvSpPr>
          <p:spPr>
            <a:xfrm>
              <a:off x="1918574" y="3283088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4C5F3D-B0C1-6049-91C7-4F34C05B5DEC}"/>
                </a:ext>
              </a:extLst>
            </p:cNvPr>
            <p:cNvSpPr txBox="1"/>
            <p:nvPr/>
          </p:nvSpPr>
          <p:spPr>
            <a:xfrm>
              <a:off x="1188764" y="4040702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EC8EDB-7BE3-F64E-85B5-0F7C042E87ED}"/>
                </a:ext>
              </a:extLst>
            </p:cNvPr>
            <p:cNvSpPr txBox="1"/>
            <p:nvPr/>
          </p:nvSpPr>
          <p:spPr>
            <a:xfrm>
              <a:off x="2049255" y="41545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9E4EF1-085A-F343-88AA-BABC7AA52757}"/>
                </a:ext>
              </a:extLst>
            </p:cNvPr>
            <p:cNvSpPr txBox="1"/>
            <p:nvPr/>
          </p:nvSpPr>
          <p:spPr>
            <a:xfrm>
              <a:off x="3803051" y="345093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09B497-9DBA-8A47-95FB-7B795AC2114D}"/>
                </a:ext>
              </a:extLst>
            </p:cNvPr>
            <p:cNvSpPr txBox="1"/>
            <p:nvPr/>
          </p:nvSpPr>
          <p:spPr>
            <a:xfrm>
              <a:off x="2701485" y="4501777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0.38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B7AC6D2-6A53-CA4F-A7AB-746AE4C883F3}"/>
                </a:ext>
              </a:extLst>
            </p:cNvPr>
            <p:cNvSpPr txBox="1"/>
            <p:nvPr/>
          </p:nvSpPr>
          <p:spPr>
            <a:xfrm>
              <a:off x="4119090" y="4427312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0.58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D026C1-2423-3040-A1AA-C1DE32EF2374}"/>
                </a:ext>
              </a:extLst>
            </p:cNvPr>
            <p:cNvSpPr txBox="1"/>
            <p:nvPr/>
          </p:nvSpPr>
          <p:spPr>
            <a:xfrm>
              <a:off x="4810724" y="429561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0.40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B5E5B0-099C-CE47-80CC-5FCA74B38950}"/>
                </a:ext>
              </a:extLst>
            </p:cNvPr>
            <p:cNvSpPr txBox="1"/>
            <p:nvPr/>
          </p:nvSpPr>
          <p:spPr>
            <a:xfrm>
              <a:off x="5347135" y="345093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0.52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EB6449-5D9D-C941-99A8-BDCA9F8CDBFF}"/>
                </a:ext>
              </a:extLst>
            </p:cNvPr>
            <p:cNvSpPr txBox="1"/>
            <p:nvPr/>
          </p:nvSpPr>
          <p:spPr>
            <a:xfrm>
              <a:off x="3619551" y="3004391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0.39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9B9C2B4-C342-DD44-B4CE-E508891A56F4}"/>
                </a:ext>
              </a:extLst>
            </p:cNvPr>
            <p:cNvSpPr txBox="1"/>
            <p:nvPr/>
          </p:nvSpPr>
          <p:spPr>
            <a:xfrm>
              <a:off x="3938272" y="386910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F97273-5931-354A-B874-42645F60093D}"/>
                </a:ext>
              </a:extLst>
            </p:cNvPr>
            <p:cNvSpPr txBox="1"/>
            <p:nvPr/>
          </p:nvSpPr>
          <p:spPr>
            <a:xfrm>
              <a:off x="2839847" y="5059570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0.93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18D922E-6966-294B-8809-E92A2D8609E6}"/>
                </a:ext>
              </a:extLst>
            </p:cNvPr>
            <p:cNvSpPr txBox="1"/>
            <p:nvPr/>
          </p:nvSpPr>
          <p:spPr>
            <a:xfrm>
              <a:off x="543624" y="4075188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0.35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A591C32-7447-D040-93D8-B164AAAFE72D}"/>
                </a:ext>
              </a:extLst>
            </p:cNvPr>
            <p:cNvSpPr txBox="1"/>
            <p:nvPr/>
          </p:nvSpPr>
          <p:spPr>
            <a:xfrm>
              <a:off x="1880184" y="368368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0.28</a:t>
              </a:r>
            </a:p>
          </p:txBody>
        </p:sp>
      </p:grpSp>
      <p:grpSp>
        <p:nvGrpSpPr>
          <p:cNvPr id="92" name="Group 91" descr="example digraph">
            <a:extLst>
              <a:ext uri="{FF2B5EF4-FFF2-40B4-BE49-F238E27FC236}">
                <a16:creationId xmlns:a16="http://schemas.microsoft.com/office/drawing/2014/main" id="{97283FA7-E170-3245-910B-B51AFC7444FC}"/>
              </a:ext>
            </a:extLst>
          </p:cNvPr>
          <p:cNvGrpSpPr/>
          <p:nvPr/>
        </p:nvGrpSpPr>
        <p:grpSpPr>
          <a:xfrm>
            <a:off x="922374" y="2473260"/>
            <a:ext cx="4917456" cy="2727596"/>
            <a:chOff x="922374" y="2473260"/>
            <a:chExt cx="4917456" cy="272759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8EA5C1C-2310-9D41-83DC-CC8C14519894}"/>
                </a:ext>
              </a:extLst>
            </p:cNvPr>
            <p:cNvSpPr/>
            <p:nvPr/>
          </p:nvSpPr>
          <p:spPr>
            <a:xfrm>
              <a:off x="922374" y="3406507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CCCD7FA-EE01-DB47-8F2C-B471483E63B4}"/>
                </a:ext>
              </a:extLst>
            </p:cNvPr>
            <p:cNvSpPr/>
            <p:nvPr/>
          </p:nvSpPr>
          <p:spPr>
            <a:xfrm>
              <a:off x="922374" y="466078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7AB7FBA-C929-7E44-9842-5AA81123340D}"/>
                </a:ext>
              </a:extLst>
            </p:cNvPr>
            <p:cNvSpPr/>
            <p:nvPr/>
          </p:nvSpPr>
          <p:spPr>
            <a:xfrm>
              <a:off x="2527892" y="2473260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57ED2A0-5D28-034E-B7BE-1187DE643F98}"/>
                </a:ext>
              </a:extLst>
            </p:cNvPr>
            <p:cNvSpPr/>
            <p:nvPr/>
          </p:nvSpPr>
          <p:spPr>
            <a:xfrm>
              <a:off x="2666254" y="3570242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3FC89F3-82BE-0A41-8957-F52B8102334B}"/>
                </a:ext>
              </a:extLst>
            </p:cNvPr>
            <p:cNvSpPr/>
            <p:nvPr/>
          </p:nvSpPr>
          <p:spPr>
            <a:xfrm>
              <a:off x="4846414" y="2650072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919431-D00D-9B46-B6D7-87D63940521D}"/>
                </a:ext>
              </a:extLst>
            </p:cNvPr>
            <p:cNvSpPr/>
            <p:nvPr/>
          </p:nvSpPr>
          <p:spPr>
            <a:xfrm>
              <a:off x="4823434" y="3676078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D9746-20EE-8E41-B783-772A87AC07A7}"/>
                </a:ext>
              </a:extLst>
            </p:cNvPr>
            <p:cNvSpPr/>
            <p:nvPr/>
          </p:nvSpPr>
          <p:spPr>
            <a:xfrm>
              <a:off x="3567924" y="4254700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9E45248-0E0B-9B4A-8CD3-FEDA81173C44}"/>
                </a:ext>
              </a:extLst>
            </p:cNvPr>
            <p:cNvSpPr/>
            <p:nvPr/>
          </p:nvSpPr>
          <p:spPr>
            <a:xfrm>
              <a:off x="5492644" y="4840811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524C33A-4ED3-414A-AD92-9A0DBC580312}"/>
                </a:ext>
              </a:extLst>
            </p:cNvPr>
            <p:cNvCxnSpPr>
              <a:stCxn id="5" idx="0"/>
              <a:endCxn id="7" idx="2"/>
            </p:cNvCxnSpPr>
            <p:nvPr/>
          </p:nvCxnSpPr>
          <p:spPr>
            <a:xfrm flipV="1">
              <a:off x="1095967" y="2653283"/>
              <a:ext cx="1431925" cy="753224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FF11324-69E0-684E-98F6-A858484942A5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269560" y="3586530"/>
              <a:ext cx="1447538" cy="36439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13935D9-25E1-7645-822D-2DB880F774C7}"/>
                </a:ext>
              </a:extLst>
            </p:cNvPr>
            <p:cNvCxnSpPr>
              <a:cxnSpLocks/>
              <a:stCxn id="5" idx="4"/>
              <a:endCxn id="6" idx="0"/>
            </p:cNvCxnSpPr>
            <p:nvPr/>
          </p:nvCxnSpPr>
          <p:spPr>
            <a:xfrm>
              <a:off x="1095967" y="3766552"/>
              <a:ext cx="0" cy="894237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DA947D7-DA53-0147-81CC-51A6BDD79642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2875078" y="2653283"/>
              <a:ext cx="1971336" cy="176812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916A701-79C9-F545-8499-20DE187F1789}"/>
                </a:ext>
              </a:extLst>
            </p:cNvPr>
            <p:cNvCxnSpPr>
              <a:cxnSpLocks/>
              <a:stCxn id="9" idx="6"/>
              <a:endCxn id="19" idx="0"/>
            </p:cNvCxnSpPr>
            <p:nvPr/>
          </p:nvCxnSpPr>
          <p:spPr>
            <a:xfrm>
              <a:off x="5193600" y="2830095"/>
              <a:ext cx="472637" cy="2010716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DC07F26-C9DA-8B41-935D-A7CED09DC12A}"/>
                </a:ext>
              </a:extLst>
            </p:cNvPr>
            <p:cNvCxnSpPr>
              <a:cxnSpLocks/>
              <a:stCxn id="10" idx="1"/>
              <a:endCxn id="8" idx="6"/>
            </p:cNvCxnSpPr>
            <p:nvPr/>
          </p:nvCxnSpPr>
          <p:spPr>
            <a:xfrm flipH="1">
              <a:off x="3013440" y="3728805"/>
              <a:ext cx="1860838" cy="21460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76057D7-4F53-5144-9505-60B1B94EF3DC}"/>
                </a:ext>
              </a:extLst>
            </p:cNvPr>
            <p:cNvCxnSpPr>
              <a:cxnSpLocks/>
              <a:stCxn id="6" idx="7"/>
              <a:endCxn id="5" idx="5"/>
            </p:cNvCxnSpPr>
            <p:nvPr/>
          </p:nvCxnSpPr>
          <p:spPr>
            <a:xfrm flipV="1">
              <a:off x="1218716" y="3713825"/>
              <a:ext cx="0" cy="999691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29BAB9E8-8458-CF45-A8E3-F4C0ED61C7CD}"/>
                </a:ext>
              </a:extLst>
            </p:cNvPr>
            <p:cNvCxnSpPr>
              <a:cxnSpLocks/>
              <a:stCxn id="6" idx="7"/>
            </p:cNvCxnSpPr>
            <p:nvPr/>
          </p:nvCxnSpPr>
          <p:spPr>
            <a:xfrm flipV="1">
              <a:off x="1218716" y="3930288"/>
              <a:ext cx="1558075" cy="783228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C11AE9A-26C7-EF4A-B348-CAEC3FE55FDA}"/>
                </a:ext>
              </a:extLst>
            </p:cNvPr>
            <p:cNvCxnSpPr>
              <a:cxnSpLocks/>
              <a:stCxn id="19" idx="1"/>
              <a:endCxn id="10" idx="5"/>
            </p:cNvCxnSpPr>
            <p:nvPr/>
          </p:nvCxnSpPr>
          <p:spPr>
            <a:xfrm flipH="1" flipV="1">
              <a:off x="5119776" y="3983396"/>
              <a:ext cx="423712" cy="910142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22B2C6D-3D8A-E246-936F-B3EB7166192E}"/>
                </a:ext>
              </a:extLst>
            </p:cNvPr>
            <p:cNvCxnSpPr>
              <a:cxnSpLocks/>
              <a:stCxn id="19" idx="2"/>
              <a:endCxn id="11" idx="5"/>
            </p:cNvCxnSpPr>
            <p:nvPr/>
          </p:nvCxnSpPr>
          <p:spPr>
            <a:xfrm flipH="1" flipV="1">
              <a:off x="3864266" y="4562018"/>
              <a:ext cx="1628378" cy="458816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BA19FD0-6E7E-3540-989B-44184F99E536}"/>
                </a:ext>
              </a:extLst>
            </p:cNvPr>
            <p:cNvCxnSpPr>
              <a:cxnSpLocks/>
              <a:stCxn id="19" idx="3"/>
              <a:endCxn id="6" idx="4"/>
            </p:cNvCxnSpPr>
            <p:nvPr/>
          </p:nvCxnSpPr>
          <p:spPr>
            <a:xfrm flipH="1" flipV="1">
              <a:off x="1095967" y="5020834"/>
              <a:ext cx="4447521" cy="127295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3E08E63-8ACE-0C4A-B5FC-006A038545F1}"/>
                </a:ext>
              </a:extLst>
            </p:cNvPr>
            <p:cNvCxnSpPr>
              <a:cxnSpLocks/>
              <a:stCxn id="11" idx="7"/>
              <a:endCxn id="10" idx="3"/>
            </p:cNvCxnSpPr>
            <p:nvPr/>
          </p:nvCxnSpPr>
          <p:spPr>
            <a:xfrm flipV="1">
              <a:off x="3864266" y="3983396"/>
              <a:ext cx="1010012" cy="324031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83BC5BC-2A26-014F-97A0-0C8C011B0A6F}"/>
                </a:ext>
              </a:extLst>
            </p:cNvPr>
            <p:cNvCxnSpPr>
              <a:cxnSpLocks/>
              <a:stCxn id="8" idx="2"/>
              <a:endCxn id="5" idx="5"/>
            </p:cNvCxnSpPr>
            <p:nvPr/>
          </p:nvCxnSpPr>
          <p:spPr>
            <a:xfrm flipH="1" flipV="1">
              <a:off x="1218716" y="3713825"/>
              <a:ext cx="1447538" cy="3644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FA2775B5-E1C6-E34F-B370-13E90BF38E64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2962596" y="2957390"/>
              <a:ext cx="1934662" cy="665579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A4AF41C-A951-B749-8B33-EC01B7E00D23}"/>
                </a:ext>
              </a:extLst>
            </p:cNvPr>
            <p:cNvCxnSpPr>
              <a:cxnSpLocks/>
              <a:stCxn id="11" idx="2"/>
              <a:endCxn id="6" idx="6"/>
            </p:cNvCxnSpPr>
            <p:nvPr/>
          </p:nvCxnSpPr>
          <p:spPr>
            <a:xfrm flipH="1">
              <a:off x="1269560" y="4434723"/>
              <a:ext cx="2298364" cy="406089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15C62BB-7D2B-D244-A17F-50CBA8A50195}"/>
              </a:ext>
            </a:extLst>
          </p:cNvPr>
          <p:cNvSpPr txBox="1"/>
          <p:nvPr/>
        </p:nvSpPr>
        <p:spPr>
          <a:xfrm>
            <a:off x="7215780" y="2756558"/>
            <a:ext cx="2787943" cy="1477328"/>
          </a:xfrm>
          <a:prstGeom prst="rect">
            <a:avLst/>
          </a:prstGeom>
          <a:noFill/>
          <a:ln w="38100" cap="rnd">
            <a:solidFill>
              <a:schemeClr val="bg1">
                <a:lumMod val="50000"/>
                <a:alpha val="70000"/>
              </a:schemeClr>
            </a:solidFill>
            <a:round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Shortest path from 0 to 6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2   0.26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27   0.34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73   0.39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36   0.52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6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2D6C-46AE-3C45-A3EE-5521D12C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path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3A19-D9BB-3145-BE21-0F8F5166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Source-sink</a:t>
            </a:r>
          </a:p>
          <a:p>
            <a:pPr lvl="1"/>
            <a:r>
              <a:rPr lang="en-US" dirty="0"/>
              <a:t>Shortest path from one vertex </a:t>
            </a:r>
            <a:r>
              <a:rPr lang="en-US" i="1" dirty="0"/>
              <a:t>s</a:t>
            </a:r>
            <a:r>
              <a:rPr lang="en-US" dirty="0"/>
              <a:t> to another vertex </a:t>
            </a:r>
            <a:r>
              <a:rPr lang="en-US" i="1" dirty="0"/>
              <a:t>t</a:t>
            </a:r>
          </a:p>
          <a:p>
            <a:pPr lvl="1"/>
            <a:endParaRPr lang="en-US" i="1" dirty="0"/>
          </a:p>
          <a:p>
            <a:pPr lvl="1"/>
            <a:endParaRPr lang="en-US" dirty="0"/>
          </a:p>
          <a:p>
            <a:r>
              <a:rPr lang="en-US" dirty="0"/>
              <a:t>Single source</a:t>
            </a:r>
          </a:p>
          <a:p>
            <a:pPr lvl="1"/>
            <a:r>
              <a:rPr lang="en-US" dirty="0"/>
              <a:t>Shortest path from one vertex </a:t>
            </a:r>
            <a:r>
              <a:rPr lang="en-US" i="1" dirty="0"/>
              <a:t>s</a:t>
            </a:r>
            <a:r>
              <a:rPr lang="en-US" dirty="0"/>
              <a:t> to any other in V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All pairs</a:t>
            </a:r>
          </a:p>
          <a:p>
            <a:pPr lvl="1"/>
            <a:r>
              <a:rPr lang="en-US" dirty="0"/>
              <a:t>Shortest path between all pairs of vertices in V</a:t>
            </a:r>
          </a:p>
        </p:txBody>
      </p:sp>
    </p:spTree>
    <p:extLst>
      <p:ext uri="{BB962C8B-B14F-4D97-AF65-F5344CB8AC3E}">
        <p14:creationId xmlns:p14="http://schemas.microsoft.com/office/powerpoint/2010/main" val="2232057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2D6C-46AE-3C45-A3EE-5521D12C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path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F3A19-D9BB-3145-BE21-0F8F5166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Source-sink</a:t>
            </a:r>
          </a:p>
          <a:p>
            <a:pPr lvl="1"/>
            <a:r>
              <a:rPr lang="en-US" dirty="0"/>
              <a:t>Shortest path from one vertex </a:t>
            </a:r>
            <a:r>
              <a:rPr lang="en-US" i="1" dirty="0"/>
              <a:t>s</a:t>
            </a:r>
            <a:r>
              <a:rPr lang="en-US" dirty="0"/>
              <a:t> to another vertex </a:t>
            </a:r>
            <a:r>
              <a:rPr lang="en-US" i="1" dirty="0"/>
              <a:t>t</a:t>
            </a:r>
          </a:p>
          <a:p>
            <a:pPr lvl="1"/>
            <a:endParaRPr lang="en-US" i="1" dirty="0"/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Single source</a:t>
            </a:r>
          </a:p>
          <a:p>
            <a:pPr lvl="1"/>
            <a:r>
              <a:rPr lang="en-US" dirty="0"/>
              <a:t>Shortest path from one vertex </a:t>
            </a:r>
            <a:r>
              <a:rPr lang="en-US" i="1" dirty="0"/>
              <a:t>s</a:t>
            </a:r>
            <a:r>
              <a:rPr lang="en-US" dirty="0"/>
              <a:t> to any other in V</a:t>
            </a:r>
          </a:p>
          <a:p>
            <a:pPr lvl="1"/>
            <a:r>
              <a:rPr lang="en-US" dirty="0"/>
              <a:t>Simplifying assumption: shortest paths from </a:t>
            </a:r>
            <a:r>
              <a:rPr lang="en-US" i="1" dirty="0"/>
              <a:t>s</a:t>
            </a:r>
            <a:r>
              <a:rPr lang="en-US" dirty="0"/>
              <a:t> to each vertex </a:t>
            </a:r>
            <a:r>
              <a:rPr lang="en-US" i="1" dirty="0"/>
              <a:t>v</a:t>
            </a:r>
            <a:r>
              <a:rPr lang="en-US" dirty="0"/>
              <a:t> in V exist</a:t>
            </a:r>
          </a:p>
          <a:p>
            <a:pPr lvl="1"/>
            <a:endParaRPr lang="en-US" dirty="0"/>
          </a:p>
          <a:p>
            <a:r>
              <a:rPr lang="en-US" dirty="0"/>
              <a:t>All pairs</a:t>
            </a:r>
          </a:p>
          <a:p>
            <a:pPr lvl="1"/>
            <a:r>
              <a:rPr lang="en-US" dirty="0"/>
              <a:t>Shortest path between all pairs of vertices in V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249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Shortest Path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Problem formulation </a:t>
            </a:r>
          </a:p>
          <a:p>
            <a:pPr lvl="1"/>
            <a:r>
              <a:rPr lang="en-US" dirty="0"/>
              <a:t>Dijkstra algorithm</a:t>
            </a:r>
          </a:p>
          <a:p>
            <a:pPr lvl="1"/>
            <a:r>
              <a:rPr lang="en-US" dirty="0"/>
              <a:t>Edge-weighted DAG algorithm</a:t>
            </a:r>
          </a:p>
          <a:p>
            <a:pPr lvl="1"/>
            <a:r>
              <a:rPr lang="en-US" dirty="0"/>
              <a:t>Bellman-Ford algorithm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38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EE43-3C6E-6D4D-ADC4-6048678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digraph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28D7-E09C-2846-9B76-BEB490644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Weighted</a:t>
            </a:r>
            <a:r>
              <a:rPr lang="en-US" dirty="0"/>
              <a:t> digraph representation via adjacency lists</a:t>
            </a:r>
          </a:p>
          <a:p>
            <a:pPr lvl="1"/>
            <a:r>
              <a:rPr lang="en-US" dirty="0"/>
              <a:t>Vertex-indexed array of lists</a:t>
            </a:r>
          </a:p>
          <a:p>
            <a:pPr lvl="1"/>
            <a:r>
              <a:rPr lang="en-US" dirty="0"/>
              <a:t>Each list represented as a </a:t>
            </a:r>
            <a:r>
              <a:rPr lang="en-US" dirty="0">
                <a:highlight>
                  <a:srgbClr val="C0C0C0"/>
                </a:highlight>
              </a:rPr>
              <a:t>bag of weighted directed edges</a:t>
            </a:r>
          </a:p>
        </p:txBody>
      </p:sp>
      <p:grpSp>
        <p:nvGrpSpPr>
          <p:cNvPr id="6" name="Group 5" descr="weighted digraph">
            <a:extLst>
              <a:ext uri="{FF2B5EF4-FFF2-40B4-BE49-F238E27FC236}">
                <a16:creationId xmlns:a16="http://schemas.microsoft.com/office/drawing/2014/main" id="{9017AAE3-55DE-3A47-BADA-0EEB1DC054CC}"/>
              </a:ext>
            </a:extLst>
          </p:cNvPr>
          <p:cNvGrpSpPr>
            <a:grpSpLocks noChangeAspect="1"/>
          </p:cNvGrpSpPr>
          <p:nvPr/>
        </p:nvGrpSpPr>
        <p:grpSpPr>
          <a:xfrm>
            <a:off x="755630" y="3396464"/>
            <a:ext cx="4072618" cy="2275477"/>
            <a:chOff x="544362" y="2390779"/>
            <a:chExt cx="5336029" cy="2981378"/>
          </a:xfrm>
        </p:grpSpPr>
        <p:grpSp>
          <p:nvGrpSpPr>
            <p:cNvPr id="107" name="Group 106" descr="adding weights to a digraph">
              <a:extLst>
                <a:ext uri="{FF2B5EF4-FFF2-40B4-BE49-F238E27FC236}">
                  <a16:creationId xmlns:a16="http://schemas.microsoft.com/office/drawing/2014/main" id="{474BBBE8-F1B7-5D45-8E57-B58F889286DF}"/>
                </a:ext>
              </a:extLst>
            </p:cNvPr>
            <p:cNvGrpSpPr/>
            <p:nvPr/>
          </p:nvGrpSpPr>
          <p:grpSpPr>
            <a:xfrm>
              <a:off x="544362" y="2390779"/>
              <a:ext cx="5336029" cy="2981378"/>
              <a:chOff x="543624" y="2385969"/>
              <a:chExt cx="5336029" cy="2981378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35C31F3-6DC8-5543-9099-C486D64A5F36}"/>
                  </a:ext>
                </a:extLst>
              </p:cNvPr>
              <p:cNvSpPr txBox="1"/>
              <p:nvPr/>
            </p:nvSpPr>
            <p:spPr>
              <a:xfrm>
                <a:off x="1489576" y="2605031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DCA85091-7772-ED48-8899-A4210FFC7509}"/>
                  </a:ext>
                </a:extLst>
              </p:cNvPr>
              <p:cNvSpPr txBox="1"/>
              <p:nvPr/>
            </p:nvSpPr>
            <p:spPr>
              <a:xfrm>
                <a:off x="3527828" y="2385969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0.29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7089560-8E0D-CF46-B541-C06D68D62395}"/>
                  </a:ext>
                </a:extLst>
              </p:cNvPr>
              <p:cNvSpPr txBox="1"/>
              <p:nvPr/>
            </p:nvSpPr>
            <p:spPr>
              <a:xfrm>
                <a:off x="1918574" y="3283088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0.28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052D5F2-CCC7-F144-B9D6-4FA63AFFDE22}"/>
                  </a:ext>
                </a:extLst>
              </p:cNvPr>
              <p:cNvSpPr txBox="1"/>
              <p:nvPr/>
            </p:nvSpPr>
            <p:spPr>
              <a:xfrm>
                <a:off x="1188764" y="4040702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0.35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24A3931-A892-A643-AA67-3038C02FA4A3}"/>
                  </a:ext>
                </a:extLst>
              </p:cNvPr>
              <p:cNvSpPr txBox="1"/>
              <p:nvPr/>
            </p:nvSpPr>
            <p:spPr>
              <a:xfrm>
                <a:off x="2049255" y="4154553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0.37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EB949E6-6F21-634A-BD5E-540209A9B0CB}"/>
                  </a:ext>
                </a:extLst>
              </p:cNvPr>
              <p:cNvSpPr txBox="1"/>
              <p:nvPr/>
            </p:nvSpPr>
            <p:spPr>
              <a:xfrm>
                <a:off x="3803051" y="3392964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0.34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6C6DEDC-42CA-6D4C-8C00-ABA953576EC2}"/>
                  </a:ext>
                </a:extLst>
              </p:cNvPr>
              <p:cNvSpPr txBox="1"/>
              <p:nvPr/>
            </p:nvSpPr>
            <p:spPr>
              <a:xfrm>
                <a:off x="2701485" y="4501777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0.38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7C67CC9-E027-4D48-9C0B-D74EEFD47AA7}"/>
                  </a:ext>
                </a:extLst>
              </p:cNvPr>
              <p:cNvSpPr txBox="1"/>
              <p:nvPr/>
            </p:nvSpPr>
            <p:spPr>
              <a:xfrm>
                <a:off x="4119090" y="4427312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0.58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E99A742-B084-9749-A5C1-8D443F13D0F0}"/>
                  </a:ext>
                </a:extLst>
              </p:cNvPr>
              <p:cNvSpPr txBox="1"/>
              <p:nvPr/>
            </p:nvSpPr>
            <p:spPr>
              <a:xfrm>
                <a:off x="4810724" y="4295616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0.40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40C4902-0118-D845-BFAB-5AEBD0E1487C}"/>
                  </a:ext>
                </a:extLst>
              </p:cNvPr>
              <p:cNvSpPr txBox="1"/>
              <p:nvPr/>
            </p:nvSpPr>
            <p:spPr>
              <a:xfrm>
                <a:off x="5347135" y="3450934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0.52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A1802A07-A6FF-C745-AE17-DBE8E32A8730}"/>
                  </a:ext>
                </a:extLst>
              </p:cNvPr>
              <p:cNvSpPr txBox="1"/>
              <p:nvPr/>
            </p:nvSpPr>
            <p:spPr>
              <a:xfrm>
                <a:off x="3542258" y="2927098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0.39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BBAFC7D-79AD-2D43-A051-E165CF838FA2}"/>
                  </a:ext>
                </a:extLst>
              </p:cNvPr>
              <p:cNvSpPr txBox="1"/>
              <p:nvPr/>
            </p:nvSpPr>
            <p:spPr>
              <a:xfrm>
                <a:off x="3899626" y="3811140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0.26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8904765-A703-A145-A771-4371AFC6C771}"/>
                  </a:ext>
                </a:extLst>
              </p:cNvPr>
              <p:cNvSpPr txBox="1"/>
              <p:nvPr/>
            </p:nvSpPr>
            <p:spPr>
              <a:xfrm>
                <a:off x="2839847" y="5059570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0.93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18348AB8-38FD-8A4B-B0AC-838FD4E0C2CD}"/>
                  </a:ext>
                </a:extLst>
              </p:cNvPr>
              <p:cNvSpPr txBox="1"/>
              <p:nvPr/>
            </p:nvSpPr>
            <p:spPr>
              <a:xfrm>
                <a:off x="543624" y="4075188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0.35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1002D45-BCED-D648-B84F-BA7505091506}"/>
                  </a:ext>
                </a:extLst>
              </p:cNvPr>
              <p:cNvSpPr txBox="1"/>
              <p:nvPr/>
            </p:nvSpPr>
            <p:spPr>
              <a:xfrm>
                <a:off x="1880184" y="3683685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0.28</a:t>
                </a:r>
              </a:p>
            </p:txBody>
          </p:sp>
        </p:grpSp>
        <p:grpSp>
          <p:nvGrpSpPr>
            <p:cNvPr id="124" name="Group 123" descr="example digraph">
              <a:extLst>
                <a:ext uri="{FF2B5EF4-FFF2-40B4-BE49-F238E27FC236}">
                  <a16:creationId xmlns:a16="http://schemas.microsoft.com/office/drawing/2014/main" id="{E9734F32-8FEE-0B42-9727-23C308AB9978}"/>
                </a:ext>
              </a:extLst>
            </p:cNvPr>
            <p:cNvGrpSpPr/>
            <p:nvPr/>
          </p:nvGrpSpPr>
          <p:grpSpPr>
            <a:xfrm>
              <a:off x="922374" y="2473260"/>
              <a:ext cx="4917456" cy="2727596"/>
              <a:chOff x="922374" y="2473260"/>
              <a:chExt cx="4917456" cy="2727596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F111531D-E075-C04F-BD2C-2C44A47E521B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AD125D3C-F359-5C4C-9A7B-11CA7093B4E7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597DB340-3A4B-2D48-ADC3-FF7181951A7B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380A642-AF62-994C-B028-7F956CD64BA3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237555AD-568F-B34C-A823-7B66B7C35D5B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E36493B-F728-9B43-9898-6B2F9D75B366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6536B4E-2703-2140-B0EF-54DC8F52A05A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93A18E96-ECA2-214D-B450-FC863C49C28A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CDDF2A25-61DD-AD4F-A495-1F3A18A8E58D}"/>
                  </a:ext>
                </a:extLst>
              </p:cNvPr>
              <p:cNvCxnSpPr>
                <a:stCxn id="125" idx="0"/>
                <a:endCxn id="127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9A096E48-1E8F-F540-B129-F1A7BB4C73DA}"/>
                  </a:ext>
                </a:extLst>
              </p:cNvPr>
              <p:cNvCxnSpPr>
                <a:cxnSpLocks/>
                <a:stCxn id="125" idx="6"/>
                <a:endCxn id="128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4C9DE612-B9B4-2646-B5F4-24F2E61F4723}"/>
                  </a:ext>
                </a:extLst>
              </p:cNvPr>
              <p:cNvCxnSpPr>
                <a:cxnSpLocks/>
                <a:stCxn id="125" idx="4"/>
                <a:endCxn id="126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55DEE31C-0845-9940-97C8-22F633326942}"/>
                  </a:ext>
                </a:extLst>
              </p:cNvPr>
              <p:cNvCxnSpPr>
                <a:cxnSpLocks/>
                <a:stCxn id="127" idx="6"/>
                <a:endCxn id="129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Arrow Connector 136">
                <a:extLst>
                  <a:ext uri="{FF2B5EF4-FFF2-40B4-BE49-F238E27FC236}">
                    <a16:creationId xmlns:a16="http://schemas.microsoft.com/office/drawing/2014/main" id="{41A9E86E-5FD1-9240-8FD4-3FAD58587F09}"/>
                  </a:ext>
                </a:extLst>
              </p:cNvPr>
              <p:cNvCxnSpPr>
                <a:cxnSpLocks/>
                <a:stCxn id="129" idx="6"/>
                <a:endCxn id="132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8C7039C5-FAF0-D748-A741-BF6AB6ABA56F}"/>
                  </a:ext>
                </a:extLst>
              </p:cNvPr>
              <p:cNvCxnSpPr>
                <a:cxnSpLocks/>
                <a:stCxn id="130" idx="1"/>
                <a:endCxn id="128" idx="6"/>
              </p:cNvCxnSpPr>
              <p:nvPr/>
            </p:nvCxnSpPr>
            <p:spPr>
              <a:xfrm flipH="1">
                <a:off x="3013440" y="3728805"/>
                <a:ext cx="1860838" cy="2146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5E50525D-A139-FB4C-A4A9-C7A0B795E740}"/>
                  </a:ext>
                </a:extLst>
              </p:cNvPr>
              <p:cNvCxnSpPr>
                <a:cxnSpLocks/>
                <a:stCxn id="126" idx="7"/>
                <a:endCxn id="125" idx="5"/>
              </p:cNvCxnSpPr>
              <p:nvPr/>
            </p:nvCxnSpPr>
            <p:spPr>
              <a:xfrm flipV="1">
                <a:off x="1218716" y="3713825"/>
                <a:ext cx="0" cy="99969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1C98F8AE-117E-8C42-A6E1-C0D910B08543}"/>
                  </a:ext>
                </a:extLst>
              </p:cNvPr>
              <p:cNvCxnSpPr>
                <a:cxnSpLocks/>
                <a:stCxn id="126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71C36E96-45E8-114F-A3CF-154DFD7F2045}"/>
                  </a:ext>
                </a:extLst>
              </p:cNvPr>
              <p:cNvCxnSpPr>
                <a:cxnSpLocks/>
                <a:stCxn id="132" idx="1"/>
                <a:endCxn id="130" idx="5"/>
              </p:cNvCxnSpPr>
              <p:nvPr/>
            </p:nvCxnSpPr>
            <p:spPr>
              <a:xfrm flipH="1" flipV="1"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CA0B0064-67A2-234C-B2F7-325E5CFE4CCD}"/>
                  </a:ext>
                </a:extLst>
              </p:cNvPr>
              <p:cNvCxnSpPr>
                <a:cxnSpLocks/>
                <a:stCxn id="132" idx="2"/>
                <a:endCxn id="131" idx="5"/>
              </p:cNvCxnSpPr>
              <p:nvPr/>
            </p:nvCxnSpPr>
            <p:spPr>
              <a:xfrm flipH="1" flipV="1"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E0B892C3-85BE-874F-A9E3-F1B8AF6E49CE}"/>
                  </a:ext>
                </a:extLst>
              </p:cNvPr>
              <p:cNvCxnSpPr>
                <a:cxnSpLocks/>
                <a:stCxn id="132" idx="3"/>
                <a:endCxn id="126" idx="4"/>
              </p:cNvCxnSpPr>
              <p:nvPr/>
            </p:nvCxnSpPr>
            <p:spPr>
              <a:xfrm flipH="1" flipV="1">
                <a:off x="1095967" y="5020834"/>
                <a:ext cx="4447521" cy="127295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CC2CAF3A-5F3A-6F43-ACA5-71CE764F77B7}"/>
                  </a:ext>
                </a:extLst>
              </p:cNvPr>
              <p:cNvCxnSpPr>
                <a:cxnSpLocks/>
                <a:stCxn id="131" idx="7"/>
                <a:endCxn id="130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0241B40B-70EA-074A-BE44-5E0ED6F9B750}"/>
                  </a:ext>
                </a:extLst>
              </p:cNvPr>
              <p:cNvCxnSpPr>
                <a:cxnSpLocks/>
                <a:stCxn id="128" idx="2"/>
                <a:endCxn id="125" idx="5"/>
              </p:cNvCxnSpPr>
              <p:nvPr/>
            </p:nvCxnSpPr>
            <p:spPr>
              <a:xfrm flipH="1" flipV="1">
                <a:off x="1218716" y="3713825"/>
                <a:ext cx="1447538" cy="3644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8309CB09-D24B-6D4A-B22A-5522F1F8E0A2}"/>
                  </a:ext>
                </a:extLst>
              </p:cNvPr>
              <p:cNvCxnSpPr>
                <a:cxnSpLocks/>
                <a:stCxn id="128" idx="7"/>
                <a:endCxn id="129" idx="3"/>
              </p:cNvCxnSpPr>
              <p:nvPr/>
            </p:nvCxnSpPr>
            <p:spPr>
              <a:xfrm flipV="1">
                <a:off x="2962596" y="2957390"/>
                <a:ext cx="1934662" cy="66557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40F370D3-2887-E848-93CD-78C94B4BCDB3}"/>
                  </a:ext>
                </a:extLst>
              </p:cNvPr>
              <p:cNvCxnSpPr>
                <a:cxnSpLocks/>
                <a:stCxn id="131" idx="2"/>
                <a:endCxn id="126" idx="6"/>
              </p:cNvCxnSpPr>
              <p:nvPr/>
            </p:nvCxnSpPr>
            <p:spPr>
              <a:xfrm flipH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3" name="Table 32" descr="adjecency matrix representation of the digraph (vertex index)">
            <a:extLst>
              <a:ext uri="{FF2B5EF4-FFF2-40B4-BE49-F238E27FC236}">
                <a16:creationId xmlns:a16="http://schemas.microsoft.com/office/drawing/2014/main" id="{17899976-C130-C743-9512-DAC1EF44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73376"/>
              </p:ext>
            </p:extLst>
          </p:nvPr>
        </p:nvGraphicFramePr>
        <p:xfrm>
          <a:off x="5195627" y="3576438"/>
          <a:ext cx="790576" cy="215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6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</a:tblGrid>
              <a:tr h="2397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adj[]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41069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59402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138245"/>
                  </a:ext>
                </a:extLst>
              </a:tr>
            </a:tbl>
          </a:graphicData>
        </a:graphic>
      </p:graphicFrame>
      <p:grpSp>
        <p:nvGrpSpPr>
          <p:cNvPr id="17" name="Group 16" descr="representation od weighted directed edges via bags od directed edges">
            <a:extLst>
              <a:ext uri="{FF2B5EF4-FFF2-40B4-BE49-F238E27FC236}">
                <a16:creationId xmlns:a16="http://schemas.microsoft.com/office/drawing/2014/main" id="{368D6E1E-9D63-BA44-A09C-27A0A6C78630}"/>
              </a:ext>
            </a:extLst>
          </p:cNvPr>
          <p:cNvGrpSpPr/>
          <p:nvPr/>
        </p:nvGrpSpPr>
        <p:grpSpPr>
          <a:xfrm>
            <a:off x="5971959" y="2983419"/>
            <a:ext cx="3160757" cy="3645236"/>
            <a:chOff x="5146049" y="2869113"/>
            <a:chExt cx="3160757" cy="364523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E909DD-AA4B-B547-AA2C-913F71F245B7}"/>
                </a:ext>
              </a:extLst>
            </p:cNvPr>
            <p:cNvGrpSpPr/>
            <p:nvPr/>
          </p:nvGrpSpPr>
          <p:grpSpPr>
            <a:xfrm>
              <a:off x="5948942" y="2869113"/>
              <a:ext cx="1610122" cy="371475"/>
              <a:chOff x="5906023" y="3000373"/>
              <a:chExt cx="1610122" cy="37147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4CF1BA1-A00E-BC46-BAD2-19403772ED85}"/>
                  </a:ext>
                </a:extLst>
              </p:cNvPr>
              <p:cNvSpPr/>
              <p:nvPr/>
            </p:nvSpPr>
            <p:spPr>
              <a:xfrm>
                <a:off x="6234633" y="3057525"/>
                <a:ext cx="535782" cy="2616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0,2,.26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CB07B0-EAFA-834D-B1D1-0CD3BADD9D97}"/>
                  </a:ext>
                </a:extLst>
              </p:cNvPr>
              <p:cNvSpPr/>
              <p:nvPr/>
            </p:nvSpPr>
            <p:spPr>
              <a:xfrm>
                <a:off x="6920447" y="3057525"/>
                <a:ext cx="535782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0,4,.38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2528EF07-BB9B-3F41-BC43-328CC6B358E7}"/>
                  </a:ext>
                </a:extLst>
              </p:cNvPr>
              <p:cNvCxnSpPr>
                <a:cxnSpLocks/>
                <a:stCxn id="34" idx="3"/>
                <a:endCxn id="35" idx="1"/>
              </p:cNvCxnSpPr>
              <p:nvPr/>
            </p:nvCxnSpPr>
            <p:spPr>
              <a:xfrm flipV="1">
                <a:off x="6770415" y="3186113"/>
                <a:ext cx="150032" cy="22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6885EED-1D68-F944-80B7-082BCAE0F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6033" y="305752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4A9FC1DF-98B2-F846-8DEC-D164A82BEDA8}"/>
                  </a:ext>
                </a:extLst>
              </p:cNvPr>
              <p:cNvSpPr/>
              <p:nvPr/>
            </p:nvSpPr>
            <p:spPr>
              <a:xfrm>
                <a:off x="5906023" y="3000373"/>
                <a:ext cx="1610122" cy="371475"/>
              </a:xfrm>
              <a:prstGeom prst="round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8F36E17-11D2-7143-B352-BE9E00365061}"/>
                </a:ext>
              </a:extLst>
            </p:cNvPr>
            <p:cNvGrpSpPr/>
            <p:nvPr/>
          </p:nvGrpSpPr>
          <p:grpSpPr>
            <a:xfrm>
              <a:off x="5947485" y="3328252"/>
              <a:ext cx="1017338" cy="371475"/>
              <a:chOff x="7529515" y="2014536"/>
              <a:chExt cx="1017338" cy="37147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5D5C602-4A89-7044-9D74-31DC33E82A05}"/>
                  </a:ext>
                </a:extLst>
              </p:cNvPr>
              <p:cNvSpPr/>
              <p:nvPr/>
            </p:nvSpPr>
            <p:spPr>
              <a:xfrm>
                <a:off x="7858124" y="2071689"/>
                <a:ext cx="538695" cy="246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1,3,.29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A560F4A-CEE7-C046-A854-796C234CB0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E39C62FE-2A8C-654F-A523-0C183EF0D304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101733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8BC5533-3EDA-E24F-8760-5E8328597889}"/>
                </a:ext>
              </a:extLst>
            </p:cNvPr>
            <p:cNvGrpSpPr/>
            <p:nvPr/>
          </p:nvGrpSpPr>
          <p:grpSpPr>
            <a:xfrm>
              <a:off x="5926072" y="4253208"/>
              <a:ext cx="1011811" cy="371475"/>
              <a:chOff x="7529514" y="2000248"/>
              <a:chExt cx="1011811" cy="371475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9218EBD-4456-1648-BD65-5CDF8A052A91}"/>
                  </a:ext>
                </a:extLst>
              </p:cNvPr>
              <p:cNvSpPr/>
              <p:nvPr/>
            </p:nvSpPr>
            <p:spPr>
              <a:xfrm>
                <a:off x="7858124" y="2071689"/>
                <a:ext cx="519076" cy="202744"/>
              </a:xfrm>
              <a:prstGeom prst="rect">
                <a:avLst/>
              </a:prstGeom>
              <a:noFill/>
              <a:ln w="381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,6,.52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F43C7D56-6A1D-FB4C-BBC6-664A36E470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BF3D6EA4-63C5-4846-BD20-1F659E3B64B2}"/>
                  </a:ext>
                </a:extLst>
              </p:cNvPr>
              <p:cNvSpPr/>
              <p:nvPr/>
            </p:nvSpPr>
            <p:spPr>
              <a:xfrm>
                <a:off x="7529514" y="2000248"/>
                <a:ext cx="101181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54EAC91-973A-5A47-BFBC-D985A26D4721}"/>
                </a:ext>
              </a:extLst>
            </p:cNvPr>
            <p:cNvGrpSpPr/>
            <p:nvPr/>
          </p:nvGrpSpPr>
          <p:grpSpPr>
            <a:xfrm>
              <a:off x="5925563" y="4712489"/>
              <a:ext cx="1610121" cy="371475"/>
              <a:chOff x="7529514" y="2014536"/>
              <a:chExt cx="1610121" cy="371475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0A2B77C-A941-9147-815B-B1A48F109A10}"/>
                  </a:ext>
                </a:extLst>
              </p:cNvPr>
              <p:cNvSpPr/>
              <p:nvPr/>
            </p:nvSpPr>
            <p:spPr>
              <a:xfrm>
                <a:off x="7858124" y="2071688"/>
                <a:ext cx="519585" cy="279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,7,.28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D00034D-E13F-D444-ADB6-EBB1FE559C1D}"/>
                  </a:ext>
                </a:extLst>
              </p:cNvPr>
              <p:cNvSpPr/>
              <p:nvPr/>
            </p:nvSpPr>
            <p:spPr>
              <a:xfrm>
                <a:off x="8560033" y="2071688"/>
                <a:ext cx="498363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4,5,.35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D82AECD-4509-F04F-AB35-6BE86D999896}"/>
                  </a:ext>
                </a:extLst>
              </p:cNvPr>
              <p:cNvCxnSpPr>
                <a:cxnSpLocks/>
                <a:stCxn id="67" idx="3"/>
                <a:endCxn id="68" idx="1"/>
              </p:cNvCxnSpPr>
              <p:nvPr/>
            </p:nvCxnSpPr>
            <p:spPr>
              <a:xfrm flipV="1">
                <a:off x="8377709" y="2200276"/>
                <a:ext cx="182324" cy="1113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D78DBE4-8C78-854D-B244-944CE208C5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2D80D797-E70E-8947-B6FF-B9C73E44EF67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61012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27EE73-BA70-EA42-BBED-BAA29386FEF7}"/>
                </a:ext>
              </a:extLst>
            </p:cNvPr>
            <p:cNvGrpSpPr/>
            <p:nvPr/>
          </p:nvGrpSpPr>
          <p:grpSpPr>
            <a:xfrm>
              <a:off x="5925564" y="5175997"/>
              <a:ext cx="2328110" cy="370525"/>
              <a:chOff x="5925564" y="5308729"/>
              <a:chExt cx="2328110" cy="370525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972EE5D-C6A7-BF4A-AA6F-5BAFA25A6495}"/>
                  </a:ext>
                </a:extLst>
              </p:cNvPr>
              <p:cNvSpPr/>
              <p:nvPr/>
            </p:nvSpPr>
            <p:spPr>
              <a:xfrm>
                <a:off x="6254172" y="5365882"/>
                <a:ext cx="504369" cy="2432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,1,.32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B88E399-C7B1-094F-BF10-DAA141A86F30}"/>
                  </a:ext>
                </a:extLst>
              </p:cNvPr>
              <p:cNvSpPr/>
              <p:nvPr/>
            </p:nvSpPr>
            <p:spPr>
              <a:xfrm>
                <a:off x="6954499" y="5351747"/>
                <a:ext cx="498363" cy="2432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5,7,.28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90064C0-173E-594E-9962-CEC275849638}"/>
                  </a:ext>
                </a:extLst>
              </p:cNvPr>
              <p:cNvSpPr/>
              <p:nvPr/>
            </p:nvSpPr>
            <p:spPr>
              <a:xfrm>
                <a:off x="7675371" y="5368261"/>
                <a:ext cx="498363" cy="2524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5,4,.</a:t>
                </a:r>
                <a:r>
                  <a:rPr 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35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1C837711-6CE1-2948-8980-9FDB182FE9FE}"/>
                  </a:ext>
                </a:extLst>
              </p:cNvPr>
              <p:cNvCxnSpPr>
                <a:cxnSpLocks/>
                <a:stCxn id="77" idx="3"/>
                <a:endCxn id="78" idx="1"/>
              </p:cNvCxnSpPr>
              <p:nvPr/>
            </p:nvCxnSpPr>
            <p:spPr>
              <a:xfrm flipV="1">
                <a:off x="6758541" y="5473377"/>
                <a:ext cx="195958" cy="1413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C4597AA5-14C4-AE47-B35E-B5951B1CAD42}"/>
                  </a:ext>
                </a:extLst>
              </p:cNvPr>
              <p:cNvCxnSpPr/>
              <p:nvPr/>
            </p:nvCxnSpPr>
            <p:spPr>
              <a:xfrm>
                <a:off x="7453915" y="5494467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FC79A97-1F1C-A844-83AA-B9D8B0C40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5573" y="536588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78E2910D-78A4-A94A-A3CF-DD836579D871}"/>
                  </a:ext>
                </a:extLst>
              </p:cNvPr>
              <p:cNvSpPr/>
              <p:nvPr/>
            </p:nvSpPr>
            <p:spPr>
              <a:xfrm>
                <a:off x="5925564" y="5308729"/>
                <a:ext cx="2328110" cy="37052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6F7F4EBD-A441-7D4F-887C-7AF8440B33E0}"/>
                </a:ext>
              </a:extLst>
            </p:cNvPr>
            <p:cNvGrpSpPr/>
            <p:nvPr/>
          </p:nvGrpSpPr>
          <p:grpSpPr>
            <a:xfrm>
              <a:off x="5896961" y="5662175"/>
              <a:ext cx="2409845" cy="371475"/>
              <a:chOff x="7529514" y="2000248"/>
              <a:chExt cx="2409845" cy="371475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58A767A-7626-8B40-86D5-52528620D08F}"/>
                  </a:ext>
                </a:extLst>
              </p:cNvPr>
              <p:cNvSpPr/>
              <p:nvPr/>
            </p:nvSpPr>
            <p:spPr>
              <a:xfrm>
                <a:off x="7858124" y="2071689"/>
                <a:ext cx="480741" cy="2220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6,4,.93</a:t>
                </a: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E88D2C4A-4713-7A4D-B7E9-972016F2C09F}"/>
                  </a:ext>
                </a:extLst>
              </p:cNvPr>
              <p:cNvSpPr/>
              <p:nvPr/>
            </p:nvSpPr>
            <p:spPr>
              <a:xfrm>
                <a:off x="8558450" y="2057502"/>
                <a:ext cx="512635" cy="2569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6,0,.58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9D61383-0942-6941-A5F7-6FF406D1CE21}"/>
                  </a:ext>
                </a:extLst>
              </p:cNvPr>
              <p:cNvSpPr/>
              <p:nvPr/>
            </p:nvSpPr>
            <p:spPr>
              <a:xfrm>
                <a:off x="9313531" y="2063677"/>
                <a:ext cx="512636" cy="2649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6,2,.40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C8F34353-5135-2048-A387-B8B1133A2C67}"/>
                  </a:ext>
                </a:extLst>
              </p:cNvPr>
              <p:cNvCxnSpPr>
                <a:cxnSpLocks/>
                <a:stCxn id="87" idx="3"/>
                <a:endCxn id="88" idx="1"/>
              </p:cNvCxnSpPr>
              <p:nvPr/>
            </p:nvCxnSpPr>
            <p:spPr>
              <a:xfrm>
                <a:off x="8338865" y="2182736"/>
                <a:ext cx="219585" cy="3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7FF69383-4295-1248-8088-D197DB98447C}"/>
                  </a:ext>
                </a:extLst>
              </p:cNvPr>
              <p:cNvCxnSpPr/>
              <p:nvPr/>
            </p:nvCxnSpPr>
            <p:spPr>
              <a:xfrm>
                <a:off x="9069213" y="219616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981FE0C-9377-7446-B997-C528748CC6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Rounded Rectangle 94">
                <a:extLst>
                  <a:ext uri="{FF2B5EF4-FFF2-40B4-BE49-F238E27FC236}">
                    <a16:creationId xmlns:a16="http://schemas.microsoft.com/office/drawing/2014/main" id="{4726DA57-701F-DC4A-A78D-8F7C15D74ED6}"/>
                  </a:ext>
                </a:extLst>
              </p:cNvPr>
              <p:cNvSpPr/>
              <p:nvPr/>
            </p:nvSpPr>
            <p:spPr>
              <a:xfrm>
                <a:off x="7529514" y="2000248"/>
                <a:ext cx="240984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F593EF3-D1F3-174A-8279-A11F9153565B}"/>
                </a:ext>
              </a:extLst>
            </p:cNvPr>
            <p:cNvGrpSpPr/>
            <p:nvPr/>
          </p:nvGrpSpPr>
          <p:grpSpPr>
            <a:xfrm>
              <a:off x="5911318" y="6142874"/>
              <a:ext cx="1624366" cy="371475"/>
              <a:chOff x="7529514" y="2014536"/>
              <a:chExt cx="1624366" cy="371475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0B0D9E0-9434-504F-B2B2-F728B8C42994}"/>
                  </a:ext>
                </a:extLst>
              </p:cNvPr>
              <p:cNvSpPr/>
              <p:nvPr/>
            </p:nvSpPr>
            <p:spPr>
              <a:xfrm>
                <a:off x="7858124" y="2071688"/>
                <a:ext cx="494985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,3,.39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749BEE4B-5600-E546-823C-9B69362218F7}"/>
                  </a:ext>
                </a:extLst>
              </p:cNvPr>
              <p:cNvSpPr/>
              <p:nvPr/>
            </p:nvSpPr>
            <p:spPr>
              <a:xfrm>
                <a:off x="8554769" y="2057049"/>
                <a:ext cx="516289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7,5,.28</a:t>
                </a:r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06D2BED4-C128-8F4D-846A-AAE03E4A4E4E}"/>
                  </a:ext>
                </a:extLst>
              </p:cNvPr>
              <p:cNvCxnSpPr>
                <a:cxnSpLocks/>
                <a:stCxn id="97" idx="3"/>
                <a:endCxn id="98" idx="1"/>
              </p:cNvCxnSpPr>
              <p:nvPr/>
            </p:nvCxnSpPr>
            <p:spPr>
              <a:xfrm flipV="1">
                <a:off x="8353109" y="2185637"/>
                <a:ext cx="201660" cy="146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2C8F962F-9688-7C40-AC3B-C0BC48C781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FA3FBE77-2424-504D-A4FB-3B58225DE207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624366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663D3EC8-E696-2D44-8D06-B2538C7ADA87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5168824" y="3054851"/>
              <a:ext cx="780118" cy="73254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BFA8CE23-E576-B143-B3F9-78B37279AF1F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5163056" y="3513990"/>
              <a:ext cx="784429" cy="52958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FB09DF11-8512-514F-A07A-74A7776D8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6049" y="3878848"/>
              <a:ext cx="748343" cy="39696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E6BDB393-7A72-FF43-A473-4BF54B01E55D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>
              <a:off x="5173573" y="4736517"/>
              <a:ext cx="751990" cy="16171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A06DF733-11EE-084A-AAC8-8514A4B33367}"/>
                </a:ext>
              </a:extLst>
            </p:cNvPr>
            <p:cNvCxnSpPr>
              <a:cxnSpLocks/>
              <a:endCxn id="85" idx="1"/>
            </p:cNvCxnSpPr>
            <p:nvPr/>
          </p:nvCxnSpPr>
          <p:spPr>
            <a:xfrm>
              <a:off x="5177219" y="4983363"/>
              <a:ext cx="748345" cy="377897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08DCFCFC-5F68-A74C-9CAD-59A2AED700B6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>
              <a:off x="5176089" y="5217632"/>
              <a:ext cx="720872" cy="63028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77B58C1C-F845-324A-A7FF-CED625122576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>
              <a:off x="5173573" y="5440561"/>
              <a:ext cx="737745" cy="88805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AE2DA16-FBCA-664D-83E2-EC8F82FA04C6}"/>
                </a:ext>
              </a:extLst>
            </p:cNvPr>
            <p:cNvGrpSpPr/>
            <p:nvPr/>
          </p:nvGrpSpPr>
          <p:grpSpPr>
            <a:xfrm>
              <a:off x="5936161" y="3760103"/>
              <a:ext cx="1017338" cy="371475"/>
              <a:chOff x="7529515" y="2014536"/>
              <a:chExt cx="1017338" cy="371475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CBC411F-9388-8A40-B04F-5DBA2613FBEC}"/>
                  </a:ext>
                </a:extLst>
              </p:cNvPr>
              <p:cNvSpPr/>
              <p:nvPr/>
            </p:nvSpPr>
            <p:spPr>
              <a:xfrm>
                <a:off x="7858124" y="2071689"/>
                <a:ext cx="538695" cy="246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,7,.43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EE730F3C-876E-7C40-BCC1-22140A7D9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FD49AAE0-E75F-E24F-AE11-78B8E45228E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101733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6D670692-FDAD-8A4C-AD68-95D8F21D2DF7}"/>
                </a:ext>
              </a:extLst>
            </p:cNvPr>
            <p:cNvCxnSpPr>
              <a:cxnSpLocks/>
              <a:stCxn id="33" idx="3"/>
              <a:endCxn id="65" idx="1"/>
            </p:cNvCxnSpPr>
            <p:nvPr/>
          </p:nvCxnSpPr>
          <p:spPr>
            <a:xfrm flipV="1">
              <a:off x="5160293" y="4438946"/>
              <a:ext cx="765779" cy="10201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 descr="highlighting a bag object representing a single adjacency list">
            <a:extLst>
              <a:ext uri="{FF2B5EF4-FFF2-40B4-BE49-F238E27FC236}">
                <a16:creationId xmlns:a16="http://schemas.microsoft.com/office/drawing/2014/main" id="{D7FDC495-46F5-B846-84B7-DCDC6028A4FB}"/>
              </a:ext>
            </a:extLst>
          </p:cNvPr>
          <p:cNvGrpSpPr/>
          <p:nvPr/>
        </p:nvGrpSpPr>
        <p:grpSpPr>
          <a:xfrm>
            <a:off x="8384974" y="3088195"/>
            <a:ext cx="3283505" cy="338554"/>
            <a:chOff x="8384974" y="3088195"/>
            <a:chExt cx="3283505" cy="33855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BFB8032-8CB1-8B47-8DB3-A13F38C71DEA}"/>
                </a:ext>
              </a:extLst>
            </p:cNvPr>
            <p:cNvSpPr txBox="1"/>
            <p:nvPr/>
          </p:nvSpPr>
          <p:spPr>
            <a:xfrm>
              <a:off x="10515599" y="3088195"/>
              <a:ext cx="1152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Bag object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8860DEA-EBA6-0446-B581-A78820BE1FFC}"/>
                </a:ext>
              </a:extLst>
            </p:cNvPr>
            <p:cNvCxnSpPr>
              <a:stCxn id="43" idx="1"/>
              <a:endCxn id="44" idx="3"/>
            </p:cNvCxnSpPr>
            <p:nvPr/>
          </p:nvCxnSpPr>
          <p:spPr>
            <a:xfrm flipH="1" flipV="1">
              <a:off x="8384974" y="3169157"/>
              <a:ext cx="2130625" cy="88315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 descr="highlighting a reference to a DirectedEdge object representing a single weighted directed edge">
            <a:extLst>
              <a:ext uri="{FF2B5EF4-FFF2-40B4-BE49-F238E27FC236}">
                <a16:creationId xmlns:a16="http://schemas.microsoft.com/office/drawing/2014/main" id="{E826B6F3-4DED-7E46-BE7A-EF0007C4AB40}"/>
              </a:ext>
            </a:extLst>
          </p:cNvPr>
          <p:cNvGrpSpPr/>
          <p:nvPr/>
        </p:nvGrpSpPr>
        <p:grpSpPr>
          <a:xfrm>
            <a:off x="7599668" y="3833734"/>
            <a:ext cx="4220659" cy="706593"/>
            <a:chOff x="7722072" y="3252823"/>
            <a:chExt cx="4220659" cy="706593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33A69B9F-5292-534E-B71F-71F02A76D276}"/>
                </a:ext>
              </a:extLst>
            </p:cNvPr>
            <p:cNvSpPr txBox="1"/>
            <p:nvPr/>
          </p:nvSpPr>
          <p:spPr>
            <a:xfrm>
              <a:off x="9913008" y="3252823"/>
              <a:ext cx="20297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Reference to a</a:t>
              </a:r>
            </a:p>
            <a:p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DirectedEdge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object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10F50255-393E-4F45-B959-9AC8DB31419F}"/>
                </a:ext>
              </a:extLst>
            </p:cNvPr>
            <p:cNvCxnSpPr>
              <a:cxnSpLocks/>
              <a:stCxn id="154" idx="1"/>
              <a:endCxn id="57" idx="3"/>
            </p:cNvCxnSpPr>
            <p:nvPr/>
          </p:nvCxnSpPr>
          <p:spPr>
            <a:xfrm flipH="1">
              <a:off x="7722072" y="3545211"/>
              <a:ext cx="2190936" cy="414205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948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</a:t>
            </a:r>
            <a:r>
              <a:rPr lang="en-US" dirty="0" err="1"/>
              <a:t>DIgraph</a:t>
            </a:r>
            <a:r>
              <a:rPr lang="en-US" dirty="0"/>
              <a:t>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DirectedEdge</a:t>
            </a:r>
            <a:r>
              <a:rPr lang="en-US" dirty="0"/>
              <a:t> representation</a:t>
            </a:r>
          </a:p>
        </p:txBody>
      </p:sp>
      <p:sp>
        <p:nvSpPr>
          <p:cNvPr id="5" name="TextBox 4" descr="pseudocode for class directededge">
            <a:extLst>
              <a:ext uri="{FF2B5EF4-FFF2-40B4-BE49-F238E27FC236}">
                <a16:creationId xmlns:a16="http://schemas.microsoft.com/office/drawing/2014/main" id="{7DBAE77A-8A4E-D74D-A979-493463B0579F}"/>
              </a:ext>
            </a:extLst>
          </p:cNvPr>
          <p:cNvSpPr txBox="1"/>
          <p:nvPr/>
        </p:nvSpPr>
        <p:spPr>
          <a:xfrm>
            <a:off x="1037114" y="2287057"/>
            <a:ext cx="4751622" cy="378565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DirectedEdge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v, w, weight):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= v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self.w</a:t>
            </a:r>
            <a:r>
              <a:rPr lang="en-US" sz="1600" dirty="0">
                <a:latin typeface="Courier" pitchFamily="2" charset="0"/>
              </a:rPr>
              <a:t> = w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self.weight</a:t>
            </a:r>
            <a:r>
              <a:rPr lang="en-US" sz="1600" dirty="0">
                <a:latin typeface="Courier" pitchFamily="2" charset="0"/>
              </a:rPr>
              <a:t> = weight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from(self):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self.v</a:t>
            </a:r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to(self):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self.w</a:t>
            </a:r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weight(self):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self.weight</a:t>
            </a:r>
            <a:endParaRPr lang="en-US" sz="1600" dirty="0">
              <a:latin typeface="Courier" pitchFamily="2" charset="0"/>
            </a:endParaRPr>
          </a:p>
        </p:txBody>
      </p:sp>
      <p:grpSp>
        <p:nvGrpSpPr>
          <p:cNvPr id="20" name="Group 19" descr="graphical representation of a weighted edge">
            <a:extLst>
              <a:ext uri="{FF2B5EF4-FFF2-40B4-BE49-F238E27FC236}">
                <a16:creationId xmlns:a16="http://schemas.microsoft.com/office/drawing/2014/main" id="{BB8E929E-59F5-ED4E-B5F1-FCE2FEBC7EC7}"/>
              </a:ext>
            </a:extLst>
          </p:cNvPr>
          <p:cNvGrpSpPr/>
          <p:nvPr/>
        </p:nvGrpSpPr>
        <p:grpSpPr>
          <a:xfrm>
            <a:off x="6762374" y="3421582"/>
            <a:ext cx="2027665" cy="569656"/>
            <a:chOff x="6762374" y="3421582"/>
            <a:chExt cx="2027665" cy="56965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E63032-8889-324B-AA11-D4489AD7566C}"/>
                </a:ext>
              </a:extLst>
            </p:cNvPr>
            <p:cNvSpPr txBox="1"/>
            <p:nvPr/>
          </p:nvSpPr>
          <p:spPr>
            <a:xfrm>
              <a:off x="7422906" y="342158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weight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5BB7D7-4945-324A-9BFC-51CC27216188}"/>
                </a:ext>
              </a:extLst>
            </p:cNvPr>
            <p:cNvSpPr/>
            <p:nvPr/>
          </p:nvSpPr>
          <p:spPr>
            <a:xfrm>
              <a:off x="6762374" y="3627953"/>
              <a:ext cx="389330" cy="36328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B96F7BB-4A1B-2F4D-9513-D8823E7CB62C}"/>
                </a:ext>
              </a:extLst>
            </p:cNvPr>
            <p:cNvSpPr/>
            <p:nvPr/>
          </p:nvSpPr>
          <p:spPr>
            <a:xfrm>
              <a:off x="8400709" y="3627953"/>
              <a:ext cx="389330" cy="36328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F3135D4-1615-A64B-BFCB-6E4E6725950B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7151704" y="3809596"/>
              <a:ext cx="1249005" cy="0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 descr="highlighting methds to access end points">
            <a:extLst>
              <a:ext uri="{FF2B5EF4-FFF2-40B4-BE49-F238E27FC236}">
                <a16:creationId xmlns:a16="http://schemas.microsoft.com/office/drawing/2014/main" id="{842F9F1E-7119-6A4A-A322-1EB7B6D24E27}"/>
              </a:ext>
            </a:extLst>
          </p:cNvPr>
          <p:cNvGrpSpPr/>
          <p:nvPr/>
        </p:nvGrpSpPr>
        <p:grpSpPr>
          <a:xfrm>
            <a:off x="3406877" y="4233333"/>
            <a:ext cx="7285054" cy="1099123"/>
            <a:chOff x="3406877" y="4233333"/>
            <a:chExt cx="7285054" cy="1099123"/>
          </a:xfrm>
        </p:grpSpPr>
        <p:grpSp>
          <p:nvGrpSpPr>
            <p:cNvPr id="21" name="Group 20" descr="highlighting methds to access end points">
              <a:extLst>
                <a:ext uri="{FF2B5EF4-FFF2-40B4-BE49-F238E27FC236}">
                  <a16:creationId xmlns:a16="http://schemas.microsoft.com/office/drawing/2014/main" id="{F68CC9DE-C264-2C40-84C1-094F0226FC22}"/>
                </a:ext>
              </a:extLst>
            </p:cNvPr>
            <p:cNvGrpSpPr/>
            <p:nvPr/>
          </p:nvGrpSpPr>
          <p:grpSpPr>
            <a:xfrm>
              <a:off x="3406877" y="4233333"/>
              <a:ext cx="7285054" cy="1099123"/>
              <a:chOff x="4291781" y="5244386"/>
              <a:chExt cx="7285054" cy="109912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1FDB447-4DC2-FE4D-80BA-183AFA0DEC5A}"/>
                  </a:ext>
                </a:extLst>
              </p:cNvPr>
              <p:cNvSpPr txBox="1"/>
              <p:nvPr/>
            </p:nvSpPr>
            <p:spPr>
              <a:xfrm>
                <a:off x="7684801" y="5420179"/>
                <a:ext cx="38920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from() and to() replace </a:t>
                </a:r>
                <a:r>
                  <a:rPr lang="en-US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endPoint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 and </a:t>
                </a:r>
                <a:r>
                  <a:rPr lang="en-US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otherEndPoint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 as accessor methods for vertices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D158FD5-A4C1-AA4A-8D43-DE8C346FDEBF}"/>
                  </a:ext>
                </a:extLst>
              </p:cNvPr>
              <p:cNvCxnSpPr>
                <a:cxnSpLocks/>
                <a:stCxn id="22" idx="1"/>
              </p:cNvCxnSpPr>
              <p:nvPr/>
            </p:nvCxnSpPr>
            <p:spPr>
              <a:xfrm flipH="1" flipV="1">
                <a:off x="4291781" y="5244386"/>
                <a:ext cx="3393020" cy="637458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3BA90B3-491D-B845-8000-68413C8F94D3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3406877" y="4870791"/>
              <a:ext cx="3393020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638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2B18-0715-BF40-B42B-92864D26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digraph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06C13-949A-C24D-B977-EE3C7C7E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Edge-Weighted digraph representation</a:t>
            </a:r>
          </a:p>
        </p:txBody>
      </p:sp>
      <p:sp>
        <p:nvSpPr>
          <p:cNvPr id="5" name="TextBox 4" descr="pseudocode for class EdgeWeightedDigraph">
            <a:extLst>
              <a:ext uri="{FF2B5EF4-FFF2-40B4-BE49-F238E27FC236}">
                <a16:creationId xmlns:a16="http://schemas.microsoft.com/office/drawing/2014/main" id="{7DBAE77A-8A4E-D74D-A979-493463B0579F}"/>
              </a:ext>
            </a:extLst>
          </p:cNvPr>
          <p:cNvSpPr txBox="1"/>
          <p:nvPr/>
        </p:nvSpPr>
        <p:spPr>
          <a:xfrm>
            <a:off x="1022366" y="2080579"/>
            <a:ext cx="4381328" cy="353943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EdgeWeightedDigraph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= V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 = []</a:t>
            </a:r>
          </a:p>
          <a:p>
            <a:r>
              <a:rPr lang="en-US" sz="1600" dirty="0">
                <a:latin typeface="Courier" pitchFamily="2" charset="0"/>
              </a:rPr>
              <a:t>        for _ in range (0,V):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self.adj.append</a:t>
            </a:r>
            <a:r>
              <a:rPr lang="en-US" sz="1600" dirty="0">
                <a:latin typeface="Courier" pitchFamily="2" charset="0"/>
              </a:rPr>
              <a:t>(Bag())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addEdge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(self, e):</a:t>
            </a:r>
          </a:p>
          <a:p>
            <a:r>
              <a:rPr lang="en-US" sz="1600" dirty="0">
                <a:latin typeface="Courier" pitchFamily="2" charset="0"/>
              </a:rPr>
              <a:t>        v = </a:t>
            </a:r>
            <a:r>
              <a:rPr lang="en-US" sz="1600" dirty="0" err="1">
                <a:latin typeface="Courier" pitchFamily="2" charset="0"/>
              </a:rPr>
              <a:t>e.from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[v].add(e)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adj (self, v):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</a:t>
            </a:r>
          </a:p>
        </p:txBody>
      </p:sp>
      <p:grpSp>
        <p:nvGrpSpPr>
          <p:cNvPr id="11" name="Group 10" descr="hghlighting method to add an edge to the digraph">
            <a:extLst>
              <a:ext uri="{FF2B5EF4-FFF2-40B4-BE49-F238E27FC236}">
                <a16:creationId xmlns:a16="http://schemas.microsoft.com/office/drawing/2014/main" id="{D147DE34-2229-FD48-B92B-B166CFFE8F7F}"/>
              </a:ext>
            </a:extLst>
          </p:cNvPr>
          <p:cNvGrpSpPr/>
          <p:nvPr/>
        </p:nvGrpSpPr>
        <p:grpSpPr>
          <a:xfrm>
            <a:off x="4271998" y="3951892"/>
            <a:ext cx="5684207" cy="646331"/>
            <a:chOff x="5663821" y="5475190"/>
            <a:chExt cx="5684207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3E4851F-92D3-F945-A289-50668BE13C78}"/>
                </a:ext>
              </a:extLst>
            </p:cNvPr>
            <p:cNvSpPr txBox="1"/>
            <p:nvPr/>
          </p:nvSpPr>
          <p:spPr>
            <a:xfrm>
              <a:off x="8393373" y="5475190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 a reference to edge to</a:t>
              </a:r>
            </a:p>
            <a:p>
              <a:r>
                <a: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’s adjacency list only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717A5EC-BAFD-D84D-8895-269662E7B4AD}"/>
                </a:ext>
              </a:extLst>
            </p:cNvPr>
            <p:cNvCxnSpPr/>
            <p:nvPr/>
          </p:nvCxnSpPr>
          <p:spPr>
            <a:xfrm flipH="1">
              <a:off x="5663821" y="5680747"/>
              <a:ext cx="2729552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8742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D78F-69DF-E440-8818-61D59AF6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422A-3B2F-5B43-B31F-A7628521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Goal</a:t>
            </a:r>
            <a:r>
              <a:rPr lang="en-US" dirty="0"/>
              <a:t>. Find the shortest paths from </a:t>
            </a:r>
            <a:r>
              <a:rPr lang="en-US" i="1" dirty="0"/>
              <a:t>s</a:t>
            </a:r>
            <a:r>
              <a:rPr lang="en-US" dirty="0"/>
              <a:t> to every other vertex in V</a:t>
            </a:r>
          </a:p>
        </p:txBody>
      </p:sp>
      <p:sp>
        <p:nvSpPr>
          <p:cNvPr id="4" name="TextBox 3" descr="pseudocode for class ShortestPath">
            <a:extLst>
              <a:ext uri="{FF2B5EF4-FFF2-40B4-BE49-F238E27FC236}">
                <a16:creationId xmlns:a16="http://schemas.microsoft.com/office/drawing/2014/main" id="{8B60E63B-001A-4B44-B723-D235D205E580}"/>
              </a:ext>
            </a:extLst>
          </p:cNvPr>
          <p:cNvSpPr txBox="1"/>
          <p:nvPr/>
        </p:nvSpPr>
        <p:spPr>
          <a:xfrm>
            <a:off x="920516" y="2521059"/>
            <a:ext cx="4011034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ShortestPath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G, s): …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(self, v): …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pathTo</a:t>
            </a:r>
            <a:r>
              <a:rPr lang="en-US" sz="1600" dirty="0">
                <a:latin typeface="Courier" pitchFamily="2" charset="0"/>
              </a:rPr>
              <a:t>(self, v): …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pSp>
        <p:nvGrpSpPr>
          <p:cNvPr id="20" name="Group 19" descr="highlighting methods to implement the ShortestPath API">
            <a:extLst>
              <a:ext uri="{FF2B5EF4-FFF2-40B4-BE49-F238E27FC236}">
                <a16:creationId xmlns:a16="http://schemas.microsoft.com/office/drawing/2014/main" id="{FE3C5BF3-FEA3-374E-9B5F-29C0FE50B4A2}"/>
              </a:ext>
            </a:extLst>
          </p:cNvPr>
          <p:cNvGrpSpPr/>
          <p:nvPr/>
        </p:nvGrpSpPr>
        <p:grpSpPr>
          <a:xfrm>
            <a:off x="4969896" y="3026447"/>
            <a:ext cx="6037609" cy="1851183"/>
            <a:chOff x="4190963" y="3026447"/>
            <a:chExt cx="6037609" cy="1851183"/>
          </a:xfrm>
        </p:grpSpPr>
        <p:grpSp>
          <p:nvGrpSpPr>
            <p:cNvPr id="5" name="Group 4" descr="hghlighting methd to add an edge to the graph">
              <a:extLst>
                <a:ext uri="{FF2B5EF4-FFF2-40B4-BE49-F238E27FC236}">
                  <a16:creationId xmlns:a16="http://schemas.microsoft.com/office/drawing/2014/main" id="{7F89FF27-02CA-7746-B87E-E7B5BAFD822B}"/>
                </a:ext>
              </a:extLst>
            </p:cNvPr>
            <p:cNvGrpSpPr/>
            <p:nvPr/>
          </p:nvGrpSpPr>
          <p:grpSpPr>
            <a:xfrm>
              <a:off x="4190964" y="3774734"/>
              <a:ext cx="5268166" cy="369332"/>
              <a:chOff x="5663822" y="5490577"/>
              <a:chExt cx="5268166" cy="36933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75FE09-2E95-2D4F-8A68-C76931A635F6}"/>
                  </a:ext>
                </a:extLst>
              </p:cNvPr>
              <p:cNvSpPr txBox="1"/>
              <p:nvPr/>
            </p:nvSpPr>
            <p:spPr>
              <a:xfrm>
                <a:off x="7246364" y="5490577"/>
                <a:ext cx="36856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length of shortest path from </a:t>
                </a:r>
                <a:r>
                  <a:rPr lang="en-US" i="1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en-US" i="1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5F808594-3F28-534E-9F83-E5FC152E8D97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flipH="1">
                <a:off x="5663822" y="5675243"/>
                <a:ext cx="1582542" cy="5504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 descr="hghlighting methd to add an edge to the graph">
              <a:extLst>
                <a:ext uri="{FF2B5EF4-FFF2-40B4-BE49-F238E27FC236}">
                  <a16:creationId xmlns:a16="http://schemas.microsoft.com/office/drawing/2014/main" id="{62F6605E-9242-864B-94E8-6B0277985341}"/>
                </a:ext>
              </a:extLst>
            </p:cNvPr>
            <p:cNvGrpSpPr/>
            <p:nvPr/>
          </p:nvGrpSpPr>
          <p:grpSpPr>
            <a:xfrm>
              <a:off x="4190963" y="4508298"/>
              <a:ext cx="4242245" cy="369332"/>
              <a:chOff x="5663821" y="5465073"/>
              <a:chExt cx="4242245" cy="36933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116CCB-6B44-8B47-B10A-0F903A811BAE}"/>
                  </a:ext>
                </a:extLst>
              </p:cNvPr>
              <p:cNvSpPr txBox="1"/>
              <p:nvPr/>
            </p:nvSpPr>
            <p:spPr>
              <a:xfrm>
                <a:off x="7246364" y="5465073"/>
                <a:ext cx="26597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shortest path from </a:t>
                </a:r>
                <a:r>
                  <a:rPr lang="en-US" i="1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</a:t>
                </a:r>
                <a:r>
                  <a:rPr lang="en-US" i="1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6B7E64F-61EA-0741-8D3E-A11CCF6493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3821" y="5680747"/>
                <a:ext cx="1582544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 descr="hghlighting methd to add an edge to the graph">
              <a:extLst>
                <a:ext uri="{FF2B5EF4-FFF2-40B4-BE49-F238E27FC236}">
                  <a16:creationId xmlns:a16="http://schemas.microsoft.com/office/drawing/2014/main" id="{C00E5C90-45BC-C94F-827D-34319ED8A053}"/>
                </a:ext>
              </a:extLst>
            </p:cNvPr>
            <p:cNvGrpSpPr/>
            <p:nvPr/>
          </p:nvGrpSpPr>
          <p:grpSpPr>
            <a:xfrm>
              <a:off x="4190963" y="3026447"/>
              <a:ext cx="6037609" cy="369332"/>
              <a:chOff x="5663821" y="5481713"/>
              <a:chExt cx="6037609" cy="36933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0453D5-8998-234E-B0DF-628865B85093}"/>
                  </a:ext>
                </a:extLst>
              </p:cNvPr>
              <p:cNvSpPr txBox="1"/>
              <p:nvPr/>
            </p:nvSpPr>
            <p:spPr>
              <a:xfrm>
                <a:off x="7246364" y="5481713"/>
                <a:ext cx="44550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computation of shortest paths from </a:t>
                </a:r>
                <a:r>
                  <a:rPr lang="en-US" i="1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G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86F724E-AFF6-F546-832B-2C7A8FF253BE}"/>
                  </a:ext>
                </a:extLst>
              </p:cNvPr>
              <p:cNvCxnSpPr>
                <a:cxnSpLocks/>
                <a:stCxn id="12" idx="1"/>
              </p:cNvCxnSpPr>
              <p:nvPr/>
            </p:nvCxnSpPr>
            <p:spPr>
              <a:xfrm flipH="1">
                <a:off x="5663821" y="5666379"/>
                <a:ext cx="1582543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90324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Observation</a:t>
            </a:r>
            <a:r>
              <a:rPr lang="en-US" dirty="0"/>
              <a:t>. Shortest paths from a single-source </a:t>
            </a:r>
            <a:r>
              <a:rPr lang="en-US" i="1" dirty="0"/>
              <a:t>s</a:t>
            </a:r>
            <a:r>
              <a:rPr lang="en-US" dirty="0"/>
              <a:t> to V form a tree</a:t>
            </a:r>
          </a:p>
          <a:p>
            <a:r>
              <a:rPr lang="en-US" dirty="0">
                <a:highlight>
                  <a:srgbClr val="C0C0C0"/>
                </a:highlight>
              </a:rPr>
              <a:t>Representation</a:t>
            </a:r>
            <a:r>
              <a:rPr lang="en-US" dirty="0"/>
              <a:t>. A shortest-paths tree (SPT) can be represented with two vertex-indexed arrays:</a:t>
            </a: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length of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</a:p>
          <a:p>
            <a:pPr lvl="1"/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last edge on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15166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Observation</a:t>
            </a:r>
            <a:r>
              <a:rPr lang="en-US" dirty="0"/>
              <a:t>. Shortest paths from a single-source </a:t>
            </a:r>
            <a:r>
              <a:rPr lang="en-US" i="1" dirty="0"/>
              <a:t>s</a:t>
            </a:r>
            <a:r>
              <a:rPr lang="en-US" dirty="0"/>
              <a:t> to V form a tree</a:t>
            </a:r>
          </a:p>
          <a:p>
            <a:r>
              <a:rPr lang="en-US" dirty="0">
                <a:highlight>
                  <a:srgbClr val="C0C0C0"/>
                </a:highlight>
              </a:rPr>
              <a:t>Representation</a:t>
            </a:r>
            <a:r>
              <a:rPr lang="en-US" dirty="0"/>
              <a:t>. A shortest-paths tree (SPT) can be represented with two vertex-indexed arrays:</a:t>
            </a: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length of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</a:p>
          <a:p>
            <a:pPr lvl="1"/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last edge on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</a:p>
        </p:txBody>
      </p:sp>
      <p:grpSp>
        <p:nvGrpSpPr>
          <p:cNvPr id="4" name="Group 3" descr="weighted digraph with SPT(o) highlighted">
            <a:extLst>
              <a:ext uri="{FF2B5EF4-FFF2-40B4-BE49-F238E27FC236}">
                <a16:creationId xmlns:a16="http://schemas.microsoft.com/office/drawing/2014/main" id="{B7060682-60B8-E545-9909-98F2DAA8447E}"/>
              </a:ext>
            </a:extLst>
          </p:cNvPr>
          <p:cNvGrpSpPr>
            <a:grpSpLocks noChangeAspect="1"/>
          </p:cNvGrpSpPr>
          <p:nvPr/>
        </p:nvGrpSpPr>
        <p:grpSpPr>
          <a:xfrm>
            <a:off x="1168011" y="3991813"/>
            <a:ext cx="4072618" cy="2275477"/>
            <a:chOff x="544362" y="2390779"/>
            <a:chExt cx="5336029" cy="2981378"/>
          </a:xfrm>
        </p:grpSpPr>
        <p:grpSp>
          <p:nvGrpSpPr>
            <p:cNvPr id="5" name="Group 4" descr="adding weights to a digraph">
              <a:extLst>
                <a:ext uri="{FF2B5EF4-FFF2-40B4-BE49-F238E27FC236}">
                  <a16:creationId xmlns:a16="http://schemas.microsoft.com/office/drawing/2014/main" id="{DD27617F-B7BD-3741-A9E5-0076A02A88F2}"/>
                </a:ext>
              </a:extLst>
            </p:cNvPr>
            <p:cNvGrpSpPr/>
            <p:nvPr/>
          </p:nvGrpSpPr>
          <p:grpSpPr>
            <a:xfrm>
              <a:off x="544362" y="2390779"/>
              <a:ext cx="5336029" cy="2981378"/>
              <a:chOff x="543624" y="2385969"/>
              <a:chExt cx="5336029" cy="2981378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E9CE7D-84DE-B34D-9D05-A80EF1CC0B3D}"/>
                  </a:ext>
                </a:extLst>
              </p:cNvPr>
              <p:cNvSpPr txBox="1"/>
              <p:nvPr/>
            </p:nvSpPr>
            <p:spPr>
              <a:xfrm>
                <a:off x="1489576" y="2605031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0.32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FEBB729-648D-4149-B7B5-848091FD1D42}"/>
                  </a:ext>
                </a:extLst>
              </p:cNvPr>
              <p:cNvSpPr txBox="1"/>
              <p:nvPr/>
            </p:nvSpPr>
            <p:spPr>
              <a:xfrm>
                <a:off x="3527828" y="2385969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0.29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5074C7-B119-2A41-9461-FEE698252E3D}"/>
                  </a:ext>
                </a:extLst>
              </p:cNvPr>
              <p:cNvSpPr txBox="1"/>
              <p:nvPr/>
            </p:nvSpPr>
            <p:spPr>
              <a:xfrm>
                <a:off x="1918574" y="3283088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27EE11-16DE-304B-B32C-5C13FBD6FA60}"/>
                  </a:ext>
                </a:extLst>
              </p:cNvPr>
              <p:cNvSpPr txBox="1"/>
              <p:nvPr/>
            </p:nvSpPr>
            <p:spPr>
              <a:xfrm>
                <a:off x="1188764" y="4040702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0.35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D49CE36-BDB2-E545-A4F1-2B39D9A1958C}"/>
                  </a:ext>
                </a:extLst>
              </p:cNvPr>
              <p:cNvSpPr txBox="1"/>
              <p:nvPr/>
            </p:nvSpPr>
            <p:spPr>
              <a:xfrm>
                <a:off x="2049255" y="4154553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0.37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EB3BE29-9285-854C-BCE6-B6244BCA842F}"/>
                  </a:ext>
                </a:extLst>
              </p:cNvPr>
              <p:cNvSpPr txBox="1"/>
              <p:nvPr/>
            </p:nvSpPr>
            <p:spPr>
              <a:xfrm>
                <a:off x="3803051" y="3392964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0.34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F3B808-9A28-534E-9885-03C97C5BE336}"/>
                  </a:ext>
                </a:extLst>
              </p:cNvPr>
              <p:cNvSpPr txBox="1"/>
              <p:nvPr/>
            </p:nvSpPr>
            <p:spPr>
              <a:xfrm>
                <a:off x="2701485" y="4501777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0.38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BCD47C-D753-D54D-846C-60B950D04466}"/>
                  </a:ext>
                </a:extLst>
              </p:cNvPr>
              <p:cNvSpPr txBox="1"/>
              <p:nvPr/>
            </p:nvSpPr>
            <p:spPr>
              <a:xfrm>
                <a:off x="4119090" y="4427312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0.58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2D9B98-0C87-8048-970C-768D517ECF9A}"/>
                  </a:ext>
                </a:extLst>
              </p:cNvPr>
              <p:cNvSpPr txBox="1"/>
              <p:nvPr/>
            </p:nvSpPr>
            <p:spPr>
              <a:xfrm>
                <a:off x="4810724" y="4295616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0.40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E9A2C9-AAAC-2343-A488-4F4F692CB638}"/>
                  </a:ext>
                </a:extLst>
              </p:cNvPr>
              <p:cNvSpPr txBox="1"/>
              <p:nvPr/>
            </p:nvSpPr>
            <p:spPr>
              <a:xfrm>
                <a:off x="5347135" y="3450934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86988BE-2A67-664F-9A66-9A6D4FC75602}"/>
                  </a:ext>
                </a:extLst>
              </p:cNvPr>
              <p:cNvSpPr txBox="1"/>
              <p:nvPr/>
            </p:nvSpPr>
            <p:spPr>
              <a:xfrm>
                <a:off x="3542258" y="2927098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0.39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BFBC2D-FA79-E34E-A708-1B31B9C40379}"/>
                  </a:ext>
                </a:extLst>
              </p:cNvPr>
              <p:cNvSpPr txBox="1"/>
              <p:nvPr/>
            </p:nvSpPr>
            <p:spPr>
              <a:xfrm>
                <a:off x="3899626" y="3811140"/>
                <a:ext cx="532518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0.26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0C35B0-CF49-7B49-9434-C537CD277BEF}"/>
                  </a:ext>
                </a:extLst>
              </p:cNvPr>
              <p:cNvSpPr txBox="1"/>
              <p:nvPr/>
            </p:nvSpPr>
            <p:spPr>
              <a:xfrm>
                <a:off x="2839847" y="5059570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0.93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F36B06-684C-234B-B850-AFC48BEBD68A}"/>
                  </a:ext>
                </a:extLst>
              </p:cNvPr>
              <p:cNvSpPr txBox="1"/>
              <p:nvPr/>
            </p:nvSpPr>
            <p:spPr>
              <a:xfrm>
                <a:off x="543624" y="4075188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0.35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763373-6D54-C34D-B379-8C810FBE2E70}"/>
                  </a:ext>
                </a:extLst>
              </p:cNvPr>
              <p:cNvSpPr txBox="1"/>
              <p:nvPr/>
            </p:nvSpPr>
            <p:spPr>
              <a:xfrm>
                <a:off x="1880184" y="3683685"/>
                <a:ext cx="5325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0.28</a:t>
                </a:r>
              </a:p>
            </p:txBody>
          </p:sp>
        </p:grpSp>
        <p:grpSp>
          <p:nvGrpSpPr>
            <p:cNvPr id="6" name="Group 5" descr="example digraph">
              <a:extLst>
                <a:ext uri="{FF2B5EF4-FFF2-40B4-BE49-F238E27FC236}">
                  <a16:creationId xmlns:a16="http://schemas.microsoft.com/office/drawing/2014/main" id="{50E5D754-2B79-0F47-B1EC-54F09D41901E}"/>
                </a:ext>
              </a:extLst>
            </p:cNvPr>
            <p:cNvGrpSpPr/>
            <p:nvPr/>
          </p:nvGrpSpPr>
          <p:grpSpPr>
            <a:xfrm>
              <a:off x="922374" y="2473260"/>
              <a:ext cx="4917456" cy="2727596"/>
              <a:chOff x="922374" y="2473260"/>
              <a:chExt cx="4917456" cy="272759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6AB5CA2-76DC-1B40-83FF-A8C4AF439AEB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D0BAA5D-1C98-E243-B55E-69A23DADED8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C524ECB-777D-E744-91C3-0A5DC76F9361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A218F43-7F9C-A14D-A2C5-F106A71CCFF6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18A310D-1CA8-B743-9BF3-291BABBE329D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0615E66-200F-6F4A-97C9-5423621050C1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C2274B4-6204-BD4E-925E-3AA1BC01F2AB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A16D5C8-8393-DD41-B1CB-A660262F4E0D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742E587-3288-2A4E-8C66-B553D6E5C2DD}"/>
                  </a:ext>
                </a:extLst>
              </p:cNvPr>
              <p:cNvCxnSpPr>
                <a:stCxn id="7" idx="0"/>
                <a:endCxn id="9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064416F-854D-E748-961E-21F24E6854D8}"/>
                  </a:ext>
                </a:extLst>
              </p:cNvPr>
              <p:cNvCxnSpPr>
                <a:cxnSpLocks/>
                <a:stCxn id="7" idx="6"/>
                <a:endCxn id="10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18B89B0-6FCA-9D41-84FD-1C2E2F2B931C}"/>
                  </a:ext>
                </a:extLst>
              </p:cNvPr>
              <p:cNvCxnSpPr>
                <a:cxnSpLocks/>
                <a:stCxn id="7" idx="4"/>
                <a:endCxn id="8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90FD6AE-3237-D84E-8894-7971D680A9CA}"/>
                  </a:ext>
                </a:extLst>
              </p:cNvPr>
              <p:cNvCxnSpPr>
                <a:cxnSpLocks/>
                <a:stCxn id="9" idx="6"/>
                <a:endCxn id="11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937B3C53-61C1-624B-AD89-F4E0227FFC53}"/>
                  </a:ext>
                </a:extLst>
              </p:cNvPr>
              <p:cNvCxnSpPr>
                <a:cxnSpLocks/>
                <a:stCxn id="11" idx="6"/>
                <a:endCxn id="14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3366185E-1D89-0349-BD82-94B757709B2F}"/>
                  </a:ext>
                </a:extLst>
              </p:cNvPr>
              <p:cNvCxnSpPr>
                <a:cxnSpLocks/>
                <a:stCxn id="12" idx="1"/>
                <a:endCxn id="10" idx="6"/>
              </p:cNvCxnSpPr>
              <p:nvPr/>
            </p:nvCxnSpPr>
            <p:spPr>
              <a:xfrm flipH="1">
                <a:off x="3013440" y="3728805"/>
                <a:ext cx="1860838" cy="214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00D2C633-C77E-EC4A-B676-9A8AAE0DDC5C}"/>
                  </a:ext>
                </a:extLst>
              </p:cNvPr>
              <p:cNvCxnSpPr>
                <a:cxnSpLocks/>
                <a:stCxn id="8" idx="7"/>
                <a:endCxn id="7" idx="5"/>
              </p:cNvCxnSpPr>
              <p:nvPr/>
            </p:nvCxnSpPr>
            <p:spPr>
              <a:xfrm flipV="1">
                <a:off x="1218716" y="3713825"/>
                <a:ext cx="0" cy="99969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8D009E9-A9E3-EE41-B3F0-65589CCFF437}"/>
                  </a:ext>
                </a:extLst>
              </p:cNvPr>
              <p:cNvCxnSpPr>
                <a:cxnSpLocks/>
                <a:stCxn id="8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A0785E25-FF32-DA4D-A25F-9BBCA645A43A}"/>
                  </a:ext>
                </a:extLst>
              </p:cNvPr>
              <p:cNvCxnSpPr>
                <a:cxnSpLocks/>
                <a:stCxn id="14" idx="1"/>
                <a:endCxn id="12" idx="5"/>
              </p:cNvCxnSpPr>
              <p:nvPr/>
            </p:nvCxnSpPr>
            <p:spPr>
              <a:xfrm flipH="1" flipV="1"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5A451B7-2D98-874D-B8E3-35E9E5DA3DFA}"/>
                  </a:ext>
                </a:extLst>
              </p:cNvPr>
              <p:cNvCxnSpPr>
                <a:cxnSpLocks/>
                <a:stCxn id="14" idx="2"/>
                <a:endCxn id="13" idx="5"/>
              </p:cNvCxnSpPr>
              <p:nvPr/>
            </p:nvCxnSpPr>
            <p:spPr>
              <a:xfrm flipH="1" flipV="1"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440ECF2-BA0C-ED4C-93AE-245498274F02}"/>
                  </a:ext>
                </a:extLst>
              </p:cNvPr>
              <p:cNvCxnSpPr>
                <a:cxnSpLocks/>
                <a:stCxn id="14" idx="3"/>
                <a:endCxn id="8" idx="4"/>
              </p:cNvCxnSpPr>
              <p:nvPr/>
            </p:nvCxnSpPr>
            <p:spPr>
              <a:xfrm flipH="1" flipV="1">
                <a:off x="1095967" y="5020834"/>
                <a:ext cx="4447521" cy="127295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78AD9D4-997C-A048-A069-78D28AA8727C}"/>
                  </a:ext>
                </a:extLst>
              </p:cNvPr>
              <p:cNvCxnSpPr>
                <a:cxnSpLocks/>
                <a:stCxn id="13" idx="7"/>
                <a:endCxn id="12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F28B4CA-71A2-F142-BDCC-6B71C5584C66}"/>
                  </a:ext>
                </a:extLst>
              </p:cNvPr>
              <p:cNvCxnSpPr>
                <a:cxnSpLocks/>
                <a:stCxn id="10" idx="2"/>
                <a:endCxn id="7" idx="5"/>
              </p:cNvCxnSpPr>
              <p:nvPr/>
            </p:nvCxnSpPr>
            <p:spPr>
              <a:xfrm flipH="1" flipV="1">
                <a:off x="1218716" y="3713825"/>
                <a:ext cx="1447538" cy="3644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B957EF8-C143-2847-8A43-1DD2E10A96A0}"/>
                  </a:ext>
                </a:extLst>
              </p:cNvPr>
              <p:cNvCxnSpPr>
                <a:cxnSpLocks/>
                <a:stCxn id="10" idx="7"/>
                <a:endCxn id="11" idx="3"/>
              </p:cNvCxnSpPr>
              <p:nvPr/>
            </p:nvCxnSpPr>
            <p:spPr>
              <a:xfrm flipV="1">
                <a:off x="2962596" y="2957390"/>
                <a:ext cx="1934662" cy="66557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260B6FC-1124-A64C-A2B7-1363B5E7CB84}"/>
                  </a:ext>
                </a:extLst>
              </p:cNvPr>
              <p:cNvCxnSpPr>
                <a:cxnSpLocks/>
                <a:stCxn id="13" idx="2"/>
                <a:endCxn id="8" idx="6"/>
              </p:cNvCxnSpPr>
              <p:nvPr/>
            </p:nvCxnSpPr>
            <p:spPr>
              <a:xfrm flipH="1">
                <a:off x="1269560" y="4434723"/>
                <a:ext cx="2298364" cy="40608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45" name="Table 44" descr="vertex-indexed arrays representing the SPT">
            <a:extLst>
              <a:ext uri="{FF2B5EF4-FFF2-40B4-BE49-F238E27FC236}">
                <a16:creationId xmlns:a16="http://schemas.microsoft.com/office/drawing/2014/main" id="{575982E2-9BC7-EA4D-B246-127A84471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332111"/>
              </p:ext>
            </p:extLst>
          </p:nvPr>
        </p:nvGraphicFramePr>
        <p:xfrm>
          <a:off x="6684772" y="3739520"/>
          <a:ext cx="3479847" cy="2300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07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1504335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  <a:gridCol w="1384705">
                  <a:extLst>
                    <a:ext uri="{9D8B030D-6E8A-4147-A177-3AD203B41FA5}">
                      <a16:colId xmlns:a16="http://schemas.microsoft.com/office/drawing/2014/main" val="413675159"/>
                    </a:ext>
                  </a:extLst>
                </a:gridCol>
              </a:tblGrid>
              <a:tr h="38228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24798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59402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138245"/>
                  </a:ext>
                </a:extLst>
              </a:tr>
            </a:tbl>
          </a:graphicData>
        </a:graphic>
      </p:graphicFrame>
      <p:grpSp>
        <p:nvGrpSpPr>
          <p:cNvPr id="52" name="Group 51" descr="edgeTo represents the last edge only (parent-link representation)">
            <a:extLst>
              <a:ext uri="{FF2B5EF4-FFF2-40B4-BE49-F238E27FC236}">
                <a16:creationId xmlns:a16="http://schemas.microsoft.com/office/drawing/2014/main" id="{ECB0D74B-80DC-0A43-8CD6-E01D7EE2CFEC}"/>
              </a:ext>
            </a:extLst>
          </p:cNvPr>
          <p:cNvGrpSpPr/>
          <p:nvPr/>
        </p:nvGrpSpPr>
        <p:grpSpPr>
          <a:xfrm>
            <a:off x="7585781" y="4156135"/>
            <a:ext cx="3021994" cy="2565727"/>
            <a:chOff x="6887497" y="4176019"/>
            <a:chExt cx="3021994" cy="2565727"/>
          </a:xfrm>
        </p:grpSpPr>
        <p:grpSp>
          <p:nvGrpSpPr>
            <p:cNvPr id="46" name="Group 45" descr="hghlighting methd to add an edge to the graph">
              <a:extLst>
                <a:ext uri="{FF2B5EF4-FFF2-40B4-BE49-F238E27FC236}">
                  <a16:creationId xmlns:a16="http://schemas.microsoft.com/office/drawing/2014/main" id="{FB8D5805-B609-7241-96CB-92D2E2E77120}"/>
                </a:ext>
              </a:extLst>
            </p:cNvPr>
            <p:cNvGrpSpPr/>
            <p:nvPr/>
          </p:nvGrpSpPr>
          <p:grpSpPr>
            <a:xfrm>
              <a:off x="7108724" y="5189651"/>
              <a:ext cx="2800767" cy="1552095"/>
              <a:chOff x="9160947" y="6666416"/>
              <a:chExt cx="2800767" cy="1552095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45FDB6-AE1C-E845-836C-C6455436799F}"/>
                  </a:ext>
                </a:extLst>
              </p:cNvPr>
              <p:cNvSpPr txBox="1"/>
              <p:nvPr/>
            </p:nvSpPr>
            <p:spPr>
              <a:xfrm>
                <a:off x="9160947" y="7849179"/>
                <a:ext cx="280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parent-link representation</a:t>
                </a: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D608A31D-F1D5-B34D-B511-2F19827722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778634" y="6666416"/>
                <a:ext cx="488442" cy="1230578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B9A2A48-9748-0143-A671-3DAC272B7B44}"/>
                </a:ext>
              </a:extLst>
            </p:cNvPr>
            <p:cNvSpPr/>
            <p:nvPr/>
          </p:nvSpPr>
          <p:spPr>
            <a:xfrm>
              <a:off x="6887497" y="4176019"/>
              <a:ext cx="838914" cy="1946835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1869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D78F-69DF-E440-8818-61D59AF6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F422A-3B2F-5B43-B31F-A7628521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Observation.</a:t>
            </a:r>
            <a:r>
              <a:rPr lang="en-US" dirty="0"/>
              <a:t> Shortest paths from a single-source </a:t>
            </a:r>
            <a:r>
              <a:rPr lang="en-US" i="1" dirty="0"/>
              <a:t>s</a:t>
            </a:r>
            <a:r>
              <a:rPr lang="en-US" dirty="0"/>
              <a:t> to V form a tree</a:t>
            </a:r>
          </a:p>
          <a:p>
            <a:r>
              <a:rPr lang="en-US" dirty="0">
                <a:highlight>
                  <a:srgbClr val="C0C0C0"/>
                </a:highlight>
              </a:rPr>
              <a:t>Representation.</a:t>
            </a:r>
            <a:r>
              <a:rPr lang="en-US" dirty="0"/>
              <a:t> A shortest-paths tree (SPT) can be represented with two vertex-indexed arrays:</a:t>
            </a: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length of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</a:p>
          <a:p>
            <a:pPr lvl="1"/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last edge on the shortest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</a:p>
        </p:txBody>
      </p:sp>
      <p:sp>
        <p:nvSpPr>
          <p:cNvPr id="4" name="TextBox 3" descr="pseudocode for class ShortestPath">
            <a:extLst>
              <a:ext uri="{FF2B5EF4-FFF2-40B4-BE49-F238E27FC236}">
                <a16:creationId xmlns:a16="http://schemas.microsoft.com/office/drawing/2014/main" id="{8B60E63B-001A-4B44-B723-D235D205E580}"/>
              </a:ext>
            </a:extLst>
          </p:cNvPr>
          <p:cNvSpPr txBox="1"/>
          <p:nvPr/>
        </p:nvSpPr>
        <p:spPr>
          <a:xfrm>
            <a:off x="867836" y="3913020"/>
            <a:ext cx="4011034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ShortestPath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G, s): …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(self, v): …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pathTo</a:t>
            </a:r>
            <a:r>
              <a:rPr lang="en-US" sz="1600" dirty="0">
                <a:latin typeface="Courier" pitchFamily="2" charset="0"/>
              </a:rPr>
              <a:t>(self, v): …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5" name="TextBox 14" descr="pseudocode for methods distTo and and pathTo">
            <a:extLst>
              <a:ext uri="{FF2B5EF4-FFF2-40B4-BE49-F238E27FC236}">
                <a16:creationId xmlns:a16="http://schemas.microsoft.com/office/drawing/2014/main" id="{006909C6-310B-904C-9F70-1B6F83F0AB5F}"/>
              </a:ext>
            </a:extLst>
          </p:cNvPr>
          <p:cNvSpPr txBox="1"/>
          <p:nvPr/>
        </p:nvSpPr>
        <p:spPr>
          <a:xfrm>
            <a:off x="5651909" y="3938212"/>
            <a:ext cx="4628190" cy="2800767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  def 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(self, v): </a:t>
            </a:r>
          </a:p>
          <a:p>
            <a:r>
              <a:rPr lang="en-US" sz="1600" dirty="0">
                <a:latin typeface="Courier" pitchFamily="2" charset="0"/>
              </a:rPr>
              <a:t>      return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[v]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def </a:t>
            </a:r>
            <a:r>
              <a:rPr lang="en-US" sz="1600" dirty="0" err="1">
                <a:latin typeface="Courier" pitchFamily="2" charset="0"/>
              </a:rPr>
              <a:t>pathTo</a:t>
            </a:r>
            <a:r>
              <a:rPr lang="en-US" sz="1600" dirty="0">
                <a:latin typeface="Courier" pitchFamily="2" charset="0"/>
              </a:rPr>
              <a:t>(self, v):</a:t>
            </a:r>
          </a:p>
          <a:p>
            <a:r>
              <a:rPr lang="en-US" sz="1600" dirty="0">
                <a:latin typeface="Courier" pitchFamily="2" charset="0"/>
              </a:rPr>
              <a:t>      path = Stack();</a:t>
            </a:r>
          </a:p>
          <a:p>
            <a:r>
              <a:rPr lang="en-US" sz="1600" dirty="0">
                <a:latin typeface="Courier" pitchFamily="2" charset="0"/>
              </a:rPr>
              <a:t>      e = </a:t>
            </a:r>
            <a:r>
              <a:rPr lang="en-US" sz="1600" dirty="0" err="1">
                <a:latin typeface="Courier" pitchFamily="2" charset="0"/>
              </a:rPr>
              <a:t>edgeTo</a:t>
            </a:r>
            <a:r>
              <a:rPr lang="en-US" sz="1600" dirty="0">
                <a:latin typeface="Courier" pitchFamily="2" charset="0"/>
              </a:rPr>
              <a:t>[v]</a:t>
            </a:r>
          </a:p>
          <a:p>
            <a:r>
              <a:rPr lang="en-US" sz="1600" dirty="0">
                <a:latin typeface="Courier" pitchFamily="2" charset="0"/>
              </a:rPr>
              <a:t>      while (e != null)</a:t>
            </a:r>
          </a:p>
          <a:p>
            <a:r>
              <a:rPr lang="en-US" sz="1600" dirty="0">
                <a:latin typeface="Courier" pitchFamily="2" charset="0"/>
              </a:rPr>
              <a:t>          </a:t>
            </a:r>
            <a:r>
              <a:rPr lang="en-US" sz="1600" dirty="0" err="1">
                <a:latin typeface="Courier" pitchFamily="2" charset="0"/>
              </a:rPr>
              <a:t>path.push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r>
              <a:rPr lang="en-US" sz="1600" dirty="0">
                <a:latin typeface="Courier" pitchFamily="2" charset="0"/>
              </a:rPr>
              <a:t>          e = </a:t>
            </a:r>
            <a:r>
              <a:rPr lang="en-US" sz="1600" dirty="0" err="1">
                <a:latin typeface="Courier" pitchFamily="2" charset="0"/>
              </a:rPr>
              <a:t>self.edgeTo</a:t>
            </a:r>
            <a:r>
              <a:rPr lang="en-US" sz="1600" dirty="0">
                <a:latin typeface="Courier" pitchFamily="2" charset="0"/>
              </a:rPr>
              <a:t>[</a:t>
            </a:r>
            <a:r>
              <a:rPr lang="en-US" sz="1600" dirty="0" err="1">
                <a:latin typeface="Courier" pitchFamily="2" charset="0"/>
              </a:rPr>
              <a:t>e.from</a:t>
            </a:r>
            <a:r>
              <a:rPr lang="en-US" sz="1600" dirty="0">
                <a:latin typeface="Courier" pitchFamily="2" charset="0"/>
              </a:rPr>
              <a:t>()])</a:t>
            </a:r>
          </a:p>
          <a:p>
            <a:r>
              <a:rPr lang="en-US" sz="1600" dirty="0">
                <a:latin typeface="Courier" pitchFamily="2" charset="0"/>
              </a:rPr>
              <a:t>      return path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89A0EE-71E0-9F4E-A61A-EBC80F7BF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202194" y="4116630"/>
            <a:ext cx="1651819" cy="1196773"/>
          </a:xfrm>
          <a:prstGeom prst="straightConnector1">
            <a:avLst/>
          </a:prstGeom>
          <a:ln w="444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2E8ED4-5098-8B43-970B-F616A9354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202194" y="5033304"/>
            <a:ext cx="1651819" cy="1043032"/>
          </a:xfrm>
          <a:prstGeom prst="straightConnector1">
            <a:avLst/>
          </a:prstGeom>
          <a:ln w="444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744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</a:t>
            </a:r>
            <a:endParaRPr lang="en-US" i="1" dirty="0">
              <a:sym typeface="Wingdings" pitchFamily="2" charset="2"/>
            </a:endParaRP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length of the shortest </a:t>
            </a:r>
            <a:r>
              <a:rPr lang="en-US" dirty="0">
                <a:solidFill>
                  <a:schemeClr val="accent5"/>
                </a:solidFill>
              </a:rPr>
              <a:t>known</a:t>
            </a:r>
            <a:r>
              <a:rPr lang="en-US" dirty="0"/>
              <a:t>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  <a:r>
              <a:rPr lang="en-US" dirty="0"/>
              <a:t> </a:t>
            </a: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is the length of the shortest </a:t>
            </a:r>
            <a:r>
              <a:rPr lang="en-US" dirty="0">
                <a:solidFill>
                  <a:schemeClr val="accent5"/>
                </a:solidFill>
              </a:rPr>
              <a:t>known</a:t>
            </a:r>
            <a:r>
              <a:rPr lang="en-US" dirty="0"/>
              <a:t>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w</a:t>
            </a:r>
            <a:r>
              <a:rPr lang="en-US" dirty="0"/>
              <a:t> </a:t>
            </a:r>
          </a:p>
          <a:p>
            <a:pPr lvl="1"/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is the last edge on the shortest </a:t>
            </a:r>
            <a:r>
              <a:rPr lang="en-US" dirty="0">
                <a:solidFill>
                  <a:schemeClr val="accent5"/>
                </a:solidFill>
              </a:rPr>
              <a:t>known</a:t>
            </a:r>
            <a:r>
              <a:rPr lang="en-US" dirty="0"/>
              <a:t>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w</a:t>
            </a:r>
          </a:p>
          <a:p>
            <a:pPr lvl="1"/>
            <a:endParaRPr lang="en-US" i="1" dirty="0"/>
          </a:p>
          <a:p>
            <a:r>
              <a:rPr lang="en-US" dirty="0"/>
              <a:t>Edge Relaxation </a:t>
            </a:r>
            <a:r>
              <a:rPr lang="en-US" i="1" dirty="0"/>
              <a:t>e</a:t>
            </a:r>
            <a:r>
              <a:rPr lang="en-US" dirty="0"/>
              <a:t>=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w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</a:t>
            </a:r>
            <a:r>
              <a:rPr lang="en-US" i="1" dirty="0" err="1"/>
              <a:t>w</a:t>
            </a:r>
            <a:r>
              <a:rPr lang="en-US" dirty="0"/>
              <a:t> gives a shorter path to </a:t>
            </a:r>
            <a:r>
              <a:rPr lang="en-US" i="1" dirty="0"/>
              <a:t>w</a:t>
            </a:r>
            <a:r>
              <a:rPr lang="en-US" dirty="0"/>
              <a:t> through </a:t>
            </a:r>
            <a:r>
              <a:rPr lang="en-US" i="1" dirty="0"/>
              <a:t>v</a:t>
            </a:r>
            <a:r>
              <a:rPr lang="en-US" dirty="0"/>
              <a:t> than what known so far, update both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 </a:t>
            </a:r>
            <a:r>
              <a:rPr lang="en-US" dirty="0"/>
              <a:t>and </a:t>
            </a:r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to use </a:t>
            </a:r>
            <a:r>
              <a:rPr lang="en-US" i="1" dirty="0"/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758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Edge Relaxation </a:t>
            </a:r>
            <a:r>
              <a:rPr lang="en-US" i="1" dirty="0"/>
              <a:t>e</a:t>
            </a:r>
            <a:r>
              <a:rPr lang="en-US" dirty="0"/>
              <a:t>=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w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</a:t>
            </a:r>
            <a:r>
              <a:rPr lang="en-US" i="1" dirty="0" err="1"/>
              <a:t>w</a:t>
            </a:r>
            <a:r>
              <a:rPr lang="en-US" dirty="0"/>
              <a:t> gives a shorter path to </a:t>
            </a:r>
            <a:r>
              <a:rPr lang="en-US" i="1" dirty="0"/>
              <a:t>w</a:t>
            </a:r>
            <a:r>
              <a:rPr lang="en-US" dirty="0"/>
              <a:t> through </a:t>
            </a:r>
            <a:r>
              <a:rPr lang="en-US" i="1" dirty="0"/>
              <a:t>v</a:t>
            </a:r>
            <a:r>
              <a:rPr lang="en-US" dirty="0"/>
              <a:t> than what known so far, update both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 </a:t>
            </a:r>
            <a:r>
              <a:rPr lang="en-US" dirty="0"/>
              <a:t>and </a:t>
            </a:r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to use </a:t>
            </a:r>
            <a:r>
              <a:rPr lang="en-US" i="1" dirty="0"/>
              <a:t>e</a:t>
            </a:r>
            <a:endParaRPr lang="en-US" dirty="0"/>
          </a:p>
        </p:txBody>
      </p:sp>
      <p:grpSp>
        <p:nvGrpSpPr>
          <p:cNvPr id="51" name="Group 50" descr="example digraph with v--&gt;w edge relaxation">
            <a:extLst>
              <a:ext uri="{FF2B5EF4-FFF2-40B4-BE49-F238E27FC236}">
                <a16:creationId xmlns:a16="http://schemas.microsoft.com/office/drawing/2014/main" id="{58E3E549-3000-404A-AE05-751FBED98420}"/>
              </a:ext>
            </a:extLst>
          </p:cNvPr>
          <p:cNvGrpSpPr/>
          <p:nvPr/>
        </p:nvGrpSpPr>
        <p:grpSpPr>
          <a:xfrm>
            <a:off x="805905" y="3478465"/>
            <a:ext cx="3940504" cy="2081784"/>
            <a:chOff x="1041879" y="3699655"/>
            <a:chExt cx="3940504" cy="2081784"/>
          </a:xfrm>
        </p:grpSpPr>
        <p:grpSp>
          <p:nvGrpSpPr>
            <p:cNvPr id="6" name="Group 5" descr="example digraph with v--&gt;w edge relaxation">
              <a:extLst>
                <a:ext uri="{FF2B5EF4-FFF2-40B4-BE49-F238E27FC236}">
                  <a16:creationId xmlns:a16="http://schemas.microsoft.com/office/drawing/2014/main" id="{5D1E26DE-EE28-9246-90E0-F9718A77AEAC}"/>
                </a:ext>
              </a:extLst>
            </p:cNvPr>
            <p:cNvGrpSpPr/>
            <p:nvPr/>
          </p:nvGrpSpPr>
          <p:grpSpPr>
            <a:xfrm>
              <a:off x="1041879" y="3699655"/>
              <a:ext cx="3753150" cy="2081784"/>
              <a:chOff x="922374" y="2473260"/>
              <a:chExt cx="4917456" cy="2727596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CC5F497-E931-D447-95DE-EE2C1297098E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2A32B6D-D0E6-5648-95A8-75636AF541EF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4A1AA33-8064-0949-A749-0AC66B8BAA84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DB67832-09D8-6F46-9908-EC98C45FDB73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82D0560-265B-C94F-BDFE-120ECD7DBC60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47AE662-F93E-E54D-9CFE-C176CE986D11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F7609F9-D2ED-9F4F-AB9B-DD3E3C691E4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0FA13CE-FF91-5248-9C42-A677FD139715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25E2B80-52F0-7C46-BF5B-623CE2B73226}"/>
                  </a:ext>
                </a:extLst>
              </p:cNvPr>
              <p:cNvCxnSpPr>
                <a:cxnSpLocks/>
                <a:stCxn id="7" idx="0"/>
                <a:endCxn id="9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0501391-CC17-9143-B840-FCE7600AC5BF}"/>
                  </a:ext>
                </a:extLst>
              </p:cNvPr>
              <p:cNvCxnSpPr>
                <a:cxnSpLocks/>
                <a:stCxn id="7" idx="6"/>
                <a:endCxn id="10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10C77BB-DC92-1B47-9914-28BCC8E7822C}"/>
                  </a:ext>
                </a:extLst>
              </p:cNvPr>
              <p:cNvCxnSpPr>
                <a:cxnSpLocks/>
                <a:stCxn id="7" idx="4"/>
                <a:endCxn id="8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47CEA63-DCCA-1F40-BF27-7CCFECF5CB58}"/>
                  </a:ext>
                </a:extLst>
              </p:cNvPr>
              <p:cNvCxnSpPr>
                <a:cxnSpLocks/>
                <a:stCxn id="9" idx="6"/>
                <a:endCxn id="11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E37DD635-DDD5-3448-9E81-BF44717D728D}"/>
                  </a:ext>
                </a:extLst>
              </p:cNvPr>
              <p:cNvCxnSpPr>
                <a:cxnSpLocks/>
                <a:stCxn id="11" idx="5"/>
                <a:endCxn id="14" idx="0"/>
              </p:cNvCxnSpPr>
              <p:nvPr/>
            </p:nvCxnSpPr>
            <p:spPr>
              <a:xfrm>
                <a:off x="5142756" y="2957389"/>
                <a:ext cx="523482" cy="188342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5953CE5-BC0D-0244-AA6C-8D8122429A49}"/>
                  </a:ext>
                </a:extLst>
              </p:cNvPr>
              <p:cNvCxnSpPr>
                <a:cxnSpLocks/>
                <a:stCxn id="12" idx="1"/>
                <a:endCxn id="10" idx="6"/>
              </p:cNvCxnSpPr>
              <p:nvPr/>
            </p:nvCxnSpPr>
            <p:spPr>
              <a:xfrm flipH="1">
                <a:off x="3013440" y="3728805"/>
                <a:ext cx="1860838" cy="2146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73AE9A0-EC90-B54D-B85E-3C09E474FD7F}"/>
                  </a:ext>
                </a:extLst>
              </p:cNvPr>
              <p:cNvCxnSpPr>
                <a:cxnSpLocks/>
                <a:stCxn id="8" idx="7"/>
                <a:endCxn id="7" idx="5"/>
              </p:cNvCxnSpPr>
              <p:nvPr/>
            </p:nvCxnSpPr>
            <p:spPr>
              <a:xfrm flipV="1">
                <a:off x="1218716" y="3713825"/>
                <a:ext cx="0" cy="9996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0C2D825-22F8-8F43-B27E-4E3E151DE8D6}"/>
                  </a:ext>
                </a:extLst>
              </p:cNvPr>
              <p:cNvCxnSpPr>
                <a:cxnSpLocks/>
                <a:stCxn id="8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42243A5-9D8F-C640-AE29-E2AC4106560A}"/>
                  </a:ext>
                </a:extLst>
              </p:cNvPr>
              <p:cNvCxnSpPr>
                <a:cxnSpLocks/>
                <a:stCxn id="14" idx="1"/>
                <a:endCxn id="12" idx="5"/>
              </p:cNvCxnSpPr>
              <p:nvPr/>
            </p:nvCxnSpPr>
            <p:spPr>
              <a:xfrm flipH="1" flipV="1"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8C0CC2BE-FAE9-3B49-AEBB-4443DA3E633E}"/>
                  </a:ext>
                </a:extLst>
              </p:cNvPr>
              <p:cNvCxnSpPr>
                <a:cxnSpLocks/>
                <a:stCxn id="14" idx="2"/>
                <a:endCxn id="13" idx="5"/>
              </p:cNvCxnSpPr>
              <p:nvPr/>
            </p:nvCxnSpPr>
            <p:spPr>
              <a:xfrm flipH="1" flipV="1"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945EECAE-9C0A-F449-B1EA-B58F56519A8C}"/>
                  </a:ext>
                </a:extLst>
              </p:cNvPr>
              <p:cNvCxnSpPr>
                <a:cxnSpLocks/>
                <a:stCxn id="8" idx="5"/>
                <a:endCxn id="14" idx="3"/>
              </p:cNvCxnSpPr>
              <p:nvPr/>
            </p:nvCxnSpPr>
            <p:spPr>
              <a:xfrm>
                <a:off x="1218716" y="4968106"/>
                <a:ext cx="4324772" cy="18002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F295370-2CFE-8141-8BB4-1B7337EB2866}"/>
                  </a:ext>
                </a:extLst>
              </p:cNvPr>
              <p:cNvCxnSpPr>
                <a:cxnSpLocks/>
                <a:stCxn id="13" idx="7"/>
                <a:endCxn id="12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359041C-D40C-2044-B16B-7FC6D872D895}"/>
                  </a:ext>
                </a:extLst>
              </p:cNvPr>
              <p:cNvCxnSpPr>
                <a:cxnSpLocks/>
                <a:stCxn id="10" idx="2"/>
                <a:endCxn id="7" idx="5"/>
              </p:cNvCxnSpPr>
              <p:nvPr/>
            </p:nvCxnSpPr>
            <p:spPr>
              <a:xfrm flipH="1" flipV="1">
                <a:off x="1218716" y="3713825"/>
                <a:ext cx="1447538" cy="3644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1F8DCF51-1114-2D49-B4BB-82BA0CE1E479}"/>
                  </a:ext>
                </a:extLst>
              </p:cNvPr>
              <p:cNvCxnSpPr>
                <a:cxnSpLocks/>
                <a:stCxn id="10" idx="7"/>
                <a:endCxn id="11" idx="3"/>
              </p:cNvCxnSpPr>
              <p:nvPr/>
            </p:nvCxnSpPr>
            <p:spPr>
              <a:xfrm flipV="1">
                <a:off x="2962596" y="2957390"/>
                <a:ext cx="1934662" cy="66557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C44D67E1-B67A-6447-ABEE-3682ED4534A5}"/>
                  </a:ext>
                </a:extLst>
              </p:cNvPr>
              <p:cNvCxnSpPr>
                <a:cxnSpLocks/>
                <a:stCxn id="13" idx="2"/>
                <a:endCxn id="8" idx="6"/>
              </p:cNvCxnSpPr>
              <p:nvPr/>
            </p:nvCxnSpPr>
            <p:spPr>
              <a:xfrm flipH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1E03366-40BD-D044-9A53-D78AF4B5DFDB}"/>
                </a:ext>
              </a:extLst>
            </p:cNvPr>
            <p:cNvSpPr txBox="1"/>
            <p:nvPr/>
          </p:nvSpPr>
          <p:spPr>
            <a:xfrm>
              <a:off x="4549251" y="4520176"/>
              <a:ext cx="433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2.3</a:t>
              </a:r>
            </a:p>
          </p:txBody>
        </p:sp>
      </p:grpSp>
      <p:graphicFrame>
        <p:nvGraphicFramePr>
          <p:cNvPr id="48" name="Table 47" descr="vertex-indexed arrays representing the SPT so far">
            <a:extLst>
              <a:ext uri="{FF2B5EF4-FFF2-40B4-BE49-F238E27FC236}">
                <a16:creationId xmlns:a16="http://schemas.microsoft.com/office/drawing/2014/main" id="{C0E62473-C5F9-EE41-9752-899F1C7E9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786521"/>
              </p:ext>
            </p:extLst>
          </p:nvPr>
        </p:nvGraphicFramePr>
        <p:xfrm>
          <a:off x="5355029" y="3555179"/>
          <a:ext cx="2757780" cy="1820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07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1177635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  <a:gridCol w="989338">
                  <a:extLst>
                    <a:ext uri="{9D8B030D-6E8A-4147-A177-3AD203B41FA5}">
                      <a16:colId xmlns:a16="http://schemas.microsoft.com/office/drawing/2014/main" val="413675159"/>
                    </a:ext>
                  </a:extLst>
                </a:gridCol>
              </a:tblGrid>
              <a:tr h="38228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24798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v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pw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CEAC816-A703-BC48-8408-822EFAFBAC4E}"/>
              </a:ext>
            </a:extLst>
          </p:cNvPr>
          <p:cNvSpPr txBox="1"/>
          <p:nvPr/>
        </p:nvSpPr>
        <p:spPr>
          <a:xfrm>
            <a:off x="5769213" y="5947398"/>
            <a:ext cx="2609369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distTo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[v] +   e    &lt;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distTo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[w]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3.1     + 2.3   &lt;   7.2</a:t>
            </a:r>
          </a:p>
        </p:txBody>
      </p:sp>
      <p:graphicFrame>
        <p:nvGraphicFramePr>
          <p:cNvPr id="53" name="Table 52" descr="vertex-indexed arrays representing the SPT after edge relaxation">
            <a:extLst>
              <a:ext uri="{FF2B5EF4-FFF2-40B4-BE49-F238E27FC236}">
                <a16:creationId xmlns:a16="http://schemas.microsoft.com/office/drawing/2014/main" id="{6ACA3B9D-B144-834F-914E-F59E5514F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261397"/>
              </p:ext>
            </p:extLst>
          </p:nvPr>
        </p:nvGraphicFramePr>
        <p:xfrm>
          <a:off x="8596498" y="3543371"/>
          <a:ext cx="2757780" cy="1820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807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1177635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  <a:gridCol w="989338">
                  <a:extLst>
                    <a:ext uri="{9D8B030D-6E8A-4147-A177-3AD203B41FA5}">
                      <a16:colId xmlns:a16="http://schemas.microsoft.com/office/drawing/2014/main" val="413675159"/>
                    </a:ext>
                  </a:extLst>
                </a:gridCol>
              </a:tblGrid>
              <a:tr h="382289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24798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v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vw</a:t>
                      </a:r>
                      <a:endParaRPr lang="en-US" sz="1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5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Context: </a:t>
            </a:r>
            <a:endParaRPr lang="en-US" i="1" dirty="0">
              <a:sym typeface="Wingdings" pitchFamily="2" charset="2"/>
            </a:endParaRP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is the length of the shortest </a:t>
            </a:r>
            <a:r>
              <a:rPr lang="en-US" dirty="0">
                <a:solidFill>
                  <a:schemeClr val="accent5"/>
                </a:solidFill>
              </a:rPr>
              <a:t>known</a:t>
            </a:r>
            <a:r>
              <a:rPr lang="en-US" dirty="0"/>
              <a:t>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v</a:t>
            </a:r>
            <a:r>
              <a:rPr lang="en-US" dirty="0"/>
              <a:t> </a:t>
            </a:r>
          </a:p>
          <a:p>
            <a:pPr lvl="1"/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is the length of the shortest </a:t>
            </a:r>
            <a:r>
              <a:rPr lang="en-US" dirty="0">
                <a:solidFill>
                  <a:schemeClr val="accent5"/>
                </a:solidFill>
              </a:rPr>
              <a:t>known</a:t>
            </a:r>
            <a:r>
              <a:rPr lang="en-US" dirty="0"/>
              <a:t>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w</a:t>
            </a:r>
            <a:r>
              <a:rPr lang="en-US" dirty="0"/>
              <a:t> </a:t>
            </a:r>
          </a:p>
          <a:p>
            <a:pPr lvl="1"/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is the last edge on the shortest </a:t>
            </a:r>
            <a:r>
              <a:rPr lang="en-US" dirty="0">
                <a:solidFill>
                  <a:schemeClr val="accent5"/>
                </a:solidFill>
              </a:rPr>
              <a:t>known</a:t>
            </a:r>
            <a:r>
              <a:rPr lang="en-US" dirty="0"/>
              <a:t>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w</a:t>
            </a:r>
          </a:p>
          <a:p>
            <a:pPr lvl="1"/>
            <a:endParaRPr lang="en-US" i="1" dirty="0"/>
          </a:p>
          <a:p>
            <a:r>
              <a:rPr lang="en-US" dirty="0"/>
              <a:t>Edge Relaxation </a:t>
            </a:r>
            <a:r>
              <a:rPr lang="en-US" i="1" dirty="0"/>
              <a:t>e</a:t>
            </a:r>
            <a:r>
              <a:rPr lang="en-US" dirty="0"/>
              <a:t>=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w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/>
              <a:t>e</a:t>
            </a:r>
            <a:r>
              <a:rPr lang="en-US" dirty="0"/>
              <a:t> = 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</a:t>
            </a:r>
            <a:r>
              <a:rPr lang="en-US" i="1" dirty="0" err="1"/>
              <a:t>w</a:t>
            </a:r>
            <a:r>
              <a:rPr lang="en-US" dirty="0"/>
              <a:t> gives a shorter path to </a:t>
            </a:r>
            <a:r>
              <a:rPr lang="en-US" i="1" dirty="0"/>
              <a:t>w</a:t>
            </a:r>
            <a:r>
              <a:rPr lang="en-US" dirty="0"/>
              <a:t> through </a:t>
            </a:r>
            <a:r>
              <a:rPr lang="en-US" i="1" dirty="0"/>
              <a:t>v</a:t>
            </a:r>
            <a:r>
              <a:rPr lang="en-US" dirty="0"/>
              <a:t> than what known so far, update both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 </a:t>
            </a:r>
            <a:r>
              <a:rPr lang="en-US" dirty="0"/>
              <a:t>and </a:t>
            </a:r>
            <a:r>
              <a:rPr lang="en-US" dirty="0" err="1">
                <a:latin typeface="Courier" pitchFamily="2" charset="0"/>
              </a:rPr>
              <a:t>edgeTo</a:t>
            </a:r>
            <a:r>
              <a:rPr lang="en-US" dirty="0">
                <a:latin typeface="Courier" pitchFamily="2" charset="0"/>
              </a:rPr>
              <a:t>[w]</a:t>
            </a:r>
            <a:r>
              <a:rPr lang="en-US" dirty="0"/>
              <a:t> to use </a:t>
            </a:r>
            <a:r>
              <a:rPr lang="en-US" i="1" dirty="0"/>
              <a:t>e</a:t>
            </a:r>
            <a:endParaRPr lang="en-US" dirty="0"/>
          </a:p>
        </p:txBody>
      </p:sp>
      <p:sp>
        <p:nvSpPr>
          <p:cNvPr id="4" name="TextBox 3" descr="pseudocode for operation relax()">
            <a:extLst>
              <a:ext uri="{FF2B5EF4-FFF2-40B4-BE49-F238E27FC236}">
                <a16:creationId xmlns:a16="http://schemas.microsoft.com/office/drawing/2014/main" id="{B3A414C9-21E9-A941-9138-6AD8CD1AD82F}"/>
              </a:ext>
            </a:extLst>
          </p:cNvPr>
          <p:cNvSpPr txBox="1"/>
          <p:nvPr/>
        </p:nvSpPr>
        <p:spPr>
          <a:xfrm>
            <a:off x="956327" y="5035234"/>
            <a:ext cx="5615640" cy="1569660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def relax(e):</a:t>
            </a:r>
          </a:p>
          <a:p>
            <a:r>
              <a:rPr lang="en-US" sz="1600" dirty="0">
                <a:latin typeface="Courier" pitchFamily="2" charset="0"/>
              </a:rPr>
              <a:t>    v = </a:t>
            </a:r>
            <a:r>
              <a:rPr lang="en-US" sz="1600" dirty="0" err="1">
                <a:latin typeface="Courier" pitchFamily="2" charset="0"/>
              </a:rPr>
              <a:t>e.from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w = </a:t>
            </a:r>
            <a:r>
              <a:rPr lang="en-US" sz="1600" dirty="0" err="1">
                <a:latin typeface="Courier" pitchFamily="2" charset="0"/>
              </a:rPr>
              <a:t>e.to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if (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[v] +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() &lt; 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[w]):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[w] = </a:t>
            </a:r>
            <a:r>
              <a:rPr lang="en-US" sz="1600" dirty="0" err="1">
                <a:latin typeface="Courier" pitchFamily="2" charset="0"/>
              </a:rPr>
              <a:t>distTo</a:t>
            </a:r>
            <a:r>
              <a:rPr lang="en-US" sz="1600" dirty="0">
                <a:latin typeface="Courier" pitchFamily="2" charset="0"/>
              </a:rPr>
              <a:t>[v] +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edgeTo</a:t>
            </a:r>
            <a:r>
              <a:rPr lang="en-US" sz="1600" dirty="0">
                <a:latin typeface="Courier" pitchFamily="2" charset="0"/>
              </a:rPr>
              <a:t>[w] = e</a:t>
            </a:r>
          </a:p>
        </p:txBody>
      </p:sp>
    </p:spTree>
    <p:extLst>
      <p:ext uri="{BB962C8B-B14F-4D97-AF65-F5344CB8AC3E}">
        <p14:creationId xmlns:p14="http://schemas.microsoft.com/office/powerpoint/2010/main" val="129891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shortest-paths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Generic algorithm</a:t>
            </a:r>
            <a:r>
              <a:rPr lang="en-US" dirty="0"/>
              <a:t> to compute SPT from </a:t>
            </a:r>
            <a:r>
              <a:rPr lang="en-US" i="1" dirty="0"/>
              <a:t>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Initialise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[s]=0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Initialise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[v]=∞ </a:t>
            </a:r>
            <a:r>
              <a:rPr lang="en-US" dirty="0"/>
              <a:t>for all other vertices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</a:t>
            </a:r>
            <a:r>
              <a:rPr lang="en-US" dirty="0">
                <a:latin typeface="Courier" pitchFamily="2" charset="0"/>
              </a:rPr>
              <a:t>relax(e)</a:t>
            </a:r>
            <a:r>
              <a:rPr lang="en-US" dirty="0"/>
              <a:t> for any edge </a:t>
            </a:r>
            <a:r>
              <a:rPr lang="en-US" i="1" dirty="0"/>
              <a:t>e: 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w</a:t>
            </a:r>
            <a:r>
              <a:rPr lang="en-US" dirty="0"/>
              <a:t>, until there are no more edges </a:t>
            </a:r>
            <a:r>
              <a:rPr lang="en-US" i="1" dirty="0"/>
              <a:t>e</a:t>
            </a:r>
            <a:r>
              <a:rPr lang="en-US" dirty="0"/>
              <a:t> for which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 + </a:t>
            </a:r>
            <a:r>
              <a:rPr lang="en-US" dirty="0" err="1">
                <a:latin typeface="Courier" pitchFamily="2" charset="0"/>
              </a:rPr>
              <a:t>e.weight</a:t>
            </a:r>
            <a:r>
              <a:rPr lang="en-US" dirty="0">
                <a:latin typeface="Courier" pitchFamily="2" charset="0"/>
              </a:rPr>
              <a:t>() &lt;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Question</a:t>
            </a:r>
            <a:r>
              <a:rPr lang="en-US" dirty="0"/>
              <a:t>: how do we choose what edge </a:t>
            </a:r>
            <a:r>
              <a:rPr lang="en-US" i="1" dirty="0" err="1"/>
              <a:t>e:v</a:t>
            </a:r>
            <a:r>
              <a:rPr lang="en-US" i="1" dirty="0" err="1">
                <a:sym typeface="Wingdings" pitchFamily="2" charset="2"/>
              </a:rPr>
              <a:t>w</a:t>
            </a:r>
            <a:r>
              <a:rPr lang="en-US" dirty="0"/>
              <a:t> to relax next?</a:t>
            </a:r>
          </a:p>
        </p:txBody>
      </p:sp>
    </p:spTree>
    <p:extLst>
      <p:ext uri="{BB962C8B-B14F-4D97-AF65-F5344CB8AC3E}">
        <p14:creationId xmlns:p14="http://schemas.microsoft.com/office/powerpoint/2010/main" val="291619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63FC-9C9C-E148-AB7E-7AC8447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shortest-paths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3883-E3FC-FA41-BE1C-5C51DED48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 algorithm to compute SPT from </a:t>
            </a:r>
            <a:r>
              <a:rPr lang="en-US" i="1" dirty="0"/>
              <a:t>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Initialise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[s]=0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Initialise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[v]=∞ </a:t>
            </a:r>
            <a:r>
              <a:rPr lang="en-US" dirty="0"/>
              <a:t>for all other vertices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Repeat </a:t>
            </a:r>
            <a:r>
              <a:rPr lang="en-US" dirty="0">
                <a:latin typeface="Courier" pitchFamily="2" charset="0"/>
              </a:rPr>
              <a:t>relax(e)</a:t>
            </a:r>
            <a:r>
              <a:rPr lang="en-US" dirty="0"/>
              <a:t> for any edge </a:t>
            </a:r>
            <a:r>
              <a:rPr lang="en-US" i="1" dirty="0"/>
              <a:t>e: </a:t>
            </a:r>
            <a:r>
              <a:rPr lang="en-US" i="1" dirty="0" err="1"/>
              <a:t>v</a:t>
            </a:r>
            <a:r>
              <a:rPr lang="en-US" i="1" dirty="0" err="1">
                <a:sym typeface="Wingdings" pitchFamily="2" charset="2"/>
              </a:rPr>
              <a:t>w</a:t>
            </a:r>
            <a:r>
              <a:rPr lang="en-US" dirty="0"/>
              <a:t>, until there are no more edges </a:t>
            </a:r>
            <a:r>
              <a:rPr lang="en-US" i="1" dirty="0"/>
              <a:t>e</a:t>
            </a:r>
            <a:r>
              <a:rPr lang="en-US" dirty="0"/>
              <a:t> for which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 + </a:t>
            </a:r>
            <a:r>
              <a:rPr lang="en-US" dirty="0" err="1">
                <a:latin typeface="Courier" pitchFamily="2" charset="0"/>
              </a:rPr>
              <a:t>e.weight</a:t>
            </a:r>
            <a:r>
              <a:rPr lang="en-US" dirty="0">
                <a:latin typeface="Courier" pitchFamily="2" charset="0"/>
              </a:rPr>
              <a:t>() &lt;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[w]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Question</a:t>
            </a:r>
            <a:r>
              <a:rPr lang="en-US" dirty="0"/>
              <a:t>: how do we choose what edge </a:t>
            </a:r>
            <a:r>
              <a:rPr lang="en-US" i="1" dirty="0" err="1"/>
              <a:t>e:v</a:t>
            </a:r>
            <a:r>
              <a:rPr lang="en-US" i="1" dirty="0" err="1">
                <a:sym typeface="Wingdings" pitchFamily="2" charset="2"/>
              </a:rPr>
              <a:t>w</a:t>
            </a:r>
            <a:r>
              <a:rPr lang="en-US" dirty="0"/>
              <a:t> to relax next?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Dijkstra’s algorithm </a:t>
            </a:r>
            <a:r>
              <a:rPr lang="en-US" dirty="0"/>
              <a:t>(assume non-negative weights)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Edge-weighted DAG algorithm </a:t>
            </a:r>
            <a:r>
              <a:rPr lang="en-US" dirty="0"/>
              <a:t>(assume no cycles)</a:t>
            </a:r>
          </a:p>
          <a:p>
            <a:pPr lvl="1"/>
            <a:r>
              <a:rPr lang="en-US" dirty="0">
                <a:solidFill>
                  <a:schemeClr val="accent5"/>
                </a:solidFill>
              </a:rPr>
              <a:t>Bellman-Ford algorithm </a:t>
            </a:r>
            <a:r>
              <a:rPr lang="en-US" dirty="0"/>
              <a:t>(~ no assumptions)</a:t>
            </a:r>
          </a:p>
          <a:p>
            <a:pPr lvl="2"/>
            <a:r>
              <a:rPr lang="en-US" dirty="0">
                <a:highlight>
                  <a:srgbClr val="C0C0C0"/>
                </a:highlight>
              </a:rPr>
              <a:t>Note</a:t>
            </a:r>
            <a:r>
              <a:rPr lang="en-US" dirty="0"/>
              <a:t>: the SPT problem is ill-defined on a digraph with negative cycles</a:t>
            </a:r>
          </a:p>
        </p:txBody>
      </p:sp>
    </p:spTree>
    <p:extLst>
      <p:ext uri="{BB962C8B-B14F-4D97-AF65-F5344CB8AC3E}">
        <p14:creationId xmlns:p14="http://schemas.microsoft.com/office/powerpoint/2010/main" val="188281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Shortest Path</a:t>
            </a:r>
          </a:p>
          <a:p>
            <a:pPr lvl="1"/>
            <a:r>
              <a:rPr lang="en-US" dirty="0"/>
              <a:t>Problem formulation 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Dijkstra algorithm</a:t>
            </a:r>
          </a:p>
          <a:p>
            <a:pPr lvl="1"/>
            <a:r>
              <a:rPr lang="en-US" dirty="0"/>
              <a:t>Edge-weighted DAG algorithm</a:t>
            </a:r>
          </a:p>
          <a:p>
            <a:pPr lvl="1"/>
            <a:r>
              <a:rPr lang="en-US" dirty="0"/>
              <a:t>Bellman-Ford algorithm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77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DB4E-44BB-D548-8B4E-2C180013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2A80-7037-C845-AA54-A1F1B9BF6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Assumption</a:t>
            </a:r>
            <a:r>
              <a:rPr lang="en-US" dirty="0"/>
              <a:t>. Digraph has non-negative weights</a:t>
            </a:r>
          </a:p>
          <a:p>
            <a:r>
              <a:rPr lang="en-US" dirty="0" err="1">
                <a:highlight>
                  <a:srgbClr val="C0C0C0"/>
                </a:highlight>
              </a:rPr>
              <a:t>Initialisation</a:t>
            </a:r>
            <a:r>
              <a:rPr lang="en-US" dirty="0">
                <a:highlight>
                  <a:srgbClr val="C0C0C0"/>
                </a:highlight>
              </a:rPr>
              <a:t>.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i="1" dirty="0">
                <a:latin typeface="Courier" pitchFamily="2" charset="0"/>
              </a:rPr>
              <a:t>s</a:t>
            </a:r>
            <a:r>
              <a:rPr lang="en-US" dirty="0">
                <a:latin typeface="Courier" pitchFamily="2" charset="0"/>
              </a:rPr>
              <a:t>]=0</a:t>
            </a:r>
            <a:r>
              <a:rPr lang="en-US" dirty="0"/>
              <a:t>,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[v]=∞ </a:t>
            </a:r>
            <a:r>
              <a:rPr lang="en-US" dirty="0"/>
              <a:t>for all other vertices </a:t>
            </a:r>
            <a:r>
              <a:rPr lang="en-US" i="1" dirty="0"/>
              <a:t>v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Consider vertices in increasing order of distance from </a:t>
            </a:r>
            <a:r>
              <a:rPr lang="en-US" i="1" dirty="0"/>
              <a:t>s</a:t>
            </a:r>
            <a:r>
              <a:rPr lang="en-US" dirty="0"/>
              <a:t> (i.e., vertex not already in SPT with lowest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[]</a:t>
            </a:r>
            <a:r>
              <a:rPr lang="en-US" dirty="0"/>
              <a:t> value)</a:t>
            </a:r>
          </a:p>
          <a:p>
            <a:pPr lvl="1"/>
            <a:r>
              <a:rPr lang="en-US" dirty="0"/>
              <a:t>Add vertex to the SPT and relax all its outgoing edges</a:t>
            </a:r>
          </a:p>
        </p:txBody>
      </p:sp>
    </p:spTree>
    <p:extLst>
      <p:ext uri="{BB962C8B-B14F-4D97-AF65-F5344CB8AC3E}">
        <p14:creationId xmlns:p14="http://schemas.microsoft.com/office/powerpoint/2010/main" val="2242861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/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261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429710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641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679857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96545" y="2664594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161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400408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✅️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96545" y="3038679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390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893341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72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82690" y="5271839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555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493355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72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45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8✅️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41127" y="4126502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6697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805442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45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68836" y="4500577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39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37039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45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54981" y="3394841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139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405618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45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25✅️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54981" y="3765913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068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418306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45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cxnSp>
        <p:nvCxnSpPr>
          <p:cNvPr id="79" name="Straight Arrow Connector 78" descr="arrow highlightinh what vertex we are considering">
            <a:extLst>
              <a:ext uri="{FF2B5EF4-FFF2-40B4-BE49-F238E27FC236}">
                <a16:creationId xmlns:a16="http://schemas.microsoft.com/office/drawing/2014/main" id="{A057AC03-DCA5-444A-B3E8-F9ABC269127F}"/>
              </a:ext>
            </a:extLst>
          </p:cNvPr>
          <p:cNvCxnSpPr/>
          <p:nvPr/>
        </p:nvCxnSpPr>
        <p:spPr>
          <a:xfrm>
            <a:off x="6941127" y="4834785"/>
            <a:ext cx="665019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712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1" name="TextBox 50" descr="Dijkstra's algorithm (pseudocode)">
            <a:extLst>
              <a:ext uri="{FF2B5EF4-FFF2-40B4-BE49-F238E27FC236}">
                <a16:creationId xmlns:a16="http://schemas.microsoft.com/office/drawing/2014/main" id="{CF02F951-A7EE-B542-8385-11309FBF789B}"/>
              </a:ext>
            </a:extLst>
          </p:cNvPr>
          <p:cNvSpPr txBox="1"/>
          <p:nvPr/>
        </p:nvSpPr>
        <p:spPr>
          <a:xfrm>
            <a:off x="514867" y="2177039"/>
            <a:ext cx="7506916" cy="378565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DijkstraSP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G, s): 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self.edgeTo</a:t>
            </a:r>
            <a:r>
              <a:rPr lang="en-US" sz="1600" dirty="0">
                <a:latin typeface="Courier" pitchFamily="2" charset="0"/>
              </a:rPr>
              <a:t> = [None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 = [INFINITY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[s] = 0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self.pq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MinPQ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self.pq.insert</a:t>
            </a:r>
            <a:r>
              <a:rPr lang="en-US" sz="1600" dirty="0">
                <a:latin typeface="Courier" pitchFamily="2" charset="0"/>
              </a:rPr>
              <a:t>(s,0)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while (!</a:t>
            </a:r>
            <a:r>
              <a:rPr lang="en-US" sz="1600" dirty="0" err="1">
                <a:latin typeface="Courier" pitchFamily="2" charset="0"/>
              </a:rPr>
              <a:t>self.pq.isEmpty</a:t>
            </a:r>
            <a:r>
              <a:rPr lang="en-US" sz="1600" dirty="0">
                <a:latin typeface="Courier" pitchFamily="2" charset="0"/>
              </a:rPr>
              <a:t>()):</a:t>
            </a:r>
          </a:p>
          <a:p>
            <a:r>
              <a:rPr lang="en-US" sz="1600" dirty="0">
                <a:latin typeface="Courier" pitchFamily="2" charset="0"/>
              </a:rPr>
              <a:t>            v = </a:t>
            </a:r>
            <a:r>
              <a:rPr lang="en-US" sz="1600" dirty="0" err="1">
                <a:latin typeface="Courier" pitchFamily="2" charset="0"/>
              </a:rPr>
              <a:t>self.pq.delMin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for e in </a:t>
            </a:r>
            <a:r>
              <a:rPr lang="en-US" sz="1600" dirty="0" err="1">
                <a:latin typeface="Courier" pitchFamily="2" charset="0"/>
              </a:rPr>
              <a:t>G.adj</a:t>
            </a:r>
            <a:r>
              <a:rPr lang="en-US" sz="1600" dirty="0">
                <a:latin typeface="Courier" pitchFamily="2" charset="0"/>
              </a:rPr>
              <a:t>(v):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self.relax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…</a:t>
            </a:r>
          </a:p>
        </p:txBody>
      </p:sp>
      <p:grpSp>
        <p:nvGrpSpPr>
          <p:cNvPr id="52" name="Group 51" descr="highlight code to initialise data structures">
            <a:extLst>
              <a:ext uri="{FF2B5EF4-FFF2-40B4-BE49-F238E27FC236}">
                <a16:creationId xmlns:a16="http://schemas.microsoft.com/office/drawing/2014/main" id="{D7324857-D5F1-5E4F-BCAB-65228F4947AF}"/>
              </a:ext>
            </a:extLst>
          </p:cNvPr>
          <p:cNvGrpSpPr/>
          <p:nvPr/>
        </p:nvGrpSpPr>
        <p:grpSpPr>
          <a:xfrm>
            <a:off x="1487605" y="2702255"/>
            <a:ext cx="10193833" cy="726745"/>
            <a:chOff x="1487605" y="2702255"/>
            <a:chExt cx="10193833" cy="72674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4EB5726-B626-6E4E-8737-7535E6711423}"/>
                </a:ext>
              </a:extLst>
            </p:cNvPr>
            <p:cNvSpPr txBox="1"/>
            <p:nvPr/>
          </p:nvSpPr>
          <p:spPr>
            <a:xfrm>
              <a:off x="9349760" y="2911738"/>
              <a:ext cx="233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Initialization step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C41B6651-6743-4F4D-8B7D-AA312B750C1D}"/>
                </a:ext>
              </a:extLst>
            </p:cNvPr>
            <p:cNvSpPr/>
            <p:nvPr/>
          </p:nvSpPr>
          <p:spPr>
            <a:xfrm>
              <a:off x="1487605" y="2702255"/>
              <a:ext cx="6257085" cy="726745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15C7F1C-FDC8-8441-A85A-82B72E63EF1F}"/>
                </a:ext>
              </a:extLst>
            </p:cNvPr>
            <p:cNvCxnSpPr>
              <a:cxnSpLocks/>
              <a:stCxn id="54" idx="1"/>
              <a:endCxn id="55" idx="3"/>
            </p:cNvCxnSpPr>
            <p:nvPr/>
          </p:nvCxnSpPr>
          <p:spPr>
            <a:xfrm flipH="1">
              <a:off x="7744690" y="3065627"/>
              <a:ext cx="1605070" cy="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 descr="highlight code to initialise priority queue with nodes to add to SPT">
            <a:extLst>
              <a:ext uri="{FF2B5EF4-FFF2-40B4-BE49-F238E27FC236}">
                <a16:creationId xmlns:a16="http://schemas.microsoft.com/office/drawing/2014/main" id="{C281D163-A2BA-BC48-8DA6-58C23DF794CB}"/>
              </a:ext>
            </a:extLst>
          </p:cNvPr>
          <p:cNvGrpSpPr/>
          <p:nvPr/>
        </p:nvGrpSpPr>
        <p:grpSpPr>
          <a:xfrm>
            <a:off x="1483300" y="3392577"/>
            <a:ext cx="10198138" cy="1169551"/>
            <a:chOff x="1487605" y="2457715"/>
            <a:chExt cx="10198138" cy="116955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07FE807-B081-7142-8EE5-E1603820E70A}"/>
                </a:ext>
              </a:extLst>
            </p:cNvPr>
            <p:cNvSpPr txBox="1"/>
            <p:nvPr/>
          </p:nvSpPr>
          <p:spPr>
            <a:xfrm>
              <a:off x="9354065" y="2457715"/>
              <a:ext cx="2331678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Min-indexed priority queue, holding vertices in distance order from s (i.e., in order of what to add to SPT and relax next)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170B665A-2C0B-A64F-AF1B-7627AB01B3FF}"/>
                </a:ext>
              </a:extLst>
            </p:cNvPr>
            <p:cNvSpPr/>
            <p:nvPr/>
          </p:nvSpPr>
          <p:spPr>
            <a:xfrm>
              <a:off x="1487605" y="2702255"/>
              <a:ext cx="6257085" cy="680471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349534A-F711-E54C-9CB5-2FFF5F40F14B}"/>
                </a:ext>
              </a:extLst>
            </p:cNvPr>
            <p:cNvCxnSpPr>
              <a:cxnSpLocks/>
              <a:stCxn id="58" idx="1"/>
              <a:endCxn id="59" idx="3"/>
            </p:cNvCxnSpPr>
            <p:nvPr/>
          </p:nvCxnSpPr>
          <p:spPr>
            <a:xfrm flipH="1">
              <a:off x="7744690" y="3042491"/>
              <a:ext cx="1609375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3704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1" name="TextBox 50" descr="Prim algorithm (pseudocode)">
            <a:extLst>
              <a:ext uri="{FF2B5EF4-FFF2-40B4-BE49-F238E27FC236}">
                <a16:creationId xmlns:a16="http://schemas.microsoft.com/office/drawing/2014/main" id="{CF02F951-A7EE-B542-8385-11309FBF789B}"/>
              </a:ext>
            </a:extLst>
          </p:cNvPr>
          <p:cNvSpPr txBox="1"/>
          <p:nvPr/>
        </p:nvSpPr>
        <p:spPr>
          <a:xfrm>
            <a:off x="514867" y="2177039"/>
            <a:ext cx="7506916" cy="329320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    …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relax(self, e):</a:t>
            </a:r>
          </a:p>
          <a:p>
            <a:r>
              <a:rPr lang="en-US" sz="1600" dirty="0">
                <a:latin typeface="Courier" pitchFamily="2" charset="0"/>
              </a:rPr>
              <a:t>        v = </a:t>
            </a:r>
            <a:r>
              <a:rPr lang="en-US" sz="1600" dirty="0" err="1">
                <a:latin typeface="Courier" pitchFamily="2" charset="0"/>
              </a:rPr>
              <a:t>e.from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w = </a:t>
            </a:r>
            <a:r>
              <a:rPr lang="en-US" sz="1600" dirty="0" err="1">
                <a:latin typeface="Courier" pitchFamily="2" charset="0"/>
              </a:rPr>
              <a:t>e.to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if (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[w] &gt;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[v] +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()):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[w] =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[v] +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self.edgeTo</a:t>
            </a:r>
            <a:r>
              <a:rPr lang="en-US" sz="1600" dirty="0">
                <a:latin typeface="Courier" pitchFamily="2" charset="0"/>
              </a:rPr>
              <a:t>[w] = e</a:t>
            </a:r>
          </a:p>
          <a:p>
            <a:r>
              <a:rPr lang="en-US" sz="1600" dirty="0">
                <a:latin typeface="Courier" pitchFamily="2" charset="0"/>
              </a:rPr>
              <a:t>            if (</a:t>
            </a:r>
            <a:r>
              <a:rPr lang="en-US" sz="1600" dirty="0" err="1">
                <a:latin typeface="Courier" pitchFamily="2" charset="0"/>
              </a:rPr>
              <a:t>self.pq.contains</a:t>
            </a:r>
            <a:r>
              <a:rPr lang="en-US" sz="1600" dirty="0">
                <a:latin typeface="Courier" pitchFamily="2" charset="0"/>
              </a:rPr>
              <a:t>(w)):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self.pq.decreaseKey</a:t>
            </a:r>
            <a:r>
              <a:rPr lang="en-US" sz="1600" dirty="0">
                <a:latin typeface="Courier" pitchFamily="2" charset="0"/>
              </a:rPr>
              <a:t>(w,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[w])</a:t>
            </a:r>
          </a:p>
          <a:p>
            <a:r>
              <a:rPr lang="en-US" sz="1600" dirty="0">
                <a:latin typeface="Courier" pitchFamily="2" charset="0"/>
              </a:rPr>
              <a:t>            else: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self.pq.insert</a:t>
            </a:r>
            <a:r>
              <a:rPr lang="en-US" sz="1600" dirty="0">
                <a:latin typeface="Courier" pitchFamily="2" charset="0"/>
              </a:rPr>
              <a:t>(w,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[w])</a:t>
            </a:r>
          </a:p>
          <a:p>
            <a:endParaRPr lang="en-US" sz="1600" dirty="0">
              <a:latin typeface="Courier" pitchFamily="2" charset="0"/>
            </a:endParaRPr>
          </a:p>
        </p:txBody>
      </p:sp>
      <p:grpSp>
        <p:nvGrpSpPr>
          <p:cNvPr id="5" name="Group 4" descr="highlight code to relax the edge">
            <a:extLst>
              <a:ext uri="{FF2B5EF4-FFF2-40B4-BE49-F238E27FC236}">
                <a16:creationId xmlns:a16="http://schemas.microsoft.com/office/drawing/2014/main" id="{5E733EA2-BDAC-EE41-BA18-3B433217659E}"/>
              </a:ext>
            </a:extLst>
          </p:cNvPr>
          <p:cNvGrpSpPr/>
          <p:nvPr/>
        </p:nvGrpSpPr>
        <p:grpSpPr>
          <a:xfrm>
            <a:off x="1483300" y="3429000"/>
            <a:ext cx="10193833" cy="726745"/>
            <a:chOff x="1487605" y="2702255"/>
            <a:chExt cx="10193833" cy="72674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3E4123-D715-584F-851C-E763CD1A539B}"/>
                </a:ext>
              </a:extLst>
            </p:cNvPr>
            <p:cNvSpPr txBox="1"/>
            <p:nvPr/>
          </p:nvSpPr>
          <p:spPr>
            <a:xfrm>
              <a:off x="9349760" y="2911738"/>
              <a:ext cx="233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Relax step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706003F-15A3-2F42-92D1-5BE60FF30C1E}"/>
                </a:ext>
              </a:extLst>
            </p:cNvPr>
            <p:cNvSpPr/>
            <p:nvPr/>
          </p:nvSpPr>
          <p:spPr>
            <a:xfrm>
              <a:off x="1487605" y="2702255"/>
              <a:ext cx="6257085" cy="726745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6935DF-4254-F14F-83AF-7A7CC77D1E6F}"/>
                </a:ext>
              </a:extLst>
            </p:cNvPr>
            <p:cNvCxnSpPr>
              <a:cxnSpLocks/>
              <a:stCxn id="6" idx="1"/>
              <a:endCxn id="7" idx="3"/>
            </p:cNvCxnSpPr>
            <p:nvPr/>
          </p:nvCxnSpPr>
          <p:spPr>
            <a:xfrm flipH="1">
              <a:off x="7744690" y="3065627"/>
              <a:ext cx="1605070" cy="1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 descr="highlight code to update the priority queue">
            <a:extLst>
              <a:ext uri="{FF2B5EF4-FFF2-40B4-BE49-F238E27FC236}">
                <a16:creationId xmlns:a16="http://schemas.microsoft.com/office/drawing/2014/main" id="{F4526A2C-9749-E940-BB10-C6B818361E2B}"/>
              </a:ext>
            </a:extLst>
          </p:cNvPr>
          <p:cNvGrpSpPr/>
          <p:nvPr/>
        </p:nvGrpSpPr>
        <p:grpSpPr>
          <a:xfrm>
            <a:off x="1483300" y="4213273"/>
            <a:ext cx="10193833" cy="932402"/>
            <a:chOff x="1487605" y="2702256"/>
            <a:chExt cx="10193833" cy="93240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B60BCD-F9FC-7446-A4A0-075ED97838DA}"/>
                </a:ext>
              </a:extLst>
            </p:cNvPr>
            <p:cNvSpPr txBox="1"/>
            <p:nvPr/>
          </p:nvSpPr>
          <p:spPr>
            <a:xfrm>
              <a:off x="9349760" y="3066842"/>
              <a:ext cx="233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Update the PQ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32C68D0-EC43-974E-B905-93E01DFB0E3E}"/>
                </a:ext>
              </a:extLst>
            </p:cNvPr>
            <p:cNvSpPr/>
            <p:nvPr/>
          </p:nvSpPr>
          <p:spPr>
            <a:xfrm>
              <a:off x="1487605" y="2702256"/>
              <a:ext cx="6257085" cy="932402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2C4F340-557D-8046-8B68-EED980FCFC3C}"/>
                </a:ext>
              </a:extLst>
            </p:cNvPr>
            <p:cNvCxnSpPr>
              <a:cxnSpLocks/>
              <a:stCxn id="10" idx="1"/>
              <a:endCxn id="11" idx="3"/>
            </p:cNvCxnSpPr>
            <p:nvPr/>
          </p:nvCxnSpPr>
          <p:spPr>
            <a:xfrm flipH="1" flipV="1">
              <a:off x="7744690" y="3168457"/>
              <a:ext cx="1605070" cy="52274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9657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Cost.</a:t>
            </a:r>
            <a:r>
              <a:rPr lang="en-US" dirty="0"/>
              <a:t> Dominated by operations on the priority queue (</a:t>
            </a:r>
            <a:r>
              <a:rPr lang="en-US" dirty="0">
                <a:latin typeface="Courier" pitchFamily="2" charset="0"/>
              </a:rPr>
              <a:t>insert(), </a:t>
            </a:r>
            <a:r>
              <a:rPr lang="en-US" dirty="0" err="1">
                <a:latin typeface="Courier" pitchFamily="2" charset="0"/>
              </a:rPr>
              <a:t>delMin</a:t>
            </a:r>
            <a:r>
              <a:rPr lang="en-US" dirty="0">
                <a:latin typeface="Courier" pitchFamily="2" charset="0"/>
              </a:rPr>
              <a:t>(), and </a:t>
            </a:r>
            <a:r>
              <a:rPr lang="en-US" dirty="0" err="1">
                <a:latin typeface="Courier" pitchFamily="2" charset="0"/>
              </a:rPr>
              <a:t>decreaseKey</a:t>
            </a:r>
            <a:r>
              <a:rPr lang="en-US" dirty="0">
                <a:latin typeface="Courier" pitchFamily="2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 very dense graphs, choose an array implementation of the priority queue</a:t>
            </a:r>
          </a:p>
          <a:p>
            <a:pPr lvl="1"/>
            <a:r>
              <a:rPr lang="en-US" dirty="0"/>
              <a:t>For sparse graphs, choose a binary heap implementation of the priority queue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BBB535-3E22-1041-AD01-C0170BC68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49249"/>
              </p:ext>
            </p:extLst>
          </p:nvPr>
        </p:nvGraphicFramePr>
        <p:xfrm>
          <a:off x="1343889" y="3762072"/>
          <a:ext cx="9171710" cy="123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99">
                  <a:extLst>
                    <a:ext uri="{9D8B030D-6E8A-4147-A177-3AD203B41FA5}">
                      <a16:colId xmlns:a16="http://schemas.microsoft.com/office/drawing/2014/main" val="2420550204"/>
                    </a:ext>
                  </a:extLst>
                </a:gridCol>
                <a:gridCol w="1607127">
                  <a:extLst>
                    <a:ext uri="{9D8B030D-6E8A-4147-A177-3AD203B41FA5}">
                      <a16:colId xmlns:a16="http://schemas.microsoft.com/office/drawing/2014/main" val="83754587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val="2984276892"/>
                    </a:ext>
                  </a:extLst>
                </a:gridCol>
                <a:gridCol w="1967345">
                  <a:extLst>
                    <a:ext uri="{9D8B030D-6E8A-4147-A177-3AD203B41FA5}">
                      <a16:colId xmlns:a16="http://schemas.microsoft.com/office/drawing/2014/main" val="2990558911"/>
                    </a:ext>
                  </a:extLst>
                </a:gridCol>
                <a:gridCol w="1454730">
                  <a:extLst>
                    <a:ext uri="{9D8B030D-6E8A-4147-A177-3AD203B41FA5}">
                      <a16:colId xmlns:a16="http://schemas.microsoft.com/office/drawing/2014/main" val="2691402583"/>
                    </a:ext>
                  </a:extLst>
                </a:gridCol>
              </a:tblGrid>
              <a:tr h="49127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PQ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insert()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delMin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decreaseKey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93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Unordered 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0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heap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log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009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345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Shortest Path</a:t>
            </a:r>
          </a:p>
          <a:p>
            <a:pPr lvl="1"/>
            <a:r>
              <a:rPr lang="en-US" dirty="0"/>
              <a:t>Problem formulation </a:t>
            </a:r>
          </a:p>
          <a:p>
            <a:pPr lvl="1"/>
            <a:r>
              <a:rPr lang="en-US" dirty="0"/>
              <a:t>Dijkstra algorithm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Edge-weighted DAG algorithm</a:t>
            </a:r>
          </a:p>
          <a:p>
            <a:pPr lvl="1"/>
            <a:r>
              <a:rPr lang="en-US" dirty="0"/>
              <a:t>Bellman-Ford algorithm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55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DB4E-44BB-D548-8B4E-2C180013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2A80-7037-C845-AA54-A1F1B9BF6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Assumption</a:t>
            </a:r>
            <a:r>
              <a:rPr lang="en-US" dirty="0"/>
              <a:t>. Digraph is acyclic (DAG)</a:t>
            </a:r>
          </a:p>
          <a:p>
            <a:r>
              <a:rPr lang="en-US" dirty="0" err="1">
                <a:highlight>
                  <a:srgbClr val="C0C0C0"/>
                </a:highlight>
              </a:rPr>
              <a:t>Initialisation</a:t>
            </a:r>
            <a:r>
              <a:rPr lang="en-US" dirty="0">
                <a:highlight>
                  <a:srgbClr val="C0C0C0"/>
                </a:highlight>
              </a:rPr>
              <a:t>.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i="1" dirty="0">
                <a:latin typeface="Courier" pitchFamily="2" charset="0"/>
              </a:rPr>
              <a:t>s</a:t>
            </a:r>
            <a:r>
              <a:rPr lang="en-US" dirty="0">
                <a:latin typeface="Courier" pitchFamily="2" charset="0"/>
              </a:rPr>
              <a:t>]=0</a:t>
            </a:r>
            <a:r>
              <a:rPr lang="en-US" dirty="0"/>
              <a:t>,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[v]=∞ </a:t>
            </a:r>
            <a:r>
              <a:rPr lang="en-US" dirty="0"/>
              <a:t>for all other vertices </a:t>
            </a:r>
            <a:r>
              <a:rPr lang="en-US" i="1" dirty="0"/>
              <a:t>v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Key idea</a:t>
            </a:r>
          </a:p>
          <a:p>
            <a:pPr lvl="1"/>
            <a:r>
              <a:rPr lang="en-US" dirty="0"/>
              <a:t>Consider vertices in topological order</a:t>
            </a:r>
          </a:p>
          <a:p>
            <a:pPr lvl="1"/>
            <a:r>
              <a:rPr lang="en-US" dirty="0"/>
              <a:t>Add vertex to the SPT and relax all its outgoing edges</a:t>
            </a:r>
          </a:p>
        </p:txBody>
      </p:sp>
    </p:spTree>
    <p:extLst>
      <p:ext uri="{BB962C8B-B14F-4D97-AF65-F5344CB8AC3E}">
        <p14:creationId xmlns:p14="http://schemas.microsoft.com/office/powerpoint/2010/main" val="1575749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/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496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385405" y="2370672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/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6289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8" name="Group 7" descr="example digraph also highlighting topological order">
            <a:extLst>
              <a:ext uri="{FF2B5EF4-FFF2-40B4-BE49-F238E27FC236}">
                <a16:creationId xmlns:a16="http://schemas.microsoft.com/office/drawing/2014/main" id="{1F2272ED-AC1D-9A4F-A8F5-B5D91EF62E76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28850B-AA80-4341-B34C-EA14FA49FBD3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0  1  4  7  5  2  3  6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/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9023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1  4  7  5  2  3  6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/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063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4  7  5  2  3  6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69746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8✔️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7039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7  5  2  3  6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35619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8✔️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712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7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5  2  3  6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987774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72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13✔️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448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7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5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2  3  6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66599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56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7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5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3  6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90137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9107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7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5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3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6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96117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25✔️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543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4" name="Group 3" descr="example digraph also highlighting topological order">
            <a:extLst>
              <a:ext uri="{FF2B5EF4-FFF2-40B4-BE49-F238E27FC236}">
                <a16:creationId xmlns:a16="http://schemas.microsoft.com/office/drawing/2014/main" id="{FE553E85-4F76-0049-AC85-76DF531834AA}"/>
              </a:ext>
            </a:extLst>
          </p:cNvPr>
          <p:cNvGrpSpPr/>
          <p:nvPr/>
        </p:nvGrpSpPr>
        <p:grpSpPr>
          <a:xfrm>
            <a:off x="385405" y="2370672"/>
            <a:ext cx="5201218" cy="3768388"/>
            <a:chOff x="385405" y="2370672"/>
            <a:chExt cx="5201218" cy="3768388"/>
          </a:xfrm>
        </p:grpSpPr>
        <p:grpSp>
          <p:nvGrpSpPr>
            <p:cNvPr id="77" name="Group 76" descr="example digraph">
              <a:extLst>
                <a:ext uri="{FF2B5EF4-FFF2-40B4-BE49-F238E27FC236}">
                  <a16:creationId xmlns:a16="http://schemas.microsoft.com/office/drawing/2014/main" id="{635DC9C4-F1FA-BD4F-9AB7-B9FC0A97E501}"/>
                </a:ext>
              </a:extLst>
            </p:cNvPr>
            <p:cNvGrpSpPr/>
            <p:nvPr/>
          </p:nvGrpSpPr>
          <p:grpSpPr>
            <a:xfrm>
              <a:off x="385405" y="2370672"/>
              <a:ext cx="5201218" cy="2942732"/>
              <a:chOff x="385405" y="2370672"/>
              <a:chExt cx="5201218" cy="2942732"/>
            </a:xfrm>
          </p:grpSpPr>
          <p:grpSp>
            <p:nvGrpSpPr>
              <p:cNvPr id="71" name="Group 70" descr="example digraph">
                <a:extLst>
                  <a:ext uri="{FF2B5EF4-FFF2-40B4-BE49-F238E27FC236}">
                    <a16:creationId xmlns:a16="http://schemas.microsoft.com/office/drawing/2014/main" id="{AE405A44-5707-4E4B-9CD9-C1E407E2ABA9}"/>
                  </a:ext>
                </a:extLst>
              </p:cNvPr>
              <p:cNvGrpSpPr/>
              <p:nvPr/>
            </p:nvGrpSpPr>
            <p:grpSpPr>
              <a:xfrm>
                <a:off x="514866" y="2370672"/>
                <a:ext cx="5071757" cy="2942732"/>
                <a:chOff x="768073" y="2429425"/>
                <a:chExt cx="5071757" cy="2942732"/>
              </a:xfrm>
            </p:grpSpPr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1D6D57-68D6-9C41-95F8-C201565EE971}"/>
                    </a:ext>
                  </a:extLst>
                </p:cNvPr>
                <p:cNvSpPr txBox="1"/>
                <p:nvPr/>
              </p:nvSpPr>
              <p:spPr>
                <a:xfrm>
                  <a:off x="1605358" y="2756256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86C7E904-4C15-E343-BB69-B889CCECBEF6}"/>
                    </a:ext>
                  </a:extLst>
                </p:cNvPr>
                <p:cNvSpPr txBox="1"/>
                <p:nvPr/>
              </p:nvSpPr>
              <p:spPr>
                <a:xfrm>
                  <a:off x="3528566" y="2429425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15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741109B-D075-9A4D-8C1B-9679C23BA2EE}"/>
                    </a:ext>
                  </a:extLst>
                </p:cNvPr>
                <p:cNvSpPr txBox="1"/>
                <p:nvPr/>
              </p:nvSpPr>
              <p:spPr>
                <a:xfrm>
                  <a:off x="1930054" y="332441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B98FD5-FCC4-A349-A31E-C8EF286B44F7}"/>
                    </a:ext>
                  </a:extLst>
                </p:cNvPr>
                <p:cNvSpPr txBox="1"/>
                <p:nvPr/>
              </p:nvSpPr>
              <p:spPr>
                <a:xfrm>
                  <a:off x="2049993" y="415936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13567CD-80F2-DC4C-927A-22D28BAD6494}"/>
                    </a:ext>
                  </a:extLst>
                </p:cNvPr>
                <p:cNvSpPr txBox="1"/>
                <p:nvPr/>
              </p:nvSpPr>
              <p:spPr>
                <a:xfrm>
                  <a:off x="3807978" y="3516412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26339FC-9EF4-7A4D-8A04-17D3CDA86505}"/>
                    </a:ext>
                  </a:extLst>
                </p:cNvPr>
                <p:cNvSpPr txBox="1"/>
                <p:nvPr/>
              </p:nvSpPr>
              <p:spPr>
                <a:xfrm>
                  <a:off x="2702223" y="4506587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65F5994-D869-1F42-8DC8-516A5ACF2C7B}"/>
                    </a:ext>
                  </a:extLst>
                </p:cNvPr>
                <p:cNvSpPr txBox="1"/>
                <p:nvPr/>
              </p:nvSpPr>
              <p:spPr>
                <a:xfrm>
                  <a:off x="4119828" y="44321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13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E052661-B758-FA47-BF99-8BCF892B090E}"/>
                    </a:ext>
                  </a:extLst>
                </p:cNvPr>
                <p:cNvSpPr txBox="1"/>
                <p:nvPr/>
              </p:nvSpPr>
              <p:spPr>
                <a:xfrm>
                  <a:off x="4985569" y="4251553"/>
                  <a:ext cx="37010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D43D88-A9EC-4346-ADA5-762CE3DCA0ED}"/>
                    </a:ext>
                  </a:extLst>
                </p:cNvPr>
                <p:cNvSpPr txBox="1"/>
                <p:nvPr/>
              </p:nvSpPr>
              <p:spPr>
                <a:xfrm>
                  <a:off x="5347873" y="345574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EDC5CB8-94A4-BC40-9DFA-D930E40F4C68}"/>
                    </a:ext>
                  </a:extLst>
                </p:cNvPr>
                <p:cNvSpPr txBox="1"/>
                <p:nvPr/>
              </p:nvSpPr>
              <p:spPr>
                <a:xfrm>
                  <a:off x="2528348" y="302141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702505C-1F3A-8D47-93A3-E70D16AA8AFC}"/>
                    </a:ext>
                  </a:extLst>
                </p:cNvPr>
                <p:cNvSpPr txBox="1"/>
                <p:nvPr/>
              </p:nvSpPr>
              <p:spPr>
                <a:xfrm>
                  <a:off x="3984898" y="3921300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BC37B6-CF1B-DA4D-AE01-22BEDDD9DAF5}"/>
                    </a:ext>
                  </a:extLst>
                </p:cNvPr>
                <p:cNvSpPr txBox="1"/>
                <p:nvPr/>
              </p:nvSpPr>
              <p:spPr>
                <a:xfrm>
                  <a:off x="2840585" y="5064380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A76F6FB-D490-B947-8E39-37D7FB99157A}"/>
                    </a:ext>
                  </a:extLst>
                </p:cNvPr>
                <p:cNvSpPr txBox="1"/>
                <p:nvPr/>
              </p:nvSpPr>
              <p:spPr>
                <a:xfrm>
                  <a:off x="768073" y="4106403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C734482-727E-514B-83F4-4709CFAEFE5A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68822ED-2873-F14D-A48A-7330A7E08769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5BB84C2-857B-6140-B746-1CDDBFEE78D8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7700095-F1ED-C74B-8199-114BBDC53877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4C19608-9E80-4349-A7D1-06493238ADB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533FDB2-4828-684E-B7A2-EDDC763A18DC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09EA482-F5BB-E04E-A306-D65822EEEF83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7D20544-5671-8F47-A46A-1DCB2CA061F8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BE889CCD-3753-C946-B2C8-BE0BAA799603}"/>
                    </a:ext>
                  </a:extLst>
                </p:cNvPr>
                <p:cNvCxnSpPr>
                  <a:cxnSpLocks/>
                  <a:stCxn id="21" idx="0"/>
                  <a:endCxn id="23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AAC1062-A381-5E4E-AF81-1B52F173EF62}"/>
                    </a:ext>
                  </a:extLst>
                </p:cNvPr>
                <p:cNvCxnSpPr>
                  <a:cxnSpLocks/>
                  <a:stCxn id="21" idx="6"/>
                  <a:endCxn id="24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2D701324-9AC9-334E-86E4-37F16049A7D2}"/>
                    </a:ext>
                  </a:extLst>
                </p:cNvPr>
                <p:cNvCxnSpPr>
                  <a:cxnSpLocks/>
                  <a:stCxn id="21" idx="4"/>
                  <a:endCxn id="22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A88981DE-60CA-044A-93F6-C644B957C391}"/>
                    </a:ext>
                  </a:extLst>
                </p:cNvPr>
                <p:cNvCxnSpPr>
                  <a:cxnSpLocks/>
                  <a:stCxn id="23" idx="6"/>
                  <a:endCxn id="25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8A780F74-3A7E-204C-B298-D59C8AA82F11}"/>
                    </a:ext>
                  </a:extLst>
                </p:cNvPr>
                <p:cNvCxnSpPr>
                  <a:cxnSpLocks/>
                  <a:stCxn id="25" idx="6"/>
                  <a:endCxn id="28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6006BDB4-4400-5B46-B70F-A5F800F5CD25}"/>
                    </a:ext>
                  </a:extLst>
                </p:cNvPr>
                <p:cNvCxnSpPr>
                  <a:cxnSpLocks/>
                  <a:stCxn id="24" idx="6"/>
                  <a:endCxn id="26" idx="2"/>
                </p:cNvCxnSpPr>
                <p:nvPr/>
              </p:nvCxnSpPr>
              <p:spPr>
                <a:xfrm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07AD4EC2-88EE-7548-BE25-28ADE15EF095}"/>
                    </a:ext>
                  </a:extLst>
                </p:cNvPr>
                <p:cNvCxnSpPr>
                  <a:cxnSpLocks/>
                  <a:stCxn id="22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3AEBEB13-A0D4-BD4D-8AB9-DF3A43DE1558}"/>
                    </a:ext>
                  </a:extLst>
                </p:cNvPr>
                <p:cNvCxnSpPr>
                  <a:cxnSpLocks/>
                  <a:stCxn id="26" idx="5"/>
                  <a:endCxn id="28" idx="1"/>
                </p:cNvCxnSpPr>
                <p:nvPr/>
              </p:nvCxnSpPr>
              <p:spPr>
                <a:xfrm>
                  <a:off x="5119776" y="3983396"/>
                  <a:ext cx="423712" cy="910142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6F65B15A-9958-4E4D-9B82-DA294D9DFFC0}"/>
                    </a:ext>
                  </a:extLst>
                </p:cNvPr>
                <p:cNvCxnSpPr>
                  <a:cxnSpLocks/>
                  <a:stCxn id="27" idx="5"/>
                  <a:endCxn id="28" idx="2"/>
                </p:cNvCxnSpPr>
                <p:nvPr/>
              </p:nvCxnSpPr>
              <p:spPr>
                <a:xfrm>
                  <a:off x="3864266" y="4562018"/>
                  <a:ext cx="1628378" cy="458816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D24E5CF4-306C-D344-967A-994C33A8DC01}"/>
                    </a:ext>
                  </a:extLst>
                </p:cNvPr>
                <p:cNvCxnSpPr>
                  <a:cxnSpLocks/>
                  <a:stCxn id="22" idx="5"/>
                  <a:endCxn id="28" idx="3"/>
                </p:cNvCxnSpPr>
                <p:nvPr/>
              </p:nvCxnSpPr>
              <p:spPr>
                <a:xfrm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068FB910-5ED1-EF47-A0DA-4887A6E9854E}"/>
                    </a:ext>
                  </a:extLst>
                </p:cNvPr>
                <p:cNvCxnSpPr>
                  <a:cxnSpLocks/>
                  <a:stCxn id="27" idx="7"/>
                  <a:endCxn id="26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A518963-EE96-BC4C-B492-399ED311DA46}"/>
                    </a:ext>
                  </a:extLst>
                </p:cNvPr>
                <p:cNvCxnSpPr>
                  <a:cxnSpLocks/>
                  <a:stCxn id="23" idx="4"/>
                  <a:endCxn id="24" idx="0"/>
                </p:cNvCxnSpPr>
                <p:nvPr/>
              </p:nvCxnSpPr>
              <p:spPr>
                <a:xfrm>
                  <a:off x="2701485" y="2833305"/>
                  <a:ext cx="138362" cy="73693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0EE863B-4D6D-2C46-91E7-31AFAA61BD57}"/>
                    </a:ext>
                  </a:extLst>
                </p:cNvPr>
                <p:cNvCxnSpPr>
                  <a:cxnSpLocks/>
                  <a:stCxn id="22" idx="6"/>
                  <a:endCxn id="27" idx="2"/>
                </p:cNvCxnSpPr>
                <p:nvPr/>
              </p:nvCxnSpPr>
              <p:spPr>
                <a:xfrm flipV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243F33D5-57E0-B546-AB44-44292D2BB263}"/>
                    </a:ext>
                  </a:extLst>
                </p:cNvPr>
                <p:cNvCxnSpPr>
                  <a:cxnSpLocks/>
                  <a:stCxn id="23" idx="5"/>
                  <a:endCxn id="26" idx="0"/>
                </p:cNvCxnSpPr>
                <p:nvPr/>
              </p:nvCxnSpPr>
              <p:spPr>
                <a:xfrm>
                  <a:off x="2824234" y="2780578"/>
                  <a:ext cx="2172793" cy="89550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3E9B197F-E1C7-D644-9231-2B8A11680280}"/>
                    </a:ext>
                  </a:extLst>
                </p:cNvPr>
                <p:cNvSpPr txBox="1"/>
                <p:nvPr/>
              </p:nvSpPr>
              <p:spPr>
                <a:xfrm>
                  <a:off x="3774257" y="2944922"/>
                  <a:ext cx="38343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32E95DED-174B-0D42-AD7D-60C73E8C1A5C}"/>
                    </a:ext>
                  </a:extLst>
                </p:cNvPr>
                <p:cNvCxnSpPr>
                  <a:cxnSpLocks/>
                  <a:stCxn id="26" idx="7"/>
                  <a:endCxn id="25" idx="4"/>
                </p:cNvCxnSpPr>
                <p:nvPr/>
              </p:nvCxnSpPr>
              <p:spPr>
                <a:xfrm flipH="1" flipV="1">
                  <a:off x="5020007" y="3010117"/>
                  <a:ext cx="99769" cy="718688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4F3E547-6BCA-F948-9759-0E2B064D9321}"/>
                    </a:ext>
                  </a:extLst>
                </p:cNvPr>
                <p:cNvSpPr txBox="1"/>
                <p:nvPr/>
              </p:nvSpPr>
              <p:spPr>
                <a:xfrm>
                  <a:off x="4814596" y="3082261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3C2E06C2-916F-7040-9192-B6805A184712}"/>
                    </a:ext>
                  </a:extLst>
                </p:cNvPr>
                <p:cNvCxnSpPr>
                  <a:cxnSpLocks/>
                  <a:stCxn id="24" idx="5"/>
                  <a:endCxn id="27" idx="1"/>
                </p:cNvCxnSpPr>
                <p:nvPr/>
              </p:nvCxnSpPr>
              <p:spPr>
                <a:xfrm>
                  <a:off x="2962596" y="3877560"/>
                  <a:ext cx="656172" cy="429867"/>
                </a:xfrm>
                <a:prstGeom prst="straightConnector1">
                  <a:avLst/>
                </a:prstGeom>
                <a:ln w="63500">
                  <a:solidFill>
                    <a:schemeClr val="tx1">
                      <a:alpha val="7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94BE67B-1F06-904F-8B65-7B2875DC7556}"/>
                    </a:ext>
                  </a:extLst>
                </p:cNvPr>
                <p:cNvSpPr txBox="1"/>
                <p:nvPr/>
              </p:nvSpPr>
              <p:spPr>
                <a:xfrm>
                  <a:off x="3281578" y="3882234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</p:grp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031299-E091-3D47-AEFB-9CEA9A0297C0}"/>
                  </a:ext>
                </a:extLst>
              </p:cNvPr>
              <p:cNvSpPr txBox="1"/>
              <p:nvPr/>
            </p:nvSpPr>
            <p:spPr>
              <a:xfrm>
                <a:off x="385405" y="3331498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292D73-9093-3F46-948B-143D9A5F296D}"/>
                </a:ext>
              </a:extLst>
            </p:cNvPr>
            <p:cNvSpPr txBox="1"/>
            <p:nvPr/>
          </p:nvSpPr>
          <p:spPr>
            <a:xfrm>
              <a:off x="656892" y="5769728"/>
              <a:ext cx="39934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Topological order: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0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1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4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7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5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strike="sngStrike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3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  </a:t>
              </a:r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6</a:t>
              </a:r>
              <a:endPara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5" name="Table 74" descr="data structures used by dijkstra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500306"/>
              </p:ext>
            </p:extLst>
          </p:nvPr>
        </p:nvGraphicFramePr>
        <p:xfrm>
          <a:off x="7500188" y="2107920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099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sp>
        <p:nvSpPr>
          <p:cNvPr id="51" name="TextBox 50" descr="Edge weighted algorithm for SPT (pseudocode)">
            <a:extLst>
              <a:ext uri="{FF2B5EF4-FFF2-40B4-BE49-F238E27FC236}">
                <a16:creationId xmlns:a16="http://schemas.microsoft.com/office/drawing/2014/main" id="{CF02F951-A7EE-B542-8385-11309FBF789B}"/>
              </a:ext>
            </a:extLst>
          </p:cNvPr>
          <p:cNvSpPr txBox="1"/>
          <p:nvPr/>
        </p:nvSpPr>
        <p:spPr>
          <a:xfrm>
            <a:off x="514867" y="2177039"/>
            <a:ext cx="7506916" cy="378565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dirty="0" err="1">
                <a:latin typeface="Courier" pitchFamily="2" charset="0"/>
              </a:rPr>
              <a:t>AcyclicSP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G, s): 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self.edgeTo</a:t>
            </a:r>
            <a:r>
              <a:rPr lang="en-US" sz="1600" dirty="0">
                <a:latin typeface="Courier" pitchFamily="2" charset="0"/>
              </a:rPr>
              <a:t> = [None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 = [INFINITY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[s] = 0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dforder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DepthFirstOrder</a:t>
            </a:r>
            <a:r>
              <a:rPr lang="en-US" sz="1600" dirty="0">
                <a:latin typeface="Courier" pitchFamily="2" charset="0"/>
              </a:rPr>
              <a:t>(G)</a:t>
            </a:r>
          </a:p>
          <a:p>
            <a:r>
              <a:rPr lang="en-US" sz="1600" dirty="0">
                <a:latin typeface="Courier" pitchFamily="2" charset="0"/>
              </a:rPr>
              <a:t>        topological = </a:t>
            </a:r>
            <a:r>
              <a:rPr lang="en-US" sz="1600" dirty="0" err="1">
                <a:latin typeface="Courier" pitchFamily="2" charset="0"/>
              </a:rPr>
              <a:t>dforder.reverse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    while (!</a:t>
            </a:r>
            <a:r>
              <a:rPr lang="en-US" sz="1600" dirty="0" err="1">
                <a:latin typeface="Courier" pitchFamily="2" charset="0"/>
              </a:rPr>
              <a:t>topological.isEmpty</a:t>
            </a:r>
            <a:r>
              <a:rPr lang="en-US" sz="1600" dirty="0">
                <a:latin typeface="Courier" pitchFamily="2" charset="0"/>
              </a:rPr>
              <a:t>()):</a:t>
            </a:r>
          </a:p>
          <a:p>
            <a:r>
              <a:rPr lang="en-US" sz="1600" dirty="0">
                <a:latin typeface="Courier" pitchFamily="2" charset="0"/>
              </a:rPr>
              <a:t>            v = </a:t>
            </a:r>
            <a:r>
              <a:rPr lang="en-US" sz="1600" dirty="0" err="1">
                <a:latin typeface="Courier" pitchFamily="2" charset="0"/>
              </a:rPr>
              <a:t>topological.pop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for e in </a:t>
            </a:r>
            <a:r>
              <a:rPr lang="en-US" sz="1600" dirty="0" err="1">
                <a:latin typeface="Courier" pitchFamily="2" charset="0"/>
              </a:rPr>
              <a:t>G.adj</a:t>
            </a:r>
            <a:r>
              <a:rPr lang="en-US" sz="1600" dirty="0">
                <a:latin typeface="Courier" pitchFamily="2" charset="0"/>
              </a:rPr>
              <a:t>(v):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self.relax</a:t>
            </a:r>
            <a:r>
              <a:rPr lang="en-US" sz="1600" dirty="0">
                <a:latin typeface="Courier" pitchFamily="2" charset="0"/>
              </a:rPr>
              <a:t>(e)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….</a:t>
            </a:r>
          </a:p>
        </p:txBody>
      </p:sp>
      <p:grpSp>
        <p:nvGrpSpPr>
          <p:cNvPr id="57" name="Group 56" descr="highlight code to compute topological order">
            <a:extLst>
              <a:ext uri="{FF2B5EF4-FFF2-40B4-BE49-F238E27FC236}">
                <a16:creationId xmlns:a16="http://schemas.microsoft.com/office/drawing/2014/main" id="{C281D163-A2BA-BC48-8DA6-58C23DF794CB}"/>
              </a:ext>
            </a:extLst>
          </p:cNvPr>
          <p:cNvGrpSpPr/>
          <p:nvPr/>
        </p:nvGrpSpPr>
        <p:grpSpPr>
          <a:xfrm>
            <a:off x="1483300" y="3637117"/>
            <a:ext cx="9838594" cy="574665"/>
            <a:chOff x="1487605" y="2702255"/>
            <a:chExt cx="9838594" cy="574665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07FE807-B081-7142-8EE5-E1603820E70A}"/>
                </a:ext>
              </a:extLst>
            </p:cNvPr>
            <p:cNvSpPr txBox="1"/>
            <p:nvPr/>
          </p:nvSpPr>
          <p:spPr>
            <a:xfrm>
              <a:off x="8994521" y="2727978"/>
              <a:ext cx="23316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Computation of topological order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170B665A-2C0B-A64F-AF1B-7627AB01B3FF}"/>
                </a:ext>
              </a:extLst>
            </p:cNvPr>
            <p:cNvSpPr/>
            <p:nvPr/>
          </p:nvSpPr>
          <p:spPr>
            <a:xfrm>
              <a:off x="1487605" y="2702255"/>
              <a:ext cx="6257085" cy="574665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349534A-F711-E54C-9CB5-2FFF5F40F14B}"/>
                </a:ext>
              </a:extLst>
            </p:cNvPr>
            <p:cNvCxnSpPr>
              <a:cxnSpLocks/>
              <a:stCxn id="58" idx="1"/>
              <a:endCxn id="59" idx="3"/>
            </p:cNvCxnSpPr>
            <p:nvPr/>
          </p:nvCxnSpPr>
          <p:spPr>
            <a:xfrm flipH="1">
              <a:off x="7744690" y="2989588"/>
              <a:ext cx="1249831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 descr="highlight code to process vertices in topological order">
            <a:extLst>
              <a:ext uri="{FF2B5EF4-FFF2-40B4-BE49-F238E27FC236}">
                <a16:creationId xmlns:a16="http://schemas.microsoft.com/office/drawing/2014/main" id="{D11A67C0-0394-FD4F-8617-C56BE489FF3F}"/>
              </a:ext>
            </a:extLst>
          </p:cNvPr>
          <p:cNvGrpSpPr/>
          <p:nvPr/>
        </p:nvGrpSpPr>
        <p:grpSpPr>
          <a:xfrm>
            <a:off x="1533027" y="4524613"/>
            <a:ext cx="9838594" cy="523220"/>
            <a:chOff x="1487605" y="2584312"/>
            <a:chExt cx="9838594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12B536-4F01-8044-AE61-691CFEE38A3B}"/>
                </a:ext>
              </a:extLst>
            </p:cNvPr>
            <p:cNvSpPr txBox="1"/>
            <p:nvPr/>
          </p:nvSpPr>
          <p:spPr>
            <a:xfrm>
              <a:off x="8994521" y="2584312"/>
              <a:ext cx="23316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 are processed in topological order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D8430E8-6CEE-854B-8323-DE8EAF00DBCF}"/>
                </a:ext>
              </a:extLst>
            </p:cNvPr>
            <p:cNvSpPr/>
            <p:nvPr/>
          </p:nvSpPr>
          <p:spPr>
            <a:xfrm>
              <a:off x="1487605" y="2702255"/>
              <a:ext cx="6257085" cy="287333"/>
            </a:xfrm>
            <a:prstGeom prst="round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AC12991-E79D-7C42-A7DC-5DC7D2A4369B}"/>
                </a:ext>
              </a:extLst>
            </p:cNvPr>
            <p:cNvCxnSpPr>
              <a:cxnSpLocks/>
              <a:stCxn id="22" idx="1"/>
              <a:endCxn id="23" idx="3"/>
            </p:cNvCxnSpPr>
            <p:nvPr/>
          </p:nvCxnSpPr>
          <p:spPr>
            <a:xfrm flipH="1">
              <a:off x="7744690" y="2845922"/>
              <a:ext cx="1249831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80402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Edge-weighted DAG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Cost.</a:t>
            </a:r>
            <a:r>
              <a:rPr lang="en-US" dirty="0"/>
              <a:t> Dominated by computation of topological sort on DAG (</a:t>
            </a:r>
            <a:r>
              <a:rPr lang="en-US" i="1" dirty="0"/>
              <a:t>E+V</a:t>
            </a:r>
            <a:r>
              <a:rPr lang="en-US" dirty="0"/>
              <a:t>)</a:t>
            </a:r>
          </a:p>
          <a:p>
            <a:r>
              <a:rPr lang="en-US" dirty="0">
                <a:highlight>
                  <a:srgbClr val="C0C0C0"/>
                </a:highlight>
              </a:rPr>
              <a:t>Note</a:t>
            </a:r>
            <a:r>
              <a:rPr lang="en-US" dirty="0"/>
              <a:t>. Edge weights can be negative</a:t>
            </a: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51" name="TextBox 50" descr="Prim algorithm (pseudocode)">
            <a:extLst>
              <a:ext uri="{FF2B5EF4-FFF2-40B4-BE49-F238E27FC236}">
                <a16:creationId xmlns:a16="http://schemas.microsoft.com/office/drawing/2014/main" id="{CF02F951-A7EE-B542-8385-11309FBF789B}"/>
              </a:ext>
            </a:extLst>
          </p:cNvPr>
          <p:cNvSpPr txBox="1"/>
          <p:nvPr/>
        </p:nvSpPr>
        <p:spPr>
          <a:xfrm>
            <a:off x="514867" y="2177039"/>
            <a:ext cx="7506916" cy="230832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    …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relax(self, e):</a:t>
            </a:r>
          </a:p>
          <a:p>
            <a:r>
              <a:rPr lang="en-US" sz="1600" dirty="0">
                <a:latin typeface="Courier" pitchFamily="2" charset="0"/>
              </a:rPr>
              <a:t>        v = </a:t>
            </a:r>
            <a:r>
              <a:rPr lang="en-US" sz="1600" dirty="0" err="1">
                <a:latin typeface="Courier" pitchFamily="2" charset="0"/>
              </a:rPr>
              <a:t>e.from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w = </a:t>
            </a:r>
            <a:r>
              <a:rPr lang="en-US" sz="1600" dirty="0" err="1">
                <a:latin typeface="Courier" pitchFamily="2" charset="0"/>
              </a:rPr>
              <a:t>e.to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if (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[w] &gt;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[v] +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()):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[w] = </a:t>
            </a:r>
            <a:r>
              <a:rPr lang="en-US" sz="1600" dirty="0" err="1">
                <a:latin typeface="Courier" pitchFamily="2" charset="0"/>
              </a:rPr>
              <a:t>self.distTo</a:t>
            </a:r>
            <a:r>
              <a:rPr lang="en-US" sz="1600" dirty="0">
                <a:latin typeface="Courier" pitchFamily="2" charset="0"/>
              </a:rPr>
              <a:t>[v] + </a:t>
            </a:r>
            <a:r>
              <a:rPr lang="en-US" sz="1600" dirty="0" err="1">
                <a:latin typeface="Courier" pitchFamily="2" charset="0"/>
              </a:rPr>
              <a:t>e.weight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self.edgeTo</a:t>
            </a:r>
            <a:r>
              <a:rPr lang="en-US" sz="1600" dirty="0">
                <a:latin typeface="Courier" pitchFamily="2" charset="0"/>
              </a:rPr>
              <a:t>[w] = e</a:t>
            </a:r>
          </a:p>
          <a:p>
            <a:endParaRPr lang="en-US" sz="16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4053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Shortest Path</a:t>
            </a:r>
          </a:p>
          <a:p>
            <a:pPr lvl="1"/>
            <a:r>
              <a:rPr lang="en-US" dirty="0"/>
              <a:t>Problem formulation </a:t>
            </a:r>
          </a:p>
          <a:p>
            <a:pPr lvl="1"/>
            <a:r>
              <a:rPr lang="en-US" dirty="0"/>
              <a:t>Dijkstra algorithm</a:t>
            </a:r>
          </a:p>
          <a:p>
            <a:pPr lvl="1"/>
            <a:r>
              <a:rPr lang="en-US" dirty="0"/>
              <a:t>Edge-weighted DAG algorithm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Bellman-Ford algorithm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912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FB4C-971F-014B-A4C1-6F7BA378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weights on a digraph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C307FF2-EA1A-7247-B6E4-1150B71A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Negative weights: Dijkstra does not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00" name="Group 99" descr="example graph with negative edges">
            <a:extLst>
              <a:ext uri="{FF2B5EF4-FFF2-40B4-BE49-F238E27FC236}">
                <a16:creationId xmlns:a16="http://schemas.microsoft.com/office/drawing/2014/main" id="{1EBBA921-3B29-124C-9B69-53EA7BB9C8F6}"/>
              </a:ext>
            </a:extLst>
          </p:cNvPr>
          <p:cNvGrpSpPr/>
          <p:nvPr/>
        </p:nvGrpSpPr>
        <p:grpSpPr>
          <a:xfrm>
            <a:off x="1325953" y="2100058"/>
            <a:ext cx="2403208" cy="1774879"/>
            <a:chOff x="3972170" y="1982725"/>
            <a:chExt cx="2403208" cy="177487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76A40B-BFD8-B641-B4E8-0A6170AFE346}"/>
                </a:ext>
              </a:extLst>
            </p:cNvPr>
            <p:cNvSpPr txBox="1"/>
            <p:nvPr/>
          </p:nvSpPr>
          <p:spPr>
            <a:xfrm>
              <a:off x="5001219" y="198272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282C4E-D1AE-4B4D-BC7B-07F82325065F}"/>
                </a:ext>
              </a:extLst>
            </p:cNvPr>
            <p:cNvSpPr txBox="1"/>
            <p:nvPr/>
          </p:nvSpPr>
          <p:spPr>
            <a:xfrm>
              <a:off x="4836887" y="3291598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00732D-366E-F34B-A788-4D8681744562}"/>
                </a:ext>
              </a:extLst>
            </p:cNvPr>
            <p:cNvSpPr txBox="1"/>
            <p:nvPr/>
          </p:nvSpPr>
          <p:spPr>
            <a:xfrm>
              <a:off x="3972170" y="292106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DE02557-D610-9F42-8501-EFE0F8E1948F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DFFA73-6B24-CF45-8ADE-091D45113771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892FF40-B818-9044-B7DA-2E60CFCC1A16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A904A1E-8BD2-FD4D-929F-E1C60425EBFA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C7A1632-4FE4-D34F-8052-F22DF3088A0A}"/>
                </a:ext>
              </a:extLst>
            </p:cNvPr>
            <p:cNvCxnSpPr>
              <a:cxnSpLocks/>
              <a:stCxn id="22" idx="6"/>
              <a:endCxn id="24" idx="2"/>
            </p:cNvCxnSpPr>
            <p:nvPr/>
          </p:nvCxnSpPr>
          <p:spPr>
            <a:xfrm>
              <a:off x="4393743" y="2261324"/>
              <a:ext cx="1424604" cy="304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0978FD5-D858-664A-B8EA-30D0AA9BE0D4}"/>
                </a:ext>
              </a:extLst>
            </p:cNvPr>
            <p:cNvCxnSpPr>
              <a:cxnSpLocks/>
              <a:stCxn id="25" idx="2"/>
              <a:endCxn id="23" idx="6"/>
            </p:cNvCxnSpPr>
            <p:nvPr/>
          </p:nvCxnSpPr>
          <p:spPr>
            <a:xfrm flipH="1">
              <a:off x="4393743" y="3577582"/>
              <a:ext cx="1424604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BC2D3E8-CF1D-EF46-986D-A5CC1154C891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1628826-C86F-D043-80A2-45EDDBFA80A2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5991940" y="2444391"/>
              <a:ext cx="0" cy="95316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6C75068-944C-8F41-89E3-E25820838A40}"/>
                </a:ext>
              </a:extLst>
            </p:cNvPr>
            <p:cNvSpPr txBox="1"/>
            <p:nvPr/>
          </p:nvSpPr>
          <p:spPr>
            <a:xfrm>
              <a:off x="5991940" y="28962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5093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FB4C-971F-014B-A4C1-6F7BA378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weights on a digraph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C307FF2-EA1A-7247-B6E4-1150B71A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Negative weights: Dijkstra does not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00" name="Group 99" descr="example graph with negative edges">
            <a:extLst>
              <a:ext uri="{FF2B5EF4-FFF2-40B4-BE49-F238E27FC236}">
                <a16:creationId xmlns:a16="http://schemas.microsoft.com/office/drawing/2014/main" id="{1EBBA921-3B29-124C-9B69-53EA7BB9C8F6}"/>
              </a:ext>
            </a:extLst>
          </p:cNvPr>
          <p:cNvGrpSpPr/>
          <p:nvPr/>
        </p:nvGrpSpPr>
        <p:grpSpPr>
          <a:xfrm>
            <a:off x="1325953" y="2100058"/>
            <a:ext cx="2403208" cy="1774879"/>
            <a:chOff x="3972170" y="1982725"/>
            <a:chExt cx="2403208" cy="177487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76A40B-BFD8-B641-B4E8-0A6170AFE346}"/>
                </a:ext>
              </a:extLst>
            </p:cNvPr>
            <p:cNvSpPr txBox="1"/>
            <p:nvPr/>
          </p:nvSpPr>
          <p:spPr>
            <a:xfrm>
              <a:off x="5001219" y="198272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282C4E-D1AE-4B4D-BC7B-07F82325065F}"/>
                </a:ext>
              </a:extLst>
            </p:cNvPr>
            <p:cNvSpPr txBox="1"/>
            <p:nvPr/>
          </p:nvSpPr>
          <p:spPr>
            <a:xfrm>
              <a:off x="4836887" y="3291598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00732D-366E-F34B-A788-4D8681744562}"/>
                </a:ext>
              </a:extLst>
            </p:cNvPr>
            <p:cNvSpPr txBox="1"/>
            <p:nvPr/>
          </p:nvSpPr>
          <p:spPr>
            <a:xfrm>
              <a:off x="3972170" y="292106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DE02557-D610-9F42-8501-EFE0F8E1948F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DFFA73-6B24-CF45-8ADE-091D45113771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892FF40-B818-9044-B7DA-2E60CFCC1A16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A904A1E-8BD2-FD4D-929F-E1C60425EBFA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0978FD5-D858-664A-B8EA-30D0AA9BE0D4}"/>
                </a:ext>
              </a:extLst>
            </p:cNvPr>
            <p:cNvCxnSpPr>
              <a:cxnSpLocks/>
              <a:stCxn id="25" idx="2"/>
              <a:endCxn id="23" idx="6"/>
            </p:cNvCxnSpPr>
            <p:nvPr/>
          </p:nvCxnSpPr>
          <p:spPr>
            <a:xfrm flipH="1">
              <a:off x="4393743" y="3577582"/>
              <a:ext cx="1424604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BC2D3E8-CF1D-EF46-986D-A5CC1154C891}"/>
                </a:ext>
              </a:extLst>
            </p:cNvPr>
            <p:cNvCxnSpPr>
              <a:cxnSpLocks/>
              <a:stCxn id="22" idx="4"/>
              <a:endCxn id="23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1628826-C86F-D043-80A2-45EDDBFA80A2}"/>
                </a:ext>
              </a:extLst>
            </p:cNvPr>
            <p:cNvCxnSpPr>
              <a:cxnSpLocks/>
              <a:stCxn id="24" idx="4"/>
              <a:endCxn id="25" idx="0"/>
            </p:cNvCxnSpPr>
            <p:nvPr/>
          </p:nvCxnSpPr>
          <p:spPr>
            <a:xfrm>
              <a:off x="5991940" y="2444391"/>
              <a:ext cx="0" cy="95316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6C75068-944C-8F41-89E3-E25820838A40}"/>
                </a:ext>
              </a:extLst>
            </p:cNvPr>
            <p:cNvSpPr txBox="1"/>
            <p:nvPr/>
          </p:nvSpPr>
          <p:spPr>
            <a:xfrm>
              <a:off x="5991940" y="28962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B79C5BBD-7372-3B4A-9626-849D58D9E411}"/>
              </a:ext>
            </a:extLst>
          </p:cNvPr>
          <p:cNvSpPr/>
          <p:nvPr/>
        </p:nvSpPr>
        <p:spPr>
          <a:xfrm>
            <a:off x="1400340" y="2198634"/>
            <a:ext cx="347186" cy="360045"/>
          </a:xfrm>
          <a:prstGeom prst="ellipse">
            <a:avLst/>
          </a:prstGeom>
          <a:noFill/>
          <a:ln w="63500">
            <a:solidFill>
              <a:schemeClr val="tx1">
                <a:alpha val="7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73106C-E385-5E4B-8422-5135DED81E56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747526" y="2378657"/>
            <a:ext cx="1424604" cy="3045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8103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FB4C-971F-014B-A4C1-6F7BA378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weights on a digraph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C307FF2-EA1A-7247-B6E4-1150B71A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Negative weights: Dijkstra does not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highlight>
                <a:srgbClr val="C0C0C0"/>
              </a:highlight>
            </a:endParaRPr>
          </a:p>
        </p:txBody>
      </p:sp>
      <p:grpSp>
        <p:nvGrpSpPr>
          <p:cNvPr id="107" name="Group 106" descr="dijkstra does not work on graph with negative edges (wrong path chosen)">
            <a:extLst>
              <a:ext uri="{FF2B5EF4-FFF2-40B4-BE49-F238E27FC236}">
                <a16:creationId xmlns:a16="http://schemas.microsoft.com/office/drawing/2014/main" id="{9CF773C6-E6E0-EC4D-AE3E-D95DD95874F2}"/>
              </a:ext>
            </a:extLst>
          </p:cNvPr>
          <p:cNvGrpSpPr/>
          <p:nvPr/>
        </p:nvGrpSpPr>
        <p:grpSpPr>
          <a:xfrm>
            <a:off x="1325953" y="2100058"/>
            <a:ext cx="2403208" cy="1774879"/>
            <a:chOff x="3972170" y="1982725"/>
            <a:chExt cx="2403208" cy="1774879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1EDA542-36D2-6B4D-85B5-5ACCBA4111AF}"/>
                </a:ext>
              </a:extLst>
            </p:cNvPr>
            <p:cNvSpPr txBox="1"/>
            <p:nvPr/>
          </p:nvSpPr>
          <p:spPr>
            <a:xfrm>
              <a:off x="5001219" y="198272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BF057FA-2E96-5946-88E9-A46356FA4616}"/>
                </a:ext>
              </a:extLst>
            </p:cNvPr>
            <p:cNvSpPr txBox="1"/>
            <p:nvPr/>
          </p:nvSpPr>
          <p:spPr>
            <a:xfrm>
              <a:off x="4836887" y="3291598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CD1E375-9474-3D4C-9E8F-45867CC9FD0A}"/>
                </a:ext>
              </a:extLst>
            </p:cNvPr>
            <p:cNvSpPr txBox="1"/>
            <p:nvPr/>
          </p:nvSpPr>
          <p:spPr>
            <a:xfrm>
              <a:off x="3972170" y="292106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39747BE9-E3C6-C740-B45A-964409A611A1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2407F48-3E36-4440-A097-1789BBA4E7A6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9BBE957-208D-3E42-9D7B-F23F149E9DD3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2A4A393-AD88-8F45-BC6A-47C0AD0CB0EF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1D08A20-892F-F046-99FE-2BBEC4A387EF}"/>
                </a:ext>
              </a:extLst>
            </p:cNvPr>
            <p:cNvCxnSpPr>
              <a:cxnSpLocks/>
              <a:stCxn id="111" idx="6"/>
              <a:endCxn id="113" idx="2"/>
            </p:cNvCxnSpPr>
            <p:nvPr/>
          </p:nvCxnSpPr>
          <p:spPr>
            <a:xfrm>
              <a:off x="4393743" y="2261324"/>
              <a:ext cx="1424604" cy="3045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6CD97308-3660-D44C-B55B-812D971C5B1E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6DBD39C-61FB-214D-9FEE-EDE8F08F3EC3}"/>
                </a:ext>
              </a:extLst>
            </p:cNvPr>
            <p:cNvSpPr txBox="1"/>
            <p:nvPr/>
          </p:nvSpPr>
          <p:spPr>
            <a:xfrm>
              <a:off x="5991940" y="28962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E20595-29FD-674F-8D42-D65725E91D12}"/>
              </a:ext>
            </a:extLst>
          </p:cNvPr>
          <p:cNvCxnSpPr>
            <a:cxnSpLocks/>
          </p:cNvCxnSpPr>
          <p:nvPr/>
        </p:nvCxnSpPr>
        <p:spPr>
          <a:xfrm>
            <a:off x="3345723" y="2561724"/>
            <a:ext cx="0" cy="95316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655307-BBFE-294A-B783-91FA669DD314}"/>
              </a:ext>
            </a:extLst>
          </p:cNvPr>
          <p:cNvCxnSpPr>
            <a:cxnSpLocks/>
          </p:cNvCxnSpPr>
          <p:nvPr/>
        </p:nvCxnSpPr>
        <p:spPr>
          <a:xfrm flipH="1">
            <a:off x="1747526" y="3694915"/>
            <a:ext cx="1424604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2488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FB4C-971F-014B-A4C1-6F7BA378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weights on a digraph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C307FF2-EA1A-7247-B6E4-1150B71A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Negative weights: Dijkstra does not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highlight>
                <a:srgbClr val="C0C0C0"/>
              </a:highlight>
            </a:endParaRPr>
          </a:p>
        </p:txBody>
      </p:sp>
      <p:grpSp>
        <p:nvGrpSpPr>
          <p:cNvPr id="107" name="Group 106" descr="dijkstra does not work on graph with negative edges (wrong path chosen)">
            <a:extLst>
              <a:ext uri="{FF2B5EF4-FFF2-40B4-BE49-F238E27FC236}">
                <a16:creationId xmlns:a16="http://schemas.microsoft.com/office/drawing/2014/main" id="{9CF773C6-E6E0-EC4D-AE3E-D95DD95874F2}"/>
              </a:ext>
            </a:extLst>
          </p:cNvPr>
          <p:cNvGrpSpPr/>
          <p:nvPr/>
        </p:nvGrpSpPr>
        <p:grpSpPr>
          <a:xfrm>
            <a:off x="1325953" y="2100058"/>
            <a:ext cx="2403208" cy="1774879"/>
            <a:chOff x="3972170" y="1982725"/>
            <a:chExt cx="2403208" cy="1774879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1EDA542-36D2-6B4D-85B5-5ACCBA4111AF}"/>
                </a:ext>
              </a:extLst>
            </p:cNvPr>
            <p:cNvSpPr txBox="1"/>
            <p:nvPr/>
          </p:nvSpPr>
          <p:spPr>
            <a:xfrm>
              <a:off x="5001219" y="198272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BF057FA-2E96-5946-88E9-A46356FA4616}"/>
                </a:ext>
              </a:extLst>
            </p:cNvPr>
            <p:cNvSpPr txBox="1"/>
            <p:nvPr/>
          </p:nvSpPr>
          <p:spPr>
            <a:xfrm>
              <a:off x="4836887" y="3291598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CD1E375-9474-3D4C-9E8F-45867CC9FD0A}"/>
                </a:ext>
              </a:extLst>
            </p:cNvPr>
            <p:cNvSpPr txBox="1"/>
            <p:nvPr/>
          </p:nvSpPr>
          <p:spPr>
            <a:xfrm>
              <a:off x="3972170" y="292106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39747BE9-E3C6-C740-B45A-964409A611A1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2407F48-3E36-4440-A097-1789BBA4E7A6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9BBE957-208D-3E42-9D7B-F23F149E9DD3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2A4A393-AD88-8F45-BC6A-47C0AD0CB0EF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1D08A20-892F-F046-99FE-2BBEC4A387EF}"/>
                </a:ext>
              </a:extLst>
            </p:cNvPr>
            <p:cNvCxnSpPr>
              <a:cxnSpLocks/>
              <a:stCxn id="111" idx="6"/>
              <a:endCxn id="113" idx="2"/>
            </p:cNvCxnSpPr>
            <p:nvPr/>
          </p:nvCxnSpPr>
          <p:spPr>
            <a:xfrm>
              <a:off x="4393743" y="2261324"/>
              <a:ext cx="1424604" cy="3045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1DC2251-DBBE-BB4B-BF31-A0E83B38D355}"/>
                </a:ext>
              </a:extLst>
            </p:cNvPr>
            <p:cNvCxnSpPr>
              <a:cxnSpLocks/>
              <a:stCxn id="114" idx="2"/>
              <a:endCxn id="112" idx="6"/>
            </p:cNvCxnSpPr>
            <p:nvPr/>
          </p:nvCxnSpPr>
          <p:spPr>
            <a:xfrm flipH="1">
              <a:off x="4393743" y="3577582"/>
              <a:ext cx="14246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6CD97308-3660-D44C-B55B-812D971C5B1E}"/>
                </a:ext>
              </a:extLst>
            </p:cNvPr>
            <p:cNvCxnSpPr>
              <a:cxnSpLocks/>
              <a:stCxn id="111" idx="4"/>
              <a:endCxn id="112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6DBD39C-61FB-214D-9FEE-EDE8F08F3EC3}"/>
                </a:ext>
              </a:extLst>
            </p:cNvPr>
            <p:cNvSpPr txBox="1"/>
            <p:nvPr/>
          </p:nvSpPr>
          <p:spPr>
            <a:xfrm>
              <a:off x="5991940" y="28962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E20595-29FD-674F-8D42-D65725E91D12}"/>
              </a:ext>
            </a:extLst>
          </p:cNvPr>
          <p:cNvCxnSpPr>
            <a:cxnSpLocks/>
          </p:cNvCxnSpPr>
          <p:nvPr/>
        </p:nvCxnSpPr>
        <p:spPr>
          <a:xfrm>
            <a:off x="3345723" y="2561724"/>
            <a:ext cx="0" cy="95316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729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FB4C-971F-014B-A4C1-6F7BA378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weights on a digraph</a:t>
            </a:r>
          </a:p>
        </p:txBody>
      </p:sp>
      <p:sp>
        <p:nvSpPr>
          <p:cNvPr id="105" name="Content Placeholder 2">
            <a:extLst>
              <a:ext uri="{FF2B5EF4-FFF2-40B4-BE49-F238E27FC236}">
                <a16:creationId xmlns:a16="http://schemas.microsoft.com/office/drawing/2014/main" id="{2C307FF2-EA1A-7247-B6E4-1150B71A4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Negative weights: Dijkstra does not work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Edge re-weighting does not work either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highlight>
                <a:srgbClr val="C0C0C0"/>
              </a:highlight>
            </a:endParaRPr>
          </a:p>
        </p:txBody>
      </p:sp>
      <p:grpSp>
        <p:nvGrpSpPr>
          <p:cNvPr id="65" name="Group 64" descr="dijkstra does not work on graph with negative edges (wrong path chosen)">
            <a:extLst>
              <a:ext uri="{FF2B5EF4-FFF2-40B4-BE49-F238E27FC236}">
                <a16:creationId xmlns:a16="http://schemas.microsoft.com/office/drawing/2014/main" id="{90D6FF13-FC2C-B645-ACF9-61C1C55598A6}"/>
              </a:ext>
            </a:extLst>
          </p:cNvPr>
          <p:cNvGrpSpPr/>
          <p:nvPr/>
        </p:nvGrpSpPr>
        <p:grpSpPr>
          <a:xfrm>
            <a:off x="1325953" y="2100058"/>
            <a:ext cx="2403208" cy="1774879"/>
            <a:chOff x="3972170" y="1982725"/>
            <a:chExt cx="2403208" cy="177487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6E9251-6481-2041-A1F7-FA086FDE3A4B}"/>
                </a:ext>
              </a:extLst>
            </p:cNvPr>
            <p:cNvSpPr txBox="1"/>
            <p:nvPr/>
          </p:nvSpPr>
          <p:spPr>
            <a:xfrm>
              <a:off x="5001219" y="198272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C95CAFD-E07F-4E47-9880-1153F207F66F}"/>
                </a:ext>
              </a:extLst>
            </p:cNvPr>
            <p:cNvSpPr txBox="1"/>
            <p:nvPr/>
          </p:nvSpPr>
          <p:spPr>
            <a:xfrm>
              <a:off x="4836887" y="3291598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D17D3E7-6D6B-3946-AF9B-03D2C06C9AF7}"/>
                </a:ext>
              </a:extLst>
            </p:cNvPr>
            <p:cNvSpPr txBox="1"/>
            <p:nvPr/>
          </p:nvSpPr>
          <p:spPr>
            <a:xfrm>
              <a:off x="3972170" y="292106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0CE2702-C352-B64D-8178-F6228741B6BB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F7D7D5E-E465-1442-945D-0DF3E725FF42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E889936-135A-FA4E-B039-C49D89677709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21AF5AC-DF4C-4347-86FD-70B422A80A21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DCC3719-5627-3E4C-8CF6-7F3D1122E9D1}"/>
                </a:ext>
              </a:extLst>
            </p:cNvPr>
            <p:cNvCxnSpPr>
              <a:cxnSpLocks/>
              <a:stCxn id="69" idx="6"/>
              <a:endCxn id="71" idx="2"/>
            </p:cNvCxnSpPr>
            <p:nvPr/>
          </p:nvCxnSpPr>
          <p:spPr>
            <a:xfrm>
              <a:off x="4393743" y="2261324"/>
              <a:ext cx="1424604" cy="3045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86BB859-AC29-564A-A2FE-D915772605AC}"/>
                </a:ext>
              </a:extLst>
            </p:cNvPr>
            <p:cNvCxnSpPr>
              <a:cxnSpLocks/>
              <a:stCxn id="72" idx="2"/>
              <a:endCxn id="70" idx="6"/>
            </p:cNvCxnSpPr>
            <p:nvPr/>
          </p:nvCxnSpPr>
          <p:spPr>
            <a:xfrm flipH="1">
              <a:off x="4393743" y="3577582"/>
              <a:ext cx="142460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F2AB0AA-F0F6-2C4E-98B3-DD9549A002E6}"/>
                </a:ext>
              </a:extLst>
            </p:cNvPr>
            <p:cNvCxnSpPr>
              <a:cxnSpLocks/>
              <a:stCxn id="69" idx="4"/>
              <a:endCxn id="70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9B0B8B7-F97F-744F-BD4B-359E13562235}"/>
                </a:ext>
              </a:extLst>
            </p:cNvPr>
            <p:cNvCxnSpPr>
              <a:cxnSpLocks/>
              <a:stCxn id="71" idx="4"/>
              <a:endCxn id="72" idx="0"/>
            </p:cNvCxnSpPr>
            <p:nvPr/>
          </p:nvCxnSpPr>
          <p:spPr>
            <a:xfrm>
              <a:off x="5991940" y="2444391"/>
              <a:ext cx="0" cy="953168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2F7A1BA-4EFB-E543-A4F4-23BBA863EC83}"/>
                </a:ext>
              </a:extLst>
            </p:cNvPr>
            <p:cNvSpPr txBox="1"/>
            <p:nvPr/>
          </p:nvSpPr>
          <p:spPr>
            <a:xfrm>
              <a:off x="5991940" y="289629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grpSp>
        <p:nvGrpSpPr>
          <p:cNvPr id="52" name="Group 51" descr="example graph after edge re-weighting">
            <a:extLst>
              <a:ext uri="{FF2B5EF4-FFF2-40B4-BE49-F238E27FC236}">
                <a16:creationId xmlns:a16="http://schemas.microsoft.com/office/drawing/2014/main" id="{02EEF02F-0809-DC42-83EB-19877329E3A1}"/>
              </a:ext>
            </a:extLst>
          </p:cNvPr>
          <p:cNvGrpSpPr/>
          <p:nvPr/>
        </p:nvGrpSpPr>
        <p:grpSpPr>
          <a:xfrm>
            <a:off x="1041415" y="4671244"/>
            <a:ext cx="2905683" cy="1774879"/>
            <a:chOff x="3718161" y="1982725"/>
            <a:chExt cx="2905683" cy="1774879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FDE226-DFE9-B248-A96A-E3C6D954A7BA}"/>
                </a:ext>
              </a:extLst>
            </p:cNvPr>
            <p:cNvSpPr txBox="1"/>
            <p:nvPr/>
          </p:nvSpPr>
          <p:spPr>
            <a:xfrm>
              <a:off x="5001219" y="198272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25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22B28AE-C2B5-5544-AE63-6EBF45619FFD}"/>
                </a:ext>
              </a:extLst>
            </p:cNvPr>
            <p:cNvSpPr txBox="1"/>
            <p:nvPr/>
          </p:nvSpPr>
          <p:spPr>
            <a:xfrm>
              <a:off x="4836887" y="3291598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F906EAE-822D-3E47-A70D-8691BF8FCD0D}"/>
                </a:ext>
              </a:extLst>
            </p:cNvPr>
            <p:cNvSpPr txBox="1"/>
            <p:nvPr/>
          </p:nvSpPr>
          <p:spPr>
            <a:xfrm>
              <a:off x="3718161" y="2801391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22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9D50922-63F3-D44F-A11E-E06016A1F31A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71EDE70-49E9-594E-A782-06BCCC36E5B1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B80D5BD-528B-CB43-9428-C8C5AFAA415C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DF5F3FB-9A48-0A47-9545-AC2C6BEE12D5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D7CF50E-D4F2-5A48-8BC0-091F2784A1F1}"/>
                </a:ext>
              </a:extLst>
            </p:cNvPr>
            <p:cNvCxnSpPr>
              <a:cxnSpLocks/>
              <a:stCxn id="56" idx="6"/>
              <a:endCxn id="58" idx="2"/>
            </p:cNvCxnSpPr>
            <p:nvPr/>
          </p:nvCxnSpPr>
          <p:spPr>
            <a:xfrm>
              <a:off x="4393743" y="2261324"/>
              <a:ext cx="1424604" cy="304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F165A47-F1DC-F24D-ADDA-4B66976B8160}"/>
                </a:ext>
              </a:extLst>
            </p:cNvPr>
            <p:cNvCxnSpPr>
              <a:cxnSpLocks/>
              <a:stCxn id="59" idx="2"/>
              <a:endCxn id="57" idx="6"/>
            </p:cNvCxnSpPr>
            <p:nvPr/>
          </p:nvCxnSpPr>
          <p:spPr>
            <a:xfrm flipH="1">
              <a:off x="4393743" y="3577582"/>
              <a:ext cx="1424604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42F8289-DA11-544C-BC88-36B123FF0E74}"/>
                </a:ext>
              </a:extLst>
            </p:cNvPr>
            <p:cNvCxnSpPr>
              <a:cxnSpLocks/>
              <a:stCxn id="56" idx="4"/>
              <a:endCxn id="57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4919D9B-2C21-2E44-B144-693D4C2F7E3E}"/>
                </a:ext>
              </a:extLst>
            </p:cNvPr>
            <p:cNvCxnSpPr>
              <a:cxnSpLocks/>
              <a:stCxn id="58" idx="4"/>
              <a:endCxn id="59" idx="0"/>
            </p:cNvCxnSpPr>
            <p:nvPr/>
          </p:nvCxnSpPr>
          <p:spPr>
            <a:xfrm>
              <a:off x="5991940" y="2444391"/>
              <a:ext cx="0" cy="95316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6ED9F04-196B-4940-A97F-6FB007C60B7E}"/>
                </a:ext>
              </a:extLst>
            </p:cNvPr>
            <p:cNvSpPr txBox="1"/>
            <p:nvPr/>
          </p:nvSpPr>
          <p:spPr>
            <a:xfrm>
              <a:off x="5991940" y="2896296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27</a:t>
              </a:r>
            </a:p>
          </p:txBody>
        </p:sp>
      </p:grpSp>
      <p:grpSp>
        <p:nvGrpSpPr>
          <p:cNvPr id="78" name="Group 77" descr="dijkstra does not work again (changed semantics of graph)">
            <a:extLst>
              <a:ext uri="{FF2B5EF4-FFF2-40B4-BE49-F238E27FC236}">
                <a16:creationId xmlns:a16="http://schemas.microsoft.com/office/drawing/2014/main" id="{B096C41D-35C2-FF48-B05C-C361183F8F3C}"/>
              </a:ext>
            </a:extLst>
          </p:cNvPr>
          <p:cNvGrpSpPr/>
          <p:nvPr/>
        </p:nvGrpSpPr>
        <p:grpSpPr>
          <a:xfrm>
            <a:off x="4060162" y="4698953"/>
            <a:ext cx="2905683" cy="1774879"/>
            <a:chOff x="3718161" y="1982725"/>
            <a:chExt cx="2905683" cy="1774879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7C4605D-B573-BF4B-8830-119EA049CEAD}"/>
                </a:ext>
              </a:extLst>
            </p:cNvPr>
            <p:cNvSpPr txBox="1"/>
            <p:nvPr/>
          </p:nvSpPr>
          <p:spPr>
            <a:xfrm>
              <a:off x="5001219" y="1982725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25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F8DD414-889C-614C-9883-0D3AC2E23F56}"/>
                </a:ext>
              </a:extLst>
            </p:cNvPr>
            <p:cNvSpPr txBox="1"/>
            <p:nvPr/>
          </p:nvSpPr>
          <p:spPr>
            <a:xfrm>
              <a:off x="4836887" y="3291598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-17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0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FBD2BE7-3734-C34C-92A1-25B8DD4A6313}"/>
                </a:ext>
              </a:extLst>
            </p:cNvPr>
            <p:cNvSpPr txBox="1"/>
            <p:nvPr/>
          </p:nvSpPr>
          <p:spPr>
            <a:xfrm>
              <a:off x="3718161" y="2801391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22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128836F-A89C-DA46-A367-65D977F805CD}"/>
                </a:ext>
              </a:extLst>
            </p:cNvPr>
            <p:cNvSpPr/>
            <p:nvPr/>
          </p:nvSpPr>
          <p:spPr>
            <a:xfrm>
              <a:off x="4046557" y="2081301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43C3CC0-84F8-2B4B-B00F-28FA05F1EA4A}"/>
                </a:ext>
              </a:extLst>
            </p:cNvPr>
            <p:cNvSpPr/>
            <p:nvPr/>
          </p:nvSpPr>
          <p:spPr>
            <a:xfrm>
              <a:off x="4046557" y="3397559"/>
              <a:ext cx="347186" cy="360045"/>
            </a:xfrm>
            <a:prstGeom prst="ellipse">
              <a:avLst/>
            </a:prstGeom>
            <a:noFill/>
            <a:ln w="63500">
              <a:solidFill>
                <a:schemeClr val="tx1">
                  <a:alpha val="7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52191523-05D1-444A-B5FA-87EC074E2056}"/>
                </a:ext>
              </a:extLst>
            </p:cNvPr>
            <p:cNvSpPr/>
            <p:nvPr/>
          </p:nvSpPr>
          <p:spPr>
            <a:xfrm>
              <a:off x="5818347" y="2084346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3FF8DE9-02A2-334A-89ED-5F3B008577B9}"/>
                </a:ext>
              </a:extLst>
            </p:cNvPr>
            <p:cNvSpPr/>
            <p:nvPr/>
          </p:nvSpPr>
          <p:spPr>
            <a:xfrm>
              <a:off x="5818347" y="3397559"/>
              <a:ext cx="347186" cy="360045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10E7161-3D7A-EF44-AFBD-0A5CC41F493E}"/>
                </a:ext>
              </a:extLst>
            </p:cNvPr>
            <p:cNvCxnSpPr>
              <a:cxnSpLocks/>
              <a:stCxn id="82" idx="6"/>
              <a:endCxn id="84" idx="2"/>
            </p:cNvCxnSpPr>
            <p:nvPr/>
          </p:nvCxnSpPr>
          <p:spPr>
            <a:xfrm>
              <a:off x="4393743" y="2261324"/>
              <a:ext cx="1424604" cy="304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9C2AAC4-00EC-7949-AF8B-785181CAB1C3}"/>
                </a:ext>
              </a:extLst>
            </p:cNvPr>
            <p:cNvCxnSpPr>
              <a:cxnSpLocks/>
              <a:stCxn id="85" idx="2"/>
              <a:endCxn id="83" idx="6"/>
            </p:cNvCxnSpPr>
            <p:nvPr/>
          </p:nvCxnSpPr>
          <p:spPr>
            <a:xfrm flipH="1">
              <a:off x="4393743" y="3577582"/>
              <a:ext cx="1424604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784117F4-8C9E-A642-A789-EF44F90A328E}"/>
                </a:ext>
              </a:extLst>
            </p:cNvPr>
            <p:cNvCxnSpPr>
              <a:cxnSpLocks/>
              <a:stCxn id="82" idx="4"/>
              <a:endCxn id="83" idx="0"/>
            </p:cNvCxnSpPr>
            <p:nvPr/>
          </p:nvCxnSpPr>
          <p:spPr>
            <a:xfrm>
              <a:off x="4220150" y="2441346"/>
              <a:ext cx="0" cy="956213"/>
            </a:xfrm>
            <a:prstGeom prst="straightConnector1">
              <a:avLst/>
            </a:prstGeom>
            <a:ln w="63500">
              <a:solidFill>
                <a:schemeClr val="tx1">
                  <a:alpha val="7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B367705-41CA-5243-9D90-4095BAC6CA5E}"/>
                </a:ext>
              </a:extLst>
            </p:cNvPr>
            <p:cNvCxnSpPr>
              <a:cxnSpLocks/>
              <a:stCxn id="84" idx="4"/>
              <a:endCxn id="85" idx="0"/>
            </p:cNvCxnSpPr>
            <p:nvPr/>
          </p:nvCxnSpPr>
          <p:spPr>
            <a:xfrm>
              <a:off x="5991940" y="2444391"/>
              <a:ext cx="0" cy="95316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304BF40-05AB-8A4C-8337-18F0BC0E0DDE}"/>
                </a:ext>
              </a:extLst>
            </p:cNvPr>
            <p:cNvSpPr txBox="1"/>
            <p:nvPr/>
          </p:nvSpPr>
          <p:spPr>
            <a:xfrm>
              <a:off x="5991940" y="2896296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trike="sngStrike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r>
                <a:rPr lang="en-US" sz="14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90908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8A17-7EDD-D642-BF64-D31D975F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cycles on a digraph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5BFE-AEFA-A849-95B3-6C82058F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highlight>
                  <a:srgbClr val="C0C0C0"/>
                </a:highlight>
              </a:rPr>
              <a:t>negative cycle</a:t>
            </a:r>
            <a:r>
              <a:rPr lang="en-US" dirty="0"/>
              <a:t> is a directed cycle where the sum of its edge weights is negative</a:t>
            </a:r>
            <a:endParaRPr lang="en-US" dirty="0">
              <a:highlight>
                <a:srgbClr val="C0C0C0"/>
              </a:highlight>
            </a:endParaRPr>
          </a:p>
          <a:p>
            <a:r>
              <a:rPr lang="en-US" dirty="0"/>
              <a:t>A Shortest Paths Tree (SPT) does not exist if the digraph has negative cycles </a:t>
            </a:r>
          </a:p>
        </p:txBody>
      </p:sp>
      <p:grpSp>
        <p:nvGrpSpPr>
          <p:cNvPr id="90" name="Group 89" descr="example digraph with negative cycle">
            <a:extLst>
              <a:ext uri="{FF2B5EF4-FFF2-40B4-BE49-F238E27FC236}">
                <a16:creationId xmlns:a16="http://schemas.microsoft.com/office/drawing/2014/main" id="{ADB415CD-8C8C-2D4B-9C6B-11511E839DD4}"/>
              </a:ext>
            </a:extLst>
          </p:cNvPr>
          <p:cNvGrpSpPr/>
          <p:nvPr/>
        </p:nvGrpSpPr>
        <p:grpSpPr>
          <a:xfrm>
            <a:off x="1019964" y="3662541"/>
            <a:ext cx="4917456" cy="2727596"/>
            <a:chOff x="1019964" y="3662541"/>
            <a:chExt cx="4917456" cy="2727596"/>
          </a:xfrm>
        </p:grpSpPr>
        <p:grpSp>
          <p:nvGrpSpPr>
            <p:cNvPr id="21" name="Group 20" descr="example digraph with negative cycle">
              <a:extLst>
                <a:ext uri="{FF2B5EF4-FFF2-40B4-BE49-F238E27FC236}">
                  <a16:creationId xmlns:a16="http://schemas.microsoft.com/office/drawing/2014/main" id="{539FC436-A6F7-A343-8F19-BF133EEB1E47}"/>
                </a:ext>
              </a:extLst>
            </p:cNvPr>
            <p:cNvGrpSpPr/>
            <p:nvPr/>
          </p:nvGrpSpPr>
          <p:grpSpPr>
            <a:xfrm>
              <a:off x="1019964" y="3662541"/>
              <a:ext cx="4917456" cy="2727596"/>
              <a:chOff x="669167" y="2414507"/>
              <a:chExt cx="4917456" cy="2727596"/>
            </a:xfrm>
          </p:grpSpPr>
          <p:grpSp>
            <p:nvGrpSpPr>
              <p:cNvPr id="22" name="Group 21" descr="example digraph">
                <a:extLst>
                  <a:ext uri="{FF2B5EF4-FFF2-40B4-BE49-F238E27FC236}">
                    <a16:creationId xmlns:a16="http://schemas.microsoft.com/office/drawing/2014/main" id="{E3F62B30-049F-F24B-8DBC-ACE589752D5E}"/>
                  </a:ext>
                </a:extLst>
              </p:cNvPr>
              <p:cNvGrpSpPr/>
              <p:nvPr/>
            </p:nvGrpSpPr>
            <p:grpSpPr>
              <a:xfrm>
                <a:off x="669167" y="2414507"/>
                <a:ext cx="4917456" cy="2727596"/>
                <a:chOff x="922374" y="2473260"/>
                <a:chExt cx="4917456" cy="2727596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0A1199AA-058E-A746-8EBB-DC7206447EB1}"/>
                    </a:ext>
                  </a:extLst>
                </p:cNvPr>
                <p:cNvSpPr/>
                <p:nvPr/>
              </p:nvSpPr>
              <p:spPr>
                <a:xfrm>
                  <a:off x="922374" y="3406507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640D11D2-3647-B141-8FE9-58048D5505F0}"/>
                    </a:ext>
                  </a:extLst>
                </p:cNvPr>
                <p:cNvSpPr/>
                <p:nvPr/>
              </p:nvSpPr>
              <p:spPr>
                <a:xfrm>
                  <a:off x="922374" y="4660789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A6CCE7B6-26CC-D944-A32D-0FF33D7A527E}"/>
                    </a:ext>
                  </a:extLst>
                </p:cNvPr>
                <p:cNvSpPr/>
                <p:nvPr/>
              </p:nvSpPr>
              <p:spPr>
                <a:xfrm>
                  <a:off x="2527892" y="2473260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D196FEB-D1D8-3642-A73E-984B0452CEF2}"/>
                    </a:ext>
                  </a:extLst>
                </p:cNvPr>
                <p:cNvSpPr/>
                <p:nvPr/>
              </p:nvSpPr>
              <p:spPr>
                <a:xfrm>
                  <a:off x="2666254" y="357024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6C2DFAA0-ED3B-934F-845A-97613A39AC73}"/>
                    </a:ext>
                  </a:extLst>
                </p:cNvPr>
                <p:cNvSpPr/>
                <p:nvPr/>
              </p:nvSpPr>
              <p:spPr>
                <a:xfrm>
                  <a:off x="4846414" y="2650072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5EB7E1C-ED39-AD4F-99A7-BC06096AA430}"/>
                    </a:ext>
                  </a:extLst>
                </p:cNvPr>
                <p:cNvSpPr/>
                <p:nvPr/>
              </p:nvSpPr>
              <p:spPr>
                <a:xfrm>
                  <a:off x="4823434" y="3676078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DC32793-6BBE-7446-8822-ED1F5D653702}"/>
                    </a:ext>
                  </a:extLst>
                </p:cNvPr>
                <p:cNvSpPr/>
                <p:nvPr/>
              </p:nvSpPr>
              <p:spPr>
                <a:xfrm>
                  <a:off x="3567924" y="4254700"/>
                  <a:ext cx="347186" cy="360045"/>
                </a:xfrm>
                <a:prstGeom prst="ellipse">
                  <a:avLst/>
                </a:prstGeom>
                <a:noFill/>
                <a:ln w="63500">
                  <a:solidFill>
                    <a:schemeClr val="tx1"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44568302-9CC1-874E-96E4-F7A5DB0F8EF0}"/>
                    </a:ext>
                  </a:extLst>
                </p:cNvPr>
                <p:cNvSpPr/>
                <p:nvPr/>
              </p:nvSpPr>
              <p:spPr>
                <a:xfrm>
                  <a:off x="5492644" y="4840811"/>
                  <a:ext cx="347186" cy="360045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C4F06030-BA9E-6F45-B81B-E9B1F2F0DF93}"/>
                    </a:ext>
                  </a:extLst>
                </p:cNvPr>
                <p:cNvCxnSpPr>
                  <a:cxnSpLocks/>
                  <a:stCxn id="37" idx="0"/>
                  <a:endCxn id="39" idx="2"/>
                </p:cNvCxnSpPr>
                <p:nvPr/>
              </p:nvCxnSpPr>
              <p:spPr>
                <a:xfrm flipV="1">
                  <a:off x="1095967" y="2653283"/>
                  <a:ext cx="1431925" cy="753224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164C55DC-6C3E-D14E-9608-F0427C81DC40}"/>
                    </a:ext>
                  </a:extLst>
                </p:cNvPr>
                <p:cNvCxnSpPr>
                  <a:cxnSpLocks/>
                  <a:stCxn id="37" idx="6"/>
                  <a:endCxn id="40" idx="1"/>
                </p:cNvCxnSpPr>
                <p:nvPr/>
              </p:nvCxnSpPr>
              <p:spPr>
                <a:xfrm>
                  <a:off x="1269560" y="3586530"/>
                  <a:ext cx="1447538" cy="36439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E8CF7F29-44DB-FF4D-9368-C4E9F8B9CE4C}"/>
                    </a:ext>
                  </a:extLst>
                </p:cNvPr>
                <p:cNvCxnSpPr>
                  <a:cxnSpLocks/>
                  <a:stCxn id="37" idx="4"/>
                  <a:endCxn id="38" idx="0"/>
                </p:cNvCxnSpPr>
                <p:nvPr/>
              </p:nvCxnSpPr>
              <p:spPr>
                <a:xfrm>
                  <a:off x="1095967" y="3766552"/>
                  <a:ext cx="0" cy="89423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5D6F0023-A595-464F-9AAA-8F2CF1718639}"/>
                    </a:ext>
                  </a:extLst>
                </p:cNvPr>
                <p:cNvCxnSpPr>
                  <a:cxnSpLocks/>
                  <a:stCxn id="39" idx="6"/>
                  <a:endCxn id="41" idx="2"/>
                </p:cNvCxnSpPr>
                <p:nvPr/>
              </p:nvCxnSpPr>
              <p:spPr>
                <a:xfrm>
                  <a:off x="2875078" y="2653283"/>
                  <a:ext cx="1971336" cy="17681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7C0E8D2D-8CE4-D541-B585-37CCAF9B9446}"/>
                    </a:ext>
                  </a:extLst>
                </p:cNvPr>
                <p:cNvCxnSpPr>
                  <a:cxnSpLocks/>
                  <a:stCxn id="41" idx="6"/>
                  <a:endCxn id="44" idx="0"/>
                </p:cNvCxnSpPr>
                <p:nvPr/>
              </p:nvCxnSpPr>
              <p:spPr>
                <a:xfrm>
                  <a:off x="5193600" y="2830095"/>
                  <a:ext cx="472637" cy="201071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F305EE6C-E400-DE45-B783-81E6908F9D01}"/>
                    </a:ext>
                  </a:extLst>
                </p:cNvPr>
                <p:cNvCxnSpPr>
                  <a:cxnSpLocks/>
                  <a:stCxn id="42" idx="2"/>
                  <a:endCxn id="40" idx="6"/>
                </p:cNvCxnSpPr>
                <p:nvPr/>
              </p:nvCxnSpPr>
              <p:spPr>
                <a:xfrm flipH="1" flipV="1">
                  <a:off x="3013440" y="3750265"/>
                  <a:ext cx="1809994" cy="105836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8B3EE1AE-8208-C84F-8ECD-F8236AF7C82A}"/>
                    </a:ext>
                  </a:extLst>
                </p:cNvPr>
                <p:cNvCxnSpPr>
                  <a:cxnSpLocks/>
                  <a:stCxn id="38" idx="7"/>
                </p:cNvCxnSpPr>
                <p:nvPr/>
              </p:nvCxnSpPr>
              <p:spPr>
                <a:xfrm flipV="1">
                  <a:off x="1218716" y="3930288"/>
                  <a:ext cx="1558075" cy="78322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87B5F735-B92E-0F40-986C-37A553EEB1CF}"/>
                    </a:ext>
                  </a:extLst>
                </p:cNvPr>
                <p:cNvCxnSpPr>
                  <a:cxnSpLocks/>
                  <a:stCxn id="44" idx="1"/>
                  <a:endCxn id="42" idx="5"/>
                </p:cNvCxnSpPr>
                <p:nvPr/>
              </p:nvCxnSpPr>
              <p:spPr>
                <a:xfrm flipH="1" flipV="1">
                  <a:off x="5119776" y="3983396"/>
                  <a:ext cx="423712" cy="91014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43184C2-BF63-9844-BBA6-69C3349872E3}"/>
                    </a:ext>
                  </a:extLst>
                </p:cNvPr>
                <p:cNvCxnSpPr>
                  <a:cxnSpLocks/>
                  <a:stCxn id="44" idx="2"/>
                  <a:endCxn id="43" idx="6"/>
                </p:cNvCxnSpPr>
                <p:nvPr/>
              </p:nvCxnSpPr>
              <p:spPr>
                <a:xfrm flipH="1" flipV="1">
                  <a:off x="3915110" y="4434723"/>
                  <a:ext cx="1577534" cy="58611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EB3B4C73-C4A0-E945-8544-0F952836A091}"/>
                    </a:ext>
                  </a:extLst>
                </p:cNvPr>
                <p:cNvCxnSpPr>
                  <a:cxnSpLocks/>
                  <a:stCxn id="44" idx="3"/>
                  <a:endCxn id="38" idx="5"/>
                </p:cNvCxnSpPr>
                <p:nvPr/>
              </p:nvCxnSpPr>
              <p:spPr>
                <a:xfrm flipH="1" flipV="1">
                  <a:off x="1218716" y="4968107"/>
                  <a:ext cx="4324772" cy="180022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5A367E7-B2A3-644A-ACEF-16F48A5A6388}"/>
                    </a:ext>
                  </a:extLst>
                </p:cNvPr>
                <p:cNvCxnSpPr>
                  <a:cxnSpLocks/>
                  <a:stCxn id="43" idx="7"/>
                  <a:endCxn id="42" idx="3"/>
                </p:cNvCxnSpPr>
                <p:nvPr/>
              </p:nvCxnSpPr>
              <p:spPr>
                <a:xfrm flipV="1">
                  <a:off x="3864266" y="3983396"/>
                  <a:ext cx="1010012" cy="324031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47EBDC9A-55E9-EF46-8975-6EEA4A0886AB}"/>
                    </a:ext>
                  </a:extLst>
                </p:cNvPr>
                <p:cNvCxnSpPr>
                  <a:cxnSpLocks/>
                  <a:stCxn id="43" idx="2"/>
                  <a:endCxn id="38" idx="6"/>
                </p:cNvCxnSpPr>
                <p:nvPr/>
              </p:nvCxnSpPr>
              <p:spPr>
                <a:xfrm flipH="1">
                  <a:off x="1269560" y="4434723"/>
                  <a:ext cx="2298364" cy="406089"/>
                </a:xfrm>
                <a:prstGeom prst="straightConnector1">
                  <a:avLst/>
                </a:prstGeom>
                <a:ln w="28575">
                  <a:solidFill>
                    <a:schemeClr val="accent3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AE0645D-13EB-EE48-8BB8-4918D4305725}"/>
                  </a:ext>
                </a:extLst>
              </p:cNvPr>
              <p:cNvSpPr txBox="1"/>
              <p:nvPr/>
            </p:nvSpPr>
            <p:spPr>
              <a:xfrm>
                <a:off x="3164408" y="3941170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DD7BF53-1B5C-104E-9BD5-E9C93203060B}"/>
                </a:ext>
              </a:extLst>
            </p:cNvPr>
            <p:cNvCxnSpPr>
              <a:cxnSpLocks/>
              <a:stCxn id="40" idx="2"/>
              <a:endCxn id="37" idx="5"/>
            </p:cNvCxnSpPr>
            <p:nvPr/>
          </p:nvCxnSpPr>
          <p:spPr>
            <a:xfrm flipH="1" flipV="1">
              <a:off x="1316306" y="4903106"/>
              <a:ext cx="1447538" cy="3644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BFDB0BA2-9DBD-5E42-95A8-341AE8BBD771}"/>
                </a:ext>
              </a:extLst>
            </p:cNvPr>
            <p:cNvCxnSpPr>
              <a:cxnSpLocks/>
              <a:stCxn id="40" idx="7"/>
              <a:endCxn id="41" idx="3"/>
            </p:cNvCxnSpPr>
            <p:nvPr/>
          </p:nvCxnSpPr>
          <p:spPr>
            <a:xfrm flipV="1">
              <a:off x="3060186" y="4146671"/>
              <a:ext cx="1934662" cy="665579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82A6534-7735-634C-AAE9-D5D003B7CD73}"/>
                </a:ext>
              </a:extLst>
            </p:cNvPr>
            <p:cNvCxnSpPr>
              <a:cxnSpLocks/>
              <a:stCxn id="38" idx="1"/>
              <a:endCxn id="37" idx="3"/>
            </p:cNvCxnSpPr>
            <p:nvPr/>
          </p:nvCxnSpPr>
          <p:spPr>
            <a:xfrm flipV="1">
              <a:off x="1070808" y="4903106"/>
              <a:ext cx="0" cy="999691"/>
            </a:xfrm>
            <a:prstGeom prst="straightConnector1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DABE250-142C-D34C-8AAE-974B7186BD8B}"/>
              </a:ext>
            </a:extLst>
          </p:cNvPr>
          <p:cNvSpPr txBox="1"/>
          <p:nvPr/>
        </p:nvSpPr>
        <p:spPr>
          <a:xfrm>
            <a:off x="6748261" y="3623193"/>
            <a:ext cx="442300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cycle 0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470</a:t>
            </a:r>
          </a:p>
          <a:p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Shortest path 0 to 1?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04754754 …51?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Shortest path 0 to 7?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0475475475475…47?</a:t>
            </a:r>
            <a:endParaRPr 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353212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DB4E-44BB-D548-8B4E-2C180013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2A80-7037-C845-AA54-A1F1B9BF6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Assumption</a:t>
            </a:r>
            <a:r>
              <a:rPr lang="en-US" dirty="0"/>
              <a:t>. Digraph has non-negative cycles</a:t>
            </a:r>
          </a:p>
          <a:p>
            <a:r>
              <a:rPr lang="en-US" dirty="0" err="1">
                <a:highlight>
                  <a:srgbClr val="C0C0C0"/>
                </a:highlight>
              </a:rPr>
              <a:t>Initialisation</a:t>
            </a:r>
            <a:r>
              <a:rPr lang="en-US" dirty="0">
                <a:highlight>
                  <a:srgbClr val="C0C0C0"/>
                </a:highlight>
              </a:rPr>
              <a:t>.</a:t>
            </a:r>
            <a:r>
              <a:rPr lang="en-US" dirty="0"/>
              <a:t>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</a:t>
            </a:r>
            <a:r>
              <a:rPr lang="en-US" i="1" dirty="0">
                <a:latin typeface="Courier" pitchFamily="2" charset="0"/>
              </a:rPr>
              <a:t>s</a:t>
            </a:r>
            <a:r>
              <a:rPr lang="en-US" dirty="0">
                <a:latin typeface="Courier" pitchFamily="2" charset="0"/>
              </a:rPr>
              <a:t>]=0</a:t>
            </a:r>
            <a:r>
              <a:rPr lang="en-US" dirty="0"/>
              <a:t>,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[v]=∞ </a:t>
            </a:r>
            <a:r>
              <a:rPr lang="en-US" dirty="0"/>
              <a:t>for all other vertices </a:t>
            </a:r>
            <a:r>
              <a:rPr lang="en-US" i="1" dirty="0"/>
              <a:t>v</a:t>
            </a:r>
          </a:p>
          <a:p>
            <a:endParaRPr lang="en-US" i="1" dirty="0"/>
          </a:p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. Repeat V times: relax all edges</a:t>
            </a:r>
          </a:p>
          <a:p>
            <a:r>
              <a:rPr lang="en-US" dirty="0">
                <a:highlight>
                  <a:srgbClr val="C0C0C0"/>
                </a:highlight>
              </a:rPr>
              <a:t>Pseudocode</a:t>
            </a:r>
          </a:p>
        </p:txBody>
      </p:sp>
      <p:grpSp>
        <p:nvGrpSpPr>
          <p:cNvPr id="21" name="Group 20" descr="pseudocode for bellman-ford algorithm">
            <a:extLst>
              <a:ext uri="{FF2B5EF4-FFF2-40B4-BE49-F238E27FC236}">
                <a16:creationId xmlns:a16="http://schemas.microsoft.com/office/drawing/2014/main" id="{645C5C93-E519-804B-BD4B-079FA291BAA4}"/>
              </a:ext>
            </a:extLst>
          </p:cNvPr>
          <p:cNvGrpSpPr/>
          <p:nvPr/>
        </p:nvGrpSpPr>
        <p:grpSpPr>
          <a:xfrm>
            <a:off x="985920" y="4260835"/>
            <a:ext cx="9185522" cy="2308324"/>
            <a:chOff x="985920" y="4260835"/>
            <a:chExt cx="9185522" cy="2308324"/>
          </a:xfrm>
        </p:grpSpPr>
        <p:sp>
          <p:nvSpPr>
            <p:cNvPr id="4" name="TextBox 3" descr="Bellman-ford algorithm: pseudocode">
              <a:extLst>
                <a:ext uri="{FF2B5EF4-FFF2-40B4-BE49-F238E27FC236}">
                  <a16:creationId xmlns:a16="http://schemas.microsoft.com/office/drawing/2014/main" id="{3ECB388B-3978-2F46-8F1F-2F6BDF732210}"/>
                </a:ext>
              </a:extLst>
            </p:cNvPr>
            <p:cNvSpPr txBox="1"/>
            <p:nvPr/>
          </p:nvSpPr>
          <p:spPr>
            <a:xfrm>
              <a:off x="985920" y="4260835"/>
              <a:ext cx="6093752" cy="2308324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600" dirty="0">
                <a:latin typeface="Courier" pitchFamily="2" charset="0"/>
              </a:endParaRPr>
            </a:p>
            <a:p>
              <a:r>
                <a:rPr lang="en-US" sz="1600" dirty="0" err="1">
                  <a:latin typeface="Courier" pitchFamily="2" charset="0"/>
                </a:rPr>
                <a:t>distTo</a:t>
              </a:r>
              <a:r>
                <a:rPr lang="en-US" sz="1600" dirty="0">
                  <a:latin typeface="Courier" pitchFamily="2" charset="0"/>
                </a:rPr>
                <a:t> = [INFINITY for v in range (0, G.V())]</a:t>
              </a:r>
            </a:p>
            <a:p>
              <a:r>
                <a:rPr lang="en-US" sz="1600" dirty="0" err="1">
                  <a:latin typeface="Courier" pitchFamily="2" charset="0"/>
                </a:rPr>
                <a:t>distTo</a:t>
              </a:r>
              <a:r>
                <a:rPr lang="en-US" sz="1600" dirty="0">
                  <a:latin typeface="Courier" pitchFamily="2" charset="0"/>
                </a:rPr>
                <a:t>[s] = 0</a:t>
              </a:r>
            </a:p>
            <a:p>
              <a:endParaRPr lang="en-US" sz="1600" dirty="0">
                <a:latin typeface="Courier" pitchFamily="2" charset="0"/>
              </a:endParaRPr>
            </a:p>
            <a:p>
              <a:r>
                <a:rPr lang="en-US" sz="1600" dirty="0">
                  <a:latin typeface="Courier" pitchFamily="2" charset="0"/>
                </a:rPr>
                <a:t>for </a:t>
              </a:r>
              <a:r>
                <a:rPr lang="en-US" sz="1600" dirty="0" err="1">
                  <a:latin typeface="Courier" pitchFamily="2" charset="0"/>
                </a:rPr>
                <a:t>i</a:t>
              </a:r>
              <a:r>
                <a:rPr lang="en-US" sz="1600" dirty="0">
                  <a:latin typeface="Courier" pitchFamily="2" charset="0"/>
                </a:rPr>
                <a:t> in range(0, G.V()):</a:t>
              </a:r>
            </a:p>
            <a:p>
              <a:r>
                <a:rPr lang="en-US" sz="1600" dirty="0">
                  <a:latin typeface="Courier" pitchFamily="2" charset="0"/>
                </a:rPr>
                <a:t>    for v in range (0, G.V()):</a:t>
              </a:r>
            </a:p>
            <a:p>
              <a:r>
                <a:rPr lang="en-US" sz="1600" dirty="0">
                  <a:latin typeface="Courier" pitchFamily="2" charset="0"/>
                </a:rPr>
                <a:t>        for e in </a:t>
              </a:r>
              <a:r>
                <a:rPr lang="en-US" sz="1600" dirty="0" err="1">
                  <a:latin typeface="Courier" pitchFamily="2" charset="0"/>
                </a:rPr>
                <a:t>G.adj</a:t>
              </a:r>
              <a:r>
                <a:rPr lang="en-US" sz="1600" dirty="0">
                  <a:latin typeface="Courier" pitchFamily="2" charset="0"/>
                </a:rPr>
                <a:t>(v):</a:t>
              </a:r>
            </a:p>
            <a:p>
              <a:r>
                <a:rPr lang="en-US" sz="1600" dirty="0">
                  <a:latin typeface="Courier" pitchFamily="2" charset="0"/>
                </a:rPr>
                <a:t>                relax(e)</a:t>
              </a:r>
            </a:p>
            <a:p>
              <a:endParaRPr lang="en-US" sz="1600" dirty="0">
                <a:latin typeface="Courier" pitchFamily="2" charset="0"/>
              </a:endParaRPr>
            </a:p>
          </p:txBody>
        </p:sp>
        <p:grpSp>
          <p:nvGrpSpPr>
            <p:cNvPr id="6" name="Group 5" descr="hghlighting methd to add an edge to the graph">
              <a:extLst>
                <a:ext uri="{FF2B5EF4-FFF2-40B4-BE49-F238E27FC236}">
                  <a16:creationId xmlns:a16="http://schemas.microsoft.com/office/drawing/2014/main" id="{3F9D8D6F-B7DA-634F-BCCF-20547E5572AF}"/>
                </a:ext>
              </a:extLst>
            </p:cNvPr>
            <p:cNvGrpSpPr/>
            <p:nvPr/>
          </p:nvGrpSpPr>
          <p:grpSpPr>
            <a:xfrm>
              <a:off x="6740204" y="5237692"/>
              <a:ext cx="2803891" cy="369332"/>
              <a:chOff x="5733098" y="5490577"/>
              <a:chExt cx="2803891" cy="36933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AFC4D8-114D-9E4E-A955-DAB1DB667DDE}"/>
                  </a:ext>
                </a:extLst>
              </p:cNvPr>
              <p:cNvSpPr txBox="1"/>
              <p:nvPr/>
            </p:nvSpPr>
            <p:spPr>
              <a:xfrm>
                <a:off x="7287929" y="5490577"/>
                <a:ext cx="12490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baseline="30000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iteration</a:t>
                </a:r>
                <a:endPara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1B65456-8C2C-A546-B5CE-F9B8221106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33098" y="5674337"/>
                <a:ext cx="1540976" cy="906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 descr="hghlighting methd to add an edge to the graph">
              <a:extLst>
                <a:ext uri="{FF2B5EF4-FFF2-40B4-BE49-F238E27FC236}">
                  <a16:creationId xmlns:a16="http://schemas.microsoft.com/office/drawing/2014/main" id="{60B83C53-DA2A-104B-970D-86D007465CA0}"/>
                </a:ext>
              </a:extLst>
            </p:cNvPr>
            <p:cNvGrpSpPr/>
            <p:nvPr/>
          </p:nvGrpSpPr>
          <p:grpSpPr>
            <a:xfrm>
              <a:off x="6738708" y="5701044"/>
              <a:ext cx="3199376" cy="369332"/>
              <a:chOff x="5663821" y="5451218"/>
              <a:chExt cx="3199376" cy="36933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50E6DC3-6613-9D46-A06A-334EFBC72805}"/>
                  </a:ext>
                </a:extLst>
              </p:cNvPr>
              <p:cNvSpPr txBox="1"/>
              <p:nvPr/>
            </p:nvSpPr>
            <p:spPr>
              <a:xfrm>
                <a:off x="7190944" y="5451218"/>
                <a:ext cx="16722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relax all edges</a:t>
                </a:r>
                <a:endParaRPr lang="en-US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9DB9AA3-1253-D440-A7F1-560935B21A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3821" y="5680747"/>
                <a:ext cx="1514762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 descr="hghlighting methd to add an edge to the graph">
              <a:extLst>
                <a:ext uri="{FF2B5EF4-FFF2-40B4-BE49-F238E27FC236}">
                  <a16:creationId xmlns:a16="http://schemas.microsoft.com/office/drawing/2014/main" id="{EFA53CBD-10F0-5A4C-B107-1E661E5BC3BA}"/>
                </a:ext>
              </a:extLst>
            </p:cNvPr>
            <p:cNvGrpSpPr/>
            <p:nvPr/>
          </p:nvGrpSpPr>
          <p:grpSpPr>
            <a:xfrm>
              <a:off x="6754059" y="4571310"/>
              <a:ext cx="3417383" cy="369332"/>
              <a:chOff x="5663822" y="5454003"/>
              <a:chExt cx="3417383" cy="36933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CFC1FF-6325-0E49-AD13-5994F65CD092}"/>
                  </a:ext>
                </a:extLst>
              </p:cNvPr>
              <p:cNvSpPr txBox="1"/>
              <p:nvPr/>
            </p:nvSpPr>
            <p:spPr>
              <a:xfrm>
                <a:off x="7190944" y="5454003"/>
                <a:ext cx="18902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initialisation</a:t>
                </a:r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step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95CBEAB-15A6-1142-A1E5-2D01EB1543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63822" y="5666379"/>
                <a:ext cx="1499411" cy="0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1F291739-3D64-1F4C-BE54-2543E292218E}"/>
                </a:ext>
              </a:extLst>
            </p:cNvPr>
            <p:cNvSpPr/>
            <p:nvPr/>
          </p:nvSpPr>
          <p:spPr>
            <a:xfrm>
              <a:off x="1041340" y="4501876"/>
              <a:ext cx="5685007" cy="563621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F271D1C-801D-074D-9566-331A8AC9AFD9}"/>
                </a:ext>
              </a:extLst>
            </p:cNvPr>
            <p:cNvSpPr/>
            <p:nvPr/>
          </p:nvSpPr>
          <p:spPr>
            <a:xfrm>
              <a:off x="1540104" y="5515472"/>
              <a:ext cx="5213956" cy="80150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  <a:alpha val="3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2535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list of edges and their w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33917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75" name="Table 74" descr="data structures used by the algorithm">
            <a:extLst>
              <a:ext uri="{FF2B5EF4-FFF2-40B4-BE49-F238E27FC236}">
                <a16:creationId xmlns:a16="http://schemas.microsoft.com/office/drawing/2014/main" id="{544FC7DE-6C46-CF42-A0BE-5E96959B3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50995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5883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253916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108772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5271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44057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16636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BF08524A-6686-764F-9010-774EBDBE4F89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15582024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19486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7182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194722E7-8BDF-FB47-81D1-4ADA34BE7A7F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42185523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27788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01849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C93CA145-37E9-7F4B-8BD4-8DC167FE6A4D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15387165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484999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91199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F3877EA8-AA49-7D47-B4D2-0E82EA310556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13685174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90313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780242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480060A6-F667-1C46-B469-3EB4DEE14480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3011531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982425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01292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E22440EE-9C43-C54E-A79D-D6D9936F4F13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13381263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674244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/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EA19A322-E640-8C4A-B711-7CB202FF04ED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26148054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31751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547854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06B47822-8F59-9B40-B6E0-0080AEEBC8C5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689971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422943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346777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F7883ABB-1B62-2048-8641-368EF8D8706D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20484535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162221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258482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B8E01DB4-9265-8440-8D33-A63B35F02AF9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2197245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50438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06194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A388F982-DE0C-684D-B79F-BA5AD5495A43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9623614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901936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/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F99FE2D6-3CFA-3146-84BF-E3C4ADA0690A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29656872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590762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425499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68CFB9CA-4342-8F4F-B2AB-819AFC402D66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35318864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156873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272569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60A48BE9-73EA-5B41-804C-3006D1A5B60E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22476786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735236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531094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F8A11D7B-A144-0A46-B7FB-35562F46EF95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3064136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76853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/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A6BEE41C-557D-1D41-8C3E-2FA5B6947FAE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0</a:t>
            </a:r>
          </a:p>
        </p:txBody>
      </p:sp>
    </p:spTree>
    <p:extLst>
      <p:ext uri="{BB962C8B-B14F-4D97-AF65-F5344CB8AC3E}">
        <p14:creationId xmlns:p14="http://schemas.microsoft.com/office/powerpoint/2010/main" val="38632030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084384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/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C38388C-59ED-8240-B193-F9D2C332CD78}"/>
              </a:ext>
            </a:extLst>
          </p:cNvPr>
          <p:cNvSpPr txBox="1"/>
          <p:nvPr/>
        </p:nvSpPr>
        <p:spPr>
          <a:xfrm>
            <a:off x="7756600" y="5915107"/>
            <a:ext cx="4249881" cy="646331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of pass 0. Repeat another 7 times</a:t>
            </a:r>
          </a:p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(V=8)</a:t>
            </a:r>
          </a:p>
        </p:txBody>
      </p:sp>
    </p:spTree>
    <p:extLst>
      <p:ext uri="{BB962C8B-B14F-4D97-AF65-F5344CB8AC3E}">
        <p14:creationId xmlns:p14="http://schemas.microsoft.com/office/powerpoint/2010/main" val="13696379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082370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426491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4F636D2-5771-1F46-8925-7BAED518525D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1</a:t>
            </a:r>
          </a:p>
        </p:txBody>
      </p:sp>
    </p:spTree>
    <p:extLst>
      <p:ext uri="{BB962C8B-B14F-4D97-AF65-F5344CB8AC3E}">
        <p14:creationId xmlns:p14="http://schemas.microsoft.com/office/powerpoint/2010/main" val="10750205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653671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905553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4F636D2-5771-1F46-8925-7BAED518525D}"/>
              </a:ext>
            </a:extLst>
          </p:cNvPr>
          <p:cNvSpPr txBox="1"/>
          <p:nvPr/>
        </p:nvSpPr>
        <p:spPr>
          <a:xfrm>
            <a:off x="7756600" y="5915107"/>
            <a:ext cx="889987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1</a:t>
            </a:r>
          </a:p>
        </p:txBody>
      </p:sp>
    </p:spTree>
    <p:extLst>
      <p:ext uri="{BB962C8B-B14F-4D97-AF65-F5344CB8AC3E}">
        <p14:creationId xmlns:p14="http://schemas.microsoft.com/office/powerpoint/2010/main" val="32451973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</a:p>
        </p:txBody>
      </p:sp>
      <p:grpSp>
        <p:nvGrpSpPr>
          <p:cNvPr id="77" name="Group 76" descr="example digraph">
            <a:extLst>
              <a:ext uri="{FF2B5EF4-FFF2-40B4-BE49-F238E27FC236}">
                <a16:creationId xmlns:a16="http://schemas.microsoft.com/office/drawing/2014/main" id="{635DC9C4-F1FA-BD4F-9AB7-B9FC0A97E501}"/>
              </a:ext>
            </a:extLst>
          </p:cNvPr>
          <p:cNvGrpSpPr/>
          <p:nvPr/>
        </p:nvGrpSpPr>
        <p:grpSpPr>
          <a:xfrm>
            <a:off x="84942" y="2199218"/>
            <a:ext cx="5201218" cy="2942732"/>
            <a:chOff x="385405" y="2370672"/>
            <a:chExt cx="5201218" cy="2942732"/>
          </a:xfrm>
        </p:grpSpPr>
        <p:grpSp>
          <p:nvGrpSpPr>
            <p:cNvPr id="71" name="Group 70" descr="example digraph">
              <a:extLst>
                <a:ext uri="{FF2B5EF4-FFF2-40B4-BE49-F238E27FC236}">
                  <a16:creationId xmlns:a16="http://schemas.microsoft.com/office/drawing/2014/main" id="{AE405A44-5707-4E4B-9CD9-C1E407E2ABA9}"/>
                </a:ext>
              </a:extLst>
            </p:cNvPr>
            <p:cNvGrpSpPr/>
            <p:nvPr/>
          </p:nvGrpSpPr>
          <p:grpSpPr>
            <a:xfrm>
              <a:off x="514866" y="2370672"/>
              <a:ext cx="5071757" cy="2942732"/>
              <a:chOff x="768073" y="2429425"/>
              <a:chExt cx="5071757" cy="29427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1D6D57-68D6-9C41-95F8-C201565EE971}"/>
                  </a:ext>
                </a:extLst>
              </p:cNvPr>
              <p:cNvSpPr txBox="1"/>
              <p:nvPr/>
            </p:nvSpPr>
            <p:spPr>
              <a:xfrm>
                <a:off x="1605358" y="275625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C7E904-4C15-E343-BB69-B889CCECBEF6}"/>
                  </a:ext>
                </a:extLst>
              </p:cNvPr>
              <p:cNvSpPr txBox="1"/>
              <p:nvPr/>
            </p:nvSpPr>
            <p:spPr>
              <a:xfrm>
                <a:off x="3528566" y="2429425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41109B-D075-9A4D-8C1B-9679C23BA2EE}"/>
                  </a:ext>
                </a:extLst>
              </p:cNvPr>
              <p:cNvSpPr txBox="1"/>
              <p:nvPr/>
            </p:nvSpPr>
            <p:spPr>
              <a:xfrm>
                <a:off x="1930054" y="332441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B98FD5-FCC4-A349-A31E-C8EF286B44F7}"/>
                  </a:ext>
                </a:extLst>
              </p:cNvPr>
              <p:cNvSpPr txBox="1"/>
              <p:nvPr/>
            </p:nvSpPr>
            <p:spPr>
              <a:xfrm>
                <a:off x="2049993" y="415936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3567CD-80F2-DC4C-927A-22D28BAD6494}"/>
                  </a:ext>
                </a:extLst>
              </p:cNvPr>
              <p:cNvSpPr txBox="1"/>
              <p:nvPr/>
            </p:nvSpPr>
            <p:spPr>
              <a:xfrm>
                <a:off x="3807978" y="351641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26339FC-9EF4-7A4D-8A04-17D3CDA86505}"/>
                  </a:ext>
                </a:extLst>
              </p:cNvPr>
              <p:cNvSpPr txBox="1"/>
              <p:nvPr/>
            </p:nvSpPr>
            <p:spPr>
              <a:xfrm>
                <a:off x="2702223" y="4506587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5F5994-D869-1F42-8DC8-516A5ACF2C7B}"/>
                  </a:ext>
                </a:extLst>
              </p:cNvPr>
              <p:cNvSpPr txBox="1"/>
              <p:nvPr/>
            </p:nvSpPr>
            <p:spPr>
              <a:xfrm>
                <a:off x="4119828" y="44321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052661-B758-FA47-BF99-8BCF892B090E}"/>
                  </a:ext>
                </a:extLst>
              </p:cNvPr>
              <p:cNvSpPr txBox="1"/>
              <p:nvPr/>
            </p:nvSpPr>
            <p:spPr>
              <a:xfrm>
                <a:off x="4985569" y="4251553"/>
                <a:ext cx="37010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D43D88-A9EC-4346-ADA5-762CE3DCA0ED}"/>
                  </a:ext>
                </a:extLst>
              </p:cNvPr>
              <p:cNvSpPr txBox="1"/>
              <p:nvPr/>
            </p:nvSpPr>
            <p:spPr>
              <a:xfrm>
                <a:off x="5347873" y="345574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DC5CB8-94A4-BC40-9DFA-D930E40F4C68}"/>
                  </a:ext>
                </a:extLst>
              </p:cNvPr>
              <p:cNvSpPr txBox="1"/>
              <p:nvPr/>
            </p:nvSpPr>
            <p:spPr>
              <a:xfrm>
                <a:off x="2528348" y="302141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02505C-1F3A-8D47-93A3-E70D16AA8AFC}"/>
                  </a:ext>
                </a:extLst>
              </p:cNvPr>
              <p:cNvSpPr txBox="1"/>
              <p:nvPr/>
            </p:nvSpPr>
            <p:spPr>
              <a:xfrm>
                <a:off x="3984898" y="392130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BC37B6-CF1B-DA4D-AE01-22BEDDD9DAF5}"/>
                  </a:ext>
                </a:extLst>
              </p:cNvPr>
              <p:cNvSpPr txBox="1"/>
              <p:nvPr/>
            </p:nvSpPr>
            <p:spPr>
              <a:xfrm>
                <a:off x="2840585" y="5064380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76F6FB-D490-B947-8E39-37D7FB99157A}"/>
                  </a:ext>
                </a:extLst>
              </p:cNvPr>
              <p:cNvSpPr txBox="1"/>
              <p:nvPr/>
            </p:nvSpPr>
            <p:spPr>
              <a:xfrm>
                <a:off x="768073" y="4106403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734482-727E-514B-83F4-4709CFAEFE5A}"/>
                  </a:ext>
                </a:extLst>
              </p:cNvPr>
              <p:cNvSpPr/>
              <p:nvPr/>
            </p:nvSpPr>
            <p:spPr>
              <a:xfrm>
                <a:off x="922374" y="3406507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8822ED-2873-F14D-A48A-7330A7E08769}"/>
                  </a:ext>
                </a:extLst>
              </p:cNvPr>
              <p:cNvSpPr/>
              <p:nvPr/>
            </p:nvSpPr>
            <p:spPr>
              <a:xfrm>
                <a:off x="922374" y="4660789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5BB84C2-857B-6140-B746-1CDDBFEE78D8}"/>
                  </a:ext>
                </a:extLst>
              </p:cNvPr>
              <p:cNvSpPr/>
              <p:nvPr/>
            </p:nvSpPr>
            <p:spPr>
              <a:xfrm>
                <a:off x="2527892" y="247326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700095-F1ED-C74B-8199-114BBDC53877}"/>
                  </a:ext>
                </a:extLst>
              </p:cNvPr>
              <p:cNvSpPr/>
              <p:nvPr/>
            </p:nvSpPr>
            <p:spPr>
              <a:xfrm>
                <a:off x="2666254" y="357024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4C19608-9E80-4349-A7D1-06493238ADB3}"/>
                  </a:ext>
                </a:extLst>
              </p:cNvPr>
              <p:cNvSpPr/>
              <p:nvPr/>
            </p:nvSpPr>
            <p:spPr>
              <a:xfrm>
                <a:off x="4846414" y="2650072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533FDB2-4828-684E-B7A2-EDDC763A18DC}"/>
                  </a:ext>
                </a:extLst>
              </p:cNvPr>
              <p:cNvSpPr/>
              <p:nvPr/>
            </p:nvSpPr>
            <p:spPr>
              <a:xfrm>
                <a:off x="4823434" y="3676078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09EA482-F5BB-E04E-A306-D65822EEEF83}"/>
                  </a:ext>
                </a:extLst>
              </p:cNvPr>
              <p:cNvSpPr/>
              <p:nvPr/>
            </p:nvSpPr>
            <p:spPr>
              <a:xfrm>
                <a:off x="3567924" y="4254700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7D20544-5671-8F47-A46A-1DCB2CA061F8}"/>
                  </a:ext>
                </a:extLst>
              </p:cNvPr>
              <p:cNvSpPr/>
              <p:nvPr/>
            </p:nvSpPr>
            <p:spPr>
              <a:xfrm>
                <a:off x="5492644" y="4840811"/>
                <a:ext cx="347186" cy="360045"/>
              </a:xfrm>
              <a:prstGeom prst="ellipse">
                <a:avLst/>
              </a:prstGeom>
              <a:noFill/>
              <a:ln w="63500">
                <a:solidFill>
                  <a:schemeClr val="tx1"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E889CCD-3753-C946-B2C8-BE0BAA799603}"/>
                  </a:ext>
                </a:extLst>
              </p:cNvPr>
              <p:cNvCxnSpPr>
                <a:cxnSpLocks/>
                <a:stCxn id="21" idx="0"/>
                <a:endCxn id="23" idx="2"/>
              </p:cNvCxnSpPr>
              <p:nvPr/>
            </p:nvCxnSpPr>
            <p:spPr>
              <a:xfrm flipV="1">
                <a:off x="1095967" y="2653283"/>
                <a:ext cx="1431925" cy="753224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EAAC1062-A381-5E4E-AF81-1B52F173EF62}"/>
                  </a:ext>
                </a:extLst>
              </p:cNvPr>
              <p:cNvCxnSpPr>
                <a:cxnSpLocks/>
                <a:stCxn id="21" idx="6"/>
                <a:endCxn id="24" idx="1"/>
              </p:cNvCxnSpPr>
              <p:nvPr/>
            </p:nvCxnSpPr>
            <p:spPr>
              <a:xfrm>
                <a:off x="1269560" y="3586530"/>
                <a:ext cx="1447538" cy="3643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D701324-9AC9-334E-86E4-37F16049A7D2}"/>
                  </a:ext>
                </a:extLst>
              </p:cNvPr>
              <p:cNvCxnSpPr>
                <a:cxnSpLocks/>
                <a:stCxn id="21" idx="4"/>
                <a:endCxn id="22" idx="0"/>
              </p:cNvCxnSpPr>
              <p:nvPr/>
            </p:nvCxnSpPr>
            <p:spPr>
              <a:xfrm>
                <a:off x="1095967" y="3766552"/>
                <a:ext cx="0" cy="894237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88981DE-60CA-044A-93F6-C644B957C391}"/>
                  </a:ext>
                </a:extLst>
              </p:cNvPr>
              <p:cNvCxnSpPr>
                <a:cxnSpLocks/>
                <a:stCxn id="23" idx="6"/>
                <a:endCxn id="25" idx="2"/>
              </p:cNvCxnSpPr>
              <p:nvPr/>
            </p:nvCxnSpPr>
            <p:spPr>
              <a:xfrm>
                <a:off x="2875078" y="2653283"/>
                <a:ext cx="1971336" cy="17681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8A780F74-3A7E-204C-B298-D59C8AA82F11}"/>
                  </a:ext>
                </a:extLst>
              </p:cNvPr>
              <p:cNvCxnSpPr>
                <a:cxnSpLocks/>
                <a:stCxn id="25" idx="6"/>
                <a:endCxn id="28" idx="0"/>
              </p:cNvCxnSpPr>
              <p:nvPr/>
            </p:nvCxnSpPr>
            <p:spPr>
              <a:xfrm>
                <a:off x="5193600" y="2830095"/>
                <a:ext cx="472637" cy="20107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006BDB4-4400-5B46-B70F-A5F800F5CD25}"/>
                  </a:ext>
                </a:extLst>
              </p:cNvPr>
              <p:cNvCxnSpPr>
                <a:cxnSpLocks/>
                <a:stCxn id="24" idx="6"/>
                <a:endCxn id="26" idx="2"/>
              </p:cNvCxnSpPr>
              <p:nvPr/>
            </p:nvCxnSpPr>
            <p:spPr>
              <a:xfrm>
                <a:off x="3013440" y="3750265"/>
                <a:ext cx="1809994" cy="10583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7AD4EC2-88EE-7548-BE25-28ADE15EF095}"/>
                  </a:ext>
                </a:extLst>
              </p:cNvPr>
              <p:cNvCxnSpPr>
                <a:cxnSpLocks/>
                <a:stCxn id="22" idx="7"/>
              </p:cNvCxnSpPr>
              <p:nvPr/>
            </p:nvCxnSpPr>
            <p:spPr>
              <a:xfrm flipV="1">
                <a:off x="1218716" y="3930288"/>
                <a:ext cx="1558075" cy="783228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AEBEB13-A0D4-BD4D-8AB9-DF3A43DE1558}"/>
                  </a:ext>
                </a:extLst>
              </p:cNvPr>
              <p:cNvCxnSpPr>
                <a:cxnSpLocks/>
                <a:stCxn id="26" idx="5"/>
                <a:endCxn id="28" idx="1"/>
              </p:cNvCxnSpPr>
              <p:nvPr/>
            </p:nvCxnSpPr>
            <p:spPr>
              <a:xfrm>
                <a:off x="5119776" y="3983396"/>
                <a:ext cx="423712" cy="910142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F65B15A-9958-4E4D-9B82-DA294D9DFFC0}"/>
                  </a:ext>
                </a:extLst>
              </p:cNvPr>
              <p:cNvCxnSpPr>
                <a:cxnSpLocks/>
                <a:stCxn id="27" idx="5"/>
                <a:endCxn id="28" idx="2"/>
              </p:cNvCxnSpPr>
              <p:nvPr/>
            </p:nvCxnSpPr>
            <p:spPr>
              <a:xfrm>
                <a:off x="3864266" y="4562018"/>
                <a:ext cx="1628378" cy="458816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D24E5CF4-306C-D344-967A-994C33A8DC01}"/>
                  </a:ext>
                </a:extLst>
              </p:cNvPr>
              <p:cNvCxnSpPr>
                <a:cxnSpLocks/>
                <a:stCxn id="22" idx="5"/>
                <a:endCxn id="28" idx="3"/>
              </p:cNvCxnSpPr>
              <p:nvPr/>
            </p:nvCxnSpPr>
            <p:spPr>
              <a:xfrm>
                <a:off x="1218716" y="4968107"/>
                <a:ext cx="4324772" cy="180022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68FB910-5ED1-EF47-A0DA-4887A6E9854E}"/>
                  </a:ext>
                </a:extLst>
              </p:cNvPr>
              <p:cNvCxnSpPr>
                <a:cxnSpLocks/>
                <a:stCxn id="27" idx="7"/>
                <a:endCxn id="26" idx="3"/>
              </p:cNvCxnSpPr>
              <p:nvPr/>
            </p:nvCxnSpPr>
            <p:spPr>
              <a:xfrm flipV="1">
                <a:off x="3864266" y="3983396"/>
                <a:ext cx="1010012" cy="324031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8A518963-EE96-BC4C-B492-399ED311DA46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2701485" y="2833305"/>
                <a:ext cx="138362" cy="73693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0EE863B-4D6D-2C46-91E7-31AFAA61BD57}"/>
                  </a:ext>
                </a:extLst>
              </p:cNvPr>
              <p:cNvCxnSpPr>
                <a:cxnSpLocks/>
                <a:stCxn id="22" idx="6"/>
                <a:endCxn id="27" idx="2"/>
              </p:cNvCxnSpPr>
              <p:nvPr/>
            </p:nvCxnSpPr>
            <p:spPr>
              <a:xfrm flipV="1">
                <a:off x="1269560" y="4434723"/>
                <a:ext cx="2298364" cy="406089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243F33D5-57E0-B546-AB44-44292D2BB263}"/>
                  </a:ext>
                </a:extLst>
              </p:cNvPr>
              <p:cNvCxnSpPr>
                <a:cxnSpLocks/>
                <a:stCxn id="23" idx="5"/>
                <a:endCxn id="26" idx="0"/>
              </p:cNvCxnSpPr>
              <p:nvPr/>
            </p:nvCxnSpPr>
            <p:spPr>
              <a:xfrm>
                <a:off x="2824234" y="2780578"/>
                <a:ext cx="2172793" cy="895500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9B197F-E1C7-D644-9231-2B8A11680280}"/>
                  </a:ext>
                </a:extLst>
              </p:cNvPr>
              <p:cNvSpPr txBox="1"/>
              <p:nvPr/>
            </p:nvSpPr>
            <p:spPr>
              <a:xfrm>
                <a:off x="3774257" y="2944922"/>
                <a:ext cx="3834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32E95DED-174B-0D42-AD7D-60C73E8C1A5C}"/>
                  </a:ext>
                </a:extLst>
              </p:cNvPr>
              <p:cNvCxnSpPr>
                <a:cxnSpLocks/>
                <a:stCxn id="26" idx="7"/>
                <a:endCxn id="25" idx="4"/>
              </p:cNvCxnSpPr>
              <p:nvPr/>
            </p:nvCxnSpPr>
            <p:spPr>
              <a:xfrm flipH="1" flipV="1">
                <a:off x="5020007" y="3010117"/>
                <a:ext cx="99769" cy="718688"/>
              </a:xfrm>
              <a:prstGeom prst="straightConnector1">
                <a:avLst/>
              </a:prstGeom>
              <a:ln w="63500">
                <a:solidFill>
                  <a:schemeClr val="tx1">
                    <a:alpha val="7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4F3E547-6BCA-F948-9759-0E2B064D9321}"/>
                  </a:ext>
                </a:extLst>
              </p:cNvPr>
              <p:cNvSpPr txBox="1"/>
              <p:nvPr/>
            </p:nvSpPr>
            <p:spPr>
              <a:xfrm>
                <a:off x="4814596" y="3082261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C2E06C2-916F-7040-9192-B6805A184712}"/>
                  </a:ext>
                </a:extLst>
              </p:cNvPr>
              <p:cNvCxnSpPr>
                <a:cxnSpLocks/>
                <a:stCxn id="24" idx="5"/>
                <a:endCxn id="27" idx="1"/>
              </p:cNvCxnSpPr>
              <p:nvPr/>
            </p:nvCxnSpPr>
            <p:spPr>
              <a:xfrm>
                <a:off x="2962596" y="3877560"/>
                <a:ext cx="656172" cy="429867"/>
              </a:xfrm>
              <a:prstGeom prst="straightConnector1">
                <a:avLst/>
              </a:prstGeom>
              <a:ln w="28575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94BE67B-1F06-904F-8B65-7B2875DC7556}"/>
                  </a:ext>
                </a:extLst>
              </p:cNvPr>
              <p:cNvSpPr txBox="1"/>
              <p:nvPr/>
            </p:nvSpPr>
            <p:spPr>
              <a:xfrm>
                <a:off x="3281578" y="3882234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031299-E091-3D47-AEFB-9CEA9A0297C0}"/>
                </a:ext>
              </a:extLst>
            </p:cNvPr>
            <p:cNvSpPr txBox="1"/>
            <p:nvPr/>
          </p:nvSpPr>
          <p:spPr>
            <a:xfrm>
              <a:off x="385405" y="333149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</p:grpSp>
      <p:graphicFrame>
        <p:nvGraphicFramePr>
          <p:cNvPr id="4" name="Table 3" descr="table listing edges and their wieghts">
            <a:extLst>
              <a:ext uri="{FF2B5EF4-FFF2-40B4-BE49-F238E27FC236}">
                <a16:creationId xmlns:a16="http://schemas.microsoft.com/office/drawing/2014/main" id="{5489DDD6-5597-FD40-9CFB-460418464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910828"/>
              </p:ext>
            </p:extLst>
          </p:nvPr>
        </p:nvGraphicFramePr>
        <p:xfrm>
          <a:off x="5550671" y="1462217"/>
          <a:ext cx="1645924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644">
                  <a:extLst>
                    <a:ext uri="{9D8B030D-6E8A-4147-A177-3AD203B41FA5}">
                      <a16:colId xmlns:a16="http://schemas.microsoft.com/office/drawing/2014/main" val="1839361178"/>
                    </a:ext>
                  </a:extLst>
                </a:gridCol>
                <a:gridCol w="975280">
                  <a:extLst>
                    <a:ext uri="{9D8B030D-6E8A-4147-A177-3AD203B41FA5}">
                      <a16:colId xmlns:a16="http://schemas.microsoft.com/office/drawing/2014/main" val="3491223137"/>
                    </a:ext>
                  </a:extLst>
                </a:gridCol>
              </a:tblGrid>
              <a:tr h="29031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Weight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9336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6992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094394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18771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047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7159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53990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3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1750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6168697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47292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6155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984469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0785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52163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6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9964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760551"/>
                  </a:ext>
                </a:extLst>
              </a:tr>
              <a:tr h="290318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2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100224"/>
                  </a:ext>
                </a:extLst>
              </a:tr>
            </a:tbl>
          </a:graphicData>
        </a:graphic>
      </p:graphicFrame>
      <p:graphicFrame>
        <p:nvGraphicFramePr>
          <p:cNvPr id="52" name="Table 51" descr="data structures used by the algorithm">
            <a:extLst>
              <a:ext uri="{FF2B5EF4-FFF2-40B4-BE49-F238E27FC236}">
                <a16:creationId xmlns:a16="http://schemas.microsoft.com/office/drawing/2014/main" id="{7645916A-F551-9349-B5D9-70F89665B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035143"/>
              </p:ext>
            </p:extLst>
          </p:nvPr>
        </p:nvGraphicFramePr>
        <p:xfrm>
          <a:off x="8154683" y="2190525"/>
          <a:ext cx="39246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62">
                  <a:extLst>
                    <a:ext uri="{9D8B030D-6E8A-4147-A177-3AD203B41FA5}">
                      <a16:colId xmlns:a16="http://schemas.microsoft.com/office/drawing/2014/main" val="566608977"/>
                    </a:ext>
                  </a:extLst>
                </a:gridCol>
                <a:gridCol w="1496290">
                  <a:extLst>
                    <a:ext uri="{9D8B030D-6E8A-4147-A177-3AD203B41FA5}">
                      <a16:colId xmlns:a16="http://schemas.microsoft.com/office/drawing/2014/main" val="3906245971"/>
                    </a:ext>
                  </a:extLst>
                </a:gridCol>
                <a:gridCol w="1697913">
                  <a:extLst>
                    <a:ext uri="{9D8B030D-6E8A-4147-A177-3AD203B41FA5}">
                      <a16:colId xmlns:a16="http://schemas.microsoft.com/office/drawing/2014/main" val="455091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distTo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edgeTo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[]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95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9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1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63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52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5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23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8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4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7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5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2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26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7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646415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4F636D2-5771-1F46-8925-7BAED518525D}"/>
              </a:ext>
            </a:extLst>
          </p:cNvPr>
          <p:cNvSpPr txBox="1"/>
          <p:nvPr/>
        </p:nvSpPr>
        <p:spPr>
          <a:xfrm>
            <a:off x="7756600" y="5915107"/>
            <a:ext cx="3839513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2, 3, … 7 (no further changes)</a:t>
            </a:r>
          </a:p>
        </p:txBody>
      </p:sp>
    </p:spTree>
    <p:extLst>
      <p:ext uri="{BB962C8B-B14F-4D97-AF65-F5344CB8AC3E}">
        <p14:creationId xmlns:p14="http://schemas.microsoft.com/office/powerpoint/2010/main" val="163086324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141C-3BD8-7C4E-A4E6-5224D880D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0004-C1D0-BC42-ACFE-DF42807C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Cost.</a:t>
            </a:r>
            <a:r>
              <a:rPr lang="en-US" dirty="0"/>
              <a:t> </a:t>
            </a:r>
            <a:r>
              <a:rPr lang="en-US" i="1" dirty="0"/>
              <a:t>E*V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Practical improvement: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If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[v]</a:t>
            </a:r>
            <a:r>
              <a:rPr lang="en-US" dirty="0"/>
              <a:t> does not change during pass </a:t>
            </a:r>
            <a:r>
              <a:rPr lang="en-US" i="1" dirty="0" err="1"/>
              <a:t>i</a:t>
            </a:r>
            <a:r>
              <a:rPr lang="en-US" dirty="0"/>
              <a:t>, no need to relax any outgoing edge from </a:t>
            </a:r>
            <a:r>
              <a:rPr lang="en-US" i="1" dirty="0"/>
              <a:t>v</a:t>
            </a:r>
            <a:r>
              <a:rPr lang="en-US" dirty="0"/>
              <a:t> in pass </a:t>
            </a:r>
            <a:r>
              <a:rPr lang="en-US" i="1" dirty="0"/>
              <a:t>i+1</a:t>
            </a:r>
            <a:endParaRPr lang="en-US" dirty="0"/>
          </a:p>
          <a:p>
            <a:pPr lvl="1"/>
            <a:r>
              <a:rPr lang="en-US" dirty="0"/>
              <a:t>Maintain a queue of vertices whose </a:t>
            </a:r>
            <a:r>
              <a:rPr lang="en-US" dirty="0" err="1">
                <a:latin typeface="Courier" pitchFamily="2" charset="0"/>
              </a:rPr>
              <a:t>distTo</a:t>
            </a:r>
            <a:r>
              <a:rPr lang="en-US" dirty="0">
                <a:latin typeface="Courier" pitchFamily="2" charset="0"/>
              </a:rPr>
              <a:t>[]</a:t>
            </a:r>
            <a:r>
              <a:rPr lang="en-US" dirty="0"/>
              <a:t> changed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Cost</a:t>
            </a:r>
            <a:r>
              <a:rPr lang="en-US" dirty="0"/>
              <a:t>. Still proportional to </a:t>
            </a:r>
            <a:r>
              <a:rPr lang="en-US" i="1" dirty="0"/>
              <a:t>E*V, </a:t>
            </a:r>
            <a:r>
              <a:rPr lang="en-US" dirty="0"/>
              <a:t>but only in worst case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5" name="TextBox 4" descr="Bellman-ford algorithm: pseudocode">
            <a:extLst>
              <a:ext uri="{FF2B5EF4-FFF2-40B4-BE49-F238E27FC236}">
                <a16:creationId xmlns:a16="http://schemas.microsoft.com/office/drawing/2014/main" id="{4FDA4C31-D9C9-0C4C-A943-DBB7DB2DD890}"/>
              </a:ext>
            </a:extLst>
          </p:cNvPr>
          <p:cNvSpPr txBox="1"/>
          <p:nvPr/>
        </p:nvSpPr>
        <p:spPr>
          <a:xfrm>
            <a:off x="902794" y="2154945"/>
            <a:ext cx="4264952" cy="107721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for </a:t>
            </a:r>
            <a:r>
              <a:rPr lang="en-US" sz="1600" dirty="0" err="1">
                <a:latin typeface="Courier" pitchFamily="2" charset="0"/>
              </a:rPr>
              <a:t>i</a:t>
            </a:r>
            <a:r>
              <a:rPr lang="en-US" sz="1600" dirty="0">
                <a:latin typeface="Courier" pitchFamily="2" charset="0"/>
              </a:rPr>
              <a:t> in range(0, G.V()):</a:t>
            </a:r>
          </a:p>
          <a:p>
            <a:r>
              <a:rPr lang="en-US" sz="1600" dirty="0">
                <a:latin typeface="Courier" pitchFamily="2" charset="0"/>
              </a:rPr>
              <a:t>    for v in range (0, G.V()):</a:t>
            </a:r>
          </a:p>
          <a:p>
            <a:r>
              <a:rPr lang="en-US" sz="1600" dirty="0">
                <a:latin typeface="Courier" pitchFamily="2" charset="0"/>
              </a:rPr>
              <a:t>        for e in </a:t>
            </a:r>
            <a:r>
              <a:rPr lang="en-US" sz="1600" dirty="0" err="1">
                <a:latin typeface="Courier" pitchFamily="2" charset="0"/>
              </a:rPr>
              <a:t>G.adj</a:t>
            </a:r>
            <a:r>
              <a:rPr lang="en-US" sz="1600" dirty="0">
                <a:latin typeface="Courier" pitchFamily="2" charset="0"/>
              </a:rPr>
              <a:t>(v):</a:t>
            </a:r>
          </a:p>
          <a:p>
            <a:r>
              <a:rPr lang="en-US" sz="1600" dirty="0">
                <a:latin typeface="Courier" pitchFamily="2" charset="0"/>
              </a:rPr>
              <a:t>                relax(e)</a:t>
            </a:r>
          </a:p>
        </p:txBody>
      </p:sp>
    </p:spTree>
    <p:extLst>
      <p:ext uri="{BB962C8B-B14F-4D97-AF65-F5344CB8AC3E}">
        <p14:creationId xmlns:p14="http://schemas.microsoft.com/office/powerpoint/2010/main" val="27705165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0446-2C49-F343-AE1C-3ECA940F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Single-source shortest path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AAF405-EF77-A54C-AE84-603CE75FA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694217"/>
              </p:ext>
            </p:extLst>
          </p:nvPr>
        </p:nvGraphicFramePr>
        <p:xfrm>
          <a:off x="885005" y="2062861"/>
          <a:ext cx="10132540" cy="3287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437">
                  <a:extLst>
                    <a:ext uri="{9D8B030D-6E8A-4147-A177-3AD203B41FA5}">
                      <a16:colId xmlns:a16="http://schemas.microsoft.com/office/drawing/2014/main" val="2734978828"/>
                    </a:ext>
                  </a:extLst>
                </a:gridCol>
                <a:gridCol w="2341418">
                  <a:extLst>
                    <a:ext uri="{9D8B030D-6E8A-4147-A177-3AD203B41FA5}">
                      <a16:colId xmlns:a16="http://schemas.microsoft.com/office/drawing/2014/main" val="1344121482"/>
                    </a:ext>
                  </a:extLst>
                </a:gridCol>
                <a:gridCol w="1884218">
                  <a:extLst>
                    <a:ext uri="{9D8B030D-6E8A-4147-A177-3AD203B41FA5}">
                      <a16:colId xmlns:a16="http://schemas.microsoft.com/office/drawing/2014/main" val="1181086480"/>
                    </a:ext>
                  </a:extLst>
                </a:gridCol>
                <a:gridCol w="1759528">
                  <a:extLst>
                    <a:ext uri="{9D8B030D-6E8A-4147-A177-3AD203B41FA5}">
                      <a16:colId xmlns:a16="http://schemas.microsoft.com/office/drawing/2014/main" val="3610477086"/>
                    </a:ext>
                  </a:extLst>
                </a:gridCol>
                <a:gridCol w="1648939">
                  <a:extLst>
                    <a:ext uri="{9D8B030D-6E8A-4147-A177-3AD203B41FA5}">
                      <a16:colId xmlns:a16="http://schemas.microsoft.com/office/drawing/2014/main" val="103772266"/>
                    </a:ext>
                  </a:extLst>
                </a:gridCol>
              </a:tblGrid>
              <a:tr h="41521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Restriction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Extra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478088"/>
                  </a:ext>
                </a:extLst>
              </a:tr>
              <a:tr h="102381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Edge-weighted DAG (topological sort)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E+V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E+V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873290"/>
                  </a:ext>
                </a:extLst>
              </a:tr>
              <a:tr h="71667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Dijkstra (binary heap)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negative 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log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log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398390"/>
                  </a:ext>
                </a:extLst>
              </a:tr>
              <a:tr h="41521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Bellman-Ford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negative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20997"/>
                  </a:ext>
                </a:extLst>
              </a:tr>
              <a:tr h="71667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Bellman-Ford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(queue based)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+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259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6595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Shortest Path</a:t>
            </a:r>
          </a:p>
          <a:p>
            <a:pPr lvl="1"/>
            <a:r>
              <a:rPr lang="en-US" dirty="0"/>
              <a:t>Problem formulation </a:t>
            </a:r>
          </a:p>
          <a:p>
            <a:pPr lvl="1"/>
            <a:r>
              <a:rPr lang="en-US" dirty="0"/>
              <a:t>Dijkstra algorithm</a:t>
            </a:r>
          </a:p>
          <a:p>
            <a:pPr lvl="1"/>
            <a:r>
              <a:rPr lang="en-US" dirty="0"/>
              <a:t>Edge-weighted DAG algorithm</a:t>
            </a:r>
          </a:p>
          <a:p>
            <a:pPr lvl="1"/>
            <a:r>
              <a:rPr lang="en-US" dirty="0"/>
              <a:t>Bellman-Ford algorithm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4992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4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4169</TotalTime>
  <Words>7379</Words>
  <Application>Microsoft Macintosh PowerPoint</Application>
  <PresentationFormat>Widescreen</PresentationFormat>
  <Paragraphs>3873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0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4.4 Shortest Path</vt:lpstr>
      <vt:lpstr>Weighted graphs</vt:lpstr>
      <vt:lpstr>Weighted graphs</vt:lpstr>
      <vt:lpstr>Weighted graphs</vt:lpstr>
      <vt:lpstr>Shortest path variants</vt:lpstr>
      <vt:lpstr>Shortest path variants</vt:lpstr>
      <vt:lpstr>content</vt:lpstr>
      <vt:lpstr>Edge-weighted digraph representation</vt:lpstr>
      <vt:lpstr>Edge-weighted DIgraph representation</vt:lpstr>
      <vt:lpstr>Edge-weighted digraph representation</vt:lpstr>
      <vt:lpstr>Single-source shortest path api</vt:lpstr>
      <vt:lpstr>common data structures</vt:lpstr>
      <vt:lpstr>common data structures</vt:lpstr>
      <vt:lpstr>COMMON DATA STRUCTURES</vt:lpstr>
      <vt:lpstr>Common Operation</vt:lpstr>
      <vt:lpstr>Common Operation</vt:lpstr>
      <vt:lpstr>Common Operation</vt:lpstr>
      <vt:lpstr>Generic shortest-paths algorithm</vt:lpstr>
      <vt:lpstr>Generic shortest-paths algorithm</vt:lpstr>
      <vt:lpstr>content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Dijkstra’s algorithm</vt:lpstr>
      <vt:lpstr>content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Edge-weighted DAG algorithm</vt:lpstr>
      <vt:lpstr>content</vt:lpstr>
      <vt:lpstr>negative weights on a digraph</vt:lpstr>
      <vt:lpstr>negative weights on a digraph</vt:lpstr>
      <vt:lpstr>negative weights on a digraph</vt:lpstr>
      <vt:lpstr>negative weights on a digraph</vt:lpstr>
      <vt:lpstr>negative weights on a digraph</vt:lpstr>
      <vt:lpstr>Negative cycles on a digraph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Bellman-ford algorithm</vt:lpstr>
      <vt:lpstr>Single-source shortest path summary</vt:lpstr>
      <vt:lpstr>Content RECAP</vt:lpstr>
      <vt:lpstr>Content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111</cp:revision>
  <dcterms:created xsi:type="dcterms:W3CDTF">2020-06-23T14:37:29Z</dcterms:created>
  <dcterms:modified xsi:type="dcterms:W3CDTF">2020-11-17T17:43:31Z</dcterms:modified>
</cp:coreProperties>
</file>