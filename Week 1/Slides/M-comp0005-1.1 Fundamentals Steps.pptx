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52"/>
  </p:notesMasterIdLst>
  <p:sldIdLst>
    <p:sldId id="266" r:id="rId2"/>
    <p:sldId id="272" r:id="rId3"/>
    <p:sldId id="275" r:id="rId4"/>
    <p:sldId id="284" r:id="rId5"/>
    <p:sldId id="285" r:id="rId6"/>
    <p:sldId id="329" r:id="rId7"/>
    <p:sldId id="286" r:id="rId8"/>
    <p:sldId id="276" r:id="rId9"/>
    <p:sldId id="287" r:id="rId10"/>
    <p:sldId id="288" r:id="rId11"/>
    <p:sldId id="289" r:id="rId12"/>
    <p:sldId id="290" r:id="rId13"/>
    <p:sldId id="277" r:id="rId14"/>
    <p:sldId id="292" r:id="rId15"/>
    <p:sldId id="294" r:id="rId16"/>
    <p:sldId id="293" r:id="rId17"/>
    <p:sldId id="295" r:id="rId18"/>
    <p:sldId id="297" r:id="rId19"/>
    <p:sldId id="298" r:id="rId20"/>
    <p:sldId id="299" r:id="rId21"/>
    <p:sldId id="300" r:id="rId22"/>
    <p:sldId id="302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10" r:id="rId31"/>
    <p:sldId id="309" r:id="rId32"/>
    <p:sldId id="29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278" r:id="rId50"/>
    <p:sldId id="328" r:id="rId5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2C4"/>
    <a:srgbClr val="8DB9CA"/>
    <a:srgbClr val="F6BE00"/>
    <a:srgbClr val="B2E2ED"/>
    <a:srgbClr val="00FFFF"/>
    <a:srgbClr val="00FDFF"/>
    <a:srgbClr val="A4DBE8"/>
    <a:srgbClr val="BBC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/>
    <p:restoredTop sz="42568"/>
  </p:normalViewPr>
  <p:slideViewPr>
    <p:cSldViewPr snapToGrid="0" snapToObjects="1">
      <p:cViewPr varScale="1">
        <p:scale>
          <a:sx n="99" d="100"/>
          <a:sy n="99" d="100"/>
        </p:scale>
        <p:origin x="3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10/27/20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95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57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88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95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49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72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36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83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82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7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93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51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2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40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3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27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1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38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47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04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22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8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79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00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2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5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52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39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586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2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87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62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08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547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32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052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487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636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710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670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630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875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85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836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2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476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477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641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726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0266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8000"/>
            <a:ext cx="5488958" cy="2930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100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tx1"/>
                </a:solidFill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74506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462170-CD96-464B-B59F-201AA9A3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4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1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00" indent="-9000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28650" y="1846935"/>
            <a:ext cx="7886700" cy="1447107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COMP0005 – ALGORITHMS 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1. Fundamentals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3891938"/>
            <a:ext cx="7886700" cy="99417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Prof </a:t>
            </a:r>
            <a:r>
              <a:rPr lang="en-US" sz="2000" dirty="0" err="1"/>
              <a:t>Licia</a:t>
            </a:r>
            <a:r>
              <a:rPr lang="en-US" sz="2000" dirty="0"/>
              <a:t> Capra</a:t>
            </a:r>
          </a:p>
          <a:p>
            <a:pPr marL="0" indent="0">
              <a:buNone/>
            </a:pPr>
            <a:r>
              <a:rPr lang="en-US" sz="1600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046740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E94668B-B781-EA45-8615-CB243AE9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Steps to developing algorithms</a:t>
            </a:r>
          </a:p>
          <a:p>
            <a:pPr marL="457200" indent="-457200">
              <a:buAutoNum type="arabicPeriod"/>
            </a:pPr>
            <a:r>
              <a:rPr lang="en-US" dirty="0"/>
              <a:t>Analysis of algorithms</a:t>
            </a:r>
          </a:p>
          <a:p>
            <a:pPr marL="457200" indent="-457200">
              <a:buAutoNum type="arabicPeriod"/>
            </a:pPr>
            <a:r>
              <a:rPr lang="en-US" dirty="0"/>
              <a:t>Abstract Data Types (ADTs)</a:t>
            </a:r>
          </a:p>
        </p:txBody>
      </p:sp>
    </p:spTree>
    <p:extLst>
      <p:ext uri="{BB962C8B-B14F-4D97-AF65-F5344CB8AC3E}">
        <p14:creationId xmlns:p14="http://schemas.microsoft.com/office/powerpoint/2010/main" val="424356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17A81309-CC3B-4449-BC47-5012293E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3039-8165-2845-B4E6-63166B737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Problem: given a set of N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union</a:t>
            </a:r>
            <a:r>
              <a:rPr lang="en-US" sz="2000" dirty="0"/>
              <a:t>: connect two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find</a:t>
            </a:r>
            <a:r>
              <a:rPr lang="en-US" sz="2000" dirty="0"/>
              <a:t>: is there a path connecting the two objects?</a:t>
            </a:r>
          </a:p>
        </p:txBody>
      </p:sp>
      <p:grpSp>
        <p:nvGrpSpPr>
          <p:cNvPr id="3" name="Group 2" descr="Example of N users, some that are connected to one another and some that are not">
            <a:extLst>
              <a:ext uri="{FF2B5EF4-FFF2-40B4-BE49-F238E27FC236}">
                <a16:creationId xmlns:a16="http://schemas.microsoft.com/office/drawing/2014/main" id="{842E0E87-2FA0-FB4F-BA2E-548895E03180}"/>
              </a:ext>
            </a:extLst>
          </p:cNvPr>
          <p:cNvGrpSpPr/>
          <p:nvPr/>
        </p:nvGrpSpPr>
        <p:grpSpPr>
          <a:xfrm>
            <a:off x="1201781" y="2571750"/>
            <a:ext cx="5041615" cy="1399725"/>
            <a:chOff x="1201781" y="2571750"/>
            <a:chExt cx="5041615" cy="139972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59938E-7185-444C-8DE6-95C21C9ED652}"/>
                </a:ext>
              </a:extLst>
            </p:cNvPr>
            <p:cNvGrpSpPr/>
            <p:nvPr/>
          </p:nvGrpSpPr>
          <p:grpSpPr>
            <a:xfrm>
              <a:off x="1201781" y="2571750"/>
              <a:ext cx="2327086" cy="1399725"/>
              <a:chOff x="705392" y="2571750"/>
              <a:chExt cx="2327086" cy="1399725"/>
            </a:xfrm>
          </p:grpSpPr>
          <p:sp>
            <p:nvSpPr>
              <p:cNvPr id="4" name="Smiley Face 3">
                <a:extLst>
                  <a:ext uri="{FF2B5EF4-FFF2-40B4-BE49-F238E27FC236}">
                    <a16:creationId xmlns:a16="http://schemas.microsoft.com/office/drawing/2014/main" id="{CB8C380C-5A86-5C41-822D-4ECA1FBE81E4}"/>
                  </a:ext>
                </a:extLst>
              </p:cNvPr>
              <p:cNvSpPr/>
              <p:nvPr/>
            </p:nvSpPr>
            <p:spPr>
              <a:xfrm>
                <a:off x="705393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Smiley Face 4">
                <a:extLst>
                  <a:ext uri="{FF2B5EF4-FFF2-40B4-BE49-F238E27FC236}">
                    <a16:creationId xmlns:a16="http://schemas.microsoft.com/office/drawing/2014/main" id="{667A926D-5ACC-2944-A3C9-4C877E2E6E4D}"/>
                  </a:ext>
                </a:extLst>
              </p:cNvPr>
              <p:cNvSpPr/>
              <p:nvPr/>
            </p:nvSpPr>
            <p:spPr>
              <a:xfrm>
                <a:off x="705392" y="362081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Smiley Face 5">
                <a:extLst>
                  <a:ext uri="{FF2B5EF4-FFF2-40B4-BE49-F238E27FC236}">
                    <a16:creationId xmlns:a16="http://schemas.microsoft.com/office/drawing/2014/main" id="{C0C9301B-F24C-F644-A0A1-37FEFE745481}"/>
                  </a:ext>
                </a:extLst>
              </p:cNvPr>
              <p:cNvSpPr/>
              <p:nvPr/>
            </p:nvSpPr>
            <p:spPr>
              <a:xfrm>
                <a:off x="1667689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Smiley Face 6">
                <a:extLst>
                  <a:ext uri="{FF2B5EF4-FFF2-40B4-BE49-F238E27FC236}">
                    <a16:creationId xmlns:a16="http://schemas.microsoft.com/office/drawing/2014/main" id="{CC692290-5E65-854A-8112-E562A99B7FE3}"/>
                  </a:ext>
                </a:extLst>
              </p:cNvPr>
              <p:cNvSpPr/>
              <p:nvPr/>
            </p:nvSpPr>
            <p:spPr>
              <a:xfrm>
                <a:off x="1667689" y="365576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Smiley Face 7">
                <a:extLst>
                  <a:ext uri="{FF2B5EF4-FFF2-40B4-BE49-F238E27FC236}">
                    <a16:creationId xmlns:a16="http://schemas.microsoft.com/office/drawing/2014/main" id="{0283B9A8-1500-444B-9697-6C9BA575A404}"/>
                  </a:ext>
                </a:extLst>
              </p:cNvPr>
              <p:cNvSpPr/>
              <p:nvPr/>
            </p:nvSpPr>
            <p:spPr>
              <a:xfrm>
                <a:off x="2718969" y="2601556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96D2F5F-801F-9841-811C-43CF26055FF2}"/>
                  </a:ext>
                </a:extLst>
              </p:cNvPr>
              <p:cNvCxnSpPr>
                <a:stCxn id="4" idx="4"/>
                <a:endCxn id="5" idx="0"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BB71DB9-0D8E-994D-B043-88536CC27BBA}"/>
                  </a:ext>
                </a:extLst>
              </p:cNvPr>
              <p:cNvCxnSpPr>
                <a:stCxn id="4" idx="6"/>
                <a:endCxn id="6" idx="2"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8B0F71C-7153-6E49-8F1F-400CDF939347}"/>
                  </a:ext>
                </a:extLst>
              </p:cNvPr>
              <p:cNvCxnSpPr>
                <a:stCxn id="6" idx="4"/>
                <a:endCxn id="7" idx="0"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FAA0B7F-A301-0542-B549-C5B64DBFE118}"/>
                  </a:ext>
                </a:extLst>
              </p:cNvPr>
              <p:cNvCxnSpPr>
                <a:stCxn id="5" idx="6"/>
                <a:endCxn id="6" idx="3"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742DF9-ACD2-9B41-A2A7-EE0DD9BEF78A}"/>
                </a:ext>
              </a:extLst>
            </p:cNvPr>
            <p:cNvGrpSpPr/>
            <p:nvPr/>
          </p:nvGrpSpPr>
          <p:grpSpPr>
            <a:xfrm>
              <a:off x="4651000" y="2571750"/>
              <a:ext cx="1592396" cy="1266978"/>
              <a:chOff x="4154611" y="2571750"/>
              <a:chExt cx="1592396" cy="1266978"/>
            </a:xfrm>
          </p:grpSpPr>
          <p:sp>
            <p:nvSpPr>
              <p:cNvPr id="9" name="Smiley Face 8">
                <a:extLst>
                  <a:ext uri="{FF2B5EF4-FFF2-40B4-BE49-F238E27FC236}">
                    <a16:creationId xmlns:a16="http://schemas.microsoft.com/office/drawing/2014/main" id="{09873140-7E7F-5249-A2A4-F3C2B61DC05C}"/>
                  </a:ext>
                </a:extLst>
              </p:cNvPr>
              <p:cNvSpPr/>
              <p:nvPr/>
            </p:nvSpPr>
            <p:spPr>
              <a:xfrm>
                <a:off x="4154611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Smiley Face 9">
                <a:extLst>
                  <a:ext uri="{FF2B5EF4-FFF2-40B4-BE49-F238E27FC236}">
                    <a16:creationId xmlns:a16="http://schemas.microsoft.com/office/drawing/2014/main" id="{8567B840-4AFC-254C-AC36-486CE05B7C93}"/>
                  </a:ext>
                </a:extLst>
              </p:cNvPr>
              <p:cNvSpPr/>
              <p:nvPr/>
            </p:nvSpPr>
            <p:spPr>
              <a:xfrm>
                <a:off x="4154611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Smiley Face 10">
                <a:extLst>
                  <a:ext uri="{FF2B5EF4-FFF2-40B4-BE49-F238E27FC236}">
                    <a16:creationId xmlns:a16="http://schemas.microsoft.com/office/drawing/2014/main" id="{EDAE0BFE-F0CC-3245-95BC-D001D3C230E2}"/>
                  </a:ext>
                </a:extLst>
              </p:cNvPr>
              <p:cNvSpPr/>
              <p:nvPr/>
            </p:nvSpPr>
            <p:spPr>
              <a:xfrm>
                <a:off x="5433498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Smiley Face 11">
                <a:extLst>
                  <a:ext uri="{FF2B5EF4-FFF2-40B4-BE49-F238E27FC236}">
                    <a16:creationId xmlns:a16="http://schemas.microsoft.com/office/drawing/2014/main" id="{8409EB80-074C-FF41-B3FF-8885A5EE3002}"/>
                  </a:ext>
                </a:extLst>
              </p:cNvPr>
              <p:cNvSpPr/>
              <p:nvPr/>
            </p:nvSpPr>
            <p:spPr>
              <a:xfrm>
                <a:off x="5429237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C2CF1B6-C40C-F342-9AF2-75B8773E8201}"/>
                  </a:ext>
                </a:extLst>
              </p:cNvPr>
              <p:cNvCxnSpPr>
                <a:stCxn id="9" idx="4"/>
                <a:endCxn id="10" idx="0"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908A3F0-C311-4F4D-915E-8249639B5881}"/>
                  </a:ext>
                </a:extLst>
              </p:cNvPr>
              <p:cNvCxnSpPr>
                <a:stCxn id="11" idx="4"/>
                <a:endCxn id="12" idx="0"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D87FF0E-422E-0F46-A99E-F1667B1525F4}"/>
                  </a:ext>
                </a:extLst>
              </p:cNvPr>
              <p:cNvCxnSpPr>
                <a:cxnSpLocks/>
                <a:stCxn id="10" idx="6"/>
                <a:endCxn id="12" idx="2"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DDFAE5-A243-7544-9956-BA4A1695C274}"/>
              </a:ext>
            </a:extLst>
          </p:cNvPr>
          <p:cNvGrpSpPr/>
          <p:nvPr/>
        </p:nvGrpSpPr>
        <p:grpSpPr>
          <a:xfrm>
            <a:off x="4037856" y="2471893"/>
            <a:ext cx="4979270" cy="1411643"/>
            <a:chOff x="4037856" y="2471893"/>
            <a:chExt cx="4979270" cy="141164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67A5CB-2398-2741-A219-04262388787B}"/>
                </a:ext>
              </a:extLst>
            </p:cNvPr>
            <p:cNvSpPr txBox="1"/>
            <p:nvPr/>
          </p:nvSpPr>
          <p:spPr>
            <a:xfrm>
              <a:off x="7219839" y="2471893"/>
              <a:ext cx="1797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union(Alice, Bob)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36784B-3C72-A74C-8706-9F91497288E2}"/>
                </a:ext>
              </a:extLst>
            </p:cNvPr>
            <p:cNvSpPr txBox="1"/>
            <p:nvPr/>
          </p:nvSpPr>
          <p:spPr>
            <a:xfrm>
              <a:off x="4037856" y="3514204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Bob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DF4E6A-7FD0-CA4F-BD9B-E10371DCFBA2}"/>
                </a:ext>
              </a:extLst>
            </p:cNvPr>
            <p:cNvSpPr txBox="1"/>
            <p:nvPr/>
          </p:nvSpPr>
          <p:spPr>
            <a:xfrm>
              <a:off x="6284593" y="2497917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Alice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28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">
            <a:extLst>
              <a:ext uri="{FF2B5EF4-FFF2-40B4-BE49-F238E27FC236}">
                <a16:creationId xmlns:a16="http://schemas.microsoft.com/office/drawing/2014/main" id="{37D04D80-62BA-9749-91E1-335CEEEB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3039-8165-2845-B4E6-63166B737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Problem: given a set of N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union</a:t>
            </a:r>
            <a:r>
              <a:rPr lang="en-US" sz="2000" dirty="0"/>
              <a:t>: connect two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find</a:t>
            </a:r>
            <a:r>
              <a:rPr lang="en-US" sz="2000" dirty="0"/>
              <a:t>: is there a path connecting the two objects?</a:t>
            </a:r>
          </a:p>
        </p:txBody>
      </p:sp>
      <p:grpSp>
        <p:nvGrpSpPr>
          <p:cNvPr id="3" name="Group 2" descr="Example of the efefct of a union operation between two users Alice and Bob: an edge is added between them.">
            <a:extLst>
              <a:ext uri="{FF2B5EF4-FFF2-40B4-BE49-F238E27FC236}">
                <a16:creationId xmlns:a16="http://schemas.microsoft.com/office/drawing/2014/main" id="{B9044509-3CB4-594D-9911-89A85E11D98E}"/>
              </a:ext>
            </a:extLst>
          </p:cNvPr>
          <p:cNvGrpSpPr/>
          <p:nvPr/>
        </p:nvGrpSpPr>
        <p:grpSpPr>
          <a:xfrm>
            <a:off x="1201781" y="2471893"/>
            <a:ext cx="7815345" cy="1499582"/>
            <a:chOff x="1201781" y="2471893"/>
            <a:chExt cx="7815345" cy="14995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59938E-7185-444C-8DE6-95C21C9ED652}"/>
                </a:ext>
              </a:extLst>
            </p:cNvPr>
            <p:cNvGrpSpPr/>
            <p:nvPr/>
          </p:nvGrpSpPr>
          <p:grpSpPr>
            <a:xfrm>
              <a:off x="1201781" y="2571750"/>
              <a:ext cx="2327086" cy="1399725"/>
              <a:chOff x="705392" y="2571750"/>
              <a:chExt cx="2327086" cy="1399725"/>
            </a:xfrm>
          </p:grpSpPr>
          <p:sp>
            <p:nvSpPr>
              <p:cNvPr id="4" name="Smiley Face 3">
                <a:extLst>
                  <a:ext uri="{FF2B5EF4-FFF2-40B4-BE49-F238E27FC236}">
                    <a16:creationId xmlns:a16="http://schemas.microsoft.com/office/drawing/2014/main" id="{CB8C380C-5A86-5C41-822D-4ECA1FBE81E4}"/>
                  </a:ext>
                </a:extLst>
              </p:cNvPr>
              <p:cNvSpPr/>
              <p:nvPr/>
            </p:nvSpPr>
            <p:spPr>
              <a:xfrm>
                <a:off x="705393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Smiley Face 4">
                <a:extLst>
                  <a:ext uri="{FF2B5EF4-FFF2-40B4-BE49-F238E27FC236}">
                    <a16:creationId xmlns:a16="http://schemas.microsoft.com/office/drawing/2014/main" id="{667A926D-5ACC-2944-A3C9-4C877E2E6E4D}"/>
                  </a:ext>
                </a:extLst>
              </p:cNvPr>
              <p:cNvSpPr/>
              <p:nvPr/>
            </p:nvSpPr>
            <p:spPr>
              <a:xfrm>
                <a:off x="705392" y="362081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Smiley Face 5">
                <a:extLst>
                  <a:ext uri="{FF2B5EF4-FFF2-40B4-BE49-F238E27FC236}">
                    <a16:creationId xmlns:a16="http://schemas.microsoft.com/office/drawing/2014/main" id="{C0C9301B-F24C-F644-A0A1-37FEFE745481}"/>
                  </a:ext>
                </a:extLst>
              </p:cNvPr>
              <p:cNvSpPr/>
              <p:nvPr/>
            </p:nvSpPr>
            <p:spPr>
              <a:xfrm>
                <a:off x="1667689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Smiley Face 6">
                <a:extLst>
                  <a:ext uri="{FF2B5EF4-FFF2-40B4-BE49-F238E27FC236}">
                    <a16:creationId xmlns:a16="http://schemas.microsoft.com/office/drawing/2014/main" id="{CC692290-5E65-854A-8112-E562A99B7FE3}"/>
                  </a:ext>
                </a:extLst>
              </p:cNvPr>
              <p:cNvSpPr/>
              <p:nvPr/>
            </p:nvSpPr>
            <p:spPr>
              <a:xfrm>
                <a:off x="1667689" y="365576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Smiley Face 7">
                <a:extLst>
                  <a:ext uri="{FF2B5EF4-FFF2-40B4-BE49-F238E27FC236}">
                    <a16:creationId xmlns:a16="http://schemas.microsoft.com/office/drawing/2014/main" id="{0283B9A8-1500-444B-9697-6C9BA575A404}"/>
                  </a:ext>
                </a:extLst>
              </p:cNvPr>
              <p:cNvSpPr/>
              <p:nvPr/>
            </p:nvSpPr>
            <p:spPr>
              <a:xfrm>
                <a:off x="2718969" y="2601556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96D2F5F-801F-9841-811C-43CF26055FF2}"/>
                  </a:ext>
                </a:extLst>
              </p:cNvPr>
              <p:cNvCxnSpPr>
                <a:stCxn id="4" idx="4"/>
                <a:endCxn id="5" idx="0"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BB71DB9-0D8E-994D-B043-88536CC27BBA}"/>
                  </a:ext>
                </a:extLst>
              </p:cNvPr>
              <p:cNvCxnSpPr>
                <a:stCxn id="4" idx="6"/>
                <a:endCxn id="6" idx="2"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8B0F71C-7153-6E49-8F1F-400CDF939347}"/>
                  </a:ext>
                </a:extLst>
              </p:cNvPr>
              <p:cNvCxnSpPr>
                <a:stCxn id="6" idx="4"/>
                <a:endCxn id="7" idx="0"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FAA0B7F-A301-0542-B549-C5B64DBFE118}"/>
                  </a:ext>
                </a:extLst>
              </p:cNvPr>
              <p:cNvCxnSpPr>
                <a:stCxn id="5" idx="6"/>
                <a:endCxn id="6" idx="3"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742DF9-ACD2-9B41-A2A7-EE0DD9BEF78A}"/>
                </a:ext>
              </a:extLst>
            </p:cNvPr>
            <p:cNvGrpSpPr/>
            <p:nvPr/>
          </p:nvGrpSpPr>
          <p:grpSpPr>
            <a:xfrm>
              <a:off x="4651000" y="2571750"/>
              <a:ext cx="1592396" cy="1266978"/>
              <a:chOff x="4154611" y="2571750"/>
              <a:chExt cx="1592396" cy="1266978"/>
            </a:xfrm>
          </p:grpSpPr>
          <p:sp>
            <p:nvSpPr>
              <p:cNvPr id="9" name="Smiley Face 8">
                <a:extLst>
                  <a:ext uri="{FF2B5EF4-FFF2-40B4-BE49-F238E27FC236}">
                    <a16:creationId xmlns:a16="http://schemas.microsoft.com/office/drawing/2014/main" id="{09873140-7E7F-5249-A2A4-F3C2B61DC05C}"/>
                  </a:ext>
                </a:extLst>
              </p:cNvPr>
              <p:cNvSpPr/>
              <p:nvPr/>
            </p:nvSpPr>
            <p:spPr>
              <a:xfrm>
                <a:off x="4154611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Smiley Face 9">
                <a:extLst>
                  <a:ext uri="{FF2B5EF4-FFF2-40B4-BE49-F238E27FC236}">
                    <a16:creationId xmlns:a16="http://schemas.microsoft.com/office/drawing/2014/main" id="{8567B840-4AFC-254C-AC36-486CE05B7C93}"/>
                  </a:ext>
                </a:extLst>
              </p:cNvPr>
              <p:cNvSpPr/>
              <p:nvPr/>
            </p:nvSpPr>
            <p:spPr>
              <a:xfrm>
                <a:off x="4154611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Smiley Face 10">
                <a:extLst>
                  <a:ext uri="{FF2B5EF4-FFF2-40B4-BE49-F238E27FC236}">
                    <a16:creationId xmlns:a16="http://schemas.microsoft.com/office/drawing/2014/main" id="{EDAE0BFE-F0CC-3245-95BC-D001D3C230E2}"/>
                  </a:ext>
                </a:extLst>
              </p:cNvPr>
              <p:cNvSpPr/>
              <p:nvPr/>
            </p:nvSpPr>
            <p:spPr>
              <a:xfrm>
                <a:off x="5433498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Smiley Face 11">
                <a:extLst>
                  <a:ext uri="{FF2B5EF4-FFF2-40B4-BE49-F238E27FC236}">
                    <a16:creationId xmlns:a16="http://schemas.microsoft.com/office/drawing/2014/main" id="{8409EB80-074C-FF41-B3FF-8885A5EE3002}"/>
                  </a:ext>
                </a:extLst>
              </p:cNvPr>
              <p:cNvSpPr/>
              <p:nvPr/>
            </p:nvSpPr>
            <p:spPr>
              <a:xfrm>
                <a:off x="5429237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C2CF1B6-C40C-F342-9AF2-75B8773E8201}"/>
                  </a:ext>
                </a:extLst>
              </p:cNvPr>
              <p:cNvCxnSpPr>
                <a:stCxn id="9" idx="4"/>
                <a:endCxn id="10" idx="0"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908A3F0-C311-4F4D-915E-8249639B5881}"/>
                  </a:ext>
                </a:extLst>
              </p:cNvPr>
              <p:cNvCxnSpPr>
                <a:stCxn id="11" idx="4"/>
                <a:endCxn id="12" idx="0"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1CE98E-B3C1-1E44-99D7-64B1A1986167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 flipV="1">
                <a:off x="4468120" y="2729605"/>
                <a:ext cx="965378" cy="951268"/>
              </a:xfrm>
              <a:prstGeom prst="line">
                <a:avLst/>
              </a:prstGeom>
              <a:ln w="25400">
                <a:solidFill>
                  <a:srgbClr val="D6D2C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D87FF0E-422E-0F46-A99E-F1667B1525F4}"/>
                  </a:ext>
                </a:extLst>
              </p:cNvPr>
              <p:cNvCxnSpPr>
                <a:cxnSpLocks/>
                <a:stCxn id="10" idx="6"/>
                <a:endCxn id="12" idx="2"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D3D5D5-B922-E449-AC1D-A02641515BAA}"/>
                </a:ext>
              </a:extLst>
            </p:cNvPr>
            <p:cNvSpPr txBox="1"/>
            <p:nvPr/>
          </p:nvSpPr>
          <p:spPr>
            <a:xfrm>
              <a:off x="4037856" y="3514204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Bob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53DF4-05D4-1E47-AD21-E72B334B6B16}"/>
                </a:ext>
              </a:extLst>
            </p:cNvPr>
            <p:cNvSpPr txBox="1"/>
            <p:nvPr/>
          </p:nvSpPr>
          <p:spPr>
            <a:xfrm>
              <a:off x="6284593" y="2497917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Alice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DB9282-F33C-3B4B-8D34-2C4A0495DA04}"/>
                </a:ext>
              </a:extLst>
            </p:cNvPr>
            <p:cNvSpPr txBox="1"/>
            <p:nvPr/>
          </p:nvSpPr>
          <p:spPr>
            <a:xfrm>
              <a:off x="7219839" y="2471893"/>
              <a:ext cx="1797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union(Alice, Bob)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21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">
            <a:extLst>
              <a:ext uri="{FF2B5EF4-FFF2-40B4-BE49-F238E27FC236}">
                <a16:creationId xmlns:a16="http://schemas.microsoft.com/office/drawing/2014/main" id="{2AC573CD-5C2A-2D4D-A161-3C09958B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3039-8165-2845-B4E6-63166B737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Problem: given a set of N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union</a:t>
            </a:r>
            <a:r>
              <a:rPr lang="en-US" sz="2000" dirty="0"/>
              <a:t>: connect two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find</a:t>
            </a:r>
            <a:r>
              <a:rPr lang="en-US" sz="2000" dirty="0"/>
              <a:t>: is there a path connecting the two objects?</a:t>
            </a:r>
          </a:p>
        </p:txBody>
      </p:sp>
      <p:grpSp>
        <p:nvGrpSpPr>
          <p:cNvPr id="3" name="Group 2" descr="Example of a find operation between a pair of users.">
            <a:extLst>
              <a:ext uri="{FF2B5EF4-FFF2-40B4-BE49-F238E27FC236}">
                <a16:creationId xmlns:a16="http://schemas.microsoft.com/office/drawing/2014/main" id="{66992EA7-1017-ED4E-86C6-8BCDDF914B5C}"/>
              </a:ext>
            </a:extLst>
          </p:cNvPr>
          <p:cNvGrpSpPr/>
          <p:nvPr/>
        </p:nvGrpSpPr>
        <p:grpSpPr>
          <a:xfrm>
            <a:off x="1035714" y="2194279"/>
            <a:ext cx="7981412" cy="2220670"/>
            <a:chOff x="1035714" y="2194279"/>
            <a:chExt cx="7981412" cy="222067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59938E-7185-444C-8DE6-95C21C9ED652}"/>
                </a:ext>
              </a:extLst>
            </p:cNvPr>
            <p:cNvGrpSpPr/>
            <p:nvPr/>
          </p:nvGrpSpPr>
          <p:grpSpPr>
            <a:xfrm>
              <a:off x="1201781" y="2571750"/>
              <a:ext cx="2327086" cy="1399725"/>
              <a:chOff x="705392" y="2571750"/>
              <a:chExt cx="2327086" cy="1399725"/>
            </a:xfrm>
          </p:grpSpPr>
          <p:sp>
            <p:nvSpPr>
              <p:cNvPr id="4" name="Smiley Face 3">
                <a:extLst>
                  <a:ext uri="{FF2B5EF4-FFF2-40B4-BE49-F238E27FC236}">
                    <a16:creationId xmlns:a16="http://schemas.microsoft.com/office/drawing/2014/main" id="{CB8C380C-5A86-5C41-822D-4ECA1FBE81E4}"/>
                  </a:ext>
                </a:extLst>
              </p:cNvPr>
              <p:cNvSpPr/>
              <p:nvPr/>
            </p:nvSpPr>
            <p:spPr>
              <a:xfrm>
                <a:off x="705393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Smiley Face 4">
                <a:extLst>
                  <a:ext uri="{FF2B5EF4-FFF2-40B4-BE49-F238E27FC236}">
                    <a16:creationId xmlns:a16="http://schemas.microsoft.com/office/drawing/2014/main" id="{667A926D-5ACC-2944-A3C9-4C877E2E6E4D}"/>
                  </a:ext>
                </a:extLst>
              </p:cNvPr>
              <p:cNvSpPr/>
              <p:nvPr/>
            </p:nvSpPr>
            <p:spPr>
              <a:xfrm>
                <a:off x="705392" y="362081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Smiley Face 5">
                <a:extLst>
                  <a:ext uri="{FF2B5EF4-FFF2-40B4-BE49-F238E27FC236}">
                    <a16:creationId xmlns:a16="http://schemas.microsoft.com/office/drawing/2014/main" id="{C0C9301B-F24C-F644-A0A1-37FEFE745481}"/>
                  </a:ext>
                </a:extLst>
              </p:cNvPr>
              <p:cNvSpPr/>
              <p:nvPr/>
            </p:nvSpPr>
            <p:spPr>
              <a:xfrm>
                <a:off x="1667689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Smiley Face 6">
                <a:extLst>
                  <a:ext uri="{FF2B5EF4-FFF2-40B4-BE49-F238E27FC236}">
                    <a16:creationId xmlns:a16="http://schemas.microsoft.com/office/drawing/2014/main" id="{CC692290-5E65-854A-8112-E562A99B7FE3}"/>
                  </a:ext>
                </a:extLst>
              </p:cNvPr>
              <p:cNvSpPr/>
              <p:nvPr/>
            </p:nvSpPr>
            <p:spPr>
              <a:xfrm>
                <a:off x="1667689" y="365576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Smiley Face 7">
                <a:extLst>
                  <a:ext uri="{FF2B5EF4-FFF2-40B4-BE49-F238E27FC236}">
                    <a16:creationId xmlns:a16="http://schemas.microsoft.com/office/drawing/2014/main" id="{0283B9A8-1500-444B-9697-6C9BA575A404}"/>
                  </a:ext>
                </a:extLst>
              </p:cNvPr>
              <p:cNvSpPr/>
              <p:nvPr/>
            </p:nvSpPr>
            <p:spPr>
              <a:xfrm>
                <a:off x="2718969" y="2601556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96D2F5F-801F-9841-811C-43CF26055FF2}"/>
                  </a:ext>
                </a:extLst>
              </p:cNvPr>
              <p:cNvCxnSpPr>
                <a:stCxn id="4" idx="4"/>
                <a:endCxn id="5" idx="0"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BB71DB9-0D8E-994D-B043-88536CC27BBA}"/>
                  </a:ext>
                </a:extLst>
              </p:cNvPr>
              <p:cNvCxnSpPr>
                <a:stCxn id="4" idx="6"/>
                <a:endCxn id="6" idx="2"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8B0F71C-7153-6E49-8F1F-400CDF939347}"/>
                  </a:ext>
                </a:extLst>
              </p:cNvPr>
              <p:cNvCxnSpPr>
                <a:stCxn id="6" idx="4"/>
                <a:endCxn id="7" idx="0"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FAA0B7F-A301-0542-B549-C5B64DBFE118}"/>
                  </a:ext>
                </a:extLst>
              </p:cNvPr>
              <p:cNvCxnSpPr>
                <a:stCxn id="5" idx="6"/>
                <a:endCxn id="6" idx="3"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742DF9-ACD2-9B41-A2A7-EE0DD9BEF78A}"/>
                </a:ext>
              </a:extLst>
            </p:cNvPr>
            <p:cNvGrpSpPr/>
            <p:nvPr/>
          </p:nvGrpSpPr>
          <p:grpSpPr>
            <a:xfrm>
              <a:off x="4651000" y="2571750"/>
              <a:ext cx="1592396" cy="1266978"/>
              <a:chOff x="4154611" y="2571750"/>
              <a:chExt cx="1592396" cy="1266978"/>
            </a:xfrm>
          </p:grpSpPr>
          <p:sp>
            <p:nvSpPr>
              <p:cNvPr id="9" name="Smiley Face 8">
                <a:extLst>
                  <a:ext uri="{FF2B5EF4-FFF2-40B4-BE49-F238E27FC236}">
                    <a16:creationId xmlns:a16="http://schemas.microsoft.com/office/drawing/2014/main" id="{09873140-7E7F-5249-A2A4-F3C2B61DC05C}"/>
                  </a:ext>
                </a:extLst>
              </p:cNvPr>
              <p:cNvSpPr/>
              <p:nvPr/>
            </p:nvSpPr>
            <p:spPr>
              <a:xfrm>
                <a:off x="4154611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Smiley Face 9">
                <a:extLst>
                  <a:ext uri="{FF2B5EF4-FFF2-40B4-BE49-F238E27FC236}">
                    <a16:creationId xmlns:a16="http://schemas.microsoft.com/office/drawing/2014/main" id="{8567B840-4AFC-254C-AC36-486CE05B7C93}"/>
                  </a:ext>
                </a:extLst>
              </p:cNvPr>
              <p:cNvSpPr/>
              <p:nvPr/>
            </p:nvSpPr>
            <p:spPr>
              <a:xfrm>
                <a:off x="4154611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Smiley Face 10">
                <a:extLst>
                  <a:ext uri="{FF2B5EF4-FFF2-40B4-BE49-F238E27FC236}">
                    <a16:creationId xmlns:a16="http://schemas.microsoft.com/office/drawing/2014/main" id="{EDAE0BFE-F0CC-3245-95BC-D001D3C230E2}"/>
                  </a:ext>
                </a:extLst>
              </p:cNvPr>
              <p:cNvSpPr/>
              <p:nvPr/>
            </p:nvSpPr>
            <p:spPr>
              <a:xfrm>
                <a:off x="5433498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Smiley Face 11">
                <a:extLst>
                  <a:ext uri="{FF2B5EF4-FFF2-40B4-BE49-F238E27FC236}">
                    <a16:creationId xmlns:a16="http://schemas.microsoft.com/office/drawing/2014/main" id="{8409EB80-074C-FF41-B3FF-8885A5EE3002}"/>
                  </a:ext>
                </a:extLst>
              </p:cNvPr>
              <p:cNvSpPr/>
              <p:nvPr/>
            </p:nvSpPr>
            <p:spPr>
              <a:xfrm>
                <a:off x="5429237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C2CF1B6-C40C-F342-9AF2-75B8773E8201}"/>
                  </a:ext>
                </a:extLst>
              </p:cNvPr>
              <p:cNvCxnSpPr>
                <a:stCxn id="9" idx="4"/>
                <a:endCxn id="10" idx="0"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908A3F0-C311-4F4D-915E-8249639B5881}"/>
                  </a:ext>
                </a:extLst>
              </p:cNvPr>
              <p:cNvCxnSpPr>
                <a:stCxn id="11" idx="4"/>
                <a:endCxn id="12" idx="0"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1CE98E-B3C1-1E44-99D7-64B1A1986167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 flipV="1">
                <a:off x="4468120" y="2729605"/>
                <a:ext cx="965378" cy="9512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D87FF0E-422E-0F46-A99E-F1667B1525F4}"/>
                  </a:ext>
                </a:extLst>
              </p:cNvPr>
              <p:cNvCxnSpPr>
                <a:cxnSpLocks/>
                <a:stCxn id="10" idx="6"/>
                <a:endCxn id="12" idx="2"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D3D5D5-B922-E449-AC1D-A02641515BAA}"/>
                </a:ext>
              </a:extLst>
            </p:cNvPr>
            <p:cNvSpPr txBox="1"/>
            <p:nvPr/>
          </p:nvSpPr>
          <p:spPr>
            <a:xfrm>
              <a:off x="1964324" y="4045617"/>
              <a:ext cx="713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David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53DF4-05D4-1E47-AD21-E72B334B6B16}"/>
                </a:ext>
              </a:extLst>
            </p:cNvPr>
            <p:cNvSpPr txBox="1"/>
            <p:nvPr/>
          </p:nvSpPr>
          <p:spPr>
            <a:xfrm>
              <a:off x="1035714" y="2194279"/>
              <a:ext cx="662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Carla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DB9282-F33C-3B4B-8D34-2C4A0495DA04}"/>
                </a:ext>
              </a:extLst>
            </p:cNvPr>
            <p:cNvSpPr txBox="1"/>
            <p:nvPr/>
          </p:nvSpPr>
          <p:spPr>
            <a:xfrm>
              <a:off x="7207656" y="2884805"/>
              <a:ext cx="18094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find(Carla, David)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3A6BC0-A515-D34B-AE80-0D618C2F418C}"/>
                </a:ext>
              </a:extLst>
            </p:cNvPr>
            <p:cNvSpPr txBox="1"/>
            <p:nvPr/>
          </p:nvSpPr>
          <p:spPr>
            <a:xfrm>
              <a:off x="7219839" y="2471893"/>
              <a:ext cx="1797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union(Alice, Bob)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394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">
            <a:extLst>
              <a:ext uri="{FF2B5EF4-FFF2-40B4-BE49-F238E27FC236}">
                <a16:creationId xmlns:a16="http://schemas.microsoft.com/office/drawing/2014/main" id="{2AC573CD-5C2A-2D4D-A161-3C09958B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3039-8165-2845-B4E6-63166B737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Problem: given a set of N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union</a:t>
            </a:r>
            <a:r>
              <a:rPr lang="en-US" sz="2000" dirty="0"/>
              <a:t>: connect two objects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find</a:t>
            </a:r>
            <a:r>
              <a:rPr lang="en-US" sz="2000" dirty="0"/>
              <a:t>: is there a path connecting the two objects?</a:t>
            </a:r>
          </a:p>
        </p:txBody>
      </p:sp>
      <p:grpSp>
        <p:nvGrpSpPr>
          <p:cNvPr id="3" name="Group 2" descr="Example of a find operation between a pair of users.">
            <a:extLst>
              <a:ext uri="{FF2B5EF4-FFF2-40B4-BE49-F238E27FC236}">
                <a16:creationId xmlns:a16="http://schemas.microsoft.com/office/drawing/2014/main" id="{66992EA7-1017-ED4E-86C6-8BCDDF914B5C}"/>
              </a:ext>
            </a:extLst>
          </p:cNvPr>
          <p:cNvGrpSpPr/>
          <p:nvPr/>
        </p:nvGrpSpPr>
        <p:grpSpPr>
          <a:xfrm>
            <a:off x="1035714" y="2194279"/>
            <a:ext cx="7981412" cy="2220670"/>
            <a:chOff x="1035714" y="2194279"/>
            <a:chExt cx="7981412" cy="222067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59938E-7185-444C-8DE6-95C21C9ED652}"/>
                </a:ext>
              </a:extLst>
            </p:cNvPr>
            <p:cNvGrpSpPr/>
            <p:nvPr/>
          </p:nvGrpSpPr>
          <p:grpSpPr>
            <a:xfrm>
              <a:off x="1201781" y="2571750"/>
              <a:ext cx="2327086" cy="1399725"/>
              <a:chOff x="705392" y="2571750"/>
              <a:chExt cx="2327086" cy="1399725"/>
            </a:xfrm>
          </p:grpSpPr>
          <p:sp>
            <p:nvSpPr>
              <p:cNvPr id="4" name="Smiley Face 3">
                <a:extLst>
                  <a:ext uri="{FF2B5EF4-FFF2-40B4-BE49-F238E27FC236}">
                    <a16:creationId xmlns:a16="http://schemas.microsoft.com/office/drawing/2014/main" id="{CB8C380C-5A86-5C41-822D-4ECA1FBE81E4}"/>
                  </a:ext>
                </a:extLst>
              </p:cNvPr>
              <p:cNvSpPr/>
              <p:nvPr/>
            </p:nvSpPr>
            <p:spPr>
              <a:xfrm>
                <a:off x="705393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Smiley Face 4">
                <a:extLst>
                  <a:ext uri="{FF2B5EF4-FFF2-40B4-BE49-F238E27FC236}">
                    <a16:creationId xmlns:a16="http://schemas.microsoft.com/office/drawing/2014/main" id="{667A926D-5ACC-2944-A3C9-4C877E2E6E4D}"/>
                  </a:ext>
                </a:extLst>
              </p:cNvPr>
              <p:cNvSpPr/>
              <p:nvPr/>
            </p:nvSpPr>
            <p:spPr>
              <a:xfrm>
                <a:off x="705392" y="362081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Smiley Face 5">
                <a:extLst>
                  <a:ext uri="{FF2B5EF4-FFF2-40B4-BE49-F238E27FC236}">
                    <a16:creationId xmlns:a16="http://schemas.microsoft.com/office/drawing/2014/main" id="{C0C9301B-F24C-F644-A0A1-37FEFE745481}"/>
                  </a:ext>
                </a:extLst>
              </p:cNvPr>
              <p:cNvSpPr/>
              <p:nvPr/>
            </p:nvSpPr>
            <p:spPr>
              <a:xfrm>
                <a:off x="1667689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Smiley Face 6">
                <a:extLst>
                  <a:ext uri="{FF2B5EF4-FFF2-40B4-BE49-F238E27FC236}">
                    <a16:creationId xmlns:a16="http://schemas.microsoft.com/office/drawing/2014/main" id="{CC692290-5E65-854A-8112-E562A99B7FE3}"/>
                  </a:ext>
                </a:extLst>
              </p:cNvPr>
              <p:cNvSpPr/>
              <p:nvPr/>
            </p:nvSpPr>
            <p:spPr>
              <a:xfrm>
                <a:off x="1667689" y="3655765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Smiley Face 7">
                <a:extLst>
                  <a:ext uri="{FF2B5EF4-FFF2-40B4-BE49-F238E27FC236}">
                    <a16:creationId xmlns:a16="http://schemas.microsoft.com/office/drawing/2014/main" id="{0283B9A8-1500-444B-9697-6C9BA575A404}"/>
                  </a:ext>
                </a:extLst>
              </p:cNvPr>
              <p:cNvSpPr/>
              <p:nvPr/>
            </p:nvSpPr>
            <p:spPr>
              <a:xfrm>
                <a:off x="2718969" y="2601556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96D2F5F-801F-9841-811C-43CF26055FF2}"/>
                  </a:ext>
                </a:extLst>
              </p:cNvPr>
              <p:cNvCxnSpPr>
                <a:stCxn id="4" idx="4"/>
                <a:endCxn id="5" idx="0"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BB71DB9-0D8E-994D-B043-88536CC27BBA}"/>
                  </a:ext>
                </a:extLst>
              </p:cNvPr>
              <p:cNvCxnSpPr>
                <a:stCxn id="4" idx="6"/>
                <a:endCxn id="6" idx="2"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25400">
                <a:solidFill>
                  <a:srgbClr val="D6D2C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8B0F71C-7153-6E49-8F1F-400CDF939347}"/>
                  </a:ext>
                </a:extLst>
              </p:cNvPr>
              <p:cNvCxnSpPr>
                <a:stCxn id="6" idx="4"/>
                <a:endCxn id="7" idx="0"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25400">
                <a:solidFill>
                  <a:srgbClr val="D6D2C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FAA0B7F-A301-0542-B549-C5B64DBFE118}"/>
                  </a:ext>
                </a:extLst>
              </p:cNvPr>
              <p:cNvCxnSpPr>
                <a:stCxn id="5" idx="6"/>
                <a:endCxn id="6" idx="3"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742DF9-ACD2-9B41-A2A7-EE0DD9BEF78A}"/>
                </a:ext>
              </a:extLst>
            </p:cNvPr>
            <p:cNvGrpSpPr/>
            <p:nvPr/>
          </p:nvGrpSpPr>
          <p:grpSpPr>
            <a:xfrm>
              <a:off x="4651000" y="2571750"/>
              <a:ext cx="1592396" cy="1266978"/>
              <a:chOff x="4154611" y="2571750"/>
              <a:chExt cx="1592396" cy="1266978"/>
            </a:xfrm>
          </p:grpSpPr>
          <p:sp>
            <p:nvSpPr>
              <p:cNvPr id="9" name="Smiley Face 8">
                <a:extLst>
                  <a:ext uri="{FF2B5EF4-FFF2-40B4-BE49-F238E27FC236}">
                    <a16:creationId xmlns:a16="http://schemas.microsoft.com/office/drawing/2014/main" id="{09873140-7E7F-5249-A2A4-F3C2B61DC05C}"/>
                  </a:ext>
                </a:extLst>
              </p:cNvPr>
              <p:cNvSpPr/>
              <p:nvPr/>
            </p:nvSpPr>
            <p:spPr>
              <a:xfrm>
                <a:off x="4154611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Smiley Face 9">
                <a:extLst>
                  <a:ext uri="{FF2B5EF4-FFF2-40B4-BE49-F238E27FC236}">
                    <a16:creationId xmlns:a16="http://schemas.microsoft.com/office/drawing/2014/main" id="{8567B840-4AFC-254C-AC36-486CE05B7C93}"/>
                  </a:ext>
                </a:extLst>
              </p:cNvPr>
              <p:cNvSpPr/>
              <p:nvPr/>
            </p:nvSpPr>
            <p:spPr>
              <a:xfrm>
                <a:off x="4154611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Smiley Face 10">
                <a:extLst>
                  <a:ext uri="{FF2B5EF4-FFF2-40B4-BE49-F238E27FC236}">
                    <a16:creationId xmlns:a16="http://schemas.microsoft.com/office/drawing/2014/main" id="{EDAE0BFE-F0CC-3245-95BC-D001D3C230E2}"/>
                  </a:ext>
                </a:extLst>
              </p:cNvPr>
              <p:cNvSpPr/>
              <p:nvPr/>
            </p:nvSpPr>
            <p:spPr>
              <a:xfrm>
                <a:off x="5433498" y="2571750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Smiley Face 11">
                <a:extLst>
                  <a:ext uri="{FF2B5EF4-FFF2-40B4-BE49-F238E27FC236}">
                    <a16:creationId xmlns:a16="http://schemas.microsoft.com/office/drawing/2014/main" id="{8409EB80-074C-FF41-B3FF-8885A5EE3002}"/>
                  </a:ext>
                </a:extLst>
              </p:cNvPr>
              <p:cNvSpPr/>
              <p:nvPr/>
            </p:nvSpPr>
            <p:spPr>
              <a:xfrm>
                <a:off x="5429237" y="3523018"/>
                <a:ext cx="313509" cy="315710"/>
              </a:xfrm>
              <a:prstGeom prst="smileyFac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C2CF1B6-C40C-F342-9AF2-75B8773E8201}"/>
                  </a:ext>
                </a:extLst>
              </p:cNvPr>
              <p:cNvCxnSpPr>
                <a:stCxn id="9" idx="4"/>
                <a:endCxn id="10" idx="0"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908A3F0-C311-4F4D-915E-8249639B5881}"/>
                  </a:ext>
                </a:extLst>
              </p:cNvPr>
              <p:cNvCxnSpPr>
                <a:stCxn id="11" idx="4"/>
                <a:endCxn id="12" idx="0"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1CE98E-B3C1-1E44-99D7-64B1A1986167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 flipV="1">
                <a:off x="4468120" y="2729605"/>
                <a:ext cx="965378" cy="9512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D87FF0E-422E-0F46-A99E-F1667B1525F4}"/>
                  </a:ext>
                </a:extLst>
              </p:cNvPr>
              <p:cNvCxnSpPr>
                <a:cxnSpLocks/>
                <a:stCxn id="10" idx="6"/>
                <a:endCxn id="12" idx="2"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D3D5D5-B922-E449-AC1D-A02641515BAA}"/>
                </a:ext>
              </a:extLst>
            </p:cNvPr>
            <p:cNvSpPr txBox="1"/>
            <p:nvPr/>
          </p:nvSpPr>
          <p:spPr>
            <a:xfrm>
              <a:off x="1964324" y="4045617"/>
              <a:ext cx="713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David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53DF4-05D4-1E47-AD21-E72B334B6B16}"/>
                </a:ext>
              </a:extLst>
            </p:cNvPr>
            <p:cNvSpPr txBox="1"/>
            <p:nvPr/>
          </p:nvSpPr>
          <p:spPr>
            <a:xfrm>
              <a:off x="1035714" y="2194279"/>
              <a:ext cx="662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Carla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DB9282-F33C-3B4B-8D34-2C4A0495DA04}"/>
                </a:ext>
              </a:extLst>
            </p:cNvPr>
            <p:cNvSpPr txBox="1"/>
            <p:nvPr/>
          </p:nvSpPr>
          <p:spPr>
            <a:xfrm>
              <a:off x="7207656" y="2884805"/>
              <a:ext cx="18094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</a:rPr>
                <a:t>find(Carla, David)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3A6BC0-A515-D34B-AE80-0D618C2F418C}"/>
                </a:ext>
              </a:extLst>
            </p:cNvPr>
            <p:cNvSpPr txBox="1"/>
            <p:nvPr/>
          </p:nvSpPr>
          <p:spPr>
            <a:xfrm>
              <a:off x="7219839" y="2471893"/>
              <a:ext cx="1797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union(Alice, Bob)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00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2">
            <a:extLst>
              <a:ext uri="{FF2B5EF4-FFF2-40B4-BE49-F238E27FC236}">
                <a16:creationId xmlns:a16="http://schemas.microsoft.com/office/drawing/2014/main" id="{FB0F4D7B-5B09-8A4A-AF4F-8571DE9D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1. </a:t>
            </a:r>
            <a:r>
              <a:rPr lang="en-US" dirty="0"/>
              <a:t>Modelling the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Objects: integers [0, N-1]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Connected relation: equivalence relation (i.e., r</a:t>
            </a:r>
            <a:r>
              <a:rPr lang="en-US" sz="2000" b="0" dirty="0"/>
              <a:t>eflexive, symmetric, transitive)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Connected components: maximal set of objects mutually connected</a:t>
            </a:r>
            <a:endParaRPr lang="en-US" sz="2000" b="0" dirty="0"/>
          </a:p>
        </p:txBody>
      </p:sp>
      <p:grpSp>
        <p:nvGrpSpPr>
          <p:cNvPr id="3" name="Group 2" descr="Abstract representation of the problem with nodes and edges. Three connected components are displayed.">
            <a:extLst>
              <a:ext uri="{FF2B5EF4-FFF2-40B4-BE49-F238E27FC236}">
                <a16:creationId xmlns:a16="http://schemas.microsoft.com/office/drawing/2014/main" id="{C79939A2-9E1C-6446-ADDE-FC27A2A291BC}"/>
              </a:ext>
            </a:extLst>
          </p:cNvPr>
          <p:cNvGrpSpPr/>
          <p:nvPr/>
        </p:nvGrpSpPr>
        <p:grpSpPr>
          <a:xfrm>
            <a:off x="1202962" y="3457602"/>
            <a:ext cx="7073477" cy="1388813"/>
            <a:chOff x="1202962" y="3457602"/>
            <a:chExt cx="7073477" cy="13888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700D72-5B71-A341-B6C0-D2C1F316BCE7}"/>
                </a:ext>
              </a:extLst>
            </p:cNvPr>
            <p:cNvGrpSpPr/>
            <p:nvPr/>
          </p:nvGrpSpPr>
          <p:grpSpPr>
            <a:xfrm>
              <a:off x="1358536" y="3613630"/>
              <a:ext cx="962297" cy="1049065"/>
              <a:chOff x="862147" y="2729605"/>
              <a:chExt cx="962297" cy="104906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D47A31-C8D4-4F4E-93E4-0C94954D0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0D2E819-333B-DD41-BCB0-28580C6332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5365A9B-00B4-FC4F-B7E9-07DDB23A5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BB57FC4-FFE1-F94A-A0A7-2DAC3B7F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A46C9F-461A-C341-BE12-15B655D1D38A}"/>
                </a:ext>
              </a:extLst>
            </p:cNvPr>
            <p:cNvGrpSpPr/>
            <p:nvPr/>
          </p:nvGrpSpPr>
          <p:grpSpPr>
            <a:xfrm>
              <a:off x="4807755" y="3771485"/>
              <a:ext cx="1278887" cy="793413"/>
              <a:chOff x="4311366" y="2887460"/>
              <a:chExt cx="1278887" cy="79341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FA9527-0723-C84C-9DAD-5A9A9274E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3E0487-C3E3-BA42-95DF-639E6E194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2042A4-40A8-7A48-94A6-57FB1EF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E7671-BEF0-E64B-8EB4-20B053B5885C}"/>
                </a:ext>
              </a:extLst>
            </p:cNvPr>
            <p:cNvSpPr/>
            <p:nvPr/>
          </p:nvSpPr>
          <p:spPr>
            <a:xfrm>
              <a:off x="1202962" y="3487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3A8EC-A0DD-0E4F-A48A-336C126CC27C}"/>
                </a:ext>
              </a:extLst>
            </p:cNvPr>
            <p:cNvSpPr/>
            <p:nvPr/>
          </p:nvSpPr>
          <p:spPr>
            <a:xfrm>
              <a:off x="2153375" y="345760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154064-6499-6C46-AE1E-A06CA902DDD5}"/>
                </a:ext>
              </a:extLst>
            </p:cNvPr>
            <p:cNvSpPr/>
            <p:nvPr/>
          </p:nvSpPr>
          <p:spPr>
            <a:xfrm>
              <a:off x="1211127" y="4508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AF0CDE-E371-7B4E-9BDE-3A9AE538B917}"/>
                </a:ext>
              </a:extLst>
            </p:cNvPr>
            <p:cNvSpPr/>
            <p:nvPr/>
          </p:nvSpPr>
          <p:spPr>
            <a:xfrm>
              <a:off x="3281670" y="350084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558988-695E-9B47-93AF-A054538B5865}"/>
                </a:ext>
              </a:extLst>
            </p:cNvPr>
            <p:cNvSpPr/>
            <p:nvPr/>
          </p:nvSpPr>
          <p:spPr>
            <a:xfrm>
              <a:off x="4686437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ADCA38-13FC-414D-8B4C-52BC5B6316DE}"/>
                </a:ext>
              </a:extLst>
            </p:cNvPr>
            <p:cNvSpPr/>
            <p:nvPr/>
          </p:nvSpPr>
          <p:spPr>
            <a:xfrm>
              <a:off x="4664064" y="442183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8EA789-BABE-614D-A51D-2D32634256F4}"/>
                </a:ext>
              </a:extLst>
            </p:cNvPr>
            <p:cNvSpPr/>
            <p:nvPr/>
          </p:nvSpPr>
          <p:spPr>
            <a:xfrm>
              <a:off x="2193566" y="454596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4AB242-6B9A-D74E-B5B6-4FC17E727CED}"/>
                </a:ext>
              </a:extLst>
            </p:cNvPr>
            <p:cNvSpPr/>
            <p:nvPr/>
          </p:nvSpPr>
          <p:spPr>
            <a:xfrm>
              <a:off x="5940981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8CC21E-929B-254C-B7D5-457E1B6D2016}"/>
                </a:ext>
              </a:extLst>
            </p:cNvPr>
            <p:cNvSpPr/>
            <p:nvPr/>
          </p:nvSpPr>
          <p:spPr>
            <a:xfrm>
              <a:off x="5932158" y="442505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2779A1-B1EB-5043-A8DA-F859B68F0348}"/>
                </a:ext>
              </a:extLst>
            </p:cNvPr>
            <p:cNvSpPr txBox="1"/>
            <p:nvPr/>
          </p:nvSpPr>
          <p:spPr>
            <a:xfrm>
              <a:off x="6950435" y="3569031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C1: {0,1,5,6}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1E2FF2-CDD4-B54C-AC9E-88812939E348}"/>
                </a:ext>
              </a:extLst>
            </p:cNvPr>
            <p:cNvSpPr txBox="1"/>
            <p:nvPr/>
          </p:nvSpPr>
          <p:spPr>
            <a:xfrm>
              <a:off x="6950434" y="419556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C3: {3,4,7,8}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207100-ECC2-B546-8DDF-1253C89FD1DD}"/>
                </a:ext>
              </a:extLst>
            </p:cNvPr>
            <p:cNvSpPr txBox="1"/>
            <p:nvPr/>
          </p:nvSpPr>
          <p:spPr>
            <a:xfrm>
              <a:off x="6950435" y="387836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C2: {2}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9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1A458926-8225-8241-A64A-33F2050C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1. </a:t>
            </a:r>
            <a:r>
              <a:rPr lang="en-US" dirty="0"/>
              <a:t>Modelling the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x,y</a:t>
            </a:r>
            <a:r>
              <a:rPr lang="en-US" sz="2000" dirty="0"/>
              <a:t>): are x and y in the same component?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</a:t>
            </a:r>
            <a:r>
              <a:rPr lang="en-US" sz="2000" b="0" dirty="0"/>
              <a:t>nion(</a:t>
            </a:r>
            <a:r>
              <a:rPr lang="en-US" sz="2000" b="0" dirty="0" err="1"/>
              <a:t>x,y</a:t>
            </a:r>
            <a:r>
              <a:rPr lang="en-US" sz="2000" b="0" dirty="0"/>
              <a:t>): merge x’s and y’s component into one</a:t>
            </a:r>
          </a:p>
        </p:txBody>
      </p:sp>
      <p:grpSp>
        <p:nvGrpSpPr>
          <p:cNvPr id="3" name="Group 2" descr="Abstract representation of the problem with nodes and edges. Three connected components are displayed.">
            <a:extLst>
              <a:ext uri="{FF2B5EF4-FFF2-40B4-BE49-F238E27FC236}">
                <a16:creationId xmlns:a16="http://schemas.microsoft.com/office/drawing/2014/main" id="{5E212C0B-D1E9-F443-AE95-409AFA5A6FB9}"/>
              </a:ext>
            </a:extLst>
          </p:cNvPr>
          <p:cNvGrpSpPr/>
          <p:nvPr/>
        </p:nvGrpSpPr>
        <p:grpSpPr>
          <a:xfrm>
            <a:off x="1202962" y="3457602"/>
            <a:ext cx="7073477" cy="1388813"/>
            <a:chOff x="1202962" y="3457602"/>
            <a:chExt cx="7073477" cy="13888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700D72-5B71-A341-B6C0-D2C1F316BCE7}"/>
                </a:ext>
              </a:extLst>
            </p:cNvPr>
            <p:cNvGrpSpPr/>
            <p:nvPr/>
          </p:nvGrpSpPr>
          <p:grpSpPr>
            <a:xfrm>
              <a:off x="1358536" y="3613630"/>
              <a:ext cx="962297" cy="1049065"/>
              <a:chOff x="862147" y="2729605"/>
              <a:chExt cx="962297" cy="104906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D47A31-C8D4-4F4E-93E4-0C94954D0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0D2E819-333B-DD41-BCB0-28580C6332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5365A9B-00B4-FC4F-B7E9-07DDB23A5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BB57FC4-FFE1-F94A-A0A7-2DAC3B7F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A46C9F-461A-C341-BE12-15B655D1D38A}"/>
                </a:ext>
              </a:extLst>
            </p:cNvPr>
            <p:cNvGrpSpPr/>
            <p:nvPr/>
          </p:nvGrpSpPr>
          <p:grpSpPr>
            <a:xfrm>
              <a:off x="4807755" y="3771485"/>
              <a:ext cx="1278887" cy="793413"/>
              <a:chOff x="4311366" y="2887460"/>
              <a:chExt cx="1278887" cy="79341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FA9527-0723-C84C-9DAD-5A9A9274E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3E0487-C3E3-BA42-95DF-639E6E194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2042A4-40A8-7A48-94A6-57FB1EF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E7671-BEF0-E64B-8EB4-20B053B5885C}"/>
                </a:ext>
              </a:extLst>
            </p:cNvPr>
            <p:cNvSpPr/>
            <p:nvPr/>
          </p:nvSpPr>
          <p:spPr>
            <a:xfrm>
              <a:off x="1202962" y="3487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3A8EC-A0DD-0E4F-A48A-336C126CC27C}"/>
                </a:ext>
              </a:extLst>
            </p:cNvPr>
            <p:cNvSpPr/>
            <p:nvPr/>
          </p:nvSpPr>
          <p:spPr>
            <a:xfrm>
              <a:off x="2153375" y="345760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154064-6499-6C46-AE1E-A06CA902DDD5}"/>
                </a:ext>
              </a:extLst>
            </p:cNvPr>
            <p:cNvSpPr/>
            <p:nvPr/>
          </p:nvSpPr>
          <p:spPr>
            <a:xfrm>
              <a:off x="1211127" y="4508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AF0CDE-E371-7B4E-9BDE-3A9AE538B917}"/>
                </a:ext>
              </a:extLst>
            </p:cNvPr>
            <p:cNvSpPr/>
            <p:nvPr/>
          </p:nvSpPr>
          <p:spPr>
            <a:xfrm>
              <a:off x="3281670" y="350084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558988-695E-9B47-93AF-A054538B5865}"/>
                </a:ext>
              </a:extLst>
            </p:cNvPr>
            <p:cNvSpPr/>
            <p:nvPr/>
          </p:nvSpPr>
          <p:spPr>
            <a:xfrm>
              <a:off x="4686437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ADCA38-13FC-414D-8B4C-52BC5B6316DE}"/>
                </a:ext>
              </a:extLst>
            </p:cNvPr>
            <p:cNvSpPr/>
            <p:nvPr/>
          </p:nvSpPr>
          <p:spPr>
            <a:xfrm>
              <a:off x="4664064" y="442183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8EA789-BABE-614D-A51D-2D32634256F4}"/>
                </a:ext>
              </a:extLst>
            </p:cNvPr>
            <p:cNvSpPr/>
            <p:nvPr/>
          </p:nvSpPr>
          <p:spPr>
            <a:xfrm>
              <a:off x="2193566" y="454596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4AB242-6B9A-D74E-B5B6-4FC17E727CED}"/>
                </a:ext>
              </a:extLst>
            </p:cNvPr>
            <p:cNvSpPr/>
            <p:nvPr/>
          </p:nvSpPr>
          <p:spPr>
            <a:xfrm>
              <a:off x="5940981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8CC21E-929B-254C-B7D5-457E1B6D2016}"/>
                </a:ext>
              </a:extLst>
            </p:cNvPr>
            <p:cNvSpPr/>
            <p:nvPr/>
          </p:nvSpPr>
          <p:spPr>
            <a:xfrm>
              <a:off x="5932158" y="442505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0CD92-4327-9446-BBED-43483E72D753}"/>
                </a:ext>
              </a:extLst>
            </p:cNvPr>
            <p:cNvSpPr txBox="1"/>
            <p:nvPr/>
          </p:nvSpPr>
          <p:spPr>
            <a:xfrm>
              <a:off x="6950435" y="3569031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C1: {0,1,5,6}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C66940-3BC6-944B-8786-AC69EA048AB4}"/>
                </a:ext>
              </a:extLst>
            </p:cNvPr>
            <p:cNvSpPr txBox="1"/>
            <p:nvPr/>
          </p:nvSpPr>
          <p:spPr>
            <a:xfrm>
              <a:off x="6950434" y="419556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C3: {3,4,7,8}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F049B6-CAFF-7F4B-B6C0-4E9D130D7A99}"/>
                </a:ext>
              </a:extLst>
            </p:cNvPr>
            <p:cNvSpPr txBox="1"/>
            <p:nvPr/>
          </p:nvSpPr>
          <p:spPr>
            <a:xfrm>
              <a:off x="6950435" y="387836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C2: {2}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662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883E35AC-CAD1-5D4F-8B25-E34A2EDF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1. </a:t>
            </a:r>
            <a:r>
              <a:rPr lang="en-US" dirty="0"/>
              <a:t>Modelling the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x,y</a:t>
            </a:r>
            <a:r>
              <a:rPr lang="en-US" sz="2000" dirty="0"/>
              <a:t>): are x and y in the same component?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</a:t>
            </a:r>
            <a:r>
              <a:rPr lang="en-US" sz="2000" b="0" dirty="0"/>
              <a:t>nion(</a:t>
            </a:r>
            <a:r>
              <a:rPr lang="en-US" sz="2000" b="0" dirty="0" err="1"/>
              <a:t>x,y</a:t>
            </a:r>
            <a:r>
              <a:rPr lang="en-US" sz="2000" b="0" dirty="0"/>
              <a:t>): merge x’s and y’s component into one</a:t>
            </a:r>
          </a:p>
        </p:txBody>
      </p:sp>
      <p:grpSp>
        <p:nvGrpSpPr>
          <p:cNvPr id="3" name="Group 2" descr="Abstract representation of the problem with nodes and edges. Three connected components are displayed. Example of find operation that succeeds. ">
            <a:extLst>
              <a:ext uri="{FF2B5EF4-FFF2-40B4-BE49-F238E27FC236}">
                <a16:creationId xmlns:a16="http://schemas.microsoft.com/office/drawing/2014/main" id="{4068000A-2E6C-BA42-84E3-A0F75465639D}"/>
              </a:ext>
            </a:extLst>
          </p:cNvPr>
          <p:cNvGrpSpPr/>
          <p:nvPr/>
        </p:nvGrpSpPr>
        <p:grpSpPr>
          <a:xfrm>
            <a:off x="1202962" y="3457602"/>
            <a:ext cx="7073477" cy="1388813"/>
            <a:chOff x="1202962" y="3457602"/>
            <a:chExt cx="7073477" cy="13888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700D72-5B71-A341-B6C0-D2C1F316BCE7}"/>
                </a:ext>
              </a:extLst>
            </p:cNvPr>
            <p:cNvGrpSpPr/>
            <p:nvPr/>
          </p:nvGrpSpPr>
          <p:grpSpPr>
            <a:xfrm>
              <a:off x="1358536" y="3613630"/>
              <a:ext cx="962297" cy="1049065"/>
              <a:chOff x="862147" y="2729605"/>
              <a:chExt cx="962297" cy="104906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D47A31-C8D4-4F4E-93E4-0C94954D0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0D2E819-333B-DD41-BCB0-28580C6332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5365A9B-00B4-FC4F-B7E9-07DDB23A5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BB57FC4-FFE1-F94A-A0A7-2DAC3B7F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A46C9F-461A-C341-BE12-15B655D1D38A}"/>
                </a:ext>
              </a:extLst>
            </p:cNvPr>
            <p:cNvGrpSpPr/>
            <p:nvPr/>
          </p:nvGrpSpPr>
          <p:grpSpPr>
            <a:xfrm>
              <a:off x="4807755" y="3771485"/>
              <a:ext cx="1278887" cy="793413"/>
              <a:chOff x="4311366" y="2887460"/>
              <a:chExt cx="1278887" cy="79341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FA9527-0723-C84C-9DAD-5A9A9274E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3E0487-C3E3-BA42-95DF-639E6E194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2042A4-40A8-7A48-94A6-57FB1EF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E7671-BEF0-E64B-8EB4-20B053B5885C}"/>
                </a:ext>
              </a:extLst>
            </p:cNvPr>
            <p:cNvSpPr/>
            <p:nvPr/>
          </p:nvSpPr>
          <p:spPr>
            <a:xfrm>
              <a:off x="1202962" y="3487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3A8EC-A0DD-0E4F-A48A-336C126CC27C}"/>
                </a:ext>
              </a:extLst>
            </p:cNvPr>
            <p:cNvSpPr/>
            <p:nvPr/>
          </p:nvSpPr>
          <p:spPr>
            <a:xfrm>
              <a:off x="2153375" y="345760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154064-6499-6C46-AE1E-A06CA902DDD5}"/>
                </a:ext>
              </a:extLst>
            </p:cNvPr>
            <p:cNvSpPr/>
            <p:nvPr/>
          </p:nvSpPr>
          <p:spPr>
            <a:xfrm>
              <a:off x="1211127" y="4508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AF0CDE-E371-7B4E-9BDE-3A9AE538B917}"/>
                </a:ext>
              </a:extLst>
            </p:cNvPr>
            <p:cNvSpPr/>
            <p:nvPr/>
          </p:nvSpPr>
          <p:spPr>
            <a:xfrm>
              <a:off x="3281670" y="350084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558988-695E-9B47-93AF-A054538B5865}"/>
                </a:ext>
              </a:extLst>
            </p:cNvPr>
            <p:cNvSpPr/>
            <p:nvPr/>
          </p:nvSpPr>
          <p:spPr>
            <a:xfrm>
              <a:off x="4686437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ADCA38-13FC-414D-8B4C-52BC5B6316DE}"/>
                </a:ext>
              </a:extLst>
            </p:cNvPr>
            <p:cNvSpPr/>
            <p:nvPr/>
          </p:nvSpPr>
          <p:spPr>
            <a:xfrm>
              <a:off x="4664064" y="442183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8EA789-BABE-614D-A51D-2D32634256F4}"/>
                </a:ext>
              </a:extLst>
            </p:cNvPr>
            <p:cNvSpPr/>
            <p:nvPr/>
          </p:nvSpPr>
          <p:spPr>
            <a:xfrm>
              <a:off x="2193566" y="454596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4AB242-6B9A-D74E-B5B6-4FC17E727CED}"/>
                </a:ext>
              </a:extLst>
            </p:cNvPr>
            <p:cNvSpPr/>
            <p:nvPr/>
          </p:nvSpPr>
          <p:spPr>
            <a:xfrm>
              <a:off x="5940981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8CC21E-929B-254C-B7D5-457E1B6D2016}"/>
                </a:ext>
              </a:extLst>
            </p:cNvPr>
            <p:cNvSpPr/>
            <p:nvPr/>
          </p:nvSpPr>
          <p:spPr>
            <a:xfrm>
              <a:off x="5932158" y="442505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0CD92-4327-9446-BBED-43483E72D753}"/>
                </a:ext>
              </a:extLst>
            </p:cNvPr>
            <p:cNvSpPr txBox="1"/>
            <p:nvPr/>
          </p:nvSpPr>
          <p:spPr>
            <a:xfrm>
              <a:off x="6950435" y="3569031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C1: {0,1,5,6}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C66940-3BC6-944B-8786-AC69EA048AB4}"/>
                </a:ext>
              </a:extLst>
            </p:cNvPr>
            <p:cNvSpPr txBox="1"/>
            <p:nvPr/>
          </p:nvSpPr>
          <p:spPr>
            <a:xfrm>
              <a:off x="6950434" y="419556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C3: {3,4,7,8}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F049B6-CAFF-7F4B-B6C0-4E9D130D7A99}"/>
                </a:ext>
              </a:extLst>
            </p:cNvPr>
            <p:cNvSpPr txBox="1"/>
            <p:nvPr/>
          </p:nvSpPr>
          <p:spPr>
            <a:xfrm>
              <a:off x="6950435" y="387836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C2: {2}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AE28592-91DE-0C44-9B70-B1C554861A5F}"/>
              </a:ext>
            </a:extLst>
          </p:cNvPr>
          <p:cNvSpPr txBox="1"/>
          <p:nvPr/>
        </p:nvSpPr>
        <p:spPr>
          <a:xfrm>
            <a:off x="632486" y="2259811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find(0,6)</a:t>
            </a:r>
          </a:p>
          <a:p>
            <a:r>
              <a:rPr lang="en-US" dirty="0"/>
              <a:t>find(2,4)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F98681-92AF-654B-B863-0C9917F3D348}"/>
              </a:ext>
            </a:extLst>
          </p:cNvPr>
          <p:cNvSpPr txBox="1"/>
          <p:nvPr/>
        </p:nvSpPr>
        <p:spPr>
          <a:xfrm>
            <a:off x="1961537" y="225981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union(2,8)</a:t>
            </a:r>
          </a:p>
        </p:txBody>
      </p:sp>
    </p:spTree>
    <p:extLst>
      <p:ext uri="{BB962C8B-B14F-4D97-AF65-F5344CB8AC3E}">
        <p14:creationId xmlns:p14="http://schemas.microsoft.com/office/powerpoint/2010/main" val="188703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CACCF197-35EA-BB4B-95AE-0B2E3900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1. </a:t>
            </a:r>
            <a:r>
              <a:rPr lang="en-US" dirty="0"/>
              <a:t>Modelling the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x,y</a:t>
            </a:r>
            <a:r>
              <a:rPr lang="en-US" sz="2000" dirty="0"/>
              <a:t>): are x and y in the same component?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</a:t>
            </a:r>
            <a:r>
              <a:rPr lang="en-US" sz="2000" b="0" dirty="0"/>
              <a:t>nion(</a:t>
            </a:r>
            <a:r>
              <a:rPr lang="en-US" sz="2000" b="0" dirty="0" err="1"/>
              <a:t>x,y</a:t>
            </a:r>
            <a:r>
              <a:rPr lang="en-US" sz="2000" b="0" dirty="0"/>
              <a:t>): merge x’s and y’s component into one</a:t>
            </a:r>
          </a:p>
        </p:txBody>
      </p:sp>
      <p:grpSp>
        <p:nvGrpSpPr>
          <p:cNvPr id="3" name="Group 2" descr="Abstract representation of the problem with nodes and edges. Three connected components are displayed. Example of find operation that fails. ">
            <a:extLst>
              <a:ext uri="{FF2B5EF4-FFF2-40B4-BE49-F238E27FC236}">
                <a16:creationId xmlns:a16="http://schemas.microsoft.com/office/drawing/2014/main" id="{883B9ECB-EBC7-674A-8B7A-0D7E36CAD69B}"/>
              </a:ext>
            </a:extLst>
          </p:cNvPr>
          <p:cNvGrpSpPr/>
          <p:nvPr/>
        </p:nvGrpSpPr>
        <p:grpSpPr>
          <a:xfrm>
            <a:off x="1202962" y="3457602"/>
            <a:ext cx="7073477" cy="1388813"/>
            <a:chOff x="1202962" y="3457602"/>
            <a:chExt cx="7073477" cy="13888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700D72-5B71-A341-B6C0-D2C1F316BCE7}"/>
                </a:ext>
              </a:extLst>
            </p:cNvPr>
            <p:cNvGrpSpPr/>
            <p:nvPr/>
          </p:nvGrpSpPr>
          <p:grpSpPr>
            <a:xfrm>
              <a:off x="1358536" y="3613630"/>
              <a:ext cx="962297" cy="1049065"/>
              <a:chOff x="862147" y="2729605"/>
              <a:chExt cx="962297" cy="104906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D47A31-C8D4-4F4E-93E4-0C94954D0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0D2E819-333B-DD41-BCB0-28580C6332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5365A9B-00B4-FC4F-B7E9-07DDB23A5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BB57FC4-FFE1-F94A-A0A7-2DAC3B7F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A46C9F-461A-C341-BE12-15B655D1D38A}"/>
                </a:ext>
              </a:extLst>
            </p:cNvPr>
            <p:cNvGrpSpPr/>
            <p:nvPr/>
          </p:nvGrpSpPr>
          <p:grpSpPr>
            <a:xfrm>
              <a:off x="4807755" y="3771485"/>
              <a:ext cx="1278887" cy="793413"/>
              <a:chOff x="4311366" y="2887460"/>
              <a:chExt cx="1278887" cy="79341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FA9527-0723-C84C-9DAD-5A9A9274E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3E0487-C3E3-BA42-95DF-639E6E194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2042A4-40A8-7A48-94A6-57FB1EF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E7671-BEF0-E64B-8EB4-20B053B5885C}"/>
                </a:ext>
              </a:extLst>
            </p:cNvPr>
            <p:cNvSpPr/>
            <p:nvPr/>
          </p:nvSpPr>
          <p:spPr>
            <a:xfrm>
              <a:off x="1202962" y="3487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3A8EC-A0DD-0E4F-A48A-336C126CC27C}"/>
                </a:ext>
              </a:extLst>
            </p:cNvPr>
            <p:cNvSpPr/>
            <p:nvPr/>
          </p:nvSpPr>
          <p:spPr>
            <a:xfrm>
              <a:off x="2153375" y="345760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154064-6499-6C46-AE1E-A06CA902DDD5}"/>
                </a:ext>
              </a:extLst>
            </p:cNvPr>
            <p:cNvSpPr/>
            <p:nvPr/>
          </p:nvSpPr>
          <p:spPr>
            <a:xfrm>
              <a:off x="1211127" y="4508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AF0CDE-E371-7B4E-9BDE-3A9AE538B917}"/>
                </a:ext>
              </a:extLst>
            </p:cNvPr>
            <p:cNvSpPr/>
            <p:nvPr/>
          </p:nvSpPr>
          <p:spPr>
            <a:xfrm>
              <a:off x="3281670" y="350084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558988-695E-9B47-93AF-A054538B5865}"/>
                </a:ext>
              </a:extLst>
            </p:cNvPr>
            <p:cNvSpPr/>
            <p:nvPr/>
          </p:nvSpPr>
          <p:spPr>
            <a:xfrm>
              <a:off x="4686437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ADCA38-13FC-414D-8B4C-52BC5B6316DE}"/>
                </a:ext>
              </a:extLst>
            </p:cNvPr>
            <p:cNvSpPr/>
            <p:nvPr/>
          </p:nvSpPr>
          <p:spPr>
            <a:xfrm>
              <a:off x="4664064" y="442183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8EA789-BABE-614D-A51D-2D32634256F4}"/>
                </a:ext>
              </a:extLst>
            </p:cNvPr>
            <p:cNvSpPr/>
            <p:nvPr/>
          </p:nvSpPr>
          <p:spPr>
            <a:xfrm>
              <a:off x="2193566" y="454596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4AB242-6B9A-D74E-B5B6-4FC17E727CED}"/>
                </a:ext>
              </a:extLst>
            </p:cNvPr>
            <p:cNvSpPr/>
            <p:nvPr/>
          </p:nvSpPr>
          <p:spPr>
            <a:xfrm>
              <a:off x="5940981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8CC21E-929B-254C-B7D5-457E1B6D2016}"/>
                </a:ext>
              </a:extLst>
            </p:cNvPr>
            <p:cNvSpPr/>
            <p:nvPr/>
          </p:nvSpPr>
          <p:spPr>
            <a:xfrm>
              <a:off x="5932158" y="442505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0CD92-4327-9446-BBED-43483E72D753}"/>
                </a:ext>
              </a:extLst>
            </p:cNvPr>
            <p:cNvSpPr txBox="1"/>
            <p:nvPr/>
          </p:nvSpPr>
          <p:spPr>
            <a:xfrm>
              <a:off x="6950435" y="3569031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C1: {0,1,5,6}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C66940-3BC6-944B-8786-AC69EA048AB4}"/>
                </a:ext>
              </a:extLst>
            </p:cNvPr>
            <p:cNvSpPr txBox="1"/>
            <p:nvPr/>
          </p:nvSpPr>
          <p:spPr>
            <a:xfrm>
              <a:off x="6950434" y="419556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C3: {3,4,7,8}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F049B6-CAFF-7F4B-B6C0-4E9D130D7A99}"/>
                </a:ext>
              </a:extLst>
            </p:cNvPr>
            <p:cNvSpPr txBox="1"/>
            <p:nvPr/>
          </p:nvSpPr>
          <p:spPr>
            <a:xfrm>
              <a:off x="6950435" y="387836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C2: {2}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AE28592-91DE-0C44-9B70-B1C554861A5F}"/>
              </a:ext>
            </a:extLst>
          </p:cNvPr>
          <p:cNvSpPr txBox="1"/>
          <p:nvPr/>
        </p:nvSpPr>
        <p:spPr>
          <a:xfrm>
            <a:off x="632486" y="2259811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find(0,6)</a:t>
            </a:r>
          </a:p>
          <a:p>
            <a:r>
              <a:rPr lang="en-US" dirty="0">
                <a:highlight>
                  <a:srgbClr val="D6D2C4"/>
                </a:highlight>
              </a:rPr>
              <a:t>find(2,4)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F98681-92AF-654B-B863-0C9917F3D348}"/>
              </a:ext>
            </a:extLst>
          </p:cNvPr>
          <p:cNvSpPr txBox="1"/>
          <p:nvPr/>
        </p:nvSpPr>
        <p:spPr>
          <a:xfrm>
            <a:off x="1961537" y="225981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union(2,8)</a:t>
            </a:r>
          </a:p>
        </p:txBody>
      </p:sp>
    </p:spTree>
    <p:extLst>
      <p:ext uri="{BB962C8B-B14F-4D97-AF65-F5344CB8AC3E}">
        <p14:creationId xmlns:p14="http://schemas.microsoft.com/office/powerpoint/2010/main" val="125191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2">
            <a:extLst>
              <a:ext uri="{FF2B5EF4-FFF2-40B4-BE49-F238E27FC236}">
                <a16:creationId xmlns:a16="http://schemas.microsoft.com/office/drawing/2014/main" id="{E3CE65D7-FABE-8042-8097-40F09B52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1. </a:t>
            </a:r>
            <a:r>
              <a:rPr lang="en-US" dirty="0"/>
              <a:t>Modelling the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x,y</a:t>
            </a:r>
            <a:r>
              <a:rPr lang="en-US" sz="2000" dirty="0"/>
              <a:t>): are x and y in the same component?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</a:t>
            </a:r>
            <a:r>
              <a:rPr lang="en-US" sz="2000" b="0" dirty="0"/>
              <a:t>nion(</a:t>
            </a:r>
            <a:r>
              <a:rPr lang="en-US" sz="2000" b="0" dirty="0" err="1"/>
              <a:t>x,y</a:t>
            </a:r>
            <a:r>
              <a:rPr lang="en-US" sz="2000" b="0" dirty="0"/>
              <a:t>): merge x’s and y’s component into one</a:t>
            </a:r>
          </a:p>
        </p:txBody>
      </p:sp>
      <p:grpSp>
        <p:nvGrpSpPr>
          <p:cNvPr id="3" name="Group 2" descr="Abstract representation of the problem with nodes and edges. Three connected components are displayed. Example of union operation.">
            <a:extLst>
              <a:ext uri="{FF2B5EF4-FFF2-40B4-BE49-F238E27FC236}">
                <a16:creationId xmlns:a16="http://schemas.microsoft.com/office/drawing/2014/main" id="{43B0A44F-C5F0-ED41-844D-3F6FCE472098}"/>
              </a:ext>
            </a:extLst>
          </p:cNvPr>
          <p:cNvGrpSpPr/>
          <p:nvPr/>
        </p:nvGrpSpPr>
        <p:grpSpPr>
          <a:xfrm>
            <a:off x="1202962" y="3457602"/>
            <a:ext cx="7243943" cy="1410780"/>
            <a:chOff x="1202962" y="3457602"/>
            <a:chExt cx="7243943" cy="141078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700D72-5B71-A341-B6C0-D2C1F316BCE7}"/>
                </a:ext>
              </a:extLst>
            </p:cNvPr>
            <p:cNvGrpSpPr/>
            <p:nvPr/>
          </p:nvGrpSpPr>
          <p:grpSpPr>
            <a:xfrm>
              <a:off x="1358536" y="3613630"/>
              <a:ext cx="962297" cy="1049065"/>
              <a:chOff x="862147" y="2729605"/>
              <a:chExt cx="962297" cy="104906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D47A31-C8D4-4F4E-93E4-0C94954D0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147" y="2887460"/>
                <a:ext cx="1" cy="73335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0D2E819-333B-DD41-BCB0-28580C6332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02" y="2729605"/>
                <a:ext cx="6487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5365A9B-00B4-FC4F-B7E9-07DDB23A5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4444" y="2887460"/>
                <a:ext cx="0" cy="7683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BB57FC4-FFE1-F94A-A0A7-2DAC3B7F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901" y="2841225"/>
                <a:ext cx="694700" cy="9374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A46C9F-461A-C341-BE12-15B655D1D38A}"/>
                </a:ext>
              </a:extLst>
            </p:cNvPr>
            <p:cNvGrpSpPr/>
            <p:nvPr/>
          </p:nvGrpSpPr>
          <p:grpSpPr>
            <a:xfrm>
              <a:off x="4807755" y="3771485"/>
              <a:ext cx="1278887" cy="793413"/>
              <a:chOff x="4311366" y="2887460"/>
              <a:chExt cx="1278887" cy="79341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FA9527-0723-C84C-9DAD-5A9A9274E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1366" y="2887460"/>
                <a:ext cx="0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3E0487-C3E3-BA42-95DF-639E6E194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5992" y="2887460"/>
                <a:ext cx="4261" cy="6355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2042A4-40A8-7A48-94A6-57FB1EF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8120" y="3680873"/>
                <a:ext cx="96111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E7671-BEF0-E64B-8EB4-20B053B5885C}"/>
                </a:ext>
              </a:extLst>
            </p:cNvPr>
            <p:cNvSpPr/>
            <p:nvPr/>
          </p:nvSpPr>
          <p:spPr>
            <a:xfrm>
              <a:off x="1202962" y="3487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3A8EC-A0DD-0E4F-A48A-336C126CC27C}"/>
                </a:ext>
              </a:extLst>
            </p:cNvPr>
            <p:cNvSpPr/>
            <p:nvPr/>
          </p:nvSpPr>
          <p:spPr>
            <a:xfrm>
              <a:off x="2153375" y="345760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154064-6499-6C46-AE1E-A06CA902DDD5}"/>
                </a:ext>
              </a:extLst>
            </p:cNvPr>
            <p:cNvSpPr/>
            <p:nvPr/>
          </p:nvSpPr>
          <p:spPr>
            <a:xfrm>
              <a:off x="1211127" y="4508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AF0CDE-E371-7B4E-9BDE-3A9AE538B917}"/>
                </a:ext>
              </a:extLst>
            </p:cNvPr>
            <p:cNvSpPr/>
            <p:nvPr/>
          </p:nvSpPr>
          <p:spPr>
            <a:xfrm>
              <a:off x="3281670" y="350084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558988-695E-9B47-93AF-A054538B5865}"/>
                </a:ext>
              </a:extLst>
            </p:cNvPr>
            <p:cNvSpPr/>
            <p:nvPr/>
          </p:nvSpPr>
          <p:spPr>
            <a:xfrm>
              <a:off x="4686437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ADCA38-13FC-414D-8B4C-52BC5B6316DE}"/>
                </a:ext>
              </a:extLst>
            </p:cNvPr>
            <p:cNvSpPr/>
            <p:nvPr/>
          </p:nvSpPr>
          <p:spPr>
            <a:xfrm>
              <a:off x="4664064" y="442183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8EA789-BABE-614D-A51D-2D32634256F4}"/>
                </a:ext>
              </a:extLst>
            </p:cNvPr>
            <p:cNvSpPr/>
            <p:nvPr/>
          </p:nvSpPr>
          <p:spPr>
            <a:xfrm>
              <a:off x="2193566" y="454596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4AB242-6B9A-D74E-B5B6-4FC17E727CED}"/>
                </a:ext>
              </a:extLst>
            </p:cNvPr>
            <p:cNvSpPr/>
            <p:nvPr/>
          </p:nvSpPr>
          <p:spPr>
            <a:xfrm>
              <a:off x="5940981" y="347103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8CC21E-929B-254C-B7D5-457E1B6D2016}"/>
                </a:ext>
              </a:extLst>
            </p:cNvPr>
            <p:cNvSpPr/>
            <p:nvPr/>
          </p:nvSpPr>
          <p:spPr>
            <a:xfrm>
              <a:off x="5932158" y="442505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0CD92-4327-9446-BBED-43483E72D753}"/>
                </a:ext>
              </a:extLst>
            </p:cNvPr>
            <p:cNvSpPr txBox="1"/>
            <p:nvPr/>
          </p:nvSpPr>
          <p:spPr>
            <a:xfrm>
              <a:off x="6950435" y="3569031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C1: {0,1,5,6}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C66940-3BC6-944B-8786-AC69EA048AB4}"/>
                </a:ext>
              </a:extLst>
            </p:cNvPr>
            <p:cNvSpPr txBox="1"/>
            <p:nvPr/>
          </p:nvSpPr>
          <p:spPr>
            <a:xfrm>
              <a:off x="6950434" y="419556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/>
                <a:t>C3: {3,4,7,8}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F049B6-CAFF-7F4B-B6C0-4E9D130D7A99}"/>
                </a:ext>
              </a:extLst>
            </p:cNvPr>
            <p:cNvSpPr txBox="1"/>
            <p:nvPr/>
          </p:nvSpPr>
          <p:spPr>
            <a:xfrm>
              <a:off x="6950435" y="387836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/>
                <a:t>C2: {2}</a:t>
              </a:r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7BC55690-4C3A-A742-8059-DE4187AD20AE}"/>
                </a:ext>
              </a:extLst>
            </p:cNvPr>
            <p:cNvCxnSpPr>
              <a:stCxn id="26" idx="4"/>
              <a:endCxn id="31" idx="4"/>
            </p:cNvCxnSpPr>
            <p:nvPr/>
          </p:nvCxnSpPr>
          <p:spPr>
            <a:xfrm rot="16200000" flipH="1">
              <a:off x="4295032" y="2938152"/>
              <a:ext cx="924210" cy="2650488"/>
            </a:xfrm>
            <a:prstGeom prst="curvedConnector3">
              <a:avLst>
                <a:gd name="adj1" fmla="val 124735"/>
              </a:avLst>
            </a:prstGeom>
            <a:ln w="2540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8835D-6A7E-3742-87C3-AA37BC34407A}"/>
                </a:ext>
              </a:extLst>
            </p:cNvPr>
            <p:cNvSpPr txBox="1"/>
            <p:nvPr/>
          </p:nvSpPr>
          <p:spPr>
            <a:xfrm>
              <a:off x="6946173" y="4499050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C4: {2,3,4,7,8}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AE28592-91DE-0C44-9B70-B1C554861A5F}"/>
              </a:ext>
            </a:extLst>
          </p:cNvPr>
          <p:cNvSpPr txBox="1"/>
          <p:nvPr/>
        </p:nvSpPr>
        <p:spPr>
          <a:xfrm>
            <a:off x="632486" y="2259811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find(0,6)</a:t>
            </a:r>
          </a:p>
          <a:p>
            <a:r>
              <a:rPr lang="en-US" dirty="0"/>
              <a:t>find(2,4)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F98681-92AF-654B-B863-0C9917F3D348}"/>
              </a:ext>
            </a:extLst>
          </p:cNvPr>
          <p:cNvSpPr txBox="1"/>
          <p:nvPr/>
        </p:nvSpPr>
        <p:spPr>
          <a:xfrm>
            <a:off x="1961537" y="225981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union(2,8)</a:t>
            </a:r>
          </a:p>
        </p:txBody>
      </p:sp>
    </p:spTree>
    <p:extLst>
      <p:ext uri="{BB962C8B-B14F-4D97-AF65-F5344CB8AC3E}">
        <p14:creationId xmlns:p14="http://schemas.microsoft.com/office/powerpoint/2010/main" val="2805288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E5C3F6A-F13E-3546-8F10-4CEA9BF0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E80BF-6B17-C94D-8785-AD3850292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2. </a:t>
            </a:r>
            <a:r>
              <a:rPr lang="en-US" dirty="0"/>
              <a:t>Design </a:t>
            </a:r>
            <a:r>
              <a:rPr lang="en-US" dirty="0">
                <a:highlight>
                  <a:srgbClr val="D6D2C4"/>
                </a:highlight>
              </a:rPr>
              <a:t>data structures </a:t>
            </a:r>
            <a:r>
              <a:rPr lang="en-US" dirty="0"/>
              <a:t>and </a:t>
            </a:r>
            <a:r>
              <a:rPr lang="en-US" dirty="0">
                <a:highlight>
                  <a:srgbClr val="D6D2C4"/>
                </a:highlight>
              </a:rPr>
              <a:t>algorithms</a:t>
            </a:r>
            <a:r>
              <a:rPr lang="en-US" dirty="0"/>
              <a:t> for efficiently solving the union-find problem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The number of objects N can be huge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The number of connections M can be huge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Queries (find/union) can be intermixed</a:t>
            </a:r>
          </a:p>
        </p:txBody>
      </p:sp>
    </p:spTree>
    <p:extLst>
      <p:ext uri="{BB962C8B-B14F-4D97-AF65-F5344CB8AC3E}">
        <p14:creationId xmlns:p14="http://schemas.microsoft.com/office/powerpoint/2010/main" val="216677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D3D8C1C2-41A9-3B4E-AE89-972B57E3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Data structure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Objects: integer array </a:t>
            </a:r>
            <a:r>
              <a:rPr lang="en-US" sz="2000" dirty="0">
                <a:latin typeface="Courier" pitchFamily="2" charset="0"/>
              </a:rPr>
              <a:t>id[] </a:t>
            </a:r>
            <a:r>
              <a:rPr lang="en-US" sz="2000" dirty="0"/>
              <a:t>of length </a:t>
            </a:r>
            <a:r>
              <a:rPr lang="en-US" sz="2000" dirty="0">
                <a:latin typeface="Courier" pitchFamily="2" charset="0"/>
              </a:rPr>
              <a:t>N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Interpretation: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id[</a:t>
            </a:r>
            <a:r>
              <a:rPr lang="en-US" sz="20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component to which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belongs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Connections: </a:t>
            </a:r>
            <a:r>
              <a:rPr lang="en-US" sz="2000" dirty="0">
                <a:latin typeface="Courier" pitchFamily="2" charset="0"/>
              </a:rPr>
              <a:t>u</a:t>
            </a:r>
            <a:r>
              <a:rPr lang="en-US" sz="2000" dirty="0"/>
              <a:t> and </a:t>
            </a:r>
            <a:r>
              <a:rPr lang="en-US" sz="2000" dirty="0">
                <a:latin typeface="Courier" pitchFamily="2" charset="0"/>
              </a:rPr>
              <a:t>v</a:t>
            </a:r>
            <a:r>
              <a:rPr lang="en-US" sz="2000" dirty="0"/>
              <a:t> are connected </a:t>
            </a:r>
            <a:r>
              <a:rPr lang="en-US" sz="2000" dirty="0" err="1"/>
              <a:t>iff</a:t>
            </a:r>
            <a:r>
              <a:rPr lang="en-US" sz="2000" dirty="0"/>
              <a:t> they have the same id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45B0B3-B260-D541-A821-BFA213271A5D}"/>
              </a:ext>
            </a:extLst>
          </p:cNvPr>
          <p:cNvSpPr txBox="1"/>
          <p:nvPr/>
        </p:nvSpPr>
        <p:spPr>
          <a:xfrm>
            <a:off x="561588" y="3254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AA9B4B-DADD-1F4C-B58F-4E6D5E668118}"/>
              </a:ext>
            </a:extLst>
          </p:cNvPr>
          <p:cNvSpPr txBox="1"/>
          <p:nvPr/>
        </p:nvSpPr>
        <p:spPr>
          <a:xfrm>
            <a:off x="1326293" y="293029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157D600-1B34-C343-A322-AA2C75F23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49563"/>
              </p:ext>
            </p:extLst>
          </p:nvPr>
        </p:nvGraphicFramePr>
        <p:xfrm>
          <a:off x="1255217" y="326518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grpSp>
        <p:nvGrpSpPr>
          <p:cNvPr id="3" name="Group 2" descr="Graphical representation of components used in the numerical example.">
            <a:extLst>
              <a:ext uri="{FF2B5EF4-FFF2-40B4-BE49-F238E27FC236}">
                <a16:creationId xmlns:a16="http://schemas.microsoft.com/office/drawing/2014/main" id="{54C84CA7-4EA6-8945-8BA1-65F94F047717}"/>
              </a:ext>
            </a:extLst>
          </p:cNvPr>
          <p:cNvGrpSpPr/>
          <p:nvPr/>
        </p:nvGrpSpPr>
        <p:grpSpPr>
          <a:xfrm>
            <a:off x="629193" y="3981871"/>
            <a:ext cx="3714335" cy="1014566"/>
            <a:chOff x="629193" y="3981871"/>
            <a:chExt cx="3714335" cy="101456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EB04AD-DC06-2F48-86AD-2540CE6042FD}"/>
                </a:ext>
              </a:extLst>
            </p:cNvPr>
            <p:cNvSpPr/>
            <p:nvPr/>
          </p:nvSpPr>
          <p:spPr>
            <a:xfrm>
              <a:off x="6291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AEAADC3-C57B-E942-ACBE-66A187DA3E1E}"/>
                </a:ext>
              </a:extLst>
            </p:cNvPr>
            <p:cNvSpPr/>
            <p:nvPr/>
          </p:nvSpPr>
          <p:spPr>
            <a:xfrm>
              <a:off x="14762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B9A0962-D0BB-5245-8D7D-8004958EB479}"/>
                </a:ext>
              </a:extLst>
            </p:cNvPr>
            <p:cNvSpPr/>
            <p:nvPr/>
          </p:nvSpPr>
          <p:spPr>
            <a:xfrm>
              <a:off x="404308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862691-8BD4-4E46-91B5-BDA270149F18}"/>
                </a:ext>
              </a:extLst>
            </p:cNvPr>
            <p:cNvSpPr/>
            <p:nvPr/>
          </p:nvSpPr>
          <p:spPr>
            <a:xfrm>
              <a:off x="23233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613B623-E6F2-704F-9942-E049D59F3563}"/>
                </a:ext>
              </a:extLst>
            </p:cNvPr>
            <p:cNvSpPr/>
            <p:nvPr/>
          </p:nvSpPr>
          <p:spPr>
            <a:xfrm>
              <a:off x="31704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9C63E0-3246-FB48-B5C0-1CB561856B7C}"/>
                </a:ext>
              </a:extLst>
            </p:cNvPr>
            <p:cNvSpPr/>
            <p:nvPr/>
          </p:nvSpPr>
          <p:spPr>
            <a:xfrm>
              <a:off x="6291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158EA6-81F1-2C41-A180-77DC79713F35}"/>
                </a:ext>
              </a:extLst>
            </p:cNvPr>
            <p:cNvSpPr/>
            <p:nvPr/>
          </p:nvSpPr>
          <p:spPr>
            <a:xfrm>
              <a:off x="14762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5ADC087-48DE-0146-B09D-AF86EF7C38D0}"/>
                </a:ext>
              </a:extLst>
            </p:cNvPr>
            <p:cNvSpPr/>
            <p:nvPr/>
          </p:nvSpPr>
          <p:spPr>
            <a:xfrm>
              <a:off x="404308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948575-937F-0F40-8F66-DB9340030223}"/>
                </a:ext>
              </a:extLst>
            </p:cNvPr>
            <p:cNvSpPr/>
            <p:nvPr/>
          </p:nvSpPr>
          <p:spPr>
            <a:xfrm>
              <a:off x="23233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6AF567-B9E8-A14E-B865-BA93C2A33778}"/>
                </a:ext>
              </a:extLst>
            </p:cNvPr>
            <p:cNvSpPr/>
            <p:nvPr/>
          </p:nvSpPr>
          <p:spPr>
            <a:xfrm>
              <a:off x="31704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68D2A2B-B60E-A645-8A28-2CEDDDE99323}"/>
                </a:ext>
              </a:extLst>
            </p:cNvPr>
            <p:cNvCxnSpPr>
              <a:stCxn id="9" idx="4"/>
              <a:endCxn id="15" idx="0"/>
            </p:cNvCxnSpPr>
            <p:nvPr/>
          </p:nvCxnSpPr>
          <p:spPr>
            <a:xfrm>
              <a:off x="77941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5ADE4F6-B4A6-C04C-9934-CAAE71BB91B2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929638" y="4846214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6E44CC-39A2-364C-B3E4-A8D49A537791}"/>
                </a:ext>
              </a:extLst>
            </p:cNvPr>
            <p:cNvCxnSpPr/>
            <p:nvPr/>
          </p:nvCxnSpPr>
          <p:spPr>
            <a:xfrm>
              <a:off x="177673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4D60EDD-48AC-6D47-AED7-ECBA943106F7}"/>
                </a:ext>
              </a:extLst>
            </p:cNvPr>
            <p:cNvCxnSpPr/>
            <p:nvPr/>
          </p:nvCxnSpPr>
          <p:spPr>
            <a:xfrm>
              <a:off x="248629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2EA4F4-112C-7A4C-8FFD-7AE8F3E0AEB9}"/>
                </a:ext>
              </a:extLst>
            </p:cNvPr>
            <p:cNvCxnSpPr/>
            <p:nvPr/>
          </p:nvCxnSpPr>
          <p:spPr>
            <a:xfrm>
              <a:off x="419317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AEDECDD-FEEF-9B4F-BB51-EEBCE1A0D335}"/>
                </a:ext>
              </a:extLst>
            </p:cNvPr>
            <p:cNvCxnSpPr/>
            <p:nvPr/>
          </p:nvCxnSpPr>
          <p:spPr>
            <a:xfrm>
              <a:off x="3313611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209609E-8B57-AF47-8836-32F0F502B9C3}"/>
                </a:ext>
              </a:extLst>
            </p:cNvPr>
            <p:cNvCxnSpPr/>
            <p:nvPr/>
          </p:nvCxnSpPr>
          <p:spPr>
            <a:xfrm>
              <a:off x="349642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209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04A541FF-1DEB-C843-AF05-BD7FB2C4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). </a:t>
            </a:r>
            <a:r>
              <a:rPr lang="en-US" sz="2000" dirty="0">
                <a:latin typeface="Courier" pitchFamily="2" charset="0"/>
              </a:rPr>
              <a:t>id[u]==id[v]</a:t>
            </a:r>
            <a:r>
              <a:rPr lang="en-US" sz="2000" dirty="0"/>
              <a:t> 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union(</a:t>
            </a:r>
            <a:r>
              <a:rPr lang="en-US" sz="2000" dirty="0" err="1"/>
              <a:t>u,v</a:t>
            </a:r>
            <a:r>
              <a:rPr lang="en-US" sz="2000" dirty="0"/>
              <a:t>). for all nodes 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/>
              <a:t> whose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</a:t>
            </a:r>
            <a:r>
              <a:rPr lang="en-US" sz="2000" dirty="0"/>
              <a:t> was equal to </a:t>
            </a:r>
            <a:r>
              <a:rPr lang="en-US" sz="2000" dirty="0">
                <a:latin typeface="Courier" pitchFamily="2" charset="0"/>
              </a:rPr>
              <a:t>id[u]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change it to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 = id[v]</a:t>
            </a:r>
            <a:endParaRPr lang="en-US" sz="2000" dirty="0"/>
          </a:p>
        </p:txBody>
      </p:sp>
      <p:grpSp>
        <p:nvGrpSpPr>
          <p:cNvPr id="3" name="Group 2" descr="Graphical representation of components used in the numerical example.">
            <a:extLst>
              <a:ext uri="{FF2B5EF4-FFF2-40B4-BE49-F238E27FC236}">
                <a16:creationId xmlns:a16="http://schemas.microsoft.com/office/drawing/2014/main" id="{453FE7B6-268C-1C47-8F1A-353654E4DB63}"/>
              </a:ext>
            </a:extLst>
          </p:cNvPr>
          <p:cNvGrpSpPr/>
          <p:nvPr/>
        </p:nvGrpSpPr>
        <p:grpSpPr>
          <a:xfrm>
            <a:off x="629193" y="3981871"/>
            <a:ext cx="3714335" cy="1014566"/>
            <a:chOff x="629193" y="3981871"/>
            <a:chExt cx="3714335" cy="101456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245A56-C41C-6A48-AD70-9C2F75AEF4ED}"/>
                </a:ext>
              </a:extLst>
            </p:cNvPr>
            <p:cNvSpPr/>
            <p:nvPr/>
          </p:nvSpPr>
          <p:spPr>
            <a:xfrm>
              <a:off x="6291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5EC427E-C1E8-3F47-B64F-E8E01BA574D0}"/>
                </a:ext>
              </a:extLst>
            </p:cNvPr>
            <p:cNvSpPr/>
            <p:nvPr/>
          </p:nvSpPr>
          <p:spPr>
            <a:xfrm>
              <a:off x="14762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9476400-A508-FD48-BF66-E9C6EC3859F5}"/>
                </a:ext>
              </a:extLst>
            </p:cNvPr>
            <p:cNvSpPr/>
            <p:nvPr/>
          </p:nvSpPr>
          <p:spPr>
            <a:xfrm>
              <a:off x="404308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ACFC06E-5A26-994C-B37F-6B16E3723076}"/>
                </a:ext>
              </a:extLst>
            </p:cNvPr>
            <p:cNvSpPr/>
            <p:nvPr/>
          </p:nvSpPr>
          <p:spPr>
            <a:xfrm>
              <a:off x="23233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0DBEC95-C42E-924B-887E-632C313B9B39}"/>
                </a:ext>
              </a:extLst>
            </p:cNvPr>
            <p:cNvSpPr/>
            <p:nvPr/>
          </p:nvSpPr>
          <p:spPr>
            <a:xfrm>
              <a:off x="31704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DB67923-8ADD-B34D-8DD3-C05783C0A8D3}"/>
                </a:ext>
              </a:extLst>
            </p:cNvPr>
            <p:cNvSpPr/>
            <p:nvPr/>
          </p:nvSpPr>
          <p:spPr>
            <a:xfrm>
              <a:off x="6291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E06179-96D4-2645-9614-B0EBBB934FFA}"/>
                </a:ext>
              </a:extLst>
            </p:cNvPr>
            <p:cNvSpPr/>
            <p:nvPr/>
          </p:nvSpPr>
          <p:spPr>
            <a:xfrm>
              <a:off x="14762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5A033AB-80A2-2843-8CB3-3AF1B38F04A4}"/>
                </a:ext>
              </a:extLst>
            </p:cNvPr>
            <p:cNvSpPr/>
            <p:nvPr/>
          </p:nvSpPr>
          <p:spPr>
            <a:xfrm>
              <a:off x="404308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CBC00A2-2A96-0F4A-A016-2BB4BC2EC85C}"/>
                </a:ext>
              </a:extLst>
            </p:cNvPr>
            <p:cNvSpPr/>
            <p:nvPr/>
          </p:nvSpPr>
          <p:spPr>
            <a:xfrm>
              <a:off x="23233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C5532C-B1A6-4D4C-AF2B-8AC9AD6F8340}"/>
                </a:ext>
              </a:extLst>
            </p:cNvPr>
            <p:cNvSpPr/>
            <p:nvPr/>
          </p:nvSpPr>
          <p:spPr>
            <a:xfrm>
              <a:off x="31704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00C7A-9819-8E41-89AD-1D41E33E0005}"/>
                </a:ext>
              </a:extLst>
            </p:cNvPr>
            <p:cNvCxnSpPr>
              <a:stCxn id="32" idx="4"/>
              <a:endCxn id="37" idx="0"/>
            </p:cNvCxnSpPr>
            <p:nvPr/>
          </p:nvCxnSpPr>
          <p:spPr>
            <a:xfrm>
              <a:off x="77941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47657EA-C774-F549-922D-532D91EB5C2C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929638" y="4846214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FD0BC08-350B-B94C-9A35-248616B6771C}"/>
                </a:ext>
              </a:extLst>
            </p:cNvPr>
            <p:cNvCxnSpPr/>
            <p:nvPr/>
          </p:nvCxnSpPr>
          <p:spPr>
            <a:xfrm>
              <a:off x="177673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C6C8C85-F014-DF4A-B237-5F748CDC269E}"/>
                </a:ext>
              </a:extLst>
            </p:cNvPr>
            <p:cNvCxnSpPr/>
            <p:nvPr/>
          </p:nvCxnSpPr>
          <p:spPr>
            <a:xfrm>
              <a:off x="248629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47535C-5B43-8946-AC86-FAD500BD032C}"/>
                </a:ext>
              </a:extLst>
            </p:cNvPr>
            <p:cNvCxnSpPr/>
            <p:nvPr/>
          </p:nvCxnSpPr>
          <p:spPr>
            <a:xfrm>
              <a:off x="419317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2957127-5F7D-9847-A06D-52BA95E4F287}"/>
                </a:ext>
              </a:extLst>
            </p:cNvPr>
            <p:cNvCxnSpPr/>
            <p:nvPr/>
          </p:nvCxnSpPr>
          <p:spPr>
            <a:xfrm>
              <a:off x="3313611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615B7E-B382-3E46-A2AF-83F2460A3D40}"/>
                </a:ext>
              </a:extLst>
            </p:cNvPr>
            <p:cNvCxnSpPr/>
            <p:nvPr/>
          </p:nvCxnSpPr>
          <p:spPr>
            <a:xfrm>
              <a:off x="349642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561588" y="3254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326293" y="293029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462668"/>
              </p:ext>
            </p:extLst>
          </p:nvPr>
        </p:nvGraphicFramePr>
        <p:xfrm>
          <a:off x="1255217" y="326518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6685000" y="2867249"/>
            <a:ext cx="1838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find(3,7)</a:t>
            </a:r>
          </a:p>
          <a:p>
            <a:r>
              <a:rPr lang="en-US" dirty="0">
                <a:latin typeface="Courier" pitchFamily="2" charset="0"/>
              </a:rPr>
              <a:t>id[3]==id[7]</a:t>
            </a:r>
          </a:p>
          <a:p>
            <a:r>
              <a:rPr lang="en-US" dirty="0">
                <a:latin typeface="Courier" pitchFamily="2" charset="0"/>
              </a:rPr>
              <a:t>8==1</a:t>
            </a:r>
          </a:p>
        </p:txBody>
      </p:sp>
    </p:spTree>
    <p:extLst>
      <p:ext uri="{BB962C8B-B14F-4D97-AF65-F5344CB8AC3E}">
        <p14:creationId xmlns:p14="http://schemas.microsoft.com/office/powerpoint/2010/main" val="241783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">
            <a:extLst>
              <a:ext uri="{FF2B5EF4-FFF2-40B4-BE49-F238E27FC236}">
                <a16:creationId xmlns:a16="http://schemas.microsoft.com/office/drawing/2014/main" id="{94309346-679D-EA4F-A87F-B63DB652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). </a:t>
            </a:r>
            <a:r>
              <a:rPr lang="en-US" sz="2000" dirty="0">
                <a:latin typeface="Courier" pitchFamily="2" charset="0"/>
              </a:rPr>
              <a:t>id[u]==id[v]</a:t>
            </a:r>
            <a:r>
              <a:rPr lang="en-US" sz="2000" dirty="0"/>
              <a:t> 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union(</a:t>
            </a:r>
            <a:r>
              <a:rPr lang="en-US" sz="2000" dirty="0" err="1"/>
              <a:t>u,v</a:t>
            </a:r>
            <a:r>
              <a:rPr lang="en-US" sz="2000" dirty="0"/>
              <a:t>). for all nodes 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/>
              <a:t> whose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</a:t>
            </a:r>
            <a:r>
              <a:rPr lang="en-US" sz="2000" dirty="0"/>
              <a:t> was equal to </a:t>
            </a:r>
            <a:r>
              <a:rPr lang="en-US" sz="2000" dirty="0">
                <a:latin typeface="Courier" pitchFamily="2" charset="0"/>
              </a:rPr>
              <a:t>id[u]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change it to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 = id[v]</a:t>
            </a:r>
            <a:endParaRPr lang="en-US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561588" y="3254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326293" y="293029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027075"/>
              </p:ext>
            </p:extLst>
          </p:nvPr>
        </p:nvGraphicFramePr>
        <p:xfrm>
          <a:off x="1255217" y="326518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6685000" y="2867249"/>
            <a:ext cx="14253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union(6,1)</a:t>
            </a:r>
          </a:p>
          <a:p>
            <a:r>
              <a:rPr lang="en-US" dirty="0">
                <a:latin typeface="Courier" pitchFamily="2" charset="0"/>
              </a:rPr>
              <a:t>id[u=6]:0</a:t>
            </a:r>
          </a:p>
          <a:p>
            <a:r>
              <a:rPr lang="en-US" dirty="0">
                <a:latin typeface="Courier" pitchFamily="2" charset="0"/>
              </a:rPr>
              <a:t>id[v=1]:1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id[0]=1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id[5]=1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id[6]=1</a:t>
            </a:r>
          </a:p>
        </p:txBody>
      </p:sp>
      <p:grpSp>
        <p:nvGrpSpPr>
          <p:cNvPr id="3" name="Group 2" descr="Graphical representation of components used in the numerical example.">
            <a:extLst>
              <a:ext uri="{FF2B5EF4-FFF2-40B4-BE49-F238E27FC236}">
                <a16:creationId xmlns:a16="http://schemas.microsoft.com/office/drawing/2014/main" id="{70595846-0925-8047-97F1-28426544D64C}"/>
              </a:ext>
            </a:extLst>
          </p:cNvPr>
          <p:cNvGrpSpPr/>
          <p:nvPr/>
        </p:nvGrpSpPr>
        <p:grpSpPr>
          <a:xfrm>
            <a:off x="629193" y="3981871"/>
            <a:ext cx="3714335" cy="1014566"/>
            <a:chOff x="629193" y="3981871"/>
            <a:chExt cx="3714335" cy="101456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245A56-C41C-6A48-AD70-9C2F75AEF4ED}"/>
                </a:ext>
              </a:extLst>
            </p:cNvPr>
            <p:cNvSpPr/>
            <p:nvPr/>
          </p:nvSpPr>
          <p:spPr>
            <a:xfrm>
              <a:off x="6291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5EC427E-C1E8-3F47-B64F-E8E01BA574D0}"/>
                </a:ext>
              </a:extLst>
            </p:cNvPr>
            <p:cNvSpPr/>
            <p:nvPr/>
          </p:nvSpPr>
          <p:spPr>
            <a:xfrm>
              <a:off x="14762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9476400-A508-FD48-BF66-E9C6EC3859F5}"/>
                </a:ext>
              </a:extLst>
            </p:cNvPr>
            <p:cNvSpPr/>
            <p:nvPr/>
          </p:nvSpPr>
          <p:spPr>
            <a:xfrm>
              <a:off x="404308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ACFC06E-5A26-994C-B37F-6B16E3723076}"/>
                </a:ext>
              </a:extLst>
            </p:cNvPr>
            <p:cNvSpPr/>
            <p:nvPr/>
          </p:nvSpPr>
          <p:spPr>
            <a:xfrm>
              <a:off x="23233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0DBEC95-C42E-924B-887E-632C313B9B39}"/>
                </a:ext>
              </a:extLst>
            </p:cNvPr>
            <p:cNvSpPr/>
            <p:nvPr/>
          </p:nvSpPr>
          <p:spPr>
            <a:xfrm>
              <a:off x="31704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DB67923-8ADD-B34D-8DD3-C05783C0A8D3}"/>
                </a:ext>
              </a:extLst>
            </p:cNvPr>
            <p:cNvSpPr/>
            <p:nvPr/>
          </p:nvSpPr>
          <p:spPr>
            <a:xfrm>
              <a:off x="6291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E06179-96D4-2645-9614-B0EBBB934FFA}"/>
                </a:ext>
              </a:extLst>
            </p:cNvPr>
            <p:cNvSpPr/>
            <p:nvPr/>
          </p:nvSpPr>
          <p:spPr>
            <a:xfrm>
              <a:off x="14762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5A033AB-80A2-2843-8CB3-3AF1B38F04A4}"/>
                </a:ext>
              </a:extLst>
            </p:cNvPr>
            <p:cNvSpPr/>
            <p:nvPr/>
          </p:nvSpPr>
          <p:spPr>
            <a:xfrm>
              <a:off x="404308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CBC00A2-2A96-0F4A-A016-2BB4BC2EC85C}"/>
                </a:ext>
              </a:extLst>
            </p:cNvPr>
            <p:cNvSpPr/>
            <p:nvPr/>
          </p:nvSpPr>
          <p:spPr>
            <a:xfrm>
              <a:off x="23233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C5532C-B1A6-4D4C-AF2B-8AC9AD6F8340}"/>
                </a:ext>
              </a:extLst>
            </p:cNvPr>
            <p:cNvSpPr/>
            <p:nvPr/>
          </p:nvSpPr>
          <p:spPr>
            <a:xfrm>
              <a:off x="31704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00C7A-9819-8E41-89AD-1D41E33E0005}"/>
                </a:ext>
              </a:extLst>
            </p:cNvPr>
            <p:cNvCxnSpPr>
              <a:stCxn id="32" idx="4"/>
              <a:endCxn id="37" idx="0"/>
            </p:cNvCxnSpPr>
            <p:nvPr/>
          </p:nvCxnSpPr>
          <p:spPr>
            <a:xfrm>
              <a:off x="77941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47657EA-C774-F549-922D-532D91EB5C2C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929638" y="4846214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FD0BC08-350B-B94C-9A35-248616B6771C}"/>
                </a:ext>
              </a:extLst>
            </p:cNvPr>
            <p:cNvCxnSpPr/>
            <p:nvPr/>
          </p:nvCxnSpPr>
          <p:spPr>
            <a:xfrm>
              <a:off x="177673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C6C8C85-F014-DF4A-B237-5F748CDC269E}"/>
                </a:ext>
              </a:extLst>
            </p:cNvPr>
            <p:cNvCxnSpPr/>
            <p:nvPr/>
          </p:nvCxnSpPr>
          <p:spPr>
            <a:xfrm>
              <a:off x="248629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47535C-5B43-8946-AC86-FAD500BD032C}"/>
                </a:ext>
              </a:extLst>
            </p:cNvPr>
            <p:cNvCxnSpPr/>
            <p:nvPr/>
          </p:nvCxnSpPr>
          <p:spPr>
            <a:xfrm>
              <a:off x="419317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2957127-5F7D-9847-A06D-52BA95E4F287}"/>
                </a:ext>
              </a:extLst>
            </p:cNvPr>
            <p:cNvCxnSpPr/>
            <p:nvPr/>
          </p:nvCxnSpPr>
          <p:spPr>
            <a:xfrm>
              <a:off x="3313611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615B7E-B382-3E46-A2AF-83F2460A3D40}"/>
                </a:ext>
              </a:extLst>
            </p:cNvPr>
            <p:cNvCxnSpPr/>
            <p:nvPr/>
          </p:nvCxnSpPr>
          <p:spPr>
            <a:xfrm>
              <a:off x="349642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321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">
            <a:extLst>
              <a:ext uri="{FF2B5EF4-FFF2-40B4-BE49-F238E27FC236}">
                <a16:creationId xmlns:a16="http://schemas.microsoft.com/office/drawing/2014/main" id="{67EBBDA1-6B9C-3644-A575-86CEB1CD8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). </a:t>
            </a:r>
            <a:r>
              <a:rPr lang="en-US" sz="2000" dirty="0">
                <a:latin typeface="Courier" pitchFamily="2" charset="0"/>
              </a:rPr>
              <a:t>id[u]==id[v]</a:t>
            </a:r>
            <a:r>
              <a:rPr lang="en-US" sz="2000" dirty="0"/>
              <a:t> 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union(</a:t>
            </a:r>
            <a:r>
              <a:rPr lang="en-US" sz="2000" dirty="0" err="1"/>
              <a:t>u,v</a:t>
            </a:r>
            <a:r>
              <a:rPr lang="en-US" sz="2000" dirty="0"/>
              <a:t>). for all nodes 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/>
              <a:t> whose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</a:t>
            </a:r>
            <a:r>
              <a:rPr lang="en-US" sz="2000" dirty="0"/>
              <a:t> was equal to </a:t>
            </a:r>
            <a:r>
              <a:rPr lang="en-US" sz="2000" dirty="0">
                <a:latin typeface="Courier" pitchFamily="2" charset="0"/>
              </a:rPr>
              <a:t>id[u]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change it to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 = id[v]</a:t>
            </a:r>
            <a:endParaRPr lang="en-US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561588" y="3254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326293" y="293029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790766"/>
              </p:ext>
            </p:extLst>
          </p:nvPr>
        </p:nvGraphicFramePr>
        <p:xfrm>
          <a:off x="1255217" y="326518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6685000" y="2867249"/>
            <a:ext cx="14253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union(6,1)</a:t>
            </a:r>
          </a:p>
          <a:p>
            <a:r>
              <a:rPr lang="en-US" dirty="0">
                <a:latin typeface="Courier" pitchFamily="2" charset="0"/>
              </a:rPr>
              <a:t>id[u=6]:0</a:t>
            </a:r>
          </a:p>
          <a:p>
            <a:r>
              <a:rPr lang="en-US" dirty="0">
                <a:latin typeface="Courier" pitchFamily="2" charset="0"/>
              </a:rPr>
              <a:t>id[v=1]:1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id[0]=1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id[5]=1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id[6]=1</a:t>
            </a:r>
          </a:p>
        </p:txBody>
      </p:sp>
      <p:grpSp>
        <p:nvGrpSpPr>
          <p:cNvPr id="3" name="Group 2" descr="Graphical representation of components used in the numerical example.">
            <a:extLst>
              <a:ext uri="{FF2B5EF4-FFF2-40B4-BE49-F238E27FC236}">
                <a16:creationId xmlns:a16="http://schemas.microsoft.com/office/drawing/2014/main" id="{780C44F0-D7E3-A14C-883F-AD116DDE3B09}"/>
              </a:ext>
            </a:extLst>
          </p:cNvPr>
          <p:cNvGrpSpPr/>
          <p:nvPr/>
        </p:nvGrpSpPr>
        <p:grpSpPr>
          <a:xfrm>
            <a:off x="629193" y="3981871"/>
            <a:ext cx="3714335" cy="1014566"/>
            <a:chOff x="629193" y="3981871"/>
            <a:chExt cx="3714335" cy="101456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245A56-C41C-6A48-AD70-9C2F75AEF4ED}"/>
                </a:ext>
              </a:extLst>
            </p:cNvPr>
            <p:cNvSpPr/>
            <p:nvPr/>
          </p:nvSpPr>
          <p:spPr>
            <a:xfrm>
              <a:off x="6291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5EC427E-C1E8-3F47-B64F-E8E01BA574D0}"/>
                </a:ext>
              </a:extLst>
            </p:cNvPr>
            <p:cNvSpPr/>
            <p:nvPr/>
          </p:nvSpPr>
          <p:spPr>
            <a:xfrm>
              <a:off x="14762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9476400-A508-FD48-BF66-E9C6EC3859F5}"/>
                </a:ext>
              </a:extLst>
            </p:cNvPr>
            <p:cNvSpPr/>
            <p:nvPr/>
          </p:nvSpPr>
          <p:spPr>
            <a:xfrm>
              <a:off x="404308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ACFC06E-5A26-994C-B37F-6B16E3723076}"/>
                </a:ext>
              </a:extLst>
            </p:cNvPr>
            <p:cNvSpPr/>
            <p:nvPr/>
          </p:nvSpPr>
          <p:spPr>
            <a:xfrm>
              <a:off x="23233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0DBEC95-C42E-924B-887E-632C313B9B39}"/>
                </a:ext>
              </a:extLst>
            </p:cNvPr>
            <p:cNvSpPr/>
            <p:nvPr/>
          </p:nvSpPr>
          <p:spPr>
            <a:xfrm>
              <a:off x="3170493" y="398187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DB67923-8ADD-B34D-8DD3-C05783C0A8D3}"/>
                </a:ext>
              </a:extLst>
            </p:cNvPr>
            <p:cNvSpPr/>
            <p:nvPr/>
          </p:nvSpPr>
          <p:spPr>
            <a:xfrm>
              <a:off x="6291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E06179-96D4-2645-9614-B0EBBB934FFA}"/>
                </a:ext>
              </a:extLst>
            </p:cNvPr>
            <p:cNvSpPr/>
            <p:nvPr/>
          </p:nvSpPr>
          <p:spPr>
            <a:xfrm>
              <a:off x="14762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5A033AB-80A2-2843-8CB3-3AF1B38F04A4}"/>
                </a:ext>
              </a:extLst>
            </p:cNvPr>
            <p:cNvSpPr/>
            <p:nvPr/>
          </p:nvSpPr>
          <p:spPr>
            <a:xfrm>
              <a:off x="404308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CBC00A2-2A96-0F4A-A016-2BB4BC2EC85C}"/>
                </a:ext>
              </a:extLst>
            </p:cNvPr>
            <p:cNvSpPr/>
            <p:nvPr/>
          </p:nvSpPr>
          <p:spPr>
            <a:xfrm>
              <a:off x="23233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C5532C-B1A6-4D4C-AF2B-8AC9AD6F8340}"/>
                </a:ext>
              </a:extLst>
            </p:cNvPr>
            <p:cNvSpPr/>
            <p:nvPr/>
          </p:nvSpPr>
          <p:spPr>
            <a:xfrm>
              <a:off x="3170493" y="469599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00C7A-9819-8E41-89AD-1D41E33E0005}"/>
                </a:ext>
              </a:extLst>
            </p:cNvPr>
            <p:cNvCxnSpPr>
              <a:stCxn id="32" idx="4"/>
              <a:endCxn id="37" idx="0"/>
            </p:cNvCxnSpPr>
            <p:nvPr/>
          </p:nvCxnSpPr>
          <p:spPr>
            <a:xfrm>
              <a:off x="77941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47657EA-C774-F549-922D-532D91EB5C2C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929638" y="4846214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FD0BC08-350B-B94C-9A35-248616B6771C}"/>
                </a:ext>
              </a:extLst>
            </p:cNvPr>
            <p:cNvCxnSpPr/>
            <p:nvPr/>
          </p:nvCxnSpPr>
          <p:spPr>
            <a:xfrm>
              <a:off x="177673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C6C8C85-F014-DF4A-B237-5F748CDC269E}"/>
                </a:ext>
              </a:extLst>
            </p:cNvPr>
            <p:cNvCxnSpPr/>
            <p:nvPr/>
          </p:nvCxnSpPr>
          <p:spPr>
            <a:xfrm>
              <a:off x="248629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47535C-5B43-8946-AC86-FAD500BD032C}"/>
                </a:ext>
              </a:extLst>
            </p:cNvPr>
            <p:cNvCxnSpPr/>
            <p:nvPr/>
          </p:nvCxnSpPr>
          <p:spPr>
            <a:xfrm>
              <a:off x="4193176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2957127-5F7D-9847-A06D-52BA95E4F287}"/>
                </a:ext>
              </a:extLst>
            </p:cNvPr>
            <p:cNvCxnSpPr/>
            <p:nvPr/>
          </p:nvCxnSpPr>
          <p:spPr>
            <a:xfrm>
              <a:off x="3313611" y="4282317"/>
              <a:ext cx="0" cy="4136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615B7E-B382-3E46-A2AF-83F2460A3D40}"/>
                </a:ext>
              </a:extLst>
            </p:cNvPr>
            <p:cNvCxnSpPr/>
            <p:nvPr/>
          </p:nvCxnSpPr>
          <p:spPr>
            <a:xfrm>
              <a:off x="3496428" y="4136465"/>
              <a:ext cx="5466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179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7569202D-2B39-BB48-9D17-6052C62B9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67794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25090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union(5,0)</a:t>
            </a:r>
          </a:p>
          <a:p>
            <a:endParaRPr lang="en-US" sz="1200" dirty="0">
              <a:latin typeface="Courier" pitchFamily="2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id[5]:5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id[0]:0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for any x where id[x]==5,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	id[x]=0</a:t>
            </a:r>
          </a:p>
        </p:txBody>
      </p:sp>
      <p:cxnSp>
        <p:nvCxnSpPr>
          <p:cNvPr id="11" name="Straight Connector 10" descr="Edge appears between 5 and 0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1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82B7B72C-321C-BD42-86CF-4CD03A29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57905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25090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union(5,0)</a:t>
            </a:r>
          </a:p>
          <a:p>
            <a:endParaRPr lang="en-US" sz="1200" dirty="0">
              <a:latin typeface="Courier" pitchFamily="2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id[5]:5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id[0]:0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for any x where id[x]==5,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	id[x]=0</a:t>
            </a:r>
          </a:p>
        </p:txBody>
      </p:sp>
      <p:cxnSp>
        <p:nvCxnSpPr>
          <p:cNvPr id="11" name="Straight Connector 10" descr="Edge between 5 and 0 (graphical representation of teh efefcts of performing union(5,0) in the example).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97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DBD5C3FA-394A-6946-80F8-AD14594E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/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25090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union(6,5)</a:t>
            </a:r>
          </a:p>
          <a:p>
            <a:endParaRPr lang="en-US" sz="1200" dirty="0">
              <a:latin typeface="Courier" pitchFamily="2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id[6]:6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id[5]:0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for any x where id[x]==6,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	id[x]=0</a:t>
            </a:r>
          </a:p>
        </p:txBody>
      </p:sp>
      <p:cxnSp>
        <p:nvCxnSpPr>
          <p:cNvPr id="11" name="Straight Connector 10" descr="graphical representation of the effect of performing union(6,5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6,5) in the example">
            <a:extLst>
              <a:ext uri="{FF2B5EF4-FFF2-40B4-BE49-F238E27FC236}">
                <a16:creationId xmlns:a16="http://schemas.microsoft.com/office/drawing/2014/main" id="{D1DA20FC-F293-CA4F-879D-FD563C8E96E1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751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44C77F4C-A72C-1749-8ADF-ED49D094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382492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cxnSp>
        <p:nvCxnSpPr>
          <p:cNvPr id="11" name="Straight Connector 10" descr="graphical representation of the effect of performing union(6,5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6,5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7A4FBC-7CFF-8048-AB5D-0D25BB2D3FF4}"/>
              </a:ext>
            </a:extLst>
          </p:cNvPr>
          <p:cNvSpPr txBox="1"/>
          <p:nvPr/>
        </p:nvSpPr>
        <p:spPr>
          <a:xfrm>
            <a:off x="5989487" y="1556841"/>
            <a:ext cx="25090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union(6,5)</a:t>
            </a:r>
          </a:p>
          <a:p>
            <a:endParaRPr lang="en-US" sz="1200" dirty="0">
              <a:latin typeface="Courier" pitchFamily="2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id[6]:6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id[5]:0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for any x where id[x]==6,</a:t>
            </a:r>
          </a:p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	id[x]=0</a:t>
            </a:r>
          </a:p>
        </p:txBody>
      </p:sp>
    </p:spTree>
    <p:extLst>
      <p:ext uri="{BB962C8B-B14F-4D97-AF65-F5344CB8AC3E}">
        <p14:creationId xmlns:p14="http://schemas.microsoft.com/office/powerpoint/2010/main" val="922048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">
            <a:extLst>
              <a:ext uri="{FF2B5EF4-FFF2-40B4-BE49-F238E27FC236}">
                <a16:creationId xmlns:a16="http://schemas.microsoft.com/office/drawing/2014/main" id="{CB84F6A4-4E75-8542-A2E0-B98A7DDC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299466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</p:txBody>
      </p:sp>
      <p:cxnSp>
        <p:nvCxnSpPr>
          <p:cNvPr id="11" name="Straight Connector 10" descr="graphical representation of the effect of performing union(2,1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2,1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2,1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921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4F31D9E0-DBC4-4C42-A2A7-C82BF4F0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/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</p:txBody>
      </p:sp>
      <p:cxnSp>
        <p:nvCxnSpPr>
          <p:cNvPr id="11" name="Straight Connector 10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3D9B1AE-4EE4-3D41-B3E9-A403B02B4364}"/>
              </a:ext>
            </a:extLst>
          </p:cNvPr>
          <p:cNvGrpSpPr/>
          <p:nvPr/>
        </p:nvGrpSpPr>
        <p:grpSpPr>
          <a:xfrm>
            <a:off x="2340182" y="1866776"/>
            <a:ext cx="4872717" cy="1867965"/>
            <a:chOff x="2340182" y="1866776"/>
            <a:chExt cx="4872717" cy="18679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9E5021-0775-EC41-8637-D04235406533}"/>
                </a:ext>
              </a:extLst>
            </p:cNvPr>
            <p:cNvSpPr txBox="1"/>
            <p:nvPr/>
          </p:nvSpPr>
          <p:spPr>
            <a:xfrm>
              <a:off x="5989487" y="1866776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D6D2C4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union(7,2)</a:t>
              </a:r>
            </a:p>
          </p:txBody>
        </p:sp>
        <p:cxnSp>
          <p:nvCxnSpPr>
            <p:cNvPr id="22" name="Straight Connector 21" descr="graphical representation of the effect of performing union(7,2) in the example">
              <a:extLst>
                <a:ext uri="{FF2B5EF4-FFF2-40B4-BE49-F238E27FC236}">
                  <a16:creationId xmlns:a16="http://schemas.microsoft.com/office/drawing/2014/main" id="{93141E9B-0095-3847-8EEC-2C150B8A6788}"/>
                </a:ext>
              </a:extLst>
            </p:cNvPr>
            <p:cNvCxnSpPr/>
            <p:nvPr/>
          </p:nvCxnSpPr>
          <p:spPr>
            <a:xfrm>
              <a:off x="2340182" y="3321067"/>
              <a:ext cx="0" cy="4136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262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B0CC7A0A-6083-6C42-96A5-F8D5347F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94363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</p:txBody>
      </p:sp>
      <p:cxnSp>
        <p:nvCxnSpPr>
          <p:cNvPr id="11" name="Straight Connector 10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7,2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584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29F6B0C3-F767-2D42-860F-10885174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878563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union(3,8)</a:t>
            </a:r>
          </a:p>
        </p:txBody>
      </p:sp>
      <p:cxnSp>
        <p:nvCxnSpPr>
          <p:cNvPr id="11" name="Straight Connector 10" descr="graphical representation of the effect of performing union(3,8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3,8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3,8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3,8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 descr="graphical representation of the effect of performing union(3,8) in the example">
            <a:extLst>
              <a:ext uri="{FF2B5EF4-FFF2-40B4-BE49-F238E27FC236}">
                <a16:creationId xmlns:a16="http://schemas.microsoft.com/office/drawing/2014/main" id="{FE0859DC-35BE-E749-8510-5B7E203A910F}"/>
              </a:ext>
            </a:extLst>
          </p:cNvPr>
          <p:cNvCxnSpPr>
            <a:stCxn id="41" idx="0"/>
            <a:endCxn id="36" idx="4"/>
          </p:cNvCxnSpPr>
          <p:nvPr/>
        </p:nvCxnSpPr>
        <p:spPr>
          <a:xfrm flipV="1">
            <a:off x="31872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244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648B5E02-51A0-AE4B-99AB-FDE7C544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4403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union(3,8)</a:t>
            </a:r>
          </a:p>
        </p:txBody>
      </p:sp>
      <p:cxnSp>
        <p:nvCxnSpPr>
          <p:cNvPr id="11" name="Straight Connector 10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E0859DC-35BE-E749-8510-5B7E203A910F}"/>
              </a:ext>
            </a:extLst>
          </p:cNvPr>
          <p:cNvCxnSpPr>
            <a:stCxn id="41" idx="0"/>
            <a:endCxn id="36" idx="4"/>
          </p:cNvCxnSpPr>
          <p:nvPr/>
        </p:nvCxnSpPr>
        <p:spPr>
          <a:xfrm flipV="1">
            <a:off x="31872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1C0879-8B73-5142-A589-F442BD0DA21A}"/>
              </a:ext>
            </a:extLst>
          </p:cNvPr>
          <p:cNvSpPr txBox="1"/>
          <p:nvPr/>
        </p:nvSpPr>
        <p:spPr>
          <a:xfrm>
            <a:off x="5979662" y="2412786"/>
            <a:ext cx="1223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union(9,4)</a:t>
            </a:r>
          </a:p>
          <a:p>
            <a:endParaRPr lang="en-US" dirty="0">
              <a:highlight>
                <a:srgbClr val="D6D2C4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4484633-91C2-774B-B258-3C00D2535AD9}"/>
              </a:ext>
            </a:extLst>
          </p:cNvPr>
          <p:cNvCxnSpPr>
            <a:stCxn id="36" idx="6"/>
            <a:endCxn id="34" idx="2"/>
          </p:cNvCxnSpPr>
          <p:nvPr/>
        </p:nvCxnSpPr>
        <p:spPr>
          <a:xfrm>
            <a:off x="3337504" y="3170844"/>
            <a:ext cx="5721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293D3AE4-22AA-8946-BF29-8F4BA3AF337B}"/>
              </a:ext>
            </a:extLst>
          </p:cNvPr>
          <p:cNvCxnSpPr>
            <a:stCxn id="34" idx="4"/>
            <a:endCxn id="39" idx="0"/>
          </p:cNvCxnSpPr>
          <p:nvPr/>
        </p:nvCxnSpPr>
        <p:spPr>
          <a:xfrm>
            <a:off x="405987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46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AC20E739-F139-4D4A-96F9-B2BF0C90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628986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union(3,8)</a:t>
            </a:r>
          </a:p>
        </p:txBody>
      </p:sp>
      <p:cxnSp>
        <p:nvCxnSpPr>
          <p:cNvPr id="11" name="Straight Connector 10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E0859DC-35BE-E749-8510-5B7E203A910F}"/>
              </a:ext>
            </a:extLst>
          </p:cNvPr>
          <p:cNvCxnSpPr>
            <a:stCxn id="41" idx="0"/>
            <a:endCxn id="36" idx="4"/>
          </p:cNvCxnSpPr>
          <p:nvPr/>
        </p:nvCxnSpPr>
        <p:spPr>
          <a:xfrm flipV="1">
            <a:off x="31872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1C0879-8B73-5142-A589-F442BD0DA21A}"/>
              </a:ext>
            </a:extLst>
          </p:cNvPr>
          <p:cNvSpPr txBox="1"/>
          <p:nvPr/>
        </p:nvSpPr>
        <p:spPr>
          <a:xfrm>
            <a:off x="5979662" y="2412786"/>
            <a:ext cx="12234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union(9,4)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endParaRPr lang="en-US" dirty="0">
              <a:highlight>
                <a:srgbClr val="D6D2C4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F4484633-91C2-774B-B258-3C00D2535AD9}"/>
              </a:ext>
            </a:extLst>
          </p:cNvPr>
          <p:cNvCxnSpPr>
            <a:stCxn id="36" idx="6"/>
            <a:endCxn id="34" idx="2"/>
          </p:cNvCxnSpPr>
          <p:nvPr/>
        </p:nvCxnSpPr>
        <p:spPr>
          <a:xfrm>
            <a:off x="3337504" y="3170844"/>
            <a:ext cx="5721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descr="graphical representation of the effect of performing union(4,3) and (9,4) in the example">
            <a:extLst>
              <a:ext uri="{FF2B5EF4-FFF2-40B4-BE49-F238E27FC236}">
                <a16:creationId xmlns:a16="http://schemas.microsoft.com/office/drawing/2014/main" id="{293D3AE4-22AA-8946-BF29-8F4BA3AF337B}"/>
              </a:ext>
            </a:extLst>
          </p:cNvPr>
          <p:cNvCxnSpPr>
            <a:stCxn id="34" idx="4"/>
            <a:endCxn id="39" idx="0"/>
          </p:cNvCxnSpPr>
          <p:nvPr/>
        </p:nvCxnSpPr>
        <p:spPr>
          <a:xfrm>
            <a:off x="405987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651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2D073570-3B74-264D-B1C5-20FB943F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51044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union(3,8)</a:t>
            </a:r>
          </a:p>
        </p:txBody>
      </p:sp>
      <p:cxnSp>
        <p:nvCxnSpPr>
          <p:cNvPr id="11" name="Straight Connector 10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E0859DC-35BE-E749-8510-5B7E203A910F}"/>
              </a:ext>
            </a:extLst>
          </p:cNvPr>
          <p:cNvCxnSpPr>
            <a:stCxn id="41" idx="0"/>
            <a:endCxn id="36" idx="4"/>
          </p:cNvCxnSpPr>
          <p:nvPr/>
        </p:nvCxnSpPr>
        <p:spPr>
          <a:xfrm flipV="1">
            <a:off x="31872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1C0879-8B73-5142-A589-F442BD0DA21A}"/>
              </a:ext>
            </a:extLst>
          </p:cNvPr>
          <p:cNvSpPr txBox="1"/>
          <p:nvPr/>
        </p:nvSpPr>
        <p:spPr>
          <a:xfrm>
            <a:off x="5979662" y="2412786"/>
            <a:ext cx="12234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union(9,4)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union(6,1)</a:t>
            </a:r>
          </a:p>
          <a:p>
            <a:endParaRPr lang="en-US" dirty="0">
              <a:highlight>
                <a:srgbClr val="D6D2C4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4484633-91C2-774B-B258-3C00D2535AD9}"/>
              </a:ext>
            </a:extLst>
          </p:cNvPr>
          <p:cNvCxnSpPr>
            <a:stCxn id="36" idx="6"/>
            <a:endCxn id="34" idx="2"/>
          </p:cNvCxnSpPr>
          <p:nvPr/>
        </p:nvCxnSpPr>
        <p:spPr>
          <a:xfrm>
            <a:off x="3337504" y="3170844"/>
            <a:ext cx="5721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293D3AE4-22AA-8946-BF29-8F4BA3AF337B}"/>
              </a:ext>
            </a:extLst>
          </p:cNvPr>
          <p:cNvCxnSpPr>
            <a:stCxn id="34" idx="4"/>
            <a:endCxn id="39" idx="0"/>
          </p:cNvCxnSpPr>
          <p:nvPr/>
        </p:nvCxnSpPr>
        <p:spPr>
          <a:xfrm>
            <a:off x="405987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6F48B1DF-2BC9-3A4A-AE40-EC4C18D79E9F}"/>
              </a:ext>
            </a:extLst>
          </p:cNvPr>
          <p:cNvCxnSpPr/>
          <p:nvPr/>
        </p:nvCxnSpPr>
        <p:spPr>
          <a:xfrm>
            <a:off x="1480963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35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">
            <a:extLst>
              <a:ext uri="{FF2B5EF4-FFF2-40B4-BE49-F238E27FC236}">
                <a16:creationId xmlns:a16="http://schemas.microsoft.com/office/drawing/2014/main" id="{65AFE1E8-C889-8741-8AFB-7E5FA27C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Eager approach (quick-find)</a:t>
            </a:r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245A56-C41C-6A48-AD70-9C2F75AEF4ED}"/>
              </a:ext>
            </a:extLst>
          </p:cNvPr>
          <p:cNvSpPr/>
          <p:nvPr/>
        </p:nvSpPr>
        <p:spPr>
          <a:xfrm>
            <a:off x="4957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EC427E-C1E8-3F47-B64F-E8E01BA574D0}"/>
              </a:ext>
            </a:extLst>
          </p:cNvPr>
          <p:cNvSpPr/>
          <p:nvPr/>
        </p:nvSpPr>
        <p:spPr>
          <a:xfrm>
            <a:off x="13428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476400-A508-FD48-BF66-E9C6EC3859F5}"/>
              </a:ext>
            </a:extLst>
          </p:cNvPr>
          <p:cNvSpPr/>
          <p:nvPr/>
        </p:nvSpPr>
        <p:spPr>
          <a:xfrm>
            <a:off x="390964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CFC06E-5A26-994C-B37F-6B16E3723076}"/>
              </a:ext>
            </a:extLst>
          </p:cNvPr>
          <p:cNvSpPr/>
          <p:nvPr/>
        </p:nvSpPr>
        <p:spPr>
          <a:xfrm>
            <a:off x="21899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DBEC95-C42E-924B-887E-632C313B9B39}"/>
              </a:ext>
            </a:extLst>
          </p:cNvPr>
          <p:cNvSpPr/>
          <p:nvPr/>
        </p:nvSpPr>
        <p:spPr>
          <a:xfrm>
            <a:off x="3037059" y="3020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B67923-8ADD-B34D-8DD3-C05783C0A8D3}"/>
              </a:ext>
            </a:extLst>
          </p:cNvPr>
          <p:cNvSpPr/>
          <p:nvPr/>
        </p:nvSpPr>
        <p:spPr>
          <a:xfrm>
            <a:off x="4957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E06179-96D4-2645-9614-B0EBBB934FFA}"/>
              </a:ext>
            </a:extLst>
          </p:cNvPr>
          <p:cNvSpPr/>
          <p:nvPr/>
        </p:nvSpPr>
        <p:spPr>
          <a:xfrm>
            <a:off x="13428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A033AB-80A2-2843-8CB3-3AF1B38F04A4}"/>
              </a:ext>
            </a:extLst>
          </p:cNvPr>
          <p:cNvSpPr/>
          <p:nvPr/>
        </p:nvSpPr>
        <p:spPr>
          <a:xfrm>
            <a:off x="390964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BC00A2-2A96-0F4A-A016-2BB4BC2EC85C}"/>
              </a:ext>
            </a:extLst>
          </p:cNvPr>
          <p:cNvSpPr/>
          <p:nvPr/>
        </p:nvSpPr>
        <p:spPr>
          <a:xfrm>
            <a:off x="21899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C5532C-B1A6-4D4C-AF2B-8AC9AD6F8340}"/>
              </a:ext>
            </a:extLst>
          </p:cNvPr>
          <p:cNvSpPr/>
          <p:nvPr/>
        </p:nvSpPr>
        <p:spPr>
          <a:xfrm>
            <a:off x="3037059" y="373474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261A6F3-201E-EE4D-95D5-03B7164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054629"/>
              </p:ext>
            </p:extLst>
          </p:nvPr>
        </p:nvGraphicFramePr>
        <p:xfrm>
          <a:off x="1155858" y="238633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D2D073B-8B8B-BC45-83B8-7EF7FDF5A2B6}"/>
              </a:ext>
            </a:extLst>
          </p:cNvPr>
          <p:cNvSpPr txBox="1"/>
          <p:nvPr/>
        </p:nvSpPr>
        <p:spPr>
          <a:xfrm>
            <a:off x="462229" y="23760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2FDF8-28D0-034D-9A51-599ECFA36D4A}"/>
              </a:ext>
            </a:extLst>
          </p:cNvPr>
          <p:cNvSpPr txBox="1"/>
          <p:nvPr/>
        </p:nvSpPr>
        <p:spPr>
          <a:xfrm>
            <a:off x="1226934" y="205144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7E86-4BF8-A347-BF05-99EC19FB7DA1}"/>
              </a:ext>
            </a:extLst>
          </p:cNvPr>
          <p:cNvSpPr txBox="1"/>
          <p:nvPr/>
        </p:nvSpPr>
        <p:spPr>
          <a:xfrm>
            <a:off x="5989487" y="1556841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union(7,2)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union(3,8)</a:t>
            </a:r>
          </a:p>
        </p:txBody>
      </p:sp>
      <p:cxnSp>
        <p:nvCxnSpPr>
          <p:cNvPr id="11" name="Straight Connector 10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92938FF4-F1D7-024B-9D76-71E15034D305}"/>
              </a:ext>
            </a:extLst>
          </p:cNvPr>
          <p:cNvCxnSpPr>
            <a:stCxn id="32" idx="4"/>
            <a:endCxn id="37" idx="0"/>
          </p:cNvCxnSpPr>
          <p:nvPr/>
        </p:nvCxnSpPr>
        <p:spPr>
          <a:xfrm>
            <a:off x="6459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8F3B9CB2-F33B-D247-BADC-C896EB800114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796204" y="388496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7E3102A-72F9-0F4D-A432-949DC59EEDF0}"/>
              </a:ext>
            </a:extLst>
          </p:cNvPr>
          <p:cNvCxnSpPr>
            <a:stCxn id="33" idx="6"/>
            <a:endCxn id="35" idx="2"/>
          </p:cNvCxnSpPr>
          <p:nvPr/>
        </p:nvCxnSpPr>
        <p:spPr>
          <a:xfrm>
            <a:off x="1643304" y="3170844"/>
            <a:ext cx="546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A917A23E-4E17-3941-AF12-A1E4E8081070}"/>
              </a:ext>
            </a:extLst>
          </p:cNvPr>
          <p:cNvCxnSpPr>
            <a:stCxn id="35" idx="4"/>
            <a:endCxn id="40" idx="0"/>
          </p:cNvCxnSpPr>
          <p:nvPr/>
        </p:nvCxnSpPr>
        <p:spPr>
          <a:xfrm>
            <a:off x="23401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E0859DC-35BE-E749-8510-5B7E203A910F}"/>
              </a:ext>
            </a:extLst>
          </p:cNvPr>
          <p:cNvCxnSpPr>
            <a:stCxn id="41" idx="0"/>
            <a:endCxn id="36" idx="4"/>
          </p:cNvCxnSpPr>
          <p:nvPr/>
        </p:nvCxnSpPr>
        <p:spPr>
          <a:xfrm flipV="1">
            <a:off x="318728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1C0879-8B73-5142-A589-F442BD0DA21A}"/>
              </a:ext>
            </a:extLst>
          </p:cNvPr>
          <p:cNvSpPr txBox="1"/>
          <p:nvPr/>
        </p:nvSpPr>
        <p:spPr>
          <a:xfrm>
            <a:off x="5979662" y="2412786"/>
            <a:ext cx="12234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union(9,4)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union(6,1)</a:t>
            </a:r>
          </a:p>
          <a:p>
            <a:endParaRPr lang="en-US" dirty="0">
              <a:highlight>
                <a:srgbClr val="D6D2C4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F4484633-91C2-774B-B258-3C00D2535AD9}"/>
              </a:ext>
            </a:extLst>
          </p:cNvPr>
          <p:cNvCxnSpPr>
            <a:stCxn id="36" idx="6"/>
            <a:endCxn id="34" idx="2"/>
          </p:cNvCxnSpPr>
          <p:nvPr/>
        </p:nvCxnSpPr>
        <p:spPr>
          <a:xfrm>
            <a:off x="3337504" y="3170844"/>
            <a:ext cx="5721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descr="graphical representation of the effect of performing union(6,1) in the example">
            <a:extLst>
              <a:ext uri="{FF2B5EF4-FFF2-40B4-BE49-F238E27FC236}">
                <a16:creationId xmlns:a16="http://schemas.microsoft.com/office/drawing/2014/main" id="{293D3AE4-22AA-8946-BF29-8F4BA3AF337B}"/>
              </a:ext>
            </a:extLst>
          </p:cNvPr>
          <p:cNvCxnSpPr>
            <a:stCxn id="34" idx="4"/>
            <a:endCxn id="39" idx="0"/>
          </p:cNvCxnSpPr>
          <p:nvPr/>
        </p:nvCxnSpPr>
        <p:spPr>
          <a:xfrm>
            <a:off x="4059872" y="3321067"/>
            <a:ext cx="0" cy="413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2F9D6DE-984A-634C-8EFC-DE0AA0C35C7E}"/>
              </a:ext>
            </a:extLst>
          </p:cNvPr>
          <p:cNvSpPr txBox="1"/>
          <p:nvPr/>
        </p:nvSpPr>
        <p:spPr>
          <a:xfrm>
            <a:off x="287999" y="453864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Problem?</a:t>
            </a:r>
          </a:p>
        </p:txBody>
      </p:sp>
    </p:spTree>
    <p:extLst>
      <p:ext uri="{BB962C8B-B14F-4D97-AF65-F5344CB8AC3E}">
        <p14:creationId xmlns:p14="http://schemas.microsoft.com/office/powerpoint/2010/main" val="3821401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4BDCD630-12B2-3743-B427-7DBF7B36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(Pseudo)-code. Eager approach (quick-find)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8A74-722E-074E-85D9-E4E7DC846F13}"/>
              </a:ext>
            </a:extLst>
          </p:cNvPr>
          <p:cNvSpPr txBox="1"/>
          <p:nvPr/>
        </p:nvSpPr>
        <p:spPr>
          <a:xfrm>
            <a:off x="478465" y="1679944"/>
            <a:ext cx="19511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</a:t>
            </a:r>
            <a:r>
              <a:rPr lang="en-US" sz="1200" dirty="0" err="1">
                <a:latin typeface="Courier" pitchFamily="2" charset="0"/>
              </a:rPr>
              <a:t>init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id = []</a:t>
            </a:r>
          </a:p>
          <a:p>
            <a:r>
              <a:rPr lang="en-US" sz="1200" dirty="0">
                <a:latin typeface="Courier" pitchFamily="2" charset="0"/>
              </a:rPr>
              <a:t>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 (N):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id.append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589E-F681-6B47-97F3-335CCBAA7D7C}"/>
              </a:ext>
            </a:extLst>
          </p:cNvPr>
          <p:cNvSpPr txBox="1"/>
          <p:nvPr/>
        </p:nvSpPr>
        <p:spPr>
          <a:xfrm>
            <a:off x="3032477" y="1740753"/>
            <a:ext cx="33525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#union</a:t>
            </a:r>
          </a:p>
          <a:p>
            <a:r>
              <a:rPr lang="en-US" sz="1200" dirty="0">
                <a:latin typeface="Courier" pitchFamily="2" charset="0"/>
              </a:rPr>
              <a:t>def union(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uid</a:t>
            </a:r>
            <a:r>
              <a:rPr lang="en-US" sz="1200" dirty="0">
                <a:latin typeface="Courier" pitchFamily="2" charset="0"/>
              </a:rPr>
              <a:t>=id[u]</a:t>
            </a:r>
          </a:p>
          <a:p>
            <a:r>
              <a:rPr lang="en-US" sz="1200" dirty="0">
                <a:latin typeface="Courier" pitchFamily="2" charset="0"/>
              </a:rPr>
              <a:t>    vid=id[v]</a:t>
            </a:r>
          </a:p>
          <a:p>
            <a:r>
              <a:rPr lang="en-US" sz="1200" dirty="0">
                <a:latin typeface="Courier" pitchFamily="2" charset="0"/>
              </a:rPr>
              <a:t>    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range(N):</a:t>
            </a:r>
          </a:p>
          <a:p>
            <a:r>
              <a:rPr lang="en-US" sz="1200" dirty="0">
                <a:latin typeface="Courier" pitchFamily="2" charset="0"/>
              </a:rPr>
              <a:t>	if 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]==</a:t>
            </a:r>
            <a:r>
              <a:rPr lang="en-US" sz="1200" dirty="0" err="1">
                <a:latin typeface="Courier" pitchFamily="2" charset="0"/>
              </a:rPr>
              <a:t>uid</a:t>
            </a:r>
            <a:r>
              <a:rPr lang="en-US" sz="1200" dirty="0">
                <a:latin typeface="Courier" pitchFamily="2" charset="0"/>
              </a:rPr>
              <a:t>:</a:t>
            </a:r>
          </a:p>
          <a:p>
            <a:r>
              <a:rPr lang="en-US" sz="1200" dirty="0">
                <a:latin typeface="Courier" pitchFamily="2" charset="0"/>
              </a:rPr>
              <a:t>	    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]=vid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046BA-F826-1D42-B8E5-8C4999A62642}"/>
              </a:ext>
            </a:extLst>
          </p:cNvPr>
          <p:cNvSpPr txBox="1"/>
          <p:nvPr/>
        </p:nvSpPr>
        <p:spPr>
          <a:xfrm>
            <a:off x="6384993" y="1772276"/>
            <a:ext cx="2323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#find</a:t>
            </a:r>
          </a:p>
          <a:p>
            <a:r>
              <a:rPr lang="en-US" sz="1200" dirty="0">
                <a:latin typeface="Courier" pitchFamily="2" charset="0"/>
              </a:rPr>
              <a:t>def find(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return id[u]==id[v]</a:t>
            </a:r>
          </a:p>
        </p:txBody>
      </p:sp>
    </p:spTree>
    <p:extLst>
      <p:ext uri="{BB962C8B-B14F-4D97-AF65-F5344CB8AC3E}">
        <p14:creationId xmlns:p14="http://schemas.microsoft.com/office/powerpoint/2010/main" val="3491024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DA6E7A57-A4B7-6947-8167-10926BB8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(Pseudo)-code. Eager approach (quick-find)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8A74-722E-074E-85D9-E4E7DC846F13}"/>
              </a:ext>
            </a:extLst>
          </p:cNvPr>
          <p:cNvSpPr txBox="1"/>
          <p:nvPr/>
        </p:nvSpPr>
        <p:spPr>
          <a:xfrm>
            <a:off x="478465" y="1679944"/>
            <a:ext cx="19511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</a:t>
            </a:r>
            <a:r>
              <a:rPr lang="en-US" sz="1200" dirty="0" err="1">
                <a:latin typeface="Courier" pitchFamily="2" charset="0"/>
              </a:rPr>
              <a:t>init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id = []</a:t>
            </a:r>
          </a:p>
          <a:p>
            <a:r>
              <a:rPr lang="en-US" sz="1200" dirty="0">
                <a:latin typeface="Courier" pitchFamily="2" charset="0"/>
              </a:rPr>
              <a:t>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 (N):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id.append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589E-F681-6B47-97F3-335CCBAA7D7C}"/>
              </a:ext>
            </a:extLst>
          </p:cNvPr>
          <p:cNvSpPr txBox="1"/>
          <p:nvPr/>
        </p:nvSpPr>
        <p:spPr>
          <a:xfrm>
            <a:off x="3032477" y="1740753"/>
            <a:ext cx="33525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#union</a:t>
            </a:r>
          </a:p>
          <a:p>
            <a:r>
              <a:rPr lang="en-US" sz="1200" dirty="0">
                <a:latin typeface="Courier" pitchFamily="2" charset="0"/>
              </a:rPr>
              <a:t>def union(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uid</a:t>
            </a:r>
            <a:r>
              <a:rPr lang="en-US" sz="1200" dirty="0">
                <a:latin typeface="Courier" pitchFamily="2" charset="0"/>
              </a:rPr>
              <a:t>=id[u]</a:t>
            </a:r>
          </a:p>
          <a:p>
            <a:r>
              <a:rPr lang="en-US" sz="1200" dirty="0">
                <a:latin typeface="Courier" pitchFamily="2" charset="0"/>
              </a:rPr>
              <a:t>    vid=id[v]</a:t>
            </a:r>
          </a:p>
          <a:p>
            <a:r>
              <a:rPr lang="en-US" sz="1200" dirty="0">
                <a:latin typeface="Courier" pitchFamily="2" charset="0"/>
              </a:rPr>
              <a:t>    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range(N):</a:t>
            </a:r>
          </a:p>
          <a:p>
            <a:r>
              <a:rPr lang="en-US" sz="1200" dirty="0">
                <a:latin typeface="Courier" pitchFamily="2" charset="0"/>
              </a:rPr>
              <a:t>	if 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]==</a:t>
            </a:r>
            <a:r>
              <a:rPr lang="en-US" sz="1200" dirty="0" err="1">
                <a:latin typeface="Courier" pitchFamily="2" charset="0"/>
              </a:rPr>
              <a:t>uid</a:t>
            </a:r>
            <a:r>
              <a:rPr lang="en-US" sz="1200" dirty="0">
                <a:latin typeface="Courier" pitchFamily="2" charset="0"/>
              </a:rPr>
              <a:t>:</a:t>
            </a:r>
          </a:p>
          <a:p>
            <a:r>
              <a:rPr lang="en-US" sz="1200" dirty="0">
                <a:latin typeface="Courier" pitchFamily="2" charset="0"/>
              </a:rPr>
              <a:t>	    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]=vid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046BA-F826-1D42-B8E5-8C4999A62642}"/>
              </a:ext>
            </a:extLst>
          </p:cNvPr>
          <p:cNvSpPr txBox="1"/>
          <p:nvPr/>
        </p:nvSpPr>
        <p:spPr>
          <a:xfrm>
            <a:off x="6384993" y="1772276"/>
            <a:ext cx="2323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#find</a:t>
            </a:r>
          </a:p>
          <a:p>
            <a:r>
              <a:rPr lang="en-US" sz="1200" dirty="0">
                <a:latin typeface="Courier" pitchFamily="2" charset="0"/>
              </a:rPr>
              <a:t>def find(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return id[u]==id[v]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8FD96-9587-FC43-A19D-96F38FF0DFFD}"/>
              </a:ext>
            </a:extLst>
          </p:cNvPr>
          <p:cNvSpPr txBox="1"/>
          <p:nvPr/>
        </p:nvSpPr>
        <p:spPr>
          <a:xfrm>
            <a:off x="287999" y="3408610"/>
            <a:ext cx="639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 model. Number of array accesses (R/W)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B2E1D-DFB0-4441-878A-C4F71AFB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525018"/>
              </p:ext>
            </p:extLst>
          </p:nvPr>
        </p:nvGraphicFramePr>
        <p:xfrm>
          <a:off x="1420120" y="409081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853082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737822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91623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37794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quick-find (eager)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5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83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A26B805-7441-C145-88C7-6CC7C590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3. </a:t>
            </a:r>
            <a:r>
              <a:rPr lang="en-US" dirty="0"/>
              <a:t>Cost analysis.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N objects (N ~ 10</a:t>
            </a:r>
            <a:r>
              <a:rPr lang="en-US" sz="2000" baseline="30000" dirty="0"/>
              <a:t>9</a:t>
            </a:r>
            <a:r>
              <a:rPr lang="en-US" sz="2000" dirty="0"/>
              <a:t>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1 union operation (N ~ 10</a:t>
            </a:r>
            <a:r>
              <a:rPr lang="en-US" sz="2000" baseline="30000" dirty="0"/>
              <a:t>9</a:t>
            </a:r>
            <a:r>
              <a:rPr lang="en-US" sz="2000" dirty="0"/>
              <a:t>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N unions on N objects: ~ N</a:t>
            </a:r>
            <a:r>
              <a:rPr lang="en-US" sz="2000" baseline="30000" dirty="0"/>
              <a:t>2</a:t>
            </a:r>
            <a:r>
              <a:rPr lang="en-US" sz="2000" dirty="0"/>
              <a:t> (10</a:t>
            </a:r>
            <a:r>
              <a:rPr lang="en-US" sz="2000" baseline="30000" dirty="0"/>
              <a:t>18</a:t>
            </a:r>
            <a:r>
              <a:rPr lang="en-US" sz="2000" dirty="0"/>
              <a:t>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30+ years of computer time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Quadratic algorithms do not scale!</a:t>
            </a:r>
            <a:endParaRPr lang="en-US" sz="2000" baseline="30000" dirty="0"/>
          </a:p>
          <a:p>
            <a:endParaRPr lang="en-US" baseline="30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B2E1D-DFB0-4441-878A-C4F71AFB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320683"/>
              </p:ext>
            </p:extLst>
          </p:nvPr>
        </p:nvGraphicFramePr>
        <p:xfrm>
          <a:off x="1420120" y="409081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853082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737822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91623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37794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quick-find (eager)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5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890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>
            <a:extLst>
              <a:ext uri="{FF2B5EF4-FFF2-40B4-BE49-F238E27FC236}">
                <a16:creationId xmlns:a16="http://schemas.microsoft.com/office/drawing/2014/main" id="{8C384A9D-0FA2-8E4D-83E9-A32333EF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2. </a:t>
            </a:r>
            <a:r>
              <a:rPr lang="en-US" dirty="0"/>
              <a:t>Lazy approach (quick-union)</a:t>
            </a:r>
          </a:p>
          <a:p>
            <a:r>
              <a:rPr lang="en-US" dirty="0"/>
              <a:t>Data structure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Integer array </a:t>
            </a:r>
            <a:r>
              <a:rPr lang="en-US" sz="2000" dirty="0">
                <a:latin typeface="Courier" pitchFamily="2" charset="0"/>
              </a:rPr>
              <a:t>id[] </a:t>
            </a:r>
            <a:r>
              <a:rPr lang="en-US" sz="2000" dirty="0"/>
              <a:t>of length </a:t>
            </a:r>
            <a:r>
              <a:rPr lang="en-US" sz="2000" dirty="0">
                <a:latin typeface="Courier" pitchFamily="2" charset="0"/>
              </a:rPr>
              <a:t>N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Interpretation: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</a:t>
            </a:r>
            <a:r>
              <a:rPr lang="en-US" sz="2000" dirty="0"/>
              <a:t> is parent of </a:t>
            </a:r>
            <a:r>
              <a:rPr lang="en-US" sz="2000" dirty="0" err="1">
                <a:latin typeface="Courier" pitchFamily="2" charset="0"/>
              </a:rPr>
              <a:t>i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Connections: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connected if they have the same root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B296A1-3B44-E147-BCE5-D561D75DFD06}"/>
              </a:ext>
            </a:extLst>
          </p:cNvPr>
          <p:cNvSpPr txBox="1"/>
          <p:nvPr/>
        </p:nvSpPr>
        <p:spPr>
          <a:xfrm>
            <a:off x="561588" y="3254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31021-B5C6-6A47-A5D0-8444277283EF}"/>
              </a:ext>
            </a:extLst>
          </p:cNvPr>
          <p:cNvSpPr txBox="1"/>
          <p:nvPr/>
        </p:nvSpPr>
        <p:spPr>
          <a:xfrm>
            <a:off x="1326293" y="293029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44DF40B-A3F7-064E-AEBB-646A77142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759491"/>
              </p:ext>
            </p:extLst>
          </p:nvPr>
        </p:nvGraphicFramePr>
        <p:xfrm>
          <a:off x="1255217" y="326518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grpSp>
        <p:nvGrpSpPr>
          <p:cNvPr id="3" name="Group 2" descr="graphical representation of performing the lazy approah to solve union-find">
            <a:extLst>
              <a:ext uri="{FF2B5EF4-FFF2-40B4-BE49-F238E27FC236}">
                <a16:creationId xmlns:a16="http://schemas.microsoft.com/office/drawing/2014/main" id="{BCDC2CD5-794A-8743-B442-57BD209D1378}"/>
              </a:ext>
            </a:extLst>
          </p:cNvPr>
          <p:cNvGrpSpPr/>
          <p:nvPr/>
        </p:nvGrpSpPr>
        <p:grpSpPr>
          <a:xfrm>
            <a:off x="5658645" y="3254948"/>
            <a:ext cx="3356433" cy="1561955"/>
            <a:chOff x="5658645" y="3254948"/>
            <a:chExt cx="3356433" cy="156195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0C1E104-449C-5F48-B526-8C94BEE7E09D}"/>
                </a:ext>
              </a:extLst>
            </p:cNvPr>
            <p:cNvSpPr/>
            <p:nvPr/>
          </p:nvSpPr>
          <p:spPr>
            <a:xfrm>
              <a:off x="5658645" y="327078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7B89B7C-6B47-3048-8276-EB0AAC0DDAEC}"/>
                </a:ext>
              </a:extLst>
            </p:cNvPr>
            <p:cNvSpPr/>
            <p:nvPr/>
          </p:nvSpPr>
          <p:spPr>
            <a:xfrm>
              <a:off x="6249477" y="327078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6F41D3-B79D-F043-A55E-E4ABBE512CA8}"/>
                </a:ext>
              </a:extLst>
            </p:cNvPr>
            <p:cNvSpPr/>
            <p:nvPr/>
          </p:nvSpPr>
          <p:spPr>
            <a:xfrm>
              <a:off x="7177860" y="389362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8ECA98-1094-1F4B-8E39-CA0D42ED7A4F}"/>
                </a:ext>
              </a:extLst>
            </p:cNvPr>
            <p:cNvSpPr/>
            <p:nvPr/>
          </p:nvSpPr>
          <p:spPr>
            <a:xfrm>
              <a:off x="6565221" y="389362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073F17-1C9E-2747-A92F-046CCE097A99}"/>
                </a:ext>
              </a:extLst>
            </p:cNvPr>
            <p:cNvSpPr/>
            <p:nvPr/>
          </p:nvSpPr>
          <p:spPr>
            <a:xfrm>
              <a:off x="7177860" y="451645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F434D26-041D-164E-83B7-2E384547E27E}"/>
                </a:ext>
              </a:extLst>
            </p:cNvPr>
            <p:cNvSpPr/>
            <p:nvPr/>
          </p:nvSpPr>
          <p:spPr>
            <a:xfrm>
              <a:off x="7667483" y="393722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43A30D1-45A7-8744-AF6B-C537A5E7DA96}"/>
                </a:ext>
              </a:extLst>
            </p:cNvPr>
            <p:cNvSpPr/>
            <p:nvPr/>
          </p:nvSpPr>
          <p:spPr>
            <a:xfrm>
              <a:off x="7667484" y="325494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7201076-6239-CC42-81ED-CE60EB1ABF81}"/>
                </a:ext>
              </a:extLst>
            </p:cNvPr>
            <p:cNvSpPr/>
            <p:nvPr/>
          </p:nvSpPr>
          <p:spPr>
            <a:xfrm>
              <a:off x="6856017" y="327078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25AB79-C265-E245-B0D4-8459BF19970C}"/>
                </a:ext>
              </a:extLst>
            </p:cNvPr>
            <p:cNvSpPr/>
            <p:nvPr/>
          </p:nvSpPr>
          <p:spPr>
            <a:xfrm>
              <a:off x="8233223" y="325494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D06803-7958-BC45-83DD-9EB2AC201B17}"/>
                </a:ext>
              </a:extLst>
            </p:cNvPr>
            <p:cNvSpPr/>
            <p:nvPr/>
          </p:nvSpPr>
          <p:spPr>
            <a:xfrm>
              <a:off x="8714633" y="325494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815D156-6945-1446-9440-2A98B6C8C420}"/>
                </a:ext>
              </a:extLst>
            </p:cNvPr>
            <p:cNvCxnSpPr>
              <a:cxnSpLocks/>
              <a:stCxn id="11" idx="4"/>
              <a:endCxn id="6" idx="0"/>
            </p:cNvCxnSpPr>
            <p:nvPr/>
          </p:nvCxnSpPr>
          <p:spPr>
            <a:xfrm>
              <a:off x="7006240" y="3571233"/>
              <a:ext cx="321843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82C2E2-41FB-5843-A895-9715AD995469}"/>
                </a:ext>
              </a:extLst>
            </p:cNvPr>
            <p:cNvCxnSpPr>
              <a:cxnSpLocks/>
              <a:stCxn id="7" idx="0"/>
              <a:endCxn id="11" idx="4"/>
            </p:cNvCxnSpPr>
            <p:nvPr/>
          </p:nvCxnSpPr>
          <p:spPr>
            <a:xfrm flipV="1">
              <a:off x="6715444" y="3571233"/>
              <a:ext cx="290796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2401E9-7533-7A4A-91B1-BA19CBADF445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>
              <a:off x="7328083" y="4194068"/>
              <a:ext cx="0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EC62F00-1A33-574D-A5DA-DDBDAF26131A}"/>
                </a:ext>
              </a:extLst>
            </p:cNvPr>
            <p:cNvCxnSpPr>
              <a:cxnSpLocks/>
              <a:stCxn id="10" idx="4"/>
              <a:endCxn id="9" idx="0"/>
            </p:cNvCxnSpPr>
            <p:nvPr/>
          </p:nvCxnSpPr>
          <p:spPr>
            <a:xfrm flipH="1">
              <a:off x="7817706" y="3555394"/>
              <a:ext cx="1" cy="3818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9309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>
            <a:extLst>
              <a:ext uri="{FF2B5EF4-FFF2-40B4-BE49-F238E27FC236}">
                <a16:creationId xmlns:a16="http://schemas.microsoft.com/office/drawing/2014/main" id="{CA35FEC5-6FE4-8B47-B763-DE11B157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root(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)==root(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/>
              <a:t> 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union(</a:t>
            </a:r>
            <a:r>
              <a:rPr lang="en-US" sz="2000" dirty="0" err="1"/>
              <a:t>u,v</a:t>
            </a:r>
            <a:r>
              <a:rPr lang="en-US" sz="2000" dirty="0"/>
              <a:t>). set id of root(</a:t>
            </a:r>
            <a:r>
              <a:rPr lang="en-US" sz="2000" dirty="0">
                <a:latin typeface="Courier" pitchFamily="2" charset="0"/>
              </a:rPr>
              <a:t>u</a:t>
            </a:r>
            <a:r>
              <a:rPr lang="en-US" sz="2000" dirty="0"/>
              <a:t>) to the id of root (</a:t>
            </a:r>
            <a:r>
              <a:rPr lang="en-US" sz="2000" dirty="0">
                <a:latin typeface="Courier" pitchFamily="2" charset="0"/>
              </a:rPr>
              <a:t>v</a:t>
            </a:r>
            <a:r>
              <a:rPr lang="en-US" sz="2000" dirty="0"/>
              <a:t>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495759" y="301039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260464" y="2685743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141579"/>
              </p:ext>
            </p:extLst>
          </p:nvPr>
        </p:nvGraphicFramePr>
        <p:xfrm>
          <a:off x="1189388" y="3020631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9BE115-567E-4A40-8120-E28FC69198C7}"/>
              </a:ext>
            </a:extLst>
          </p:cNvPr>
          <p:cNvSpPr txBox="1"/>
          <p:nvPr/>
        </p:nvSpPr>
        <p:spPr>
          <a:xfrm>
            <a:off x="495759" y="3880959"/>
            <a:ext cx="2263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find(3,5)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root(3): </a:t>
            </a:r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id[id[3]]:9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root(5): </a:t>
            </a:r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id[5]:6</a:t>
            </a:r>
          </a:p>
        </p:txBody>
      </p:sp>
      <p:grpSp>
        <p:nvGrpSpPr>
          <p:cNvPr id="3" name="Group 2" descr="graphical representation of performing the lazy approah to solve union-find">
            <a:extLst>
              <a:ext uri="{FF2B5EF4-FFF2-40B4-BE49-F238E27FC236}">
                <a16:creationId xmlns:a16="http://schemas.microsoft.com/office/drawing/2014/main" id="{26F4F290-7201-4344-B5E4-E6CAF81BF3E1}"/>
              </a:ext>
            </a:extLst>
          </p:cNvPr>
          <p:cNvGrpSpPr/>
          <p:nvPr/>
        </p:nvGrpSpPr>
        <p:grpSpPr>
          <a:xfrm>
            <a:off x="5592816" y="3010399"/>
            <a:ext cx="3356433" cy="1561955"/>
            <a:chOff x="5592816" y="3010399"/>
            <a:chExt cx="3356433" cy="156195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5BB5AE-D344-6242-8417-3B81CEA46AE3}"/>
                </a:ext>
              </a:extLst>
            </p:cNvPr>
            <p:cNvSpPr/>
            <p:nvPr/>
          </p:nvSpPr>
          <p:spPr>
            <a:xfrm>
              <a:off x="5592816" y="302623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62C7AF-1B35-9348-BAE0-3124055E38D3}"/>
                </a:ext>
              </a:extLst>
            </p:cNvPr>
            <p:cNvSpPr/>
            <p:nvPr/>
          </p:nvSpPr>
          <p:spPr>
            <a:xfrm>
              <a:off x="6183648" y="302623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88884CB-6A67-464F-BAD9-746B2E96AF82}"/>
                </a:ext>
              </a:extLst>
            </p:cNvPr>
            <p:cNvSpPr/>
            <p:nvPr/>
          </p:nvSpPr>
          <p:spPr>
            <a:xfrm>
              <a:off x="7112031" y="3649073"/>
              <a:ext cx="300445" cy="300446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D3C1EB-5A31-C746-899F-B15729207514}"/>
                </a:ext>
              </a:extLst>
            </p:cNvPr>
            <p:cNvSpPr/>
            <p:nvPr/>
          </p:nvSpPr>
          <p:spPr>
            <a:xfrm>
              <a:off x="6499392" y="364907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FD92F6-B62E-FF46-8A6E-B161B8AFC711}"/>
                </a:ext>
              </a:extLst>
            </p:cNvPr>
            <p:cNvSpPr/>
            <p:nvPr/>
          </p:nvSpPr>
          <p:spPr>
            <a:xfrm>
              <a:off x="7112031" y="4271908"/>
              <a:ext cx="300445" cy="300446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828302-9C33-A241-829A-6119EDC481AB}"/>
                </a:ext>
              </a:extLst>
            </p:cNvPr>
            <p:cNvSpPr/>
            <p:nvPr/>
          </p:nvSpPr>
          <p:spPr>
            <a:xfrm>
              <a:off x="7601654" y="3692676"/>
              <a:ext cx="300445" cy="300446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FD9E781-6BE2-8445-8ED2-95A4E8705E9F}"/>
                </a:ext>
              </a:extLst>
            </p:cNvPr>
            <p:cNvSpPr/>
            <p:nvPr/>
          </p:nvSpPr>
          <p:spPr>
            <a:xfrm>
              <a:off x="7601655" y="3010399"/>
              <a:ext cx="300445" cy="300446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B998DA-4FA2-954B-8996-6C6B2014E950}"/>
                </a:ext>
              </a:extLst>
            </p:cNvPr>
            <p:cNvSpPr/>
            <p:nvPr/>
          </p:nvSpPr>
          <p:spPr>
            <a:xfrm>
              <a:off x="6790188" y="3026238"/>
              <a:ext cx="300445" cy="300446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333CFD-423A-8844-870A-2C94FA15FFBC}"/>
                </a:ext>
              </a:extLst>
            </p:cNvPr>
            <p:cNvSpPr/>
            <p:nvPr/>
          </p:nvSpPr>
          <p:spPr>
            <a:xfrm>
              <a:off x="8167394" y="301039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F09B54E-7096-8649-84E2-101023B82722}"/>
                </a:ext>
              </a:extLst>
            </p:cNvPr>
            <p:cNvSpPr/>
            <p:nvPr/>
          </p:nvSpPr>
          <p:spPr>
            <a:xfrm>
              <a:off x="8648804" y="301039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02AF1C-19B0-844F-B6F9-2531947E3BEC}"/>
                </a:ext>
              </a:extLst>
            </p:cNvPr>
            <p:cNvCxnSpPr>
              <a:cxnSpLocks/>
              <a:stCxn id="52" idx="4"/>
              <a:endCxn id="27" idx="0"/>
            </p:cNvCxnSpPr>
            <p:nvPr/>
          </p:nvCxnSpPr>
          <p:spPr>
            <a:xfrm>
              <a:off x="6940411" y="3326684"/>
              <a:ext cx="321843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35F8665-BDB5-E04F-8090-ABFA6D7A5F7D}"/>
                </a:ext>
              </a:extLst>
            </p:cNvPr>
            <p:cNvCxnSpPr>
              <a:cxnSpLocks/>
              <a:stCxn id="28" idx="0"/>
              <a:endCxn id="52" idx="4"/>
            </p:cNvCxnSpPr>
            <p:nvPr/>
          </p:nvCxnSpPr>
          <p:spPr>
            <a:xfrm flipV="1">
              <a:off x="6649615" y="3326684"/>
              <a:ext cx="290796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E7A8763-2779-524E-AC19-E7C09816E38A}"/>
                </a:ext>
              </a:extLst>
            </p:cNvPr>
            <p:cNvCxnSpPr>
              <a:cxnSpLocks/>
              <a:stCxn id="27" idx="4"/>
              <a:endCxn id="29" idx="0"/>
            </p:cNvCxnSpPr>
            <p:nvPr/>
          </p:nvCxnSpPr>
          <p:spPr>
            <a:xfrm>
              <a:off x="7262254" y="3949519"/>
              <a:ext cx="0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8080DB8-7D78-2E44-A34C-79F544539E5B}"/>
                </a:ext>
              </a:extLst>
            </p:cNvPr>
            <p:cNvCxnSpPr>
              <a:cxnSpLocks/>
              <a:stCxn id="31" idx="4"/>
              <a:endCxn id="30" idx="0"/>
            </p:cNvCxnSpPr>
            <p:nvPr/>
          </p:nvCxnSpPr>
          <p:spPr>
            <a:xfrm flipH="1">
              <a:off x="7751877" y="3310845"/>
              <a:ext cx="1" cy="3818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D2888DBF-7E29-AA48-A44C-5A5F649DFABC}"/>
                </a:ext>
              </a:extLst>
            </p:cNvPr>
            <p:cNvSpPr/>
            <p:nvPr/>
          </p:nvSpPr>
          <p:spPr>
            <a:xfrm>
              <a:off x="6685828" y="4318038"/>
              <a:ext cx="356120" cy="20818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6ADBF04A-AC61-954A-BBA6-1B474CE3D4E5}"/>
                </a:ext>
              </a:extLst>
            </p:cNvPr>
            <p:cNvSpPr/>
            <p:nvPr/>
          </p:nvSpPr>
          <p:spPr>
            <a:xfrm rot="10800000">
              <a:off x="7961496" y="3735227"/>
              <a:ext cx="356120" cy="20818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5315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EE4AED65-EDD3-0147-A1FF-150933B0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root(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)==root(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/>
              <a:t> 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union(</a:t>
            </a:r>
            <a:r>
              <a:rPr lang="en-US" sz="2000" dirty="0" err="1"/>
              <a:t>u,v</a:t>
            </a:r>
            <a:r>
              <a:rPr lang="en-US" sz="2000" dirty="0"/>
              <a:t>). set id of root(</a:t>
            </a:r>
            <a:r>
              <a:rPr lang="en-US" sz="2000" dirty="0">
                <a:latin typeface="Courier" pitchFamily="2" charset="0"/>
              </a:rPr>
              <a:t>u</a:t>
            </a:r>
            <a:r>
              <a:rPr lang="en-US" sz="2000" dirty="0"/>
              <a:t>) to the id of root (</a:t>
            </a:r>
            <a:r>
              <a:rPr lang="en-US" sz="2000" dirty="0">
                <a:latin typeface="Courier" pitchFamily="2" charset="0"/>
              </a:rPr>
              <a:t>v</a:t>
            </a:r>
            <a:r>
              <a:rPr lang="en-US" sz="2000" dirty="0"/>
              <a:t>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495759" y="301039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260464" y="2685743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91229"/>
              </p:ext>
            </p:extLst>
          </p:nvPr>
        </p:nvGraphicFramePr>
        <p:xfrm>
          <a:off x="1189388" y="3020631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9BE115-567E-4A40-8120-E28FC69198C7}"/>
              </a:ext>
            </a:extLst>
          </p:cNvPr>
          <p:cNvSpPr txBox="1"/>
          <p:nvPr/>
        </p:nvSpPr>
        <p:spPr>
          <a:xfrm>
            <a:off x="495759" y="3880959"/>
            <a:ext cx="299152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union(3,5)</a:t>
            </a:r>
          </a:p>
          <a:p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id[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(3)] = id[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(5)]</a:t>
            </a:r>
          </a:p>
          <a:p>
            <a:r>
              <a:rPr lang="en-US" sz="1600" dirty="0">
                <a:latin typeface="Courier" pitchFamily="2" charset="0"/>
                <a:cs typeface="Arial" panose="020B0604020202020204" pitchFamily="34" charset="0"/>
              </a:rPr>
              <a:t>id[9]=6</a:t>
            </a:r>
          </a:p>
        </p:txBody>
      </p:sp>
      <p:grpSp>
        <p:nvGrpSpPr>
          <p:cNvPr id="3" name="Group 2" descr="graphical representation of performing the lazy approah to solve union-find">
            <a:extLst>
              <a:ext uri="{FF2B5EF4-FFF2-40B4-BE49-F238E27FC236}">
                <a16:creationId xmlns:a16="http://schemas.microsoft.com/office/drawing/2014/main" id="{173C7A5E-FC4B-A746-8B94-5CD92C647D63}"/>
              </a:ext>
            </a:extLst>
          </p:cNvPr>
          <p:cNvGrpSpPr/>
          <p:nvPr/>
        </p:nvGrpSpPr>
        <p:grpSpPr>
          <a:xfrm>
            <a:off x="5592816" y="2421527"/>
            <a:ext cx="3356433" cy="2150827"/>
            <a:chOff x="5592816" y="2421527"/>
            <a:chExt cx="3356433" cy="215082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5BB5AE-D344-6242-8417-3B81CEA46AE3}"/>
                </a:ext>
              </a:extLst>
            </p:cNvPr>
            <p:cNvSpPr/>
            <p:nvPr/>
          </p:nvSpPr>
          <p:spPr>
            <a:xfrm>
              <a:off x="5592816" y="302623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62C7AF-1B35-9348-BAE0-3124055E38D3}"/>
                </a:ext>
              </a:extLst>
            </p:cNvPr>
            <p:cNvSpPr/>
            <p:nvPr/>
          </p:nvSpPr>
          <p:spPr>
            <a:xfrm>
              <a:off x="6183648" y="302623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88884CB-6A67-464F-BAD9-746B2E96AF82}"/>
                </a:ext>
              </a:extLst>
            </p:cNvPr>
            <p:cNvSpPr/>
            <p:nvPr/>
          </p:nvSpPr>
          <p:spPr>
            <a:xfrm>
              <a:off x="7112031" y="364907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D3C1EB-5A31-C746-899F-B15729207514}"/>
                </a:ext>
              </a:extLst>
            </p:cNvPr>
            <p:cNvSpPr/>
            <p:nvPr/>
          </p:nvSpPr>
          <p:spPr>
            <a:xfrm>
              <a:off x="6499392" y="364907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FD92F6-B62E-FF46-8A6E-B161B8AFC711}"/>
                </a:ext>
              </a:extLst>
            </p:cNvPr>
            <p:cNvSpPr/>
            <p:nvPr/>
          </p:nvSpPr>
          <p:spPr>
            <a:xfrm>
              <a:off x="7112031" y="427190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828302-9C33-A241-829A-6119EDC481AB}"/>
                </a:ext>
              </a:extLst>
            </p:cNvPr>
            <p:cNvSpPr/>
            <p:nvPr/>
          </p:nvSpPr>
          <p:spPr>
            <a:xfrm>
              <a:off x="7568991" y="310380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FD9E781-6BE2-8445-8ED2-95A4E8705E9F}"/>
                </a:ext>
              </a:extLst>
            </p:cNvPr>
            <p:cNvSpPr/>
            <p:nvPr/>
          </p:nvSpPr>
          <p:spPr>
            <a:xfrm>
              <a:off x="7568992" y="242152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B998DA-4FA2-954B-8996-6C6B2014E950}"/>
                </a:ext>
              </a:extLst>
            </p:cNvPr>
            <p:cNvSpPr/>
            <p:nvPr/>
          </p:nvSpPr>
          <p:spPr>
            <a:xfrm>
              <a:off x="6790188" y="3026238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333CFD-423A-8844-870A-2C94FA15FFBC}"/>
                </a:ext>
              </a:extLst>
            </p:cNvPr>
            <p:cNvSpPr/>
            <p:nvPr/>
          </p:nvSpPr>
          <p:spPr>
            <a:xfrm>
              <a:off x="8167394" y="301039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F09B54E-7096-8649-84E2-101023B82722}"/>
                </a:ext>
              </a:extLst>
            </p:cNvPr>
            <p:cNvSpPr/>
            <p:nvPr/>
          </p:nvSpPr>
          <p:spPr>
            <a:xfrm>
              <a:off x="8648804" y="3010399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02AF1C-19B0-844F-B6F9-2531947E3BEC}"/>
                </a:ext>
              </a:extLst>
            </p:cNvPr>
            <p:cNvCxnSpPr>
              <a:cxnSpLocks/>
              <a:stCxn id="52" idx="4"/>
              <a:endCxn id="27" idx="0"/>
            </p:cNvCxnSpPr>
            <p:nvPr/>
          </p:nvCxnSpPr>
          <p:spPr>
            <a:xfrm>
              <a:off x="6940411" y="3326684"/>
              <a:ext cx="321843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35F8665-BDB5-E04F-8090-ABFA6D7A5F7D}"/>
                </a:ext>
              </a:extLst>
            </p:cNvPr>
            <p:cNvCxnSpPr>
              <a:cxnSpLocks/>
              <a:stCxn id="28" idx="0"/>
              <a:endCxn id="52" idx="4"/>
            </p:cNvCxnSpPr>
            <p:nvPr/>
          </p:nvCxnSpPr>
          <p:spPr>
            <a:xfrm flipV="1">
              <a:off x="6649615" y="3326684"/>
              <a:ext cx="290796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E7A8763-2779-524E-AC19-E7C09816E38A}"/>
                </a:ext>
              </a:extLst>
            </p:cNvPr>
            <p:cNvCxnSpPr>
              <a:cxnSpLocks/>
              <a:stCxn id="27" idx="4"/>
              <a:endCxn id="29" idx="0"/>
            </p:cNvCxnSpPr>
            <p:nvPr/>
          </p:nvCxnSpPr>
          <p:spPr>
            <a:xfrm>
              <a:off x="7262254" y="3949519"/>
              <a:ext cx="0" cy="322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8080DB8-7D78-2E44-A34C-79F544539E5B}"/>
                </a:ext>
              </a:extLst>
            </p:cNvPr>
            <p:cNvCxnSpPr>
              <a:cxnSpLocks/>
              <a:stCxn id="31" idx="4"/>
              <a:endCxn id="30" idx="0"/>
            </p:cNvCxnSpPr>
            <p:nvPr/>
          </p:nvCxnSpPr>
          <p:spPr>
            <a:xfrm flipH="1">
              <a:off x="7719214" y="2721973"/>
              <a:ext cx="1" cy="3818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26B191-D6B8-D949-B08B-BDB5429757DD}"/>
                </a:ext>
              </a:extLst>
            </p:cNvPr>
            <p:cNvCxnSpPr>
              <a:stCxn id="52" idx="0"/>
              <a:endCxn id="31" idx="2"/>
            </p:cNvCxnSpPr>
            <p:nvPr/>
          </p:nvCxnSpPr>
          <p:spPr>
            <a:xfrm flipV="1">
              <a:off x="6940411" y="2571750"/>
              <a:ext cx="628581" cy="4544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150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5709286D-1720-7443-AD07-40D5DC0A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287999" y="415914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2C7AF-1B35-9348-BAE0-3124055E38D3}"/>
              </a:ext>
            </a:extLst>
          </p:cNvPr>
          <p:cNvSpPr/>
          <p:nvPr/>
        </p:nvSpPr>
        <p:spPr>
          <a:xfrm>
            <a:off x="830769" y="4157836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8884CB-6A67-464F-BAD9-746B2E96AF82}"/>
              </a:ext>
            </a:extLst>
          </p:cNvPr>
          <p:cNvSpPr/>
          <p:nvPr/>
        </p:nvSpPr>
        <p:spPr>
          <a:xfrm>
            <a:off x="2506455" y="4157836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D3C1EB-5A31-C746-899F-B15729207514}"/>
              </a:ext>
            </a:extLst>
          </p:cNvPr>
          <p:cNvSpPr/>
          <p:nvPr/>
        </p:nvSpPr>
        <p:spPr>
          <a:xfrm>
            <a:off x="1373539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FD92F6-B62E-FF46-8A6E-B161B8AFC711}"/>
              </a:ext>
            </a:extLst>
          </p:cNvPr>
          <p:cNvSpPr/>
          <p:nvPr/>
        </p:nvSpPr>
        <p:spPr>
          <a:xfrm>
            <a:off x="1939997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828302-9C33-A241-829A-6119EDC481AB}"/>
              </a:ext>
            </a:extLst>
          </p:cNvPr>
          <p:cNvSpPr/>
          <p:nvPr/>
        </p:nvSpPr>
        <p:spPr>
          <a:xfrm>
            <a:off x="3072913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D9E781-6BE2-8445-8ED2-95A4E8705E9F}"/>
              </a:ext>
            </a:extLst>
          </p:cNvPr>
          <p:cNvSpPr/>
          <p:nvPr/>
        </p:nvSpPr>
        <p:spPr>
          <a:xfrm>
            <a:off x="3639371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B998DA-4FA2-954B-8996-6C6B2014E950}"/>
              </a:ext>
            </a:extLst>
          </p:cNvPr>
          <p:cNvSpPr/>
          <p:nvPr/>
        </p:nvSpPr>
        <p:spPr>
          <a:xfrm>
            <a:off x="5471439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333CFD-423A-8844-870A-2C94FA15FFBC}"/>
              </a:ext>
            </a:extLst>
          </p:cNvPr>
          <p:cNvSpPr/>
          <p:nvPr/>
        </p:nvSpPr>
        <p:spPr>
          <a:xfrm>
            <a:off x="4238824" y="4157836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09B54E-7096-8649-84E2-101023B82722}"/>
              </a:ext>
            </a:extLst>
          </p:cNvPr>
          <p:cNvSpPr/>
          <p:nvPr/>
        </p:nvSpPr>
        <p:spPr>
          <a:xfrm>
            <a:off x="4838277" y="4163534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081722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</p:spTree>
    <p:extLst>
      <p:ext uri="{BB962C8B-B14F-4D97-AF65-F5344CB8AC3E}">
        <p14:creationId xmlns:p14="http://schemas.microsoft.com/office/powerpoint/2010/main" val="258096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>
            <a:extLst>
              <a:ext uri="{FF2B5EF4-FFF2-40B4-BE49-F238E27FC236}">
                <a16:creationId xmlns:a16="http://schemas.microsoft.com/office/drawing/2014/main" id="{C6A0C373-DB53-5F44-9FB5-36F0DFFC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287999" y="415914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5576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587316-D424-294D-BD60-49A0EE326ACA}"/>
              </a:ext>
            </a:extLst>
          </p:cNvPr>
          <p:cNvGrpSpPr/>
          <p:nvPr/>
        </p:nvGrpSpPr>
        <p:grpSpPr>
          <a:xfrm>
            <a:off x="3639370" y="3558290"/>
            <a:ext cx="300446" cy="890938"/>
            <a:chOff x="3639370" y="3558290"/>
            <a:chExt cx="300446" cy="89093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828302-9C33-A241-829A-6119EDC481AB}"/>
                </a:ext>
              </a:extLst>
            </p:cNvPr>
            <p:cNvSpPr/>
            <p:nvPr/>
          </p:nvSpPr>
          <p:spPr>
            <a:xfrm>
              <a:off x="3639370" y="3558290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FD9E781-6BE2-8445-8ED2-95A4E8705E9F}"/>
                </a:ext>
              </a:extLst>
            </p:cNvPr>
            <p:cNvSpPr/>
            <p:nvPr/>
          </p:nvSpPr>
          <p:spPr>
            <a:xfrm>
              <a:off x="3639371" y="4148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5" name="Straight Connector 4" descr="simulating the effect of union with lazy approach">
              <a:extLst>
                <a:ext uri="{FF2B5EF4-FFF2-40B4-BE49-F238E27FC236}">
                  <a16:creationId xmlns:a16="http://schemas.microsoft.com/office/drawing/2014/main" id="{D8B0800C-C7C5-B94D-A724-EC066F9CED21}"/>
                </a:ext>
              </a:extLst>
            </p:cNvPr>
            <p:cNvCxnSpPr>
              <a:stCxn id="31" idx="0"/>
              <a:endCxn id="30" idx="4"/>
            </p:cNvCxnSpPr>
            <p:nvPr/>
          </p:nvCxnSpPr>
          <p:spPr>
            <a:xfrm flipH="1" flipV="1">
              <a:off x="3789593" y="3858736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ACC4B-528A-9645-BF3E-B62090A1C765}"/>
              </a:ext>
            </a:extLst>
          </p:cNvPr>
          <p:cNvGrpSpPr/>
          <p:nvPr/>
        </p:nvGrpSpPr>
        <p:grpSpPr>
          <a:xfrm>
            <a:off x="1373539" y="3558290"/>
            <a:ext cx="320906" cy="890938"/>
            <a:chOff x="1373539" y="3558290"/>
            <a:chExt cx="320906" cy="89093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62C7AF-1B35-9348-BAE0-3124055E38D3}"/>
                </a:ext>
              </a:extLst>
            </p:cNvPr>
            <p:cNvSpPr/>
            <p:nvPr/>
          </p:nvSpPr>
          <p:spPr>
            <a:xfrm>
              <a:off x="1394000" y="3558290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D3C1EB-5A31-C746-899F-B15729207514}"/>
                </a:ext>
              </a:extLst>
            </p:cNvPr>
            <p:cNvSpPr/>
            <p:nvPr/>
          </p:nvSpPr>
          <p:spPr>
            <a:xfrm>
              <a:off x="1373539" y="4148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20" name="Straight Connector 19" descr="simulating the effect of union with lazy approach">
              <a:extLst>
                <a:ext uri="{FF2B5EF4-FFF2-40B4-BE49-F238E27FC236}">
                  <a16:creationId xmlns:a16="http://schemas.microsoft.com/office/drawing/2014/main" id="{810E8980-ECCB-FC42-8E06-E551ABAB8D88}"/>
                </a:ext>
              </a:extLst>
            </p:cNvPr>
            <p:cNvCxnSpPr/>
            <p:nvPr/>
          </p:nvCxnSpPr>
          <p:spPr>
            <a:xfrm flipH="1" flipV="1">
              <a:off x="1523761" y="3856503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503E30B-DEE3-9945-876E-790823D4F289}"/>
              </a:ext>
            </a:extLst>
          </p:cNvPr>
          <p:cNvGrpSpPr/>
          <p:nvPr/>
        </p:nvGrpSpPr>
        <p:grpSpPr>
          <a:xfrm>
            <a:off x="5464573" y="3558523"/>
            <a:ext cx="307311" cy="890705"/>
            <a:chOff x="5464573" y="3558523"/>
            <a:chExt cx="307311" cy="890705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B998DA-4FA2-954B-8996-6C6B2014E950}"/>
                </a:ext>
              </a:extLst>
            </p:cNvPr>
            <p:cNvSpPr/>
            <p:nvPr/>
          </p:nvSpPr>
          <p:spPr>
            <a:xfrm>
              <a:off x="5471439" y="4148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F09B54E-7096-8649-84E2-101023B82722}"/>
                </a:ext>
              </a:extLst>
            </p:cNvPr>
            <p:cNvSpPr/>
            <p:nvPr/>
          </p:nvSpPr>
          <p:spPr>
            <a:xfrm>
              <a:off x="5464573" y="3558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21" name="Straight Connector 20" descr="simulating the effect of union with lazy approach">
              <a:extLst>
                <a:ext uri="{FF2B5EF4-FFF2-40B4-BE49-F238E27FC236}">
                  <a16:creationId xmlns:a16="http://schemas.microsoft.com/office/drawing/2014/main" id="{4F19142F-21B9-3B4C-9DB4-4B5269177F65}"/>
                </a:ext>
              </a:extLst>
            </p:cNvPr>
            <p:cNvCxnSpPr/>
            <p:nvPr/>
          </p:nvCxnSpPr>
          <p:spPr>
            <a:xfrm flipH="1" flipV="1">
              <a:off x="5611831" y="384806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1D33C17-3363-864D-82B2-5B1FF8A35B92}"/>
              </a:ext>
            </a:extLst>
          </p:cNvPr>
          <p:cNvGrpSpPr/>
          <p:nvPr/>
        </p:nvGrpSpPr>
        <p:grpSpPr>
          <a:xfrm>
            <a:off x="2506455" y="3575892"/>
            <a:ext cx="310675" cy="882390"/>
            <a:chOff x="2506455" y="3575892"/>
            <a:chExt cx="310675" cy="88239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88884CB-6A67-464F-BAD9-746B2E96AF82}"/>
                </a:ext>
              </a:extLst>
            </p:cNvPr>
            <p:cNvSpPr/>
            <p:nvPr/>
          </p:nvSpPr>
          <p:spPr>
            <a:xfrm>
              <a:off x="2506455" y="4157836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FD92F6-B62E-FF46-8A6E-B161B8AFC711}"/>
                </a:ext>
              </a:extLst>
            </p:cNvPr>
            <p:cNvSpPr/>
            <p:nvPr/>
          </p:nvSpPr>
          <p:spPr>
            <a:xfrm>
              <a:off x="2516685" y="357589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2" name="Straight Connector 21" descr="simulating the effect of union with lazy approach">
              <a:extLst>
                <a:ext uri="{FF2B5EF4-FFF2-40B4-BE49-F238E27FC236}">
                  <a16:creationId xmlns:a16="http://schemas.microsoft.com/office/drawing/2014/main" id="{806BC981-2467-8549-A13B-2DB1F282DC74}"/>
                </a:ext>
              </a:extLst>
            </p:cNvPr>
            <p:cNvCxnSpPr/>
            <p:nvPr/>
          </p:nvCxnSpPr>
          <p:spPr>
            <a:xfrm flipH="1" flipV="1">
              <a:off x="2647381" y="3872064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03425A7-2389-6C4B-BF4C-96A8AC656424}"/>
              </a:ext>
            </a:extLst>
          </p:cNvPr>
          <p:cNvGrpSpPr/>
          <p:nvPr/>
        </p:nvGrpSpPr>
        <p:grpSpPr>
          <a:xfrm>
            <a:off x="1544223" y="3858736"/>
            <a:ext cx="713747" cy="590492"/>
            <a:chOff x="1544223" y="3858736"/>
            <a:chExt cx="713747" cy="590492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333CFD-423A-8844-870A-2C94FA15FFBC}"/>
                </a:ext>
              </a:extLst>
            </p:cNvPr>
            <p:cNvSpPr/>
            <p:nvPr/>
          </p:nvSpPr>
          <p:spPr>
            <a:xfrm>
              <a:off x="1957525" y="414878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3" name="Straight Connector 22" descr="simulating the effect of union with lazy approach">
              <a:extLst>
                <a:ext uri="{FF2B5EF4-FFF2-40B4-BE49-F238E27FC236}">
                  <a16:creationId xmlns:a16="http://schemas.microsoft.com/office/drawing/2014/main" id="{E2C81559-6639-7340-9AA6-7DD4A1B3D9D6}"/>
                </a:ext>
              </a:extLst>
            </p:cNvPr>
            <p:cNvCxnSpPr>
              <a:cxnSpLocks/>
              <a:stCxn id="53" idx="0"/>
              <a:endCxn id="26" idx="4"/>
            </p:cNvCxnSpPr>
            <p:nvPr/>
          </p:nvCxnSpPr>
          <p:spPr>
            <a:xfrm flipH="1" flipV="1">
              <a:off x="1544223" y="3858736"/>
              <a:ext cx="563525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8DAA70-E79A-7E46-B4FF-F728F3B3E369}"/>
              </a:ext>
            </a:extLst>
          </p:cNvPr>
          <p:cNvSpPr txBox="1"/>
          <p:nvPr/>
        </p:nvSpPr>
        <p:spPr>
          <a:xfrm>
            <a:off x="7060595" y="294462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union(5,0)</a:t>
            </a:r>
          </a:p>
        </p:txBody>
      </p:sp>
    </p:spTree>
    <p:extLst>
      <p:ext uri="{BB962C8B-B14F-4D97-AF65-F5344CB8AC3E}">
        <p14:creationId xmlns:p14="http://schemas.microsoft.com/office/powerpoint/2010/main" val="407789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60" grpId="0"/>
      <p:bldP spid="61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2">
            <a:extLst>
              <a:ext uri="{FF2B5EF4-FFF2-40B4-BE49-F238E27FC236}">
                <a16:creationId xmlns:a16="http://schemas.microsoft.com/office/drawing/2014/main" id="{8FFA3F1B-AFBC-0D40-8700-E164DA6E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3639370" y="2979064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2C7AF-1B35-9348-BAE0-3124055E38D3}"/>
              </a:ext>
            </a:extLst>
          </p:cNvPr>
          <p:cNvSpPr/>
          <p:nvPr/>
        </p:nvSpPr>
        <p:spPr>
          <a:xfrm>
            <a:off x="1394000" y="3558290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8884CB-6A67-464F-BAD9-746B2E96AF82}"/>
              </a:ext>
            </a:extLst>
          </p:cNvPr>
          <p:cNvSpPr/>
          <p:nvPr/>
        </p:nvSpPr>
        <p:spPr>
          <a:xfrm>
            <a:off x="2506455" y="4157836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D3C1EB-5A31-C746-899F-B15729207514}"/>
              </a:ext>
            </a:extLst>
          </p:cNvPr>
          <p:cNvSpPr/>
          <p:nvPr/>
        </p:nvSpPr>
        <p:spPr>
          <a:xfrm>
            <a:off x="1373539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FD92F6-B62E-FF46-8A6E-B161B8AFC711}"/>
              </a:ext>
            </a:extLst>
          </p:cNvPr>
          <p:cNvSpPr/>
          <p:nvPr/>
        </p:nvSpPr>
        <p:spPr>
          <a:xfrm>
            <a:off x="2516685" y="357589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828302-9C33-A241-829A-6119EDC481AB}"/>
              </a:ext>
            </a:extLst>
          </p:cNvPr>
          <p:cNvSpPr/>
          <p:nvPr/>
        </p:nvSpPr>
        <p:spPr>
          <a:xfrm>
            <a:off x="3639370" y="3558290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D9E781-6BE2-8445-8ED2-95A4E8705E9F}"/>
              </a:ext>
            </a:extLst>
          </p:cNvPr>
          <p:cNvSpPr/>
          <p:nvPr/>
        </p:nvSpPr>
        <p:spPr>
          <a:xfrm>
            <a:off x="3639371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B998DA-4FA2-954B-8996-6C6B2014E950}"/>
              </a:ext>
            </a:extLst>
          </p:cNvPr>
          <p:cNvSpPr/>
          <p:nvPr/>
        </p:nvSpPr>
        <p:spPr>
          <a:xfrm>
            <a:off x="5471439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333CFD-423A-8844-870A-2C94FA15FFBC}"/>
              </a:ext>
            </a:extLst>
          </p:cNvPr>
          <p:cNvSpPr/>
          <p:nvPr/>
        </p:nvSpPr>
        <p:spPr>
          <a:xfrm>
            <a:off x="1957525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09B54E-7096-8649-84E2-101023B82722}"/>
              </a:ext>
            </a:extLst>
          </p:cNvPr>
          <p:cNvSpPr/>
          <p:nvPr/>
        </p:nvSpPr>
        <p:spPr>
          <a:xfrm>
            <a:off x="5464573" y="355852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5" name="Straight Connector 4" descr="simulating the effect of union with lazy approach">
            <a:extLst>
              <a:ext uri="{FF2B5EF4-FFF2-40B4-BE49-F238E27FC236}">
                <a16:creationId xmlns:a16="http://schemas.microsoft.com/office/drawing/2014/main" id="{D8B0800C-C7C5-B94D-A724-EC066F9CED21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3789593" y="3858736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 descr="simulating the effect of union with lazy approach">
            <a:extLst>
              <a:ext uri="{FF2B5EF4-FFF2-40B4-BE49-F238E27FC236}">
                <a16:creationId xmlns:a16="http://schemas.microsoft.com/office/drawing/2014/main" id="{810E8980-ECCB-FC42-8E06-E551ABAB8D88}"/>
              </a:ext>
            </a:extLst>
          </p:cNvPr>
          <p:cNvCxnSpPr/>
          <p:nvPr/>
        </p:nvCxnSpPr>
        <p:spPr>
          <a:xfrm flipH="1" flipV="1">
            <a:off x="1523761" y="3856503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 descr="simulating the effect of union with lazy approach">
            <a:extLst>
              <a:ext uri="{FF2B5EF4-FFF2-40B4-BE49-F238E27FC236}">
                <a16:creationId xmlns:a16="http://schemas.microsoft.com/office/drawing/2014/main" id="{4F19142F-21B9-3B4C-9DB4-4B5269177F65}"/>
              </a:ext>
            </a:extLst>
          </p:cNvPr>
          <p:cNvCxnSpPr/>
          <p:nvPr/>
        </p:nvCxnSpPr>
        <p:spPr>
          <a:xfrm flipH="1" flipV="1">
            <a:off x="5611831" y="384806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simulating the effect of union with lazy approach">
            <a:extLst>
              <a:ext uri="{FF2B5EF4-FFF2-40B4-BE49-F238E27FC236}">
                <a16:creationId xmlns:a16="http://schemas.microsoft.com/office/drawing/2014/main" id="{806BC981-2467-8549-A13B-2DB1F282DC74}"/>
              </a:ext>
            </a:extLst>
          </p:cNvPr>
          <p:cNvCxnSpPr/>
          <p:nvPr/>
        </p:nvCxnSpPr>
        <p:spPr>
          <a:xfrm flipH="1" flipV="1">
            <a:off x="2647381" y="387206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descr="simulating the effect of union with lazy approach">
            <a:extLst>
              <a:ext uri="{FF2B5EF4-FFF2-40B4-BE49-F238E27FC236}">
                <a16:creationId xmlns:a16="http://schemas.microsoft.com/office/drawing/2014/main" id="{E2C81559-6639-7340-9AA6-7DD4A1B3D9D6}"/>
              </a:ext>
            </a:extLst>
          </p:cNvPr>
          <p:cNvCxnSpPr>
            <a:cxnSpLocks/>
            <a:stCxn id="53" idx="0"/>
            <a:endCxn id="26" idx="4"/>
          </p:cNvCxnSpPr>
          <p:nvPr/>
        </p:nvCxnSpPr>
        <p:spPr>
          <a:xfrm flipH="1" flipV="1">
            <a:off x="1544223" y="3858736"/>
            <a:ext cx="563525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imulating the effect of union with lazy approach">
            <a:extLst>
              <a:ext uri="{FF2B5EF4-FFF2-40B4-BE49-F238E27FC236}">
                <a16:creationId xmlns:a16="http://schemas.microsoft.com/office/drawing/2014/main" id="{4E8A603E-2BC7-2843-BDA8-BAA982A873AC}"/>
              </a:ext>
            </a:extLst>
          </p:cNvPr>
          <p:cNvCxnSpPr/>
          <p:nvPr/>
        </p:nvCxnSpPr>
        <p:spPr>
          <a:xfrm flipH="1" flipV="1">
            <a:off x="3790832" y="326824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770229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8DAA70-E79A-7E46-B4FF-F728F3B3E369}"/>
              </a:ext>
            </a:extLst>
          </p:cNvPr>
          <p:cNvSpPr txBox="1"/>
          <p:nvPr/>
        </p:nvSpPr>
        <p:spPr>
          <a:xfrm>
            <a:off x="7060595" y="294462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ABB17D-4748-1049-9F66-F8BAE51B2AB5}"/>
              </a:ext>
            </a:extLst>
          </p:cNvPr>
          <p:cNvSpPr txBox="1"/>
          <p:nvPr/>
        </p:nvSpPr>
        <p:spPr>
          <a:xfrm>
            <a:off x="7060595" y="335829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union(6,1)</a:t>
            </a:r>
          </a:p>
        </p:txBody>
      </p:sp>
    </p:spTree>
    <p:extLst>
      <p:ext uri="{BB962C8B-B14F-4D97-AF65-F5344CB8AC3E}">
        <p14:creationId xmlns:p14="http://schemas.microsoft.com/office/powerpoint/2010/main" val="168259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2">
            <a:extLst>
              <a:ext uri="{FF2B5EF4-FFF2-40B4-BE49-F238E27FC236}">
                <a16:creationId xmlns:a16="http://schemas.microsoft.com/office/drawing/2014/main" id="{97B352DE-AD7A-254F-A936-5CD762DE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3601877" y="3558427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2C7AF-1B35-9348-BAE0-3124055E38D3}"/>
              </a:ext>
            </a:extLst>
          </p:cNvPr>
          <p:cNvSpPr/>
          <p:nvPr/>
        </p:nvSpPr>
        <p:spPr>
          <a:xfrm>
            <a:off x="4268510" y="2944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8884CB-6A67-464F-BAD9-746B2E96AF82}"/>
              </a:ext>
            </a:extLst>
          </p:cNvPr>
          <p:cNvSpPr/>
          <p:nvPr/>
        </p:nvSpPr>
        <p:spPr>
          <a:xfrm>
            <a:off x="2506455" y="4157836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D3C1EB-5A31-C746-899F-B15729207514}"/>
              </a:ext>
            </a:extLst>
          </p:cNvPr>
          <p:cNvSpPr/>
          <p:nvPr/>
        </p:nvSpPr>
        <p:spPr>
          <a:xfrm>
            <a:off x="4248049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FD92F6-B62E-FF46-8A6E-B161B8AFC711}"/>
              </a:ext>
            </a:extLst>
          </p:cNvPr>
          <p:cNvSpPr/>
          <p:nvPr/>
        </p:nvSpPr>
        <p:spPr>
          <a:xfrm>
            <a:off x="2516685" y="357589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828302-9C33-A241-829A-6119EDC481AB}"/>
              </a:ext>
            </a:extLst>
          </p:cNvPr>
          <p:cNvSpPr/>
          <p:nvPr/>
        </p:nvSpPr>
        <p:spPr>
          <a:xfrm>
            <a:off x="3601877" y="413765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D9E781-6BE2-8445-8ED2-95A4E8705E9F}"/>
              </a:ext>
            </a:extLst>
          </p:cNvPr>
          <p:cNvSpPr/>
          <p:nvPr/>
        </p:nvSpPr>
        <p:spPr>
          <a:xfrm>
            <a:off x="3601878" y="4728145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B998DA-4FA2-954B-8996-6C6B2014E950}"/>
              </a:ext>
            </a:extLst>
          </p:cNvPr>
          <p:cNvSpPr/>
          <p:nvPr/>
        </p:nvSpPr>
        <p:spPr>
          <a:xfrm>
            <a:off x="5471439" y="4148782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333CFD-423A-8844-870A-2C94FA15FFBC}"/>
              </a:ext>
            </a:extLst>
          </p:cNvPr>
          <p:cNvSpPr/>
          <p:nvPr/>
        </p:nvSpPr>
        <p:spPr>
          <a:xfrm>
            <a:off x="4832035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09B54E-7096-8649-84E2-101023B82722}"/>
              </a:ext>
            </a:extLst>
          </p:cNvPr>
          <p:cNvSpPr/>
          <p:nvPr/>
        </p:nvSpPr>
        <p:spPr>
          <a:xfrm>
            <a:off x="5464573" y="355852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17047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  <p:cxnSp>
        <p:nvCxnSpPr>
          <p:cNvPr id="5" name="Straight Connector 4" descr="simulating the effect of union with lazy approach">
            <a:extLst>
              <a:ext uri="{FF2B5EF4-FFF2-40B4-BE49-F238E27FC236}">
                <a16:creationId xmlns:a16="http://schemas.microsoft.com/office/drawing/2014/main" id="{D8B0800C-C7C5-B94D-A724-EC066F9CED21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3752100" y="4438099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 descr="simulating the effect of union with lazy approach">
            <a:extLst>
              <a:ext uri="{FF2B5EF4-FFF2-40B4-BE49-F238E27FC236}">
                <a16:creationId xmlns:a16="http://schemas.microsoft.com/office/drawing/2014/main" id="{810E8980-ECCB-FC42-8E06-E551ABAB8D88}"/>
              </a:ext>
            </a:extLst>
          </p:cNvPr>
          <p:cNvCxnSpPr/>
          <p:nvPr/>
        </p:nvCxnSpPr>
        <p:spPr>
          <a:xfrm flipH="1" flipV="1">
            <a:off x="4398271" y="324283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 descr="simulating the effect of union with lazy approach">
            <a:extLst>
              <a:ext uri="{FF2B5EF4-FFF2-40B4-BE49-F238E27FC236}">
                <a16:creationId xmlns:a16="http://schemas.microsoft.com/office/drawing/2014/main" id="{4F19142F-21B9-3B4C-9DB4-4B5269177F65}"/>
              </a:ext>
            </a:extLst>
          </p:cNvPr>
          <p:cNvCxnSpPr/>
          <p:nvPr/>
        </p:nvCxnSpPr>
        <p:spPr>
          <a:xfrm flipH="1" flipV="1">
            <a:off x="5611831" y="384806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simulating the effect of union with lazy approach">
            <a:extLst>
              <a:ext uri="{FF2B5EF4-FFF2-40B4-BE49-F238E27FC236}">
                <a16:creationId xmlns:a16="http://schemas.microsoft.com/office/drawing/2014/main" id="{806BC981-2467-8549-A13B-2DB1F282DC74}"/>
              </a:ext>
            </a:extLst>
          </p:cNvPr>
          <p:cNvCxnSpPr/>
          <p:nvPr/>
        </p:nvCxnSpPr>
        <p:spPr>
          <a:xfrm flipH="1" flipV="1">
            <a:off x="2647381" y="387206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descr="simulating the effect of union with lazy approach">
            <a:extLst>
              <a:ext uri="{FF2B5EF4-FFF2-40B4-BE49-F238E27FC236}">
                <a16:creationId xmlns:a16="http://schemas.microsoft.com/office/drawing/2014/main" id="{E2C81559-6639-7340-9AA6-7DD4A1B3D9D6}"/>
              </a:ext>
            </a:extLst>
          </p:cNvPr>
          <p:cNvCxnSpPr>
            <a:cxnSpLocks/>
            <a:stCxn id="53" idx="0"/>
            <a:endCxn id="26" idx="4"/>
          </p:cNvCxnSpPr>
          <p:nvPr/>
        </p:nvCxnSpPr>
        <p:spPr>
          <a:xfrm flipH="1" flipV="1">
            <a:off x="4418733" y="3245067"/>
            <a:ext cx="563525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8DAA70-E79A-7E46-B4FF-F728F3B3E369}"/>
              </a:ext>
            </a:extLst>
          </p:cNvPr>
          <p:cNvSpPr txBox="1"/>
          <p:nvPr/>
        </p:nvSpPr>
        <p:spPr>
          <a:xfrm>
            <a:off x="7060595" y="294462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union(5,0)</a:t>
            </a:r>
          </a:p>
        </p:txBody>
      </p:sp>
      <p:cxnSp>
        <p:nvCxnSpPr>
          <p:cNvPr id="24" name="Straight Connector 23" descr="simulating the effect of union with lazy approach">
            <a:extLst>
              <a:ext uri="{FF2B5EF4-FFF2-40B4-BE49-F238E27FC236}">
                <a16:creationId xmlns:a16="http://schemas.microsoft.com/office/drawing/2014/main" id="{4E8A603E-2BC7-2843-BDA8-BAA982A873AC}"/>
              </a:ext>
            </a:extLst>
          </p:cNvPr>
          <p:cNvCxnSpPr/>
          <p:nvPr/>
        </p:nvCxnSpPr>
        <p:spPr>
          <a:xfrm flipH="1" flipV="1">
            <a:off x="3753339" y="384760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ABB17D-4748-1049-9F66-F8BAE51B2AB5}"/>
              </a:ext>
            </a:extLst>
          </p:cNvPr>
          <p:cNvSpPr txBox="1"/>
          <p:nvPr/>
        </p:nvSpPr>
        <p:spPr>
          <a:xfrm>
            <a:off x="7060595" y="335829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union(6,1)</a:t>
            </a:r>
          </a:p>
        </p:txBody>
      </p:sp>
      <p:cxnSp>
        <p:nvCxnSpPr>
          <p:cNvPr id="6" name="Straight Connector 5" descr="simulating the effect of union with lazy approach">
            <a:extLst>
              <a:ext uri="{FF2B5EF4-FFF2-40B4-BE49-F238E27FC236}">
                <a16:creationId xmlns:a16="http://schemas.microsoft.com/office/drawing/2014/main" id="{41E34167-A3F0-2B4B-8FCA-02EB57651043}"/>
              </a:ext>
            </a:extLst>
          </p:cNvPr>
          <p:cNvCxnSpPr>
            <a:stCxn id="25" idx="0"/>
            <a:endCxn id="26" idx="3"/>
          </p:cNvCxnSpPr>
          <p:nvPr/>
        </p:nvCxnSpPr>
        <p:spPr>
          <a:xfrm flipV="1">
            <a:off x="3752100" y="3201068"/>
            <a:ext cx="560409" cy="357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855103C-BF70-2F4C-9AC5-360F3FEB487F}"/>
              </a:ext>
            </a:extLst>
          </p:cNvPr>
          <p:cNvSpPr txBox="1"/>
          <p:nvPr/>
        </p:nvSpPr>
        <p:spPr>
          <a:xfrm>
            <a:off x="7060595" y="372611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union(4,8)</a:t>
            </a:r>
          </a:p>
        </p:txBody>
      </p:sp>
    </p:spTree>
    <p:extLst>
      <p:ext uri="{BB962C8B-B14F-4D97-AF65-F5344CB8AC3E}">
        <p14:creationId xmlns:p14="http://schemas.microsoft.com/office/powerpoint/2010/main" val="368569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2">
            <a:extLst>
              <a:ext uri="{FF2B5EF4-FFF2-40B4-BE49-F238E27FC236}">
                <a16:creationId xmlns:a16="http://schemas.microsoft.com/office/drawing/2014/main" id="{9D63AD70-7493-734E-A0BD-9F169FB3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3601877" y="3558427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2C7AF-1B35-9348-BAE0-3124055E38D3}"/>
              </a:ext>
            </a:extLst>
          </p:cNvPr>
          <p:cNvSpPr/>
          <p:nvPr/>
        </p:nvSpPr>
        <p:spPr>
          <a:xfrm>
            <a:off x="4268510" y="2944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8884CB-6A67-464F-BAD9-746B2E96AF82}"/>
              </a:ext>
            </a:extLst>
          </p:cNvPr>
          <p:cNvSpPr/>
          <p:nvPr/>
        </p:nvSpPr>
        <p:spPr>
          <a:xfrm>
            <a:off x="5454343" y="4719597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D3C1EB-5A31-C746-899F-B15729207514}"/>
              </a:ext>
            </a:extLst>
          </p:cNvPr>
          <p:cNvSpPr/>
          <p:nvPr/>
        </p:nvSpPr>
        <p:spPr>
          <a:xfrm>
            <a:off x="4248049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FD92F6-B62E-FF46-8A6E-B161B8AFC711}"/>
              </a:ext>
            </a:extLst>
          </p:cNvPr>
          <p:cNvSpPr/>
          <p:nvPr/>
        </p:nvSpPr>
        <p:spPr>
          <a:xfrm>
            <a:off x="5464573" y="413765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828302-9C33-A241-829A-6119EDC481AB}"/>
              </a:ext>
            </a:extLst>
          </p:cNvPr>
          <p:cNvSpPr/>
          <p:nvPr/>
        </p:nvSpPr>
        <p:spPr>
          <a:xfrm>
            <a:off x="3601877" y="413765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D9E781-6BE2-8445-8ED2-95A4E8705E9F}"/>
              </a:ext>
            </a:extLst>
          </p:cNvPr>
          <p:cNvSpPr/>
          <p:nvPr/>
        </p:nvSpPr>
        <p:spPr>
          <a:xfrm>
            <a:off x="3601878" y="4728145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B998DA-4FA2-954B-8996-6C6B2014E950}"/>
              </a:ext>
            </a:extLst>
          </p:cNvPr>
          <p:cNvSpPr/>
          <p:nvPr/>
        </p:nvSpPr>
        <p:spPr>
          <a:xfrm>
            <a:off x="6045637" y="4133379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333CFD-423A-8844-870A-2C94FA15FFBC}"/>
              </a:ext>
            </a:extLst>
          </p:cNvPr>
          <p:cNvSpPr/>
          <p:nvPr/>
        </p:nvSpPr>
        <p:spPr>
          <a:xfrm>
            <a:off x="4832035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09B54E-7096-8649-84E2-101023B82722}"/>
              </a:ext>
            </a:extLst>
          </p:cNvPr>
          <p:cNvSpPr/>
          <p:nvPr/>
        </p:nvSpPr>
        <p:spPr>
          <a:xfrm>
            <a:off x="5464573" y="355852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664888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  <p:cxnSp>
        <p:nvCxnSpPr>
          <p:cNvPr id="5" name="Straight Connector 4" descr="simulating the effect of union with lazy approach">
            <a:extLst>
              <a:ext uri="{FF2B5EF4-FFF2-40B4-BE49-F238E27FC236}">
                <a16:creationId xmlns:a16="http://schemas.microsoft.com/office/drawing/2014/main" id="{D8B0800C-C7C5-B94D-A724-EC066F9CED21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3752100" y="4438099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 descr="simulating the effect of union with lazy approach">
            <a:extLst>
              <a:ext uri="{FF2B5EF4-FFF2-40B4-BE49-F238E27FC236}">
                <a16:creationId xmlns:a16="http://schemas.microsoft.com/office/drawing/2014/main" id="{810E8980-ECCB-FC42-8E06-E551ABAB8D88}"/>
              </a:ext>
            </a:extLst>
          </p:cNvPr>
          <p:cNvCxnSpPr/>
          <p:nvPr/>
        </p:nvCxnSpPr>
        <p:spPr>
          <a:xfrm flipH="1" flipV="1">
            <a:off x="4398271" y="324283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 descr="simulating the effect of union with lazy approach">
            <a:extLst>
              <a:ext uri="{FF2B5EF4-FFF2-40B4-BE49-F238E27FC236}">
                <a16:creationId xmlns:a16="http://schemas.microsoft.com/office/drawing/2014/main" id="{4F19142F-21B9-3B4C-9DB4-4B5269177F65}"/>
              </a:ext>
            </a:extLst>
          </p:cNvPr>
          <p:cNvCxnSpPr/>
          <p:nvPr/>
        </p:nvCxnSpPr>
        <p:spPr>
          <a:xfrm flipH="1" flipV="1">
            <a:off x="5611831" y="384806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simulating the effect of union with lazy approach">
            <a:extLst>
              <a:ext uri="{FF2B5EF4-FFF2-40B4-BE49-F238E27FC236}">
                <a16:creationId xmlns:a16="http://schemas.microsoft.com/office/drawing/2014/main" id="{806BC981-2467-8549-A13B-2DB1F282DC74}"/>
              </a:ext>
            </a:extLst>
          </p:cNvPr>
          <p:cNvCxnSpPr/>
          <p:nvPr/>
        </p:nvCxnSpPr>
        <p:spPr>
          <a:xfrm flipH="1" flipV="1">
            <a:off x="5595269" y="4433825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descr="simulating the effect of union with lazy approach">
            <a:extLst>
              <a:ext uri="{FF2B5EF4-FFF2-40B4-BE49-F238E27FC236}">
                <a16:creationId xmlns:a16="http://schemas.microsoft.com/office/drawing/2014/main" id="{E2C81559-6639-7340-9AA6-7DD4A1B3D9D6}"/>
              </a:ext>
            </a:extLst>
          </p:cNvPr>
          <p:cNvCxnSpPr>
            <a:cxnSpLocks/>
            <a:stCxn id="53" idx="0"/>
            <a:endCxn id="26" idx="4"/>
          </p:cNvCxnSpPr>
          <p:nvPr/>
        </p:nvCxnSpPr>
        <p:spPr>
          <a:xfrm flipH="1" flipV="1">
            <a:off x="4418733" y="3245067"/>
            <a:ext cx="563525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8DAA70-E79A-7E46-B4FF-F728F3B3E369}"/>
              </a:ext>
            </a:extLst>
          </p:cNvPr>
          <p:cNvSpPr txBox="1"/>
          <p:nvPr/>
        </p:nvSpPr>
        <p:spPr>
          <a:xfrm>
            <a:off x="7060595" y="294462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union(5,0)</a:t>
            </a:r>
          </a:p>
        </p:txBody>
      </p:sp>
      <p:cxnSp>
        <p:nvCxnSpPr>
          <p:cNvPr id="24" name="Straight Connector 23" descr="simulating the effect of union with lazy approach">
            <a:extLst>
              <a:ext uri="{FF2B5EF4-FFF2-40B4-BE49-F238E27FC236}">
                <a16:creationId xmlns:a16="http://schemas.microsoft.com/office/drawing/2014/main" id="{4E8A603E-2BC7-2843-BDA8-BAA982A873AC}"/>
              </a:ext>
            </a:extLst>
          </p:cNvPr>
          <p:cNvCxnSpPr/>
          <p:nvPr/>
        </p:nvCxnSpPr>
        <p:spPr>
          <a:xfrm flipH="1" flipV="1">
            <a:off x="3753339" y="384760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ABB17D-4748-1049-9F66-F8BAE51B2AB5}"/>
              </a:ext>
            </a:extLst>
          </p:cNvPr>
          <p:cNvSpPr txBox="1"/>
          <p:nvPr/>
        </p:nvSpPr>
        <p:spPr>
          <a:xfrm>
            <a:off x="7060595" y="335829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union(6,1)</a:t>
            </a:r>
          </a:p>
        </p:txBody>
      </p:sp>
      <p:cxnSp>
        <p:nvCxnSpPr>
          <p:cNvPr id="6" name="Straight Connector 5" descr="simulating the effect of union with lazy approach">
            <a:extLst>
              <a:ext uri="{FF2B5EF4-FFF2-40B4-BE49-F238E27FC236}">
                <a16:creationId xmlns:a16="http://schemas.microsoft.com/office/drawing/2014/main" id="{41E34167-A3F0-2B4B-8FCA-02EB57651043}"/>
              </a:ext>
            </a:extLst>
          </p:cNvPr>
          <p:cNvCxnSpPr>
            <a:stCxn id="25" idx="0"/>
            <a:endCxn id="26" idx="3"/>
          </p:cNvCxnSpPr>
          <p:nvPr/>
        </p:nvCxnSpPr>
        <p:spPr>
          <a:xfrm flipV="1">
            <a:off x="3752100" y="3201068"/>
            <a:ext cx="560409" cy="357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855103C-BF70-2F4C-9AC5-360F3FEB487F}"/>
              </a:ext>
            </a:extLst>
          </p:cNvPr>
          <p:cNvSpPr txBox="1"/>
          <p:nvPr/>
        </p:nvSpPr>
        <p:spPr>
          <a:xfrm>
            <a:off x="7060595" y="372611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union(4,8)</a:t>
            </a:r>
          </a:p>
        </p:txBody>
      </p:sp>
      <p:cxnSp>
        <p:nvCxnSpPr>
          <p:cNvPr id="7" name="Straight Connector 6" descr="simulating the effect of union with lazy approach">
            <a:extLst>
              <a:ext uri="{FF2B5EF4-FFF2-40B4-BE49-F238E27FC236}">
                <a16:creationId xmlns:a16="http://schemas.microsoft.com/office/drawing/2014/main" id="{6F563529-FBD7-DC41-810C-65C0F29B0F76}"/>
              </a:ext>
            </a:extLst>
          </p:cNvPr>
          <p:cNvCxnSpPr>
            <a:stCxn id="54" idx="6"/>
            <a:endCxn id="52" idx="0"/>
          </p:cNvCxnSpPr>
          <p:nvPr/>
        </p:nvCxnSpPr>
        <p:spPr>
          <a:xfrm>
            <a:off x="5765018" y="3708746"/>
            <a:ext cx="430842" cy="424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5177FC5-C1B7-F54B-9D81-F566DC5DE3F5}"/>
              </a:ext>
            </a:extLst>
          </p:cNvPr>
          <p:cNvSpPr txBox="1"/>
          <p:nvPr/>
        </p:nvSpPr>
        <p:spPr>
          <a:xfrm>
            <a:off x="7052017" y="409393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union(5,4)</a:t>
            </a:r>
          </a:p>
        </p:txBody>
      </p:sp>
    </p:spTree>
    <p:extLst>
      <p:ext uri="{BB962C8B-B14F-4D97-AF65-F5344CB8AC3E}">
        <p14:creationId xmlns:p14="http://schemas.microsoft.com/office/powerpoint/2010/main" val="356426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2">
            <a:extLst>
              <a:ext uri="{FF2B5EF4-FFF2-40B4-BE49-F238E27FC236}">
                <a16:creationId xmlns:a16="http://schemas.microsoft.com/office/drawing/2014/main" id="{A28107ED-8269-4446-99A2-A612483F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Lazy approach (quick-union)</a:t>
            </a:r>
          </a:p>
          <a:p>
            <a:r>
              <a:rPr lang="en-US" dirty="0"/>
              <a:t>Demo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BB5AE-D344-6242-8417-3B81CEA46AE3}"/>
              </a:ext>
            </a:extLst>
          </p:cNvPr>
          <p:cNvSpPr/>
          <p:nvPr/>
        </p:nvSpPr>
        <p:spPr>
          <a:xfrm>
            <a:off x="3601877" y="3558427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2C7AF-1B35-9348-BAE0-3124055E38D3}"/>
              </a:ext>
            </a:extLst>
          </p:cNvPr>
          <p:cNvSpPr/>
          <p:nvPr/>
        </p:nvSpPr>
        <p:spPr>
          <a:xfrm>
            <a:off x="4268510" y="2944621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8884CB-6A67-464F-BAD9-746B2E96AF82}"/>
              </a:ext>
            </a:extLst>
          </p:cNvPr>
          <p:cNvSpPr/>
          <p:nvPr/>
        </p:nvSpPr>
        <p:spPr>
          <a:xfrm>
            <a:off x="5661290" y="3495938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D3C1EB-5A31-C746-899F-B15729207514}"/>
              </a:ext>
            </a:extLst>
          </p:cNvPr>
          <p:cNvSpPr/>
          <p:nvPr/>
        </p:nvSpPr>
        <p:spPr>
          <a:xfrm>
            <a:off x="4248049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FD92F6-B62E-FF46-8A6E-B161B8AFC711}"/>
              </a:ext>
            </a:extLst>
          </p:cNvPr>
          <p:cNvSpPr/>
          <p:nvPr/>
        </p:nvSpPr>
        <p:spPr>
          <a:xfrm>
            <a:off x="5671520" y="2913994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828302-9C33-A241-829A-6119EDC481AB}"/>
              </a:ext>
            </a:extLst>
          </p:cNvPr>
          <p:cNvSpPr/>
          <p:nvPr/>
        </p:nvSpPr>
        <p:spPr>
          <a:xfrm>
            <a:off x="3601877" y="413765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D9E781-6BE2-8445-8ED2-95A4E8705E9F}"/>
              </a:ext>
            </a:extLst>
          </p:cNvPr>
          <p:cNvSpPr/>
          <p:nvPr/>
        </p:nvSpPr>
        <p:spPr>
          <a:xfrm>
            <a:off x="3601878" y="4728145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B998DA-4FA2-954B-8996-6C6B2014E950}"/>
              </a:ext>
            </a:extLst>
          </p:cNvPr>
          <p:cNvSpPr/>
          <p:nvPr/>
        </p:nvSpPr>
        <p:spPr>
          <a:xfrm>
            <a:off x="6252584" y="2909720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333CFD-423A-8844-870A-2C94FA15FFBC}"/>
              </a:ext>
            </a:extLst>
          </p:cNvPr>
          <p:cNvSpPr/>
          <p:nvPr/>
        </p:nvSpPr>
        <p:spPr>
          <a:xfrm>
            <a:off x="4832035" y="3535113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09B54E-7096-8649-84E2-101023B82722}"/>
              </a:ext>
            </a:extLst>
          </p:cNvPr>
          <p:cNvSpPr/>
          <p:nvPr/>
        </p:nvSpPr>
        <p:spPr>
          <a:xfrm>
            <a:off x="5671520" y="2334864"/>
            <a:ext cx="300445" cy="3004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1A8A3BA-5C68-C74E-83D8-B931E5FD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946857"/>
              </p:ext>
            </p:extLst>
          </p:nvPr>
        </p:nvGraphicFramePr>
        <p:xfrm>
          <a:off x="1073084" y="2231905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4F99D9DD-4834-4643-ABA2-DC3C2AD9697D}"/>
              </a:ext>
            </a:extLst>
          </p:cNvPr>
          <p:cNvSpPr txBox="1"/>
          <p:nvPr/>
        </p:nvSpPr>
        <p:spPr>
          <a:xfrm>
            <a:off x="379455" y="2221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96C3B-AB85-8343-B4B1-DC93395A12FD}"/>
              </a:ext>
            </a:extLst>
          </p:cNvPr>
          <p:cNvSpPr txBox="1"/>
          <p:nvPr/>
        </p:nvSpPr>
        <p:spPr>
          <a:xfrm>
            <a:off x="1144160" y="18970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7E8D6-85E4-3347-BF20-6D7378020B84}"/>
              </a:ext>
            </a:extLst>
          </p:cNvPr>
          <p:cNvSpPr txBox="1"/>
          <p:nvPr/>
        </p:nvSpPr>
        <p:spPr>
          <a:xfrm>
            <a:off x="7070651" y="1467293"/>
            <a:ext cx="11833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union(6,5)</a:t>
            </a:r>
          </a:p>
          <a:p>
            <a:r>
              <a:rPr lang="en-US" dirty="0">
                <a:highlight>
                  <a:srgbClr val="D6D2C4"/>
                </a:highlight>
              </a:rPr>
              <a:t>union(2,1)</a:t>
            </a:r>
          </a:p>
          <a:p>
            <a:r>
              <a:rPr lang="en-US" dirty="0">
                <a:highlight>
                  <a:srgbClr val="D6D2C4"/>
                </a:highlight>
              </a:rPr>
              <a:t>union(7,1)</a:t>
            </a:r>
          </a:p>
          <a:p>
            <a:r>
              <a:rPr lang="en-US" dirty="0">
                <a:highlight>
                  <a:srgbClr val="D6D2C4"/>
                </a:highlight>
              </a:rPr>
              <a:t>union(4,3)</a:t>
            </a:r>
          </a:p>
          <a:p>
            <a:r>
              <a:rPr lang="en-US" dirty="0">
                <a:highlight>
                  <a:srgbClr val="D6D2C4"/>
                </a:highlight>
              </a:rPr>
              <a:t>union(9,8)</a:t>
            </a:r>
          </a:p>
        </p:txBody>
      </p:sp>
      <p:cxnSp>
        <p:nvCxnSpPr>
          <p:cNvPr id="5" name="Straight Connector 4" descr="simulating the effect of union with lazy approach">
            <a:extLst>
              <a:ext uri="{FF2B5EF4-FFF2-40B4-BE49-F238E27FC236}">
                <a16:creationId xmlns:a16="http://schemas.microsoft.com/office/drawing/2014/main" id="{D8B0800C-C7C5-B94D-A724-EC066F9CED21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3752100" y="4438099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 descr="simulating the effect of union with lazy approach">
            <a:extLst>
              <a:ext uri="{FF2B5EF4-FFF2-40B4-BE49-F238E27FC236}">
                <a16:creationId xmlns:a16="http://schemas.microsoft.com/office/drawing/2014/main" id="{810E8980-ECCB-FC42-8E06-E551ABAB8D88}"/>
              </a:ext>
            </a:extLst>
          </p:cNvPr>
          <p:cNvCxnSpPr/>
          <p:nvPr/>
        </p:nvCxnSpPr>
        <p:spPr>
          <a:xfrm flipH="1" flipV="1">
            <a:off x="4398271" y="3242834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 descr="simulating the effect of union with lazy approach">
            <a:extLst>
              <a:ext uri="{FF2B5EF4-FFF2-40B4-BE49-F238E27FC236}">
                <a16:creationId xmlns:a16="http://schemas.microsoft.com/office/drawing/2014/main" id="{4F19142F-21B9-3B4C-9DB4-4B5269177F65}"/>
              </a:ext>
            </a:extLst>
          </p:cNvPr>
          <p:cNvCxnSpPr/>
          <p:nvPr/>
        </p:nvCxnSpPr>
        <p:spPr>
          <a:xfrm flipH="1" flipV="1">
            <a:off x="5818778" y="2624408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 descr="simulating the effect of union with lazy approach">
            <a:extLst>
              <a:ext uri="{FF2B5EF4-FFF2-40B4-BE49-F238E27FC236}">
                <a16:creationId xmlns:a16="http://schemas.microsoft.com/office/drawing/2014/main" id="{806BC981-2467-8549-A13B-2DB1F282DC74}"/>
              </a:ext>
            </a:extLst>
          </p:cNvPr>
          <p:cNvCxnSpPr/>
          <p:nvPr/>
        </p:nvCxnSpPr>
        <p:spPr>
          <a:xfrm flipH="1" flipV="1">
            <a:off x="5802216" y="3210166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descr="simulating the effect of union with lazy approach">
            <a:extLst>
              <a:ext uri="{FF2B5EF4-FFF2-40B4-BE49-F238E27FC236}">
                <a16:creationId xmlns:a16="http://schemas.microsoft.com/office/drawing/2014/main" id="{E2C81559-6639-7340-9AA6-7DD4A1B3D9D6}"/>
              </a:ext>
            </a:extLst>
          </p:cNvPr>
          <p:cNvCxnSpPr>
            <a:cxnSpLocks/>
            <a:stCxn id="53" idx="0"/>
            <a:endCxn id="26" idx="4"/>
          </p:cNvCxnSpPr>
          <p:nvPr/>
        </p:nvCxnSpPr>
        <p:spPr>
          <a:xfrm flipH="1" flipV="1">
            <a:off x="4418733" y="3245067"/>
            <a:ext cx="563525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8DAA70-E79A-7E46-B4FF-F728F3B3E369}"/>
              </a:ext>
            </a:extLst>
          </p:cNvPr>
          <p:cNvSpPr txBox="1"/>
          <p:nvPr/>
        </p:nvSpPr>
        <p:spPr>
          <a:xfrm>
            <a:off x="7060595" y="294462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union(5,0)</a:t>
            </a:r>
          </a:p>
        </p:txBody>
      </p:sp>
      <p:cxnSp>
        <p:nvCxnSpPr>
          <p:cNvPr id="24" name="Straight Connector 23" descr="simulating the effect of union with lazy approach">
            <a:extLst>
              <a:ext uri="{FF2B5EF4-FFF2-40B4-BE49-F238E27FC236}">
                <a16:creationId xmlns:a16="http://schemas.microsoft.com/office/drawing/2014/main" id="{4E8A603E-2BC7-2843-BDA8-BAA982A873AC}"/>
              </a:ext>
            </a:extLst>
          </p:cNvPr>
          <p:cNvCxnSpPr/>
          <p:nvPr/>
        </p:nvCxnSpPr>
        <p:spPr>
          <a:xfrm flipH="1" flipV="1">
            <a:off x="3753339" y="3847607"/>
            <a:ext cx="1" cy="29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ABB17D-4748-1049-9F66-F8BAE51B2AB5}"/>
              </a:ext>
            </a:extLst>
          </p:cNvPr>
          <p:cNvSpPr txBox="1"/>
          <p:nvPr/>
        </p:nvSpPr>
        <p:spPr>
          <a:xfrm>
            <a:off x="7060595" y="335829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union(6,1)</a:t>
            </a:r>
          </a:p>
        </p:txBody>
      </p:sp>
      <p:cxnSp>
        <p:nvCxnSpPr>
          <p:cNvPr id="6" name="Straight Connector 5" descr="simulating the effect of union with lazy approach">
            <a:extLst>
              <a:ext uri="{FF2B5EF4-FFF2-40B4-BE49-F238E27FC236}">
                <a16:creationId xmlns:a16="http://schemas.microsoft.com/office/drawing/2014/main" id="{41E34167-A3F0-2B4B-8FCA-02EB57651043}"/>
              </a:ext>
            </a:extLst>
          </p:cNvPr>
          <p:cNvCxnSpPr>
            <a:stCxn id="25" idx="0"/>
            <a:endCxn id="26" idx="3"/>
          </p:cNvCxnSpPr>
          <p:nvPr/>
        </p:nvCxnSpPr>
        <p:spPr>
          <a:xfrm flipV="1">
            <a:off x="3752100" y="3201068"/>
            <a:ext cx="560409" cy="357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855103C-BF70-2F4C-9AC5-360F3FEB487F}"/>
              </a:ext>
            </a:extLst>
          </p:cNvPr>
          <p:cNvSpPr txBox="1"/>
          <p:nvPr/>
        </p:nvSpPr>
        <p:spPr>
          <a:xfrm>
            <a:off x="7060595" y="372611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union(4,8)</a:t>
            </a:r>
          </a:p>
        </p:txBody>
      </p:sp>
      <p:cxnSp>
        <p:nvCxnSpPr>
          <p:cNvPr id="7" name="Straight Connector 6" descr="simulating the effect of union with lazy approach">
            <a:extLst>
              <a:ext uri="{FF2B5EF4-FFF2-40B4-BE49-F238E27FC236}">
                <a16:creationId xmlns:a16="http://schemas.microsoft.com/office/drawing/2014/main" id="{6F563529-FBD7-DC41-810C-65C0F29B0F76}"/>
              </a:ext>
            </a:extLst>
          </p:cNvPr>
          <p:cNvCxnSpPr>
            <a:stCxn id="54" idx="6"/>
            <a:endCxn id="52" idx="0"/>
          </p:cNvCxnSpPr>
          <p:nvPr/>
        </p:nvCxnSpPr>
        <p:spPr>
          <a:xfrm>
            <a:off x="5971965" y="2485087"/>
            <a:ext cx="430842" cy="424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5177FC5-C1B7-F54B-9D81-F566DC5DE3F5}"/>
              </a:ext>
            </a:extLst>
          </p:cNvPr>
          <p:cNvSpPr txBox="1"/>
          <p:nvPr/>
        </p:nvSpPr>
        <p:spPr>
          <a:xfrm>
            <a:off x="7052017" y="4093935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D6D2C4"/>
                </a:highlight>
              </a:rPr>
              <a:t>union(5,4)</a:t>
            </a:r>
            <a:endParaRPr lang="en-US" dirty="0">
              <a:highlight>
                <a:srgbClr val="D6D2C4"/>
              </a:highlight>
            </a:endParaRPr>
          </a:p>
        </p:txBody>
      </p:sp>
      <p:cxnSp>
        <p:nvCxnSpPr>
          <p:cNvPr id="36" name="Straight Connector 35" descr="simulating the effect of union with lazy approach">
            <a:extLst>
              <a:ext uri="{FF2B5EF4-FFF2-40B4-BE49-F238E27FC236}">
                <a16:creationId xmlns:a16="http://schemas.microsoft.com/office/drawing/2014/main" id="{AFE46A9E-F595-8144-9DC7-D4A96A1CE28B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4568955" y="2501344"/>
            <a:ext cx="1088727" cy="593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912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CB9BB044-B32E-C040-9779-05ADD6D8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1003427"/>
            <a:ext cx="8360242" cy="3745062"/>
          </a:xfrm>
        </p:spPr>
        <p:txBody>
          <a:bodyPr/>
          <a:lstStyle/>
          <a:p>
            <a:r>
              <a:rPr lang="en-US" dirty="0"/>
              <a:t>(Pseudo)-code. Lazy approach (quick-union)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8A74-722E-074E-85D9-E4E7DC846F13}"/>
              </a:ext>
            </a:extLst>
          </p:cNvPr>
          <p:cNvSpPr txBox="1"/>
          <p:nvPr/>
        </p:nvSpPr>
        <p:spPr>
          <a:xfrm>
            <a:off x="478465" y="1679944"/>
            <a:ext cx="19511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</a:t>
            </a:r>
            <a:r>
              <a:rPr lang="en-US" sz="1200" dirty="0" err="1">
                <a:latin typeface="Courier" pitchFamily="2" charset="0"/>
              </a:rPr>
              <a:t>init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id = []</a:t>
            </a:r>
          </a:p>
          <a:p>
            <a:r>
              <a:rPr lang="en-US" sz="1200" dirty="0">
                <a:latin typeface="Courier" pitchFamily="2" charset="0"/>
              </a:rPr>
              <a:t>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 (N):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id.append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24858-B30C-294C-BD84-5E1876752D21}"/>
              </a:ext>
            </a:extLst>
          </p:cNvPr>
          <p:cNvSpPr txBox="1"/>
          <p:nvPr/>
        </p:nvSpPr>
        <p:spPr>
          <a:xfrm>
            <a:off x="2992722" y="1679944"/>
            <a:ext cx="1951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#root</a:t>
            </a:r>
          </a:p>
          <a:p>
            <a:r>
              <a:rPr lang="en-US" sz="1200" dirty="0">
                <a:latin typeface="Courier" pitchFamily="2" charset="0"/>
              </a:rPr>
              <a:t>def root(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while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!=id[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]: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</a:t>
            </a:r>
          </a:p>
          <a:p>
            <a:r>
              <a:rPr lang="en-US" sz="1200" dirty="0">
                <a:latin typeface="Courier" pitchFamily="2" charset="0"/>
              </a:rPr>
              <a:t>    return </a:t>
            </a:r>
            <a:r>
              <a:rPr lang="en-US" sz="1200" dirty="0" err="1">
                <a:latin typeface="Courier" pitchFamily="2" charset="0"/>
              </a:rPr>
              <a:t>i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046BA-F826-1D42-B8E5-8C4999A62642}"/>
              </a:ext>
            </a:extLst>
          </p:cNvPr>
          <p:cNvSpPr txBox="1"/>
          <p:nvPr/>
        </p:nvSpPr>
        <p:spPr>
          <a:xfrm>
            <a:off x="2992722" y="2797576"/>
            <a:ext cx="2787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#find</a:t>
            </a:r>
          </a:p>
          <a:p>
            <a:r>
              <a:rPr lang="en-US" sz="1200" dirty="0">
                <a:latin typeface="Courier" pitchFamily="2" charset="0"/>
              </a:rPr>
              <a:t>def find(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return root(u)==root(v)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589E-F681-6B47-97F3-335CCBAA7D7C}"/>
              </a:ext>
            </a:extLst>
          </p:cNvPr>
          <p:cNvSpPr txBox="1"/>
          <p:nvPr/>
        </p:nvSpPr>
        <p:spPr>
          <a:xfrm>
            <a:off x="6169997" y="1679944"/>
            <a:ext cx="26860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#union</a:t>
            </a:r>
          </a:p>
          <a:p>
            <a:r>
              <a:rPr lang="en-US" sz="1200" dirty="0">
                <a:latin typeface="Courier" pitchFamily="2" charset="0"/>
              </a:rPr>
              <a:t>def union(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=root(u)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=root(v)</a:t>
            </a:r>
          </a:p>
          <a:p>
            <a:r>
              <a:rPr lang="en-US" sz="1200" dirty="0">
                <a:latin typeface="Courier" pitchFamily="2" charset="0"/>
              </a:rPr>
              <a:t>    id[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]=</a:t>
            </a:r>
            <a:r>
              <a:rPr lang="en-US" sz="1200" dirty="0" err="1">
                <a:latin typeface="Courier" pitchFamily="2" charset="0"/>
              </a:rPr>
              <a:t>r_v</a:t>
            </a:r>
            <a:endParaRPr lang="en-US" sz="1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656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>
            <a:extLst>
              <a:ext uri="{FF2B5EF4-FFF2-40B4-BE49-F238E27FC236}">
                <a16:creationId xmlns:a16="http://schemas.microsoft.com/office/drawing/2014/main" id="{8A0ED656-4ABC-EB44-88EC-22939FDF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(Pseudo)-code. Lazy approach (quick-union)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F642D-7EC0-6D43-8FFE-1A635D5E224E}"/>
              </a:ext>
            </a:extLst>
          </p:cNvPr>
          <p:cNvSpPr txBox="1"/>
          <p:nvPr/>
        </p:nvSpPr>
        <p:spPr>
          <a:xfrm>
            <a:off x="478465" y="1679944"/>
            <a:ext cx="19511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</a:t>
            </a:r>
            <a:r>
              <a:rPr lang="en-US" sz="1200" dirty="0" err="1">
                <a:latin typeface="Courier" pitchFamily="2" charset="0"/>
              </a:rPr>
              <a:t>init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id = []</a:t>
            </a:r>
          </a:p>
          <a:p>
            <a:r>
              <a:rPr lang="en-US" sz="1200" dirty="0">
                <a:latin typeface="Courier" pitchFamily="2" charset="0"/>
              </a:rPr>
              <a:t>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 (N):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id.append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0BAE1-CCBE-304E-9710-51F8407EEDEF}"/>
              </a:ext>
            </a:extLst>
          </p:cNvPr>
          <p:cNvSpPr txBox="1"/>
          <p:nvPr/>
        </p:nvSpPr>
        <p:spPr>
          <a:xfrm>
            <a:off x="2992722" y="1679944"/>
            <a:ext cx="1951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#root</a:t>
            </a:r>
          </a:p>
          <a:p>
            <a:r>
              <a:rPr lang="en-US" sz="1200" dirty="0">
                <a:latin typeface="Courier" pitchFamily="2" charset="0"/>
              </a:rPr>
              <a:t>def root(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while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!=id[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]: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</a:t>
            </a:r>
          </a:p>
          <a:p>
            <a:r>
              <a:rPr lang="en-US" sz="1200" dirty="0">
                <a:latin typeface="Courier" pitchFamily="2" charset="0"/>
              </a:rPr>
              <a:t>    return </a:t>
            </a:r>
            <a:r>
              <a:rPr lang="en-US" sz="1200" dirty="0" err="1">
                <a:latin typeface="Courier" pitchFamily="2" charset="0"/>
              </a:rPr>
              <a:t>i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14904-391C-0A41-95FF-CAEA047F2C7A}"/>
              </a:ext>
            </a:extLst>
          </p:cNvPr>
          <p:cNvSpPr txBox="1"/>
          <p:nvPr/>
        </p:nvSpPr>
        <p:spPr>
          <a:xfrm>
            <a:off x="2992722" y="2797576"/>
            <a:ext cx="2694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#find</a:t>
            </a:r>
          </a:p>
          <a:p>
            <a:r>
              <a:rPr lang="en-US" sz="1200" dirty="0">
                <a:latin typeface="Courier" pitchFamily="2" charset="0"/>
              </a:rPr>
              <a:t>def find(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return root(u)==root(v)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D08EA-0F90-2449-BB96-D922E7016EC9}"/>
              </a:ext>
            </a:extLst>
          </p:cNvPr>
          <p:cNvSpPr txBox="1"/>
          <p:nvPr/>
        </p:nvSpPr>
        <p:spPr>
          <a:xfrm>
            <a:off x="6169997" y="1679944"/>
            <a:ext cx="26860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#union</a:t>
            </a:r>
          </a:p>
          <a:p>
            <a:r>
              <a:rPr lang="en-US" sz="1200" dirty="0">
                <a:latin typeface="Courier" pitchFamily="2" charset="0"/>
              </a:rPr>
              <a:t>def union(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=root(u)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=root(v)</a:t>
            </a:r>
          </a:p>
          <a:p>
            <a:r>
              <a:rPr lang="en-US" sz="1200" dirty="0">
                <a:latin typeface="Courier" pitchFamily="2" charset="0"/>
              </a:rPr>
              <a:t>    id[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]=</a:t>
            </a:r>
            <a:r>
              <a:rPr lang="en-US" sz="1200" dirty="0" err="1">
                <a:latin typeface="Courier" pitchFamily="2" charset="0"/>
              </a:rPr>
              <a:t>r_v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8FD96-9587-FC43-A19D-96F38FF0DFFD}"/>
              </a:ext>
            </a:extLst>
          </p:cNvPr>
          <p:cNvSpPr txBox="1"/>
          <p:nvPr/>
        </p:nvSpPr>
        <p:spPr>
          <a:xfrm>
            <a:off x="287999" y="3408610"/>
            <a:ext cx="639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 model. Number of array accesses (R/W)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B2E1D-DFB0-4441-878A-C4F71AFB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25468"/>
              </p:ext>
            </p:extLst>
          </p:nvPr>
        </p:nvGraphicFramePr>
        <p:xfrm>
          <a:off x="1026322" y="4054941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853082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737822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91623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37794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quick-union (lazy)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513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6250655-DFA3-8346-BF2A-BAE7A5F62837}"/>
              </a:ext>
            </a:extLst>
          </p:cNvPr>
          <p:cNvSpPr txBox="1"/>
          <p:nvPr/>
        </p:nvSpPr>
        <p:spPr>
          <a:xfrm>
            <a:off x="7351625" y="4306152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worst-case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FDC67F3-09D1-744A-B9C0-47980312B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14860" y="4481705"/>
            <a:ext cx="1005450" cy="276999"/>
          </a:xfrm>
          <a:prstGeom prst="rightArrow">
            <a:avLst>
              <a:gd name="adj1" fmla="val 36837"/>
              <a:gd name="adj2" fmla="val 6535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1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707B1EC0-B2B1-5A43-8D33-3BD90590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3. </a:t>
            </a:r>
            <a:r>
              <a:rPr lang="en-US" dirty="0"/>
              <a:t>Cost analysis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Quick-find: union too expensive (N array accesses)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Quick-union: find too expensive (could be N array accesses)</a:t>
            </a:r>
          </a:p>
          <a:p>
            <a:endParaRPr lang="en-US" baseline="30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D66992-66D3-A245-9C6D-AE1ED868F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979830"/>
              </p:ext>
            </p:extLst>
          </p:nvPr>
        </p:nvGraphicFramePr>
        <p:xfrm>
          <a:off x="1420120" y="3344169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853082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737822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91623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37794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quick-find (eager)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074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quick-union (lazy)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5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925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">
            <a:extLst>
              <a:ext uri="{FF2B5EF4-FFF2-40B4-BE49-F238E27FC236}">
                <a16:creationId xmlns:a16="http://schemas.microsoft.com/office/drawing/2014/main" id="{BB628A44-EA74-664B-A75F-5EC00C3C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Weighted quick-union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Modify quick-union to avoid tall trees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Additional data structure: keep track of </a:t>
            </a:r>
            <a:r>
              <a:rPr lang="en-US" sz="2000" dirty="0">
                <a:highlight>
                  <a:srgbClr val="D6D2C4"/>
                </a:highlight>
              </a:rPr>
              <a:t>size</a:t>
            </a:r>
            <a:r>
              <a:rPr lang="en-US" sz="2000" dirty="0"/>
              <a:t> of each tree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Union: link smaller tree to root of larger tree</a:t>
            </a:r>
          </a:p>
        </p:txBody>
      </p:sp>
      <p:grpSp>
        <p:nvGrpSpPr>
          <p:cNvPr id="3" name="Group 2" descr="graphical representation of the operation of weighted quick-union">
            <a:extLst>
              <a:ext uri="{FF2B5EF4-FFF2-40B4-BE49-F238E27FC236}">
                <a16:creationId xmlns:a16="http://schemas.microsoft.com/office/drawing/2014/main" id="{8F4A3917-9B61-C74E-A87F-5D9C2FB5092D}"/>
              </a:ext>
            </a:extLst>
          </p:cNvPr>
          <p:cNvGrpSpPr/>
          <p:nvPr/>
        </p:nvGrpSpPr>
        <p:grpSpPr>
          <a:xfrm>
            <a:off x="276829" y="2497917"/>
            <a:ext cx="8263465" cy="2410207"/>
            <a:chOff x="276829" y="2497917"/>
            <a:chExt cx="8263465" cy="241020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5BB5AE-D344-6242-8417-3B81CEA46AE3}"/>
                </a:ext>
              </a:extLst>
            </p:cNvPr>
            <p:cNvSpPr/>
            <p:nvPr/>
          </p:nvSpPr>
          <p:spPr>
            <a:xfrm>
              <a:off x="552036" y="35278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62C7AF-1B35-9348-BAE0-3124055E38D3}"/>
                </a:ext>
              </a:extLst>
            </p:cNvPr>
            <p:cNvSpPr/>
            <p:nvPr/>
          </p:nvSpPr>
          <p:spPr>
            <a:xfrm>
              <a:off x="1289155" y="317920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4" name="Trapezium 3">
              <a:extLst>
                <a:ext uri="{FF2B5EF4-FFF2-40B4-BE49-F238E27FC236}">
                  <a16:creationId xmlns:a16="http://schemas.microsoft.com/office/drawing/2014/main" id="{D7AFBD0D-27E0-0842-922A-8968124BCDEC}"/>
                </a:ext>
              </a:extLst>
            </p:cNvPr>
            <p:cNvSpPr/>
            <p:nvPr/>
          </p:nvSpPr>
          <p:spPr>
            <a:xfrm>
              <a:off x="276829" y="3831804"/>
              <a:ext cx="807410" cy="635257"/>
            </a:xfrm>
            <a:prstGeom prst="trapezoid">
              <a:avLst>
                <a:gd name="adj" fmla="val 5364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rapezium 31">
              <a:extLst>
                <a:ext uri="{FF2B5EF4-FFF2-40B4-BE49-F238E27FC236}">
                  <a16:creationId xmlns:a16="http://schemas.microsoft.com/office/drawing/2014/main" id="{2C119FE8-F57D-204C-BD69-0F39C5B860A7}"/>
                </a:ext>
              </a:extLst>
            </p:cNvPr>
            <p:cNvSpPr/>
            <p:nvPr/>
          </p:nvSpPr>
          <p:spPr>
            <a:xfrm>
              <a:off x="1078533" y="3469021"/>
              <a:ext cx="726618" cy="369332"/>
            </a:xfrm>
            <a:prstGeom prst="trapezoid">
              <a:avLst>
                <a:gd name="adj" fmla="val 7473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421C3-2FDD-944A-9012-CD33E8E37A65}"/>
                </a:ext>
              </a:extLst>
            </p:cNvPr>
            <p:cNvSpPr txBox="1"/>
            <p:nvPr/>
          </p:nvSpPr>
          <p:spPr>
            <a:xfrm>
              <a:off x="1626444" y="2497917"/>
              <a:ext cx="171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quick-union(</a:t>
              </a:r>
              <a:r>
                <a:rPr lang="en-US" dirty="0" err="1"/>
                <a:t>u,v</a:t>
              </a:r>
              <a:r>
                <a:rPr lang="en-US" dirty="0"/>
                <a:t>)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FF1BECB-25B7-5441-858C-65B5AEF9A466}"/>
                </a:ext>
              </a:extLst>
            </p:cNvPr>
            <p:cNvCxnSpPr/>
            <p:nvPr/>
          </p:nvCxnSpPr>
          <p:spPr>
            <a:xfrm>
              <a:off x="4678325" y="2513750"/>
              <a:ext cx="0" cy="239437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A419593-A12C-EE40-B64A-38AFFF4DCFD2}"/>
                </a:ext>
              </a:extLst>
            </p:cNvPr>
            <p:cNvSpPr txBox="1"/>
            <p:nvPr/>
          </p:nvSpPr>
          <p:spPr>
            <a:xfrm>
              <a:off x="5633787" y="2497917"/>
              <a:ext cx="2634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weighted quick-union(</a:t>
              </a:r>
              <a:r>
                <a:rPr lang="en-US" dirty="0" err="1"/>
                <a:t>u,v</a:t>
              </a:r>
              <a:r>
                <a:rPr lang="en-US" dirty="0"/>
                <a:t>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33350E-AE10-1F42-ABB0-684B92BC9910}"/>
                </a:ext>
              </a:extLst>
            </p:cNvPr>
            <p:cNvCxnSpPr>
              <a:stCxn id="25" idx="6"/>
              <a:endCxn id="26" idx="2"/>
            </p:cNvCxnSpPr>
            <p:nvPr/>
          </p:nvCxnSpPr>
          <p:spPr>
            <a:xfrm flipV="1">
              <a:off x="852481" y="3329430"/>
              <a:ext cx="436674" cy="34860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DFAB4AB-EA77-E649-929A-F329F155ADAA}"/>
                </a:ext>
              </a:extLst>
            </p:cNvPr>
            <p:cNvSpPr/>
            <p:nvPr/>
          </p:nvSpPr>
          <p:spPr>
            <a:xfrm>
              <a:off x="2331264" y="3560714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5A885D8-11E1-1246-873C-7CB017EECF6E}"/>
                </a:ext>
              </a:extLst>
            </p:cNvPr>
            <p:cNvSpPr/>
            <p:nvPr/>
          </p:nvSpPr>
          <p:spPr>
            <a:xfrm>
              <a:off x="3239663" y="3171916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36" name="Trapezium 35">
              <a:extLst>
                <a:ext uri="{FF2B5EF4-FFF2-40B4-BE49-F238E27FC236}">
                  <a16:creationId xmlns:a16="http://schemas.microsoft.com/office/drawing/2014/main" id="{AFF4570F-35F4-7844-B7AE-D02F41850404}"/>
                </a:ext>
              </a:extLst>
            </p:cNvPr>
            <p:cNvSpPr/>
            <p:nvPr/>
          </p:nvSpPr>
          <p:spPr>
            <a:xfrm>
              <a:off x="2984805" y="3473587"/>
              <a:ext cx="807410" cy="635257"/>
            </a:xfrm>
            <a:prstGeom prst="trapezoid">
              <a:avLst>
                <a:gd name="adj" fmla="val 5364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rapezium 36">
              <a:extLst>
                <a:ext uri="{FF2B5EF4-FFF2-40B4-BE49-F238E27FC236}">
                  <a16:creationId xmlns:a16="http://schemas.microsoft.com/office/drawing/2014/main" id="{96E660B4-1A9D-C742-9320-E4A3FEC1DB8A}"/>
                </a:ext>
              </a:extLst>
            </p:cNvPr>
            <p:cNvSpPr/>
            <p:nvPr/>
          </p:nvSpPr>
          <p:spPr>
            <a:xfrm>
              <a:off x="2118177" y="3864501"/>
              <a:ext cx="726618" cy="369332"/>
            </a:xfrm>
            <a:prstGeom prst="trapezoid">
              <a:avLst>
                <a:gd name="adj" fmla="val 7473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5C4C8F-6596-4649-9EEB-1F79CDB9607C}"/>
                </a:ext>
              </a:extLst>
            </p:cNvPr>
            <p:cNvCxnSpPr>
              <a:stCxn id="34" idx="6"/>
              <a:endCxn id="35" idx="2"/>
            </p:cNvCxnSpPr>
            <p:nvPr/>
          </p:nvCxnSpPr>
          <p:spPr>
            <a:xfrm flipV="1">
              <a:off x="2631709" y="3322139"/>
              <a:ext cx="607954" cy="388798"/>
            </a:xfrm>
            <a:prstGeom prst="line">
              <a:avLst/>
            </a:prstGeom>
            <a:ln w="22225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9C02C16-67F9-C044-BD28-2AE55D0EF97A}"/>
                </a:ext>
              </a:extLst>
            </p:cNvPr>
            <p:cNvSpPr/>
            <p:nvPr/>
          </p:nvSpPr>
          <p:spPr>
            <a:xfrm>
              <a:off x="5202598" y="319246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9600A33-3883-594D-9921-F0837E0FF1E6}"/>
                </a:ext>
              </a:extLst>
            </p:cNvPr>
            <p:cNvSpPr/>
            <p:nvPr/>
          </p:nvSpPr>
          <p:spPr>
            <a:xfrm>
              <a:off x="6048082" y="357468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41" name="Trapezium 40">
              <a:extLst>
                <a:ext uri="{FF2B5EF4-FFF2-40B4-BE49-F238E27FC236}">
                  <a16:creationId xmlns:a16="http://schemas.microsoft.com/office/drawing/2014/main" id="{2487C7C1-5A80-ED41-ADFA-1917C23C6AE6}"/>
                </a:ext>
              </a:extLst>
            </p:cNvPr>
            <p:cNvSpPr/>
            <p:nvPr/>
          </p:nvSpPr>
          <p:spPr>
            <a:xfrm>
              <a:off x="4950146" y="3492909"/>
              <a:ext cx="807410" cy="635257"/>
            </a:xfrm>
            <a:prstGeom prst="trapezoid">
              <a:avLst>
                <a:gd name="adj" fmla="val 5364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rapezium 41">
              <a:extLst>
                <a:ext uri="{FF2B5EF4-FFF2-40B4-BE49-F238E27FC236}">
                  <a16:creationId xmlns:a16="http://schemas.microsoft.com/office/drawing/2014/main" id="{DE4D4A8B-1A7E-8448-825F-1747D523DE07}"/>
                </a:ext>
              </a:extLst>
            </p:cNvPr>
            <p:cNvSpPr/>
            <p:nvPr/>
          </p:nvSpPr>
          <p:spPr>
            <a:xfrm>
              <a:off x="5837460" y="3864501"/>
              <a:ext cx="726618" cy="369332"/>
            </a:xfrm>
            <a:prstGeom prst="trapezoid">
              <a:avLst>
                <a:gd name="adj" fmla="val 7473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4AC46E5-7DAC-7346-A46E-418E8F4CD50B}"/>
                </a:ext>
              </a:extLst>
            </p:cNvPr>
            <p:cNvCxnSpPr>
              <a:stCxn id="39" idx="6"/>
              <a:endCxn id="40" idx="2"/>
            </p:cNvCxnSpPr>
            <p:nvPr/>
          </p:nvCxnSpPr>
          <p:spPr>
            <a:xfrm>
              <a:off x="5503043" y="3342686"/>
              <a:ext cx="545039" cy="382224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B0EBA0D-D1BC-0046-9637-E11F43E227B4}"/>
                </a:ext>
              </a:extLst>
            </p:cNvPr>
            <p:cNvSpPr/>
            <p:nvPr/>
          </p:nvSpPr>
          <p:spPr>
            <a:xfrm>
              <a:off x="7079343" y="355737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47F9FBE-EFFF-6747-A137-60C263A801E5}"/>
                </a:ext>
              </a:extLst>
            </p:cNvPr>
            <p:cNvSpPr/>
            <p:nvPr/>
          </p:nvSpPr>
          <p:spPr>
            <a:xfrm>
              <a:off x="7987742" y="316857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9E74E574-314C-7A47-BB15-0F16F9F08C41}"/>
                </a:ext>
              </a:extLst>
            </p:cNvPr>
            <p:cNvSpPr/>
            <p:nvPr/>
          </p:nvSpPr>
          <p:spPr>
            <a:xfrm>
              <a:off x="7732884" y="3470246"/>
              <a:ext cx="807410" cy="635257"/>
            </a:xfrm>
            <a:prstGeom prst="trapezoid">
              <a:avLst>
                <a:gd name="adj" fmla="val 5364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rapezium 46">
              <a:extLst>
                <a:ext uri="{FF2B5EF4-FFF2-40B4-BE49-F238E27FC236}">
                  <a16:creationId xmlns:a16="http://schemas.microsoft.com/office/drawing/2014/main" id="{A0ADFC50-5935-194C-B777-3474ABDF1F42}"/>
                </a:ext>
              </a:extLst>
            </p:cNvPr>
            <p:cNvSpPr/>
            <p:nvPr/>
          </p:nvSpPr>
          <p:spPr>
            <a:xfrm>
              <a:off x="6866256" y="3861160"/>
              <a:ext cx="726618" cy="369332"/>
            </a:xfrm>
            <a:prstGeom prst="trapezoid">
              <a:avLst>
                <a:gd name="adj" fmla="val 74737"/>
              </a:avLst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631A0CC-AD4A-D14F-B152-DB68B4C5211E}"/>
                </a:ext>
              </a:extLst>
            </p:cNvPr>
            <p:cNvCxnSpPr>
              <a:stCxn id="44" idx="6"/>
              <a:endCxn id="45" idx="2"/>
            </p:cNvCxnSpPr>
            <p:nvPr/>
          </p:nvCxnSpPr>
          <p:spPr>
            <a:xfrm flipV="1">
              <a:off x="7379788" y="3318798"/>
              <a:ext cx="607954" cy="388798"/>
            </a:xfrm>
            <a:prstGeom prst="line">
              <a:avLst/>
            </a:prstGeom>
            <a:ln w="22225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172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76EE3A50-FD51-0B4F-9ECD-EC3AE2AE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Weighted quick-union</a:t>
            </a:r>
          </a:p>
          <a:p>
            <a:r>
              <a:rPr lang="en-US" dirty="0"/>
              <a:t>Data structures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Integer array </a:t>
            </a:r>
            <a:r>
              <a:rPr lang="en-US" sz="2000" dirty="0">
                <a:latin typeface="Courier" pitchFamily="2" charset="0"/>
              </a:rPr>
              <a:t>id[]</a:t>
            </a:r>
            <a:r>
              <a:rPr lang="en-US" sz="2000" dirty="0"/>
              <a:t>of length </a:t>
            </a:r>
            <a:r>
              <a:rPr lang="en-US" sz="2000" dirty="0">
                <a:latin typeface="Courier" pitchFamily="2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sz="2000" dirty="0">
                <a:latin typeface="Courier" pitchFamily="2" charset="0"/>
              </a:rPr>
              <a:t>id[</a:t>
            </a:r>
            <a:r>
              <a:rPr lang="en-US" sz="2000" dirty="0" err="1">
                <a:latin typeface="Courier" pitchFamily="2" charset="0"/>
              </a:rPr>
              <a:t>i</a:t>
            </a:r>
            <a:r>
              <a:rPr lang="en-US" sz="2000" dirty="0">
                <a:latin typeface="Courier" pitchFamily="2" charset="0"/>
              </a:rPr>
              <a:t>]</a:t>
            </a:r>
            <a:r>
              <a:rPr lang="en-US" sz="2000" dirty="0"/>
              <a:t> being the parent of </a:t>
            </a:r>
            <a:r>
              <a:rPr lang="en-US" sz="2000" dirty="0" err="1">
                <a:latin typeface="Courier" pitchFamily="2" charset="0"/>
              </a:rPr>
              <a:t>i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Additional array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size[]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size[</a:t>
            </a:r>
            <a:r>
              <a:rPr lang="en-US" sz="20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being the number of objects in the tree rooted in </a:t>
            </a:r>
            <a:r>
              <a:rPr lang="en-US" sz="20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2000" dirty="0">
              <a:latin typeface="Courier" pitchFamily="2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B3B6C889-F51E-8B47-8F59-E396E1C2A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99285"/>
              </p:ext>
            </p:extLst>
          </p:nvPr>
        </p:nvGraphicFramePr>
        <p:xfrm>
          <a:off x="1078157" y="321010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616BFFE8-3542-FC46-934A-66F02E5176D2}"/>
              </a:ext>
            </a:extLst>
          </p:cNvPr>
          <p:cNvSpPr txBox="1"/>
          <p:nvPr/>
        </p:nvSpPr>
        <p:spPr>
          <a:xfrm>
            <a:off x="384528" y="319986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37E7FD-7DC3-0644-90A6-287796ABABB3}"/>
              </a:ext>
            </a:extLst>
          </p:cNvPr>
          <p:cNvSpPr txBox="1"/>
          <p:nvPr/>
        </p:nvSpPr>
        <p:spPr>
          <a:xfrm>
            <a:off x="1149233" y="287521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pSp>
        <p:nvGrpSpPr>
          <p:cNvPr id="3" name="Group 2" descr="graphical representation of the numerical example">
            <a:extLst>
              <a:ext uri="{FF2B5EF4-FFF2-40B4-BE49-F238E27FC236}">
                <a16:creationId xmlns:a16="http://schemas.microsoft.com/office/drawing/2014/main" id="{A7581AA0-2B20-124C-9853-D9640F1F1E44}"/>
              </a:ext>
            </a:extLst>
          </p:cNvPr>
          <p:cNvGrpSpPr/>
          <p:nvPr/>
        </p:nvGrpSpPr>
        <p:grpSpPr>
          <a:xfrm>
            <a:off x="5908206" y="2856031"/>
            <a:ext cx="2958428" cy="2093730"/>
            <a:chOff x="5908206" y="2856031"/>
            <a:chExt cx="2958428" cy="209373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30162FB-BD4D-AC42-A043-BC9AEB47102C}"/>
                </a:ext>
              </a:extLst>
            </p:cNvPr>
            <p:cNvSpPr/>
            <p:nvPr/>
          </p:nvSpPr>
          <p:spPr>
            <a:xfrm>
              <a:off x="6696627" y="346983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7A33016-BDB4-AE4C-97DA-E086245052BC}"/>
                </a:ext>
              </a:extLst>
            </p:cNvPr>
            <p:cNvSpPr/>
            <p:nvPr/>
          </p:nvSpPr>
          <p:spPr>
            <a:xfrm>
              <a:off x="7363260" y="285603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7DD125-BA7F-A948-9DC1-15C1DF5AA6D0}"/>
                </a:ext>
              </a:extLst>
            </p:cNvPr>
            <p:cNvSpPr/>
            <p:nvPr/>
          </p:nvSpPr>
          <p:spPr>
            <a:xfrm>
              <a:off x="5908206" y="406542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E7B84D1-8F7B-314C-9BC1-344E8A500045}"/>
                </a:ext>
              </a:extLst>
            </p:cNvPr>
            <p:cNvSpPr/>
            <p:nvPr/>
          </p:nvSpPr>
          <p:spPr>
            <a:xfrm>
              <a:off x="7342799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7B3456-7122-F94F-90F6-7F3215E93384}"/>
                </a:ext>
              </a:extLst>
            </p:cNvPr>
            <p:cNvSpPr/>
            <p:nvPr/>
          </p:nvSpPr>
          <p:spPr>
            <a:xfrm>
              <a:off x="5918436" y="348348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B1B130B-9290-DD48-B75B-D1E1336CF8A8}"/>
                </a:ext>
              </a:extLst>
            </p:cNvPr>
            <p:cNvSpPr/>
            <p:nvPr/>
          </p:nvSpPr>
          <p:spPr>
            <a:xfrm>
              <a:off x="6696627" y="404906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3EBD68B-BFF6-4D45-8894-83A2360B9225}"/>
                </a:ext>
              </a:extLst>
            </p:cNvPr>
            <p:cNvSpPr/>
            <p:nvPr/>
          </p:nvSpPr>
          <p:spPr>
            <a:xfrm>
              <a:off x="8566189" y="406019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FDFC9E8-B613-5E44-B7D9-5F18012B33E8}"/>
                </a:ext>
              </a:extLst>
            </p:cNvPr>
            <p:cNvSpPr/>
            <p:nvPr/>
          </p:nvSpPr>
          <p:spPr>
            <a:xfrm>
              <a:off x="7926785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91C27B-D16E-D043-854C-2F695015152E}"/>
                </a:ext>
              </a:extLst>
            </p:cNvPr>
            <p:cNvSpPr/>
            <p:nvPr/>
          </p:nvSpPr>
          <p:spPr>
            <a:xfrm>
              <a:off x="8559323" y="346993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BCC5B49-CF71-684D-918F-A9619EB7C31C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H="1" flipV="1">
              <a:off x="6846850" y="4349509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ABCDD9-CF87-154D-9F38-BD2B9C945DF0}"/>
                </a:ext>
              </a:extLst>
            </p:cNvPr>
            <p:cNvCxnSpPr/>
            <p:nvPr/>
          </p:nvCxnSpPr>
          <p:spPr>
            <a:xfrm flipH="1" flipV="1">
              <a:off x="7493021" y="3154244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1F7EDA-867A-374D-A090-FAAEADB086B1}"/>
                </a:ext>
              </a:extLst>
            </p:cNvPr>
            <p:cNvCxnSpPr/>
            <p:nvPr/>
          </p:nvCxnSpPr>
          <p:spPr>
            <a:xfrm flipH="1" flipV="1">
              <a:off x="8706581" y="375947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1D86886-5505-B642-B663-F49E31D02379}"/>
                </a:ext>
              </a:extLst>
            </p:cNvPr>
            <p:cNvCxnSpPr/>
            <p:nvPr/>
          </p:nvCxnSpPr>
          <p:spPr>
            <a:xfrm flipH="1" flipV="1">
              <a:off x="6049132" y="3779653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92AEFC-D474-794A-8988-2ACBAE2BCCC8}"/>
                </a:ext>
              </a:extLst>
            </p:cNvPr>
            <p:cNvCxnSpPr>
              <a:cxnSpLocks/>
              <a:stCxn id="52" idx="0"/>
              <a:endCxn id="28" idx="4"/>
            </p:cNvCxnSpPr>
            <p:nvPr/>
          </p:nvCxnSpPr>
          <p:spPr>
            <a:xfrm flipH="1" flipV="1">
              <a:off x="7513483" y="3156477"/>
              <a:ext cx="563525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38683F-7720-2047-9F76-8DC3E71919C8}"/>
                </a:ext>
              </a:extLst>
            </p:cNvPr>
            <p:cNvCxnSpPr/>
            <p:nvPr/>
          </p:nvCxnSpPr>
          <p:spPr>
            <a:xfrm flipH="1" flipV="1">
              <a:off x="6848089" y="375901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07B69-D2AE-1E4B-A3BB-589FC872ECF7}"/>
                </a:ext>
              </a:extLst>
            </p:cNvPr>
            <p:cNvCxnSpPr>
              <a:stCxn id="27" idx="0"/>
              <a:endCxn id="28" idx="3"/>
            </p:cNvCxnSpPr>
            <p:nvPr/>
          </p:nvCxnSpPr>
          <p:spPr>
            <a:xfrm flipV="1">
              <a:off x="6846850" y="3112478"/>
              <a:ext cx="560409" cy="3573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51D05AA-64E2-CA4C-B166-1EBD4967407F}"/>
                </a:ext>
              </a:extLst>
            </p:cNvPr>
            <p:cNvSpPr/>
            <p:nvPr/>
          </p:nvSpPr>
          <p:spPr>
            <a:xfrm>
              <a:off x="6703626" y="464931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85DB36FE-BF5E-A946-8FF7-8D754A257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934250"/>
              </p:ext>
            </p:extLst>
          </p:nvPr>
        </p:nvGraphicFramePr>
        <p:xfrm>
          <a:off x="1084044" y="3694584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37F9EA8F-FC6F-4643-87D4-D16E0F4CC71A}"/>
              </a:ext>
            </a:extLst>
          </p:cNvPr>
          <p:cNvSpPr txBox="1"/>
          <p:nvPr/>
        </p:nvSpPr>
        <p:spPr>
          <a:xfrm>
            <a:off x="102063" y="37054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size[]</a:t>
            </a:r>
          </a:p>
        </p:txBody>
      </p:sp>
    </p:spTree>
    <p:extLst>
      <p:ext uri="{BB962C8B-B14F-4D97-AF65-F5344CB8AC3E}">
        <p14:creationId xmlns:p14="http://schemas.microsoft.com/office/powerpoint/2010/main" val="3701873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43CFAD5A-DE11-E640-8279-F2CEFC1A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Weighted quick-union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 is unchanged: root(u)==root(v)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Union(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u,v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): link root of smaller tree to root of larger tree and update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size[]</a:t>
            </a:r>
          </a:p>
          <a:p>
            <a:endParaRPr lang="en-US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B3B6C889-F51E-8B47-8F59-E396E1C2A27C}"/>
              </a:ext>
            </a:extLst>
          </p:cNvPr>
          <p:cNvGraphicFramePr>
            <a:graphicFrameLocks noGrp="1"/>
          </p:cNvGraphicFramePr>
          <p:nvPr/>
        </p:nvGraphicFramePr>
        <p:xfrm>
          <a:off x="1078157" y="321010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616BFFE8-3542-FC46-934A-66F02E5176D2}"/>
              </a:ext>
            </a:extLst>
          </p:cNvPr>
          <p:cNvSpPr txBox="1"/>
          <p:nvPr/>
        </p:nvSpPr>
        <p:spPr>
          <a:xfrm>
            <a:off x="384528" y="319986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37E7FD-7DC3-0644-90A6-287796ABABB3}"/>
              </a:ext>
            </a:extLst>
          </p:cNvPr>
          <p:cNvSpPr txBox="1"/>
          <p:nvPr/>
        </p:nvSpPr>
        <p:spPr>
          <a:xfrm>
            <a:off x="1149233" y="287521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pSp>
        <p:nvGrpSpPr>
          <p:cNvPr id="3" name="Group 2" descr="graphical representation of the numerical example">
            <a:extLst>
              <a:ext uri="{FF2B5EF4-FFF2-40B4-BE49-F238E27FC236}">
                <a16:creationId xmlns:a16="http://schemas.microsoft.com/office/drawing/2014/main" id="{A3EF7A83-E21F-424A-9B08-989325F8CAF1}"/>
              </a:ext>
            </a:extLst>
          </p:cNvPr>
          <p:cNvGrpSpPr/>
          <p:nvPr/>
        </p:nvGrpSpPr>
        <p:grpSpPr>
          <a:xfrm>
            <a:off x="5908206" y="2856031"/>
            <a:ext cx="2958428" cy="2093730"/>
            <a:chOff x="5908206" y="2856031"/>
            <a:chExt cx="2958428" cy="209373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30162FB-BD4D-AC42-A043-BC9AEB47102C}"/>
                </a:ext>
              </a:extLst>
            </p:cNvPr>
            <p:cNvSpPr/>
            <p:nvPr/>
          </p:nvSpPr>
          <p:spPr>
            <a:xfrm>
              <a:off x="6696627" y="346983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7A33016-BDB4-AE4C-97DA-E086245052BC}"/>
                </a:ext>
              </a:extLst>
            </p:cNvPr>
            <p:cNvSpPr/>
            <p:nvPr/>
          </p:nvSpPr>
          <p:spPr>
            <a:xfrm>
              <a:off x="7363260" y="285603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7DD125-BA7F-A948-9DC1-15C1DF5AA6D0}"/>
                </a:ext>
              </a:extLst>
            </p:cNvPr>
            <p:cNvSpPr/>
            <p:nvPr/>
          </p:nvSpPr>
          <p:spPr>
            <a:xfrm>
              <a:off x="5908206" y="406542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E7B84D1-8F7B-314C-9BC1-344E8A500045}"/>
                </a:ext>
              </a:extLst>
            </p:cNvPr>
            <p:cNvSpPr/>
            <p:nvPr/>
          </p:nvSpPr>
          <p:spPr>
            <a:xfrm>
              <a:off x="7342799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7B3456-7122-F94F-90F6-7F3215E93384}"/>
                </a:ext>
              </a:extLst>
            </p:cNvPr>
            <p:cNvSpPr/>
            <p:nvPr/>
          </p:nvSpPr>
          <p:spPr>
            <a:xfrm>
              <a:off x="5918436" y="348348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B1B130B-9290-DD48-B75B-D1E1336CF8A8}"/>
                </a:ext>
              </a:extLst>
            </p:cNvPr>
            <p:cNvSpPr/>
            <p:nvPr/>
          </p:nvSpPr>
          <p:spPr>
            <a:xfrm>
              <a:off x="6696627" y="404906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3EBD68B-BFF6-4D45-8894-83A2360B9225}"/>
                </a:ext>
              </a:extLst>
            </p:cNvPr>
            <p:cNvSpPr/>
            <p:nvPr/>
          </p:nvSpPr>
          <p:spPr>
            <a:xfrm>
              <a:off x="8566189" y="406019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FDFC9E8-B613-5E44-B7D9-5F18012B33E8}"/>
                </a:ext>
              </a:extLst>
            </p:cNvPr>
            <p:cNvSpPr/>
            <p:nvPr/>
          </p:nvSpPr>
          <p:spPr>
            <a:xfrm>
              <a:off x="7926785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91C27B-D16E-D043-854C-2F695015152E}"/>
                </a:ext>
              </a:extLst>
            </p:cNvPr>
            <p:cNvSpPr/>
            <p:nvPr/>
          </p:nvSpPr>
          <p:spPr>
            <a:xfrm>
              <a:off x="8559323" y="346993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BCC5B49-CF71-684D-918F-A9619EB7C31C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H="1" flipV="1">
              <a:off x="6846850" y="4349509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ABCDD9-CF87-154D-9F38-BD2B9C945DF0}"/>
                </a:ext>
              </a:extLst>
            </p:cNvPr>
            <p:cNvCxnSpPr/>
            <p:nvPr/>
          </p:nvCxnSpPr>
          <p:spPr>
            <a:xfrm flipH="1" flipV="1">
              <a:off x="7493021" y="3154244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1F7EDA-867A-374D-A090-FAAEADB086B1}"/>
                </a:ext>
              </a:extLst>
            </p:cNvPr>
            <p:cNvCxnSpPr/>
            <p:nvPr/>
          </p:nvCxnSpPr>
          <p:spPr>
            <a:xfrm flipH="1" flipV="1">
              <a:off x="8706581" y="375947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1D86886-5505-B642-B663-F49E31D02379}"/>
                </a:ext>
              </a:extLst>
            </p:cNvPr>
            <p:cNvCxnSpPr/>
            <p:nvPr/>
          </p:nvCxnSpPr>
          <p:spPr>
            <a:xfrm flipH="1" flipV="1">
              <a:off x="6049132" y="3779653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92AEFC-D474-794A-8988-2ACBAE2BCCC8}"/>
                </a:ext>
              </a:extLst>
            </p:cNvPr>
            <p:cNvCxnSpPr>
              <a:cxnSpLocks/>
              <a:stCxn id="52" idx="0"/>
              <a:endCxn id="28" idx="4"/>
            </p:cNvCxnSpPr>
            <p:nvPr/>
          </p:nvCxnSpPr>
          <p:spPr>
            <a:xfrm flipH="1" flipV="1">
              <a:off x="7513483" y="3156477"/>
              <a:ext cx="563525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38683F-7720-2047-9F76-8DC3E71919C8}"/>
                </a:ext>
              </a:extLst>
            </p:cNvPr>
            <p:cNvCxnSpPr/>
            <p:nvPr/>
          </p:nvCxnSpPr>
          <p:spPr>
            <a:xfrm flipH="1" flipV="1">
              <a:off x="6848089" y="375901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07B69-D2AE-1E4B-A3BB-589FC872ECF7}"/>
                </a:ext>
              </a:extLst>
            </p:cNvPr>
            <p:cNvCxnSpPr>
              <a:stCxn id="27" idx="0"/>
              <a:endCxn id="28" idx="3"/>
            </p:cNvCxnSpPr>
            <p:nvPr/>
          </p:nvCxnSpPr>
          <p:spPr>
            <a:xfrm flipV="1">
              <a:off x="6846850" y="3112478"/>
              <a:ext cx="560409" cy="3573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51D05AA-64E2-CA4C-B166-1EBD4967407F}"/>
                </a:ext>
              </a:extLst>
            </p:cNvPr>
            <p:cNvSpPr/>
            <p:nvPr/>
          </p:nvSpPr>
          <p:spPr>
            <a:xfrm>
              <a:off x="6703626" y="464931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85DB36FE-BF5E-A946-8FF7-8D754A257D08}"/>
              </a:ext>
            </a:extLst>
          </p:cNvPr>
          <p:cNvGraphicFramePr>
            <a:graphicFrameLocks noGrp="1"/>
          </p:cNvGraphicFramePr>
          <p:nvPr/>
        </p:nvGraphicFramePr>
        <p:xfrm>
          <a:off x="1084044" y="3694584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37F9EA8F-FC6F-4643-87D4-D16E0F4CC71A}"/>
              </a:ext>
            </a:extLst>
          </p:cNvPr>
          <p:cNvSpPr txBox="1"/>
          <p:nvPr/>
        </p:nvSpPr>
        <p:spPr>
          <a:xfrm>
            <a:off x="102063" y="37054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size[]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79B06-713C-7543-8E56-6423396C845F}"/>
              </a:ext>
            </a:extLst>
          </p:cNvPr>
          <p:cNvSpPr txBox="1"/>
          <p:nvPr/>
        </p:nvSpPr>
        <p:spPr>
          <a:xfrm>
            <a:off x="495759" y="4494961"/>
            <a:ext cx="2099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weighted-union(5,8)</a:t>
            </a:r>
          </a:p>
        </p:txBody>
      </p:sp>
    </p:spTree>
    <p:extLst>
      <p:ext uri="{BB962C8B-B14F-4D97-AF65-F5344CB8AC3E}">
        <p14:creationId xmlns:p14="http://schemas.microsoft.com/office/powerpoint/2010/main" val="6702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2">
            <a:extLst>
              <a:ext uri="{FF2B5EF4-FFF2-40B4-BE49-F238E27FC236}">
                <a16:creationId xmlns:a16="http://schemas.microsoft.com/office/drawing/2014/main" id="{0CE401AA-33C6-2241-B89C-918D3BB3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CD4C4-F9AE-6242-BAD9-E3DDDB1F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Step 2</a:t>
            </a:r>
            <a:r>
              <a:rPr lang="en-US" dirty="0"/>
              <a:t>. Weighted quick-union</a:t>
            </a:r>
          </a:p>
          <a:p>
            <a:r>
              <a:rPr lang="en-US" dirty="0"/>
              <a:t>Operations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Find(</a:t>
            </a:r>
            <a:r>
              <a:rPr lang="en-US" sz="2000" dirty="0" err="1"/>
              <a:t>u,v</a:t>
            </a:r>
            <a:r>
              <a:rPr lang="en-US" sz="2000" dirty="0"/>
              <a:t>) is unchanged: root(u)==root(v)</a:t>
            </a:r>
            <a:endParaRPr lang="en-US" sz="2000" dirty="0">
              <a:latin typeface="Courier" pitchFamily="2" charset="0"/>
            </a:endParaRP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Union(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u,v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): link root of smaller tree to root of larger tree and update </a:t>
            </a:r>
            <a:r>
              <a:rPr lang="en-US" sz="2000" dirty="0">
                <a:latin typeface="Courier" pitchFamily="2" charset="0"/>
                <a:cs typeface="Arial" panose="020B0604020202020204" pitchFamily="34" charset="0"/>
              </a:rPr>
              <a:t>size[]</a:t>
            </a:r>
          </a:p>
          <a:p>
            <a:endParaRPr lang="en-US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B3B6C889-F51E-8B47-8F59-E396E1C2A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966451"/>
              </p:ext>
            </p:extLst>
          </p:nvPr>
        </p:nvGraphicFramePr>
        <p:xfrm>
          <a:off x="1078157" y="3210100"/>
          <a:ext cx="41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616BFFE8-3542-FC46-934A-66F02E5176D2}"/>
              </a:ext>
            </a:extLst>
          </p:cNvPr>
          <p:cNvSpPr txBox="1"/>
          <p:nvPr/>
        </p:nvSpPr>
        <p:spPr>
          <a:xfrm>
            <a:off x="384528" y="319986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id[]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37E7FD-7DC3-0644-90A6-287796ABABB3}"/>
              </a:ext>
            </a:extLst>
          </p:cNvPr>
          <p:cNvSpPr txBox="1"/>
          <p:nvPr/>
        </p:nvSpPr>
        <p:spPr>
          <a:xfrm>
            <a:off x="1149233" y="287521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0  1  2  3  4  5  6  7  8  9 </a:t>
            </a: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85DB36FE-BF5E-A946-8FF7-8D754A257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53133"/>
              </p:ext>
            </p:extLst>
          </p:nvPr>
        </p:nvGraphicFramePr>
        <p:xfrm>
          <a:off x="1084044" y="3694584"/>
          <a:ext cx="414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">
                  <a:extLst>
                    <a:ext uri="{9D8B030D-6E8A-4147-A177-3AD203B41FA5}">
                      <a16:colId xmlns:a16="http://schemas.microsoft.com/office/drawing/2014/main" val="2942330003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691797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52121215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11448224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4131155027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83068706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962770715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47568901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135465490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671733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+</a:t>
                      </a:r>
                    </a:p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8120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37F9EA8F-FC6F-4643-87D4-D16E0F4CC71A}"/>
              </a:ext>
            </a:extLst>
          </p:cNvPr>
          <p:cNvSpPr txBox="1"/>
          <p:nvPr/>
        </p:nvSpPr>
        <p:spPr>
          <a:xfrm>
            <a:off x="102063" y="37054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size[]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79B06-713C-7543-8E56-6423396C845F}"/>
              </a:ext>
            </a:extLst>
          </p:cNvPr>
          <p:cNvSpPr txBox="1"/>
          <p:nvPr/>
        </p:nvSpPr>
        <p:spPr>
          <a:xfrm>
            <a:off x="495759" y="4494961"/>
            <a:ext cx="2099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weighted-union(5,8)</a:t>
            </a:r>
          </a:p>
        </p:txBody>
      </p:sp>
      <p:grpSp>
        <p:nvGrpSpPr>
          <p:cNvPr id="3" name="Group 2" descr="graphical representation of the numerical example">
            <a:extLst>
              <a:ext uri="{FF2B5EF4-FFF2-40B4-BE49-F238E27FC236}">
                <a16:creationId xmlns:a16="http://schemas.microsoft.com/office/drawing/2014/main" id="{DF189163-5F75-D347-AF57-DDF2F22A61D1}"/>
              </a:ext>
            </a:extLst>
          </p:cNvPr>
          <p:cNvGrpSpPr/>
          <p:nvPr/>
        </p:nvGrpSpPr>
        <p:grpSpPr>
          <a:xfrm>
            <a:off x="5908206" y="2856031"/>
            <a:ext cx="2958428" cy="2093730"/>
            <a:chOff x="5908206" y="2856031"/>
            <a:chExt cx="2958428" cy="209373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30162FB-BD4D-AC42-A043-BC9AEB47102C}"/>
                </a:ext>
              </a:extLst>
            </p:cNvPr>
            <p:cNvSpPr/>
            <p:nvPr/>
          </p:nvSpPr>
          <p:spPr>
            <a:xfrm>
              <a:off x="6696627" y="3469837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7A33016-BDB4-AE4C-97DA-E086245052BC}"/>
                </a:ext>
              </a:extLst>
            </p:cNvPr>
            <p:cNvSpPr/>
            <p:nvPr/>
          </p:nvSpPr>
          <p:spPr>
            <a:xfrm>
              <a:off x="7363260" y="285603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7DD125-BA7F-A948-9DC1-15C1DF5AA6D0}"/>
                </a:ext>
              </a:extLst>
            </p:cNvPr>
            <p:cNvSpPr/>
            <p:nvPr/>
          </p:nvSpPr>
          <p:spPr>
            <a:xfrm>
              <a:off x="5908206" y="406542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E7B84D1-8F7B-314C-9BC1-344E8A500045}"/>
                </a:ext>
              </a:extLst>
            </p:cNvPr>
            <p:cNvSpPr/>
            <p:nvPr/>
          </p:nvSpPr>
          <p:spPr>
            <a:xfrm>
              <a:off x="7342799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7B3456-7122-F94F-90F6-7F3215E93384}"/>
                </a:ext>
              </a:extLst>
            </p:cNvPr>
            <p:cNvSpPr/>
            <p:nvPr/>
          </p:nvSpPr>
          <p:spPr>
            <a:xfrm>
              <a:off x="5918436" y="3483481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B1B130B-9290-DD48-B75B-D1E1336CF8A8}"/>
                </a:ext>
              </a:extLst>
            </p:cNvPr>
            <p:cNvSpPr/>
            <p:nvPr/>
          </p:nvSpPr>
          <p:spPr>
            <a:xfrm>
              <a:off x="6696627" y="404906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3EBD68B-BFF6-4D45-8894-83A2360B9225}"/>
                </a:ext>
              </a:extLst>
            </p:cNvPr>
            <p:cNvSpPr/>
            <p:nvPr/>
          </p:nvSpPr>
          <p:spPr>
            <a:xfrm>
              <a:off x="8566189" y="4060192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FDFC9E8-B613-5E44-B7D9-5F18012B33E8}"/>
                </a:ext>
              </a:extLst>
            </p:cNvPr>
            <p:cNvSpPr/>
            <p:nvPr/>
          </p:nvSpPr>
          <p:spPr>
            <a:xfrm>
              <a:off x="7926785" y="344652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C91C27B-D16E-D043-854C-2F695015152E}"/>
                </a:ext>
              </a:extLst>
            </p:cNvPr>
            <p:cNvSpPr/>
            <p:nvPr/>
          </p:nvSpPr>
          <p:spPr>
            <a:xfrm>
              <a:off x="8559323" y="3469933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BCC5B49-CF71-684D-918F-A9619EB7C31C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H="1" flipV="1">
              <a:off x="6846850" y="4349509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ABCDD9-CF87-154D-9F38-BD2B9C945DF0}"/>
                </a:ext>
              </a:extLst>
            </p:cNvPr>
            <p:cNvCxnSpPr/>
            <p:nvPr/>
          </p:nvCxnSpPr>
          <p:spPr>
            <a:xfrm flipH="1" flipV="1">
              <a:off x="7493021" y="3154244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1F7EDA-867A-374D-A090-FAAEADB086B1}"/>
                </a:ext>
              </a:extLst>
            </p:cNvPr>
            <p:cNvCxnSpPr/>
            <p:nvPr/>
          </p:nvCxnSpPr>
          <p:spPr>
            <a:xfrm flipH="1" flipV="1">
              <a:off x="8706581" y="375947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1D86886-5505-B642-B663-F49E31D02379}"/>
                </a:ext>
              </a:extLst>
            </p:cNvPr>
            <p:cNvCxnSpPr/>
            <p:nvPr/>
          </p:nvCxnSpPr>
          <p:spPr>
            <a:xfrm flipH="1" flipV="1">
              <a:off x="6049132" y="3779653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92AEFC-D474-794A-8988-2ACBAE2BCCC8}"/>
                </a:ext>
              </a:extLst>
            </p:cNvPr>
            <p:cNvCxnSpPr>
              <a:cxnSpLocks/>
              <a:stCxn id="52" idx="0"/>
              <a:endCxn id="28" idx="4"/>
            </p:cNvCxnSpPr>
            <p:nvPr/>
          </p:nvCxnSpPr>
          <p:spPr>
            <a:xfrm flipH="1" flipV="1">
              <a:off x="7513483" y="3156477"/>
              <a:ext cx="563525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38683F-7720-2047-9F76-8DC3E71919C8}"/>
                </a:ext>
              </a:extLst>
            </p:cNvPr>
            <p:cNvCxnSpPr/>
            <p:nvPr/>
          </p:nvCxnSpPr>
          <p:spPr>
            <a:xfrm flipH="1" flipV="1">
              <a:off x="6848089" y="3759017"/>
              <a:ext cx="1" cy="290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07B69-D2AE-1E4B-A3BB-589FC872ECF7}"/>
                </a:ext>
              </a:extLst>
            </p:cNvPr>
            <p:cNvCxnSpPr>
              <a:stCxn id="27" idx="0"/>
              <a:endCxn id="28" idx="3"/>
            </p:cNvCxnSpPr>
            <p:nvPr/>
          </p:nvCxnSpPr>
          <p:spPr>
            <a:xfrm flipV="1">
              <a:off x="6846850" y="3112478"/>
              <a:ext cx="560409" cy="3573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51D05AA-64E2-CA4C-B166-1EBD4967407F}"/>
                </a:ext>
              </a:extLst>
            </p:cNvPr>
            <p:cNvSpPr/>
            <p:nvPr/>
          </p:nvSpPr>
          <p:spPr>
            <a:xfrm>
              <a:off x="6703626" y="4649315"/>
              <a:ext cx="300445" cy="3004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1112359-9DD8-EA4F-9D66-FD04CA465DE1}"/>
                </a:ext>
              </a:extLst>
            </p:cNvPr>
            <p:cNvCxnSpPr>
              <a:stCxn id="53" idx="0"/>
              <a:endCxn id="28" idx="6"/>
            </p:cNvCxnSpPr>
            <p:nvPr/>
          </p:nvCxnSpPr>
          <p:spPr>
            <a:xfrm flipH="1" flipV="1">
              <a:off x="7663705" y="3006254"/>
              <a:ext cx="1045841" cy="46367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5325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B69484-A6B3-0948-9810-8B43084F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48FB58-C6D2-9C47-B54B-DEDCB77C8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(Pseudo)-code. Weighted quick-union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8A74-722E-074E-85D9-E4E7DC846F13}"/>
              </a:ext>
            </a:extLst>
          </p:cNvPr>
          <p:cNvSpPr txBox="1"/>
          <p:nvPr/>
        </p:nvSpPr>
        <p:spPr>
          <a:xfrm>
            <a:off x="478465" y="1679944"/>
            <a:ext cx="1951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</a:t>
            </a:r>
            <a:r>
              <a:rPr lang="en-US" sz="1200" dirty="0" err="1">
                <a:latin typeface="Courier" pitchFamily="2" charset="0"/>
              </a:rPr>
              <a:t>init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id = []</a:t>
            </a:r>
          </a:p>
          <a:p>
            <a:r>
              <a:rPr lang="en-US" sz="1200" dirty="0">
                <a:latin typeface="Courier" pitchFamily="2" charset="0"/>
              </a:rPr>
              <a:t>size =[]</a:t>
            </a:r>
          </a:p>
          <a:p>
            <a:r>
              <a:rPr lang="en-US" sz="1200" dirty="0">
                <a:latin typeface="Courier" pitchFamily="2" charset="0"/>
              </a:rPr>
              <a:t>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 (N):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id.append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size.append</a:t>
            </a:r>
            <a:r>
              <a:rPr lang="en-US" sz="1200" dirty="0">
                <a:latin typeface="Courier" pitchFamily="2" charset="0"/>
              </a:rPr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24858-B30C-294C-BD84-5E1876752D21}"/>
              </a:ext>
            </a:extLst>
          </p:cNvPr>
          <p:cNvSpPr txBox="1"/>
          <p:nvPr/>
        </p:nvSpPr>
        <p:spPr>
          <a:xfrm>
            <a:off x="2992722" y="1679944"/>
            <a:ext cx="1951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#root</a:t>
            </a:r>
          </a:p>
          <a:p>
            <a:r>
              <a:rPr lang="en-US" sz="1200" dirty="0">
                <a:latin typeface="Courier" pitchFamily="2" charset="0"/>
              </a:rPr>
              <a:t>def root(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while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!=id[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]: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=id[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]</a:t>
            </a:r>
          </a:p>
          <a:p>
            <a:r>
              <a:rPr lang="en-US" sz="1200" dirty="0">
                <a:latin typeface="Courier" pitchFamily="2" charset="0"/>
              </a:rPr>
              <a:t>    return </a:t>
            </a:r>
            <a:r>
              <a:rPr lang="en-US" sz="1200" dirty="0" err="1">
                <a:latin typeface="Courier" pitchFamily="2" charset="0"/>
              </a:rPr>
              <a:t>i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046BA-F826-1D42-B8E5-8C4999A62642}"/>
              </a:ext>
            </a:extLst>
          </p:cNvPr>
          <p:cNvSpPr txBox="1"/>
          <p:nvPr/>
        </p:nvSpPr>
        <p:spPr>
          <a:xfrm>
            <a:off x="2992722" y="2797576"/>
            <a:ext cx="2694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#find</a:t>
            </a:r>
          </a:p>
          <a:p>
            <a:r>
              <a:rPr lang="en-US" sz="1200" dirty="0">
                <a:latin typeface="Courier" pitchFamily="2" charset="0"/>
              </a:rPr>
              <a:t>def find(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return root(u)==root(v)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589E-F681-6B47-97F3-335CCBAA7D7C}"/>
              </a:ext>
            </a:extLst>
          </p:cNvPr>
          <p:cNvSpPr txBox="1"/>
          <p:nvPr/>
        </p:nvSpPr>
        <p:spPr>
          <a:xfrm>
            <a:off x="6169996" y="1679943"/>
            <a:ext cx="297400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#union</a:t>
            </a:r>
          </a:p>
          <a:p>
            <a:r>
              <a:rPr lang="en-US" sz="1200" dirty="0">
                <a:latin typeface="Courier" pitchFamily="2" charset="0"/>
              </a:rPr>
              <a:t>def union(</a:t>
            </a:r>
            <a:r>
              <a:rPr lang="en-US" sz="1200" dirty="0" err="1">
                <a:latin typeface="Courier" pitchFamily="2" charset="0"/>
              </a:rPr>
              <a:t>u,v</a:t>
            </a:r>
            <a:r>
              <a:rPr lang="en-US" sz="1200" dirty="0">
                <a:latin typeface="Courier" pitchFamily="2" charset="0"/>
              </a:rPr>
              <a:t>):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=root(u)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=root(v)</a:t>
            </a:r>
          </a:p>
          <a:p>
            <a:r>
              <a:rPr lang="en-US" sz="1200" dirty="0">
                <a:latin typeface="Courier" pitchFamily="2" charset="0"/>
              </a:rPr>
              <a:t>    if 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==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 return</a:t>
            </a:r>
          </a:p>
          <a:p>
            <a:r>
              <a:rPr lang="en-US" sz="1200" dirty="0">
                <a:latin typeface="Courier" pitchFamily="2" charset="0"/>
              </a:rPr>
              <a:t>    if size[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]&lt;size[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]:</a:t>
            </a:r>
          </a:p>
          <a:p>
            <a:r>
              <a:rPr lang="en-US" sz="1200" dirty="0">
                <a:latin typeface="Courier" pitchFamily="2" charset="0"/>
              </a:rPr>
              <a:t>	id[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]=</a:t>
            </a:r>
            <a:r>
              <a:rPr lang="en-US" sz="1200" dirty="0" err="1">
                <a:latin typeface="Courier" pitchFamily="2" charset="0"/>
              </a:rPr>
              <a:t>r_v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	size[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]+=size[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</a:t>
            </a:r>
          </a:p>
          <a:p>
            <a:r>
              <a:rPr lang="en-US" sz="1200" dirty="0">
                <a:latin typeface="Courier" pitchFamily="2" charset="0"/>
              </a:rPr>
              <a:t>    else</a:t>
            </a:r>
          </a:p>
          <a:p>
            <a:r>
              <a:rPr lang="en-US" sz="1200" dirty="0">
                <a:latin typeface="Courier" pitchFamily="2" charset="0"/>
              </a:rPr>
              <a:t>	id[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]=</a:t>
            </a:r>
            <a:r>
              <a:rPr lang="en-US" sz="1200" dirty="0" err="1">
                <a:latin typeface="Courier" pitchFamily="2" charset="0"/>
              </a:rPr>
              <a:t>r_u</a:t>
            </a:r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	size[</a:t>
            </a:r>
            <a:r>
              <a:rPr lang="en-US" sz="1200" dirty="0" err="1">
                <a:latin typeface="Courier" pitchFamily="2" charset="0"/>
              </a:rPr>
              <a:t>r_u</a:t>
            </a:r>
            <a:r>
              <a:rPr lang="en-US" sz="1200" dirty="0">
                <a:latin typeface="Courier" pitchFamily="2" charset="0"/>
              </a:rPr>
              <a:t>]+=size[</a:t>
            </a:r>
            <a:r>
              <a:rPr lang="en-US" sz="1200" dirty="0" err="1">
                <a:latin typeface="Courier" pitchFamily="2" charset="0"/>
              </a:rPr>
              <a:t>r_v</a:t>
            </a:r>
            <a:r>
              <a:rPr lang="en-US" sz="1200" dirty="0">
                <a:latin typeface="Courier" pitchFamily="2" charset="0"/>
              </a:rPr>
              <a:t>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635A0D-AADB-7E4F-942F-5A71B118B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79435"/>
              </p:ext>
            </p:extLst>
          </p:nvPr>
        </p:nvGraphicFramePr>
        <p:xfrm>
          <a:off x="839972" y="4054941"/>
          <a:ext cx="67410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493">
                  <a:extLst>
                    <a:ext uri="{9D8B030D-6E8A-4147-A177-3AD203B41FA5}">
                      <a16:colId xmlns:a16="http://schemas.microsoft.com/office/drawing/2014/main" val="3585308245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1073782236"/>
                    </a:ext>
                  </a:extLst>
                </a:gridCol>
                <a:gridCol w="1589569">
                  <a:extLst>
                    <a:ext uri="{9D8B030D-6E8A-4147-A177-3AD203B41FA5}">
                      <a16:colId xmlns:a16="http://schemas.microsoft.com/office/drawing/2014/main" val="1139162371"/>
                    </a:ext>
                  </a:extLst>
                </a:gridCol>
                <a:gridCol w="1685261">
                  <a:extLst>
                    <a:ext uri="{9D8B030D-6E8A-4147-A177-3AD203B41FA5}">
                      <a16:colId xmlns:a16="http://schemas.microsoft.com/office/drawing/2014/main" val="3937794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quick-union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lg N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lg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5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204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D7338D6-EFEF-954C-96FD-FDBDC391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88353-346A-1C40-83DA-D28323F1C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Further improvements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Bottleneck is root()</a:t>
            </a:r>
          </a:p>
          <a:p>
            <a:pPr marL="685800" lvl="1" indent="-342900">
              <a:buFont typeface="Wingdings" pitchFamily="2" charset="2"/>
              <a:buChar char="§"/>
            </a:pPr>
            <a:r>
              <a:rPr lang="en-US" sz="2000" dirty="0"/>
              <a:t>Quick-union with path compression</a:t>
            </a:r>
          </a:p>
        </p:txBody>
      </p:sp>
    </p:spTree>
    <p:extLst>
      <p:ext uri="{BB962C8B-B14F-4D97-AF65-F5344CB8AC3E}">
        <p14:creationId xmlns:p14="http://schemas.microsoft.com/office/powerpoint/2010/main" val="8919612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EF27DECA-2E65-EB4E-BAA6-59907C9A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52718"/>
            <a:ext cx="7886700" cy="587057"/>
          </a:xfrm>
        </p:spPr>
        <p:txBody>
          <a:bodyPr/>
          <a:lstStyle/>
          <a:p>
            <a:r>
              <a:rPr lang="en-US" dirty="0"/>
              <a:t>UNION-FIND (RECAP)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Steps to developing algorithms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Model the problem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Define data structures and algorithms to solve it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Define and </a:t>
            </a:r>
            <a:r>
              <a:rPr lang="en-US" sz="2000" dirty="0" err="1"/>
              <a:t>analyse</a:t>
            </a:r>
            <a:r>
              <a:rPr lang="en-US" sz="2000" dirty="0"/>
              <a:t> cost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Iterate until satisfied</a:t>
            </a:r>
          </a:p>
          <a:p>
            <a:pPr marL="457200" indent="-457200">
              <a:buAutoNum type="arabicPeriod"/>
            </a:pPr>
            <a:r>
              <a:rPr lang="en-US" dirty="0"/>
              <a:t>Analysis of algorithms</a:t>
            </a:r>
          </a:p>
          <a:p>
            <a:pPr marL="457200" indent="-457200">
              <a:buAutoNum type="arabicPeriod"/>
            </a:pPr>
            <a:r>
              <a:rPr lang="en-US" dirty="0"/>
              <a:t>Abstract Data Types (ADTs)</a:t>
            </a:r>
          </a:p>
        </p:txBody>
      </p:sp>
    </p:spTree>
    <p:extLst>
      <p:ext uri="{BB962C8B-B14F-4D97-AF65-F5344CB8AC3E}">
        <p14:creationId xmlns:p14="http://schemas.microsoft.com/office/powerpoint/2010/main" val="2921455318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5278</TotalTime>
  <Words>3614</Words>
  <Application>Microsoft Macintosh PowerPoint</Application>
  <PresentationFormat>On-screen Show (16:9)</PresentationFormat>
  <Paragraphs>1250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Courier</vt:lpstr>
      <vt:lpstr>Courier New</vt:lpstr>
      <vt:lpstr>Wingdings</vt:lpstr>
      <vt:lpstr>4_Custom Design</vt:lpstr>
      <vt:lpstr>COMP0005 – ALGORITHMS   1. Fundamentals</vt:lpstr>
      <vt:lpstr>CONTENT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</vt:lpstr>
      <vt:lpstr>UNION-FIND (RECAP)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STONE</dc:title>
  <dc:subject/>
  <dc:creator>Clayton, Janine</dc:creator>
  <cp:keywords/>
  <dc:description/>
  <cp:lastModifiedBy>Capra, Licia</cp:lastModifiedBy>
  <cp:revision>257</cp:revision>
  <dcterms:created xsi:type="dcterms:W3CDTF">2016-12-07T10:36:45Z</dcterms:created>
  <dcterms:modified xsi:type="dcterms:W3CDTF">2020-10-27T13:36:55Z</dcterms:modified>
  <cp:category/>
</cp:coreProperties>
</file>