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9"/>
  </p:notesMasterIdLst>
  <p:sldIdLst>
    <p:sldId id="266" r:id="rId3"/>
    <p:sldId id="257" r:id="rId4"/>
    <p:sldId id="271" r:id="rId5"/>
    <p:sldId id="270" r:id="rId6"/>
    <p:sldId id="267" r:id="rId7"/>
    <p:sldId id="272" r:id="rId8"/>
    <p:sldId id="274" r:id="rId9"/>
    <p:sldId id="282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68" r:id="rId18"/>
    <p:sldId id="283" r:id="rId19"/>
    <p:sldId id="284" r:id="rId20"/>
    <p:sldId id="286" r:id="rId21"/>
    <p:sldId id="287" r:id="rId22"/>
    <p:sldId id="289" r:id="rId23"/>
    <p:sldId id="295" r:id="rId24"/>
    <p:sldId id="296" r:id="rId25"/>
    <p:sldId id="297" r:id="rId26"/>
    <p:sldId id="291" r:id="rId27"/>
    <p:sldId id="298" r:id="rId28"/>
    <p:sldId id="299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24"/>
    <p:restoredTop sz="45392"/>
  </p:normalViewPr>
  <p:slideViewPr>
    <p:cSldViewPr snapToGrid="0" snapToObjects="1">
      <p:cViewPr varScale="1">
        <p:scale>
          <a:sx n="78" d="100"/>
          <a:sy n="78" d="100"/>
        </p:scale>
        <p:origin x="1568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3815A-4642-054F-9DCB-06468736115A}" type="datetimeFigureOut">
              <a:rPr lang="en-US" smtClean="0"/>
              <a:t>11/2/20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8918F-5AD9-E04B-8904-1D5B7230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4135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82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84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35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67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93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2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47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51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24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013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061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038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47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628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32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041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1958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87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656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917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539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415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832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540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90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120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754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125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754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239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154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083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9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1328022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999" y="1326291"/>
            <a:ext cx="11146989" cy="4993416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2117"/>
            <a:ext cx="12192000" cy="988484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8617264-77E5-D84E-B0FF-1EA9D2C4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99" y="190218"/>
            <a:ext cx="9382171" cy="651911"/>
          </a:xfrm>
          <a:prstGeom prst="rect">
            <a:avLst/>
          </a:prstGeom>
        </p:spPr>
        <p:txBody>
          <a:bodyPr/>
          <a:lstStyle>
            <a:lvl1pPr>
              <a:defRPr sz="4267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51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781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 dirty="0">
                <a:solidFill>
                  <a:schemeClr val="tx1"/>
                </a:solidFill>
              </a:rPr>
              <a:t>2. Sort Algorithms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668610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Elementary Sorts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Merge Sort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Quick Sort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Heap Sort</a:t>
            </a:r>
          </a:p>
        </p:txBody>
      </p:sp>
    </p:spTree>
    <p:extLst>
      <p:ext uri="{BB962C8B-B14F-4D97-AF65-F5344CB8AC3E}">
        <p14:creationId xmlns:p14="http://schemas.microsoft.com/office/powerpoint/2010/main" val="1414093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9721C5-64BB-C64A-930B-3DBAB89C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PROBLEM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348B81-D3C8-1445-B5F0-E18C4A675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Example: students enrolled in COMP005</a:t>
            </a:r>
          </a:p>
          <a:p>
            <a:endParaRPr lang="en-US" dirty="0"/>
          </a:p>
        </p:txBody>
      </p:sp>
      <p:pic>
        <p:nvPicPr>
          <p:cNvPr id="5" name="Picture 4" descr="A screenshot of ucl portico records of stduents enrolled in a course">
            <a:extLst>
              <a:ext uri="{FF2B5EF4-FFF2-40B4-BE49-F238E27FC236}">
                <a16:creationId xmlns:a16="http://schemas.microsoft.com/office/drawing/2014/main" id="{9E2E7C1E-7C8E-C04E-8E8F-EA1151FCB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99" y="2046778"/>
            <a:ext cx="11490325" cy="3310890"/>
          </a:xfrm>
          <a:prstGeom prst="rect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80794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Elementary Sorts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MergeSort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QuickSort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HeapSort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90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given an array </a:t>
            </a:r>
            <a:r>
              <a:rPr lang="en-US" dirty="0">
                <a:latin typeface="Courier" pitchFamily="2" charset="0"/>
              </a:rPr>
              <a:t>a</a:t>
            </a:r>
            <a:r>
              <a:rPr lang="en-US" dirty="0"/>
              <a:t> containing N integer numbers, sort the array in ascending order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588743"/>
              </p:ext>
            </p:extLst>
          </p:nvPr>
        </p:nvGraphicFramePr>
        <p:xfrm>
          <a:off x="3148429" y="3058160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an array of 8 elements in random order (input), and the same array but in ascending order (output)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473993"/>
              </p:ext>
            </p:extLst>
          </p:nvPr>
        </p:nvGraphicFramePr>
        <p:xfrm>
          <a:off x="3148429" y="2687320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743200" y="2975020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6750EEB-46DA-9D46-92EA-B68D7428A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14790"/>
              </p:ext>
            </p:extLst>
          </p:nvPr>
        </p:nvGraphicFramePr>
        <p:xfrm>
          <a:off x="3148429" y="4867109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A67D286-53F5-B14D-9944-15E16DFB1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438886"/>
              </p:ext>
            </p:extLst>
          </p:nvPr>
        </p:nvGraphicFramePr>
        <p:xfrm>
          <a:off x="3148429" y="4496269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8FD56EA-630C-B045-B552-D498DF600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743200" y="4783969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C4BEC614-E827-DE4D-8A8F-95FAF6659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75934" y="3603892"/>
            <a:ext cx="484632" cy="860044"/>
          </a:xfrm>
          <a:prstGeom prst="downArrow">
            <a:avLst/>
          </a:prstGeom>
          <a:noFill/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843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find the index </a:t>
            </a:r>
            <a:r>
              <a:rPr lang="en-US" dirty="0">
                <a:latin typeface="Courier" pitchFamily="2" charset="0"/>
              </a:rPr>
              <a:t>min</a:t>
            </a:r>
            <a:r>
              <a:rPr lang="en-US" dirty="0"/>
              <a:t> of the smallest </a:t>
            </a:r>
            <a:r>
              <a:rPr lang="en-US" i="1" dirty="0"/>
              <a:t>remaining</a:t>
            </a:r>
            <a:r>
              <a:rPr lang="en-US" dirty="0"/>
              <a:t> entry in the array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a[min]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441619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06591"/>
              </p:ext>
            </p:extLst>
          </p:nvPr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071186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find the index </a:t>
            </a:r>
            <a:r>
              <a:rPr lang="en-US" dirty="0">
                <a:latin typeface="Courier" pitchFamily="2" charset="0"/>
              </a:rPr>
              <a:t>min</a:t>
            </a:r>
            <a:r>
              <a:rPr lang="en-US" dirty="0"/>
              <a:t> of the smallest </a:t>
            </a:r>
            <a:r>
              <a:rPr lang="en-US" i="1" dirty="0"/>
              <a:t>remaining</a:t>
            </a:r>
            <a:r>
              <a:rPr lang="en-US" dirty="0"/>
              <a:t> entry in the array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a[min]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126211" y="3217572"/>
            <a:ext cx="546059" cy="5068297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67752" y="6090261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remaining entries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D9129E-48C7-CB4E-A8DD-D604E2EDC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93960" y="4179554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7CF348-FCFB-F840-8293-F6AFAE96C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894839" y="3762964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=0</a:t>
            </a:r>
          </a:p>
          <a:p>
            <a:endParaRPr lang="en-US" dirty="0">
              <a:latin typeface="Courier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99DA10-7536-3347-80ED-70C8A792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86866" y="4220552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94AFD97-EF49-2941-974E-52631B46B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687745" y="3803962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min=6</a:t>
            </a:r>
          </a:p>
          <a:p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90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find the index </a:t>
            </a:r>
            <a:r>
              <a:rPr lang="en-US" dirty="0">
                <a:latin typeface="Courier" pitchFamily="2" charset="0"/>
              </a:rPr>
              <a:t>min</a:t>
            </a:r>
            <a:r>
              <a:rPr lang="en-US" dirty="0"/>
              <a:t> of the smallest </a:t>
            </a:r>
            <a:r>
              <a:rPr lang="en-US" i="1" dirty="0"/>
              <a:t>remaining</a:t>
            </a:r>
            <a:r>
              <a:rPr lang="en-US" dirty="0"/>
              <a:t> entry in the array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a[min]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562707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D9129E-48C7-CB4E-A8DD-D604E2EDC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99267" y="4127128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7CF348-FCFB-F840-8293-F6AFAE96C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00146" y="3710538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=1</a:t>
            </a:r>
          </a:p>
          <a:p>
            <a:endParaRPr lang="en-US" dirty="0">
              <a:latin typeface="Courier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99DA10-7536-3347-80ED-70C8A792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80793" y="4148329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94AFD97-EF49-2941-974E-52631B46B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781672" y="3731739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min=3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763C594-6769-B940-B2F9-BB6C78C07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443737" y="3535101"/>
            <a:ext cx="546059" cy="4433243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F4DBB-7C93-F24E-859C-7104E4335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960229" y="6044038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remaining entries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39FD0D4E-9514-B845-B73D-D599F0D2F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909589" y="5465324"/>
            <a:ext cx="546059" cy="635053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DAF2DD-6C4E-C446-A2F9-393C15FB6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6011283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final order</a:t>
            </a:r>
          </a:p>
        </p:txBody>
      </p:sp>
    </p:spTree>
    <p:extLst>
      <p:ext uri="{BB962C8B-B14F-4D97-AF65-F5344CB8AC3E}">
        <p14:creationId xmlns:p14="http://schemas.microsoft.com/office/powerpoint/2010/main" val="396613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find the index </a:t>
            </a:r>
            <a:r>
              <a:rPr lang="en-US" dirty="0">
                <a:latin typeface="Courier" pitchFamily="2" charset="0"/>
              </a:rPr>
              <a:t>min</a:t>
            </a:r>
            <a:r>
              <a:rPr lang="en-US" dirty="0"/>
              <a:t> of the smallest </a:t>
            </a:r>
            <a:r>
              <a:rPr lang="en-US" i="1" dirty="0"/>
              <a:t>remaining</a:t>
            </a:r>
            <a:r>
              <a:rPr lang="en-US" dirty="0"/>
              <a:t> entry in the array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a[min]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618257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770531" y="3861895"/>
            <a:ext cx="546059" cy="3779654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960229" y="6044038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remaining entries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D9129E-48C7-CB4E-A8DD-D604E2EDC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2854" y="4168518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7CF348-FCFB-F840-8293-F6AFAE96C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53734" y="3764317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=2</a:t>
            </a:r>
          </a:p>
          <a:p>
            <a:endParaRPr lang="en-US" dirty="0">
              <a:latin typeface="Courier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99DA10-7536-3347-80ED-70C8A792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320015" y="4127129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94AFD97-EF49-2941-974E-52631B46B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020894" y="3710539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min=5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0356E028-8355-4D40-ACBD-FD5FF49A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236383" y="5138531"/>
            <a:ext cx="546059" cy="1288639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1D22D2-0D95-0E42-8E2E-89EA19D8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6011283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final order</a:t>
            </a:r>
          </a:p>
        </p:txBody>
      </p:sp>
    </p:spTree>
    <p:extLst>
      <p:ext uri="{BB962C8B-B14F-4D97-AF65-F5344CB8AC3E}">
        <p14:creationId xmlns:p14="http://schemas.microsoft.com/office/powerpoint/2010/main" val="273421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find the index </a:t>
            </a:r>
            <a:r>
              <a:rPr lang="en-US" dirty="0">
                <a:latin typeface="Courier" pitchFamily="2" charset="0"/>
              </a:rPr>
              <a:t>min</a:t>
            </a:r>
            <a:r>
              <a:rPr lang="en-US" dirty="0"/>
              <a:t> of the smallest </a:t>
            </a:r>
            <a:r>
              <a:rPr lang="en-US" i="1" dirty="0"/>
              <a:t>remaining</a:t>
            </a:r>
            <a:r>
              <a:rPr lang="en-US" dirty="0"/>
              <a:t> entry in the array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a[min]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66088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069816" y="4161181"/>
            <a:ext cx="546059" cy="3181084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960229" y="6044038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remaining entries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D9129E-48C7-CB4E-A8DD-D604E2EDC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146938" y="4135940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7CF348-FCFB-F840-8293-F6AFAE96C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847818" y="3731739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=3</a:t>
            </a:r>
          </a:p>
          <a:p>
            <a:endParaRPr lang="en-US" dirty="0">
              <a:latin typeface="Courier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99DA10-7536-3347-80ED-70C8A792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320015" y="4127129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94AFD97-EF49-2941-974E-52631B46B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020894" y="3710539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min=5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0356E028-8355-4D40-ACBD-FD5FF49A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535667" y="4839246"/>
            <a:ext cx="546059" cy="1887210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1D22D2-0D95-0E42-8E2E-89EA19D8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6011283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final order</a:t>
            </a:r>
          </a:p>
        </p:txBody>
      </p:sp>
    </p:spTree>
    <p:extLst>
      <p:ext uri="{BB962C8B-B14F-4D97-AF65-F5344CB8AC3E}">
        <p14:creationId xmlns:p14="http://schemas.microsoft.com/office/powerpoint/2010/main" val="184737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find the index </a:t>
            </a:r>
            <a:r>
              <a:rPr lang="en-US" dirty="0">
                <a:latin typeface="Courier" pitchFamily="2" charset="0"/>
              </a:rPr>
              <a:t>min</a:t>
            </a:r>
            <a:r>
              <a:rPr lang="en-US" dirty="0"/>
              <a:t> of the smallest </a:t>
            </a:r>
            <a:r>
              <a:rPr lang="en-US" i="1" dirty="0"/>
              <a:t>remaining</a:t>
            </a:r>
            <a:r>
              <a:rPr lang="en-US" dirty="0"/>
              <a:t> entry in the array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a[min]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10809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404990" y="4496356"/>
            <a:ext cx="546059" cy="2510735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805733" y="6023005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remaining entries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D9129E-48C7-CB4E-A8DD-D604E2EDC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21773" y="4134025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7CF348-FCFB-F840-8293-F6AFAE96C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22653" y="3729824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=4</a:t>
            </a:r>
          </a:p>
          <a:p>
            <a:endParaRPr lang="en-US" dirty="0">
              <a:latin typeface="Courier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99DA10-7536-3347-80ED-70C8A792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51080" y="4101266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94AFD97-EF49-2941-974E-52631B46B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651959" y="3684676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min=6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0356E028-8355-4D40-ACBD-FD5FF49A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870842" y="4504072"/>
            <a:ext cx="546059" cy="2557560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1D22D2-0D95-0E42-8E2E-89EA19D8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20920" y="602300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final order</a:t>
            </a:r>
          </a:p>
        </p:txBody>
      </p:sp>
    </p:spTree>
    <p:extLst>
      <p:ext uri="{BB962C8B-B14F-4D97-AF65-F5344CB8AC3E}">
        <p14:creationId xmlns:p14="http://schemas.microsoft.com/office/powerpoint/2010/main" val="326133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find the index </a:t>
            </a:r>
            <a:r>
              <a:rPr lang="en-US" dirty="0">
                <a:latin typeface="Courier" pitchFamily="2" charset="0"/>
              </a:rPr>
              <a:t>min</a:t>
            </a:r>
            <a:r>
              <a:rPr lang="en-US" dirty="0"/>
              <a:t> of the smallest </a:t>
            </a:r>
            <a:r>
              <a:rPr lang="en-US" i="1" dirty="0"/>
              <a:t>remaining</a:t>
            </a:r>
            <a:r>
              <a:rPr lang="en-US" dirty="0"/>
              <a:t> entry in the array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a[min]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168617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720522" y="4811889"/>
            <a:ext cx="546059" cy="1879669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805733" y="6023005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remaining entries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D9129E-48C7-CB4E-A8DD-D604E2EDC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352838" y="4122926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7CF348-FCFB-F840-8293-F6AFAE96C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053718" y="3718725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=5</a:t>
            </a:r>
          </a:p>
          <a:p>
            <a:endParaRPr lang="en-US" dirty="0">
              <a:latin typeface="Courier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99DA10-7536-3347-80ED-70C8A792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51080" y="4101266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94AFD97-EF49-2941-974E-52631B46B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651959" y="3684676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min=6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0356E028-8355-4D40-ACBD-FD5FF49A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4186374" y="4188540"/>
            <a:ext cx="546059" cy="3188625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1D22D2-0D95-0E42-8E2E-89EA19D8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20920" y="602300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final order</a:t>
            </a:r>
          </a:p>
        </p:txBody>
      </p:sp>
    </p:spTree>
    <p:extLst>
      <p:ext uri="{BB962C8B-B14F-4D97-AF65-F5344CB8AC3E}">
        <p14:creationId xmlns:p14="http://schemas.microsoft.com/office/powerpoint/2010/main" val="285084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find the index </a:t>
            </a:r>
            <a:r>
              <a:rPr lang="en-US" dirty="0">
                <a:latin typeface="Courier" pitchFamily="2" charset="0"/>
              </a:rPr>
              <a:t>min</a:t>
            </a:r>
            <a:r>
              <a:rPr lang="en-US" dirty="0"/>
              <a:t> of the smallest </a:t>
            </a:r>
            <a:r>
              <a:rPr lang="en-US" i="1" dirty="0"/>
              <a:t>remaining</a:t>
            </a:r>
            <a:r>
              <a:rPr lang="en-US" dirty="0"/>
              <a:t> entry in the array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a[min]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003510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009972" y="5101341"/>
            <a:ext cx="546059" cy="1300766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805733" y="6023005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remaining entries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D9129E-48C7-CB4E-A8DD-D604E2EDC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24014" y="4135940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7CF348-FCFB-F840-8293-F6AFAE96C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724894" y="3731739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=6</a:t>
            </a:r>
          </a:p>
          <a:p>
            <a:endParaRPr lang="en-US" dirty="0">
              <a:latin typeface="Courier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99DA10-7536-3347-80ED-70C8A792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622256" y="4139729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94AFD97-EF49-2941-974E-52631B46B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323135" y="3723139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min=7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0356E028-8355-4D40-ACBD-FD5FF49A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4475824" y="3899089"/>
            <a:ext cx="546059" cy="3767527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1D22D2-0D95-0E42-8E2E-89EA19D8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20920" y="602300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final order</a:t>
            </a:r>
          </a:p>
        </p:txBody>
      </p:sp>
    </p:spTree>
    <p:extLst>
      <p:ext uri="{BB962C8B-B14F-4D97-AF65-F5344CB8AC3E}">
        <p14:creationId xmlns:p14="http://schemas.microsoft.com/office/powerpoint/2010/main" val="172168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find the index </a:t>
            </a:r>
            <a:r>
              <a:rPr lang="en-US" dirty="0">
                <a:latin typeface="Courier" pitchFamily="2" charset="0"/>
              </a:rPr>
              <a:t>min</a:t>
            </a:r>
            <a:r>
              <a:rPr lang="en-US" dirty="0"/>
              <a:t> of the smallest </a:t>
            </a:r>
            <a:r>
              <a:rPr lang="en-US" i="1" dirty="0"/>
              <a:t>remaining</a:t>
            </a:r>
            <a:r>
              <a:rPr lang="en-US" dirty="0"/>
              <a:t> entry in the array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a[min]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840658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361234" y="5452604"/>
            <a:ext cx="546059" cy="598241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697009" y="5923764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remaining entries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D9129E-48C7-CB4E-A8DD-D604E2EDC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634264" y="4112930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7CF348-FCFB-F840-8293-F6AFAE96C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335144" y="3708729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=7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0356E028-8355-4D40-ACBD-FD5FF49A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4827086" y="3547826"/>
            <a:ext cx="546059" cy="4470053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1D22D2-0D95-0E42-8E2E-89EA19D8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20920" y="602300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final order</a:t>
            </a:r>
          </a:p>
        </p:txBody>
      </p:sp>
    </p:spTree>
    <p:extLst>
      <p:ext uri="{BB962C8B-B14F-4D97-AF65-F5344CB8AC3E}">
        <p14:creationId xmlns:p14="http://schemas.microsoft.com/office/powerpoint/2010/main" val="1830400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find the index </a:t>
            </a:r>
            <a:r>
              <a:rPr lang="en-US" dirty="0">
                <a:latin typeface="Courier" pitchFamily="2" charset="0"/>
              </a:rPr>
              <a:t>min</a:t>
            </a:r>
            <a:r>
              <a:rPr lang="en-US" dirty="0"/>
              <a:t> of the smallest </a:t>
            </a:r>
            <a:r>
              <a:rPr lang="en-US" i="1" dirty="0"/>
              <a:t>remaining</a:t>
            </a:r>
            <a:r>
              <a:rPr lang="en-US" dirty="0"/>
              <a:t> entry in the array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a[min]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0356E028-8355-4D40-ACBD-FD5FF49A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126205" y="3248706"/>
            <a:ext cx="546059" cy="5068294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1D22D2-0D95-0E42-8E2E-89EA19D8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483176" y="597698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final order</a:t>
            </a:r>
          </a:p>
        </p:txBody>
      </p:sp>
    </p:spTree>
    <p:extLst>
      <p:ext uri="{BB962C8B-B14F-4D97-AF65-F5344CB8AC3E}">
        <p14:creationId xmlns:p14="http://schemas.microsoft.com/office/powerpoint/2010/main" val="2171331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3CE1-0F60-3442-9247-FE5D8A4D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FA2F-1541-8543-A3CD-F636D54EB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Invariants</a:t>
            </a:r>
          </a:p>
          <a:p>
            <a:pPr lvl="1"/>
            <a:r>
              <a:rPr lang="en-US" dirty="0"/>
              <a:t>Entries to the left of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are fixed and sorted</a:t>
            </a:r>
          </a:p>
          <a:p>
            <a:pPr lvl="1"/>
            <a:r>
              <a:rPr lang="en-US" dirty="0"/>
              <a:t>No entry to the right of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(including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) is smaller than any entry to the left of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92CF89-5476-4646-9948-A1B221E60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927630"/>
              </p:ext>
            </p:extLst>
          </p:nvPr>
        </p:nvGraphicFramePr>
        <p:xfrm>
          <a:off x="2774942" y="3955722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F23C8D-195D-9F42-A9C2-02D235FAB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69713" y="3872582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623D9568-5E8F-0B4E-82F7-33CBA8E45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630370" y="3732956"/>
            <a:ext cx="546059" cy="1879669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AF388-8C96-5546-BCB9-9C05EE954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715581" y="4944072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remaining entries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0597FB-FEAE-4646-9EAB-4EF71CF34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301322" y="3417592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67E845D-3321-F242-B47A-177551865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40060" y="301490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3344FC7-6227-164E-9A9C-4D9FB1664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4096222" y="3109607"/>
            <a:ext cx="546059" cy="3188625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1B24B9-C3A9-0440-B934-F7406EC4B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430768" y="4944072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final order</a:t>
            </a:r>
          </a:p>
        </p:txBody>
      </p:sp>
    </p:spTree>
    <p:extLst>
      <p:ext uri="{BB962C8B-B14F-4D97-AF65-F5344CB8AC3E}">
        <p14:creationId xmlns:p14="http://schemas.microsoft.com/office/powerpoint/2010/main" val="4133452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3CE1-0F60-3442-9247-FE5D8A4D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FA2F-1541-8543-A3CD-F636D54EB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Invariants:</a:t>
            </a:r>
          </a:p>
          <a:p>
            <a:pPr lvl="1"/>
            <a:r>
              <a:rPr lang="en-US" dirty="0"/>
              <a:t>Entries to the left of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are fixed and sorted</a:t>
            </a:r>
          </a:p>
          <a:p>
            <a:pPr lvl="1"/>
            <a:r>
              <a:rPr lang="en-US" dirty="0"/>
              <a:t>No entry to the right of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(including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) is smaller than any entry to the left of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</a:t>
            </a:r>
          </a:p>
          <a:p>
            <a:r>
              <a:rPr lang="en-US" dirty="0"/>
              <a:t>To maintain invariants: </a:t>
            </a:r>
          </a:p>
          <a:p>
            <a:pPr lvl="1"/>
            <a:r>
              <a:rPr lang="en-US" dirty="0"/>
              <a:t>Scan left to right</a:t>
            </a:r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r>
              <a:rPr lang="en-US" dirty="0"/>
              <a:t>Identify index of min entry to the right</a:t>
            </a:r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r>
              <a:rPr lang="en-US" dirty="0"/>
              <a:t>Exchange into position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9FCD26-C06D-DF48-BBD5-0C668DC80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13514" y="3696564"/>
            <a:ext cx="737702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++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229502-DA8B-DC4B-90D0-4618B4764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13514" y="6297318"/>
            <a:ext cx="3502882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swap(a[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 a[min])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DC13FF-999B-F84D-8776-0583EDB85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13514" y="4535276"/>
            <a:ext cx="5715026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min=</a:t>
            </a:r>
            <a:r>
              <a:rPr lang="en-US" sz="2400" dirty="0" err="1">
                <a:latin typeface="Courier" pitchFamily="2" charset="0"/>
              </a:rPr>
              <a:t>i</a:t>
            </a:r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for(j=i+1; j&lt;N; </a:t>
            </a:r>
            <a:r>
              <a:rPr lang="en-US" sz="2400" dirty="0" err="1">
                <a:latin typeface="Courier" pitchFamily="2" charset="0"/>
              </a:rPr>
              <a:t>j++</a:t>
            </a:r>
            <a:r>
              <a:rPr lang="en-US" sz="2400" dirty="0">
                <a:latin typeface="Courier" pitchFamily="2" charset="0"/>
              </a:rPr>
              <a:t>)</a:t>
            </a:r>
          </a:p>
          <a:p>
            <a:r>
              <a:rPr lang="en-US" sz="2400" dirty="0">
                <a:latin typeface="Courier" pitchFamily="2" charset="0"/>
              </a:rPr>
              <a:t>    if (a[j] &lt; a[min]) min = j</a:t>
            </a:r>
          </a:p>
        </p:txBody>
      </p:sp>
    </p:spTree>
    <p:extLst>
      <p:ext uri="{BB962C8B-B14F-4D97-AF65-F5344CB8AC3E}">
        <p14:creationId xmlns:p14="http://schemas.microsoft.com/office/powerpoint/2010/main" val="2287191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FBF46-C96E-0A47-9396-44A5CE333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1F3F4-1886-314E-B190-505D76EA7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Complexity Analysis</a:t>
            </a:r>
          </a:p>
          <a:p>
            <a:pPr lvl="1"/>
            <a:r>
              <a:rPr lang="en-US" dirty="0"/>
              <a:t>Number of compares: (N-1)+(N-2)+…+1+0=N</a:t>
            </a:r>
            <a:r>
              <a:rPr lang="en-US" baseline="30000" dirty="0"/>
              <a:t>2</a:t>
            </a:r>
            <a:r>
              <a:rPr lang="en-US" dirty="0"/>
              <a:t>/2</a:t>
            </a:r>
          </a:p>
          <a:p>
            <a:pPr lvl="1"/>
            <a:r>
              <a:rPr lang="en-US" dirty="0"/>
              <a:t>Number of exchanges: N</a:t>
            </a:r>
          </a:p>
          <a:p>
            <a:pPr lvl="1"/>
            <a:r>
              <a:rPr lang="en-US" dirty="0" err="1"/>
              <a:t>Ω</a:t>
            </a:r>
            <a:r>
              <a:rPr lang="en-US" dirty="0"/>
              <a:t>(N</a:t>
            </a:r>
            <a:r>
              <a:rPr lang="en-US" baseline="30000" dirty="0"/>
              <a:t>2</a:t>
            </a:r>
            <a:r>
              <a:rPr lang="en-US" dirty="0"/>
              <a:t>) = </a:t>
            </a:r>
            <a:r>
              <a:rPr lang="en-US" dirty="0" err="1"/>
              <a:t>Θ</a:t>
            </a:r>
            <a:r>
              <a:rPr lang="en-US" dirty="0"/>
              <a:t>(N</a:t>
            </a:r>
            <a:r>
              <a:rPr lang="en-US" baseline="30000" dirty="0"/>
              <a:t>2</a:t>
            </a:r>
            <a:r>
              <a:rPr lang="en-US" dirty="0"/>
              <a:t>) = </a:t>
            </a:r>
            <a:r>
              <a:rPr lang="en-US" dirty="0" err="1"/>
              <a:t>Ο</a:t>
            </a:r>
            <a:r>
              <a:rPr lang="en-US" dirty="0"/>
              <a:t>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513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i="1" dirty="0"/>
              <a:t>each</a:t>
            </a:r>
            <a:r>
              <a:rPr lang="en-US" dirty="0"/>
              <a:t> larger entry to its </a:t>
            </a:r>
            <a:r>
              <a:rPr lang="en-US" i="1" dirty="0"/>
              <a:t>left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32697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i="1" dirty="0"/>
              <a:t>each</a:t>
            </a:r>
            <a:r>
              <a:rPr lang="en-US" dirty="0"/>
              <a:t> larger entry to its </a:t>
            </a:r>
            <a:r>
              <a:rPr lang="en-US" i="1" dirty="0"/>
              <a:t>left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440204" y="3531566"/>
            <a:ext cx="546059" cy="4440309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992523" y="6011283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yet seen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D9129E-48C7-CB4E-A8DD-D604E2EDC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93960" y="4166675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7CF348-FCFB-F840-8293-F6AFAE96C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894839" y="3762964"/>
            <a:ext cx="598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=0</a:t>
            </a:r>
          </a:p>
          <a:p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847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i="1" dirty="0"/>
              <a:t>each</a:t>
            </a:r>
            <a:r>
              <a:rPr lang="en-US" dirty="0"/>
              <a:t> larger entry to its </a:t>
            </a:r>
            <a:r>
              <a:rPr lang="en-US" i="1" dirty="0"/>
              <a:t>left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739323" y="3830687"/>
            <a:ext cx="546059" cy="3842068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992523" y="6011283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yet seen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7CF348-FCFB-F840-8293-F6AFAE96C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26927" y="35622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=1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E1C04AC-9D6D-854F-A62F-FE9B45603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922980" y="5447500"/>
            <a:ext cx="546059" cy="661834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F9BA0-37E2-F64F-AEB6-783C69CE0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77104" y="5966671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ascending order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0A278A-433C-1A48-B82A-71B13C42D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2146" y="4179554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9F3E07E-3084-D74F-A61A-CE54399F0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914641" y="3827410"/>
            <a:ext cx="1058767" cy="865404"/>
            <a:chOff x="2914641" y="3827410"/>
            <a:chExt cx="1058767" cy="86540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2178442-18CA-D743-82B6-71A89A364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3650884" y="382741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j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6BDEDE6-F2A3-654C-A2FE-83F20A286050}"/>
                </a:ext>
              </a:extLst>
            </p:cNvPr>
            <p:cNvGrpSpPr/>
            <p:nvPr/>
          </p:nvGrpSpPr>
          <p:grpSpPr>
            <a:xfrm>
              <a:off x="2914641" y="3865827"/>
              <a:ext cx="598241" cy="826987"/>
              <a:chOff x="2914641" y="3865827"/>
              <a:chExt cx="598241" cy="826987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5104B2B3-C3ED-5B48-80BA-DB73B45DA3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1814" y="4208553"/>
                <a:ext cx="0" cy="484261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22E8FD-F497-CA4D-9305-D855C9928B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2914641" y="3865827"/>
                <a:ext cx="598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urier" pitchFamily="2" charset="0"/>
                  </a:rPr>
                  <a:t>j-1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716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i="1" dirty="0"/>
              <a:t>each</a:t>
            </a:r>
            <a:r>
              <a:rPr lang="en-US" dirty="0"/>
              <a:t> larger entry to its </a:t>
            </a:r>
            <a:r>
              <a:rPr lang="en-US" i="1" dirty="0"/>
              <a:t>left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076255" y="4167620"/>
            <a:ext cx="546059" cy="3168204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992523" y="6011283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yet seen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7CF348-FCFB-F840-8293-F6AFAE96C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66941" y="3561754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=2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E1C04AC-9D6D-854F-A62F-FE9B45603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222100" y="5148380"/>
            <a:ext cx="546059" cy="1260075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F9BA0-37E2-F64F-AEB6-783C69CE0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77104" y="5966671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ascending order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0A278A-433C-1A48-B82A-71B13C42D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2160" y="4179086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2178442-18CA-D743-82B6-71A89A364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90898" y="382694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j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BDEDE6-F2A3-654C-A2FE-83F20A286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554655" y="3865359"/>
            <a:ext cx="598241" cy="826987"/>
            <a:chOff x="2914641" y="3865827"/>
            <a:chExt cx="598241" cy="826987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104B2B3-C3ED-5B48-80BA-DB73B45DA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3191814" y="4208553"/>
              <a:ext cx="0" cy="48426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422E8FD-F497-CA4D-9305-D855C9928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14641" y="3865827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j-1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676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i="1" dirty="0"/>
              <a:t>each</a:t>
            </a:r>
            <a:r>
              <a:rPr lang="en-US" dirty="0"/>
              <a:t> larger entry to its </a:t>
            </a:r>
            <a:r>
              <a:rPr lang="en-US" i="1" dirty="0"/>
              <a:t>left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271345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076255" y="4167620"/>
            <a:ext cx="546059" cy="3168204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992523" y="6011283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yet seen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7CF348-FCFB-F840-8293-F6AFAE96C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66941" y="3561754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0A278A-433C-1A48-B82A-71B13C42D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95339" y="4179086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2178442-18CA-D743-82B6-71A89A364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634077" y="38240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j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BDEDE6-F2A3-654C-A2FE-83F20A286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97834" y="3865359"/>
            <a:ext cx="598241" cy="826987"/>
            <a:chOff x="2914641" y="3865827"/>
            <a:chExt cx="598241" cy="826987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104B2B3-C3ED-5B48-80BA-DB73B45DA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3191814" y="4208553"/>
              <a:ext cx="0" cy="48426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422E8FD-F497-CA4D-9305-D855C9928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14641" y="3865827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j-1</a:t>
              </a:r>
            </a:p>
          </p:txBody>
        </p:sp>
      </p:grpSp>
      <p:sp>
        <p:nvSpPr>
          <p:cNvPr id="20" name="Right Brace 19">
            <a:extLst>
              <a:ext uri="{FF2B5EF4-FFF2-40B4-BE49-F238E27FC236}">
                <a16:creationId xmlns:a16="http://schemas.microsoft.com/office/drawing/2014/main" id="{1FE4305F-E33A-8D4C-ABDF-F5342CCD9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222100" y="5148380"/>
            <a:ext cx="546059" cy="1260075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EAB831-C37D-F74C-81FF-70D396E69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77104" y="5966671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ascending order</a:t>
            </a:r>
          </a:p>
        </p:txBody>
      </p:sp>
    </p:spTree>
    <p:extLst>
      <p:ext uri="{BB962C8B-B14F-4D97-AF65-F5344CB8AC3E}">
        <p14:creationId xmlns:p14="http://schemas.microsoft.com/office/powerpoint/2010/main" val="421217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i="1" dirty="0"/>
              <a:t>each</a:t>
            </a:r>
            <a:r>
              <a:rPr lang="en-US" dirty="0"/>
              <a:t> larger entry to its </a:t>
            </a:r>
            <a:r>
              <a:rPr lang="en-US" i="1" dirty="0"/>
              <a:t>left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618747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076255" y="4167620"/>
            <a:ext cx="546059" cy="3168204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992523" y="6011283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yet seen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7CF348-FCFB-F840-8293-F6AFAE96C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66941" y="3561754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BDEDE6-F2A3-654C-A2FE-83F20A286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00866" y="3865359"/>
            <a:ext cx="322524" cy="826987"/>
            <a:chOff x="3017673" y="3865827"/>
            <a:chExt cx="322524" cy="826987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104B2B3-C3ED-5B48-80BA-DB73B45DA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3191814" y="4208553"/>
              <a:ext cx="0" cy="48426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422E8FD-F497-CA4D-9305-D855C9928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3017673" y="386582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j</a:t>
              </a:r>
            </a:p>
          </p:txBody>
        </p:sp>
      </p:grpSp>
      <p:sp>
        <p:nvSpPr>
          <p:cNvPr id="20" name="Right Brace 19">
            <a:extLst>
              <a:ext uri="{FF2B5EF4-FFF2-40B4-BE49-F238E27FC236}">
                <a16:creationId xmlns:a16="http://schemas.microsoft.com/office/drawing/2014/main" id="{1FE4305F-E33A-8D4C-ABDF-F5342CCD9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222100" y="5148380"/>
            <a:ext cx="546059" cy="1260075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EAB831-C37D-F74C-81FF-70D396E69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77104" y="5966671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ascending order</a:t>
            </a:r>
          </a:p>
        </p:txBody>
      </p:sp>
    </p:spTree>
    <p:extLst>
      <p:ext uri="{BB962C8B-B14F-4D97-AF65-F5344CB8AC3E}">
        <p14:creationId xmlns:p14="http://schemas.microsoft.com/office/powerpoint/2010/main" val="2794505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i="1" dirty="0"/>
              <a:t>each</a:t>
            </a:r>
            <a:r>
              <a:rPr lang="en-US" dirty="0"/>
              <a:t> larger entry to its </a:t>
            </a:r>
            <a:r>
              <a:rPr lang="en-US" i="1" dirty="0"/>
              <a:t>left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60945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404665" y="4496033"/>
            <a:ext cx="546059" cy="2511380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647892" y="5986713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yet seen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E1C04AC-9D6D-854F-A62F-FE9B45603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550014" y="4820465"/>
            <a:ext cx="546059" cy="1915905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F9BA0-37E2-F64F-AEB6-783C69CE0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95886" y="6003931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ascending order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88B019-DCE2-B94D-BD8B-C544143B1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845851-82A9-F245-AF72-C58EBD865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780997" y="361964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000B7B-247B-6948-8B74-8A91D29D3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66216" y="4236977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10F24DD-F304-C942-8A6F-63B6484C8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904954" y="388483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j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B8E9BE-77B9-FF41-BFC4-5E940079A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226082" y="3829143"/>
            <a:ext cx="598241" cy="826987"/>
            <a:chOff x="2940399" y="3865827"/>
            <a:chExt cx="598241" cy="826987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EAAFA01-3030-3241-906D-8CDD43898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3191814" y="4208553"/>
              <a:ext cx="0" cy="48426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C7E1CC-B54E-9148-ABD2-D31509BEAA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40399" y="3865827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j-1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445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i="1" dirty="0"/>
              <a:t>each</a:t>
            </a:r>
            <a:r>
              <a:rPr lang="en-US" dirty="0"/>
              <a:t> larger entry to its </a:t>
            </a:r>
            <a:r>
              <a:rPr lang="en-US" i="1" dirty="0"/>
              <a:t>left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096193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404665" y="4496033"/>
            <a:ext cx="546059" cy="2511380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647892" y="5986713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yet seen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E1C04AC-9D6D-854F-A62F-FE9B45603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550014" y="4820465"/>
            <a:ext cx="546059" cy="1915905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F9BA0-37E2-F64F-AEB6-783C69CE0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95886" y="6003931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ascending order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88B019-DCE2-B94D-BD8B-C544143B1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845851-82A9-F245-AF72-C58EBD865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780997" y="361964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000B7B-247B-6948-8B74-8A91D29D3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77338" y="4207045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10F24DD-F304-C942-8A6F-63B6484C8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316076" y="385490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j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B8E9BE-77B9-FF41-BFC4-5E940079A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575438" y="3854901"/>
            <a:ext cx="598241" cy="826987"/>
            <a:chOff x="2940399" y="3865827"/>
            <a:chExt cx="598241" cy="826987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EAAFA01-3030-3241-906D-8CDD43898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3191814" y="4208553"/>
              <a:ext cx="0" cy="48426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C7E1CC-B54E-9148-ABD2-D31509BEAA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40399" y="3865827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j-1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410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i="1" dirty="0"/>
              <a:t>each</a:t>
            </a:r>
            <a:r>
              <a:rPr lang="en-US" dirty="0"/>
              <a:t> larger entry to its </a:t>
            </a:r>
            <a:r>
              <a:rPr lang="en-US" i="1" dirty="0"/>
              <a:t>left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858311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404665" y="4496033"/>
            <a:ext cx="546059" cy="2511380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647892" y="5986713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yet seen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E1C04AC-9D6D-854F-A62F-FE9B45603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550014" y="4820465"/>
            <a:ext cx="546059" cy="1915905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F9BA0-37E2-F64F-AEB6-783C69CE0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95886" y="6003931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ascending order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88B019-DCE2-B94D-BD8B-C544143B1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845851-82A9-F245-AF72-C58EBD865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780997" y="361964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000B7B-247B-6948-8B74-8A91D29D3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23043" y="4213453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10F24DD-F304-C942-8A6F-63B6484C8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661781" y="386130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j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B8E9BE-77B9-FF41-BFC4-5E940079A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931908" y="3844121"/>
            <a:ext cx="598241" cy="826987"/>
            <a:chOff x="2940399" y="3865827"/>
            <a:chExt cx="598241" cy="826987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EAAFA01-3030-3241-906D-8CDD43898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3191814" y="4208553"/>
              <a:ext cx="0" cy="48426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C7E1CC-B54E-9148-ABD2-D31509BEAA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40399" y="3865827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j-1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522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</a:t>
            </a:r>
            <a:r>
              <a:rPr lang="en-US" i="1" dirty="0"/>
              <a:t>with</a:t>
            </a:r>
            <a:r>
              <a:rPr lang="en-US" dirty="0"/>
              <a:t> each larger entry to its </a:t>
            </a:r>
            <a:r>
              <a:rPr lang="en-US" i="1" dirty="0"/>
              <a:t>left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167941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404665" y="4496033"/>
            <a:ext cx="546059" cy="2511380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647892" y="5986713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yet seen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E1C04AC-9D6D-854F-A62F-FE9B45603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550014" y="4820465"/>
            <a:ext cx="546059" cy="1915905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F9BA0-37E2-F64F-AEB6-783C69CE0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95886" y="6003931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ascending order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88B019-DCE2-B94D-BD8B-C544143B1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845851-82A9-F245-AF72-C58EBD865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780997" y="361964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=3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B8E9BE-77B9-FF41-BFC4-5E940079A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09182" y="3844121"/>
            <a:ext cx="322524" cy="826987"/>
            <a:chOff x="3017673" y="3865827"/>
            <a:chExt cx="322524" cy="826987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EAAFA01-3030-3241-906D-8CDD43898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3191814" y="4208553"/>
              <a:ext cx="0" cy="48426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C7E1CC-B54E-9148-ABD2-D31509BEAA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3017673" y="386582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j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3516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</a:t>
            </a:r>
            <a:r>
              <a:rPr lang="en-US" i="1" dirty="0"/>
              <a:t>with</a:t>
            </a:r>
            <a:r>
              <a:rPr lang="en-US" dirty="0"/>
              <a:t> each larger entry to its </a:t>
            </a:r>
            <a:r>
              <a:rPr lang="en-US" i="1" dirty="0"/>
              <a:t>left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887058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702402" y="4793771"/>
            <a:ext cx="546059" cy="1915906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91965" y="5976985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yet seen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E1C04AC-9D6D-854F-A62F-FE9B45603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849134" y="4521344"/>
            <a:ext cx="546059" cy="2514147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F9BA0-37E2-F64F-AEB6-783C69CE0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95886" y="6003931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ascending order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88B019-DCE2-B94D-BD8B-C544143B1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845851-82A9-F245-AF72-C58EBD865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33578" y="3619645"/>
            <a:ext cx="59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=4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000B7B-247B-6948-8B74-8A91D29D3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18797" y="4236977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10F24DD-F304-C942-8A6F-63B6484C8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557535" y="3884833"/>
            <a:ext cx="32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j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B8E9BE-77B9-FF41-BFC4-5E940079A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19440" y="3851024"/>
            <a:ext cx="598241" cy="826987"/>
            <a:chOff x="2940399" y="3865827"/>
            <a:chExt cx="598241" cy="826987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EAAFA01-3030-3241-906D-8CDD43898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3191814" y="4208553"/>
              <a:ext cx="0" cy="48426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C7E1CC-B54E-9148-ABD2-D31509BEAA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40399" y="3865827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j-1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789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each larger entry to its </a:t>
            </a:r>
            <a:r>
              <a:rPr lang="en-US" i="1" dirty="0"/>
              <a:t>left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941644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702402" y="4793771"/>
            <a:ext cx="546059" cy="1915906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91965" y="5976985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yet seen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E1C04AC-9D6D-854F-A62F-FE9B45603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849134" y="4521344"/>
            <a:ext cx="546059" cy="2514147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F9BA0-37E2-F64F-AEB6-783C69CE0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95886" y="6003931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ascending order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88B019-DCE2-B94D-BD8B-C544143B1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845851-82A9-F245-AF72-C58EBD865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33578" y="3619645"/>
            <a:ext cx="59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=4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000B7B-247B-6948-8B74-8A91D29D3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86753" y="4206160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10F24DD-F304-C942-8A6F-63B6484C8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925491" y="3854016"/>
            <a:ext cx="32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j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B8E9BE-77B9-FF41-BFC4-5E940079A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80266" y="3836828"/>
            <a:ext cx="598241" cy="826987"/>
            <a:chOff x="2940399" y="3865827"/>
            <a:chExt cx="598241" cy="826987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EAAFA01-3030-3241-906D-8CDD43898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3191814" y="4208553"/>
              <a:ext cx="0" cy="48426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C7E1CC-B54E-9148-ABD2-D31509BEAA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40399" y="3865827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j-1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983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each larger entry to its </a:t>
            </a:r>
            <a:r>
              <a:rPr lang="en-US" i="1" dirty="0"/>
              <a:t>left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34450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0547A35-7A91-FE40-8F28-BFACA6540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040783" y="5132153"/>
            <a:ext cx="546059" cy="1239144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5EA5-8907-D04B-83B7-0B15094F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91965" y="5976985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yet seen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E1C04AC-9D6D-854F-A62F-FE9B45603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4207514" y="4162963"/>
            <a:ext cx="546059" cy="3230911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F9BA0-37E2-F64F-AEB6-783C69CE0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95886" y="6003931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ascending order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88B019-DCE2-B94D-BD8B-C544143B1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845851-82A9-F245-AF72-C58EBD865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096000" y="3638508"/>
            <a:ext cx="59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=5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000B7B-247B-6948-8B74-8A91D29D3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381219" y="4255840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10F24DD-F304-C942-8A6F-63B6484C8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219957" y="3903696"/>
            <a:ext cx="32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j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B8E9BE-77B9-FF41-BFC4-5E940079A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49328" y="3891740"/>
            <a:ext cx="598241" cy="826987"/>
            <a:chOff x="2940399" y="3865827"/>
            <a:chExt cx="598241" cy="826987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EAAFA01-3030-3241-906D-8CDD43898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3191814" y="4208553"/>
              <a:ext cx="0" cy="48426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C7E1CC-B54E-9148-ABD2-D31509BEAA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40399" y="3865827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j-1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7758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scan array from left to right</a:t>
            </a:r>
          </a:p>
          <a:p>
            <a:pPr lvl="1"/>
            <a:r>
              <a:rPr lang="en-US" dirty="0"/>
              <a:t>in iteration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, 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each larger entry to its </a:t>
            </a:r>
            <a:r>
              <a:rPr lang="en-US" i="1" dirty="0"/>
              <a:t>left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55A6D-FE85-754C-BFEC-583642C2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400212"/>
              </p:ext>
            </p:extLst>
          </p:nvPr>
        </p:nvGraphicFramePr>
        <p:xfrm>
          <a:off x="2865094" y="503465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graphicFrame>
        <p:nvGraphicFramePr>
          <p:cNvPr id="6" name="Table 5" descr="example showing how to scan the array left to right, swapping elements until they are sorted">
            <a:extLst>
              <a:ext uri="{FF2B5EF4-FFF2-40B4-BE49-F238E27FC236}">
                <a16:creationId xmlns:a16="http://schemas.microsoft.com/office/drawing/2014/main" id="{903E821B-0BCE-3645-BC35-B105BD75FC70}"/>
              </a:ext>
            </a:extLst>
          </p:cNvPr>
          <p:cNvGraphicFramePr>
            <a:graphicFrameLocks noGrp="1"/>
          </p:cNvGraphicFramePr>
          <p:nvPr/>
        </p:nvGraphicFramePr>
        <p:xfrm>
          <a:off x="2865094" y="4663815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507FC-41B9-7A4E-BFB6-5A0397F00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E1C04AC-9D6D-854F-A62F-FE9B45603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074691" y="3295785"/>
            <a:ext cx="546059" cy="4965267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F9BA0-37E2-F64F-AEB6-783C69CE0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98598" y="6051449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ascending order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88B019-DCE2-B94D-BD8B-C544143B1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59865" y="4951515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845851-82A9-F245-AF72-C58EBD865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51561" y="3907659"/>
            <a:ext cx="897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=N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000B7B-247B-6948-8B74-8A91D29D3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237923" y="4364974"/>
            <a:ext cx="0" cy="4842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2892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3CE1-0F60-3442-9247-FE5D8A4D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FA2F-1541-8543-A3CD-F636D54EB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Invariants</a:t>
            </a:r>
          </a:p>
          <a:p>
            <a:pPr lvl="1"/>
            <a:r>
              <a:rPr lang="en-US" dirty="0"/>
              <a:t>Entries to the left of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are in ascending order</a:t>
            </a:r>
          </a:p>
          <a:p>
            <a:pPr lvl="1"/>
            <a:r>
              <a:rPr lang="en-US" dirty="0"/>
              <a:t>Entries to the right of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are yet to be seen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92CF89-5476-4646-9948-A1B221E60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2774942" y="3955722"/>
          <a:ext cx="50682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37">
                  <a:extLst>
                    <a:ext uri="{9D8B030D-6E8A-4147-A177-3AD203B41FA5}">
                      <a16:colId xmlns:a16="http://schemas.microsoft.com/office/drawing/2014/main" val="259881763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84586034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828835666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464976373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13069020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316215090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1721163785"/>
                    </a:ext>
                  </a:extLst>
                </a:gridCol>
                <a:gridCol w="633537">
                  <a:extLst>
                    <a:ext uri="{9D8B030D-6E8A-4147-A177-3AD203B41FA5}">
                      <a16:colId xmlns:a16="http://schemas.microsoft.com/office/drawing/2014/main" val="72348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687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F23C8D-195D-9F42-A9C2-02D235FAB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69713" y="3872582"/>
            <a:ext cx="47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623D9568-5E8F-0B4E-82F7-33CBA8E45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630370" y="3732956"/>
            <a:ext cx="546059" cy="1879669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AF388-8C96-5546-BCB9-9C05EE954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086508" y="4944072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yet to be seen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0597FB-FEAE-4646-9EAB-4EF71CF34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02702" y="3498901"/>
            <a:ext cx="0" cy="4239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67E845D-3321-F242-B47A-177551865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541440" y="309620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i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3344FC7-6227-164E-9A9C-4D9FB1664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748403" y="3457425"/>
            <a:ext cx="546059" cy="2492989"/>
          </a:xfrm>
          <a:prstGeom prst="rightBrace">
            <a:avLst>
              <a:gd name="adj1" fmla="val 8333"/>
              <a:gd name="adj2" fmla="val 5087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1B24B9-C3A9-0440-B934-F7406EC4B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836410" y="4898052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ascending (not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necessarily final) order</a:t>
            </a:r>
          </a:p>
        </p:txBody>
      </p:sp>
    </p:spTree>
    <p:extLst>
      <p:ext uri="{BB962C8B-B14F-4D97-AF65-F5344CB8AC3E}">
        <p14:creationId xmlns:p14="http://schemas.microsoft.com/office/powerpoint/2010/main" val="42413603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3CE1-0F60-3442-9247-FE5D8A4D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FA2F-1541-8543-A3CD-F636D54EB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Invariants:</a:t>
            </a:r>
          </a:p>
          <a:p>
            <a:pPr lvl="1"/>
            <a:r>
              <a:rPr lang="en-US" dirty="0"/>
              <a:t>Entries to the left of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are in ascending order</a:t>
            </a:r>
          </a:p>
          <a:p>
            <a:pPr lvl="1"/>
            <a:r>
              <a:rPr lang="en-US" dirty="0"/>
              <a:t>Entries to the right of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are yet to be seen</a:t>
            </a:r>
          </a:p>
          <a:p>
            <a:r>
              <a:rPr lang="en-US" dirty="0"/>
              <a:t>To maintain invariants: </a:t>
            </a:r>
          </a:p>
          <a:p>
            <a:pPr lvl="1"/>
            <a:r>
              <a:rPr lang="en-US" dirty="0"/>
              <a:t>Scan left to right</a:t>
            </a:r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r>
              <a:rPr lang="en-US" dirty="0"/>
              <a:t>Moving </a:t>
            </a:r>
            <a:r>
              <a:rPr lang="en-US" i="1" dirty="0"/>
              <a:t>from right to left</a:t>
            </a:r>
            <a:r>
              <a:rPr lang="en-US" dirty="0"/>
              <a:t>, exchange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each larger entry to its left</a:t>
            </a:r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9FCD26-C06D-DF48-BBD5-0C668DC80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13514" y="3696564"/>
            <a:ext cx="737702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++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DC13FF-999B-F84D-8776-0583EDB85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13514" y="4535276"/>
            <a:ext cx="4794902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for(j=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; j&gt;0; j--)</a:t>
            </a:r>
          </a:p>
          <a:p>
            <a:r>
              <a:rPr lang="en-US" sz="2400" dirty="0">
                <a:latin typeface="Courier" pitchFamily="2" charset="0"/>
              </a:rPr>
              <a:t>    if (a[j] &lt; a[j-1]) </a:t>
            </a:r>
          </a:p>
          <a:p>
            <a:r>
              <a:rPr lang="en-US" sz="2400" dirty="0">
                <a:latin typeface="Courier" pitchFamily="2" charset="0"/>
              </a:rPr>
              <a:t>	  swap(a[j], a[j-1])</a:t>
            </a:r>
          </a:p>
        </p:txBody>
      </p:sp>
    </p:spTree>
    <p:extLst>
      <p:ext uri="{BB962C8B-B14F-4D97-AF65-F5344CB8AC3E}">
        <p14:creationId xmlns:p14="http://schemas.microsoft.com/office/powerpoint/2010/main" val="13398460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FBF46-C96E-0A47-9396-44A5CE333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sorts – 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1F3F4-1886-314E-B190-505D76EA7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Complexity Analysis</a:t>
            </a:r>
          </a:p>
          <a:p>
            <a:pPr lvl="1"/>
            <a:r>
              <a:rPr lang="en-US" dirty="0"/>
              <a:t>Number of compares (on average): ~1/4 N</a:t>
            </a:r>
            <a:r>
              <a:rPr lang="en-US" baseline="30000" dirty="0"/>
              <a:t>2</a:t>
            </a:r>
            <a:endParaRPr lang="en-US" dirty="0"/>
          </a:p>
          <a:p>
            <a:pPr lvl="1"/>
            <a:r>
              <a:rPr lang="en-US" dirty="0"/>
              <a:t>Number of exchanges (on average): ~1/4 N</a:t>
            </a:r>
            <a:r>
              <a:rPr lang="en-US" baseline="30000" dirty="0"/>
              <a:t>2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Best case (already sorted array): N-1 compares, 0 exchanges</a:t>
            </a:r>
          </a:p>
          <a:p>
            <a:pPr lvl="1"/>
            <a:r>
              <a:rPr lang="en-US" dirty="0"/>
              <a:t>Worst case (array in reverse order): ~1/2 N</a:t>
            </a:r>
            <a:r>
              <a:rPr lang="en-US" baseline="30000" dirty="0"/>
              <a:t>2</a:t>
            </a:r>
            <a:r>
              <a:rPr lang="en-US" dirty="0"/>
              <a:t> compares, ~1/2 N</a:t>
            </a:r>
            <a:r>
              <a:rPr lang="en-US" baseline="30000" dirty="0"/>
              <a:t>2  </a:t>
            </a:r>
            <a:r>
              <a:rPr lang="en-US" dirty="0"/>
              <a:t>exchanges</a:t>
            </a:r>
          </a:p>
          <a:p>
            <a:pPr lvl="1"/>
            <a:endParaRPr lang="en-US" baseline="30000" dirty="0"/>
          </a:p>
          <a:p>
            <a:pPr lvl="1"/>
            <a:r>
              <a:rPr lang="en-US" dirty="0" err="1"/>
              <a:t>Ω</a:t>
            </a:r>
            <a:r>
              <a:rPr lang="en-US" dirty="0"/>
              <a:t>(N)</a:t>
            </a:r>
          </a:p>
          <a:p>
            <a:pPr lvl="1"/>
            <a:r>
              <a:rPr lang="en-US" dirty="0" err="1"/>
              <a:t>Θ</a:t>
            </a:r>
            <a:r>
              <a:rPr lang="en-US" dirty="0"/>
              <a:t>(N</a:t>
            </a:r>
            <a:r>
              <a:rPr lang="en-US" baseline="30000" dirty="0"/>
              <a:t>2</a:t>
            </a:r>
            <a:r>
              <a:rPr lang="en-US" dirty="0"/>
              <a:t>)  </a:t>
            </a:r>
          </a:p>
          <a:p>
            <a:pPr lvl="1"/>
            <a:r>
              <a:rPr lang="en-US" dirty="0" err="1"/>
              <a:t>Ο</a:t>
            </a:r>
            <a:r>
              <a:rPr lang="en-US" dirty="0"/>
              <a:t>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422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-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Elementary Sorts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MergeSort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QuickSort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HeapSort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544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1994</TotalTime>
  <Words>1972</Words>
  <Application>Microsoft Macintosh PowerPoint</Application>
  <PresentationFormat>Widescreen</PresentationFormat>
  <Paragraphs>775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Courier</vt:lpstr>
      <vt:lpstr>Courier New</vt:lpstr>
      <vt:lpstr>Wingdings</vt:lpstr>
      <vt:lpstr>Office Theme</vt:lpstr>
      <vt:lpstr>4_Custom Design</vt:lpstr>
      <vt:lpstr>COMP0005 – ALGORITHMS   2. Sort Algorithms</vt:lpstr>
      <vt:lpstr>CONTENT</vt:lpstr>
      <vt:lpstr>SORTING PROBLEM</vt:lpstr>
      <vt:lpstr>CONTENT</vt:lpstr>
      <vt:lpstr>Elementary sorts</vt:lpstr>
      <vt:lpstr>Elementary sorts – selection sort</vt:lpstr>
      <vt:lpstr>Elementary sorts – selection sort</vt:lpstr>
      <vt:lpstr>Elementary sorts – selection sort</vt:lpstr>
      <vt:lpstr>Elementary sorts – selection sort</vt:lpstr>
      <vt:lpstr>Elementary sorts – selection sort</vt:lpstr>
      <vt:lpstr>Elementary sorts – selection sort</vt:lpstr>
      <vt:lpstr>Elementary sorts – selection sort</vt:lpstr>
      <vt:lpstr>Elementary sorts – selection sort</vt:lpstr>
      <vt:lpstr>Elementary sorts – selection sort</vt:lpstr>
      <vt:lpstr>Elementary sorts – selection sort</vt:lpstr>
      <vt:lpstr>Elementary sorts – selection sort</vt:lpstr>
      <vt:lpstr>Elementary sorts – selection sort</vt:lpstr>
      <vt:lpstr>Elementary sorts – selection sort</vt:lpstr>
      <vt:lpstr>Elementary sorts – insertion sort</vt:lpstr>
      <vt:lpstr>Elementary sorts – insertion sort</vt:lpstr>
      <vt:lpstr>Elementary sorts – insertion sort</vt:lpstr>
      <vt:lpstr>Elementary sorts – insertion sort</vt:lpstr>
      <vt:lpstr>Elementary sorts – insertion sort</vt:lpstr>
      <vt:lpstr>Elementary sorts – insertion sort</vt:lpstr>
      <vt:lpstr>Elementary sorts – insertion sort</vt:lpstr>
      <vt:lpstr>Elementary sorts – insertion sort</vt:lpstr>
      <vt:lpstr>Elementary sorts – insertion sort</vt:lpstr>
      <vt:lpstr>Elementary sorts – insertion sort</vt:lpstr>
      <vt:lpstr>Elementary sorts – insertion sort</vt:lpstr>
      <vt:lpstr>Elementary sorts – insertion sort</vt:lpstr>
      <vt:lpstr>Elementary sorts – insertion sort</vt:lpstr>
      <vt:lpstr>Elementary sorts – insertion sort</vt:lpstr>
      <vt:lpstr>Elementary sorts – insertion sort</vt:lpstr>
      <vt:lpstr>Elementary sorts – INSERTION sort</vt:lpstr>
      <vt:lpstr>Elementary sorts – INSERTION sort</vt:lpstr>
      <vt:lpstr>CONTENT - 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79</cp:revision>
  <dcterms:created xsi:type="dcterms:W3CDTF">2020-06-23T14:37:29Z</dcterms:created>
  <dcterms:modified xsi:type="dcterms:W3CDTF">2020-11-02T09:04:13Z</dcterms:modified>
</cp:coreProperties>
</file>