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39"/>
  </p:notesMasterIdLst>
  <p:sldIdLst>
    <p:sldId id="266" r:id="rId3"/>
    <p:sldId id="272" r:id="rId4"/>
    <p:sldId id="279" r:id="rId5"/>
    <p:sldId id="281" r:id="rId6"/>
    <p:sldId id="280" r:id="rId7"/>
    <p:sldId id="278" r:id="rId8"/>
    <p:sldId id="283" r:id="rId9"/>
    <p:sldId id="285" r:id="rId10"/>
    <p:sldId id="287" r:id="rId11"/>
    <p:sldId id="290" r:id="rId12"/>
    <p:sldId id="291" r:id="rId13"/>
    <p:sldId id="292" r:id="rId14"/>
    <p:sldId id="293" r:id="rId15"/>
    <p:sldId id="294" r:id="rId16"/>
    <p:sldId id="295" r:id="rId17"/>
    <p:sldId id="296" r:id="rId18"/>
    <p:sldId id="297" r:id="rId19"/>
    <p:sldId id="298" r:id="rId20"/>
    <p:sldId id="299" r:id="rId21"/>
    <p:sldId id="286" r:id="rId22"/>
    <p:sldId id="300" r:id="rId23"/>
    <p:sldId id="301" r:id="rId24"/>
    <p:sldId id="302" r:id="rId25"/>
    <p:sldId id="303" r:id="rId26"/>
    <p:sldId id="304" r:id="rId27"/>
    <p:sldId id="305" r:id="rId28"/>
    <p:sldId id="306" r:id="rId29"/>
    <p:sldId id="307" r:id="rId30"/>
    <p:sldId id="308" r:id="rId31"/>
    <p:sldId id="309" r:id="rId32"/>
    <p:sldId id="288" r:id="rId33"/>
    <p:sldId id="310" r:id="rId34"/>
    <p:sldId id="311" r:id="rId35"/>
    <p:sldId id="312" r:id="rId36"/>
    <p:sldId id="289" r:id="rId37"/>
    <p:sldId id="273"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85"/>
    <p:restoredTop sz="42156"/>
  </p:normalViewPr>
  <p:slideViewPr>
    <p:cSldViewPr snapToGrid="0" snapToObjects="1">
      <p:cViewPr varScale="1">
        <p:scale>
          <a:sx n="65" d="100"/>
          <a:sy n="65" d="100"/>
        </p:scale>
        <p:origin x="3296"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105A67-8926-CB42-854C-A7DAE0AE325F}" type="datetimeFigureOut">
              <a:rPr lang="en-US" smtClean="0"/>
              <a:t>11/6/20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FE9652-8391-5B4D-BBDF-BC776AB7EFBA}" type="slidenum">
              <a:rPr lang="en-US" smtClean="0"/>
              <a:t>‹#›</a:t>
            </a:fld>
            <a:endParaRPr lang="en-US"/>
          </a:p>
        </p:txBody>
      </p:sp>
    </p:spTree>
    <p:extLst>
      <p:ext uri="{BB962C8B-B14F-4D97-AF65-F5344CB8AC3E}">
        <p14:creationId xmlns:p14="http://schemas.microsoft.com/office/powerpoint/2010/main" val="651815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8455201-7865-8744-8A9B-9F5FC03C5C4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650492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Today we learn about the Binary Search Tree, a data structure that enables us to provide a more efficient implementation of the symbol table ADT and its core operations</a:t>
            </a:r>
          </a:p>
          <a:p>
            <a:pPr marL="0" indent="0">
              <a:buFontTx/>
              <a:buNone/>
            </a:pPr>
            <a:endParaRPr lang="en-US" dirty="0"/>
          </a:p>
          <a:p>
            <a:pPr marL="0" indent="0">
              <a:buFontTx/>
              <a:buNone/>
            </a:pPr>
            <a:endParaRPr lang="en-GB"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A8918F-5AD9-E04B-8904-1D5B7230DE0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758716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Let us step back for a moment and provide some definitions first. All the ADT we have seen so far are linear (array, list, stack and queue).What does it mean they are linear? That they have a logical start and a logical end.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0" i="0" kern="1200" dirty="0">
                <a:solidFill>
                  <a:schemeClr val="tx1"/>
                </a:solidFill>
                <a:effectLst/>
                <a:latin typeface="+mn-lt"/>
                <a:ea typeface="+mn-ea"/>
                <a:cs typeface="+mn-cs"/>
              </a:rPr>
              <a:t>A tree is a non-linear ADT instead, providing a </a:t>
            </a:r>
            <a:r>
              <a:rPr lang="en-GB" sz="1200" b="1" i="0" kern="1200" dirty="0">
                <a:solidFill>
                  <a:schemeClr val="tx1"/>
                </a:solidFill>
                <a:effectLst/>
                <a:latin typeface="+mn-lt"/>
                <a:ea typeface="+mn-ea"/>
                <a:cs typeface="+mn-cs"/>
              </a:rPr>
              <a:t>hierarchical</a:t>
            </a:r>
            <a:r>
              <a:rPr lang="en-GB" sz="1200" b="0" i="0" kern="1200" dirty="0">
                <a:solidFill>
                  <a:schemeClr val="tx1"/>
                </a:solidFill>
                <a:effectLst/>
                <a:latin typeface="+mn-lt"/>
                <a:ea typeface="+mn-ea"/>
                <a:cs typeface="+mn-cs"/>
              </a:rPr>
              <a:t>, as opposed to a </a:t>
            </a:r>
            <a:r>
              <a:rPr lang="en-GB" sz="1200" b="1" i="0" kern="1200" dirty="0">
                <a:solidFill>
                  <a:schemeClr val="tx1"/>
                </a:solidFill>
                <a:effectLst/>
                <a:latin typeface="+mn-lt"/>
                <a:ea typeface="+mn-ea"/>
                <a:cs typeface="+mn-cs"/>
              </a:rPr>
              <a:t>linear</a:t>
            </a:r>
            <a:r>
              <a:rPr lang="en-GB" sz="1200" b="0" i="0" kern="1200" dirty="0">
                <a:solidFill>
                  <a:schemeClr val="tx1"/>
                </a:solidFill>
                <a:effectLst/>
                <a:latin typeface="+mn-lt"/>
                <a:ea typeface="+mn-ea"/>
                <a:cs typeface="+mn-cs"/>
              </a:rPr>
              <a:t>, way of organising the data. Be careful with terminology: we often use the term tree both to refer to the ADT and to refer to its realisation (the tree DS) – as it happened for array. Let us start with a description of the </a:t>
            </a:r>
            <a:r>
              <a:rPr lang="en-GB" sz="1200" b="1" i="0" kern="1200" dirty="0">
                <a:solidFill>
                  <a:schemeClr val="tx1"/>
                </a:solidFill>
                <a:effectLst/>
                <a:latin typeface="+mn-lt"/>
                <a:ea typeface="+mn-ea"/>
                <a:cs typeface="+mn-cs"/>
              </a:rPr>
              <a:t>tree ADT</a:t>
            </a:r>
            <a:r>
              <a:rPr lang="en-GB" sz="1200" b="0" i="0" kern="1200" dirty="0">
                <a:solidFill>
                  <a:schemeClr val="tx1"/>
                </a:solidFill>
                <a:effectLst/>
                <a:latin typeface="+mn-lt"/>
                <a:ea typeface="+mn-ea"/>
                <a:cs typeface="+mn-cs"/>
              </a:rPr>
              <a:t>(we will then see a number of tree DS implementing the ADT).  Conceptually, what is a tree and how is data organised in a tree? </a:t>
            </a:r>
            <a:r>
              <a:rPr lang="en-US" dirty="0"/>
              <a:t>We can define it recursively.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Definition : ADT that is either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Examples of trees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Since this is a recursive definition, a parent node is always a root node too, if we focus on the subtree rooted in 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20FE9652-8391-5B4D-BBDF-BC776AB7EFBA}" type="slidenum">
              <a:rPr lang="en-US" smtClean="0"/>
              <a:t>3</a:t>
            </a:fld>
            <a:endParaRPr lang="en-US"/>
          </a:p>
        </p:txBody>
      </p:sp>
    </p:spTree>
    <p:extLst>
      <p:ext uri="{BB962C8B-B14F-4D97-AF65-F5344CB8AC3E}">
        <p14:creationId xmlns:p14="http://schemas.microsoft.com/office/powerpoint/2010/main" val="3406056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These are NOT trees (must be DISJOINT)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have seen what a tree is, then what is a BINARY tree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fld id="{20FE9652-8391-5B4D-BBDF-BC776AB7EFBA}" type="slidenum">
              <a:rPr lang="en-US" smtClean="0"/>
              <a:t>4</a:t>
            </a:fld>
            <a:endParaRPr lang="en-US"/>
          </a:p>
        </p:txBody>
      </p:sp>
    </p:spTree>
    <p:extLst>
      <p:ext uri="{BB962C8B-B14F-4D97-AF65-F5344CB8AC3E}">
        <p14:creationId xmlns:p14="http://schemas.microsoft.com/office/powerpoint/2010/main" val="30465354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Def of binary tree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When we draw a binary tree, we can decide to draw a null link (no child) or not. In this visual representation of a binary tree, we are not showing null links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need to provide a few more </a:t>
            </a:r>
            <a:r>
              <a:rPr lang="en-US" dirty="0" err="1"/>
              <a:t>defs</a:t>
            </a:r>
            <a:r>
              <a:rPr lang="en-US" dirty="0"/>
              <a:t> before we get to BST</a:t>
            </a:r>
          </a:p>
          <a:p>
            <a:endParaRPr lang="en-US" dirty="0"/>
          </a:p>
        </p:txBody>
      </p:sp>
      <p:sp>
        <p:nvSpPr>
          <p:cNvPr id="4" name="Slide Number Placeholder 3"/>
          <p:cNvSpPr>
            <a:spLocks noGrp="1"/>
          </p:cNvSpPr>
          <p:nvPr>
            <p:ph type="sldNum" sz="quarter" idx="5"/>
          </p:nvPr>
        </p:nvSpPr>
        <p:spPr/>
        <p:txBody>
          <a:bodyPr/>
          <a:lstStyle/>
          <a:p>
            <a:fld id="{20FE9652-8391-5B4D-BBDF-BC776AB7EFBA}" type="slidenum">
              <a:rPr lang="en-US" smtClean="0"/>
              <a:t>5</a:t>
            </a:fld>
            <a:endParaRPr lang="en-US"/>
          </a:p>
        </p:txBody>
      </p:sp>
    </p:spTree>
    <p:extLst>
      <p:ext uri="{BB962C8B-B14F-4D97-AF65-F5344CB8AC3E}">
        <p14:creationId xmlns:p14="http://schemas.microsoft.com/office/powerpoint/2010/main" val="12663472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 symmetric order</a:t>
            </a:r>
          </a:p>
          <a:p>
            <a:endParaRPr lang="en-US" dirty="0"/>
          </a:p>
          <a:p>
            <a:r>
              <a:rPr lang="en-US" dirty="0"/>
              <a:t>Example</a:t>
            </a:r>
          </a:p>
          <a:p>
            <a:endParaRPr lang="en-US" dirty="0"/>
          </a:p>
          <a:p>
            <a:r>
              <a:rPr lang="en-US" dirty="0"/>
              <a:t>In this case we are drawing null links – both representations are fine</a:t>
            </a:r>
          </a:p>
          <a:p>
            <a:endParaRPr lang="en-US" dirty="0"/>
          </a:p>
          <a:p>
            <a:r>
              <a:rPr lang="en-US" dirty="0"/>
              <a:t>Finally, we can define a BST.</a:t>
            </a:r>
          </a:p>
          <a:p>
            <a:endParaRPr lang="en-US" dirty="0"/>
          </a:p>
          <a:p>
            <a:r>
              <a:rPr lang="en-US" dirty="0"/>
              <a:t>[def]</a:t>
            </a:r>
          </a:p>
          <a:p>
            <a:endParaRPr lang="en-US" dirty="0"/>
          </a:p>
          <a:p>
            <a:endParaRPr lang="en-US" dirty="0"/>
          </a:p>
          <a:p>
            <a:r>
              <a:rPr lang="en-US" dirty="0"/>
              <a:t>NOTES: you might associate the BST ADT with the Binary Heap DS we have seen when studying search algorithms and heapsort. But careful that there are some very important distinctions:</a:t>
            </a: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r>
              <a:rPr lang="en-US" dirty="0"/>
              <a:t>The order of keys in a BST and the order of keys in a heap is completely different (binary heap: parent bigger than any of its children; here depends on L and R child). You may also note that left and right subtrees contain keys that are strictly smaller / larger than the root of the </a:t>
            </a:r>
            <a:r>
              <a:rPr lang="en-US" dirty="0" err="1"/>
              <a:t>substree</a:t>
            </a:r>
            <a:r>
              <a:rPr lang="en-US" dirty="0"/>
              <a:t> (as opposed to &lt;= and &gt;=). This is because, recall, we assume keys in symbol tables to be unique </a:t>
            </a: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r>
              <a:rPr lang="en-US" dirty="0"/>
              <a:t>the BST represents trees in an explicit way, via concepts of nodes and links (we will need refs to parents and children to navigate structure). The binary heap was an example of an implicit representation of a tree instead, while in fact we were all the time operating on a linear array and making use of basic operations on array indices to navigate through the tree structure (parent/children). </a:t>
            </a:r>
          </a:p>
          <a:p>
            <a:pPr marL="228600" marR="0" lvl="0" indent="-228600" algn="l" defTabSz="914400" rtl="0" eaLnBrk="1" fontAlgn="auto" latinLnBrk="0" hangingPunct="1">
              <a:lnSpc>
                <a:spcPct val="100000"/>
              </a:lnSpc>
              <a:spcBef>
                <a:spcPts val="0"/>
              </a:spcBef>
              <a:spcAft>
                <a:spcPts val="0"/>
              </a:spcAft>
              <a:buClrTx/>
              <a:buSzTx/>
              <a:buFontTx/>
              <a:buAutoNum type="arabicParenBoth"/>
              <a:tabLst/>
              <a:defRPr/>
            </a:pP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20FE9652-8391-5B4D-BBDF-BC776AB7EFBA}" type="slidenum">
              <a:rPr lang="en-US" smtClean="0"/>
              <a:t>6</a:t>
            </a:fld>
            <a:endParaRPr lang="en-US"/>
          </a:p>
        </p:txBody>
      </p:sp>
    </p:spTree>
    <p:extLst>
      <p:ext uri="{BB962C8B-B14F-4D97-AF65-F5344CB8AC3E}">
        <p14:creationId xmlns:p14="http://schemas.microsoft.com/office/powerpoint/2010/main" val="4112759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 can we implement the BST abstract data type in practice?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can use the linked list data type and extend it slightly. Recall what a singly linked list was (a node containing a data item and a link/reference to the next node). We are going to extend it so that each node contains 2 links instead of 1:</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One link to a left node (the left child)</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dirty="0"/>
              <a:t>One link to a right node (the right child) </a:t>
            </a:r>
          </a:p>
          <a:p>
            <a:pPr marL="171450" indent="-171450">
              <a:buFontTx/>
              <a:buChar cha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 </a:t>
            </a:r>
            <a:r>
              <a:rPr lang="en-US" b="1" dirty="0"/>
              <a:t>generic BST implementation</a:t>
            </a:r>
            <a:r>
              <a:rPr lang="en-US" dirty="0"/>
              <a:t>. To use it specifically </a:t>
            </a:r>
            <a:r>
              <a:rPr lang="en-US" b="1" dirty="0"/>
              <a:t>to implement a symbol table</a:t>
            </a:r>
            <a:r>
              <a:rPr lang="en-US" dirty="0"/>
              <a:t>, we refine the generic </a:t>
            </a:r>
            <a:r>
              <a:rPr lang="en-US" b="1" dirty="0"/>
              <a:t>data item </a:t>
            </a:r>
            <a:r>
              <a:rPr lang="en-US" dirty="0"/>
              <a:t>to be a </a:t>
            </a:r>
            <a:r>
              <a:rPr lang="en-US" b="1" dirty="0"/>
              <a:t>pair of values</a:t>
            </a:r>
            <a:r>
              <a:rPr lang="en-US" dirty="0"/>
              <a:t>: a key and a value (next).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20FE9652-8391-5B4D-BBDF-BC776AB7EFBA}" type="slidenum">
              <a:rPr lang="en-US" smtClean="0"/>
              <a:t>7</a:t>
            </a:fld>
            <a:endParaRPr lang="en-US"/>
          </a:p>
        </p:txBody>
      </p:sp>
    </p:spTree>
    <p:extLst>
      <p:ext uri="{BB962C8B-B14F-4D97-AF65-F5344CB8AC3E}">
        <p14:creationId xmlns:p14="http://schemas.microsoft.com/office/powerpoint/2010/main" val="32313260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now that we have our DS how do we support its API? Key operations are put (insert) and get (search).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20FE9652-8391-5B4D-BBDF-BC776AB7EFBA}" type="slidenum">
              <a:rPr lang="en-US" smtClean="0"/>
              <a:t>8</a:t>
            </a:fld>
            <a:endParaRPr lang="en-US"/>
          </a:p>
        </p:txBody>
      </p:sp>
    </p:spTree>
    <p:extLst>
      <p:ext uri="{BB962C8B-B14F-4D97-AF65-F5344CB8AC3E}">
        <p14:creationId xmlns:p14="http://schemas.microsoft.com/office/powerpoint/2010/main" val="3150208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Intuition</a:t>
            </a:r>
          </a:p>
          <a:p>
            <a:endParaRPr lang="en-US" dirty="0"/>
          </a:p>
          <a:p>
            <a:r>
              <a:rPr lang="en-US" dirty="0"/>
              <a:t>Search demo hit H</a:t>
            </a:r>
          </a:p>
        </p:txBody>
      </p:sp>
      <p:sp>
        <p:nvSpPr>
          <p:cNvPr id="4" name="Slide Number Placeholder 3"/>
          <p:cNvSpPr>
            <a:spLocks noGrp="1"/>
          </p:cNvSpPr>
          <p:nvPr>
            <p:ph type="sldNum" sz="quarter" idx="5"/>
          </p:nvPr>
        </p:nvSpPr>
        <p:spPr/>
        <p:txBody>
          <a:bodyPr/>
          <a:lstStyle/>
          <a:p>
            <a:fld id="{20FE9652-8391-5B4D-BBDF-BC776AB7EFBA}" type="slidenum">
              <a:rPr lang="en-US" smtClean="0"/>
              <a:t>9</a:t>
            </a:fld>
            <a:endParaRPr lang="en-US"/>
          </a:p>
        </p:txBody>
      </p:sp>
    </p:spTree>
    <p:extLst>
      <p:ext uri="{BB962C8B-B14F-4D97-AF65-F5344CB8AC3E}">
        <p14:creationId xmlns:p14="http://schemas.microsoft.com/office/powerpoint/2010/main" val="40742440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at root and do a key compare. Go left</a:t>
            </a:r>
          </a:p>
        </p:txBody>
      </p:sp>
      <p:sp>
        <p:nvSpPr>
          <p:cNvPr id="4" name="Slide Number Placeholder 3"/>
          <p:cNvSpPr>
            <a:spLocks noGrp="1"/>
          </p:cNvSpPr>
          <p:nvPr>
            <p:ph type="sldNum" sz="quarter" idx="5"/>
          </p:nvPr>
        </p:nvSpPr>
        <p:spPr/>
        <p:txBody>
          <a:bodyPr/>
          <a:lstStyle/>
          <a:p>
            <a:fld id="{20FE9652-8391-5B4D-BBDF-BC776AB7EFBA}" type="slidenum">
              <a:rPr lang="en-US" smtClean="0"/>
              <a:t>10</a:t>
            </a:fld>
            <a:endParaRPr lang="en-US"/>
          </a:p>
        </p:txBody>
      </p:sp>
    </p:spTree>
    <p:extLst>
      <p:ext uri="{BB962C8B-B14F-4D97-AF65-F5344CB8AC3E}">
        <p14:creationId xmlns:p14="http://schemas.microsoft.com/office/powerpoint/2010/main" val="2960724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compare – go right</a:t>
            </a:r>
          </a:p>
        </p:txBody>
      </p:sp>
      <p:sp>
        <p:nvSpPr>
          <p:cNvPr id="4" name="Slide Number Placeholder 3"/>
          <p:cNvSpPr>
            <a:spLocks noGrp="1"/>
          </p:cNvSpPr>
          <p:nvPr>
            <p:ph type="sldNum" sz="quarter" idx="5"/>
          </p:nvPr>
        </p:nvSpPr>
        <p:spPr/>
        <p:txBody>
          <a:bodyPr/>
          <a:lstStyle/>
          <a:p>
            <a:fld id="{20FE9652-8391-5B4D-BBDF-BC776AB7EFBA}" type="slidenum">
              <a:rPr lang="en-US" smtClean="0"/>
              <a:t>11</a:t>
            </a:fld>
            <a:endParaRPr lang="en-US"/>
          </a:p>
        </p:txBody>
      </p:sp>
    </p:spTree>
    <p:extLst>
      <p:ext uri="{BB962C8B-B14F-4D97-AF65-F5344CB8AC3E}">
        <p14:creationId xmlns:p14="http://schemas.microsoft.com/office/powerpoint/2010/main" val="29088402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compare – go left</a:t>
            </a:r>
          </a:p>
        </p:txBody>
      </p:sp>
      <p:sp>
        <p:nvSpPr>
          <p:cNvPr id="4" name="Slide Number Placeholder 3"/>
          <p:cNvSpPr>
            <a:spLocks noGrp="1"/>
          </p:cNvSpPr>
          <p:nvPr>
            <p:ph type="sldNum" sz="quarter" idx="5"/>
          </p:nvPr>
        </p:nvSpPr>
        <p:spPr/>
        <p:txBody>
          <a:bodyPr/>
          <a:lstStyle/>
          <a:p>
            <a:fld id="{20FE9652-8391-5B4D-BBDF-BC776AB7EFBA}" type="slidenum">
              <a:rPr lang="en-US" smtClean="0"/>
              <a:t>12</a:t>
            </a:fld>
            <a:endParaRPr lang="en-US"/>
          </a:p>
        </p:txBody>
      </p:sp>
    </p:spTree>
    <p:extLst>
      <p:ext uri="{BB962C8B-B14F-4D97-AF65-F5344CB8AC3E}">
        <p14:creationId xmlns:p14="http://schemas.microsoft.com/office/powerpoint/2010/main" val="4681717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 return </a:t>
            </a:r>
            <a:r>
              <a:rPr lang="en-US" dirty="0" err="1"/>
              <a:t>node.value</a:t>
            </a:r>
            <a:endParaRPr lang="en-US" dirty="0"/>
          </a:p>
        </p:txBody>
      </p:sp>
      <p:sp>
        <p:nvSpPr>
          <p:cNvPr id="4" name="Slide Number Placeholder 3"/>
          <p:cNvSpPr>
            <a:spLocks noGrp="1"/>
          </p:cNvSpPr>
          <p:nvPr>
            <p:ph type="sldNum" sz="quarter" idx="5"/>
          </p:nvPr>
        </p:nvSpPr>
        <p:spPr/>
        <p:txBody>
          <a:bodyPr/>
          <a:lstStyle/>
          <a:p>
            <a:fld id="{20FE9652-8391-5B4D-BBDF-BC776AB7EFBA}" type="slidenum">
              <a:rPr lang="en-US" smtClean="0"/>
              <a:t>13</a:t>
            </a:fld>
            <a:endParaRPr lang="en-US"/>
          </a:p>
        </p:txBody>
      </p:sp>
    </p:spTree>
    <p:extLst>
      <p:ext uri="{BB962C8B-B14F-4D97-AF65-F5344CB8AC3E}">
        <p14:creationId xmlns:p14="http://schemas.microsoft.com/office/powerpoint/2010/main" val="11498610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demo miss (G)</a:t>
            </a:r>
          </a:p>
        </p:txBody>
      </p:sp>
      <p:sp>
        <p:nvSpPr>
          <p:cNvPr id="4" name="Slide Number Placeholder 3"/>
          <p:cNvSpPr>
            <a:spLocks noGrp="1"/>
          </p:cNvSpPr>
          <p:nvPr>
            <p:ph type="sldNum" sz="quarter" idx="5"/>
          </p:nvPr>
        </p:nvSpPr>
        <p:spPr/>
        <p:txBody>
          <a:bodyPr/>
          <a:lstStyle/>
          <a:p>
            <a:fld id="{20FE9652-8391-5B4D-BBDF-BC776AB7EFBA}" type="slidenum">
              <a:rPr lang="en-US" smtClean="0"/>
              <a:t>14</a:t>
            </a:fld>
            <a:endParaRPr lang="en-US"/>
          </a:p>
        </p:txBody>
      </p:sp>
    </p:spTree>
    <p:extLst>
      <p:ext uri="{BB962C8B-B14F-4D97-AF65-F5344CB8AC3E}">
        <p14:creationId xmlns:p14="http://schemas.microsoft.com/office/powerpoint/2010/main" val="12005997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a search (demo)</a:t>
            </a:r>
          </a:p>
        </p:txBody>
      </p:sp>
      <p:sp>
        <p:nvSpPr>
          <p:cNvPr id="4" name="Slide Number Placeholder 3"/>
          <p:cNvSpPr>
            <a:spLocks noGrp="1"/>
          </p:cNvSpPr>
          <p:nvPr>
            <p:ph type="sldNum" sz="quarter" idx="5"/>
          </p:nvPr>
        </p:nvSpPr>
        <p:spPr/>
        <p:txBody>
          <a:bodyPr/>
          <a:lstStyle/>
          <a:p>
            <a:fld id="{20FE9652-8391-5B4D-BBDF-BC776AB7EFBA}" type="slidenum">
              <a:rPr lang="en-US" smtClean="0"/>
              <a:t>15</a:t>
            </a:fld>
            <a:endParaRPr lang="en-US"/>
          </a:p>
        </p:txBody>
      </p:sp>
    </p:spTree>
    <p:extLst>
      <p:ext uri="{BB962C8B-B14F-4D97-AF65-F5344CB8AC3E}">
        <p14:creationId xmlns:p14="http://schemas.microsoft.com/office/powerpoint/2010/main" val="2071829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a search (demo)</a:t>
            </a:r>
          </a:p>
        </p:txBody>
      </p:sp>
      <p:sp>
        <p:nvSpPr>
          <p:cNvPr id="4" name="Slide Number Placeholder 3"/>
          <p:cNvSpPr>
            <a:spLocks noGrp="1"/>
          </p:cNvSpPr>
          <p:nvPr>
            <p:ph type="sldNum" sz="quarter" idx="5"/>
          </p:nvPr>
        </p:nvSpPr>
        <p:spPr/>
        <p:txBody>
          <a:bodyPr/>
          <a:lstStyle/>
          <a:p>
            <a:fld id="{20FE9652-8391-5B4D-BBDF-BC776AB7EFBA}" type="slidenum">
              <a:rPr lang="en-US" smtClean="0"/>
              <a:t>16</a:t>
            </a:fld>
            <a:endParaRPr lang="en-US"/>
          </a:p>
        </p:txBody>
      </p:sp>
    </p:spTree>
    <p:extLst>
      <p:ext uri="{BB962C8B-B14F-4D97-AF65-F5344CB8AC3E}">
        <p14:creationId xmlns:p14="http://schemas.microsoft.com/office/powerpoint/2010/main" val="37182391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a search (demo)</a:t>
            </a:r>
          </a:p>
        </p:txBody>
      </p:sp>
      <p:sp>
        <p:nvSpPr>
          <p:cNvPr id="4" name="Slide Number Placeholder 3"/>
          <p:cNvSpPr>
            <a:spLocks noGrp="1"/>
          </p:cNvSpPr>
          <p:nvPr>
            <p:ph type="sldNum" sz="quarter" idx="5"/>
          </p:nvPr>
        </p:nvSpPr>
        <p:spPr/>
        <p:txBody>
          <a:bodyPr/>
          <a:lstStyle/>
          <a:p>
            <a:fld id="{20FE9652-8391-5B4D-BBDF-BC776AB7EFBA}" type="slidenum">
              <a:rPr lang="en-US" smtClean="0"/>
              <a:t>17</a:t>
            </a:fld>
            <a:endParaRPr lang="en-US"/>
          </a:p>
        </p:txBody>
      </p:sp>
    </p:spTree>
    <p:extLst>
      <p:ext uri="{BB962C8B-B14F-4D97-AF65-F5344CB8AC3E}">
        <p14:creationId xmlns:p14="http://schemas.microsoft.com/office/powerpoint/2010/main" val="27378513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start with a search (demo)</a:t>
            </a:r>
          </a:p>
        </p:txBody>
      </p:sp>
      <p:sp>
        <p:nvSpPr>
          <p:cNvPr id="4" name="Slide Number Placeholder 3"/>
          <p:cNvSpPr>
            <a:spLocks noGrp="1"/>
          </p:cNvSpPr>
          <p:nvPr>
            <p:ph type="sldNum" sz="quarter" idx="5"/>
          </p:nvPr>
        </p:nvSpPr>
        <p:spPr/>
        <p:txBody>
          <a:bodyPr/>
          <a:lstStyle/>
          <a:p>
            <a:fld id="{20FE9652-8391-5B4D-BBDF-BC776AB7EFBA}" type="slidenum">
              <a:rPr lang="en-US" smtClean="0"/>
              <a:t>18</a:t>
            </a:fld>
            <a:endParaRPr lang="en-US"/>
          </a:p>
        </p:txBody>
      </p:sp>
    </p:spTree>
    <p:extLst>
      <p:ext uri="{BB962C8B-B14F-4D97-AF65-F5344CB8AC3E}">
        <p14:creationId xmlns:p14="http://schemas.microsoft.com/office/powerpoint/2010/main" val="11586266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Reached empty subtree, key not found</a:t>
            </a:r>
          </a:p>
        </p:txBody>
      </p:sp>
      <p:sp>
        <p:nvSpPr>
          <p:cNvPr id="4" name="Slide Number Placeholder 3"/>
          <p:cNvSpPr>
            <a:spLocks noGrp="1"/>
          </p:cNvSpPr>
          <p:nvPr>
            <p:ph type="sldNum" sz="quarter" idx="5"/>
          </p:nvPr>
        </p:nvSpPr>
        <p:spPr/>
        <p:txBody>
          <a:bodyPr/>
          <a:lstStyle/>
          <a:p>
            <a:fld id="{20FE9652-8391-5B4D-BBDF-BC776AB7EFBA}" type="slidenum">
              <a:rPr lang="en-US" smtClean="0"/>
              <a:t>19</a:t>
            </a:fld>
            <a:endParaRPr lang="en-US"/>
          </a:p>
        </p:txBody>
      </p:sp>
    </p:spTree>
    <p:extLst>
      <p:ext uri="{BB962C8B-B14F-4D97-AF65-F5344CB8AC3E}">
        <p14:creationId xmlns:p14="http://schemas.microsoft.com/office/powerpoint/2010/main" val="363242202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have a look at how we can handle a put operation for a new key M</a:t>
            </a:r>
          </a:p>
          <a:p>
            <a:endParaRPr lang="en-US" dirty="0"/>
          </a:p>
          <a:p>
            <a:r>
              <a:rPr lang="en-US" dirty="0"/>
              <a:t>Intuition</a:t>
            </a:r>
          </a:p>
          <a:p>
            <a:endParaRPr lang="en-US" dirty="0"/>
          </a:p>
          <a:p>
            <a:r>
              <a:rPr lang="en-US" dirty="0"/>
              <a:t>Demo</a:t>
            </a:r>
          </a:p>
          <a:p>
            <a:endParaRPr lang="en-US" dirty="0"/>
          </a:p>
        </p:txBody>
      </p:sp>
      <p:sp>
        <p:nvSpPr>
          <p:cNvPr id="4" name="Slide Number Placeholder 3"/>
          <p:cNvSpPr>
            <a:spLocks noGrp="1"/>
          </p:cNvSpPr>
          <p:nvPr>
            <p:ph type="sldNum" sz="quarter" idx="5"/>
          </p:nvPr>
        </p:nvSpPr>
        <p:spPr/>
        <p:txBody>
          <a:bodyPr/>
          <a:lstStyle/>
          <a:p>
            <a:fld id="{20FE9652-8391-5B4D-BBDF-BC776AB7EFBA}" type="slidenum">
              <a:rPr lang="en-US" smtClean="0"/>
              <a:t>20</a:t>
            </a:fld>
            <a:endParaRPr lang="en-US"/>
          </a:p>
        </p:txBody>
      </p:sp>
    </p:spTree>
    <p:extLst>
      <p:ext uri="{BB962C8B-B14F-4D97-AF65-F5344CB8AC3E}">
        <p14:creationId xmlns:p14="http://schemas.microsoft.com/office/powerpoint/2010/main" val="32415480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a:t>
            </a:r>
          </a:p>
        </p:txBody>
      </p:sp>
      <p:sp>
        <p:nvSpPr>
          <p:cNvPr id="4" name="Slide Number Placeholder 3"/>
          <p:cNvSpPr>
            <a:spLocks noGrp="1"/>
          </p:cNvSpPr>
          <p:nvPr>
            <p:ph type="sldNum" sz="quarter" idx="5"/>
          </p:nvPr>
        </p:nvSpPr>
        <p:spPr/>
        <p:txBody>
          <a:bodyPr/>
          <a:lstStyle/>
          <a:p>
            <a:fld id="{20FE9652-8391-5B4D-BBDF-BC776AB7EFBA}" type="slidenum">
              <a:rPr lang="en-US" smtClean="0"/>
              <a:t>21</a:t>
            </a:fld>
            <a:endParaRPr lang="en-US"/>
          </a:p>
        </p:txBody>
      </p:sp>
    </p:spTree>
    <p:extLst>
      <p:ext uri="{BB962C8B-B14F-4D97-AF65-F5344CB8AC3E}">
        <p14:creationId xmlns:p14="http://schemas.microsoft.com/office/powerpoint/2010/main" val="12939681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a:t>
            </a:r>
          </a:p>
        </p:txBody>
      </p:sp>
      <p:sp>
        <p:nvSpPr>
          <p:cNvPr id="4" name="Slide Number Placeholder 3"/>
          <p:cNvSpPr>
            <a:spLocks noGrp="1"/>
          </p:cNvSpPr>
          <p:nvPr>
            <p:ph type="sldNum" sz="quarter" idx="5"/>
          </p:nvPr>
        </p:nvSpPr>
        <p:spPr/>
        <p:txBody>
          <a:bodyPr/>
          <a:lstStyle/>
          <a:p>
            <a:fld id="{20FE9652-8391-5B4D-BBDF-BC776AB7EFBA}" type="slidenum">
              <a:rPr lang="en-US" smtClean="0"/>
              <a:t>22</a:t>
            </a:fld>
            <a:endParaRPr lang="en-US"/>
          </a:p>
        </p:txBody>
      </p:sp>
    </p:spTree>
    <p:extLst>
      <p:ext uri="{BB962C8B-B14F-4D97-AF65-F5344CB8AC3E}">
        <p14:creationId xmlns:p14="http://schemas.microsoft.com/office/powerpoint/2010/main" val="37659376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a:t>
            </a:r>
          </a:p>
        </p:txBody>
      </p:sp>
      <p:sp>
        <p:nvSpPr>
          <p:cNvPr id="4" name="Slide Number Placeholder 3"/>
          <p:cNvSpPr>
            <a:spLocks noGrp="1"/>
          </p:cNvSpPr>
          <p:nvPr>
            <p:ph type="sldNum" sz="quarter" idx="5"/>
          </p:nvPr>
        </p:nvSpPr>
        <p:spPr/>
        <p:txBody>
          <a:bodyPr/>
          <a:lstStyle/>
          <a:p>
            <a:fld id="{20FE9652-8391-5B4D-BBDF-BC776AB7EFBA}" type="slidenum">
              <a:rPr lang="en-US" smtClean="0"/>
              <a:t>23</a:t>
            </a:fld>
            <a:endParaRPr lang="en-US"/>
          </a:p>
        </p:txBody>
      </p:sp>
    </p:spTree>
    <p:extLst>
      <p:ext uri="{BB962C8B-B14F-4D97-AF65-F5344CB8AC3E}">
        <p14:creationId xmlns:p14="http://schemas.microsoft.com/office/powerpoint/2010/main" val="23113378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a:t>
            </a:r>
          </a:p>
        </p:txBody>
      </p:sp>
      <p:sp>
        <p:nvSpPr>
          <p:cNvPr id="4" name="Slide Number Placeholder 3"/>
          <p:cNvSpPr>
            <a:spLocks noGrp="1"/>
          </p:cNvSpPr>
          <p:nvPr>
            <p:ph type="sldNum" sz="quarter" idx="5"/>
          </p:nvPr>
        </p:nvSpPr>
        <p:spPr/>
        <p:txBody>
          <a:bodyPr/>
          <a:lstStyle/>
          <a:p>
            <a:fld id="{20FE9652-8391-5B4D-BBDF-BC776AB7EFBA}" type="slidenum">
              <a:rPr lang="en-US" smtClean="0"/>
              <a:t>24</a:t>
            </a:fld>
            <a:endParaRPr lang="en-US"/>
          </a:p>
        </p:txBody>
      </p:sp>
    </p:spTree>
    <p:extLst>
      <p:ext uri="{BB962C8B-B14F-4D97-AF65-F5344CB8AC3E}">
        <p14:creationId xmlns:p14="http://schemas.microsoft.com/office/powerpoint/2010/main" val="115281757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a:t>
            </a:r>
          </a:p>
        </p:txBody>
      </p:sp>
      <p:sp>
        <p:nvSpPr>
          <p:cNvPr id="4" name="Slide Number Placeholder 3"/>
          <p:cNvSpPr>
            <a:spLocks noGrp="1"/>
          </p:cNvSpPr>
          <p:nvPr>
            <p:ph type="sldNum" sz="quarter" idx="5"/>
          </p:nvPr>
        </p:nvSpPr>
        <p:spPr/>
        <p:txBody>
          <a:bodyPr/>
          <a:lstStyle/>
          <a:p>
            <a:fld id="{20FE9652-8391-5B4D-BBDF-BC776AB7EFBA}" type="slidenum">
              <a:rPr lang="en-US" smtClean="0"/>
              <a:t>25</a:t>
            </a:fld>
            <a:endParaRPr lang="en-US"/>
          </a:p>
        </p:txBody>
      </p:sp>
    </p:spTree>
    <p:extLst>
      <p:ext uri="{BB962C8B-B14F-4D97-AF65-F5344CB8AC3E}">
        <p14:creationId xmlns:p14="http://schemas.microsoft.com/office/powerpoint/2010/main" val="29179081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a:t>
            </a:r>
          </a:p>
        </p:txBody>
      </p:sp>
      <p:sp>
        <p:nvSpPr>
          <p:cNvPr id="4" name="Slide Number Placeholder 3"/>
          <p:cNvSpPr>
            <a:spLocks noGrp="1"/>
          </p:cNvSpPr>
          <p:nvPr>
            <p:ph type="sldNum" sz="quarter" idx="5"/>
          </p:nvPr>
        </p:nvSpPr>
        <p:spPr/>
        <p:txBody>
          <a:bodyPr/>
          <a:lstStyle/>
          <a:p>
            <a:fld id="{20FE9652-8391-5B4D-BBDF-BC776AB7EFBA}" type="slidenum">
              <a:rPr lang="en-US" smtClean="0"/>
              <a:t>26</a:t>
            </a:fld>
            <a:endParaRPr lang="en-US"/>
          </a:p>
        </p:txBody>
      </p:sp>
    </p:spTree>
    <p:extLst>
      <p:ext uri="{BB962C8B-B14F-4D97-AF65-F5344CB8AC3E}">
        <p14:creationId xmlns:p14="http://schemas.microsoft.com/office/powerpoint/2010/main" val="22065220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have a look at how we can handle a put operation for an existing key A</a:t>
            </a:r>
          </a:p>
        </p:txBody>
      </p:sp>
      <p:sp>
        <p:nvSpPr>
          <p:cNvPr id="4" name="Slide Number Placeholder 3"/>
          <p:cNvSpPr>
            <a:spLocks noGrp="1"/>
          </p:cNvSpPr>
          <p:nvPr>
            <p:ph type="sldNum" sz="quarter" idx="5"/>
          </p:nvPr>
        </p:nvSpPr>
        <p:spPr/>
        <p:txBody>
          <a:bodyPr/>
          <a:lstStyle/>
          <a:p>
            <a:fld id="{20FE9652-8391-5B4D-BBDF-BC776AB7EFBA}" type="slidenum">
              <a:rPr lang="en-US" smtClean="0"/>
              <a:t>27</a:t>
            </a:fld>
            <a:endParaRPr lang="en-US"/>
          </a:p>
        </p:txBody>
      </p:sp>
    </p:spTree>
    <p:extLst>
      <p:ext uri="{BB962C8B-B14F-4D97-AF65-F5344CB8AC3E}">
        <p14:creationId xmlns:p14="http://schemas.microsoft.com/office/powerpoint/2010/main" val="13710289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have a look at how we can handle a put operation for an existing key A</a:t>
            </a:r>
          </a:p>
        </p:txBody>
      </p:sp>
      <p:sp>
        <p:nvSpPr>
          <p:cNvPr id="4" name="Slide Number Placeholder 3"/>
          <p:cNvSpPr>
            <a:spLocks noGrp="1"/>
          </p:cNvSpPr>
          <p:nvPr>
            <p:ph type="sldNum" sz="quarter" idx="5"/>
          </p:nvPr>
        </p:nvSpPr>
        <p:spPr/>
        <p:txBody>
          <a:bodyPr/>
          <a:lstStyle/>
          <a:p>
            <a:fld id="{20FE9652-8391-5B4D-BBDF-BC776AB7EFBA}" type="slidenum">
              <a:rPr lang="en-US" smtClean="0"/>
              <a:t>28</a:t>
            </a:fld>
            <a:endParaRPr lang="en-US"/>
          </a:p>
        </p:txBody>
      </p:sp>
    </p:spTree>
    <p:extLst>
      <p:ext uri="{BB962C8B-B14F-4D97-AF65-F5344CB8AC3E}">
        <p14:creationId xmlns:p14="http://schemas.microsoft.com/office/powerpoint/2010/main" val="277119748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have a look at how we can handle a put operation for an existing key A</a:t>
            </a:r>
          </a:p>
        </p:txBody>
      </p:sp>
      <p:sp>
        <p:nvSpPr>
          <p:cNvPr id="4" name="Slide Number Placeholder 3"/>
          <p:cNvSpPr>
            <a:spLocks noGrp="1"/>
          </p:cNvSpPr>
          <p:nvPr>
            <p:ph type="sldNum" sz="quarter" idx="5"/>
          </p:nvPr>
        </p:nvSpPr>
        <p:spPr/>
        <p:txBody>
          <a:bodyPr/>
          <a:lstStyle/>
          <a:p>
            <a:fld id="{20FE9652-8391-5B4D-BBDF-BC776AB7EFBA}" type="slidenum">
              <a:rPr lang="en-US" smtClean="0"/>
              <a:t>29</a:t>
            </a:fld>
            <a:endParaRPr lang="en-US"/>
          </a:p>
        </p:txBody>
      </p:sp>
    </p:spTree>
    <p:extLst>
      <p:ext uri="{BB962C8B-B14F-4D97-AF65-F5344CB8AC3E}">
        <p14:creationId xmlns:p14="http://schemas.microsoft.com/office/powerpoint/2010/main" val="620786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[done]</a:t>
            </a:r>
          </a:p>
        </p:txBody>
      </p:sp>
      <p:sp>
        <p:nvSpPr>
          <p:cNvPr id="4" name="Slide Number Placeholder 3"/>
          <p:cNvSpPr>
            <a:spLocks noGrp="1"/>
          </p:cNvSpPr>
          <p:nvPr>
            <p:ph type="sldNum" sz="quarter" idx="5"/>
          </p:nvPr>
        </p:nvSpPr>
        <p:spPr/>
        <p:txBody>
          <a:bodyPr/>
          <a:lstStyle/>
          <a:p>
            <a:fld id="{20FE9652-8391-5B4D-BBDF-BC776AB7EFBA}" type="slidenum">
              <a:rPr lang="en-US" smtClean="0"/>
              <a:t>30</a:t>
            </a:fld>
            <a:endParaRPr lang="en-US"/>
          </a:p>
        </p:txBody>
      </p:sp>
    </p:spTree>
    <p:extLst>
      <p:ext uri="{BB962C8B-B14F-4D97-AF65-F5344CB8AC3E}">
        <p14:creationId xmlns:p14="http://schemas.microsoft.com/office/powerpoint/2010/main" val="11718722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now have a look at pseudocode for the data structure we just described</a:t>
            </a:r>
          </a:p>
          <a:p>
            <a:endParaRPr lang="en-US" dirty="0"/>
          </a:p>
          <a:p>
            <a:r>
              <a:rPr lang="en-US" dirty="0"/>
              <a:t>We create a new class Node with 4 instance variables that we initialize via a constructor method</a:t>
            </a:r>
          </a:p>
        </p:txBody>
      </p:sp>
      <p:sp>
        <p:nvSpPr>
          <p:cNvPr id="4" name="Slide Number Placeholder 3"/>
          <p:cNvSpPr>
            <a:spLocks noGrp="1"/>
          </p:cNvSpPr>
          <p:nvPr>
            <p:ph type="sldNum" sz="quarter" idx="5"/>
          </p:nvPr>
        </p:nvSpPr>
        <p:spPr/>
        <p:txBody>
          <a:bodyPr/>
          <a:lstStyle/>
          <a:p>
            <a:fld id="{20FE9652-8391-5B4D-BBDF-BC776AB7EFBA}" type="slidenum">
              <a:rPr lang="en-US" smtClean="0"/>
              <a:t>31</a:t>
            </a:fld>
            <a:endParaRPr lang="en-US"/>
          </a:p>
        </p:txBody>
      </p:sp>
    </p:spTree>
    <p:extLst>
      <p:ext uri="{BB962C8B-B14F-4D97-AF65-F5344CB8AC3E}">
        <p14:creationId xmlns:p14="http://schemas.microsoft.com/office/powerpoint/2010/main" val="233323936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FE9652-8391-5B4D-BBDF-BC776AB7EFBA}" type="slidenum">
              <a:rPr lang="en-US" smtClean="0"/>
              <a:t>32</a:t>
            </a:fld>
            <a:endParaRPr lang="en-US"/>
          </a:p>
        </p:txBody>
      </p:sp>
    </p:spTree>
    <p:extLst>
      <p:ext uri="{BB962C8B-B14F-4D97-AF65-F5344CB8AC3E}">
        <p14:creationId xmlns:p14="http://schemas.microsoft.com/office/powerpoint/2010/main" val="322629536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FE9652-8391-5B4D-BBDF-BC776AB7EFBA}" type="slidenum">
              <a:rPr lang="en-US" smtClean="0"/>
              <a:t>33</a:t>
            </a:fld>
            <a:endParaRPr lang="en-US"/>
          </a:p>
        </p:txBody>
      </p:sp>
    </p:spTree>
    <p:extLst>
      <p:ext uri="{BB962C8B-B14F-4D97-AF65-F5344CB8AC3E}">
        <p14:creationId xmlns:p14="http://schemas.microsoft.com/office/powerpoint/2010/main" val="8745841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Create root</a:t>
            </a:r>
          </a:p>
          <a:p>
            <a:endParaRPr lang="en-US" dirty="0"/>
          </a:p>
          <a:p>
            <a:r>
              <a:rPr lang="en-US" dirty="0"/>
              <a:t>Then interleave put/get ops as I wish</a:t>
            </a:r>
          </a:p>
          <a:p>
            <a:endParaRPr lang="en-US" dirty="0"/>
          </a:p>
          <a:p>
            <a:r>
              <a:rPr lang="en-US" dirty="0"/>
              <a:t>Cost?</a:t>
            </a:r>
          </a:p>
        </p:txBody>
      </p:sp>
      <p:sp>
        <p:nvSpPr>
          <p:cNvPr id="4" name="Slide Number Placeholder 3"/>
          <p:cNvSpPr>
            <a:spLocks noGrp="1"/>
          </p:cNvSpPr>
          <p:nvPr>
            <p:ph type="sldNum" sz="quarter" idx="5"/>
          </p:nvPr>
        </p:nvSpPr>
        <p:spPr/>
        <p:txBody>
          <a:bodyPr/>
          <a:lstStyle/>
          <a:p>
            <a:fld id="{20FE9652-8391-5B4D-BBDF-BC776AB7EFBA}" type="slidenum">
              <a:rPr lang="en-US" smtClean="0"/>
              <a:t>34</a:t>
            </a:fld>
            <a:endParaRPr lang="en-US"/>
          </a:p>
        </p:txBody>
      </p:sp>
    </p:spTree>
    <p:extLst>
      <p:ext uri="{BB962C8B-B14F-4D97-AF65-F5344CB8AC3E}">
        <p14:creationId xmlns:p14="http://schemas.microsoft.com/office/powerpoint/2010/main" val="353471966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Best case: perfectly balanced tree. Height of tree is log N. cost O(log N)</a:t>
            </a:r>
          </a:p>
          <a:p>
            <a:endParaRPr lang="en-US" dirty="0"/>
          </a:p>
          <a:p>
            <a:r>
              <a:rPr lang="en-US" dirty="0"/>
              <a:t>Worst case: </a:t>
            </a:r>
            <a:r>
              <a:rPr lang="en-US" b="1" dirty="0"/>
              <a:t>if keys are inserted in natural order</a:t>
            </a:r>
            <a:r>
              <a:rPr lang="en-US" dirty="0"/>
              <a:t>, then we don't get any benefit from having a tree, since in practice we are dealing with a linked list (order of N). And we can’t say “let’s shuffle the keys” as we did in quicksort, because we have no control over the order with which insert operations are performed by the client app (example of search, they come in dynamically)</a:t>
            </a:r>
          </a:p>
          <a:p>
            <a:endParaRPr lang="en-US" dirty="0"/>
          </a:p>
          <a:p>
            <a:r>
              <a:rPr lang="en-US" dirty="0"/>
              <a:t>In practice, the typical case is sort of balanced (search keys come in random order), which means our average cost for put/het is pretty low (log N). But if I want guaranteed performance, we need different DS</a:t>
            </a:r>
          </a:p>
          <a:p>
            <a:endParaRPr lang="en-US" dirty="0"/>
          </a:p>
          <a:p>
            <a:endParaRPr lang="en-US" dirty="0"/>
          </a:p>
        </p:txBody>
      </p:sp>
      <p:sp>
        <p:nvSpPr>
          <p:cNvPr id="4" name="Slide Number Placeholder 3"/>
          <p:cNvSpPr>
            <a:spLocks noGrp="1"/>
          </p:cNvSpPr>
          <p:nvPr>
            <p:ph type="sldNum" sz="quarter" idx="5"/>
          </p:nvPr>
        </p:nvSpPr>
        <p:spPr/>
        <p:txBody>
          <a:bodyPr/>
          <a:lstStyle/>
          <a:p>
            <a:fld id="{20FE9652-8391-5B4D-BBDF-BC776AB7EFBA}" type="slidenum">
              <a:rPr lang="en-US" smtClean="0"/>
              <a:t>35</a:t>
            </a:fld>
            <a:endParaRPr lang="en-US"/>
          </a:p>
        </p:txBody>
      </p:sp>
    </p:spTree>
    <p:extLst>
      <p:ext uri="{BB962C8B-B14F-4D97-AF65-F5344CB8AC3E}">
        <p14:creationId xmlns:p14="http://schemas.microsoft.com/office/powerpoint/2010/main" val="383011853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Tx/>
              <a:buNone/>
            </a:pPr>
            <a:r>
              <a:rPr lang="en-US" dirty="0"/>
              <a:t>Recap</a:t>
            </a:r>
          </a:p>
          <a:p>
            <a:pPr marL="0" indent="0">
              <a:buFontTx/>
              <a:buNone/>
            </a:pPr>
            <a:endParaRPr lang="en-US" dirty="0"/>
          </a:p>
          <a:p>
            <a:pPr marL="0" indent="0">
              <a:buFontTx/>
              <a:buNone/>
            </a:pPr>
            <a:r>
              <a:rPr lang="en-US" dirty="0"/>
              <a:t>Neat performance improvement on average case, but if we need guaranteed performance no matter what the order of key insertion is, then we need different DS and algorithm (next: balanced search tree)</a:t>
            </a:r>
          </a:p>
          <a:p>
            <a:pPr marL="0" indent="0">
              <a:buFontTx/>
              <a:buNone/>
            </a:pPr>
            <a:endParaRPr lang="en-US" dirty="0"/>
          </a:p>
          <a:p>
            <a:pPr marL="0" indent="0">
              <a:buFontTx/>
              <a:buNone/>
            </a:pPr>
            <a:r>
              <a:rPr lang="en-US" dirty="0"/>
              <a:t>Before we do so, we should expand a little on the operations we often want to do on symbol tables</a:t>
            </a:r>
          </a:p>
          <a:p>
            <a:pPr marL="0" indent="0">
              <a:buFontTx/>
              <a:buNone/>
            </a:pPr>
            <a:endParaRPr lang="en-US" dirty="0"/>
          </a:p>
          <a:p>
            <a:pPr marL="0" indent="0">
              <a:buFontTx/>
              <a:buNone/>
            </a:pPr>
            <a:r>
              <a:rPr lang="en-US" dirty="0"/>
              <a:t>It is true that put &amp; get are the fundamental ones, but in many practical applications, there are others, and the ability to implement them efficiently is important when it comes to decide how to implement a symbol table ADT. What are these other operations? Next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A8918F-5AD9-E04B-8904-1D5B7230DE0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9588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15104-30DF-C243-B6F5-80F122C437F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505F9C87-B826-1B49-A847-710502CBD1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A98F453F-4E94-824B-AFA6-EB4E86C0E278}"/>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11/6/20</a:t>
            </a:fld>
            <a:endParaRPr lang="en-US"/>
          </a:p>
        </p:txBody>
      </p:sp>
      <p:sp>
        <p:nvSpPr>
          <p:cNvPr id="5" name="Footer Placeholder 4">
            <a:extLst>
              <a:ext uri="{FF2B5EF4-FFF2-40B4-BE49-F238E27FC236}">
                <a16:creationId xmlns:a16="http://schemas.microsoft.com/office/drawing/2014/main" id="{8692B56E-3BBC-654D-8FA9-E1F006DD63C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5C188353-695E-914E-959B-1DE06138DF1B}"/>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3672634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1D7F73-75A7-BF4C-9B87-0E5DAA268B72}"/>
              </a:ext>
            </a:extLst>
          </p:cNvPr>
          <p:cNvSpPr>
            <a:spLocks noGrp="1"/>
          </p:cNvSpPr>
          <p:nvPr>
            <p:ph type="title"/>
          </p:nvPr>
        </p:nvSpPr>
        <p:spPr>
          <a:xfrm>
            <a:off x="383058" y="253106"/>
            <a:ext cx="10132541" cy="720000"/>
          </a:xfrm>
        </p:spPr>
        <p:txBody>
          <a:bodyPr/>
          <a:lstStyle>
            <a:lvl1pPr>
              <a:defRPr b="1" cap="all" baseline="0">
                <a:latin typeface="Arial" panose="020B0604020202020204" pitchFamily="34" charset="0"/>
                <a:cs typeface="Arial" panose="020B0604020202020204" pitchFamily="34" charset="0"/>
              </a:defRPr>
            </a:lvl1pPr>
          </a:lstStyle>
          <a:p>
            <a:r>
              <a:rPr lang="en-GB" dirty="0"/>
              <a:t>Click to edit Master title style</a:t>
            </a:r>
            <a:endParaRPr lang="en-US" dirty="0"/>
          </a:p>
        </p:txBody>
      </p:sp>
      <p:sp>
        <p:nvSpPr>
          <p:cNvPr id="3" name="Content Placeholder 2">
            <a:extLst>
              <a:ext uri="{FF2B5EF4-FFF2-40B4-BE49-F238E27FC236}">
                <a16:creationId xmlns:a16="http://schemas.microsoft.com/office/drawing/2014/main" id="{0DD49A81-21ED-634D-B435-4DA1AB93F8E7}"/>
              </a:ext>
            </a:extLst>
          </p:cNvPr>
          <p:cNvSpPr>
            <a:spLocks noGrp="1"/>
          </p:cNvSpPr>
          <p:nvPr>
            <p:ph idx="1"/>
          </p:nvPr>
        </p:nvSpPr>
        <p:spPr>
          <a:xfrm>
            <a:off x="197707" y="1544596"/>
            <a:ext cx="11479427" cy="501684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332122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DC7776-6F62-7949-AC29-57711FE6F1B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81DDEED-88CB-854F-A579-2E9F5C88EA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2D43E4C-5521-A646-9E20-EDBF5E089B20}"/>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11/6/20</a:t>
            </a:fld>
            <a:endParaRPr lang="en-US"/>
          </a:p>
        </p:txBody>
      </p:sp>
      <p:sp>
        <p:nvSpPr>
          <p:cNvPr id="5" name="Footer Placeholder 4">
            <a:extLst>
              <a:ext uri="{FF2B5EF4-FFF2-40B4-BE49-F238E27FC236}">
                <a16:creationId xmlns:a16="http://schemas.microsoft.com/office/drawing/2014/main" id="{E294BB6D-FB51-F14E-96DC-CB799402A16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256CE9B-3262-4946-BA2B-2E15B1284C34}"/>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1002527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E6477B-0526-5246-ADF9-A09D32252BE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E19C74B-6A3E-0D41-A414-968897748D1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8619A30-BEDD-4E4D-A469-75A32DB6AE7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F90622-BD04-2F49-87BF-8F8A56A92F6E}"/>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11/6/20</a:t>
            </a:fld>
            <a:endParaRPr lang="en-US"/>
          </a:p>
        </p:txBody>
      </p:sp>
      <p:sp>
        <p:nvSpPr>
          <p:cNvPr id="6" name="Footer Placeholder 5">
            <a:extLst>
              <a:ext uri="{FF2B5EF4-FFF2-40B4-BE49-F238E27FC236}">
                <a16:creationId xmlns:a16="http://schemas.microsoft.com/office/drawing/2014/main" id="{9A236CA9-0AF2-6044-B7B9-D370C9989F5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C6C07945-78CB-FD48-A540-3D195554638F}"/>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27847237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7105D-2311-6C4A-AFBA-C73806614789}"/>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C737611F-9F84-EF46-B687-F45096EE57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28AFF43-7CB4-D043-A4E6-F7EBD5AD17D5}"/>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230651C7-134F-6D4C-B0C9-F97F16FCBDE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ED5B9679-8272-C842-80E7-7C2C35B6B18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75A03A7-9909-8849-989F-56035CE1F120}"/>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11/6/20</a:t>
            </a:fld>
            <a:endParaRPr lang="en-US"/>
          </a:p>
        </p:txBody>
      </p:sp>
      <p:sp>
        <p:nvSpPr>
          <p:cNvPr id="8" name="Footer Placeholder 7">
            <a:extLst>
              <a:ext uri="{FF2B5EF4-FFF2-40B4-BE49-F238E27FC236}">
                <a16:creationId xmlns:a16="http://schemas.microsoft.com/office/drawing/2014/main" id="{12FF941C-DA96-0244-A4BD-DDC68807CB7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7E82B1AB-E8BD-194D-A1B0-84EEEAD59BF1}"/>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1584896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2B65D-442A-8843-8F16-7ABEA571F0C1}"/>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3E569297-1F38-2D41-BF9E-9074D73DB2D6}"/>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11/6/20</a:t>
            </a:fld>
            <a:endParaRPr lang="en-US"/>
          </a:p>
        </p:txBody>
      </p:sp>
      <p:sp>
        <p:nvSpPr>
          <p:cNvPr id="4" name="Footer Placeholder 3">
            <a:extLst>
              <a:ext uri="{FF2B5EF4-FFF2-40B4-BE49-F238E27FC236}">
                <a16:creationId xmlns:a16="http://schemas.microsoft.com/office/drawing/2014/main" id="{0CF6E31A-1A8B-DA41-96E1-AE81C5DA0FCD}"/>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E2695C91-339E-644D-8D83-3DE22C835930}"/>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548442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83269F9-C47F-5B42-8277-D273C1826E6B}"/>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11/6/20</a:t>
            </a:fld>
            <a:endParaRPr lang="en-US"/>
          </a:p>
        </p:txBody>
      </p:sp>
      <p:sp>
        <p:nvSpPr>
          <p:cNvPr id="3" name="Footer Placeholder 2">
            <a:extLst>
              <a:ext uri="{FF2B5EF4-FFF2-40B4-BE49-F238E27FC236}">
                <a16:creationId xmlns:a16="http://schemas.microsoft.com/office/drawing/2014/main" id="{2D479E2E-0F80-CC4C-AC36-AEBFFC9CCB8E}"/>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584C028F-9D1D-4246-9A8D-9B12841F5F0C}"/>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2196614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C425B-9808-AA41-9609-755D86C88E0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AD59FAE-9E85-D84D-8A74-ADC02B429B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AF805D49-C024-1643-8B1C-B03459C691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168C301-58C0-8443-A8FD-FE276F98DE3A}"/>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11/6/20</a:t>
            </a:fld>
            <a:endParaRPr lang="en-US"/>
          </a:p>
        </p:txBody>
      </p:sp>
      <p:sp>
        <p:nvSpPr>
          <p:cNvPr id="6" name="Footer Placeholder 5">
            <a:extLst>
              <a:ext uri="{FF2B5EF4-FFF2-40B4-BE49-F238E27FC236}">
                <a16:creationId xmlns:a16="http://schemas.microsoft.com/office/drawing/2014/main" id="{32EAA141-96BB-DB4F-B27D-6F7AF7D750A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09A4CBB8-298F-1246-BC42-25680FD0A10A}"/>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1788439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4C04D-5F03-AA4D-8037-39B8E6634A0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20F1385-96F7-A140-AA79-83ACBA2635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311CC3-A00C-784B-8C87-ECE428E1D87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DB1CC509-EA9D-234D-BD95-51099A8B9FD9}"/>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11/6/20</a:t>
            </a:fld>
            <a:endParaRPr lang="en-US"/>
          </a:p>
        </p:txBody>
      </p:sp>
      <p:sp>
        <p:nvSpPr>
          <p:cNvPr id="6" name="Footer Placeholder 5">
            <a:extLst>
              <a:ext uri="{FF2B5EF4-FFF2-40B4-BE49-F238E27FC236}">
                <a16:creationId xmlns:a16="http://schemas.microsoft.com/office/drawing/2014/main" id="{5FA28714-646A-7642-ACC7-DBE60426080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E87C2430-0B85-1D4C-B46F-FC7DD6A15A4C}"/>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7237502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43C0C-A609-F342-919D-11DD78C4413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2119D3E-C74D-5148-A3E6-FF8D596BB68C}"/>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6616387-CFBA-0342-A560-13C5D7882A59}"/>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11/6/20</a:t>
            </a:fld>
            <a:endParaRPr lang="en-US"/>
          </a:p>
        </p:txBody>
      </p:sp>
      <p:sp>
        <p:nvSpPr>
          <p:cNvPr id="5" name="Footer Placeholder 4">
            <a:extLst>
              <a:ext uri="{FF2B5EF4-FFF2-40B4-BE49-F238E27FC236}">
                <a16:creationId xmlns:a16="http://schemas.microsoft.com/office/drawing/2014/main" id="{63A1E4AB-2F0E-DE42-A638-F24757D1795F}"/>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469DB63D-2E4D-4241-83AC-C6A15648C43B}"/>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41305709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84ADECF-14E8-3C41-B869-448FE504D41A}"/>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45B74BE-C693-0E44-8F73-00799AB9962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8E273F7-69F8-D743-8DD7-63377B1970D9}"/>
              </a:ext>
            </a:extLst>
          </p:cNvPr>
          <p:cNvSpPr>
            <a:spLocks noGrp="1"/>
          </p:cNvSpPr>
          <p:nvPr>
            <p:ph type="dt" sz="half" idx="10"/>
          </p:nvPr>
        </p:nvSpPr>
        <p:spPr>
          <a:xfrm>
            <a:off x="838200" y="6356350"/>
            <a:ext cx="2743200" cy="365125"/>
          </a:xfrm>
          <a:prstGeom prst="rect">
            <a:avLst/>
          </a:prstGeom>
        </p:spPr>
        <p:txBody>
          <a:bodyPr/>
          <a:lstStyle/>
          <a:p>
            <a:fld id="{BDA94195-58C4-C848-90FD-8ABADCA47C32}" type="datetimeFigureOut">
              <a:rPr lang="en-US" smtClean="0"/>
              <a:t>11/6/20</a:t>
            </a:fld>
            <a:endParaRPr lang="en-US"/>
          </a:p>
        </p:txBody>
      </p:sp>
      <p:sp>
        <p:nvSpPr>
          <p:cNvPr id="5" name="Footer Placeholder 4">
            <a:extLst>
              <a:ext uri="{FF2B5EF4-FFF2-40B4-BE49-F238E27FC236}">
                <a16:creationId xmlns:a16="http://schemas.microsoft.com/office/drawing/2014/main" id="{17C162B8-7B1D-774A-AE0D-C751F2ACC8C4}"/>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6BA8F8AB-2631-7F49-804C-2B75DF4D3D17}"/>
              </a:ext>
            </a:extLst>
          </p:cNvPr>
          <p:cNvSpPr>
            <a:spLocks noGrp="1"/>
          </p:cNvSpPr>
          <p:nvPr>
            <p:ph type="sldNum" sz="quarter" idx="12"/>
          </p:nvPr>
        </p:nvSpPr>
        <p:spPr>
          <a:xfrm>
            <a:off x="8610600" y="6356350"/>
            <a:ext cx="2743200" cy="365125"/>
          </a:xfrm>
          <a:prstGeom prst="rect">
            <a:avLst/>
          </a:prstGeom>
        </p:spPr>
        <p:txBody>
          <a:bodyPr/>
          <a:lstStyle/>
          <a:p>
            <a:fld id="{05840EBB-9F53-814B-8C4A-7F047AABFC84}" type="slidenum">
              <a:rPr lang="en-US" smtClean="0"/>
              <a:t>‹#›</a:t>
            </a:fld>
            <a:endParaRPr lang="en-US"/>
          </a:p>
        </p:txBody>
      </p:sp>
    </p:spTree>
    <p:extLst>
      <p:ext uri="{BB962C8B-B14F-4D97-AF65-F5344CB8AC3E}">
        <p14:creationId xmlns:p14="http://schemas.microsoft.com/office/powerpoint/2010/main" val="21543791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rge banner">
    <p:spTree>
      <p:nvGrpSpPr>
        <p:cNvPr id="1" name=""/>
        <p:cNvGrpSpPr/>
        <p:nvPr/>
      </p:nvGrpSpPr>
      <p:grpSpPr>
        <a:xfrm>
          <a:off x="0" y="0"/>
          <a:ext cx="0" cy="0"/>
          <a:chOff x="0" y="0"/>
          <a:chExt cx="0" cy="0"/>
        </a:xfrm>
      </p:grpSpPr>
      <p:sp>
        <p:nvSpPr>
          <p:cNvPr id="2" name="Title 1"/>
          <p:cNvSpPr>
            <a:spLocks noGrp="1"/>
          </p:cNvSpPr>
          <p:nvPr>
            <p:ph type="title"/>
          </p:nvPr>
        </p:nvSpPr>
        <p:spPr>
          <a:xfrm>
            <a:off x="838200" y="2032617"/>
            <a:ext cx="10515600" cy="1325563"/>
          </a:xfrm>
          <a:prstGeom prst="rect">
            <a:avLst/>
          </a:prstGeom>
        </p:spPr>
        <p:txBody>
          <a:bodyPr/>
          <a:lstStyle>
            <a:lvl1pPr>
              <a:defRPr sz="4267" b="1">
                <a:solidFill>
                  <a:srgbClr val="D6D2C4"/>
                </a:solidFill>
                <a:latin typeface="Arial" charset="0"/>
                <a:ea typeface="Arial" charset="0"/>
                <a:cs typeface="Arial" charset="0"/>
              </a:defRPr>
            </a:lvl1pPr>
          </a:lstStyle>
          <a:p>
            <a:r>
              <a:rPr lang="en-US" dirty="0"/>
              <a:t>Click to edit Master title style</a:t>
            </a:r>
          </a:p>
        </p:txBody>
      </p:sp>
      <p:sp>
        <p:nvSpPr>
          <p:cNvPr id="3" name="Content Placeholder 2"/>
          <p:cNvSpPr>
            <a:spLocks noGrp="1"/>
          </p:cNvSpPr>
          <p:nvPr>
            <p:ph idx="1"/>
          </p:nvPr>
        </p:nvSpPr>
        <p:spPr>
          <a:xfrm>
            <a:off x="838200" y="3474719"/>
            <a:ext cx="10515600" cy="2702244"/>
          </a:xfrm>
        </p:spPr>
        <p:txBody>
          <a:bodyPr/>
          <a:lstStyle>
            <a:lvl1pPr>
              <a:defRPr>
                <a:solidFill>
                  <a:schemeClr val="tx1"/>
                </a:solidFill>
              </a:defRPr>
            </a:lvl1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p:cNvGrpSpPr/>
          <p:nvPr userDrawn="1"/>
        </p:nvGrpSpPr>
        <p:grpSpPr>
          <a:xfrm>
            <a:off x="0" y="1"/>
            <a:ext cx="12192000" cy="1646767"/>
            <a:chOff x="0" y="-66259"/>
            <a:chExt cx="9144000" cy="1235075"/>
          </a:xfrm>
        </p:grpSpPr>
        <p:sp>
          <p:nvSpPr>
            <p:cNvPr id="10" name="Freeform 24"/>
            <p:cNvSpPr>
              <a:spLocks/>
            </p:cNvSpPr>
            <p:nvPr/>
          </p:nvSpPr>
          <p:spPr bwMode="auto">
            <a:xfrm>
              <a:off x="0" y="-66259"/>
              <a:ext cx="9144000" cy="1235075"/>
            </a:xfrm>
            <a:custGeom>
              <a:avLst/>
              <a:gdLst>
                <a:gd name="T0" fmla="*/ 0 w 1123"/>
                <a:gd name="T1" fmla="*/ 0 h 151"/>
                <a:gd name="T2" fmla="*/ 0 w 1123"/>
                <a:gd name="T3" fmla="*/ 151 h 151"/>
                <a:gd name="T4" fmla="*/ 844 w 1123"/>
                <a:gd name="T5" fmla="*/ 151 h 151"/>
                <a:gd name="T6" fmla="*/ 841 w 1123"/>
                <a:gd name="T7" fmla="*/ 148 h 151"/>
                <a:gd name="T8" fmla="*/ 832 w 1123"/>
                <a:gd name="T9" fmla="*/ 122 h 151"/>
                <a:gd name="T10" fmla="*/ 832 w 1123"/>
                <a:gd name="T11" fmla="*/ 72 h 151"/>
                <a:gd name="T12" fmla="*/ 859 w 1123"/>
                <a:gd name="T13" fmla="*/ 72 h 151"/>
                <a:gd name="T14" fmla="*/ 859 w 1123"/>
                <a:gd name="T15" fmla="*/ 124 h 151"/>
                <a:gd name="T16" fmla="*/ 863 w 1123"/>
                <a:gd name="T17" fmla="*/ 135 h 151"/>
                <a:gd name="T18" fmla="*/ 871 w 1123"/>
                <a:gd name="T19" fmla="*/ 138 h 151"/>
                <a:gd name="T20" fmla="*/ 880 w 1123"/>
                <a:gd name="T21" fmla="*/ 135 h 151"/>
                <a:gd name="T22" fmla="*/ 883 w 1123"/>
                <a:gd name="T23" fmla="*/ 124 h 151"/>
                <a:gd name="T24" fmla="*/ 883 w 1123"/>
                <a:gd name="T25" fmla="*/ 72 h 151"/>
                <a:gd name="T26" fmla="*/ 910 w 1123"/>
                <a:gd name="T27" fmla="*/ 72 h 151"/>
                <a:gd name="T28" fmla="*/ 910 w 1123"/>
                <a:gd name="T29" fmla="*/ 117 h 151"/>
                <a:gd name="T30" fmla="*/ 900 w 1123"/>
                <a:gd name="T31" fmla="*/ 148 h 151"/>
                <a:gd name="T32" fmla="*/ 897 w 1123"/>
                <a:gd name="T33" fmla="*/ 151 h 151"/>
                <a:gd name="T34" fmla="*/ 937 w 1123"/>
                <a:gd name="T35" fmla="*/ 151 h 151"/>
                <a:gd name="T36" fmla="*/ 920 w 1123"/>
                <a:gd name="T37" fmla="*/ 114 h 151"/>
                <a:gd name="T38" fmla="*/ 964 w 1123"/>
                <a:gd name="T39" fmla="*/ 69 h 151"/>
                <a:gd name="T40" fmla="*/ 998 w 1123"/>
                <a:gd name="T41" fmla="*/ 82 h 151"/>
                <a:gd name="T42" fmla="*/ 1005 w 1123"/>
                <a:gd name="T43" fmla="*/ 92 h 151"/>
                <a:gd name="T44" fmla="*/ 982 w 1123"/>
                <a:gd name="T45" fmla="*/ 103 h 151"/>
                <a:gd name="T46" fmla="*/ 965 w 1123"/>
                <a:gd name="T47" fmla="*/ 89 h 151"/>
                <a:gd name="T48" fmla="*/ 953 w 1123"/>
                <a:gd name="T49" fmla="*/ 94 h 151"/>
                <a:gd name="T50" fmla="*/ 947 w 1123"/>
                <a:gd name="T51" fmla="*/ 113 h 151"/>
                <a:gd name="T52" fmla="*/ 965 w 1123"/>
                <a:gd name="T53" fmla="*/ 137 h 151"/>
                <a:gd name="T54" fmla="*/ 982 w 1123"/>
                <a:gd name="T55" fmla="*/ 123 h 151"/>
                <a:gd name="T56" fmla="*/ 1005 w 1123"/>
                <a:gd name="T57" fmla="*/ 134 h 151"/>
                <a:gd name="T58" fmla="*/ 997 w 1123"/>
                <a:gd name="T59" fmla="*/ 146 h 151"/>
                <a:gd name="T60" fmla="*/ 991 w 1123"/>
                <a:gd name="T61" fmla="*/ 151 h 151"/>
                <a:gd name="T62" fmla="*/ 1016 w 1123"/>
                <a:gd name="T63" fmla="*/ 151 h 151"/>
                <a:gd name="T64" fmla="*/ 1016 w 1123"/>
                <a:gd name="T65" fmla="*/ 72 h 151"/>
                <a:gd name="T66" fmla="*/ 1042 w 1123"/>
                <a:gd name="T67" fmla="*/ 72 h 151"/>
                <a:gd name="T68" fmla="*/ 1042 w 1123"/>
                <a:gd name="T69" fmla="*/ 134 h 151"/>
                <a:gd name="T70" fmla="*/ 1077 w 1123"/>
                <a:gd name="T71" fmla="*/ 134 h 151"/>
                <a:gd name="T72" fmla="*/ 1077 w 1123"/>
                <a:gd name="T73" fmla="*/ 151 h 151"/>
                <a:gd name="T74" fmla="*/ 1123 w 1123"/>
                <a:gd name="T75" fmla="*/ 151 h 151"/>
                <a:gd name="T76" fmla="*/ 1123 w 1123"/>
                <a:gd name="T77" fmla="*/ 0 h 151"/>
                <a:gd name="T78" fmla="*/ 0 w 1123"/>
                <a:gd name="T79" fmla="*/ 0 h 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23" h="151">
                  <a:moveTo>
                    <a:pt x="0" y="0"/>
                  </a:moveTo>
                  <a:cubicBezTo>
                    <a:pt x="0" y="151"/>
                    <a:pt x="0" y="151"/>
                    <a:pt x="0" y="151"/>
                  </a:cubicBezTo>
                  <a:cubicBezTo>
                    <a:pt x="844" y="151"/>
                    <a:pt x="844" y="151"/>
                    <a:pt x="844" y="151"/>
                  </a:cubicBezTo>
                  <a:cubicBezTo>
                    <a:pt x="843" y="150"/>
                    <a:pt x="842" y="149"/>
                    <a:pt x="841" y="148"/>
                  </a:cubicBezTo>
                  <a:cubicBezTo>
                    <a:pt x="833" y="140"/>
                    <a:pt x="833" y="131"/>
                    <a:pt x="832" y="122"/>
                  </a:cubicBezTo>
                  <a:cubicBezTo>
                    <a:pt x="832" y="72"/>
                    <a:pt x="832" y="72"/>
                    <a:pt x="832" y="72"/>
                  </a:cubicBezTo>
                  <a:cubicBezTo>
                    <a:pt x="859" y="72"/>
                    <a:pt x="859" y="72"/>
                    <a:pt x="859" y="72"/>
                  </a:cubicBezTo>
                  <a:cubicBezTo>
                    <a:pt x="859" y="124"/>
                    <a:pt x="859" y="124"/>
                    <a:pt x="859" y="124"/>
                  </a:cubicBezTo>
                  <a:cubicBezTo>
                    <a:pt x="859" y="128"/>
                    <a:pt x="860" y="132"/>
                    <a:pt x="863" y="135"/>
                  </a:cubicBezTo>
                  <a:cubicBezTo>
                    <a:pt x="865" y="137"/>
                    <a:pt x="868" y="138"/>
                    <a:pt x="871" y="138"/>
                  </a:cubicBezTo>
                  <a:cubicBezTo>
                    <a:pt x="875" y="138"/>
                    <a:pt x="878" y="136"/>
                    <a:pt x="880" y="135"/>
                  </a:cubicBezTo>
                  <a:cubicBezTo>
                    <a:pt x="883" y="132"/>
                    <a:pt x="883" y="128"/>
                    <a:pt x="883" y="124"/>
                  </a:cubicBezTo>
                  <a:cubicBezTo>
                    <a:pt x="883" y="72"/>
                    <a:pt x="883" y="72"/>
                    <a:pt x="883" y="72"/>
                  </a:cubicBezTo>
                  <a:cubicBezTo>
                    <a:pt x="910" y="72"/>
                    <a:pt x="910" y="72"/>
                    <a:pt x="910" y="72"/>
                  </a:cubicBezTo>
                  <a:cubicBezTo>
                    <a:pt x="910" y="117"/>
                    <a:pt x="910" y="117"/>
                    <a:pt x="910" y="117"/>
                  </a:cubicBezTo>
                  <a:cubicBezTo>
                    <a:pt x="910" y="126"/>
                    <a:pt x="910" y="139"/>
                    <a:pt x="900" y="148"/>
                  </a:cubicBezTo>
                  <a:cubicBezTo>
                    <a:pt x="899" y="149"/>
                    <a:pt x="898" y="150"/>
                    <a:pt x="897" y="151"/>
                  </a:cubicBezTo>
                  <a:cubicBezTo>
                    <a:pt x="937" y="151"/>
                    <a:pt x="937" y="151"/>
                    <a:pt x="937" y="151"/>
                  </a:cubicBezTo>
                  <a:cubicBezTo>
                    <a:pt x="925" y="142"/>
                    <a:pt x="920" y="128"/>
                    <a:pt x="920" y="114"/>
                  </a:cubicBezTo>
                  <a:cubicBezTo>
                    <a:pt x="920" y="92"/>
                    <a:pt x="935" y="69"/>
                    <a:pt x="964" y="69"/>
                  </a:cubicBezTo>
                  <a:cubicBezTo>
                    <a:pt x="976" y="69"/>
                    <a:pt x="989" y="73"/>
                    <a:pt x="998" y="82"/>
                  </a:cubicBezTo>
                  <a:cubicBezTo>
                    <a:pt x="1001" y="86"/>
                    <a:pt x="1003" y="89"/>
                    <a:pt x="1005" y="92"/>
                  </a:cubicBezTo>
                  <a:cubicBezTo>
                    <a:pt x="982" y="103"/>
                    <a:pt x="982" y="103"/>
                    <a:pt x="982" y="103"/>
                  </a:cubicBezTo>
                  <a:cubicBezTo>
                    <a:pt x="980" y="98"/>
                    <a:pt x="976" y="89"/>
                    <a:pt x="965" y="89"/>
                  </a:cubicBezTo>
                  <a:cubicBezTo>
                    <a:pt x="959" y="89"/>
                    <a:pt x="955" y="92"/>
                    <a:pt x="953" y="94"/>
                  </a:cubicBezTo>
                  <a:cubicBezTo>
                    <a:pt x="947" y="100"/>
                    <a:pt x="947" y="109"/>
                    <a:pt x="947" y="113"/>
                  </a:cubicBezTo>
                  <a:cubicBezTo>
                    <a:pt x="947" y="125"/>
                    <a:pt x="952" y="137"/>
                    <a:pt x="965" y="137"/>
                  </a:cubicBezTo>
                  <a:cubicBezTo>
                    <a:pt x="977" y="137"/>
                    <a:pt x="981" y="126"/>
                    <a:pt x="982" y="123"/>
                  </a:cubicBezTo>
                  <a:cubicBezTo>
                    <a:pt x="1005" y="134"/>
                    <a:pt x="1005" y="134"/>
                    <a:pt x="1005" y="134"/>
                  </a:cubicBezTo>
                  <a:cubicBezTo>
                    <a:pt x="1003" y="138"/>
                    <a:pt x="1001" y="142"/>
                    <a:pt x="997" y="146"/>
                  </a:cubicBezTo>
                  <a:cubicBezTo>
                    <a:pt x="995" y="148"/>
                    <a:pt x="993" y="150"/>
                    <a:pt x="991" y="151"/>
                  </a:cubicBezTo>
                  <a:cubicBezTo>
                    <a:pt x="1016" y="151"/>
                    <a:pt x="1016" y="151"/>
                    <a:pt x="1016" y="151"/>
                  </a:cubicBezTo>
                  <a:cubicBezTo>
                    <a:pt x="1016" y="72"/>
                    <a:pt x="1016" y="72"/>
                    <a:pt x="1016" y="72"/>
                  </a:cubicBezTo>
                  <a:cubicBezTo>
                    <a:pt x="1042" y="72"/>
                    <a:pt x="1042" y="72"/>
                    <a:pt x="1042" y="72"/>
                  </a:cubicBezTo>
                  <a:cubicBezTo>
                    <a:pt x="1042" y="134"/>
                    <a:pt x="1042" y="134"/>
                    <a:pt x="1042" y="134"/>
                  </a:cubicBezTo>
                  <a:cubicBezTo>
                    <a:pt x="1077" y="134"/>
                    <a:pt x="1077" y="134"/>
                    <a:pt x="1077" y="134"/>
                  </a:cubicBezTo>
                  <a:cubicBezTo>
                    <a:pt x="1077" y="151"/>
                    <a:pt x="1077" y="151"/>
                    <a:pt x="1077" y="151"/>
                  </a:cubicBezTo>
                  <a:cubicBezTo>
                    <a:pt x="1123" y="151"/>
                    <a:pt x="1123" y="151"/>
                    <a:pt x="1123" y="151"/>
                  </a:cubicBezTo>
                  <a:cubicBezTo>
                    <a:pt x="1123" y="0"/>
                    <a:pt x="1123" y="0"/>
                    <a:pt x="1123" y="0"/>
                  </a:cubicBezTo>
                  <a:lnTo>
                    <a:pt x="0" y="0"/>
                  </a:lnTo>
                  <a:close/>
                </a:path>
              </a:pathLst>
            </a:custGeom>
            <a:solidFill>
              <a:srgbClr val="D6D2C4"/>
            </a:solidFill>
            <a:ln>
              <a:noFill/>
            </a:ln>
          </p:spPr>
          <p:txBody>
            <a:bodyPr vert="horz" wrap="square" lIns="91440" tIns="45720" rIns="91440" bIns="45720" numCol="1" anchor="t" anchorCtr="0" compatLnSpc="1">
              <a:prstTxWarp prst="textNoShape">
                <a:avLst/>
              </a:prstTxWarp>
            </a:bodyPr>
            <a:lstStyle/>
            <a:p>
              <a:endParaRPr lang="en-GB" sz="2400"/>
            </a:p>
          </p:txBody>
        </p:sp>
        <p:pic>
          <p:nvPicPr>
            <p:cNvPr id="11" name="Picture 10"/>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6420182" y="514785"/>
              <a:ext cx="257986" cy="303133"/>
            </a:xfrm>
            <a:prstGeom prst="rect">
              <a:avLst/>
            </a:prstGeom>
          </p:spPr>
        </p:pic>
      </p:grpSp>
      <p:sp>
        <p:nvSpPr>
          <p:cNvPr id="7" name="Text Placeholder 6"/>
          <p:cNvSpPr>
            <a:spLocks noGrp="1"/>
          </p:cNvSpPr>
          <p:nvPr>
            <p:ph type="body" sz="quarter" idx="12" hasCustomPrompt="1"/>
          </p:nvPr>
        </p:nvSpPr>
        <p:spPr>
          <a:xfrm>
            <a:off x="383999" y="384000"/>
            <a:ext cx="7318611" cy="390725"/>
          </a:xfrm>
        </p:spPr>
        <p:txBody>
          <a:bodyPr lIns="0" tIns="0" rIns="0" bIns="0">
            <a:noAutofit/>
          </a:bodyPr>
          <a:lstStyle>
            <a:lvl1pPr marL="0" indent="0">
              <a:lnSpc>
                <a:spcPct val="80000"/>
              </a:lnSpc>
              <a:buNone/>
              <a:defRPr sz="1467" baseline="0">
                <a:solidFill>
                  <a:schemeClr val="tx1"/>
                </a:solidFill>
              </a:defRPr>
            </a:lvl1pPr>
            <a:lvl2pPr marL="0" indent="0">
              <a:lnSpc>
                <a:spcPct val="80000"/>
              </a:lnSpc>
              <a:buNone/>
              <a:defRPr sz="1467">
                <a:solidFill>
                  <a:schemeClr val="tx1"/>
                </a:solidFill>
              </a:defRPr>
            </a:lvl2pPr>
            <a:lvl3pPr marL="0" indent="0">
              <a:buNone/>
              <a:defRPr sz="1467">
                <a:solidFill>
                  <a:schemeClr val="tx1"/>
                </a:solidFill>
              </a:defRPr>
            </a:lvl3pPr>
            <a:lvl4pPr marL="0" indent="0">
              <a:buNone/>
              <a:defRPr sz="1467">
                <a:solidFill>
                  <a:schemeClr val="tx1"/>
                </a:solidFill>
              </a:defRPr>
            </a:lvl4pPr>
            <a:lvl5pPr marL="0" indent="0">
              <a:buNone/>
              <a:defRPr sz="1467">
                <a:solidFill>
                  <a:schemeClr val="tx1"/>
                </a:solidFill>
              </a:defRPr>
            </a:lvl5pPr>
          </a:lstStyle>
          <a:p>
            <a:pPr lvl="0"/>
            <a:r>
              <a:rPr lang="en-US" dirty="0"/>
              <a:t>FACULTY, SCHOOL, DEPARTMENT OR INSTITUTE NAME HERE</a:t>
            </a:r>
          </a:p>
          <a:p>
            <a:pPr lvl="1"/>
            <a:r>
              <a:rPr lang="en-US" dirty="0"/>
              <a:t>SECOND TIER INFORMATION HERE IF NEEDED</a:t>
            </a:r>
          </a:p>
        </p:txBody>
      </p:sp>
    </p:spTree>
    <p:extLst>
      <p:ext uri="{BB962C8B-B14F-4D97-AF65-F5344CB8AC3E}">
        <p14:creationId xmlns:p14="http://schemas.microsoft.com/office/powerpoint/2010/main" val="19425175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hin banner">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383999" y="1326291"/>
            <a:ext cx="11146989" cy="4993416"/>
          </a:xfrm>
        </p:spPr>
        <p:txBody>
          <a:bodyPr>
            <a:normAutofit/>
          </a:bodyPr>
          <a:lstStyle>
            <a:lvl1pPr marL="0" indent="0">
              <a:buNone/>
              <a:defRPr sz="3200" b="0">
                <a:solidFill>
                  <a:schemeClr val="tx1"/>
                </a:solidFill>
              </a:defRPr>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dirty="0"/>
              <a:t>Click to edit Master text styles</a:t>
            </a:r>
          </a:p>
        </p:txBody>
      </p:sp>
      <p:grpSp>
        <p:nvGrpSpPr>
          <p:cNvPr id="6" name="Group 5"/>
          <p:cNvGrpSpPr/>
          <p:nvPr userDrawn="1"/>
        </p:nvGrpSpPr>
        <p:grpSpPr>
          <a:xfrm>
            <a:off x="0" y="-2117"/>
            <a:ext cx="12192000" cy="988484"/>
            <a:chOff x="0" y="-1588"/>
            <a:chExt cx="9144000" cy="741363"/>
          </a:xfrm>
          <a:solidFill>
            <a:srgbClr val="D6D2C4"/>
          </a:solidFill>
        </p:grpSpPr>
        <p:sp>
          <p:nvSpPr>
            <p:cNvPr id="8" name="Freeform 5"/>
            <p:cNvSpPr>
              <a:spLocks/>
            </p:cNvSpPr>
            <p:nvPr/>
          </p:nvSpPr>
          <p:spPr bwMode="auto">
            <a:xfrm>
              <a:off x="0" y="-1588"/>
              <a:ext cx="9144000" cy="741363"/>
            </a:xfrm>
            <a:custGeom>
              <a:avLst/>
              <a:gdLst>
                <a:gd name="T0" fmla="*/ 0 w 1123"/>
                <a:gd name="T1" fmla="*/ 0 h 90"/>
                <a:gd name="T2" fmla="*/ 0 w 1123"/>
                <a:gd name="T3" fmla="*/ 90 h 90"/>
                <a:gd name="T4" fmla="*/ 957 w 1123"/>
                <a:gd name="T5" fmla="*/ 90 h 90"/>
                <a:gd name="T6" fmla="*/ 955 w 1123"/>
                <a:gd name="T7" fmla="*/ 89 h 90"/>
                <a:gd name="T8" fmla="*/ 949 w 1123"/>
                <a:gd name="T9" fmla="*/ 73 h 90"/>
                <a:gd name="T10" fmla="*/ 949 w 1123"/>
                <a:gd name="T11" fmla="*/ 43 h 90"/>
                <a:gd name="T12" fmla="*/ 966 w 1123"/>
                <a:gd name="T13" fmla="*/ 43 h 90"/>
                <a:gd name="T14" fmla="*/ 966 w 1123"/>
                <a:gd name="T15" fmla="*/ 74 h 90"/>
                <a:gd name="T16" fmla="*/ 967 w 1123"/>
                <a:gd name="T17" fmla="*/ 80 h 90"/>
                <a:gd name="T18" fmla="*/ 973 w 1123"/>
                <a:gd name="T19" fmla="*/ 82 h 90"/>
                <a:gd name="T20" fmla="*/ 978 w 1123"/>
                <a:gd name="T21" fmla="*/ 80 h 90"/>
                <a:gd name="T22" fmla="*/ 980 w 1123"/>
                <a:gd name="T23" fmla="*/ 74 h 90"/>
                <a:gd name="T24" fmla="*/ 980 w 1123"/>
                <a:gd name="T25" fmla="*/ 43 h 90"/>
                <a:gd name="T26" fmla="*/ 996 w 1123"/>
                <a:gd name="T27" fmla="*/ 43 h 90"/>
                <a:gd name="T28" fmla="*/ 996 w 1123"/>
                <a:gd name="T29" fmla="*/ 70 h 90"/>
                <a:gd name="T30" fmla="*/ 990 w 1123"/>
                <a:gd name="T31" fmla="*/ 89 h 90"/>
                <a:gd name="T32" fmla="*/ 988 w 1123"/>
                <a:gd name="T33" fmla="*/ 90 h 90"/>
                <a:gd name="T34" fmla="*/ 1012 w 1123"/>
                <a:gd name="T35" fmla="*/ 90 h 90"/>
                <a:gd name="T36" fmla="*/ 1002 w 1123"/>
                <a:gd name="T37" fmla="*/ 68 h 90"/>
                <a:gd name="T38" fmla="*/ 1028 w 1123"/>
                <a:gd name="T39" fmla="*/ 41 h 90"/>
                <a:gd name="T40" fmla="*/ 1048 w 1123"/>
                <a:gd name="T41" fmla="*/ 49 h 90"/>
                <a:gd name="T42" fmla="*/ 1052 w 1123"/>
                <a:gd name="T43" fmla="*/ 55 h 90"/>
                <a:gd name="T44" fmla="*/ 1039 w 1123"/>
                <a:gd name="T45" fmla="*/ 62 h 90"/>
                <a:gd name="T46" fmla="*/ 1028 w 1123"/>
                <a:gd name="T47" fmla="*/ 53 h 90"/>
                <a:gd name="T48" fmla="*/ 1022 w 1123"/>
                <a:gd name="T49" fmla="*/ 56 h 90"/>
                <a:gd name="T50" fmla="*/ 1018 w 1123"/>
                <a:gd name="T51" fmla="*/ 67 h 90"/>
                <a:gd name="T52" fmla="*/ 1028 w 1123"/>
                <a:gd name="T53" fmla="*/ 82 h 90"/>
                <a:gd name="T54" fmla="*/ 1039 w 1123"/>
                <a:gd name="T55" fmla="*/ 74 h 90"/>
                <a:gd name="T56" fmla="*/ 1052 w 1123"/>
                <a:gd name="T57" fmla="*/ 80 h 90"/>
                <a:gd name="T58" fmla="*/ 1047 w 1123"/>
                <a:gd name="T59" fmla="*/ 87 h 90"/>
                <a:gd name="T60" fmla="*/ 1044 w 1123"/>
                <a:gd name="T61" fmla="*/ 90 h 90"/>
                <a:gd name="T62" fmla="*/ 1059 w 1123"/>
                <a:gd name="T63" fmla="*/ 90 h 90"/>
                <a:gd name="T64" fmla="*/ 1059 w 1123"/>
                <a:gd name="T65" fmla="*/ 43 h 90"/>
                <a:gd name="T66" fmla="*/ 1075 w 1123"/>
                <a:gd name="T67" fmla="*/ 43 h 90"/>
                <a:gd name="T68" fmla="*/ 1075 w 1123"/>
                <a:gd name="T69" fmla="*/ 80 h 90"/>
                <a:gd name="T70" fmla="*/ 1096 w 1123"/>
                <a:gd name="T71" fmla="*/ 80 h 90"/>
                <a:gd name="T72" fmla="*/ 1096 w 1123"/>
                <a:gd name="T73" fmla="*/ 90 h 90"/>
                <a:gd name="T74" fmla="*/ 1123 w 1123"/>
                <a:gd name="T75" fmla="*/ 90 h 90"/>
                <a:gd name="T76" fmla="*/ 1123 w 1123"/>
                <a:gd name="T77" fmla="*/ 0 h 90"/>
                <a:gd name="T78" fmla="*/ 0 w 1123"/>
                <a:gd name="T79" fmla="*/ 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123" h="90">
                  <a:moveTo>
                    <a:pt x="0" y="0"/>
                  </a:moveTo>
                  <a:cubicBezTo>
                    <a:pt x="0" y="90"/>
                    <a:pt x="0" y="90"/>
                    <a:pt x="0" y="90"/>
                  </a:cubicBezTo>
                  <a:cubicBezTo>
                    <a:pt x="957" y="90"/>
                    <a:pt x="957" y="90"/>
                    <a:pt x="957" y="90"/>
                  </a:cubicBezTo>
                  <a:cubicBezTo>
                    <a:pt x="956" y="90"/>
                    <a:pt x="955" y="89"/>
                    <a:pt x="955" y="89"/>
                  </a:cubicBezTo>
                  <a:cubicBezTo>
                    <a:pt x="950" y="84"/>
                    <a:pt x="950" y="78"/>
                    <a:pt x="949" y="73"/>
                  </a:cubicBezTo>
                  <a:cubicBezTo>
                    <a:pt x="949" y="43"/>
                    <a:pt x="949" y="43"/>
                    <a:pt x="949" y="43"/>
                  </a:cubicBezTo>
                  <a:cubicBezTo>
                    <a:pt x="966" y="43"/>
                    <a:pt x="966" y="43"/>
                    <a:pt x="966" y="43"/>
                  </a:cubicBezTo>
                  <a:cubicBezTo>
                    <a:pt x="966" y="74"/>
                    <a:pt x="966" y="74"/>
                    <a:pt x="966" y="74"/>
                  </a:cubicBezTo>
                  <a:cubicBezTo>
                    <a:pt x="966" y="76"/>
                    <a:pt x="966" y="79"/>
                    <a:pt x="967" y="80"/>
                  </a:cubicBezTo>
                  <a:cubicBezTo>
                    <a:pt x="969" y="82"/>
                    <a:pt x="971" y="82"/>
                    <a:pt x="973" y="82"/>
                  </a:cubicBezTo>
                  <a:cubicBezTo>
                    <a:pt x="975" y="82"/>
                    <a:pt x="977" y="81"/>
                    <a:pt x="978" y="80"/>
                  </a:cubicBezTo>
                  <a:cubicBezTo>
                    <a:pt x="979" y="79"/>
                    <a:pt x="980" y="76"/>
                    <a:pt x="980" y="74"/>
                  </a:cubicBezTo>
                  <a:cubicBezTo>
                    <a:pt x="980" y="43"/>
                    <a:pt x="980" y="43"/>
                    <a:pt x="980" y="43"/>
                  </a:cubicBezTo>
                  <a:cubicBezTo>
                    <a:pt x="996" y="43"/>
                    <a:pt x="996" y="43"/>
                    <a:pt x="996" y="43"/>
                  </a:cubicBezTo>
                  <a:cubicBezTo>
                    <a:pt x="996" y="70"/>
                    <a:pt x="996" y="70"/>
                    <a:pt x="996" y="70"/>
                  </a:cubicBezTo>
                  <a:cubicBezTo>
                    <a:pt x="996" y="75"/>
                    <a:pt x="996" y="83"/>
                    <a:pt x="990" y="89"/>
                  </a:cubicBezTo>
                  <a:cubicBezTo>
                    <a:pt x="989" y="89"/>
                    <a:pt x="989" y="90"/>
                    <a:pt x="988" y="90"/>
                  </a:cubicBezTo>
                  <a:cubicBezTo>
                    <a:pt x="1012" y="90"/>
                    <a:pt x="1012" y="90"/>
                    <a:pt x="1012" y="90"/>
                  </a:cubicBezTo>
                  <a:cubicBezTo>
                    <a:pt x="1005" y="85"/>
                    <a:pt x="1002" y="76"/>
                    <a:pt x="1002" y="68"/>
                  </a:cubicBezTo>
                  <a:cubicBezTo>
                    <a:pt x="1002" y="55"/>
                    <a:pt x="1011" y="41"/>
                    <a:pt x="1028" y="41"/>
                  </a:cubicBezTo>
                  <a:cubicBezTo>
                    <a:pt x="1035" y="41"/>
                    <a:pt x="1043" y="44"/>
                    <a:pt x="1048" y="49"/>
                  </a:cubicBezTo>
                  <a:cubicBezTo>
                    <a:pt x="1050" y="51"/>
                    <a:pt x="1051" y="53"/>
                    <a:pt x="1052" y="55"/>
                  </a:cubicBezTo>
                  <a:cubicBezTo>
                    <a:pt x="1039" y="62"/>
                    <a:pt x="1039" y="62"/>
                    <a:pt x="1039" y="62"/>
                  </a:cubicBezTo>
                  <a:cubicBezTo>
                    <a:pt x="1038" y="59"/>
                    <a:pt x="1035" y="53"/>
                    <a:pt x="1028" y="53"/>
                  </a:cubicBezTo>
                  <a:cubicBezTo>
                    <a:pt x="1025" y="53"/>
                    <a:pt x="1023" y="55"/>
                    <a:pt x="1022" y="56"/>
                  </a:cubicBezTo>
                  <a:cubicBezTo>
                    <a:pt x="1018" y="60"/>
                    <a:pt x="1018" y="65"/>
                    <a:pt x="1018" y="67"/>
                  </a:cubicBezTo>
                  <a:cubicBezTo>
                    <a:pt x="1018" y="75"/>
                    <a:pt x="1021" y="82"/>
                    <a:pt x="1028" y="82"/>
                  </a:cubicBezTo>
                  <a:cubicBezTo>
                    <a:pt x="1036" y="82"/>
                    <a:pt x="1038" y="75"/>
                    <a:pt x="1039" y="74"/>
                  </a:cubicBezTo>
                  <a:cubicBezTo>
                    <a:pt x="1052" y="80"/>
                    <a:pt x="1052" y="80"/>
                    <a:pt x="1052" y="80"/>
                  </a:cubicBezTo>
                  <a:cubicBezTo>
                    <a:pt x="1051" y="83"/>
                    <a:pt x="1050" y="85"/>
                    <a:pt x="1047" y="87"/>
                  </a:cubicBezTo>
                  <a:cubicBezTo>
                    <a:pt x="1046" y="88"/>
                    <a:pt x="1045" y="89"/>
                    <a:pt x="1044" y="90"/>
                  </a:cubicBezTo>
                  <a:cubicBezTo>
                    <a:pt x="1059" y="90"/>
                    <a:pt x="1059" y="90"/>
                    <a:pt x="1059" y="90"/>
                  </a:cubicBezTo>
                  <a:cubicBezTo>
                    <a:pt x="1059" y="43"/>
                    <a:pt x="1059" y="43"/>
                    <a:pt x="1059" y="43"/>
                  </a:cubicBezTo>
                  <a:cubicBezTo>
                    <a:pt x="1075" y="43"/>
                    <a:pt x="1075" y="43"/>
                    <a:pt x="1075" y="43"/>
                  </a:cubicBezTo>
                  <a:cubicBezTo>
                    <a:pt x="1075" y="80"/>
                    <a:pt x="1075" y="80"/>
                    <a:pt x="1075" y="80"/>
                  </a:cubicBezTo>
                  <a:cubicBezTo>
                    <a:pt x="1096" y="80"/>
                    <a:pt x="1096" y="80"/>
                    <a:pt x="1096" y="80"/>
                  </a:cubicBezTo>
                  <a:cubicBezTo>
                    <a:pt x="1096" y="90"/>
                    <a:pt x="1096" y="90"/>
                    <a:pt x="1096" y="90"/>
                  </a:cubicBezTo>
                  <a:cubicBezTo>
                    <a:pt x="1123" y="90"/>
                    <a:pt x="1123" y="90"/>
                    <a:pt x="1123" y="90"/>
                  </a:cubicBezTo>
                  <a:cubicBezTo>
                    <a:pt x="1123" y="0"/>
                    <a:pt x="1123" y="0"/>
                    <a:pt x="1123" y="0"/>
                  </a:cubicBezTo>
                  <a:lnTo>
                    <a:pt x="0" y="0"/>
                  </a:lnTo>
                  <a:close/>
                </a:path>
              </a:pathLst>
            </a:custGeom>
            <a:solidFill>
              <a:srgbClr val="D6D2C4"/>
            </a:solidFill>
            <a:ln>
              <a:noFill/>
            </a:ln>
          </p:spPr>
          <p:txBody>
            <a:bodyPr vert="horz" wrap="square" lIns="91440" tIns="45720" rIns="91440" bIns="45720" numCol="1" anchor="t" anchorCtr="0" compatLnSpc="1">
              <a:prstTxWarp prst="textNoShape">
                <a:avLst/>
              </a:prstTxWarp>
            </a:bodyPr>
            <a:lstStyle/>
            <a:p>
              <a:endParaRPr lang="en-GB" sz="2400" dirty="0"/>
            </a:p>
          </p:txBody>
        </p:sp>
        <p:pic>
          <p:nvPicPr>
            <p:cNvPr id="10" name="Picture 9"/>
            <p:cNvPicPr>
              <a:picLocks noChangeAspect="1"/>
            </p:cNvPicPr>
            <p:nvPr/>
          </p:nvPicPr>
          <p:blipFill>
            <a:blip r:embed="rId2">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flipH="1">
              <a:off x="7524000" y="360000"/>
              <a:ext cx="147064" cy="172800"/>
            </a:xfrm>
            <a:prstGeom prst="rect">
              <a:avLst/>
            </a:prstGeom>
            <a:noFill/>
          </p:spPr>
        </p:pic>
      </p:grpSp>
      <p:sp>
        <p:nvSpPr>
          <p:cNvPr id="3" name="Title 2">
            <a:extLst>
              <a:ext uri="{FF2B5EF4-FFF2-40B4-BE49-F238E27FC236}">
                <a16:creationId xmlns:a16="http://schemas.microsoft.com/office/drawing/2014/main" id="{08617264-77E5-D84E-B0FF-1EA9D2C4442E}"/>
              </a:ext>
            </a:extLst>
          </p:cNvPr>
          <p:cNvSpPr>
            <a:spLocks noGrp="1"/>
          </p:cNvSpPr>
          <p:nvPr>
            <p:ph type="title"/>
          </p:nvPr>
        </p:nvSpPr>
        <p:spPr>
          <a:xfrm>
            <a:off x="383999" y="190218"/>
            <a:ext cx="9382171" cy="651911"/>
          </a:xfrm>
          <a:prstGeom prst="rect">
            <a:avLst/>
          </a:prstGeom>
        </p:spPr>
        <p:txBody>
          <a:bodyPr/>
          <a:lstStyle>
            <a:lvl1pPr>
              <a:defRPr sz="4267" b="1">
                <a:latin typeface="Arial" panose="020B0604020202020204" pitchFamily="34" charset="0"/>
                <a:cs typeface="Arial" panose="020B0604020202020204" pitchFamily="34" charset="0"/>
              </a:defRPr>
            </a:lvl1pPr>
          </a:lstStyle>
          <a:p>
            <a:r>
              <a:rPr lang="en-GB" dirty="0"/>
              <a:t>Click to edit Master title style</a:t>
            </a:r>
            <a:endParaRPr lang="en-US" dirty="0"/>
          </a:p>
        </p:txBody>
      </p:sp>
    </p:spTree>
    <p:extLst>
      <p:ext uri="{BB962C8B-B14F-4D97-AF65-F5344CB8AC3E}">
        <p14:creationId xmlns:p14="http://schemas.microsoft.com/office/powerpoint/2010/main" val="21874548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e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32C065B9-79B2-2E46-992C-E436F6FDC61B}"/>
              </a:ext>
            </a:extLst>
          </p:cNvPr>
          <p:cNvPicPr>
            <a:picLocks/>
          </p:cNvPicPr>
          <p:nvPr userDrawn="1"/>
        </p:nvPicPr>
        <p:blipFill>
          <a:blip r:embed="rId13"/>
          <a:stretch>
            <a:fillRect/>
          </a:stretch>
        </p:blipFill>
        <p:spPr>
          <a:xfrm>
            <a:off x="0" y="-11262"/>
            <a:ext cx="12192000" cy="1325564"/>
          </a:xfrm>
          <a:prstGeom prst="rect">
            <a:avLst/>
          </a:prstGeom>
        </p:spPr>
      </p:pic>
      <p:sp>
        <p:nvSpPr>
          <p:cNvPr id="2" name="Title Placeholder 1">
            <a:extLst>
              <a:ext uri="{FF2B5EF4-FFF2-40B4-BE49-F238E27FC236}">
                <a16:creationId xmlns:a16="http://schemas.microsoft.com/office/drawing/2014/main" id="{18D3A9AA-7FD3-E641-8BB9-C7229D097627}"/>
              </a:ext>
            </a:extLst>
          </p:cNvPr>
          <p:cNvSpPr>
            <a:spLocks noGrp="1"/>
          </p:cNvSpPr>
          <p:nvPr>
            <p:ph type="title"/>
          </p:nvPr>
        </p:nvSpPr>
        <p:spPr>
          <a:xfrm>
            <a:off x="0" y="199347"/>
            <a:ext cx="10515600" cy="904346"/>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D6F63258-2D95-1B4C-B09E-444B93AC605E}"/>
              </a:ext>
            </a:extLst>
          </p:cNvPr>
          <p:cNvSpPr>
            <a:spLocks noGrp="1"/>
          </p:cNvSpPr>
          <p:nvPr>
            <p:ph type="body" idx="1"/>
          </p:nvPr>
        </p:nvSpPr>
        <p:spPr>
          <a:xfrm>
            <a:off x="197708" y="1668162"/>
            <a:ext cx="11294076" cy="4893275"/>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1776601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Clr>
          <a:schemeClr val="bg2">
            <a:lumMod val="75000"/>
          </a:schemeClr>
        </a:buClr>
        <a:buFont typeface="Wingdings"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lumMod val="90000"/>
          </a:schemeClr>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838200" y="2000989"/>
            <a:ext cx="10515600" cy="435133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itle 1"/>
          <p:cNvSpPr txBox="1">
            <a:spLocks/>
          </p:cNvSpPr>
          <p:nvPr userDrawn="1"/>
        </p:nvSpPr>
        <p:spPr>
          <a:xfrm>
            <a:off x="220249" y="220779"/>
            <a:ext cx="4289120" cy="939967"/>
          </a:xfrm>
          <a:prstGeom prst="rect">
            <a:avLst/>
          </a:prstGeom>
        </p:spPr>
        <p:txBody>
          <a:bodyPr/>
          <a:lstStyle>
            <a:lvl1pPr algn="l" defTabSz="685800" rtl="0" eaLnBrk="1" latinLnBrk="0" hangingPunct="1">
              <a:lnSpc>
                <a:spcPct val="90000"/>
              </a:lnSpc>
              <a:spcBef>
                <a:spcPct val="0"/>
              </a:spcBef>
              <a:buNone/>
              <a:defRPr sz="3300" kern="1200">
                <a:solidFill>
                  <a:schemeClr val="tx1"/>
                </a:solidFill>
                <a:latin typeface="Arial" charset="0"/>
                <a:ea typeface="Arial" charset="0"/>
                <a:cs typeface="Arial" charset="0"/>
              </a:defRPr>
            </a:lvl1pPr>
          </a:lstStyle>
          <a:p>
            <a:pPr marL="16933"/>
            <a:endParaRPr lang="en-GB" sz="1333" dirty="0">
              <a:solidFill>
                <a:schemeClr val="bg1"/>
              </a:solidFill>
              <a:latin typeface="Arial"/>
              <a:cs typeface="Arial"/>
            </a:endParaRPr>
          </a:p>
        </p:txBody>
      </p:sp>
    </p:spTree>
    <p:extLst>
      <p:ext uri="{BB962C8B-B14F-4D97-AF65-F5344CB8AC3E}">
        <p14:creationId xmlns:p14="http://schemas.microsoft.com/office/powerpoint/2010/main" val="4159540670"/>
      </p:ext>
    </p:extLst>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119997" indent="-119997" algn="l" defTabSz="914377" rtl="0" eaLnBrk="1" latinLnBrk="0" hangingPunct="1">
        <a:lnSpc>
          <a:spcPct val="90000"/>
        </a:lnSpc>
        <a:spcBef>
          <a:spcPts val="1000"/>
        </a:spcBef>
        <a:buFont typeface="Arial" panose="020B0604020202020204" pitchFamily="34" charset="0"/>
        <a:buChar char="•"/>
        <a:defRPr sz="3733" b="1" kern="1200">
          <a:solidFill>
            <a:schemeClr val="tx1"/>
          </a:solidFill>
          <a:latin typeface="Arial" charset="0"/>
          <a:ea typeface="Arial" charset="0"/>
          <a:cs typeface="Arial" charset="0"/>
        </a:defRPr>
      </a:lvl1pPr>
      <a:lvl2pPr marL="119997" indent="-119997" algn="l" defTabSz="914377" rtl="0" eaLnBrk="1" latinLnBrk="0" hangingPunct="1">
        <a:lnSpc>
          <a:spcPct val="90000"/>
        </a:lnSpc>
        <a:spcBef>
          <a:spcPts val="500"/>
        </a:spcBef>
        <a:buFont typeface="Arial" panose="020B0604020202020204" pitchFamily="34" charset="0"/>
        <a:buChar char="•"/>
        <a:defRPr sz="3200" kern="1200">
          <a:solidFill>
            <a:schemeClr val="tx1"/>
          </a:solidFill>
          <a:latin typeface="Arial" charset="0"/>
          <a:ea typeface="Arial" charset="0"/>
          <a:cs typeface="Arial" charset="0"/>
        </a:defRPr>
      </a:lvl2pPr>
      <a:lvl3pPr marL="119997" indent="-119997" algn="l" defTabSz="914377" rtl="0" eaLnBrk="1" latinLnBrk="0" hangingPunct="1">
        <a:lnSpc>
          <a:spcPct val="90000"/>
        </a:lnSpc>
        <a:spcBef>
          <a:spcPts val="500"/>
        </a:spcBef>
        <a:buFont typeface="Arial" panose="020B0604020202020204" pitchFamily="34" charset="0"/>
        <a:buChar char="•"/>
        <a:defRPr sz="1867" b="1" kern="1200">
          <a:solidFill>
            <a:schemeClr val="tx1"/>
          </a:solidFill>
          <a:latin typeface="Arial" charset="0"/>
          <a:ea typeface="Arial" charset="0"/>
          <a:cs typeface="Arial" charset="0"/>
        </a:defRPr>
      </a:lvl3pPr>
      <a:lvl4pPr marL="119997" indent="-119997" algn="l" defTabSz="914377" rtl="0" eaLnBrk="1" latinLnBrk="0" hangingPunct="1">
        <a:lnSpc>
          <a:spcPct val="90000"/>
        </a:lnSpc>
        <a:spcBef>
          <a:spcPts val="500"/>
        </a:spcBef>
        <a:buFont typeface="Arial" panose="020B0604020202020204" pitchFamily="34" charset="0"/>
        <a:buChar char="•"/>
        <a:defRPr sz="1600" kern="1200">
          <a:solidFill>
            <a:schemeClr val="tx1"/>
          </a:solidFill>
          <a:latin typeface="Arial" charset="0"/>
          <a:ea typeface="Arial" charset="0"/>
          <a:cs typeface="Arial" charset="0"/>
        </a:defRPr>
      </a:lvl4pPr>
      <a:lvl5pPr marL="119997" indent="-119997" algn="l" defTabSz="914377" rtl="0" eaLnBrk="1" latinLnBrk="0" hangingPunct="1">
        <a:lnSpc>
          <a:spcPct val="90000"/>
        </a:lnSpc>
        <a:spcBef>
          <a:spcPts val="500"/>
        </a:spcBef>
        <a:buFont typeface="Arial" panose="020B0604020202020204" pitchFamily="34" charset="0"/>
        <a:buChar char="•"/>
        <a:defRPr sz="1333" b="1" kern="1200">
          <a:solidFill>
            <a:schemeClr val="tx1"/>
          </a:solidFill>
          <a:latin typeface="Arial" charset="0"/>
          <a:ea typeface="Arial" charset="0"/>
          <a:cs typeface="Arial"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p:cNvSpPr>
            <a:spLocks noGrp="1"/>
          </p:cNvSpPr>
          <p:nvPr>
            <p:ph type="title"/>
          </p:nvPr>
        </p:nvSpPr>
        <p:spPr>
          <a:xfrm>
            <a:off x="838200" y="2462581"/>
            <a:ext cx="10515600" cy="1929476"/>
          </a:xfrm>
        </p:spPr>
        <p:txBody>
          <a:bodyPr/>
          <a:lstStyle/>
          <a:p>
            <a:r>
              <a:rPr lang="en-US" sz="5333" dirty="0">
                <a:solidFill>
                  <a:schemeClr val="tx1"/>
                </a:solidFill>
              </a:rPr>
              <a:t>COMP0005 – ALGORITHMS </a:t>
            </a:r>
            <a:br>
              <a:rPr lang="en-US" sz="5333" dirty="0">
                <a:solidFill>
                  <a:schemeClr val="tx1"/>
                </a:solidFill>
              </a:rPr>
            </a:br>
            <a:br>
              <a:rPr lang="en-US" sz="3733" dirty="0">
                <a:solidFill>
                  <a:schemeClr val="tx1"/>
                </a:solidFill>
              </a:rPr>
            </a:br>
            <a:r>
              <a:rPr lang="en-US" sz="3733" dirty="0">
                <a:solidFill>
                  <a:schemeClr val="tx1"/>
                </a:solidFill>
              </a:rPr>
              <a:t>3.2 Binary Search Tree</a:t>
            </a:r>
          </a:p>
        </p:txBody>
      </p:sp>
      <p:sp>
        <p:nvSpPr>
          <p:cNvPr id="12" name="Content Placeholder 11"/>
          <p:cNvSpPr>
            <a:spLocks noGrp="1"/>
          </p:cNvSpPr>
          <p:nvPr>
            <p:ph idx="1"/>
          </p:nvPr>
        </p:nvSpPr>
        <p:spPr>
          <a:xfrm>
            <a:off x="838200" y="5189251"/>
            <a:ext cx="10515600" cy="1325563"/>
          </a:xfrm>
        </p:spPr>
        <p:txBody>
          <a:bodyPr/>
          <a:lstStyle/>
          <a:p>
            <a:pPr marL="0" indent="0">
              <a:buNone/>
            </a:pPr>
            <a:r>
              <a:rPr lang="en-US" sz="2667" dirty="0"/>
              <a:t>Prof </a:t>
            </a:r>
            <a:r>
              <a:rPr lang="en-US" sz="2667" dirty="0" err="1"/>
              <a:t>Licia</a:t>
            </a:r>
            <a:r>
              <a:rPr lang="en-US" sz="2667" dirty="0"/>
              <a:t> Capra</a:t>
            </a:r>
          </a:p>
          <a:p>
            <a:pPr marL="0" indent="0">
              <a:buNone/>
            </a:pPr>
            <a:r>
              <a:rPr lang="en-US" sz="2133" dirty="0"/>
              <a:t>Dept of Computer Science</a:t>
            </a:r>
          </a:p>
        </p:txBody>
      </p:sp>
    </p:spTree>
    <p:extLst>
      <p:ext uri="{BB962C8B-B14F-4D97-AF65-F5344CB8AC3E}">
        <p14:creationId xmlns:p14="http://schemas.microsoft.com/office/powerpoint/2010/main" val="41503639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52280-947B-B54D-BD85-25446873A648}"/>
              </a:ext>
            </a:extLst>
          </p:cNvPr>
          <p:cNvSpPr>
            <a:spLocks noGrp="1"/>
          </p:cNvSpPr>
          <p:nvPr>
            <p:ph type="title"/>
          </p:nvPr>
        </p:nvSpPr>
        <p:spPr/>
        <p:txBody>
          <a:bodyPr/>
          <a:lstStyle/>
          <a:p>
            <a:r>
              <a:rPr lang="en-US" dirty="0"/>
              <a:t>CONTENT</a:t>
            </a:r>
          </a:p>
        </p:txBody>
      </p:sp>
      <p:sp>
        <p:nvSpPr>
          <p:cNvPr id="3" name="Content Placeholder 2">
            <a:extLst>
              <a:ext uri="{FF2B5EF4-FFF2-40B4-BE49-F238E27FC236}">
                <a16:creationId xmlns:a16="http://schemas.microsoft.com/office/drawing/2014/main" id="{5697283B-D74E-0649-A65D-235B6239F0F5}"/>
              </a:ext>
            </a:extLst>
          </p:cNvPr>
          <p:cNvSpPr>
            <a:spLocks noGrp="1"/>
          </p:cNvSpPr>
          <p:nvPr>
            <p:ph idx="1"/>
          </p:nvPr>
        </p:nvSpPr>
        <p:spPr/>
        <p:txBody>
          <a:bodyPr/>
          <a:lstStyle/>
          <a:p>
            <a:pPr marL="514350" indent="-514350">
              <a:buFont typeface="+mj-lt"/>
              <a:buAutoNum type="arabicPeriod"/>
            </a:pPr>
            <a:r>
              <a:rPr lang="en-US" dirty="0"/>
              <a:t>Symbol Table </a:t>
            </a:r>
          </a:p>
          <a:p>
            <a:pPr marL="514350" indent="-514350">
              <a:buFont typeface="+mj-lt"/>
              <a:buAutoNum type="arabicPeriod"/>
            </a:pPr>
            <a:r>
              <a:rPr lang="en-US" dirty="0">
                <a:highlight>
                  <a:srgbClr val="C0C0C0"/>
                </a:highlight>
              </a:rPr>
              <a:t>Binary Search Tree</a:t>
            </a:r>
          </a:p>
          <a:p>
            <a:pPr marL="514350" indent="-514350">
              <a:buFont typeface="+mj-lt"/>
              <a:buAutoNum type="arabicPeriod"/>
            </a:pPr>
            <a:r>
              <a:rPr lang="en-US" dirty="0"/>
              <a:t>Balanced Search Tree</a:t>
            </a:r>
          </a:p>
          <a:p>
            <a:pPr marL="514350" indent="-514350">
              <a:buFont typeface="+mj-lt"/>
              <a:buAutoNum type="arabicPeriod"/>
            </a:pPr>
            <a:r>
              <a:rPr lang="en-US" dirty="0"/>
              <a:t>Hash Table</a:t>
            </a:r>
          </a:p>
        </p:txBody>
      </p:sp>
    </p:spTree>
    <p:extLst>
      <p:ext uri="{BB962C8B-B14F-4D97-AF65-F5344CB8AC3E}">
        <p14:creationId xmlns:p14="http://schemas.microsoft.com/office/powerpoint/2010/main" val="2731263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AF963-72BE-DD42-83FF-87F8F824FB71}"/>
              </a:ext>
            </a:extLst>
          </p:cNvPr>
          <p:cNvSpPr>
            <a:spLocks noGrp="1"/>
          </p:cNvSpPr>
          <p:nvPr>
            <p:ph type="title"/>
          </p:nvPr>
        </p:nvSpPr>
        <p:spPr/>
        <p:txBody>
          <a:bodyPr/>
          <a:lstStyle/>
          <a:p>
            <a:r>
              <a:rPr lang="en-US" dirty="0"/>
              <a:t>Binary search Tree ADT</a:t>
            </a:r>
          </a:p>
        </p:txBody>
      </p:sp>
      <p:sp>
        <p:nvSpPr>
          <p:cNvPr id="3" name="Content Placeholder 2">
            <a:extLst>
              <a:ext uri="{FF2B5EF4-FFF2-40B4-BE49-F238E27FC236}">
                <a16:creationId xmlns:a16="http://schemas.microsoft.com/office/drawing/2014/main" id="{5E6F334D-2E80-D949-9F05-8D01770E9CC7}"/>
              </a:ext>
            </a:extLst>
          </p:cNvPr>
          <p:cNvSpPr>
            <a:spLocks noGrp="1"/>
          </p:cNvSpPr>
          <p:nvPr>
            <p:ph idx="1"/>
          </p:nvPr>
        </p:nvSpPr>
        <p:spPr/>
        <p:txBody>
          <a:bodyPr>
            <a:normAutofit/>
          </a:bodyPr>
          <a:lstStyle/>
          <a:p>
            <a:r>
              <a:rPr lang="en-US" dirty="0"/>
              <a:t>A </a:t>
            </a:r>
            <a:r>
              <a:rPr lang="en-US" dirty="0">
                <a:highlight>
                  <a:srgbClr val="C0C0C0"/>
                </a:highlight>
              </a:rPr>
              <a:t>tree</a:t>
            </a:r>
            <a:r>
              <a:rPr lang="en-US" dirty="0"/>
              <a:t> is a non-linear abstract data type that can be either:</a:t>
            </a:r>
          </a:p>
          <a:p>
            <a:pPr lvl="1"/>
            <a:r>
              <a:rPr lang="en-US" dirty="0"/>
              <a:t>Empty</a:t>
            </a:r>
          </a:p>
          <a:p>
            <a:pPr lvl="1"/>
            <a:r>
              <a:rPr lang="en-US" dirty="0"/>
              <a:t>A tree consisting of one node called the root, and zero or one or more disjoint (sub)trees, called children</a:t>
            </a:r>
          </a:p>
          <a:p>
            <a:pPr lvl="1"/>
            <a:endParaRPr lang="en-US" dirty="0"/>
          </a:p>
          <a:p>
            <a:pPr lvl="1"/>
            <a:endParaRPr lang="en-US" dirty="0"/>
          </a:p>
          <a:p>
            <a:pPr lvl="1"/>
            <a:endParaRPr lang="en-US" dirty="0"/>
          </a:p>
          <a:p>
            <a:pPr lvl="1"/>
            <a:endParaRPr lang="en-US" dirty="0"/>
          </a:p>
          <a:p>
            <a:pPr marL="457200" lvl="1" indent="0">
              <a:buNone/>
            </a:pPr>
            <a:endParaRPr lang="en-US" dirty="0"/>
          </a:p>
        </p:txBody>
      </p:sp>
      <p:grpSp>
        <p:nvGrpSpPr>
          <p:cNvPr id="97" name="Group 96" descr="graphical representations of trees abstract data type">
            <a:extLst>
              <a:ext uri="{FF2B5EF4-FFF2-40B4-BE49-F238E27FC236}">
                <a16:creationId xmlns:a16="http://schemas.microsoft.com/office/drawing/2014/main" id="{657B58E8-EFE0-2E45-963F-B74B4F081FB4}"/>
              </a:ext>
            </a:extLst>
          </p:cNvPr>
          <p:cNvGrpSpPr/>
          <p:nvPr/>
        </p:nvGrpSpPr>
        <p:grpSpPr>
          <a:xfrm>
            <a:off x="1080758" y="2852208"/>
            <a:ext cx="9619737" cy="2404904"/>
            <a:chOff x="1080758" y="2852208"/>
            <a:chExt cx="9619737" cy="2404904"/>
          </a:xfrm>
        </p:grpSpPr>
        <p:sp>
          <p:nvSpPr>
            <p:cNvPr id="11" name="TextBox 10">
              <a:extLst>
                <a:ext uri="{FF2B5EF4-FFF2-40B4-BE49-F238E27FC236}">
                  <a16:creationId xmlns:a16="http://schemas.microsoft.com/office/drawing/2014/main" id="{E6027654-1046-9347-A68D-8C129E3F28CD}"/>
                </a:ext>
              </a:extLst>
            </p:cNvPr>
            <p:cNvSpPr txBox="1"/>
            <p:nvPr/>
          </p:nvSpPr>
          <p:spPr>
            <a:xfrm>
              <a:off x="1080758" y="3502838"/>
              <a:ext cx="543739" cy="369332"/>
            </a:xfrm>
            <a:prstGeom prst="rect">
              <a:avLst/>
            </a:prstGeom>
            <a:noFill/>
          </p:spPr>
          <p:txBody>
            <a:bodyPr wrap="none" rtlCol="0">
              <a:spAutoFit/>
            </a:bodyPr>
            <a:lstStyle/>
            <a:p>
              <a:r>
                <a:rPr lang="en-US" i="1" dirty="0">
                  <a:latin typeface="Arial" panose="020B0604020202020204" pitchFamily="34" charset="0"/>
                  <a:cs typeface="Arial" panose="020B0604020202020204" pitchFamily="34" charset="0"/>
                </a:rPr>
                <a:t>null</a:t>
              </a:r>
            </a:p>
          </p:txBody>
        </p:sp>
        <p:grpSp>
          <p:nvGrpSpPr>
            <p:cNvPr id="34" name="Group 33">
              <a:extLst>
                <a:ext uri="{FF2B5EF4-FFF2-40B4-BE49-F238E27FC236}">
                  <a16:creationId xmlns:a16="http://schemas.microsoft.com/office/drawing/2014/main" id="{650C1713-8953-4443-86B5-355A28CE130A}"/>
                </a:ext>
              </a:extLst>
            </p:cNvPr>
            <p:cNvGrpSpPr/>
            <p:nvPr/>
          </p:nvGrpSpPr>
          <p:grpSpPr>
            <a:xfrm>
              <a:off x="4507914" y="3525463"/>
              <a:ext cx="965180" cy="349615"/>
              <a:chOff x="4458477" y="3560236"/>
              <a:chExt cx="965180" cy="349615"/>
            </a:xfrm>
          </p:grpSpPr>
          <p:sp>
            <p:nvSpPr>
              <p:cNvPr id="5" name="Oval 4">
                <a:extLst>
                  <a:ext uri="{FF2B5EF4-FFF2-40B4-BE49-F238E27FC236}">
                    <a16:creationId xmlns:a16="http://schemas.microsoft.com/office/drawing/2014/main" id="{5EA94E89-6A31-644D-8B35-C8A0C4EE4964}"/>
                  </a:ext>
                </a:extLst>
              </p:cNvPr>
              <p:cNvSpPr/>
              <p:nvPr/>
            </p:nvSpPr>
            <p:spPr>
              <a:xfrm>
                <a:off x="5103091" y="3563009"/>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grpSp>
            <p:nvGrpSpPr>
              <p:cNvPr id="19" name="Group 18">
                <a:extLst>
                  <a:ext uri="{FF2B5EF4-FFF2-40B4-BE49-F238E27FC236}">
                    <a16:creationId xmlns:a16="http://schemas.microsoft.com/office/drawing/2014/main" id="{D0EA30CC-8011-9247-9343-A98BA4B7263E}"/>
                  </a:ext>
                </a:extLst>
              </p:cNvPr>
              <p:cNvGrpSpPr/>
              <p:nvPr/>
            </p:nvGrpSpPr>
            <p:grpSpPr>
              <a:xfrm>
                <a:off x="4458477" y="3560236"/>
                <a:ext cx="644614" cy="346842"/>
                <a:chOff x="4209393" y="3492063"/>
                <a:chExt cx="644614" cy="346842"/>
              </a:xfrm>
            </p:grpSpPr>
            <p:sp>
              <p:nvSpPr>
                <p:cNvPr id="20" name="Oval 19">
                  <a:extLst>
                    <a:ext uri="{FF2B5EF4-FFF2-40B4-BE49-F238E27FC236}">
                      <a16:creationId xmlns:a16="http://schemas.microsoft.com/office/drawing/2014/main" id="{C0461AC2-1726-624C-82DF-182B232B1C33}"/>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cxnSp>
              <p:nvCxnSpPr>
                <p:cNvPr id="22" name="Straight Connector 21">
                  <a:extLst>
                    <a:ext uri="{FF2B5EF4-FFF2-40B4-BE49-F238E27FC236}">
                      <a16:creationId xmlns:a16="http://schemas.microsoft.com/office/drawing/2014/main" id="{16AB2BAA-1AA3-F045-B9F0-B0499441A201}"/>
                    </a:ext>
                  </a:extLst>
                </p:cNvPr>
                <p:cNvCxnSpPr>
                  <a:cxnSpLocks/>
                  <a:stCxn id="20" idx="6"/>
                  <a:endCxn id="5" idx="2"/>
                </p:cNvCxnSpPr>
                <p:nvPr/>
              </p:nvCxnSpPr>
              <p:spPr>
                <a:xfrm>
                  <a:off x="4529959" y="3665484"/>
                  <a:ext cx="324048" cy="277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sp>
          <p:nvSpPr>
            <p:cNvPr id="49" name="Oval 48">
              <a:extLst>
                <a:ext uri="{FF2B5EF4-FFF2-40B4-BE49-F238E27FC236}">
                  <a16:creationId xmlns:a16="http://schemas.microsoft.com/office/drawing/2014/main" id="{C441DC90-EFF6-F54E-86DB-FBF1A3110CF5}"/>
                </a:ext>
              </a:extLst>
            </p:cNvPr>
            <p:cNvSpPr/>
            <p:nvPr/>
          </p:nvSpPr>
          <p:spPr>
            <a:xfrm>
              <a:off x="2693652" y="352532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grpSp>
          <p:nvGrpSpPr>
            <p:cNvPr id="58" name="Group 57">
              <a:extLst>
                <a:ext uri="{FF2B5EF4-FFF2-40B4-BE49-F238E27FC236}">
                  <a16:creationId xmlns:a16="http://schemas.microsoft.com/office/drawing/2014/main" id="{647CBFBF-4F92-F340-B2D2-B4FC84C77C58}"/>
                </a:ext>
              </a:extLst>
            </p:cNvPr>
            <p:cNvGrpSpPr/>
            <p:nvPr/>
          </p:nvGrpSpPr>
          <p:grpSpPr>
            <a:xfrm>
              <a:off x="7246301" y="3547818"/>
              <a:ext cx="2220419" cy="1505447"/>
              <a:chOff x="6460140" y="3525328"/>
              <a:chExt cx="2220419" cy="1505447"/>
            </a:xfrm>
          </p:grpSpPr>
          <p:sp>
            <p:nvSpPr>
              <p:cNvPr id="4" name="Oval 3">
                <a:extLst>
                  <a:ext uri="{FF2B5EF4-FFF2-40B4-BE49-F238E27FC236}">
                    <a16:creationId xmlns:a16="http://schemas.microsoft.com/office/drawing/2014/main" id="{F9825120-8030-A149-A712-F7C4D8993763}"/>
                  </a:ext>
                </a:extLst>
              </p:cNvPr>
              <p:cNvSpPr/>
              <p:nvPr/>
            </p:nvSpPr>
            <p:spPr>
              <a:xfrm>
                <a:off x="8359993" y="468393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27" name="Oval 26">
                <a:extLst>
                  <a:ext uri="{FF2B5EF4-FFF2-40B4-BE49-F238E27FC236}">
                    <a16:creationId xmlns:a16="http://schemas.microsoft.com/office/drawing/2014/main" id="{C09F7613-5319-FD4A-9BCD-F0276137C638}"/>
                  </a:ext>
                </a:extLst>
              </p:cNvPr>
              <p:cNvSpPr/>
              <p:nvPr/>
            </p:nvSpPr>
            <p:spPr>
              <a:xfrm>
                <a:off x="7167926" y="352532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cxnSp>
            <p:nvCxnSpPr>
              <p:cNvPr id="28" name="Straight Connector 27">
                <a:extLst>
                  <a:ext uri="{FF2B5EF4-FFF2-40B4-BE49-F238E27FC236}">
                    <a16:creationId xmlns:a16="http://schemas.microsoft.com/office/drawing/2014/main" id="{7EF45C00-1AA1-BF4D-82E2-04C1B1337D37}"/>
                  </a:ext>
                </a:extLst>
              </p:cNvPr>
              <p:cNvCxnSpPr>
                <a:stCxn id="27" idx="3"/>
              </p:cNvCxnSpPr>
              <p:nvPr/>
            </p:nvCxnSpPr>
            <p:spPr>
              <a:xfrm flipH="1">
                <a:off x="7015526" y="3821376"/>
                <a:ext cx="199346" cy="26490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DC066FF-1652-D84F-B679-2D8FAF5B1929}"/>
                  </a:ext>
                </a:extLst>
              </p:cNvPr>
              <p:cNvCxnSpPr>
                <a:cxnSpLocks/>
                <a:stCxn id="27" idx="5"/>
                <a:endCxn id="37" idx="0"/>
              </p:cNvCxnSpPr>
              <p:nvPr/>
            </p:nvCxnSpPr>
            <p:spPr>
              <a:xfrm>
                <a:off x="7441546" y="3821376"/>
                <a:ext cx="278684" cy="26852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6226213F-C143-1147-B537-C8D05A3C8286}"/>
                  </a:ext>
                </a:extLst>
              </p:cNvPr>
              <p:cNvGrpSpPr/>
              <p:nvPr/>
            </p:nvGrpSpPr>
            <p:grpSpPr>
              <a:xfrm>
                <a:off x="6703516" y="4070731"/>
                <a:ext cx="624019" cy="562448"/>
                <a:chOff x="4056993" y="3492063"/>
                <a:chExt cx="624019" cy="562448"/>
              </a:xfrm>
            </p:grpSpPr>
            <p:sp>
              <p:nvSpPr>
                <p:cNvPr id="31" name="Oval 30">
                  <a:extLst>
                    <a:ext uri="{FF2B5EF4-FFF2-40B4-BE49-F238E27FC236}">
                      <a16:creationId xmlns:a16="http://schemas.microsoft.com/office/drawing/2014/main" id="{C2FEE885-DB4D-374A-81B6-33BE22D4F967}"/>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cxnSp>
              <p:nvCxnSpPr>
                <p:cNvPr id="32" name="Straight Connector 31">
                  <a:extLst>
                    <a:ext uri="{FF2B5EF4-FFF2-40B4-BE49-F238E27FC236}">
                      <a16:creationId xmlns:a16="http://schemas.microsoft.com/office/drawing/2014/main" id="{8D70B0A8-822C-EF49-AF50-1C7E39CE9307}"/>
                    </a:ext>
                  </a:extLst>
                </p:cNvPr>
                <p:cNvCxnSpPr>
                  <a:stCxn id="31" idx="3"/>
                </p:cNvCxnSpPr>
                <p:nvPr/>
              </p:nvCxnSpPr>
              <p:spPr>
                <a:xfrm flipH="1">
                  <a:off x="4056993" y="3788111"/>
                  <a:ext cx="199346" cy="26490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00DD3D4-1D27-8D48-8B07-B4012EFC7709}"/>
                    </a:ext>
                  </a:extLst>
                </p:cNvPr>
                <p:cNvCxnSpPr>
                  <a:cxnSpLocks/>
                  <a:stCxn id="31" idx="5"/>
                </p:cNvCxnSpPr>
                <p:nvPr/>
              </p:nvCxnSpPr>
              <p:spPr>
                <a:xfrm>
                  <a:off x="4483012" y="3788111"/>
                  <a:ext cx="198000" cy="26640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5" name="Oval 34">
                <a:extLst>
                  <a:ext uri="{FF2B5EF4-FFF2-40B4-BE49-F238E27FC236}">
                    <a16:creationId xmlns:a16="http://schemas.microsoft.com/office/drawing/2014/main" id="{1FFA67A7-B2EE-EE43-A2A3-1F152F909C8C}"/>
                  </a:ext>
                </a:extLst>
              </p:cNvPr>
              <p:cNvSpPr/>
              <p:nvPr/>
            </p:nvSpPr>
            <p:spPr>
              <a:xfrm>
                <a:off x="7249783" y="4628739"/>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EFC0A863-2DAF-254C-8FE2-47685582FF65}"/>
                  </a:ext>
                </a:extLst>
              </p:cNvPr>
              <p:cNvSpPr/>
              <p:nvPr/>
            </p:nvSpPr>
            <p:spPr>
              <a:xfrm>
                <a:off x="6460140" y="4628739"/>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37" name="Oval 36">
                <a:extLst>
                  <a:ext uri="{FF2B5EF4-FFF2-40B4-BE49-F238E27FC236}">
                    <a16:creationId xmlns:a16="http://schemas.microsoft.com/office/drawing/2014/main" id="{48A19803-2463-9043-89D4-2AE846BF2A1A}"/>
                  </a:ext>
                </a:extLst>
              </p:cNvPr>
              <p:cNvSpPr/>
              <p:nvPr/>
            </p:nvSpPr>
            <p:spPr>
              <a:xfrm>
                <a:off x="7559947" y="4089900"/>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grpSp>
            <p:nvGrpSpPr>
              <p:cNvPr id="38" name="Group 37">
                <a:extLst>
                  <a:ext uri="{FF2B5EF4-FFF2-40B4-BE49-F238E27FC236}">
                    <a16:creationId xmlns:a16="http://schemas.microsoft.com/office/drawing/2014/main" id="{2B275DC2-F994-AA48-94D4-4583F9795339}"/>
                  </a:ext>
                </a:extLst>
              </p:cNvPr>
              <p:cNvGrpSpPr/>
              <p:nvPr/>
            </p:nvGrpSpPr>
            <p:grpSpPr>
              <a:xfrm>
                <a:off x="7488492" y="3698749"/>
                <a:ext cx="1105283" cy="985184"/>
                <a:chOff x="3424676" y="3059188"/>
                <a:chExt cx="1105283" cy="985184"/>
              </a:xfrm>
            </p:grpSpPr>
            <p:sp>
              <p:nvSpPr>
                <p:cNvPr id="39" name="Oval 38">
                  <a:extLst>
                    <a:ext uri="{FF2B5EF4-FFF2-40B4-BE49-F238E27FC236}">
                      <a16:creationId xmlns:a16="http://schemas.microsoft.com/office/drawing/2014/main" id="{25AC622F-9434-4A44-A2CC-FF84DC6C6C0A}"/>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cxnSp>
              <p:nvCxnSpPr>
                <p:cNvPr id="40" name="Straight Connector 39">
                  <a:extLst>
                    <a:ext uri="{FF2B5EF4-FFF2-40B4-BE49-F238E27FC236}">
                      <a16:creationId xmlns:a16="http://schemas.microsoft.com/office/drawing/2014/main" id="{9DC3EBE6-67C9-8A40-824E-382164497326}"/>
                    </a:ext>
                  </a:extLst>
                </p:cNvPr>
                <p:cNvCxnSpPr>
                  <a:cxnSpLocks/>
                  <a:stCxn id="39" idx="4"/>
                  <a:endCxn id="4" idx="0"/>
                </p:cNvCxnSpPr>
                <p:nvPr/>
              </p:nvCxnSpPr>
              <p:spPr>
                <a:xfrm>
                  <a:off x="4369676" y="3838905"/>
                  <a:ext cx="86784" cy="20546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A3D33C9-735F-F442-8B5A-5B7BB24A1025}"/>
                    </a:ext>
                  </a:extLst>
                </p:cNvPr>
                <p:cNvCxnSpPr>
                  <a:cxnSpLocks/>
                  <a:stCxn id="27" idx="6"/>
                  <a:endCxn id="39" idx="0"/>
                </p:cNvCxnSpPr>
                <p:nvPr/>
              </p:nvCxnSpPr>
              <p:spPr>
                <a:xfrm>
                  <a:off x="3424676" y="3059188"/>
                  <a:ext cx="945000" cy="4328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83" name="Group 82">
              <a:extLst>
                <a:ext uri="{FF2B5EF4-FFF2-40B4-BE49-F238E27FC236}">
                  <a16:creationId xmlns:a16="http://schemas.microsoft.com/office/drawing/2014/main" id="{729E3F36-7FDE-634E-99CC-F989CDF83638}"/>
                </a:ext>
              </a:extLst>
            </p:cNvPr>
            <p:cNvGrpSpPr/>
            <p:nvPr/>
          </p:nvGrpSpPr>
          <p:grpSpPr>
            <a:xfrm>
              <a:off x="7822847" y="2852208"/>
              <a:ext cx="2877648" cy="1888077"/>
              <a:chOff x="7822847" y="2852208"/>
              <a:chExt cx="2877648" cy="1888077"/>
            </a:xfrm>
          </p:grpSpPr>
          <p:sp>
            <p:nvSpPr>
              <p:cNvPr id="51" name="TextBox 50">
                <a:extLst>
                  <a:ext uri="{FF2B5EF4-FFF2-40B4-BE49-F238E27FC236}">
                    <a16:creationId xmlns:a16="http://schemas.microsoft.com/office/drawing/2014/main" id="{496A8B15-5473-0C4D-8C56-0F61A43BA4A9}"/>
                  </a:ext>
                </a:extLst>
              </p:cNvPr>
              <p:cNvSpPr txBox="1"/>
              <p:nvPr/>
            </p:nvSpPr>
            <p:spPr>
              <a:xfrm>
                <a:off x="7822847" y="2852208"/>
                <a:ext cx="581698"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root</a:t>
                </a:r>
              </a:p>
            </p:txBody>
          </p:sp>
          <p:sp>
            <p:nvSpPr>
              <p:cNvPr id="52" name="TextBox 51">
                <a:extLst>
                  <a:ext uri="{FF2B5EF4-FFF2-40B4-BE49-F238E27FC236}">
                    <a16:creationId xmlns:a16="http://schemas.microsoft.com/office/drawing/2014/main" id="{EBB21798-A68D-F649-BDE7-7192F54855E9}"/>
                  </a:ext>
                </a:extLst>
              </p:cNvPr>
              <p:cNvSpPr txBox="1"/>
              <p:nvPr/>
            </p:nvSpPr>
            <p:spPr>
              <a:xfrm>
                <a:off x="9390574" y="3479582"/>
                <a:ext cx="697627"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node</a:t>
                </a:r>
              </a:p>
            </p:txBody>
          </p:sp>
          <p:sp>
            <p:nvSpPr>
              <p:cNvPr id="56" name="TextBox 55">
                <a:extLst>
                  <a:ext uri="{FF2B5EF4-FFF2-40B4-BE49-F238E27FC236}">
                    <a16:creationId xmlns:a16="http://schemas.microsoft.com/office/drawing/2014/main" id="{AF5A094E-223B-F64C-B103-A0251BF1ADFE}"/>
                  </a:ext>
                </a:extLst>
              </p:cNvPr>
              <p:cNvSpPr txBox="1"/>
              <p:nvPr/>
            </p:nvSpPr>
            <p:spPr>
              <a:xfrm>
                <a:off x="10169580" y="4370953"/>
                <a:ext cx="530915"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link</a:t>
                </a:r>
              </a:p>
            </p:txBody>
          </p:sp>
          <p:cxnSp>
            <p:nvCxnSpPr>
              <p:cNvPr id="61" name="Straight Arrow Connector 60">
                <a:extLst>
                  <a:ext uri="{FF2B5EF4-FFF2-40B4-BE49-F238E27FC236}">
                    <a16:creationId xmlns:a16="http://schemas.microsoft.com/office/drawing/2014/main" id="{1DF00AA0-8E78-CF48-824A-86106B0137A2}"/>
                  </a:ext>
                </a:extLst>
              </p:cNvPr>
              <p:cNvCxnSpPr>
                <a:cxnSpLocks/>
                <a:endCxn id="27" idx="0"/>
              </p:cNvCxnSpPr>
              <p:nvPr/>
            </p:nvCxnSpPr>
            <p:spPr>
              <a:xfrm>
                <a:off x="8114370" y="3113818"/>
                <a:ext cx="0" cy="43400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792829F7-0DC4-D847-AD5C-0070BDF8FAA6}"/>
                  </a:ext>
                </a:extLst>
              </p:cNvPr>
              <p:cNvCxnSpPr>
                <a:cxnSpLocks/>
                <a:stCxn id="52" idx="2"/>
                <a:endCxn id="39" idx="7"/>
              </p:cNvCxnSpPr>
              <p:nvPr/>
            </p:nvCxnSpPr>
            <p:spPr>
              <a:xfrm flipH="1">
                <a:off x="9332990" y="3848914"/>
                <a:ext cx="406398" cy="340228"/>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9B11C795-34C5-454A-9CC9-4F9DF12E851F}"/>
                  </a:ext>
                </a:extLst>
              </p:cNvPr>
              <p:cNvCxnSpPr>
                <a:cxnSpLocks/>
                <a:stCxn id="56" idx="1"/>
              </p:cNvCxnSpPr>
              <p:nvPr/>
            </p:nvCxnSpPr>
            <p:spPr>
              <a:xfrm flipH="1">
                <a:off x="9306437" y="4555619"/>
                <a:ext cx="863143" cy="7095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5" name="Group 94">
              <a:extLst>
                <a:ext uri="{FF2B5EF4-FFF2-40B4-BE49-F238E27FC236}">
                  <a16:creationId xmlns:a16="http://schemas.microsoft.com/office/drawing/2014/main" id="{13F56D21-08B2-224F-AF97-2AD0B15C24F5}"/>
                </a:ext>
              </a:extLst>
            </p:cNvPr>
            <p:cNvGrpSpPr/>
            <p:nvPr/>
          </p:nvGrpSpPr>
          <p:grpSpPr>
            <a:xfrm>
              <a:off x="5691193" y="4824650"/>
              <a:ext cx="2344751" cy="432462"/>
              <a:chOff x="5691193" y="4824650"/>
              <a:chExt cx="2344751" cy="432462"/>
            </a:xfrm>
          </p:grpSpPr>
          <p:sp>
            <p:nvSpPr>
              <p:cNvPr id="59" name="TextBox 58">
                <a:extLst>
                  <a:ext uri="{FF2B5EF4-FFF2-40B4-BE49-F238E27FC236}">
                    <a16:creationId xmlns:a16="http://schemas.microsoft.com/office/drawing/2014/main" id="{EC18FB75-CC61-CF43-A5D7-447DAFDF3039}"/>
                  </a:ext>
                </a:extLst>
              </p:cNvPr>
              <p:cNvSpPr txBox="1"/>
              <p:nvPr/>
            </p:nvSpPr>
            <p:spPr>
              <a:xfrm>
                <a:off x="5691193" y="4887780"/>
                <a:ext cx="992579"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children</a:t>
                </a:r>
              </a:p>
            </p:txBody>
          </p:sp>
          <p:cxnSp>
            <p:nvCxnSpPr>
              <p:cNvPr id="73" name="Straight Arrow Connector 72">
                <a:extLst>
                  <a:ext uri="{FF2B5EF4-FFF2-40B4-BE49-F238E27FC236}">
                    <a16:creationId xmlns:a16="http://schemas.microsoft.com/office/drawing/2014/main" id="{3C05DA27-6675-2D48-9A9B-CFC8CB5AE242}"/>
                  </a:ext>
                </a:extLst>
              </p:cNvPr>
              <p:cNvCxnSpPr>
                <a:cxnSpLocks/>
                <a:stCxn id="59" idx="3"/>
                <a:endCxn id="36" idx="2"/>
              </p:cNvCxnSpPr>
              <p:nvPr/>
            </p:nvCxnSpPr>
            <p:spPr>
              <a:xfrm flipV="1">
                <a:off x="6683772" y="4824650"/>
                <a:ext cx="562529" cy="24779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B0E3EF4-9B12-9444-8204-1F099F3388F8}"/>
                  </a:ext>
                </a:extLst>
              </p:cNvPr>
              <p:cNvCxnSpPr>
                <a:cxnSpLocks/>
                <a:stCxn id="59" idx="3"/>
                <a:endCxn id="35" idx="2"/>
              </p:cNvCxnSpPr>
              <p:nvPr/>
            </p:nvCxnSpPr>
            <p:spPr>
              <a:xfrm flipV="1">
                <a:off x="6683772" y="4824650"/>
                <a:ext cx="1352172" cy="24779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4" name="Group 93">
              <a:extLst>
                <a:ext uri="{FF2B5EF4-FFF2-40B4-BE49-F238E27FC236}">
                  <a16:creationId xmlns:a16="http://schemas.microsoft.com/office/drawing/2014/main" id="{10765D32-8BF7-D448-8422-AC561DDDCA21}"/>
                </a:ext>
              </a:extLst>
            </p:cNvPr>
            <p:cNvGrpSpPr/>
            <p:nvPr/>
          </p:nvGrpSpPr>
          <p:grpSpPr>
            <a:xfrm>
              <a:off x="6750659" y="3553155"/>
              <a:ext cx="938364" cy="575094"/>
              <a:chOff x="6750659" y="3553155"/>
              <a:chExt cx="938364" cy="575094"/>
            </a:xfrm>
          </p:grpSpPr>
          <p:sp>
            <p:nvSpPr>
              <p:cNvPr id="53" name="TextBox 52">
                <a:extLst>
                  <a:ext uri="{FF2B5EF4-FFF2-40B4-BE49-F238E27FC236}">
                    <a16:creationId xmlns:a16="http://schemas.microsoft.com/office/drawing/2014/main" id="{89D3AA1C-A10F-0947-A325-9E5A5D96FC3F}"/>
                  </a:ext>
                </a:extLst>
              </p:cNvPr>
              <p:cNvSpPr txBox="1"/>
              <p:nvPr/>
            </p:nvSpPr>
            <p:spPr>
              <a:xfrm>
                <a:off x="6750659" y="3553155"/>
                <a:ext cx="838691"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parent</a:t>
                </a:r>
              </a:p>
            </p:txBody>
          </p:sp>
          <p:cxnSp>
            <p:nvCxnSpPr>
              <p:cNvPr id="80" name="Straight Arrow Connector 79">
                <a:extLst>
                  <a:ext uri="{FF2B5EF4-FFF2-40B4-BE49-F238E27FC236}">
                    <a16:creationId xmlns:a16="http://schemas.microsoft.com/office/drawing/2014/main" id="{26E4DD14-9BDC-2E4D-8326-EAEBC99D66C4}"/>
                  </a:ext>
                </a:extLst>
              </p:cNvPr>
              <p:cNvCxnSpPr>
                <a:cxnSpLocks/>
                <a:stCxn id="53" idx="2"/>
                <a:endCxn id="31" idx="1"/>
              </p:cNvCxnSpPr>
              <p:nvPr/>
            </p:nvCxnSpPr>
            <p:spPr>
              <a:xfrm>
                <a:off x="7170005" y="3922487"/>
                <a:ext cx="519018" cy="20576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nvGrpSpPr>
            <p:cNvPr id="93" name="Group 92">
              <a:extLst>
                <a:ext uri="{FF2B5EF4-FFF2-40B4-BE49-F238E27FC236}">
                  <a16:creationId xmlns:a16="http://schemas.microsoft.com/office/drawing/2014/main" id="{F451920C-2064-864A-A5D9-015522C3AA0B}"/>
                </a:ext>
              </a:extLst>
            </p:cNvPr>
            <p:cNvGrpSpPr/>
            <p:nvPr/>
          </p:nvGrpSpPr>
          <p:grpSpPr>
            <a:xfrm>
              <a:off x="5776250" y="4009830"/>
              <a:ext cx="2752205" cy="1247281"/>
              <a:chOff x="5776250" y="4009830"/>
              <a:chExt cx="2752205" cy="1247281"/>
            </a:xfrm>
          </p:grpSpPr>
          <p:sp>
            <p:nvSpPr>
              <p:cNvPr id="54" name="TextBox 53">
                <a:extLst>
                  <a:ext uri="{FF2B5EF4-FFF2-40B4-BE49-F238E27FC236}">
                    <a16:creationId xmlns:a16="http://schemas.microsoft.com/office/drawing/2014/main" id="{F4E6A2D5-3572-4249-A5CE-DB58860B4AC6}"/>
                  </a:ext>
                </a:extLst>
              </p:cNvPr>
              <p:cNvSpPr txBox="1"/>
              <p:nvPr/>
            </p:nvSpPr>
            <p:spPr>
              <a:xfrm>
                <a:off x="5776250" y="4131624"/>
                <a:ext cx="954107"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subtree</a:t>
                </a:r>
              </a:p>
            </p:txBody>
          </p:sp>
          <p:sp>
            <p:nvSpPr>
              <p:cNvPr id="87" name="Trapezium 86">
                <a:extLst>
                  <a:ext uri="{FF2B5EF4-FFF2-40B4-BE49-F238E27FC236}">
                    <a16:creationId xmlns:a16="http://schemas.microsoft.com/office/drawing/2014/main" id="{103F2386-843C-6241-B9B3-AACE29188432}"/>
                  </a:ext>
                </a:extLst>
              </p:cNvPr>
              <p:cNvSpPr/>
              <p:nvPr/>
            </p:nvSpPr>
            <p:spPr>
              <a:xfrm>
                <a:off x="7113822" y="4009830"/>
                <a:ext cx="1414633" cy="1247281"/>
              </a:xfrm>
              <a:prstGeom prst="trapezoid">
                <a:avLst/>
              </a:prstGeom>
              <a:solidFill>
                <a:schemeClr val="bg1">
                  <a:lumMod val="75000"/>
                  <a:alpha val="56000"/>
                </a:schemeClr>
              </a:solidFill>
              <a:ln w="28575">
                <a:solidFill>
                  <a:schemeClr val="bg1">
                    <a:lumMod val="75000"/>
                  </a:scheme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Arrow Connector 89">
                <a:extLst>
                  <a:ext uri="{FF2B5EF4-FFF2-40B4-BE49-F238E27FC236}">
                    <a16:creationId xmlns:a16="http://schemas.microsoft.com/office/drawing/2014/main" id="{DAE9C136-43A8-B64F-A692-DAF59F1DA1C3}"/>
                  </a:ext>
                </a:extLst>
              </p:cNvPr>
              <p:cNvCxnSpPr>
                <a:cxnSpLocks/>
                <a:stCxn id="54" idx="3"/>
              </p:cNvCxnSpPr>
              <p:nvPr/>
            </p:nvCxnSpPr>
            <p:spPr>
              <a:xfrm>
                <a:off x="6730357" y="4316290"/>
                <a:ext cx="593066" cy="1937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23753925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AF963-72BE-DD42-83FF-87F8F824FB71}"/>
              </a:ext>
            </a:extLst>
          </p:cNvPr>
          <p:cNvSpPr>
            <a:spLocks noGrp="1"/>
          </p:cNvSpPr>
          <p:nvPr>
            <p:ph type="title"/>
          </p:nvPr>
        </p:nvSpPr>
        <p:spPr/>
        <p:txBody>
          <a:bodyPr/>
          <a:lstStyle/>
          <a:p>
            <a:r>
              <a:rPr lang="en-US" dirty="0"/>
              <a:t>Binary search Tree ADT</a:t>
            </a:r>
          </a:p>
        </p:txBody>
      </p:sp>
      <p:sp>
        <p:nvSpPr>
          <p:cNvPr id="3" name="Content Placeholder 2">
            <a:extLst>
              <a:ext uri="{FF2B5EF4-FFF2-40B4-BE49-F238E27FC236}">
                <a16:creationId xmlns:a16="http://schemas.microsoft.com/office/drawing/2014/main" id="{5E6F334D-2E80-D949-9F05-8D01770E9CC7}"/>
              </a:ext>
            </a:extLst>
          </p:cNvPr>
          <p:cNvSpPr>
            <a:spLocks noGrp="1"/>
          </p:cNvSpPr>
          <p:nvPr>
            <p:ph idx="1"/>
          </p:nvPr>
        </p:nvSpPr>
        <p:spPr/>
        <p:txBody>
          <a:bodyPr>
            <a:normAutofit/>
          </a:bodyPr>
          <a:lstStyle/>
          <a:p>
            <a:r>
              <a:rPr lang="en-US" dirty="0"/>
              <a:t>A </a:t>
            </a:r>
            <a:r>
              <a:rPr lang="en-US" dirty="0">
                <a:highlight>
                  <a:srgbClr val="C0C0C0"/>
                </a:highlight>
              </a:rPr>
              <a:t>tree</a:t>
            </a:r>
            <a:r>
              <a:rPr lang="en-US" dirty="0"/>
              <a:t> is a non-linear abstract data type that can be either:</a:t>
            </a:r>
          </a:p>
          <a:p>
            <a:pPr lvl="1"/>
            <a:r>
              <a:rPr lang="en-US" dirty="0"/>
              <a:t>Empty</a:t>
            </a:r>
          </a:p>
          <a:p>
            <a:pPr lvl="1"/>
            <a:r>
              <a:rPr lang="en-US" dirty="0"/>
              <a:t>A tree consisting of one node called the root, and zero or one or more disjoint (sub)trees, called children</a:t>
            </a:r>
          </a:p>
          <a:p>
            <a:pPr lvl="1"/>
            <a:endParaRPr lang="en-US" dirty="0"/>
          </a:p>
          <a:p>
            <a:pPr lvl="1"/>
            <a:endParaRPr lang="en-US" dirty="0"/>
          </a:p>
          <a:p>
            <a:pPr lvl="1"/>
            <a:endParaRPr lang="en-US" dirty="0"/>
          </a:p>
          <a:p>
            <a:pPr lvl="1"/>
            <a:endParaRPr lang="en-US" dirty="0"/>
          </a:p>
          <a:p>
            <a:pPr marL="457200" lvl="1" indent="0">
              <a:buNone/>
            </a:pPr>
            <a:endParaRPr lang="en-US" dirty="0"/>
          </a:p>
        </p:txBody>
      </p:sp>
      <p:grpSp>
        <p:nvGrpSpPr>
          <p:cNvPr id="76" name="Group 75" descr="graphical representations of what are NOT trees">
            <a:extLst>
              <a:ext uri="{FF2B5EF4-FFF2-40B4-BE49-F238E27FC236}">
                <a16:creationId xmlns:a16="http://schemas.microsoft.com/office/drawing/2014/main" id="{4CB85EC4-E6C8-E84B-AD83-72862771D705}"/>
              </a:ext>
            </a:extLst>
          </p:cNvPr>
          <p:cNvGrpSpPr/>
          <p:nvPr/>
        </p:nvGrpSpPr>
        <p:grpSpPr>
          <a:xfrm>
            <a:off x="1917431" y="3620043"/>
            <a:ext cx="7295683" cy="2563169"/>
            <a:chOff x="1917431" y="3620043"/>
            <a:chExt cx="7295683" cy="2563169"/>
          </a:xfrm>
        </p:grpSpPr>
        <p:grpSp>
          <p:nvGrpSpPr>
            <p:cNvPr id="58" name="Group 57">
              <a:extLst>
                <a:ext uri="{FF2B5EF4-FFF2-40B4-BE49-F238E27FC236}">
                  <a16:creationId xmlns:a16="http://schemas.microsoft.com/office/drawing/2014/main" id="{647CBFBF-4F92-F340-B2D2-B4FC84C77C58}"/>
                </a:ext>
              </a:extLst>
            </p:cNvPr>
            <p:cNvGrpSpPr/>
            <p:nvPr/>
          </p:nvGrpSpPr>
          <p:grpSpPr>
            <a:xfrm>
              <a:off x="7792741" y="3620043"/>
              <a:ext cx="1420373" cy="1984260"/>
              <a:chOff x="6460140" y="3525328"/>
              <a:chExt cx="1420373" cy="1984260"/>
            </a:xfrm>
          </p:grpSpPr>
          <p:sp>
            <p:nvSpPr>
              <p:cNvPr id="27" name="Oval 26">
                <a:extLst>
                  <a:ext uri="{FF2B5EF4-FFF2-40B4-BE49-F238E27FC236}">
                    <a16:creationId xmlns:a16="http://schemas.microsoft.com/office/drawing/2014/main" id="{C09F7613-5319-FD4A-9BCD-F0276137C638}"/>
                  </a:ext>
                </a:extLst>
              </p:cNvPr>
              <p:cNvSpPr/>
              <p:nvPr/>
            </p:nvSpPr>
            <p:spPr>
              <a:xfrm>
                <a:off x="7167926" y="352532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cxnSp>
            <p:nvCxnSpPr>
              <p:cNvPr id="28" name="Straight Connector 27">
                <a:extLst>
                  <a:ext uri="{FF2B5EF4-FFF2-40B4-BE49-F238E27FC236}">
                    <a16:creationId xmlns:a16="http://schemas.microsoft.com/office/drawing/2014/main" id="{7EF45C00-1AA1-BF4D-82E2-04C1B1337D37}"/>
                  </a:ext>
                </a:extLst>
              </p:cNvPr>
              <p:cNvCxnSpPr>
                <a:stCxn id="27" idx="3"/>
              </p:cNvCxnSpPr>
              <p:nvPr/>
            </p:nvCxnSpPr>
            <p:spPr>
              <a:xfrm flipH="1">
                <a:off x="7015526" y="3821376"/>
                <a:ext cx="199346" cy="26490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DC066FF-1652-D84F-B679-2D8FAF5B1929}"/>
                  </a:ext>
                </a:extLst>
              </p:cNvPr>
              <p:cNvCxnSpPr>
                <a:cxnSpLocks/>
                <a:stCxn id="27" idx="5"/>
                <a:endCxn id="37" idx="0"/>
              </p:cNvCxnSpPr>
              <p:nvPr/>
            </p:nvCxnSpPr>
            <p:spPr>
              <a:xfrm>
                <a:off x="7441546" y="3821376"/>
                <a:ext cx="278684" cy="268524"/>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30" name="Group 29">
                <a:extLst>
                  <a:ext uri="{FF2B5EF4-FFF2-40B4-BE49-F238E27FC236}">
                    <a16:creationId xmlns:a16="http://schemas.microsoft.com/office/drawing/2014/main" id="{6226213F-C143-1147-B537-C8D05A3C8286}"/>
                  </a:ext>
                </a:extLst>
              </p:cNvPr>
              <p:cNvGrpSpPr/>
              <p:nvPr/>
            </p:nvGrpSpPr>
            <p:grpSpPr>
              <a:xfrm>
                <a:off x="6703516" y="4070731"/>
                <a:ext cx="624019" cy="562448"/>
                <a:chOff x="4056993" y="3492063"/>
                <a:chExt cx="624019" cy="562448"/>
              </a:xfrm>
            </p:grpSpPr>
            <p:sp>
              <p:nvSpPr>
                <p:cNvPr id="31" name="Oval 30">
                  <a:extLst>
                    <a:ext uri="{FF2B5EF4-FFF2-40B4-BE49-F238E27FC236}">
                      <a16:creationId xmlns:a16="http://schemas.microsoft.com/office/drawing/2014/main" id="{C2FEE885-DB4D-374A-81B6-33BE22D4F967}"/>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cxnSp>
              <p:nvCxnSpPr>
                <p:cNvPr id="32" name="Straight Connector 31">
                  <a:extLst>
                    <a:ext uri="{FF2B5EF4-FFF2-40B4-BE49-F238E27FC236}">
                      <a16:creationId xmlns:a16="http://schemas.microsoft.com/office/drawing/2014/main" id="{8D70B0A8-822C-EF49-AF50-1C7E39CE9307}"/>
                    </a:ext>
                  </a:extLst>
                </p:cNvPr>
                <p:cNvCxnSpPr>
                  <a:stCxn id="31" idx="3"/>
                </p:cNvCxnSpPr>
                <p:nvPr/>
              </p:nvCxnSpPr>
              <p:spPr>
                <a:xfrm flipH="1">
                  <a:off x="4056993" y="3788111"/>
                  <a:ext cx="199346" cy="26490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F00DD3D4-1D27-8D48-8B07-B4012EFC7709}"/>
                    </a:ext>
                  </a:extLst>
                </p:cNvPr>
                <p:cNvCxnSpPr>
                  <a:cxnSpLocks/>
                  <a:stCxn id="31" idx="5"/>
                </p:cNvCxnSpPr>
                <p:nvPr/>
              </p:nvCxnSpPr>
              <p:spPr>
                <a:xfrm>
                  <a:off x="4483012" y="3788111"/>
                  <a:ext cx="198000" cy="26640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35" name="Oval 34">
                <a:extLst>
                  <a:ext uri="{FF2B5EF4-FFF2-40B4-BE49-F238E27FC236}">
                    <a16:creationId xmlns:a16="http://schemas.microsoft.com/office/drawing/2014/main" id="{1FFA67A7-B2EE-EE43-A2A3-1F152F909C8C}"/>
                  </a:ext>
                </a:extLst>
              </p:cNvPr>
              <p:cNvSpPr/>
              <p:nvPr/>
            </p:nvSpPr>
            <p:spPr>
              <a:xfrm>
                <a:off x="7249783" y="4628739"/>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36" name="Oval 35">
                <a:extLst>
                  <a:ext uri="{FF2B5EF4-FFF2-40B4-BE49-F238E27FC236}">
                    <a16:creationId xmlns:a16="http://schemas.microsoft.com/office/drawing/2014/main" id="{EFC0A863-2DAF-254C-8FE2-47685582FF65}"/>
                  </a:ext>
                </a:extLst>
              </p:cNvPr>
              <p:cNvSpPr/>
              <p:nvPr/>
            </p:nvSpPr>
            <p:spPr>
              <a:xfrm>
                <a:off x="6460140" y="4628739"/>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37" name="Oval 36">
                <a:extLst>
                  <a:ext uri="{FF2B5EF4-FFF2-40B4-BE49-F238E27FC236}">
                    <a16:creationId xmlns:a16="http://schemas.microsoft.com/office/drawing/2014/main" id="{48A19803-2463-9043-89D4-2AE846BF2A1A}"/>
                  </a:ext>
                </a:extLst>
              </p:cNvPr>
              <p:cNvSpPr/>
              <p:nvPr/>
            </p:nvSpPr>
            <p:spPr>
              <a:xfrm>
                <a:off x="7559947" y="4089900"/>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grpSp>
            <p:nvGrpSpPr>
              <p:cNvPr id="38" name="Group 37">
                <a:extLst>
                  <a:ext uri="{FF2B5EF4-FFF2-40B4-BE49-F238E27FC236}">
                    <a16:creationId xmlns:a16="http://schemas.microsoft.com/office/drawing/2014/main" id="{2B275DC2-F994-AA48-94D4-4583F9795339}"/>
                  </a:ext>
                </a:extLst>
              </p:cNvPr>
              <p:cNvGrpSpPr/>
              <p:nvPr/>
            </p:nvGrpSpPr>
            <p:grpSpPr>
              <a:xfrm>
                <a:off x="6620423" y="4975581"/>
                <a:ext cx="789643" cy="534007"/>
                <a:chOff x="2556607" y="4336020"/>
                <a:chExt cx="789643" cy="534007"/>
              </a:xfrm>
            </p:grpSpPr>
            <p:sp>
              <p:nvSpPr>
                <p:cNvPr id="39" name="Oval 38">
                  <a:extLst>
                    <a:ext uri="{FF2B5EF4-FFF2-40B4-BE49-F238E27FC236}">
                      <a16:creationId xmlns:a16="http://schemas.microsoft.com/office/drawing/2014/main" id="{25AC622F-9434-4A44-A2CC-FF84DC6C6C0A}"/>
                    </a:ext>
                  </a:extLst>
                </p:cNvPr>
                <p:cNvSpPr/>
                <p:nvPr/>
              </p:nvSpPr>
              <p:spPr>
                <a:xfrm>
                  <a:off x="2763110" y="4523185"/>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cxnSp>
              <p:nvCxnSpPr>
                <p:cNvPr id="40" name="Straight Connector 39">
                  <a:extLst>
                    <a:ext uri="{FF2B5EF4-FFF2-40B4-BE49-F238E27FC236}">
                      <a16:creationId xmlns:a16="http://schemas.microsoft.com/office/drawing/2014/main" id="{9DC3EBE6-67C9-8A40-824E-382164497326}"/>
                    </a:ext>
                  </a:extLst>
                </p:cNvPr>
                <p:cNvCxnSpPr>
                  <a:cxnSpLocks/>
                  <a:stCxn id="39" idx="6"/>
                  <a:endCxn id="35" idx="4"/>
                </p:cNvCxnSpPr>
                <p:nvPr/>
              </p:nvCxnSpPr>
              <p:spPr>
                <a:xfrm flipV="1">
                  <a:off x="3083676" y="4336020"/>
                  <a:ext cx="262574" cy="36058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AA3D33C9-735F-F442-8B5A-5B7BB24A1025}"/>
                    </a:ext>
                  </a:extLst>
                </p:cNvPr>
                <p:cNvCxnSpPr>
                  <a:cxnSpLocks/>
                  <a:stCxn id="36" idx="4"/>
                  <a:endCxn id="39" idx="2"/>
                </p:cNvCxnSpPr>
                <p:nvPr/>
              </p:nvCxnSpPr>
              <p:spPr>
                <a:xfrm>
                  <a:off x="2556607" y="4336020"/>
                  <a:ext cx="206503" cy="36058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50" name="Group 49">
              <a:extLst>
                <a:ext uri="{FF2B5EF4-FFF2-40B4-BE49-F238E27FC236}">
                  <a16:creationId xmlns:a16="http://schemas.microsoft.com/office/drawing/2014/main" id="{31C1B13C-D0AF-6149-8EDD-21982201E41D}"/>
                </a:ext>
              </a:extLst>
            </p:cNvPr>
            <p:cNvGrpSpPr/>
            <p:nvPr/>
          </p:nvGrpSpPr>
          <p:grpSpPr>
            <a:xfrm>
              <a:off x="2195747" y="3946752"/>
              <a:ext cx="320566" cy="346842"/>
              <a:chOff x="1170939" y="4417674"/>
              <a:chExt cx="320566" cy="346842"/>
            </a:xfrm>
          </p:grpSpPr>
          <p:sp>
            <p:nvSpPr>
              <p:cNvPr id="49" name="Oval 48">
                <a:extLst>
                  <a:ext uri="{FF2B5EF4-FFF2-40B4-BE49-F238E27FC236}">
                    <a16:creationId xmlns:a16="http://schemas.microsoft.com/office/drawing/2014/main" id="{C441DC90-EFF6-F54E-86DB-FBF1A3110CF5}"/>
                  </a:ext>
                </a:extLst>
              </p:cNvPr>
              <p:cNvSpPr/>
              <p:nvPr/>
            </p:nvSpPr>
            <p:spPr>
              <a:xfrm>
                <a:off x="1170939" y="4417674"/>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cxnSp>
            <p:nvCxnSpPr>
              <p:cNvPr id="15" name="Curved Connector 14">
                <a:extLst>
                  <a:ext uri="{FF2B5EF4-FFF2-40B4-BE49-F238E27FC236}">
                    <a16:creationId xmlns:a16="http://schemas.microsoft.com/office/drawing/2014/main" id="{3BC9A35C-7F7F-B742-830E-B15FF6DD37A5}"/>
                  </a:ext>
                </a:extLst>
              </p:cNvPr>
              <p:cNvCxnSpPr>
                <a:cxnSpLocks/>
                <a:stCxn id="49" idx="4"/>
                <a:endCxn id="49" idx="7"/>
              </p:cNvCxnSpPr>
              <p:nvPr/>
            </p:nvCxnSpPr>
            <p:spPr>
              <a:xfrm rot="5400000" flipH="1" flipV="1">
                <a:off x="1239866" y="4559823"/>
                <a:ext cx="296048" cy="113337"/>
              </a:xfrm>
              <a:prstGeom prst="curvedConnector5">
                <a:avLst>
                  <a:gd name="adj1" fmla="val -77217"/>
                  <a:gd name="adj2" fmla="val 454403"/>
                  <a:gd name="adj3" fmla="val 177217"/>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nvGrpSpPr>
            <p:cNvPr id="48" name="Group 47">
              <a:extLst>
                <a:ext uri="{FF2B5EF4-FFF2-40B4-BE49-F238E27FC236}">
                  <a16:creationId xmlns:a16="http://schemas.microsoft.com/office/drawing/2014/main" id="{F6C5D7C8-B28E-DC44-8471-8E55E27DD991}"/>
                </a:ext>
              </a:extLst>
            </p:cNvPr>
            <p:cNvGrpSpPr/>
            <p:nvPr/>
          </p:nvGrpSpPr>
          <p:grpSpPr>
            <a:xfrm>
              <a:off x="4473555" y="3643684"/>
              <a:ext cx="1300925" cy="1152521"/>
              <a:chOff x="2640315" y="3969448"/>
              <a:chExt cx="1300925" cy="1152521"/>
            </a:xfrm>
          </p:grpSpPr>
          <p:sp>
            <p:nvSpPr>
              <p:cNvPr id="5" name="Oval 4">
                <a:extLst>
                  <a:ext uri="{FF2B5EF4-FFF2-40B4-BE49-F238E27FC236}">
                    <a16:creationId xmlns:a16="http://schemas.microsoft.com/office/drawing/2014/main" id="{5EA94E89-6A31-644D-8B35-C8A0C4EE4964}"/>
                  </a:ext>
                </a:extLst>
              </p:cNvPr>
              <p:cNvSpPr/>
              <p:nvPr/>
            </p:nvSpPr>
            <p:spPr>
              <a:xfrm>
                <a:off x="3620674" y="477512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20" name="Oval 19">
                <a:extLst>
                  <a:ext uri="{FF2B5EF4-FFF2-40B4-BE49-F238E27FC236}">
                    <a16:creationId xmlns:a16="http://schemas.microsoft.com/office/drawing/2014/main" id="{C0461AC2-1726-624C-82DF-182B232B1C33}"/>
                  </a:ext>
                </a:extLst>
              </p:cNvPr>
              <p:cNvSpPr/>
              <p:nvPr/>
            </p:nvSpPr>
            <p:spPr>
              <a:xfrm>
                <a:off x="2640315" y="4764516"/>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cxnSp>
            <p:nvCxnSpPr>
              <p:cNvPr id="22" name="Straight Connector 21">
                <a:extLst>
                  <a:ext uri="{FF2B5EF4-FFF2-40B4-BE49-F238E27FC236}">
                    <a16:creationId xmlns:a16="http://schemas.microsoft.com/office/drawing/2014/main" id="{16AB2BAA-1AA3-F045-B9F0-B0499441A201}"/>
                  </a:ext>
                </a:extLst>
              </p:cNvPr>
              <p:cNvCxnSpPr>
                <a:cxnSpLocks/>
                <a:stCxn id="20" idx="6"/>
                <a:endCxn id="5" idx="2"/>
              </p:cNvCxnSpPr>
              <p:nvPr/>
            </p:nvCxnSpPr>
            <p:spPr>
              <a:xfrm>
                <a:off x="2960881" y="4937937"/>
                <a:ext cx="659793" cy="1061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847712B3-4661-A643-AEC0-F746B658628B}"/>
                  </a:ext>
                </a:extLst>
              </p:cNvPr>
              <p:cNvSpPr/>
              <p:nvPr/>
            </p:nvSpPr>
            <p:spPr>
              <a:xfrm>
                <a:off x="3174916" y="396944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cxnSp>
            <p:nvCxnSpPr>
              <p:cNvPr id="64" name="Straight Connector 63">
                <a:extLst>
                  <a:ext uri="{FF2B5EF4-FFF2-40B4-BE49-F238E27FC236}">
                    <a16:creationId xmlns:a16="http://schemas.microsoft.com/office/drawing/2014/main" id="{E499FC43-F835-974D-8640-D4AE3C5310C8}"/>
                  </a:ext>
                </a:extLst>
              </p:cNvPr>
              <p:cNvCxnSpPr>
                <a:cxnSpLocks/>
                <a:stCxn id="63" idx="5"/>
                <a:endCxn id="5" idx="0"/>
              </p:cNvCxnSpPr>
              <p:nvPr/>
            </p:nvCxnSpPr>
            <p:spPr>
              <a:xfrm>
                <a:off x="3448536" y="4265496"/>
                <a:ext cx="332421" cy="5096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F9E225B6-B445-0B40-A234-BBE419A7119F}"/>
                  </a:ext>
                </a:extLst>
              </p:cNvPr>
              <p:cNvCxnSpPr>
                <a:cxnSpLocks/>
                <a:stCxn id="63" idx="3"/>
                <a:endCxn id="20" idx="0"/>
              </p:cNvCxnSpPr>
              <p:nvPr/>
            </p:nvCxnSpPr>
            <p:spPr>
              <a:xfrm flipH="1">
                <a:off x="2800598" y="4265496"/>
                <a:ext cx="421264" cy="49902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75" name="TextBox 74">
              <a:extLst>
                <a:ext uri="{FF2B5EF4-FFF2-40B4-BE49-F238E27FC236}">
                  <a16:creationId xmlns:a16="http://schemas.microsoft.com/office/drawing/2014/main" id="{95A163F4-C1CD-D04E-8E6A-473692412DB7}"/>
                </a:ext>
              </a:extLst>
            </p:cNvPr>
            <p:cNvSpPr txBox="1"/>
            <p:nvPr/>
          </p:nvSpPr>
          <p:spPr>
            <a:xfrm>
              <a:off x="1917431" y="4896875"/>
              <a:ext cx="119776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Not a tree</a:t>
              </a:r>
            </a:p>
          </p:txBody>
        </p:sp>
        <p:sp>
          <p:nvSpPr>
            <p:cNvPr id="84" name="TextBox 83">
              <a:extLst>
                <a:ext uri="{FF2B5EF4-FFF2-40B4-BE49-F238E27FC236}">
                  <a16:creationId xmlns:a16="http://schemas.microsoft.com/office/drawing/2014/main" id="{9B948701-6B2A-774E-A6E7-F27F4C5B6629}"/>
                </a:ext>
              </a:extLst>
            </p:cNvPr>
            <p:cNvSpPr txBox="1"/>
            <p:nvPr/>
          </p:nvSpPr>
          <p:spPr>
            <a:xfrm>
              <a:off x="4473555" y="5061949"/>
              <a:ext cx="119776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Not a tree</a:t>
              </a:r>
            </a:p>
          </p:txBody>
        </p:sp>
        <p:sp>
          <p:nvSpPr>
            <p:cNvPr id="85" name="TextBox 84">
              <a:extLst>
                <a:ext uri="{FF2B5EF4-FFF2-40B4-BE49-F238E27FC236}">
                  <a16:creationId xmlns:a16="http://schemas.microsoft.com/office/drawing/2014/main" id="{5ACB3260-92FD-B64E-A329-6C3E5CD4B9FB}"/>
                </a:ext>
              </a:extLst>
            </p:cNvPr>
            <p:cNvSpPr txBox="1"/>
            <p:nvPr/>
          </p:nvSpPr>
          <p:spPr>
            <a:xfrm>
              <a:off x="8015350" y="5813880"/>
              <a:ext cx="1197764" cy="369332"/>
            </a:xfrm>
            <a:prstGeom prst="rect">
              <a:avLst/>
            </a:prstGeom>
            <a:noFill/>
          </p:spPr>
          <p:txBody>
            <a:bodyPr wrap="none" rtlCol="0">
              <a:spAutoFit/>
            </a:bodyPr>
            <a:lstStyle/>
            <a:p>
              <a:r>
                <a:rPr lang="en-US" dirty="0">
                  <a:latin typeface="Arial" panose="020B0604020202020204" pitchFamily="34" charset="0"/>
                  <a:cs typeface="Arial" panose="020B0604020202020204" pitchFamily="34" charset="0"/>
                </a:rPr>
                <a:t>Not a tree</a:t>
              </a:r>
            </a:p>
          </p:txBody>
        </p:sp>
      </p:grpSp>
    </p:spTree>
    <p:extLst>
      <p:ext uri="{BB962C8B-B14F-4D97-AF65-F5344CB8AC3E}">
        <p14:creationId xmlns:p14="http://schemas.microsoft.com/office/powerpoint/2010/main" val="2307982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AF963-72BE-DD42-83FF-87F8F824FB71}"/>
              </a:ext>
            </a:extLst>
          </p:cNvPr>
          <p:cNvSpPr>
            <a:spLocks noGrp="1"/>
          </p:cNvSpPr>
          <p:nvPr>
            <p:ph type="title"/>
          </p:nvPr>
        </p:nvSpPr>
        <p:spPr/>
        <p:txBody>
          <a:bodyPr/>
          <a:lstStyle/>
          <a:p>
            <a:r>
              <a:rPr lang="en-US" dirty="0"/>
              <a:t>Binary search Tree ADT</a:t>
            </a:r>
          </a:p>
        </p:txBody>
      </p:sp>
      <p:sp>
        <p:nvSpPr>
          <p:cNvPr id="3" name="Content Placeholder 2">
            <a:extLst>
              <a:ext uri="{FF2B5EF4-FFF2-40B4-BE49-F238E27FC236}">
                <a16:creationId xmlns:a16="http://schemas.microsoft.com/office/drawing/2014/main" id="{5E6F334D-2E80-D949-9F05-8D01770E9CC7}"/>
              </a:ext>
            </a:extLst>
          </p:cNvPr>
          <p:cNvSpPr>
            <a:spLocks noGrp="1"/>
          </p:cNvSpPr>
          <p:nvPr>
            <p:ph idx="1"/>
          </p:nvPr>
        </p:nvSpPr>
        <p:spPr/>
        <p:txBody>
          <a:bodyPr>
            <a:normAutofit/>
          </a:bodyPr>
          <a:lstStyle/>
          <a:p>
            <a:r>
              <a:rPr lang="en-US" dirty="0"/>
              <a:t>A </a:t>
            </a:r>
            <a:r>
              <a:rPr lang="en-US" dirty="0">
                <a:highlight>
                  <a:srgbClr val="C0C0C0"/>
                </a:highlight>
              </a:rPr>
              <a:t>binary tree </a:t>
            </a:r>
            <a:r>
              <a:rPr lang="en-US" dirty="0"/>
              <a:t>is a tree where each node has at most two children (referred to as left child and right child)</a:t>
            </a:r>
          </a:p>
          <a:p>
            <a:pPr marL="457200" lvl="1" indent="0">
              <a:buNone/>
            </a:pPr>
            <a:endParaRPr lang="en-US" dirty="0"/>
          </a:p>
        </p:txBody>
      </p:sp>
      <p:grpSp>
        <p:nvGrpSpPr>
          <p:cNvPr id="39" name="Group 38" descr="graphical representations of binary trees">
            <a:extLst>
              <a:ext uri="{FF2B5EF4-FFF2-40B4-BE49-F238E27FC236}">
                <a16:creationId xmlns:a16="http://schemas.microsoft.com/office/drawing/2014/main" id="{2029E95B-E036-544F-B2BC-219B444535C8}"/>
              </a:ext>
            </a:extLst>
          </p:cNvPr>
          <p:cNvGrpSpPr/>
          <p:nvPr/>
        </p:nvGrpSpPr>
        <p:grpSpPr>
          <a:xfrm>
            <a:off x="953526" y="3429000"/>
            <a:ext cx="8060513" cy="2366518"/>
            <a:chOff x="953526" y="3429000"/>
            <a:chExt cx="8060513" cy="2366518"/>
          </a:xfrm>
        </p:grpSpPr>
        <p:grpSp>
          <p:nvGrpSpPr>
            <p:cNvPr id="14" name="Group 13">
              <a:extLst>
                <a:ext uri="{FF2B5EF4-FFF2-40B4-BE49-F238E27FC236}">
                  <a16:creationId xmlns:a16="http://schemas.microsoft.com/office/drawing/2014/main" id="{A6793505-C0B4-754A-AFA9-D2F5C82A0453}"/>
                </a:ext>
              </a:extLst>
            </p:cNvPr>
            <p:cNvGrpSpPr/>
            <p:nvPr/>
          </p:nvGrpSpPr>
          <p:grpSpPr>
            <a:xfrm>
              <a:off x="953526" y="3429000"/>
              <a:ext cx="8060513" cy="2366518"/>
              <a:chOff x="953526" y="3429000"/>
              <a:chExt cx="8060513" cy="2366518"/>
            </a:xfrm>
          </p:grpSpPr>
          <p:sp>
            <p:nvSpPr>
              <p:cNvPr id="11" name="TextBox 10">
                <a:extLst>
                  <a:ext uri="{FF2B5EF4-FFF2-40B4-BE49-F238E27FC236}">
                    <a16:creationId xmlns:a16="http://schemas.microsoft.com/office/drawing/2014/main" id="{E6027654-1046-9347-A68D-8C129E3F28CD}"/>
                  </a:ext>
                </a:extLst>
              </p:cNvPr>
              <p:cNvSpPr txBox="1"/>
              <p:nvPr/>
            </p:nvSpPr>
            <p:spPr>
              <a:xfrm>
                <a:off x="953526" y="3429000"/>
                <a:ext cx="543739" cy="369332"/>
              </a:xfrm>
              <a:prstGeom prst="rect">
                <a:avLst/>
              </a:prstGeom>
              <a:noFill/>
            </p:spPr>
            <p:txBody>
              <a:bodyPr wrap="none" rtlCol="0">
                <a:spAutoFit/>
              </a:bodyPr>
              <a:lstStyle/>
              <a:p>
                <a:r>
                  <a:rPr lang="en-US" i="1" dirty="0">
                    <a:latin typeface="Arial" panose="020B0604020202020204" pitchFamily="34" charset="0"/>
                    <a:cs typeface="Arial" panose="020B0604020202020204" pitchFamily="34" charset="0"/>
                  </a:rPr>
                  <a:t>null</a:t>
                </a:r>
              </a:p>
            </p:txBody>
          </p:sp>
          <p:sp>
            <p:nvSpPr>
              <p:cNvPr id="4" name="Oval 3">
                <a:extLst>
                  <a:ext uri="{FF2B5EF4-FFF2-40B4-BE49-F238E27FC236}">
                    <a16:creationId xmlns:a16="http://schemas.microsoft.com/office/drawing/2014/main" id="{F9825120-8030-A149-A712-F7C4D8993763}"/>
                  </a:ext>
                </a:extLst>
              </p:cNvPr>
              <p:cNvSpPr/>
              <p:nvPr/>
            </p:nvSpPr>
            <p:spPr>
              <a:xfrm>
                <a:off x="2916972" y="3534105"/>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grpSp>
            <p:nvGrpSpPr>
              <p:cNvPr id="12" name="Group 11">
                <a:extLst>
                  <a:ext uri="{FF2B5EF4-FFF2-40B4-BE49-F238E27FC236}">
                    <a16:creationId xmlns:a16="http://schemas.microsoft.com/office/drawing/2014/main" id="{446F7878-99A2-7146-A943-DCDA9A600D92}"/>
                  </a:ext>
                </a:extLst>
              </p:cNvPr>
              <p:cNvGrpSpPr/>
              <p:nvPr/>
            </p:nvGrpSpPr>
            <p:grpSpPr>
              <a:xfrm>
                <a:off x="5069583" y="3531332"/>
                <a:ext cx="965180" cy="349615"/>
                <a:chOff x="4458477" y="3560236"/>
                <a:chExt cx="965180" cy="349615"/>
              </a:xfrm>
            </p:grpSpPr>
            <p:sp>
              <p:nvSpPr>
                <p:cNvPr id="5" name="Oval 4">
                  <a:extLst>
                    <a:ext uri="{FF2B5EF4-FFF2-40B4-BE49-F238E27FC236}">
                      <a16:creationId xmlns:a16="http://schemas.microsoft.com/office/drawing/2014/main" id="{5EA94E89-6A31-644D-8B35-C8A0C4EE4964}"/>
                    </a:ext>
                  </a:extLst>
                </p:cNvPr>
                <p:cNvSpPr/>
                <p:nvPr/>
              </p:nvSpPr>
              <p:spPr>
                <a:xfrm>
                  <a:off x="5103091" y="3563009"/>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grpSp>
              <p:nvGrpSpPr>
                <p:cNvPr id="19" name="Group 18">
                  <a:extLst>
                    <a:ext uri="{FF2B5EF4-FFF2-40B4-BE49-F238E27FC236}">
                      <a16:creationId xmlns:a16="http://schemas.microsoft.com/office/drawing/2014/main" id="{D0EA30CC-8011-9247-9343-A98BA4B7263E}"/>
                    </a:ext>
                  </a:extLst>
                </p:cNvPr>
                <p:cNvGrpSpPr/>
                <p:nvPr/>
              </p:nvGrpSpPr>
              <p:grpSpPr>
                <a:xfrm>
                  <a:off x="4458477" y="3560236"/>
                  <a:ext cx="644614" cy="346842"/>
                  <a:chOff x="4209393" y="3492063"/>
                  <a:chExt cx="644614" cy="346842"/>
                </a:xfrm>
              </p:grpSpPr>
              <p:sp>
                <p:nvSpPr>
                  <p:cNvPr id="20" name="Oval 19">
                    <a:extLst>
                      <a:ext uri="{FF2B5EF4-FFF2-40B4-BE49-F238E27FC236}">
                        <a16:creationId xmlns:a16="http://schemas.microsoft.com/office/drawing/2014/main" id="{C0461AC2-1726-624C-82DF-182B232B1C33}"/>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cxnSp>
                <p:nvCxnSpPr>
                  <p:cNvPr id="22" name="Straight Connector 21">
                    <a:extLst>
                      <a:ext uri="{FF2B5EF4-FFF2-40B4-BE49-F238E27FC236}">
                        <a16:creationId xmlns:a16="http://schemas.microsoft.com/office/drawing/2014/main" id="{16AB2BAA-1AA3-F045-B9F0-B0499441A201}"/>
                      </a:ext>
                    </a:extLst>
                  </p:cNvPr>
                  <p:cNvCxnSpPr>
                    <a:cxnSpLocks/>
                    <a:stCxn id="20" idx="6"/>
                    <a:endCxn id="5" idx="2"/>
                  </p:cNvCxnSpPr>
                  <p:nvPr/>
                </p:nvCxnSpPr>
                <p:spPr>
                  <a:xfrm>
                    <a:off x="4529959" y="3665484"/>
                    <a:ext cx="324048" cy="2773"/>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10" name="Group 9">
                <a:extLst>
                  <a:ext uri="{FF2B5EF4-FFF2-40B4-BE49-F238E27FC236}">
                    <a16:creationId xmlns:a16="http://schemas.microsoft.com/office/drawing/2014/main" id="{DB276AAD-0D42-E84D-9D06-F5D3EA94AF8A}"/>
                  </a:ext>
                </a:extLst>
              </p:cNvPr>
              <p:cNvGrpSpPr/>
              <p:nvPr/>
            </p:nvGrpSpPr>
            <p:grpSpPr>
              <a:xfrm>
                <a:off x="7442137" y="3534105"/>
                <a:ext cx="1571902" cy="2261413"/>
                <a:chOff x="6210551" y="3560236"/>
                <a:chExt cx="1571902" cy="2261413"/>
              </a:xfrm>
            </p:grpSpPr>
            <p:grpSp>
              <p:nvGrpSpPr>
                <p:cNvPr id="26" name="Group 25">
                  <a:extLst>
                    <a:ext uri="{FF2B5EF4-FFF2-40B4-BE49-F238E27FC236}">
                      <a16:creationId xmlns:a16="http://schemas.microsoft.com/office/drawing/2014/main" id="{2B264204-FF93-8B43-9B71-4F88700F0098}"/>
                    </a:ext>
                  </a:extLst>
                </p:cNvPr>
                <p:cNvGrpSpPr/>
                <p:nvPr/>
              </p:nvGrpSpPr>
              <p:grpSpPr>
                <a:xfrm>
                  <a:off x="6484170" y="3560236"/>
                  <a:ext cx="624019" cy="562448"/>
                  <a:chOff x="4056993" y="3492063"/>
                  <a:chExt cx="624019" cy="562448"/>
                </a:xfrm>
              </p:grpSpPr>
              <p:sp>
                <p:nvSpPr>
                  <p:cNvPr id="27" name="Oval 26">
                    <a:extLst>
                      <a:ext uri="{FF2B5EF4-FFF2-40B4-BE49-F238E27FC236}">
                        <a16:creationId xmlns:a16="http://schemas.microsoft.com/office/drawing/2014/main" id="{C09F7613-5319-FD4A-9BCD-F0276137C638}"/>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cxnSp>
                <p:nvCxnSpPr>
                  <p:cNvPr id="28" name="Straight Connector 27">
                    <a:extLst>
                      <a:ext uri="{FF2B5EF4-FFF2-40B4-BE49-F238E27FC236}">
                        <a16:creationId xmlns:a16="http://schemas.microsoft.com/office/drawing/2014/main" id="{7EF45C00-1AA1-BF4D-82E2-04C1B1337D37}"/>
                      </a:ext>
                    </a:extLst>
                  </p:cNvPr>
                  <p:cNvCxnSpPr>
                    <a:cxnSpLocks/>
                    <a:stCxn id="27" idx="3"/>
                  </p:cNvCxnSpPr>
                  <p:nvPr/>
                </p:nvCxnSpPr>
                <p:spPr>
                  <a:xfrm flipH="1">
                    <a:off x="4056993" y="3788111"/>
                    <a:ext cx="199346" cy="26490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ADC066FF-1652-D84F-B679-2D8FAF5B1929}"/>
                      </a:ext>
                    </a:extLst>
                  </p:cNvPr>
                  <p:cNvCxnSpPr>
                    <a:cxnSpLocks/>
                    <a:stCxn id="27" idx="5"/>
                  </p:cNvCxnSpPr>
                  <p:nvPr/>
                </p:nvCxnSpPr>
                <p:spPr>
                  <a:xfrm>
                    <a:off x="4483012" y="3788111"/>
                    <a:ext cx="198000" cy="26640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7" name="Oval 16">
                  <a:extLst>
                    <a:ext uri="{FF2B5EF4-FFF2-40B4-BE49-F238E27FC236}">
                      <a16:creationId xmlns:a16="http://schemas.microsoft.com/office/drawing/2014/main" id="{442C4DBD-49B2-9343-922E-D06048BA913C}"/>
                    </a:ext>
                  </a:extLst>
                </p:cNvPr>
                <p:cNvSpPr/>
                <p:nvPr/>
              </p:nvSpPr>
              <p:spPr>
                <a:xfrm>
                  <a:off x="7461887" y="473501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21" name="Oval 20">
                  <a:extLst>
                    <a:ext uri="{FF2B5EF4-FFF2-40B4-BE49-F238E27FC236}">
                      <a16:creationId xmlns:a16="http://schemas.microsoft.com/office/drawing/2014/main" id="{C6F8EC86-EE7C-5443-8A0D-ABA934F48C58}"/>
                    </a:ext>
                  </a:extLst>
                </p:cNvPr>
                <p:cNvSpPr/>
                <p:nvPr/>
              </p:nvSpPr>
              <p:spPr>
                <a:xfrm>
                  <a:off x="6749906" y="473501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23" name="Oval 22">
                  <a:extLst>
                    <a:ext uri="{FF2B5EF4-FFF2-40B4-BE49-F238E27FC236}">
                      <a16:creationId xmlns:a16="http://schemas.microsoft.com/office/drawing/2014/main" id="{01AD9CE8-9E94-B940-8446-D6784A4C5757}"/>
                    </a:ext>
                  </a:extLst>
                </p:cNvPr>
                <p:cNvSpPr/>
                <p:nvPr/>
              </p:nvSpPr>
              <p:spPr>
                <a:xfrm>
                  <a:off x="7008512" y="4121190"/>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24" name="Oval 23">
                  <a:extLst>
                    <a:ext uri="{FF2B5EF4-FFF2-40B4-BE49-F238E27FC236}">
                      <a16:creationId xmlns:a16="http://schemas.microsoft.com/office/drawing/2014/main" id="{E9092143-B7FB-334B-ABC0-246A40795D97}"/>
                    </a:ext>
                  </a:extLst>
                </p:cNvPr>
                <p:cNvSpPr/>
                <p:nvPr/>
              </p:nvSpPr>
              <p:spPr>
                <a:xfrm>
                  <a:off x="6210551" y="4099040"/>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sp>
              <p:nvSpPr>
                <p:cNvPr id="25" name="Oval 24">
                  <a:extLst>
                    <a:ext uri="{FF2B5EF4-FFF2-40B4-BE49-F238E27FC236}">
                      <a16:creationId xmlns:a16="http://schemas.microsoft.com/office/drawing/2014/main" id="{85ED7E60-4C6F-C94B-8983-8354E7F00740}"/>
                    </a:ext>
                  </a:extLst>
                </p:cNvPr>
                <p:cNvSpPr/>
                <p:nvPr/>
              </p:nvSpPr>
              <p:spPr>
                <a:xfrm>
                  <a:off x="6749906" y="547480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latin typeface="Arial" panose="020B0604020202020204" pitchFamily="34" charset="0"/>
                    <a:cs typeface="Arial" panose="020B0604020202020204" pitchFamily="34" charset="0"/>
                  </a:endParaRPr>
                </a:p>
              </p:txBody>
            </p:sp>
            <p:cxnSp>
              <p:nvCxnSpPr>
                <p:cNvPr id="30" name="Straight Connector 29">
                  <a:extLst>
                    <a:ext uri="{FF2B5EF4-FFF2-40B4-BE49-F238E27FC236}">
                      <a16:creationId xmlns:a16="http://schemas.microsoft.com/office/drawing/2014/main" id="{69E15579-6882-5045-84A1-32FA9761965F}"/>
                    </a:ext>
                  </a:extLst>
                </p:cNvPr>
                <p:cNvCxnSpPr/>
                <p:nvPr/>
              </p:nvCxnSpPr>
              <p:spPr>
                <a:xfrm flipH="1">
                  <a:off x="6907543" y="4468032"/>
                  <a:ext cx="199346" cy="26490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D4D43A2F-342C-6142-9129-1803615E2F38}"/>
                    </a:ext>
                  </a:extLst>
                </p:cNvPr>
                <p:cNvCxnSpPr>
                  <a:cxnSpLocks/>
                  <a:stCxn id="17" idx="0"/>
                </p:cNvCxnSpPr>
                <p:nvPr/>
              </p:nvCxnSpPr>
              <p:spPr>
                <a:xfrm flipH="1" flipV="1">
                  <a:off x="7299392" y="4396208"/>
                  <a:ext cx="322778" cy="33881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6C5FA24E-902E-1D47-92BF-AD0B6888F587}"/>
                    </a:ext>
                  </a:extLst>
                </p:cNvPr>
                <p:cNvCxnSpPr>
                  <a:cxnSpLocks/>
                  <a:stCxn id="25" idx="0"/>
                  <a:endCxn id="21" idx="4"/>
                </p:cNvCxnSpPr>
                <p:nvPr/>
              </p:nvCxnSpPr>
              <p:spPr>
                <a:xfrm flipV="1">
                  <a:off x="6910189" y="5081860"/>
                  <a:ext cx="0" cy="392947"/>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grpSp>
          <p:nvGrpSpPr>
            <p:cNvPr id="38" name="Group 37">
              <a:extLst>
                <a:ext uri="{FF2B5EF4-FFF2-40B4-BE49-F238E27FC236}">
                  <a16:creationId xmlns:a16="http://schemas.microsoft.com/office/drawing/2014/main" id="{3CDD1002-1A2C-CF48-AB9E-0DE8FE396336}"/>
                </a:ext>
              </a:extLst>
            </p:cNvPr>
            <p:cNvGrpSpPr/>
            <p:nvPr/>
          </p:nvGrpSpPr>
          <p:grpSpPr>
            <a:xfrm>
              <a:off x="5776250" y="4131624"/>
              <a:ext cx="2463848" cy="1125488"/>
              <a:chOff x="5776250" y="4131624"/>
              <a:chExt cx="2463848" cy="1125488"/>
            </a:xfrm>
          </p:grpSpPr>
          <p:sp>
            <p:nvSpPr>
              <p:cNvPr id="33" name="TextBox 32">
                <a:extLst>
                  <a:ext uri="{FF2B5EF4-FFF2-40B4-BE49-F238E27FC236}">
                    <a16:creationId xmlns:a16="http://schemas.microsoft.com/office/drawing/2014/main" id="{0FCF4DE4-1AA2-B045-B735-3368116021B4}"/>
                  </a:ext>
                </a:extLst>
              </p:cNvPr>
              <p:cNvSpPr txBox="1"/>
              <p:nvPr/>
            </p:nvSpPr>
            <p:spPr>
              <a:xfrm>
                <a:off x="5776250" y="4131624"/>
                <a:ext cx="492443"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left</a:t>
                </a:r>
              </a:p>
            </p:txBody>
          </p:sp>
          <p:cxnSp>
            <p:nvCxnSpPr>
              <p:cNvPr id="34" name="Straight Arrow Connector 33">
                <a:extLst>
                  <a:ext uri="{FF2B5EF4-FFF2-40B4-BE49-F238E27FC236}">
                    <a16:creationId xmlns:a16="http://schemas.microsoft.com/office/drawing/2014/main" id="{7BFF3418-F090-D840-B44E-3D9B330BE012}"/>
                  </a:ext>
                </a:extLst>
              </p:cNvPr>
              <p:cNvCxnSpPr>
                <a:cxnSpLocks/>
                <a:stCxn id="33" idx="3"/>
                <a:endCxn id="24" idx="2"/>
              </p:cNvCxnSpPr>
              <p:nvPr/>
            </p:nvCxnSpPr>
            <p:spPr>
              <a:xfrm flipV="1">
                <a:off x="6268693" y="4246330"/>
                <a:ext cx="1173444" cy="6996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61FB464E-7E5A-E646-AF6E-590FF20E0787}"/>
                  </a:ext>
                </a:extLst>
              </p:cNvPr>
              <p:cNvSpPr txBox="1"/>
              <p:nvPr/>
            </p:nvSpPr>
            <p:spPr>
              <a:xfrm>
                <a:off x="5894964" y="4887780"/>
                <a:ext cx="633507"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right</a:t>
                </a:r>
              </a:p>
            </p:txBody>
          </p:sp>
          <p:cxnSp>
            <p:nvCxnSpPr>
              <p:cNvPr id="36" name="Straight Arrow Connector 35">
                <a:extLst>
                  <a:ext uri="{FF2B5EF4-FFF2-40B4-BE49-F238E27FC236}">
                    <a16:creationId xmlns:a16="http://schemas.microsoft.com/office/drawing/2014/main" id="{E9EE3C83-C0C9-2E4B-88A8-7815A09A9965}"/>
                  </a:ext>
                </a:extLst>
              </p:cNvPr>
              <p:cNvCxnSpPr>
                <a:cxnSpLocks/>
                <a:stCxn id="35" idx="3"/>
                <a:endCxn id="23" idx="2"/>
              </p:cNvCxnSpPr>
              <p:nvPr/>
            </p:nvCxnSpPr>
            <p:spPr>
              <a:xfrm flipV="1">
                <a:off x="6528471" y="4268480"/>
                <a:ext cx="1711627" cy="803966"/>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058783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AF963-72BE-DD42-83FF-87F8F824FB71}"/>
              </a:ext>
            </a:extLst>
          </p:cNvPr>
          <p:cNvSpPr>
            <a:spLocks noGrp="1"/>
          </p:cNvSpPr>
          <p:nvPr>
            <p:ph type="title"/>
          </p:nvPr>
        </p:nvSpPr>
        <p:spPr/>
        <p:txBody>
          <a:bodyPr/>
          <a:lstStyle/>
          <a:p>
            <a:r>
              <a:rPr lang="en-US" dirty="0"/>
              <a:t>Binary search Tree ADT</a:t>
            </a:r>
          </a:p>
        </p:txBody>
      </p:sp>
      <p:sp>
        <p:nvSpPr>
          <p:cNvPr id="3" name="Content Placeholder 2">
            <a:extLst>
              <a:ext uri="{FF2B5EF4-FFF2-40B4-BE49-F238E27FC236}">
                <a16:creationId xmlns:a16="http://schemas.microsoft.com/office/drawing/2014/main" id="{5E6F334D-2E80-D949-9F05-8D01770E9CC7}"/>
              </a:ext>
            </a:extLst>
          </p:cNvPr>
          <p:cNvSpPr>
            <a:spLocks noGrp="1"/>
          </p:cNvSpPr>
          <p:nvPr>
            <p:ph idx="1"/>
          </p:nvPr>
        </p:nvSpPr>
        <p:spPr/>
        <p:txBody>
          <a:bodyPr>
            <a:normAutofit/>
          </a:bodyPr>
          <a:lstStyle/>
          <a:p>
            <a:r>
              <a:rPr lang="en-US" dirty="0"/>
              <a:t>A binary tree is in </a:t>
            </a:r>
            <a:r>
              <a:rPr lang="en-US" dirty="0">
                <a:highlight>
                  <a:srgbClr val="C0C0C0"/>
                </a:highlight>
              </a:rPr>
              <a:t>symmetric order</a:t>
            </a:r>
            <a:r>
              <a:rPr lang="en-US" i="1" dirty="0"/>
              <a:t> </a:t>
            </a:r>
            <a:r>
              <a:rPr lang="en-US" dirty="0"/>
              <a:t>if each node has a key, and every node’s key is:</a:t>
            </a:r>
          </a:p>
          <a:p>
            <a:pPr lvl="1"/>
            <a:r>
              <a:rPr lang="en-US" dirty="0"/>
              <a:t>Larger than all keys in its left subtree</a:t>
            </a:r>
          </a:p>
          <a:p>
            <a:pPr lvl="1"/>
            <a:r>
              <a:rPr lang="en-US" dirty="0"/>
              <a:t>Smaller than all keys in its right subtree</a:t>
            </a:r>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r>
              <a:rPr lang="en-US" dirty="0"/>
              <a:t>A </a:t>
            </a:r>
            <a:r>
              <a:rPr lang="en-US" dirty="0">
                <a:highlight>
                  <a:srgbClr val="C0C0C0"/>
                </a:highlight>
              </a:rPr>
              <a:t>binary search tree</a:t>
            </a:r>
            <a:r>
              <a:rPr lang="en-US" dirty="0"/>
              <a:t> is a </a:t>
            </a:r>
            <a:r>
              <a:rPr lang="en-US" dirty="0">
                <a:highlight>
                  <a:srgbClr val="C0C0C0"/>
                </a:highlight>
              </a:rPr>
              <a:t>binary tree</a:t>
            </a:r>
            <a:r>
              <a:rPr lang="en-US" dirty="0"/>
              <a:t> in </a:t>
            </a:r>
            <a:r>
              <a:rPr lang="en-US" dirty="0">
                <a:highlight>
                  <a:srgbClr val="C0C0C0"/>
                </a:highlight>
              </a:rPr>
              <a:t>symmetric order</a:t>
            </a:r>
          </a:p>
        </p:txBody>
      </p:sp>
      <p:grpSp>
        <p:nvGrpSpPr>
          <p:cNvPr id="79" name="Group 78" descr="graphical representations of binary tree in symmetric order">
            <a:extLst>
              <a:ext uri="{FF2B5EF4-FFF2-40B4-BE49-F238E27FC236}">
                <a16:creationId xmlns:a16="http://schemas.microsoft.com/office/drawing/2014/main" id="{F04926B5-A56D-7146-AB31-6E5058F3B293}"/>
              </a:ext>
            </a:extLst>
          </p:cNvPr>
          <p:cNvGrpSpPr/>
          <p:nvPr/>
        </p:nvGrpSpPr>
        <p:grpSpPr>
          <a:xfrm>
            <a:off x="3102529" y="3324591"/>
            <a:ext cx="8065294" cy="2461353"/>
            <a:chOff x="3102529" y="3324591"/>
            <a:chExt cx="8065294" cy="2461353"/>
          </a:xfrm>
        </p:grpSpPr>
        <p:sp>
          <p:nvSpPr>
            <p:cNvPr id="6" name="Oval 5">
              <a:extLst>
                <a:ext uri="{FF2B5EF4-FFF2-40B4-BE49-F238E27FC236}">
                  <a16:creationId xmlns:a16="http://schemas.microsoft.com/office/drawing/2014/main" id="{4140A614-A4D8-E943-A40B-21EDA85E51EF}"/>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7" name="Oval 6">
              <a:extLst>
                <a:ext uri="{FF2B5EF4-FFF2-40B4-BE49-F238E27FC236}">
                  <a16:creationId xmlns:a16="http://schemas.microsoft.com/office/drawing/2014/main" id="{25D2C763-253F-D340-8009-0881FE7BCB0E}"/>
                </a:ext>
              </a:extLst>
            </p:cNvPr>
            <p:cNvSpPr/>
            <p:nvPr/>
          </p:nvSpPr>
          <p:spPr>
            <a:xfrm>
              <a:off x="7774242" y="3324591"/>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8" name="Straight Connector 7">
              <a:extLst>
                <a:ext uri="{FF2B5EF4-FFF2-40B4-BE49-F238E27FC236}">
                  <a16:creationId xmlns:a16="http://schemas.microsoft.com/office/drawing/2014/main" id="{944BF122-B4EE-194C-9F19-EB7FA42FB458}"/>
                </a:ext>
              </a:extLst>
            </p:cNvPr>
            <p:cNvCxnSpPr>
              <a:cxnSpLocks/>
              <a:stCxn id="7" idx="3"/>
              <a:endCxn id="18" idx="0"/>
            </p:cNvCxnSpPr>
            <p:nvPr/>
          </p:nvCxnSpPr>
          <p:spPr>
            <a:xfrm flipH="1">
              <a:off x="7030774" y="3620639"/>
              <a:ext cx="790414" cy="27121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10" name="Group 9">
              <a:extLst>
                <a:ext uri="{FF2B5EF4-FFF2-40B4-BE49-F238E27FC236}">
                  <a16:creationId xmlns:a16="http://schemas.microsoft.com/office/drawing/2014/main" id="{35E85D34-8CF8-A54B-9952-3CE79AD39523}"/>
                </a:ext>
              </a:extLst>
            </p:cNvPr>
            <p:cNvGrpSpPr/>
            <p:nvPr/>
          </p:nvGrpSpPr>
          <p:grpSpPr>
            <a:xfrm>
              <a:off x="6090548" y="3891858"/>
              <a:ext cx="1730640" cy="636744"/>
              <a:chOff x="3429450" y="3492063"/>
              <a:chExt cx="1730640" cy="636744"/>
            </a:xfrm>
          </p:grpSpPr>
          <p:sp>
            <p:nvSpPr>
              <p:cNvPr id="18" name="Oval 17">
                <a:extLst>
                  <a:ext uri="{FF2B5EF4-FFF2-40B4-BE49-F238E27FC236}">
                    <a16:creationId xmlns:a16="http://schemas.microsoft.com/office/drawing/2014/main" id="{75C87006-BCAD-A64C-AA4D-D42244892BC3}"/>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19" name="Straight Connector 18">
                <a:extLst>
                  <a:ext uri="{FF2B5EF4-FFF2-40B4-BE49-F238E27FC236}">
                    <a16:creationId xmlns:a16="http://schemas.microsoft.com/office/drawing/2014/main" id="{A7E84051-D789-2B4C-9AC7-7A5993CD5D5C}"/>
                  </a:ext>
                </a:extLst>
              </p:cNvPr>
              <p:cNvCxnSpPr>
                <a:cxnSpLocks/>
                <a:stCxn id="18" idx="3"/>
                <a:endCxn id="12"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C0204FD-E284-C34B-B899-FC603FFD2228}"/>
                  </a:ext>
                </a:extLst>
              </p:cNvPr>
              <p:cNvCxnSpPr>
                <a:cxnSpLocks/>
                <a:stCxn id="18" idx="5"/>
                <a:endCxn id="13" idx="1"/>
              </p:cNvCxnSpPr>
              <p:nvPr/>
            </p:nvCxnSpPr>
            <p:spPr>
              <a:xfrm>
                <a:off x="4483013" y="3788111"/>
                <a:ext cx="677077" cy="3406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1" name="Oval 10">
              <a:extLst>
                <a:ext uri="{FF2B5EF4-FFF2-40B4-BE49-F238E27FC236}">
                  <a16:creationId xmlns:a16="http://schemas.microsoft.com/office/drawing/2014/main" id="{8F80AAA5-2D32-194C-B1A4-56A748FDCCAB}"/>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2" name="Oval 11">
              <a:extLst>
                <a:ext uri="{FF2B5EF4-FFF2-40B4-BE49-F238E27FC236}">
                  <a16:creationId xmlns:a16="http://schemas.microsoft.com/office/drawing/2014/main" id="{914ADC38-0293-6B47-AC08-D9D836B4F9F0}"/>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3" name="Oval 12">
              <a:extLst>
                <a:ext uri="{FF2B5EF4-FFF2-40B4-BE49-F238E27FC236}">
                  <a16:creationId xmlns:a16="http://schemas.microsoft.com/office/drawing/2014/main" id="{93BD1286-2BE6-234D-873C-969A1A21133E}"/>
                </a:ext>
              </a:extLst>
            </p:cNvPr>
            <p:cNvSpPr/>
            <p:nvPr/>
          </p:nvSpPr>
          <p:spPr>
            <a:xfrm>
              <a:off x="7774242"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4" name="Group 13">
              <a:extLst>
                <a:ext uri="{FF2B5EF4-FFF2-40B4-BE49-F238E27FC236}">
                  <a16:creationId xmlns:a16="http://schemas.microsoft.com/office/drawing/2014/main" id="{0AF9926A-4C58-7F45-904D-EE8738E67211}"/>
                </a:ext>
              </a:extLst>
            </p:cNvPr>
            <p:cNvGrpSpPr/>
            <p:nvPr/>
          </p:nvGrpSpPr>
          <p:grpSpPr>
            <a:xfrm>
              <a:off x="7304394" y="3620639"/>
              <a:ext cx="1919174" cy="1511852"/>
              <a:chOff x="2610785" y="3178812"/>
              <a:chExt cx="1919174" cy="1511852"/>
            </a:xfrm>
          </p:grpSpPr>
          <p:sp>
            <p:nvSpPr>
              <p:cNvPr id="15" name="Oval 14">
                <a:extLst>
                  <a:ext uri="{FF2B5EF4-FFF2-40B4-BE49-F238E27FC236}">
                    <a16:creationId xmlns:a16="http://schemas.microsoft.com/office/drawing/2014/main" id="{1970D78F-E425-074D-9F2E-853F2EA9F3B0}"/>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16" name="Straight Connector 15">
                <a:extLst>
                  <a:ext uri="{FF2B5EF4-FFF2-40B4-BE49-F238E27FC236}">
                    <a16:creationId xmlns:a16="http://schemas.microsoft.com/office/drawing/2014/main" id="{4D4BB37D-A3E6-534F-972B-6EEE98822CF1}"/>
                  </a:ext>
                </a:extLst>
              </p:cNvPr>
              <p:cNvCxnSpPr>
                <a:cxnSpLocks/>
                <a:stCxn id="13" idx="3"/>
                <a:endCxn id="6"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29510-936D-C541-8326-53210B793446}"/>
                  </a:ext>
                </a:extLst>
              </p:cNvPr>
              <p:cNvCxnSpPr>
                <a:cxnSpLocks/>
                <a:stCxn id="7" idx="5"/>
                <a:endCxn id="15"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4" name="TextBox 23">
              <a:extLst>
                <a:ext uri="{FF2B5EF4-FFF2-40B4-BE49-F238E27FC236}">
                  <a16:creationId xmlns:a16="http://schemas.microsoft.com/office/drawing/2014/main" id="{57DD8462-60ED-A34B-925A-972D7A62209B}"/>
                </a:ext>
              </a:extLst>
            </p:cNvPr>
            <p:cNvSpPr txBox="1"/>
            <p:nvPr/>
          </p:nvSpPr>
          <p:spPr>
            <a:xfrm>
              <a:off x="9854643" y="4906095"/>
              <a:ext cx="1313180" cy="646331"/>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keys larger</a:t>
              </a:r>
            </a:p>
            <a:p>
              <a:r>
                <a:rPr lang="en-US" dirty="0">
                  <a:solidFill>
                    <a:srgbClr val="FF0000"/>
                  </a:solidFill>
                  <a:latin typeface="Arial" panose="020B0604020202020204" pitchFamily="34" charset="0"/>
                  <a:cs typeface="Arial" panose="020B0604020202020204" pitchFamily="34" charset="0"/>
                </a:rPr>
                <a:t>than E</a:t>
              </a:r>
            </a:p>
          </p:txBody>
        </p:sp>
        <p:grpSp>
          <p:nvGrpSpPr>
            <p:cNvPr id="70" name="Group 69">
              <a:extLst>
                <a:ext uri="{FF2B5EF4-FFF2-40B4-BE49-F238E27FC236}">
                  <a16:creationId xmlns:a16="http://schemas.microsoft.com/office/drawing/2014/main" id="{38D22962-8C6B-7645-AF79-7D1497160F4F}"/>
                </a:ext>
              </a:extLst>
            </p:cNvPr>
            <p:cNvGrpSpPr/>
            <p:nvPr/>
          </p:nvGrpSpPr>
          <p:grpSpPr>
            <a:xfrm>
              <a:off x="4731023" y="3437038"/>
              <a:ext cx="2252453" cy="599022"/>
              <a:chOff x="4778321" y="3437038"/>
              <a:chExt cx="2252453" cy="599022"/>
            </a:xfrm>
          </p:grpSpPr>
          <p:sp>
            <p:nvSpPr>
              <p:cNvPr id="23" name="TextBox 22">
                <a:extLst>
                  <a:ext uri="{FF2B5EF4-FFF2-40B4-BE49-F238E27FC236}">
                    <a16:creationId xmlns:a16="http://schemas.microsoft.com/office/drawing/2014/main" id="{7F8EC918-F4A6-924F-871E-5CD62F6130A4}"/>
                  </a:ext>
                </a:extLst>
              </p:cNvPr>
              <p:cNvSpPr txBox="1"/>
              <p:nvPr/>
            </p:nvSpPr>
            <p:spPr>
              <a:xfrm>
                <a:off x="4778321" y="3437038"/>
                <a:ext cx="543739"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key</a:t>
                </a:r>
              </a:p>
            </p:txBody>
          </p:sp>
          <p:cxnSp>
            <p:nvCxnSpPr>
              <p:cNvPr id="26" name="Straight Arrow Connector 25">
                <a:extLst>
                  <a:ext uri="{FF2B5EF4-FFF2-40B4-BE49-F238E27FC236}">
                    <a16:creationId xmlns:a16="http://schemas.microsoft.com/office/drawing/2014/main" id="{61B11093-8596-114F-8E10-9262C6309E15}"/>
                  </a:ext>
                </a:extLst>
              </p:cNvPr>
              <p:cNvCxnSpPr>
                <a:cxnSpLocks/>
              </p:cNvCxnSpPr>
              <p:nvPr/>
            </p:nvCxnSpPr>
            <p:spPr>
              <a:xfrm>
                <a:off x="5316295" y="3671433"/>
                <a:ext cx="1714479" cy="364627"/>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cxnSp>
          <p:nvCxnSpPr>
            <p:cNvPr id="27" name="Straight Arrow Connector 26">
              <a:extLst>
                <a:ext uri="{FF2B5EF4-FFF2-40B4-BE49-F238E27FC236}">
                  <a16:creationId xmlns:a16="http://schemas.microsoft.com/office/drawing/2014/main" id="{652830EE-4C07-2140-B116-0022C8E056D8}"/>
                </a:ext>
              </a:extLst>
            </p:cNvPr>
            <p:cNvCxnSpPr>
              <a:cxnSpLocks/>
              <a:stCxn id="24" idx="1"/>
            </p:cNvCxnSpPr>
            <p:nvPr/>
          </p:nvCxnSpPr>
          <p:spPr>
            <a:xfrm flipH="1" flipV="1">
              <a:off x="8442369" y="5193982"/>
              <a:ext cx="1412274" cy="3527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C68DEBF-7E6C-B544-B70D-4566A3781436}"/>
                </a:ext>
              </a:extLst>
            </p:cNvPr>
            <p:cNvCxnSpPr>
              <a:cxnSpLocks/>
              <a:endCxn id="37" idx="1"/>
            </p:cNvCxnSpPr>
            <p:nvPr/>
          </p:nvCxnSpPr>
          <p:spPr>
            <a:xfrm>
              <a:off x="4509224" y="5040774"/>
              <a:ext cx="1085170"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246B0B7C-6567-E840-963A-33F9994158B2}"/>
                </a:ext>
              </a:extLst>
            </p:cNvPr>
            <p:cNvSpPr txBox="1"/>
            <p:nvPr/>
          </p:nvSpPr>
          <p:spPr>
            <a:xfrm>
              <a:off x="3102529" y="4824650"/>
              <a:ext cx="1531188" cy="646331"/>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keys smaller </a:t>
              </a:r>
            </a:p>
            <a:p>
              <a:r>
                <a:rPr lang="en-US" dirty="0">
                  <a:solidFill>
                    <a:srgbClr val="FF0000"/>
                  </a:solidFill>
                  <a:latin typeface="Arial" panose="020B0604020202020204" pitchFamily="34" charset="0"/>
                  <a:cs typeface="Arial" panose="020B0604020202020204" pitchFamily="34" charset="0"/>
                </a:rPr>
                <a:t>than E</a:t>
              </a:r>
            </a:p>
          </p:txBody>
        </p:sp>
        <p:sp>
          <p:nvSpPr>
            <p:cNvPr id="37" name="Trapezium 36">
              <a:extLst>
                <a:ext uri="{FF2B5EF4-FFF2-40B4-BE49-F238E27FC236}">
                  <a16:creationId xmlns:a16="http://schemas.microsoft.com/office/drawing/2014/main" id="{352A7F9C-C53B-9B4A-BDE6-E24B7C351BEE}"/>
                </a:ext>
              </a:extLst>
            </p:cNvPr>
            <p:cNvSpPr/>
            <p:nvPr/>
          </p:nvSpPr>
          <p:spPr>
            <a:xfrm>
              <a:off x="5408101" y="4295603"/>
              <a:ext cx="1531146" cy="1490341"/>
            </a:xfrm>
            <a:prstGeom prst="trapezoid">
              <a:avLst/>
            </a:prstGeom>
            <a:solidFill>
              <a:schemeClr val="bg1">
                <a:lumMod val="75000"/>
                <a:alpha val="56000"/>
              </a:schemeClr>
            </a:solidFill>
            <a:ln w="28575">
              <a:solidFill>
                <a:schemeClr val="bg1">
                  <a:lumMod val="75000"/>
                </a:scheme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1" name="Straight Connector 50">
              <a:extLst>
                <a:ext uri="{FF2B5EF4-FFF2-40B4-BE49-F238E27FC236}">
                  <a16:creationId xmlns:a16="http://schemas.microsoft.com/office/drawing/2014/main" id="{DED99E1A-617B-A240-8A6D-057987722682}"/>
                </a:ext>
              </a:extLst>
            </p:cNvPr>
            <p:cNvCxnSpPr>
              <a:cxnSpLocks/>
              <a:stCxn id="12" idx="5"/>
              <a:endCxn id="11"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3B6C5A1E-A30C-0C4A-A754-6F09EF72D002}"/>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D99F525-0C3F-B945-B4F9-3B24BC4245E5}"/>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29EAFE8F-8529-D145-98A9-DD805DFF18B7}"/>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D2725AF-9F18-4143-81A7-456479D5E307}"/>
                </a:ext>
              </a:extLst>
            </p:cNvPr>
            <p:cNvCxnSpPr>
              <a:cxnSpLocks/>
              <a:stCxn id="15"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57D87182-4503-A742-8207-053697E600FD}"/>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E77C9444-DF65-B445-97E8-57109868E4F9}"/>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278D5A7E-CFE8-FA49-8813-00A95FD9F16E}"/>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1D9A965D-06D7-CF4E-89C0-2B3BE8524685}"/>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1" name="Trapezium 70">
              <a:extLst>
                <a:ext uri="{FF2B5EF4-FFF2-40B4-BE49-F238E27FC236}">
                  <a16:creationId xmlns:a16="http://schemas.microsoft.com/office/drawing/2014/main" id="{8E4FB8E2-9F08-474D-AC49-BC2FBFF94F3C}"/>
                </a:ext>
              </a:extLst>
            </p:cNvPr>
            <p:cNvSpPr/>
            <p:nvPr/>
          </p:nvSpPr>
          <p:spPr>
            <a:xfrm>
              <a:off x="6892056" y="4293760"/>
              <a:ext cx="1647669" cy="1490341"/>
            </a:xfrm>
            <a:prstGeom prst="trapezoid">
              <a:avLst/>
            </a:prstGeom>
            <a:solidFill>
              <a:schemeClr val="bg1">
                <a:lumMod val="75000"/>
                <a:alpha val="56000"/>
              </a:schemeClr>
            </a:solidFill>
            <a:ln w="28575">
              <a:solidFill>
                <a:schemeClr val="bg1">
                  <a:lumMod val="75000"/>
                </a:schemeClr>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236434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AF963-72BE-DD42-83FF-87F8F824FB71}"/>
              </a:ext>
            </a:extLst>
          </p:cNvPr>
          <p:cNvSpPr>
            <a:spLocks noGrp="1"/>
          </p:cNvSpPr>
          <p:nvPr>
            <p:ph type="title"/>
          </p:nvPr>
        </p:nvSpPr>
        <p:spPr/>
        <p:txBody>
          <a:bodyPr/>
          <a:lstStyle/>
          <a:p>
            <a:r>
              <a:rPr lang="en-US" dirty="0"/>
              <a:t>BST IMPLEMENTATION</a:t>
            </a:r>
          </a:p>
        </p:txBody>
      </p:sp>
      <p:sp>
        <p:nvSpPr>
          <p:cNvPr id="3" name="Content Placeholder 2">
            <a:extLst>
              <a:ext uri="{FF2B5EF4-FFF2-40B4-BE49-F238E27FC236}">
                <a16:creationId xmlns:a16="http://schemas.microsoft.com/office/drawing/2014/main" id="{5E6F334D-2E80-D949-9F05-8D01770E9CC7}"/>
              </a:ext>
            </a:extLst>
          </p:cNvPr>
          <p:cNvSpPr>
            <a:spLocks noGrp="1"/>
          </p:cNvSpPr>
          <p:nvPr>
            <p:ph idx="1"/>
          </p:nvPr>
        </p:nvSpPr>
        <p:spPr>
          <a:xfrm>
            <a:off x="240991" y="1559374"/>
            <a:ext cx="11479427" cy="5016842"/>
          </a:xfrm>
        </p:spPr>
        <p:txBody>
          <a:bodyPr>
            <a:normAutofit/>
          </a:bodyPr>
          <a:lstStyle/>
          <a:p>
            <a:r>
              <a:rPr lang="en-US" dirty="0"/>
              <a:t>Linked list recap:</a:t>
            </a:r>
          </a:p>
          <a:p>
            <a:endParaRPr lang="en-US" dirty="0"/>
          </a:p>
          <a:p>
            <a:endParaRPr lang="en-US" dirty="0"/>
          </a:p>
          <a:p>
            <a:endParaRPr lang="en-US" dirty="0"/>
          </a:p>
          <a:p>
            <a:r>
              <a:rPr lang="en-US" dirty="0"/>
              <a:t>Extended linked list representing a BST:</a:t>
            </a:r>
          </a:p>
        </p:txBody>
      </p:sp>
      <p:grpSp>
        <p:nvGrpSpPr>
          <p:cNvPr id="18" name="Group 17" descr="graphical representations of singly linked list">
            <a:extLst>
              <a:ext uri="{FF2B5EF4-FFF2-40B4-BE49-F238E27FC236}">
                <a16:creationId xmlns:a16="http://schemas.microsoft.com/office/drawing/2014/main" id="{0A15D254-A8CB-FC46-9D57-2EA77AA5C375}"/>
              </a:ext>
            </a:extLst>
          </p:cNvPr>
          <p:cNvGrpSpPr/>
          <p:nvPr/>
        </p:nvGrpSpPr>
        <p:grpSpPr>
          <a:xfrm>
            <a:off x="651616" y="2106079"/>
            <a:ext cx="8411632" cy="1388886"/>
            <a:chOff x="651616" y="2106079"/>
            <a:chExt cx="8411632" cy="1388886"/>
          </a:xfrm>
        </p:grpSpPr>
        <p:grpSp>
          <p:nvGrpSpPr>
            <p:cNvPr id="46" name="Group 45">
              <a:extLst>
                <a:ext uri="{FF2B5EF4-FFF2-40B4-BE49-F238E27FC236}">
                  <a16:creationId xmlns:a16="http://schemas.microsoft.com/office/drawing/2014/main" id="{39C88C70-A0FE-A442-B51E-C3DCDD17BFFC}"/>
                </a:ext>
              </a:extLst>
            </p:cNvPr>
            <p:cNvGrpSpPr/>
            <p:nvPr/>
          </p:nvGrpSpPr>
          <p:grpSpPr>
            <a:xfrm>
              <a:off x="651616" y="2106079"/>
              <a:ext cx="3004676" cy="1069984"/>
              <a:chOff x="853434" y="2609836"/>
              <a:chExt cx="3004676" cy="1069984"/>
            </a:xfrm>
          </p:grpSpPr>
          <p:sp>
            <p:nvSpPr>
              <p:cNvPr id="47" name="TextBox 46">
                <a:extLst>
                  <a:ext uri="{FF2B5EF4-FFF2-40B4-BE49-F238E27FC236}">
                    <a16:creationId xmlns:a16="http://schemas.microsoft.com/office/drawing/2014/main" id="{F76401FF-5802-A848-93C9-CFEAAA1C8884}"/>
                  </a:ext>
                </a:extLst>
              </p:cNvPr>
              <p:cNvSpPr txBox="1"/>
              <p:nvPr/>
            </p:nvSpPr>
            <p:spPr>
              <a:xfrm>
                <a:off x="853434" y="2609836"/>
                <a:ext cx="582211"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node</a:t>
                </a:r>
              </a:p>
            </p:txBody>
          </p:sp>
          <p:sp>
            <p:nvSpPr>
              <p:cNvPr id="48" name="TextBox 47">
                <a:extLst>
                  <a:ext uri="{FF2B5EF4-FFF2-40B4-BE49-F238E27FC236}">
                    <a16:creationId xmlns:a16="http://schemas.microsoft.com/office/drawing/2014/main" id="{32312563-AC4D-B940-AFBF-5D34FFE28A54}"/>
                  </a:ext>
                </a:extLst>
              </p:cNvPr>
              <p:cNvSpPr txBox="1"/>
              <p:nvPr/>
            </p:nvSpPr>
            <p:spPr>
              <a:xfrm>
                <a:off x="1893314" y="2736676"/>
                <a:ext cx="920445"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data item</a:t>
                </a:r>
              </a:p>
            </p:txBody>
          </p:sp>
          <p:sp>
            <p:nvSpPr>
              <p:cNvPr id="49" name="TextBox 48">
                <a:extLst>
                  <a:ext uri="{FF2B5EF4-FFF2-40B4-BE49-F238E27FC236}">
                    <a16:creationId xmlns:a16="http://schemas.microsoft.com/office/drawing/2014/main" id="{2874EA10-FE64-7547-BB86-1831CEF8048D}"/>
                  </a:ext>
                </a:extLst>
              </p:cNvPr>
              <p:cNvSpPr txBox="1"/>
              <p:nvPr/>
            </p:nvSpPr>
            <p:spPr>
              <a:xfrm>
                <a:off x="1884493" y="3372043"/>
                <a:ext cx="1973617"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reference to next node</a:t>
                </a:r>
              </a:p>
            </p:txBody>
          </p:sp>
          <p:grpSp>
            <p:nvGrpSpPr>
              <p:cNvPr id="50" name="Group 49">
                <a:extLst>
                  <a:ext uri="{FF2B5EF4-FFF2-40B4-BE49-F238E27FC236}">
                    <a16:creationId xmlns:a16="http://schemas.microsoft.com/office/drawing/2014/main" id="{540F9818-6ABA-EE4F-A51E-CA571AC8269C}"/>
                  </a:ext>
                </a:extLst>
              </p:cNvPr>
              <p:cNvGrpSpPr/>
              <p:nvPr/>
            </p:nvGrpSpPr>
            <p:grpSpPr>
              <a:xfrm>
                <a:off x="891485" y="2919093"/>
                <a:ext cx="548640" cy="471639"/>
                <a:chOff x="852955" y="1895618"/>
                <a:chExt cx="548640" cy="471639"/>
              </a:xfrm>
            </p:grpSpPr>
            <p:grpSp>
              <p:nvGrpSpPr>
                <p:cNvPr id="55" name="Group 54">
                  <a:extLst>
                    <a:ext uri="{FF2B5EF4-FFF2-40B4-BE49-F238E27FC236}">
                      <a16:creationId xmlns:a16="http://schemas.microsoft.com/office/drawing/2014/main" id="{123217D8-AD6C-8542-A254-704D2AF95775}"/>
                    </a:ext>
                  </a:extLst>
                </p:cNvPr>
                <p:cNvGrpSpPr/>
                <p:nvPr/>
              </p:nvGrpSpPr>
              <p:grpSpPr>
                <a:xfrm>
                  <a:off x="852955" y="1895618"/>
                  <a:ext cx="548640" cy="471639"/>
                  <a:chOff x="587141" y="1799924"/>
                  <a:chExt cx="548640" cy="471639"/>
                </a:xfrm>
              </p:grpSpPr>
              <p:sp>
                <p:nvSpPr>
                  <p:cNvPr id="60" name="Rectangle 59">
                    <a:extLst>
                      <a:ext uri="{FF2B5EF4-FFF2-40B4-BE49-F238E27FC236}">
                        <a16:creationId xmlns:a16="http://schemas.microsoft.com/office/drawing/2014/main" id="{E32E8659-4784-7C43-9136-D0081A5711FD}"/>
                      </a:ext>
                    </a:extLst>
                  </p:cNvPr>
                  <p:cNvSpPr/>
                  <p:nvPr/>
                </p:nvSpPr>
                <p:spPr>
                  <a:xfrm>
                    <a:off x="587141" y="1799924"/>
                    <a:ext cx="548640" cy="2791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CCDF4023-1C82-8940-A12F-9648B7495C1C}"/>
                      </a:ext>
                    </a:extLst>
                  </p:cNvPr>
                  <p:cNvSpPr/>
                  <p:nvPr/>
                </p:nvSpPr>
                <p:spPr>
                  <a:xfrm>
                    <a:off x="587141" y="2088683"/>
                    <a:ext cx="548640" cy="18288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Oval 55">
                  <a:extLst>
                    <a:ext uri="{FF2B5EF4-FFF2-40B4-BE49-F238E27FC236}">
                      <a16:creationId xmlns:a16="http://schemas.microsoft.com/office/drawing/2014/main" id="{A65C668C-FFA9-1E4B-957E-6DEE479FC4C1}"/>
                    </a:ext>
                  </a:extLst>
                </p:cNvPr>
                <p:cNvSpPr/>
                <p:nvPr/>
              </p:nvSpPr>
              <p:spPr>
                <a:xfrm flipH="1" flipV="1">
                  <a:off x="1074111" y="2229587"/>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2" name="Straight Arrow Connector 51">
                <a:extLst>
                  <a:ext uri="{FF2B5EF4-FFF2-40B4-BE49-F238E27FC236}">
                    <a16:creationId xmlns:a16="http://schemas.microsoft.com/office/drawing/2014/main" id="{E26409F4-81AA-0647-9ACC-7A7CEEAA45D3}"/>
                  </a:ext>
                </a:extLst>
              </p:cNvPr>
              <p:cNvCxnSpPr>
                <a:cxnSpLocks/>
                <a:endCxn id="60" idx="3"/>
              </p:cNvCxnSpPr>
              <p:nvPr/>
            </p:nvCxnSpPr>
            <p:spPr>
              <a:xfrm flipH="1">
                <a:off x="1440125" y="2926940"/>
                <a:ext cx="453189" cy="13172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75A0D3EC-CE86-DB4D-9A05-37B56F3EA10F}"/>
                  </a:ext>
                </a:extLst>
              </p:cNvPr>
              <p:cNvCxnSpPr>
                <a:stCxn id="49" idx="1"/>
                <a:endCxn id="61" idx="3"/>
              </p:cNvCxnSpPr>
              <p:nvPr/>
            </p:nvCxnSpPr>
            <p:spPr>
              <a:xfrm flipH="1" flipV="1">
                <a:off x="1440125" y="3299292"/>
                <a:ext cx="444368" cy="22664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03602087-5C66-B34B-BC95-2C36FE52EA99}"/>
                </a:ext>
              </a:extLst>
            </p:cNvPr>
            <p:cNvGrpSpPr/>
            <p:nvPr/>
          </p:nvGrpSpPr>
          <p:grpSpPr>
            <a:xfrm>
              <a:off x="4445298" y="2241606"/>
              <a:ext cx="4617950" cy="1253359"/>
              <a:chOff x="2872340" y="2581603"/>
              <a:chExt cx="4617950" cy="1253359"/>
            </a:xfrm>
          </p:grpSpPr>
          <p:sp>
            <p:nvSpPr>
              <p:cNvPr id="88" name="Rectangle 87">
                <a:extLst>
                  <a:ext uri="{FF2B5EF4-FFF2-40B4-BE49-F238E27FC236}">
                    <a16:creationId xmlns:a16="http://schemas.microsoft.com/office/drawing/2014/main" id="{79607345-1059-E34E-ABAA-42F7D4BC5A7D}"/>
                  </a:ext>
                </a:extLst>
              </p:cNvPr>
              <p:cNvSpPr/>
              <p:nvPr/>
            </p:nvSpPr>
            <p:spPr>
              <a:xfrm>
                <a:off x="6635507" y="2808632"/>
                <a:ext cx="548640" cy="2791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74633FF2-EB47-624A-A357-095A283C1AC8}"/>
                  </a:ext>
                </a:extLst>
              </p:cNvPr>
              <p:cNvSpPr/>
              <p:nvPr/>
            </p:nvSpPr>
            <p:spPr>
              <a:xfrm>
                <a:off x="6635507" y="3097391"/>
                <a:ext cx="548640" cy="18288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1FEE7F99-5C8F-5948-B986-1B3B156C8697}"/>
                  </a:ext>
                </a:extLst>
              </p:cNvPr>
              <p:cNvCxnSpPr>
                <a:cxnSpLocks/>
              </p:cNvCxnSpPr>
              <p:nvPr/>
            </p:nvCxnSpPr>
            <p:spPr>
              <a:xfrm flipV="1">
                <a:off x="5880598" y="2941652"/>
                <a:ext cx="758982" cy="2270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8207F0E4-1EB9-004B-B459-A8908B11CB7E}"/>
                  </a:ext>
                </a:extLst>
              </p:cNvPr>
              <p:cNvSpPr/>
              <p:nvPr/>
            </p:nvSpPr>
            <p:spPr>
              <a:xfrm flipH="1" flipV="1">
                <a:off x="6828208" y="3144698"/>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Arrow Connector 41">
                <a:extLst>
                  <a:ext uri="{FF2B5EF4-FFF2-40B4-BE49-F238E27FC236}">
                    <a16:creationId xmlns:a16="http://schemas.microsoft.com/office/drawing/2014/main" id="{512A72DD-D9EC-0648-B912-6AA4FB6A6EAA}"/>
                  </a:ext>
                </a:extLst>
              </p:cNvPr>
              <p:cNvCxnSpPr/>
              <p:nvPr/>
            </p:nvCxnSpPr>
            <p:spPr>
              <a:xfrm>
                <a:off x="6925334" y="3187373"/>
                <a:ext cx="56495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BFA81F46-5150-E148-8D6E-0CB45FB4CC03}"/>
                  </a:ext>
                </a:extLst>
              </p:cNvPr>
              <p:cNvGrpSpPr/>
              <p:nvPr/>
            </p:nvGrpSpPr>
            <p:grpSpPr>
              <a:xfrm>
                <a:off x="2872340" y="2581603"/>
                <a:ext cx="3262191" cy="693066"/>
                <a:chOff x="287999" y="3890141"/>
                <a:chExt cx="3262191" cy="693066"/>
              </a:xfrm>
            </p:grpSpPr>
            <p:grpSp>
              <p:nvGrpSpPr>
                <p:cNvPr id="64" name="Group 63">
                  <a:extLst>
                    <a:ext uri="{FF2B5EF4-FFF2-40B4-BE49-F238E27FC236}">
                      <a16:creationId xmlns:a16="http://schemas.microsoft.com/office/drawing/2014/main" id="{EFED5BC4-C2AC-984D-86BA-0715DCC76AA6}"/>
                    </a:ext>
                  </a:extLst>
                </p:cNvPr>
                <p:cNvGrpSpPr/>
                <p:nvPr/>
              </p:nvGrpSpPr>
              <p:grpSpPr>
                <a:xfrm>
                  <a:off x="1956684" y="4111568"/>
                  <a:ext cx="548640" cy="471639"/>
                  <a:chOff x="1928878" y="2631429"/>
                  <a:chExt cx="548640" cy="471639"/>
                </a:xfrm>
              </p:grpSpPr>
              <p:grpSp>
                <p:nvGrpSpPr>
                  <p:cNvPr id="84" name="Group 83">
                    <a:extLst>
                      <a:ext uri="{FF2B5EF4-FFF2-40B4-BE49-F238E27FC236}">
                        <a16:creationId xmlns:a16="http://schemas.microsoft.com/office/drawing/2014/main" id="{CC291B24-33D8-1D4E-A0C7-D9FD568125CC}"/>
                      </a:ext>
                    </a:extLst>
                  </p:cNvPr>
                  <p:cNvGrpSpPr/>
                  <p:nvPr/>
                </p:nvGrpSpPr>
                <p:grpSpPr>
                  <a:xfrm>
                    <a:off x="1928878" y="2631429"/>
                    <a:ext cx="548640" cy="471639"/>
                    <a:chOff x="587141" y="1799924"/>
                    <a:chExt cx="548640" cy="471639"/>
                  </a:xfrm>
                </p:grpSpPr>
                <p:sp>
                  <p:nvSpPr>
                    <p:cNvPr id="86" name="Rectangle 85">
                      <a:extLst>
                        <a:ext uri="{FF2B5EF4-FFF2-40B4-BE49-F238E27FC236}">
                          <a16:creationId xmlns:a16="http://schemas.microsoft.com/office/drawing/2014/main" id="{388A8ED1-AB84-A34E-9656-42BEE01349BF}"/>
                        </a:ext>
                      </a:extLst>
                    </p:cNvPr>
                    <p:cNvSpPr/>
                    <p:nvPr/>
                  </p:nvSpPr>
                  <p:spPr>
                    <a:xfrm>
                      <a:off x="587141" y="1799924"/>
                      <a:ext cx="548640" cy="2791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95E3CD1B-8915-914F-A514-40BD1BE56CA4}"/>
                        </a:ext>
                      </a:extLst>
                    </p:cNvPr>
                    <p:cNvSpPr/>
                    <p:nvPr/>
                  </p:nvSpPr>
                  <p:spPr>
                    <a:xfrm>
                      <a:off x="587141" y="2088683"/>
                      <a:ext cx="548640" cy="18288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5" name="Oval 84">
                    <a:extLst>
                      <a:ext uri="{FF2B5EF4-FFF2-40B4-BE49-F238E27FC236}">
                        <a16:creationId xmlns:a16="http://schemas.microsoft.com/office/drawing/2014/main" id="{146B49E7-1973-9B47-B82C-CBC1D629F6E9}"/>
                      </a:ext>
                    </a:extLst>
                  </p:cNvPr>
                  <p:cNvSpPr/>
                  <p:nvPr/>
                </p:nvSpPr>
                <p:spPr>
                  <a:xfrm flipH="1" flipV="1">
                    <a:off x="2150034" y="2965398"/>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 name="Group 64">
                  <a:extLst>
                    <a:ext uri="{FF2B5EF4-FFF2-40B4-BE49-F238E27FC236}">
                      <a16:creationId xmlns:a16="http://schemas.microsoft.com/office/drawing/2014/main" id="{1F95186C-D01D-4248-8A29-E49934B12794}"/>
                    </a:ext>
                  </a:extLst>
                </p:cNvPr>
                <p:cNvGrpSpPr/>
                <p:nvPr/>
              </p:nvGrpSpPr>
              <p:grpSpPr>
                <a:xfrm>
                  <a:off x="3001550" y="4105638"/>
                  <a:ext cx="548640" cy="471639"/>
                  <a:chOff x="2973744" y="2625499"/>
                  <a:chExt cx="548640" cy="471639"/>
                </a:xfrm>
              </p:grpSpPr>
              <p:grpSp>
                <p:nvGrpSpPr>
                  <p:cNvPr id="80" name="Group 79">
                    <a:extLst>
                      <a:ext uri="{FF2B5EF4-FFF2-40B4-BE49-F238E27FC236}">
                        <a16:creationId xmlns:a16="http://schemas.microsoft.com/office/drawing/2014/main" id="{C9289426-B139-6C41-B244-FA7DDF034448}"/>
                      </a:ext>
                    </a:extLst>
                  </p:cNvPr>
                  <p:cNvGrpSpPr/>
                  <p:nvPr/>
                </p:nvGrpSpPr>
                <p:grpSpPr>
                  <a:xfrm>
                    <a:off x="2973744" y="2625499"/>
                    <a:ext cx="548640" cy="471639"/>
                    <a:chOff x="587141" y="1799924"/>
                    <a:chExt cx="548640" cy="471639"/>
                  </a:xfrm>
                </p:grpSpPr>
                <p:sp>
                  <p:nvSpPr>
                    <p:cNvPr id="82" name="Rectangle 81">
                      <a:extLst>
                        <a:ext uri="{FF2B5EF4-FFF2-40B4-BE49-F238E27FC236}">
                          <a16:creationId xmlns:a16="http://schemas.microsoft.com/office/drawing/2014/main" id="{613FC9F9-BE02-B943-83A5-0ACD372BEFCE}"/>
                        </a:ext>
                      </a:extLst>
                    </p:cNvPr>
                    <p:cNvSpPr/>
                    <p:nvPr/>
                  </p:nvSpPr>
                  <p:spPr>
                    <a:xfrm>
                      <a:off x="587141" y="1799924"/>
                      <a:ext cx="548640" cy="2791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12673D53-8EE5-1A43-959A-DA5CE34AD148}"/>
                        </a:ext>
                      </a:extLst>
                    </p:cNvPr>
                    <p:cNvSpPr/>
                    <p:nvPr/>
                  </p:nvSpPr>
                  <p:spPr>
                    <a:xfrm>
                      <a:off x="587141" y="2088683"/>
                      <a:ext cx="548640" cy="18288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1" name="Oval 80">
                    <a:extLst>
                      <a:ext uri="{FF2B5EF4-FFF2-40B4-BE49-F238E27FC236}">
                        <a16:creationId xmlns:a16="http://schemas.microsoft.com/office/drawing/2014/main" id="{A8E4FC66-37A0-9C4D-97E1-1FFCD63ECC21}"/>
                      </a:ext>
                    </a:extLst>
                  </p:cNvPr>
                  <p:cNvSpPr/>
                  <p:nvPr/>
                </p:nvSpPr>
                <p:spPr>
                  <a:xfrm flipH="1" flipV="1">
                    <a:off x="3194900" y="2959468"/>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6" name="Straight Arrow Connector 65">
                  <a:extLst>
                    <a:ext uri="{FF2B5EF4-FFF2-40B4-BE49-F238E27FC236}">
                      <a16:creationId xmlns:a16="http://schemas.microsoft.com/office/drawing/2014/main" id="{5CB7A1EF-F7C4-D546-A990-8503DC3862E4}"/>
                    </a:ext>
                  </a:extLst>
                </p:cNvPr>
                <p:cNvCxnSpPr>
                  <a:cxnSpLocks/>
                  <a:endCxn id="86" idx="1"/>
                </p:cNvCxnSpPr>
                <p:nvPr/>
              </p:nvCxnSpPr>
              <p:spPr>
                <a:xfrm flipV="1">
                  <a:off x="1197702" y="4251135"/>
                  <a:ext cx="758982" cy="2270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E87CC5F3-ACC1-4542-88DF-1FD913845498}"/>
                    </a:ext>
                  </a:extLst>
                </p:cNvPr>
                <p:cNvCxnSpPr>
                  <a:cxnSpLocks/>
                </p:cNvCxnSpPr>
                <p:nvPr/>
              </p:nvCxnSpPr>
              <p:spPr>
                <a:xfrm flipV="1">
                  <a:off x="2262901" y="4255221"/>
                  <a:ext cx="758982" cy="2270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70D77CF6-7035-8F48-B752-27124AF6E529}"/>
                    </a:ext>
                  </a:extLst>
                </p:cNvPr>
                <p:cNvGrpSpPr/>
                <p:nvPr/>
              </p:nvGrpSpPr>
              <p:grpSpPr>
                <a:xfrm>
                  <a:off x="287999" y="3890141"/>
                  <a:ext cx="1152126" cy="693066"/>
                  <a:chOff x="287999" y="3890141"/>
                  <a:chExt cx="1152126" cy="693066"/>
                </a:xfrm>
              </p:grpSpPr>
              <p:grpSp>
                <p:nvGrpSpPr>
                  <p:cNvPr id="73" name="Group 72">
                    <a:extLst>
                      <a:ext uri="{FF2B5EF4-FFF2-40B4-BE49-F238E27FC236}">
                        <a16:creationId xmlns:a16="http://schemas.microsoft.com/office/drawing/2014/main" id="{6802DD43-63BE-0A44-89CB-110C005DD19B}"/>
                      </a:ext>
                    </a:extLst>
                  </p:cNvPr>
                  <p:cNvGrpSpPr/>
                  <p:nvPr/>
                </p:nvGrpSpPr>
                <p:grpSpPr>
                  <a:xfrm>
                    <a:off x="891485" y="4111568"/>
                    <a:ext cx="548640" cy="471639"/>
                    <a:chOff x="863679" y="2631429"/>
                    <a:chExt cx="548640" cy="471639"/>
                  </a:xfrm>
                </p:grpSpPr>
                <p:grpSp>
                  <p:nvGrpSpPr>
                    <p:cNvPr id="76" name="Group 75">
                      <a:extLst>
                        <a:ext uri="{FF2B5EF4-FFF2-40B4-BE49-F238E27FC236}">
                          <a16:creationId xmlns:a16="http://schemas.microsoft.com/office/drawing/2014/main" id="{667CF6E7-0CCC-4148-981E-762CC80D5635}"/>
                        </a:ext>
                      </a:extLst>
                    </p:cNvPr>
                    <p:cNvGrpSpPr/>
                    <p:nvPr/>
                  </p:nvGrpSpPr>
                  <p:grpSpPr>
                    <a:xfrm>
                      <a:off x="863679" y="2631429"/>
                      <a:ext cx="548640" cy="471639"/>
                      <a:chOff x="587141" y="1799924"/>
                      <a:chExt cx="548640" cy="471639"/>
                    </a:xfrm>
                  </p:grpSpPr>
                  <p:sp>
                    <p:nvSpPr>
                      <p:cNvPr id="78" name="Rectangle 77">
                        <a:extLst>
                          <a:ext uri="{FF2B5EF4-FFF2-40B4-BE49-F238E27FC236}">
                            <a16:creationId xmlns:a16="http://schemas.microsoft.com/office/drawing/2014/main" id="{EFAEEC81-AC38-F44B-B702-27FFEAF53F90}"/>
                          </a:ext>
                        </a:extLst>
                      </p:cNvPr>
                      <p:cNvSpPr/>
                      <p:nvPr/>
                    </p:nvSpPr>
                    <p:spPr>
                      <a:xfrm>
                        <a:off x="587141" y="1799924"/>
                        <a:ext cx="548640" cy="2791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885CC86B-DDA1-724F-8665-6779D7D3C42C}"/>
                          </a:ext>
                        </a:extLst>
                      </p:cNvPr>
                      <p:cNvSpPr/>
                      <p:nvPr/>
                    </p:nvSpPr>
                    <p:spPr>
                      <a:xfrm>
                        <a:off x="587141" y="2088683"/>
                        <a:ext cx="548640" cy="18288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Oval 76">
                      <a:extLst>
                        <a:ext uri="{FF2B5EF4-FFF2-40B4-BE49-F238E27FC236}">
                          <a16:creationId xmlns:a16="http://schemas.microsoft.com/office/drawing/2014/main" id="{54054DD4-9AE2-7340-8D7B-5C468A8D7C3F}"/>
                        </a:ext>
                      </a:extLst>
                    </p:cNvPr>
                    <p:cNvSpPr/>
                    <p:nvPr/>
                  </p:nvSpPr>
                  <p:spPr>
                    <a:xfrm flipH="1" flipV="1">
                      <a:off x="1084835" y="2965398"/>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4" name="Straight Arrow Connector 73">
                    <a:extLst>
                      <a:ext uri="{FF2B5EF4-FFF2-40B4-BE49-F238E27FC236}">
                        <a16:creationId xmlns:a16="http://schemas.microsoft.com/office/drawing/2014/main" id="{84177A3F-8F35-AE45-86C5-79E9AD9BAC6D}"/>
                      </a:ext>
                    </a:extLst>
                  </p:cNvPr>
                  <p:cNvCxnSpPr/>
                  <p:nvPr/>
                </p:nvCxnSpPr>
                <p:spPr>
                  <a:xfrm>
                    <a:off x="326529" y="4245204"/>
                    <a:ext cx="56495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25208B04-6EC9-C042-9E3D-FCCBDB58E8BC}"/>
                      </a:ext>
                    </a:extLst>
                  </p:cNvPr>
                  <p:cNvSpPr txBox="1"/>
                  <p:nvPr/>
                </p:nvSpPr>
                <p:spPr>
                  <a:xfrm>
                    <a:off x="287999" y="3890141"/>
                    <a:ext cx="582211"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head</a:t>
                    </a:r>
                  </a:p>
                </p:txBody>
              </p:sp>
            </p:grpSp>
          </p:grpSp>
          <p:sp>
            <p:nvSpPr>
              <p:cNvPr id="44" name="TextBox 43">
                <a:extLst>
                  <a:ext uri="{FF2B5EF4-FFF2-40B4-BE49-F238E27FC236}">
                    <a16:creationId xmlns:a16="http://schemas.microsoft.com/office/drawing/2014/main" id="{D7A3920F-2D60-564A-B176-B7CADB99D241}"/>
                  </a:ext>
                </a:extLst>
              </p:cNvPr>
              <p:cNvSpPr txBox="1"/>
              <p:nvPr/>
            </p:nvSpPr>
            <p:spPr>
              <a:xfrm>
                <a:off x="6574917" y="3311742"/>
                <a:ext cx="910827" cy="523220"/>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tail (last) </a:t>
                </a:r>
              </a:p>
              <a:p>
                <a:r>
                  <a:rPr lang="en-US" sz="1400" dirty="0">
                    <a:latin typeface="Arial" panose="020B0604020202020204" pitchFamily="34" charset="0"/>
                    <a:cs typeface="Arial" panose="020B0604020202020204" pitchFamily="34" charset="0"/>
                  </a:rPr>
                  <a:t>node</a:t>
                </a:r>
              </a:p>
            </p:txBody>
          </p:sp>
        </p:grpSp>
      </p:grpSp>
      <p:grpSp>
        <p:nvGrpSpPr>
          <p:cNvPr id="141" name="Group 140" descr="graphical representations of a BST node">
            <a:extLst>
              <a:ext uri="{FF2B5EF4-FFF2-40B4-BE49-F238E27FC236}">
                <a16:creationId xmlns:a16="http://schemas.microsoft.com/office/drawing/2014/main" id="{B4AC062C-976C-B047-9937-C124D5EA7290}"/>
              </a:ext>
            </a:extLst>
          </p:cNvPr>
          <p:cNvGrpSpPr/>
          <p:nvPr/>
        </p:nvGrpSpPr>
        <p:grpSpPr>
          <a:xfrm>
            <a:off x="345555" y="4221223"/>
            <a:ext cx="4954608" cy="1293438"/>
            <a:chOff x="3647699" y="4607311"/>
            <a:chExt cx="4954608" cy="1293438"/>
          </a:xfrm>
        </p:grpSpPr>
        <p:sp>
          <p:nvSpPr>
            <p:cNvPr id="99" name="TextBox 98">
              <a:extLst>
                <a:ext uri="{FF2B5EF4-FFF2-40B4-BE49-F238E27FC236}">
                  <a16:creationId xmlns:a16="http://schemas.microsoft.com/office/drawing/2014/main" id="{4C8C0E87-1D65-7E4E-A843-CAD098FA30A0}"/>
                </a:ext>
              </a:extLst>
            </p:cNvPr>
            <p:cNvSpPr txBox="1"/>
            <p:nvPr/>
          </p:nvSpPr>
          <p:spPr>
            <a:xfrm>
              <a:off x="5980705" y="4607311"/>
              <a:ext cx="582211"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node</a:t>
              </a:r>
            </a:p>
          </p:txBody>
        </p:sp>
        <p:sp>
          <p:nvSpPr>
            <p:cNvPr id="101" name="TextBox 100">
              <a:extLst>
                <a:ext uri="{FF2B5EF4-FFF2-40B4-BE49-F238E27FC236}">
                  <a16:creationId xmlns:a16="http://schemas.microsoft.com/office/drawing/2014/main" id="{AD9174FC-85C2-2746-93B7-6F8C8827931A}"/>
                </a:ext>
              </a:extLst>
            </p:cNvPr>
            <p:cNvSpPr txBox="1"/>
            <p:nvPr/>
          </p:nvSpPr>
          <p:spPr>
            <a:xfrm>
              <a:off x="7104781" y="5562179"/>
              <a:ext cx="149752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link to right node</a:t>
              </a:r>
            </a:p>
          </p:txBody>
        </p:sp>
        <p:sp>
          <p:nvSpPr>
            <p:cNvPr id="106" name="Oval 105">
              <a:extLst>
                <a:ext uri="{FF2B5EF4-FFF2-40B4-BE49-F238E27FC236}">
                  <a16:creationId xmlns:a16="http://schemas.microsoft.com/office/drawing/2014/main" id="{49C5DFA9-0B4E-3044-8E4F-490D6A1EDFA1}"/>
                </a:ext>
              </a:extLst>
            </p:cNvPr>
            <p:cNvSpPr/>
            <p:nvPr/>
          </p:nvSpPr>
          <p:spPr>
            <a:xfrm flipH="1" flipV="1">
              <a:off x="5847193" y="5409287"/>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3" name="Straight Arrow Connector 102">
              <a:extLst>
                <a:ext uri="{FF2B5EF4-FFF2-40B4-BE49-F238E27FC236}">
                  <a16:creationId xmlns:a16="http://schemas.microsoft.com/office/drawing/2014/main" id="{9A36B953-D3CC-5C43-B112-BF46B3198850}"/>
                </a:ext>
              </a:extLst>
            </p:cNvPr>
            <p:cNvCxnSpPr>
              <a:cxnSpLocks/>
              <a:stCxn id="137" idx="1"/>
              <a:endCxn id="9" idx="3"/>
            </p:cNvCxnSpPr>
            <p:nvPr/>
          </p:nvCxnSpPr>
          <p:spPr>
            <a:xfrm flipH="1" flipV="1">
              <a:off x="6913269" y="5099569"/>
              <a:ext cx="528112" cy="7503"/>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4" name="Straight Arrow Connector 103">
              <a:extLst>
                <a:ext uri="{FF2B5EF4-FFF2-40B4-BE49-F238E27FC236}">
                  <a16:creationId xmlns:a16="http://schemas.microsoft.com/office/drawing/2014/main" id="{3559557A-2D8B-474E-96D8-1B7C746147A1}"/>
                </a:ext>
              </a:extLst>
            </p:cNvPr>
            <p:cNvCxnSpPr>
              <a:cxnSpLocks/>
              <a:stCxn id="101" idx="1"/>
            </p:cNvCxnSpPr>
            <p:nvPr/>
          </p:nvCxnSpPr>
          <p:spPr>
            <a:xfrm flipH="1" flipV="1">
              <a:off x="6660413" y="5489428"/>
              <a:ext cx="444368" cy="22664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2F86D176-FF21-2648-9AD2-D28F13D22CA4}"/>
                </a:ext>
              </a:extLst>
            </p:cNvPr>
            <p:cNvSpPr/>
            <p:nvPr/>
          </p:nvSpPr>
          <p:spPr>
            <a:xfrm>
              <a:off x="5606224" y="4931844"/>
              <a:ext cx="1307045" cy="3354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Rectangle 132">
              <a:extLst>
                <a:ext uri="{FF2B5EF4-FFF2-40B4-BE49-F238E27FC236}">
                  <a16:creationId xmlns:a16="http://schemas.microsoft.com/office/drawing/2014/main" id="{EC812A39-3CDD-164A-B548-B06C0B3F3C53}"/>
                </a:ext>
              </a:extLst>
            </p:cNvPr>
            <p:cNvSpPr/>
            <p:nvPr/>
          </p:nvSpPr>
          <p:spPr>
            <a:xfrm>
              <a:off x="5602523" y="5270467"/>
              <a:ext cx="1307045" cy="3354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359CA498-2E6D-8340-9E85-569B18C88145}"/>
                </a:ext>
              </a:extLst>
            </p:cNvPr>
            <p:cNvCxnSpPr>
              <a:cxnSpLocks/>
              <a:stCxn id="133" idx="0"/>
              <a:endCxn id="133" idx="2"/>
            </p:cNvCxnSpPr>
            <p:nvPr/>
          </p:nvCxnSpPr>
          <p:spPr>
            <a:xfrm>
              <a:off x="6256046" y="5270467"/>
              <a:ext cx="0" cy="3354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34" name="Oval 133">
              <a:extLst>
                <a:ext uri="{FF2B5EF4-FFF2-40B4-BE49-F238E27FC236}">
                  <a16:creationId xmlns:a16="http://schemas.microsoft.com/office/drawing/2014/main" id="{85657625-AC80-0948-A4B8-AAB716FA22CC}"/>
                </a:ext>
              </a:extLst>
            </p:cNvPr>
            <p:cNvSpPr/>
            <p:nvPr/>
          </p:nvSpPr>
          <p:spPr>
            <a:xfrm flipH="1" flipV="1">
              <a:off x="6579695" y="5402288"/>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5" name="TextBox 134">
              <a:extLst>
                <a:ext uri="{FF2B5EF4-FFF2-40B4-BE49-F238E27FC236}">
                  <a16:creationId xmlns:a16="http://schemas.microsoft.com/office/drawing/2014/main" id="{E9B1D147-C994-2245-AC6D-2F31CD1D58E8}"/>
                </a:ext>
              </a:extLst>
            </p:cNvPr>
            <p:cNvSpPr txBox="1"/>
            <p:nvPr/>
          </p:nvSpPr>
          <p:spPr>
            <a:xfrm>
              <a:off x="3647699" y="5592972"/>
              <a:ext cx="1388522"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link to left node</a:t>
              </a:r>
            </a:p>
          </p:txBody>
        </p:sp>
        <p:cxnSp>
          <p:nvCxnSpPr>
            <p:cNvPr id="136" name="Straight Arrow Connector 135">
              <a:extLst>
                <a:ext uri="{FF2B5EF4-FFF2-40B4-BE49-F238E27FC236}">
                  <a16:creationId xmlns:a16="http://schemas.microsoft.com/office/drawing/2014/main" id="{D4B98739-5241-564F-B2F3-3115DB251C0E}"/>
                </a:ext>
              </a:extLst>
            </p:cNvPr>
            <p:cNvCxnSpPr>
              <a:cxnSpLocks/>
              <a:stCxn id="135" idx="3"/>
            </p:cNvCxnSpPr>
            <p:nvPr/>
          </p:nvCxnSpPr>
          <p:spPr>
            <a:xfrm flipV="1">
              <a:off x="5036221" y="5486349"/>
              <a:ext cx="770826" cy="260512"/>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7" name="TextBox 136">
              <a:extLst>
                <a:ext uri="{FF2B5EF4-FFF2-40B4-BE49-F238E27FC236}">
                  <a16:creationId xmlns:a16="http://schemas.microsoft.com/office/drawing/2014/main" id="{72365B7C-35AA-7A45-9F15-CD4EF8B92AD4}"/>
                </a:ext>
              </a:extLst>
            </p:cNvPr>
            <p:cNvSpPr txBox="1"/>
            <p:nvPr/>
          </p:nvSpPr>
          <p:spPr>
            <a:xfrm>
              <a:off x="7441381" y="4953183"/>
              <a:ext cx="920445"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data item</a:t>
              </a:r>
            </a:p>
          </p:txBody>
        </p:sp>
      </p:grpSp>
      <p:grpSp>
        <p:nvGrpSpPr>
          <p:cNvPr id="17" name="Group 16" descr="graphical representations of a BST">
            <a:extLst>
              <a:ext uri="{FF2B5EF4-FFF2-40B4-BE49-F238E27FC236}">
                <a16:creationId xmlns:a16="http://schemas.microsoft.com/office/drawing/2014/main" id="{0741550F-C4E4-B844-95C2-4A2C4FAEE5A2}"/>
              </a:ext>
            </a:extLst>
          </p:cNvPr>
          <p:cNvGrpSpPr/>
          <p:nvPr/>
        </p:nvGrpSpPr>
        <p:grpSpPr>
          <a:xfrm>
            <a:off x="6420201" y="3641448"/>
            <a:ext cx="5404782" cy="3024748"/>
            <a:chOff x="6420201" y="3641448"/>
            <a:chExt cx="5404782" cy="3024748"/>
          </a:xfrm>
        </p:grpSpPr>
        <p:grpSp>
          <p:nvGrpSpPr>
            <p:cNvPr id="59" name="Group 58">
              <a:extLst>
                <a:ext uri="{FF2B5EF4-FFF2-40B4-BE49-F238E27FC236}">
                  <a16:creationId xmlns:a16="http://schemas.microsoft.com/office/drawing/2014/main" id="{D4ED3582-5512-864D-A889-3418207EBD1A}"/>
                </a:ext>
              </a:extLst>
            </p:cNvPr>
            <p:cNvGrpSpPr/>
            <p:nvPr/>
          </p:nvGrpSpPr>
          <p:grpSpPr>
            <a:xfrm>
              <a:off x="8529495" y="3641448"/>
              <a:ext cx="2697272" cy="1454159"/>
              <a:chOff x="5602523" y="4579867"/>
              <a:chExt cx="2697272" cy="1454159"/>
            </a:xfrm>
          </p:grpSpPr>
          <p:sp>
            <p:nvSpPr>
              <p:cNvPr id="62" name="TextBox 61">
                <a:extLst>
                  <a:ext uri="{FF2B5EF4-FFF2-40B4-BE49-F238E27FC236}">
                    <a16:creationId xmlns:a16="http://schemas.microsoft.com/office/drawing/2014/main" id="{FC07398E-0A9F-9946-8CFD-8A8ECB31DA48}"/>
                  </a:ext>
                </a:extLst>
              </p:cNvPr>
              <p:cNvSpPr txBox="1"/>
              <p:nvPr/>
            </p:nvSpPr>
            <p:spPr>
              <a:xfrm>
                <a:off x="5932254" y="4579867"/>
                <a:ext cx="534121"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BST</a:t>
                </a:r>
              </a:p>
            </p:txBody>
          </p:sp>
          <p:sp>
            <p:nvSpPr>
              <p:cNvPr id="63" name="TextBox 62">
                <a:extLst>
                  <a:ext uri="{FF2B5EF4-FFF2-40B4-BE49-F238E27FC236}">
                    <a16:creationId xmlns:a16="http://schemas.microsoft.com/office/drawing/2014/main" id="{AC9707FA-A235-794D-8B9A-4F62B77A8E42}"/>
                  </a:ext>
                </a:extLst>
              </p:cNvPr>
              <p:cNvSpPr txBox="1"/>
              <p:nvPr/>
            </p:nvSpPr>
            <p:spPr>
              <a:xfrm>
                <a:off x="7239889" y="5510806"/>
                <a:ext cx="1059906"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BST with </a:t>
                </a:r>
              </a:p>
              <a:p>
                <a:pPr algn="ctr"/>
                <a:r>
                  <a:rPr lang="en-US" sz="1400" dirty="0">
                    <a:latin typeface="Arial" panose="020B0604020202020204" pitchFamily="34" charset="0"/>
                    <a:cs typeface="Arial" panose="020B0604020202020204" pitchFamily="34" charset="0"/>
                  </a:rPr>
                  <a:t>larger keys</a:t>
                </a:r>
              </a:p>
            </p:txBody>
          </p:sp>
          <p:sp>
            <p:nvSpPr>
              <p:cNvPr id="67" name="Oval 66">
                <a:extLst>
                  <a:ext uri="{FF2B5EF4-FFF2-40B4-BE49-F238E27FC236}">
                    <a16:creationId xmlns:a16="http://schemas.microsoft.com/office/drawing/2014/main" id="{7E2C1CC0-5CDE-9A40-87D5-343EC4A34182}"/>
                  </a:ext>
                </a:extLst>
              </p:cNvPr>
              <p:cNvSpPr/>
              <p:nvPr/>
            </p:nvSpPr>
            <p:spPr>
              <a:xfrm flipH="1" flipV="1">
                <a:off x="5847193" y="5409287"/>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11719ED7-D462-FB43-B808-E241EE294BD3}"/>
                  </a:ext>
                </a:extLst>
              </p:cNvPr>
              <p:cNvSpPr/>
              <p:nvPr/>
            </p:nvSpPr>
            <p:spPr>
              <a:xfrm>
                <a:off x="5606224" y="4931844"/>
                <a:ext cx="1307045" cy="3354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92E65CDD-0A7C-AB44-9313-4FA1E634D54A}"/>
                  </a:ext>
                </a:extLst>
              </p:cNvPr>
              <p:cNvSpPr/>
              <p:nvPr/>
            </p:nvSpPr>
            <p:spPr>
              <a:xfrm>
                <a:off x="5602523" y="5270467"/>
                <a:ext cx="1307045" cy="3354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Connector 90">
                <a:extLst>
                  <a:ext uri="{FF2B5EF4-FFF2-40B4-BE49-F238E27FC236}">
                    <a16:creationId xmlns:a16="http://schemas.microsoft.com/office/drawing/2014/main" id="{CB9E960A-1D58-654F-BD40-34155DF83556}"/>
                  </a:ext>
                </a:extLst>
              </p:cNvPr>
              <p:cNvCxnSpPr>
                <a:cxnSpLocks/>
                <a:stCxn id="90" idx="0"/>
                <a:endCxn id="90" idx="2"/>
              </p:cNvCxnSpPr>
              <p:nvPr/>
            </p:nvCxnSpPr>
            <p:spPr>
              <a:xfrm>
                <a:off x="6256046" y="5270467"/>
                <a:ext cx="0" cy="3354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Oval 91">
                <a:extLst>
                  <a:ext uri="{FF2B5EF4-FFF2-40B4-BE49-F238E27FC236}">
                    <a16:creationId xmlns:a16="http://schemas.microsoft.com/office/drawing/2014/main" id="{9AE1C755-A790-6545-B70E-7D478A127845}"/>
                  </a:ext>
                </a:extLst>
              </p:cNvPr>
              <p:cNvSpPr/>
              <p:nvPr/>
            </p:nvSpPr>
            <p:spPr>
              <a:xfrm flipH="1" flipV="1">
                <a:off x="6579695" y="5402288"/>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1A7C4382-31D5-2F44-A924-B14370B36AAF}"/>
                </a:ext>
              </a:extLst>
            </p:cNvPr>
            <p:cNvGrpSpPr/>
            <p:nvPr/>
          </p:nvGrpSpPr>
          <p:grpSpPr>
            <a:xfrm>
              <a:off x="9633588" y="5346699"/>
              <a:ext cx="1310746" cy="674072"/>
              <a:chOff x="10420069" y="5224144"/>
              <a:chExt cx="1310746" cy="674072"/>
            </a:xfrm>
          </p:grpSpPr>
          <p:sp>
            <p:nvSpPr>
              <p:cNvPr id="107" name="Oval 106">
                <a:extLst>
                  <a:ext uri="{FF2B5EF4-FFF2-40B4-BE49-F238E27FC236}">
                    <a16:creationId xmlns:a16="http://schemas.microsoft.com/office/drawing/2014/main" id="{41EADD6E-506F-1A42-9BFD-4F83AE168341}"/>
                  </a:ext>
                </a:extLst>
              </p:cNvPr>
              <p:cNvSpPr/>
              <p:nvPr/>
            </p:nvSpPr>
            <p:spPr>
              <a:xfrm flipH="1" flipV="1">
                <a:off x="10664739" y="5701587"/>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70540369-E442-4246-94F6-526B958E0300}"/>
                  </a:ext>
                </a:extLst>
              </p:cNvPr>
              <p:cNvSpPr/>
              <p:nvPr/>
            </p:nvSpPr>
            <p:spPr>
              <a:xfrm>
                <a:off x="10423770" y="5224144"/>
                <a:ext cx="1307045" cy="3354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A318F4E3-EBF5-DE49-8E51-582B94D42E95}"/>
                  </a:ext>
                </a:extLst>
              </p:cNvPr>
              <p:cNvSpPr/>
              <p:nvPr/>
            </p:nvSpPr>
            <p:spPr>
              <a:xfrm>
                <a:off x="10420069" y="5562767"/>
                <a:ext cx="1307045" cy="3354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a:extLst>
                  <a:ext uri="{FF2B5EF4-FFF2-40B4-BE49-F238E27FC236}">
                    <a16:creationId xmlns:a16="http://schemas.microsoft.com/office/drawing/2014/main" id="{C4A0F34E-C1F7-4243-9ECA-3D3C5B28AB16}"/>
                  </a:ext>
                </a:extLst>
              </p:cNvPr>
              <p:cNvCxnSpPr>
                <a:cxnSpLocks/>
                <a:stCxn id="109" idx="0"/>
                <a:endCxn id="109" idx="2"/>
              </p:cNvCxnSpPr>
              <p:nvPr/>
            </p:nvCxnSpPr>
            <p:spPr>
              <a:xfrm>
                <a:off x="11073592" y="5562767"/>
                <a:ext cx="0" cy="3354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Oval 110">
                <a:extLst>
                  <a:ext uri="{FF2B5EF4-FFF2-40B4-BE49-F238E27FC236}">
                    <a16:creationId xmlns:a16="http://schemas.microsoft.com/office/drawing/2014/main" id="{94FBAC36-3814-5040-82A2-3879D163D012}"/>
                  </a:ext>
                </a:extLst>
              </p:cNvPr>
              <p:cNvSpPr/>
              <p:nvPr/>
            </p:nvSpPr>
            <p:spPr>
              <a:xfrm flipH="1" flipV="1">
                <a:off x="11397241" y="5694588"/>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ED6E27E6-F31C-FC4D-AD94-A63E1AA77F3D}"/>
                </a:ext>
              </a:extLst>
            </p:cNvPr>
            <p:cNvGrpSpPr/>
            <p:nvPr/>
          </p:nvGrpSpPr>
          <p:grpSpPr>
            <a:xfrm>
              <a:off x="7135977" y="5332745"/>
              <a:ext cx="1310579" cy="671916"/>
              <a:chOff x="7000832" y="5165563"/>
              <a:chExt cx="1310579" cy="671916"/>
            </a:xfrm>
          </p:grpSpPr>
          <p:sp>
            <p:nvSpPr>
              <p:cNvPr id="96" name="Oval 95">
                <a:extLst>
                  <a:ext uri="{FF2B5EF4-FFF2-40B4-BE49-F238E27FC236}">
                    <a16:creationId xmlns:a16="http://schemas.microsoft.com/office/drawing/2014/main" id="{FC1A6D06-EEB3-604A-B21A-8872AD6F300D}"/>
                  </a:ext>
                </a:extLst>
              </p:cNvPr>
              <p:cNvSpPr/>
              <p:nvPr/>
            </p:nvSpPr>
            <p:spPr>
              <a:xfrm flipH="1" flipV="1">
                <a:off x="7249036" y="5640850"/>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9438722E-1A53-8C48-9B95-E33DF947AD0E}"/>
                  </a:ext>
                </a:extLst>
              </p:cNvPr>
              <p:cNvSpPr/>
              <p:nvPr/>
            </p:nvSpPr>
            <p:spPr>
              <a:xfrm>
                <a:off x="7004366" y="5502030"/>
                <a:ext cx="1307045" cy="3354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FB2CEA90-CDB2-9940-8F08-CDCF7C1BE8FD}"/>
                  </a:ext>
                </a:extLst>
              </p:cNvPr>
              <p:cNvCxnSpPr>
                <a:cxnSpLocks/>
                <a:stCxn id="98" idx="0"/>
                <a:endCxn id="98" idx="2"/>
              </p:cNvCxnSpPr>
              <p:nvPr/>
            </p:nvCxnSpPr>
            <p:spPr>
              <a:xfrm>
                <a:off x="7657889" y="5502030"/>
                <a:ext cx="0" cy="33544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B1D3EDA5-04CA-6F4E-BD2B-7A2B9B282688}"/>
                  </a:ext>
                </a:extLst>
              </p:cNvPr>
              <p:cNvSpPr/>
              <p:nvPr/>
            </p:nvSpPr>
            <p:spPr>
              <a:xfrm flipH="1" flipV="1">
                <a:off x="7981538" y="5633851"/>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86F10543-ADAA-8F4B-87FF-2A813EB84561}"/>
                  </a:ext>
                </a:extLst>
              </p:cNvPr>
              <p:cNvSpPr/>
              <p:nvPr/>
            </p:nvSpPr>
            <p:spPr>
              <a:xfrm>
                <a:off x="7000832" y="5165563"/>
                <a:ext cx="1307045" cy="3354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 name="Straight Connector 5">
              <a:extLst>
                <a:ext uri="{FF2B5EF4-FFF2-40B4-BE49-F238E27FC236}">
                  <a16:creationId xmlns:a16="http://schemas.microsoft.com/office/drawing/2014/main" id="{14E2CFA4-7847-1643-A288-884F54BE567D}"/>
                </a:ext>
              </a:extLst>
            </p:cNvPr>
            <p:cNvCxnSpPr>
              <a:stCxn id="67" idx="7"/>
              <a:endCxn id="112" idx="0"/>
            </p:cNvCxnSpPr>
            <p:nvPr/>
          </p:nvCxnSpPr>
          <p:spPr>
            <a:xfrm flipH="1">
              <a:off x="7789500" y="4536645"/>
              <a:ext cx="997122" cy="7961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0C2CFFE-424A-0C4F-AD3F-9D690A44C169}"/>
                </a:ext>
              </a:extLst>
            </p:cNvPr>
            <p:cNvCxnSpPr>
              <a:cxnSpLocks/>
              <a:stCxn id="92" idx="0"/>
              <a:endCxn id="108" idx="0"/>
            </p:cNvCxnSpPr>
            <p:nvPr/>
          </p:nvCxnSpPr>
          <p:spPr>
            <a:xfrm>
              <a:off x="9549197" y="4540931"/>
              <a:ext cx="741615" cy="805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3568E521-2B8F-3D49-803A-1A77E9B51AF2}"/>
                </a:ext>
              </a:extLst>
            </p:cNvPr>
            <p:cNvSpPr txBox="1"/>
            <p:nvPr/>
          </p:nvSpPr>
          <p:spPr>
            <a:xfrm>
              <a:off x="6895092" y="4582451"/>
              <a:ext cx="1180131"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BST with </a:t>
              </a:r>
            </a:p>
            <a:p>
              <a:pPr algn="ctr"/>
              <a:r>
                <a:rPr lang="en-US" sz="1400" dirty="0">
                  <a:latin typeface="Arial" panose="020B0604020202020204" pitchFamily="34" charset="0"/>
                  <a:cs typeface="Arial" panose="020B0604020202020204" pitchFamily="34" charset="0"/>
                </a:rPr>
                <a:t>smaller keys</a:t>
              </a:r>
            </a:p>
          </p:txBody>
        </p:sp>
        <p:cxnSp>
          <p:nvCxnSpPr>
            <p:cNvPr id="115" name="Straight Connector 114">
              <a:extLst>
                <a:ext uri="{FF2B5EF4-FFF2-40B4-BE49-F238E27FC236}">
                  <a16:creationId xmlns:a16="http://schemas.microsoft.com/office/drawing/2014/main" id="{83C5E44B-3F85-8F4B-AEC7-0F87829F1AD8}"/>
                </a:ext>
              </a:extLst>
            </p:cNvPr>
            <p:cNvCxnSpPr>
              <a:cxnSpLocks/>
            </p:cNvCxnSpPr>
            <p:nvPr/>
          </p:nvCxnSpPr>
          <p:spPr>
            <a:xfrm flipH="1">
              <a:off x="6971494" y="6018381"/>
              <a:ext cx="372250" cy="3504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225BBA2D-BA11-3440-84B7-074123C82A5E}"/>
                </a:ext>
              </a:extLst>
            </p:cNvPr>
            <p:cNvCxnSpPr>
              <a:cxnSpLocks/>
            </p:cNvCxnSpPr>
            <p:nvPr/>
          </p:nvCxnSpPr>
          <p:spPr>
            <a:xfrm>
              <a:off x="8156919" y="6000962"/>
              <a:ext cx="293171" cy="3465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441627B-3722-B044-AD90-83D9535E7DE1}"/>
                </a:ext>
              </a:extLst>
            </p:cNvPr>
            <p:cNvCxnSpPr>
              <a:cxnSpLocks/>
            </p:cNvCxnSpPr>
            <p:nvPr/>
          </p:nvCxnSpPr>
          <p:spPr>
            <a:xfrm flipH="1">
              <a:off x="9501254" y="6028887"/>
              <a:ext cx="372250" cy="3504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FC71B217-EB12-9840-9C99-AEBE5D2F797F}"/>
                </a:ext>
              </a:extLst>
            </p:cNvPr>
            <p:cNvCxnSpPr>
              <a:cxnSpLocks/>
            </p:cNvCxnSpPr>
            <p:nvPr/>
          </p:nvCxnSpPr>
          <p:spPr>
            <a:xfrm>
              <a:off x="10686679" y="6011468"/>
              <a:ext cx="293171" cy="3465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rapezium 15">
              <a:extLst>
                <a:ext uri="{FF2B5EF4-FFF2-40B4-BE49-F238E27FC236}">
                  <a16:creationId xmlns:a16="http://schemas.microsoft.com/office/drawing/2014/main" id="{E782EA88-E977-2343-9283-C99BE8113100}"/>
                </a:ext>
              </a:extLst>
            </p:cNvPr>
            <p:cNvSpPr/>
            <p:nvPr/>
          </p:nvSpPr>
          <p:spPr>
            <a:xfrm>
              <a:off x="6420201" y="3657029"/>
              <a:ext cx="5404782" cy="3009167"/>
            </a:xfrm>
            <a:prstGeom prst="trapezoid">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Trapezium 120">
              <a:extLst>
                <a:ext uri="{FF2B5EF4-FFF2-40B4-BE49-F238E27FC236}">
                  <a16:creationId xmlns:a16="http://schemas.microsoft.com/office/drawing/2014/main" id="{E4152015-08F2-BF4F-B20A-E592F07608CC}"/>
                </a:ext>
              </a:extLst>
            </p:cNvPr>
            <p:cNvSpPr/>
            <p:nvPr/>
          </p:nvSpPr>
          <p:spPr>
            <a:xfrm>
              <a:off x="6597897" y="5125366"/>
              <a:ext cx="2337324" cy="1422652"/>
            </a:xfrm>
            <a:prstGeom prst="trapezoid">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Trapezium 121">
              <a:extLst>
                <a:ext uri="{FF2B5EF4-FFF2-40B4-BE49-F238E27FC236}">
                  <a16:creationId xmlns:a16="http://schemas.microsoft.com/office/drawing/2014/main" id="{990AA1FB-4FA7-C14A-98DC-EBD3FF00A978}"/>
                </a:ext>
              </a:extLst>
            </p:cNvPr>
            <p:cNvSpPr/>
            <p:nvPr/>
          </p:nvSpPr>
          <p:spPr>
            <a:xfrm>
              <a:off x="9114054" y="5122933"/>
              <a:ext cx="2337324" cy="1422652"/>
            </a:xfrm>
            <a:prstGeom prst="trapezoid">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364269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AF963-72BE-DD42-83FF-87F8F824FB71}"/>
              </a:ext>
            </a:extLst>
          </p:cNvPr>
          <p:cNvSpPr>
            <a:spLocks noGrp="1"/>
          </p:cNvSpPr>
          <p:nvPr>
            <p:ph type="title"/>
          </p:nvPr>
        </p:nvSpPr>
        <p:spPr/>
        <p:txBody>
          <a:bodyPr/>
          <a:lstStyle/>
          <a:p>
            <a:r>
              <a:rPr lang="en-US" dirty="0"/>
              <a:t>BST IMPLEMENTATION</a:t>
            </a:r>
          </a:p>
        </p:txBody>
      </p:sp>
      <p:sp>
        <p:nvSpPr>
          <p:cNvPr id="3" name="Content Placeholder 2">
            <a:extLst>
              <a:ext uri="{FF2B5EF4-FFF2-40B4-BE49-F238E27FC236}">
                <a16:creationId xmlns:a16="http://schemas.microsoft.com/office/drawing/2014/main" id="{5E6F334D-2E80-D949-9F05-8D01770E9CC7}"/>
              </a:ext>
            </a:extLst>
          </p:cNvPr>
          <p:cNvSpPr>
            <a:spLocks noGrp="1"/>
          </p:cNvSpPr>
          <p:nvPr>
            <p:ph idx="1"/>
          </p:nvPr>
        </p:nvSpPr>
        <p:spPr>
          <a:xfrm>
            <a:off x="240991" y="1559374"/>
            <a:ext cx="11479427" cy="5016842"/>
          </a:xfrm>
        </p:spPr>
        <p:txBody>
          <a:bodyPr>
            <a:normAutofit/>
          </a:bodyPr>
          <a:lstStyle/>
          <a:p>
            <a:r>
              <a:rPr lang="en-US" dirty="0"/>
              <a:t>Linked list recap:</a:t>
            </a:r>
          </a:p>
          <a:p>
            <a:endParaRPr lang="en-US" dirty="0"/>
          </a:p>
          <a:p>
            <a:endParaRPr lang="en-US" dirty="0"/>
          </a:p>
          <a:p>
            <a:endParaRPr lang="en-US" dirty="0"/>
          </a:p>
          <a:p>
            <a:r>
              <a:rPr lang="en-US" dirty="0"/>
              <a:t>Extended linked list representing a BST:</a:t>
            </a:r>
          </a:p>
        </p:txBody>
      </p:sp>
      <p:grpSp>
        <p:nvGrpSpPr>
          <p:cNvPr id="8" name="Group 7" descr="graphical representation of a linked list">
            <a:extLst>
              <a:ext uri="{FF2B5EF4-FFF2-40B4-BE49-F238E27FC236}">
                <a16:creationId xmlns:a16="http://schemas.microsoft.com/office/drawing/2014/main" id="{8CFD137F-8C77-DF40-97E7-B79CFE02A07E}"/>
              </a:ext>
            </a:extLst>
          </p:cNvPr>
          <p:cNvGrpSpPr/>
          <p:nvPr/>
        </p:nvGrpSpPr>
        <p:grpSpPr>
          <a:xfrm>
            <a:off x="651616" y="2106079"/>
            <a:ext cx="8411632" cy="1388886"/>
            <a:chOff x="651616" y="2106079"/>
            <a:chExt cx="8411632" cy="1388886"/>
          </a:xfrm>
        </p:grpSpPr>
        <p:grpSp>
          <p:nvGrpSpPr>
            <p:cNvPr id="46" name="Group 45">
              <a:extLst>
                <a:ext uri="{FF2B5EF4-FFF2-40B4-BE49-F238E27FC236}">
                  <a16:creationId xmlns:a16="http://schemas.microsoft.com/office/drawing/2014/main" id="{39C88C70-A0FE-A442-B51E-C3DCDD17BFFC}"/>
                </a:ext>
              </a:extLst>
            </p:cNvPr>
            <p:cNvGrpSpPr/>
            <p:nvPr/>
          </p:nvGrpSpPr>
          <p:grpSpPr>
            <a:xfrm>
              <a:off x="651616" y="2106079"/>
              <a:ext cx="3004676" cy="1069984"/>
              <a:chOff x="853434" y="2609836"/>
              <a:chExt cx="3004676" cy="1069984"/>
            </a:xfrm>
          </p:grpSpPr>
          <p:sp>
            <p:nvSpPr>
              <p:cNvPr id="47" name="TextBox 46">
                <a:extLst>
                  <a:ext uri="{FF2B5EF4-FFF2-40B4-BE49-F238E27FC236}">
                    <a16:creationId xmlns:a16="http://schemas.microsoft.com/office/drawing/2014/main" id="{F76401FF-5802-A848-93C9-CFEAAA1C8884}"/>
                  </a:ext>
                </a:extLst>
              </p:cNvPr>
              <p:cNvSpPr txBox="1"/>
              <p:nvPr/>
            </p:nvSpPr>
            <p:spPr>
              <a:xfrm>
                <a:off x="853434" y="2609836"/>
                <a:ext cx="582211"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node</a:t>
                </a:r>
              </a:p>
            </p:txBody>
          </p:sp>
          <p:sp>
            <p:nvSpPr>
              <p:cNvPr id="48" name="TextBox 47">
                <a:extLst>
                  <a:ext uri="{FF2B5EF4-FFF2-40B4-BE49-F238E27FC236}">
                    <a16:creationId xmlns:a16="http://schemas.microsoft.com/office/drawing/2014/main" id="{32312563-AC4D-B940-AFBF-5D34FFE28A54}"/>
                  </a:ext>
                </a:extLst>
              </p:cNvPr>
              <p:cNvSpPr txBox="1"/>
              <p:nvPr/>
            </p:nvSpPr>
            <p:spPr>
              <a:xfrm>
                <a:off x="1893314" y="2736676"/>
                <a:ext cx="920445"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data item</a:t>
                </a:r>
              </a:p>
            </p:txBody>
          </p:sp>
          <p:sp>
            <p:nvSpPr>
              <p:cNvPr id="49" name="TextBox 48">
                <a:extLst>
                  <a:ext uri="{FF2B5EF4-FFF2-40B4-BE49-F238E27FC236}">
                    <a16:creationId xmlns:a16="http://schemas.microsoft.com/office/drawing/2014/main" id="{2874EA10-FE64-7547-BB86-1831CEF8048D}"/>
                  </a:ext>
                </a:extLst>
              </p:cNvPr>
              <p:cNvSpPr txBox="1"/>
              <p:nvPr/>
            </p:nvSpPr>
            <p:spPr>
              <a:xfrm>
                <a:off x="1884493" y="3372043"/>
                <a:ext cx="1973617"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reference to next node</a:t>
                </a:r>
              </a:p>
            </p:txBody>
          </p:sp>
          <p:grpSp>
            <p:nvGrpSpPr>
              <p:cNvPr id="50" name="Group 49">
                <a:extLst>
                  <a:ext uri="{FF2B5EF4-FFF2-40B4-BE49-F238E27FC236}">
                    <a16:creationId xmlns:a16="http://schemas.microsoft.com/office/drawing/2014/main" id="{540F9818-6ABA-EE4F-A51E-CA571AC8269C}"/>
                  </a:ext>
                </a:extLst>
              </p:cNvPr>
              <p:cNvGrpSpPr/>
              <p:nvPr/>
            </p:nvGrpSpPr>
            <p:grpSpPr>
              <a:xfrm>
                <a:off x="891485" y="2919093"/>
                <a:ext cx="548640" cy="471639"/>
                <a:chOff x="852955" y="1895618"/>
                <a:chExt cx="548640" cy="471639"/>
              </a:xfrm>
            </p:grpSpPr>
            <p:grpSp>
              <p:nvGrpSpPr>
                <p:cNvPr id="55" name="Group 54">
                  <a:extLst>
                    <a:ext uri="{FF2B5EF4-FFF2-40B4-BE49-F238E27FC236}">
                      <a16:creationId xmlns:a16="http://schemas.microsoft.com/office/drawing/2014/main" id="{123217D8-AD6C-8542-A254-704D2AF95775}"/>
                    </a:ext>
                  </a:extLst>
                </p:cNvPr>
                <p:cNvGrpSpPr/>
                <p:nvPr/>
              </p:nvGrpSpPr>
              <p:grpSpPr>
                <a:xfrm>
                  <a:off x="852955" y="1895618"/>
                  <a:ext cx="548640" cy="471639"/>
                  <a:chOff x="587141" y="1799924"/>
                  <a:chExt cx="548640" cy="471639"/>
                </a:xfrm>
              </p:grpSpPr>
              <p:sp>
                <p:nvSpPr>
                  <p:cNvPr id="60" name="Rectangle 59">
                    <a:extLst>
                      <a:ext uri="{FF2B5EF4-FFF2-40B4-BE49-F238E27FC236}">
                        <a16:creationId xmlns:a16="http://schemas.microsoft.com/office/drawing/2014/main" id="{E32E8659-4784-7C43-9136-D0081A5711FD}"/>
                      </a:ext>
                    </a:extLst>
                  </p:cNvPr>
                  <p:cNvSpPr/>
                  <p:nvPr/>
                </p:nvSpPr>
                <p:spPr>
                  <a:xfrm>
                    <a:off x="587141" y="1799924"/>
                    <a:ext cx="548640" cy="2791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CCDF4023-1C82-8940-A12F-9648B7495C1C}"/>
                      </a:ext>
                    </a:extLst>
                  </p:cNvPr>
                  <p:cNvSpPr/>
                  <p:nvPr/>
                </p:nvSpPr>
                <p:spPr>
                  <a:xfrm>
                    <a:off x="587141" y="2088683"/>
                    <a:ext cx="548640" cy="18288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6" name="Oval 55">
                  <a:extLst>
                    <a:ext uri="{FF2B5EF4-FFF2-40B4-BE49-F238E27FC236}">
                      <a16:creationId xmlns:a16="http://schemas.microsoft.com/office/drawing/2014/main" id="{A65C668C-FFA9-1E4B-957E-6DEE479FC4C1}"/>
                    </a:ext>
                  </a:extLst>
                </p:cNvPr>
                <p:cNvSpPr/>
                <p:nvPr/>
              </p:nvSpPr>
              <p:spPr>
                <a:xfrm flipH="1" flipV="1">
                  <a:off x="1074111" y="2229587"/>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52" name="Straight Arrow Connector 51">
                <a:extLst>
                  <a:ext uri="{FF2B5EF4-FFF2-40B4-BE49-F238E27FC236}">
                    <a16:creationId xmlns:a16="http://schemas.microsoft.com/office/drawing/2014/main" id="{E26409F4-81AA-0647-9ACC-7A7CEEAA45D3}"/>
                  </a:ext>
                </a:extLst>
              </p:cNvPr>
              <p:cNvCxnSpPr>
                <a:cxnSpLocks/>
                <a:endCxn id="60" idx="3"/>
              </p:cNvCxnSpPr>
              <p:nvPr/>
            </p:nvCxnSpPr>
            <p:spPr>
              <a:xfrm flipH="1">
                <a:off x="1440125" y="2926940"/>
                <a:ext cx="453189" cy="13172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75A0D3EC-CE86-DB4D-9A05-37B56F3EA10F}"/>
                  </a:ext>
                </a:extLst>
              </p:cNvPr>
              <p:cNvCxnSpPr>
                <a:stCxn id="49" idx="1"/>
                <a:endCxn id="61" idx="3"/>
              </p:cNvCxnSpPr>
              <p:nvPr/>
            </p:nvCxnSpPr>
            <p:spPr>
              <a:xfrm flipH="1" flipV="1">
                <a:off x="1440125" y="3299292"/>
                <a:ext cx="444368" cy="22664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42" name="Group 141">
              <a:extLst>
                <a:ext uri="{FF2B5EF4-FFF2-40B4-BE49-F238E27FC236}">
                  <a16:creationId xmlns:a16="http://schemas.microsoft.com/office/drawing/2014/main" id="{03602087-5C66-B34B-BC95-2C36FE52EA99}"/>
                </a:ext>
              </a:extLst>
            </p:cNvPr>
            <p:cNvGrpSpPr/>
            <p:nvPr/>
          </p:nvGrpSpPr>
          <p:grpSpPr>
            <a:xfrm>
              <a:off x="4445298" y="2241606"/>
              <a:ext cx="4617950" cy="1253359"/>
              <a:chOff x="2872340" y="2581603"/>
              <a:chExt cx="4617950" cy="1253359"/>
            </a:xfrm>
          </p:grpSpPr>
          <p:sp>
            <p:nvSpPr>
              <p:cNvPr id="88" name="Rectangle 87">
                <a:extLst>
                  <a:ext uri="{FF2B5EF4-FFF2-40B4-BE49-F238E27FC236}">
                    <a16:creationId xmlns:a16="http://schemas.microsoft.com/office/drawing/2014/main" id="{79607345-1059-E34E-ABAA-42F7D4BC5A7D}"/>
                  </a:ext>
                </a:extLst>
              </p:cNvPr>
              <p:cNvSpPr/>
              <p:nvPr/>
            </p:nvSpPr>
            <p:spPr>
              <a:xfrm>
                <a:off x="6635507" y="2808632"/>
                <a:ext cx="548640" cy="2791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74633FF2-EB47-624A-A357-095A283C1AC8}"/>
                  </a:ext>
                </a:extLst>
              </p:cNvPr>
              <p:cNvSpPr/>
              <p:nvPr/>
            </p:nvSpPr>
            <p:spPr>
              <a:xfrm>
                <a:off x="6635507" y="3097391"/>
                <a:ext cx="548640" cy="18288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1FEE7F99-5C8F-5948-B986-1B3B156C8697}"/>
                  </a:ext>
                </a:extLst>
              </p:cNvPr>
              <p:cNvCxnSpPr>
                <a:cxnSpLocks/>
              </p:cNvCxnSpPr>
              <p:nvPr/>
            </p:nvCxnSpPr>
            <p:spPr>
              <a:xfrm flipV="1">
                <a:off x="5880598" y="2941652"/>
                <a:ext cx="758982" cy="2270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Oval 40">
                <a:extLst>
                  <a:ext uri="{FF2B5EF4-FFF2-40B4-BE49-F238E27FC236}">
                    <a16:creationId xmlns:a16="http://schemas.microsoft.com/office/drawing/2014/main" id="{8207F0E4-1EB9-004B-B459-A8908B11CB7E}"/>
                  </a:ext>
                </a:extLst>
              </p:cNvPr>
              <p:cNvSpPr/>
              <p:nvPr/>
            </p:nvSpPr>
            <p:spPr>
              <a:xfrm flipH="1" flipV="1">
                <a:off x="6828208" y="3144698"/>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Arrow Connector 41">
                <a:extLst>
                  <a:ext uri="{FF2B5EF4-FFF2-40B4-BE49-F238E27FC236}">
                    <a16:creationId xmlns:a16="http://schemas.microsoft.com/office/drawing/2014/main" id="{512A72DD-D9EC-0648-B912-6AA4FB6A6EAA}"/>
                  </a:ext>
                </a:extLst>
              </p:cNvPr>
              <p:cNvCxnSpPr/>
              <p:nvPr/>
            </p:nvCxnSpPr>
            <p:spPr>
              <a:xfrm>
                <a:off x="6925334" y="3187373"/>
                <a:ext cx="56495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45" name="Group 44">
                <a:extLst>
                  <a:ext uri="{FF2B5EF4-FFF2-40B4-BE49-F238E27FC236}">
                    <a16:creationId xmlns:a16="http://schemas.microsoft.com/office/drawing/2014/main" id="{BFA81F46-5150-E148-8D6E-0CB45FB4CC03}"/>
                  </a:ext>
                </a:extLst>
              </p:cNvPr>
              <p:cNvGrpSpPr/>
              <p:nvPr/>
            </p:nvGrpSpPr>
            <p:grpSpPr>
              <a:xfrm>
                <a:off x="2872340" y="2581603"/>
                <a:ext cx="3262191" cy="693066"/>
                <a:chOff x="287999" y="3890141"/>
                <a:chExt cx="3262191" cy="693066"/>
              </a:xfrm>
            </p:grpSpPr>
            <p:grpSp>
              <p:nvGrpSpPr>
                <p:cNvPr id="64" name="Group 63">
                  <a:extLst>
                    <a:ext uri="{FF2B5EF4-FFF2-40B4-BE49-F238E27FC236}">
                      <a16:creationId xmlns:a16="http://schemas.microsoft.com/office/drawing/2014/main" id="{EFED5BC4-C2AC-984D-86BA-0715DCC76AA6}"/>
                    </a:ext>
                  </a:extLst>
                </p:cNvPr>
                <p:cNvGrpSpPr/>
                <p:nvPr/>
              </p:nvGrpSpPr>
              <p:grpSpPr>
                <a:xfrm>
                  <a:off x="1956684" y="4111568"/>
                  <a:ext cx="548640" cy="471639"/>
                  <a:chOff x="1928878" y="2631429"/>
                  <a:chExt cx="548640" cy="471639"/>
                </a:xfrm>
              </p:grpSpPr>
              <p:grpSp>
                <p:nvGrpSpPr>
                  <p:cNvPr id="84" name="Group 83">
                    <a:extLst>
                      <a:ext uri="{FF2B5EF4-FFF2-40B4-BE49-F238E27FC236}">
                        <a16:creationId xmlns:a16="http://schemas.microsoft.com/office/drawing/2014/main" id="{CC291B24-33D8-1D4E-A0C7-D9FD568125CC}"/>
                      </a:ext>
                    </a:extLst>
                  </p:cNvPr>
                  <p:cNvGrpSpPr/>
                  <p:nvPr/>
                </p:nvGrpSpPr>
                <p:grpSpPr>
                  <a:xfrm>
                    <a:off x="1928878" y="2631429"/>
                    <a:ext cx="548640" cy="471639"/>
                    <a:chOff x="587141" y="1799924"/>
                    <a:chExt cx="548640" cy="471639"/>
                  </a:xfrm>
                </p:grpSpPr>
                <p:sp>
                  <p:nvSpPr>
                    <p:cNvPr id="86" name="Rectangle 85">
                      <a:extLst>
                        <a:ext uri="{FF2B5EF4-FFF2-40B4-BE49-F238E27FC236}">
                          <a16:creationId xmlns:a16="http://schemas.microsoft.com/office/drawing/2014/main" id="{388A8ED1-AB84-A34E-9656-42BEE01349BF}"/>
                        </a:ext>
                      </a:extLst>
                    </p:cNvPr>
                    <p:cNvSpPr/>
                    <p:nvPr/>
                  </p:nvSpPr>
                  <p:spPr>
                    <a:xfrm>
                      <a:off x="587141" y="1799924"/>
                      <a:ext cx="548640" cy="2791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Rectangle 86">
                      <a:extLst>
                        <a:ext uri="{FF2B5EF4-FFF2-40B4-BE49-F238E27FC236}">
                          <a16:creationId xmlns:a16="http://schemas.microsoft.com/office/drawing/2014/main" id="{95E3CD1B-8915-914F-A514-40BD1BE56CA4}"/>
                        </a:ext>
                      </a:extLst>
                    </p:cNvPr>
                    <p:cNvSpPr/>
                    <p:nvPr/>
                  </p:nvSpPr>
                  <p:spPr>
                    <a:xfrm>
                      <a:off x="587141" y="2088683"/>
                      <a:ext cx="548640" cy="18288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5" name="Oval 84">
                    <a:extLst>
                      <a:ext uri="{FF2B5EF4-FFF2-40B4-BE49-F238E27FC236}">
                        <a16:creationId xmlns:a16="http://schemas.microsoft.com/office/drawing/2014/main" id="{146B49E7-1973-9B47-B82C-CBC1D629F6E9}"/>
                      </a:ext>
                    </a:extLst>
                  </p:cNvPr>
                  <p:cNvSpPr/>
                  <p:nvPr/>
                </p:nvSpPr>
                <p:spPr>
                  <a:xfrm flipH="1" flipV="1">
                    <a:off x="2150034" y="2965398"/>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5" name="Group 64">
                  <a:extLst>
                    <a:ext uri="{FF2B5EF4-FFF2-40B4-BE49-F238E27FC236}">
                      <a16:creationId xmlns:a16="http://schemas.microsoft.com/office/drawing/2014/main" id="{1F95186C-D01D-4248-8A29-E49934B12794}"/>
                    </a:ext>
                  </a:extLst>
                </p:cNvPr>
                <p:cNvGrpSpPr/>
                <p:nvPr/>
              </p:nvGrpSpPr>
              <p:grpSpPr>
                <a:xfrm>
                  <a:off x="3001550" y="4105638"/>
                  <a:ext cx="548640" cy="471639"/>
                  <a:chOff x="2973744" y="2625499"/>
                  <a:chExt cx="548640" cy="471639"/>
                </a:xfrm>
              </p:grpSpPr>
              <p:grpSp>
                <p:nvGrpSpPr>
                  <p:cNvPr id="80" name="Group 79">
                    <a:extLst>
                      <a:ext uri="{FF2B5EF4-FFF2-40B4-BE49-F238E27FC236}">
                        <a16:creationId xmlns:a16="http://schemas.microsoft.com/office/drawing/2014/main" id="{C9289426-B139-6C41-B244-FA7DDF034448}"/>
                      </a:ext>
                    </a:extLst>
                  </p:cNvPr>
                  <p:cNvGrpSpPr/>
                  <p:nvPr/>
                </p:nvGrpSpPr>
                <p:grpSpPr>
                  <a:xfrm>
                    <a:off x="2973744" y="2625499"/>
                    <a:ext cx="548640" cy="471639"/>
                    <a:chOff x="587141" y="1799924"/>
                    <a:chExt cx="548640" cy="471639"/>
                  </a:xfrm>
                </p:grpSpPr>
                <p:sp>
                  <p:nvSpPr>
                    <p:cNvPr id="82" name="Rectangle 81">
                      <a:extLst>
                        <a:ext uri="{FF2B5EF4-FFF2-40B4-BE49-F238E27FC236}">
                          <a16:creationId xmlns:a16="http://schemas.microsoft.com/office/drawing/2014/main" id="{613FC9F9-BE02-B943-83A5-0ACD372BEFCE}"/>
                        </a:ext>
                      </a:extLst>
                    </p:cNvPr>
                    <p:cNvSpPr/>
                    <p:nvPr/>
                  </p:nvSpPr>
                  <p:spPr>
                    <a:xfrm>
                      <a:off x="587141" y="1799924"/>
                      <a:ext cx="548640" cy="2791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Rectangle 82">
                      <a:extLst>
                        <a:ext uri="{FF2B5EF4-FFF2-40B4-BE49-F238E27FC236}">
                          <a16:creationId xmlns:a16="http://schemas.microsoft.com/office/drawing/2014/main" id="{12673D53-8EE5-1A43-959A-DA5CE34AD148}"/>
                        </a:ext>
                      </a:extLst>
                    </p:cNvPr>
                    <p:cNvSpPr/>
                    <p:nvPr/>
                  </p:nvSpPr>
                  <p:spPr>
                    <a:xfrm>
                      <a:off x="587141" y="2088683"/>
                      <a:ext cx="548640" cy="18288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1" name="Oval 80">
                    <a:extLst>
                      <a:ext uri="{FF2B5EF4-FFF2-40B4-BE49-F238E27FC236}">
                        <a16:creationId xmlns:a16="http://schemas.microsoft.com/office/drawing/2014/main" id="{A8E4FC66-37A0-9C4D-97E1-1FFCD63ECC21}"/>
                      </a:ext>
                    </a:extLst>
                  </p:cNvPr>
                  <p:cNvSpPr/>
                  <p:nvPr/>
                </p:nvSpPr>
                <p:spPr>
                  <a:xfrm flipH="1" flipV="1">
                    <a:off x="3194900" y="2959468"/>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6" name="Straight Arrow Connector 65">
                  <a:extLst>
                    <a:ext uri="{FF2B5EF4-FFF2-40B4-BE49-F238E27FC236}">
                      <a16:creationId xmlns:a16="http://schemas.microsoft.com/office/drawing/2014/main" id="{5CB7A1EF-F7C4-D546-A990-8503DC3862E4}"/>
                    </a:ext>
                  </a:extLst>
                </p:cNvPr>
                <p:cNvCxnSpPr>
                  <a:cxnSpLocks/>
                  <a:endCxn id="86" idx="1"/>
                </p:cNvCxnSpPr>
                <p:nvPr/>
              </p:nvCxnSpPr>
              <p:spPr>
                <a:xfrm flipV="1">
                  <a:off x="1197702" y="4251135"/>
                  <a:ext cx="758982" cy="2270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E87CC5F3-ACC1-4542-88DF-1FD913845498}"/>
                    </a:ext>
                  </a:extLst>
                </p:cNvPr>
                <p:cNvCxnSpPr>
                  <a:cxnSpLocks/>
                </p:cNvCxnSpPr>
                <p:nvPr/>
              </p:nvCxnSpPr>
              <p:spPr>
                <a:xfrm flipV="1">
                  <a:off x="2262901" y="4255221"/>
                  <a:ext cx="758982" cy="22700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nvGrpSpPr>
                <p:cNvPr id="72" name="Group 71">
                  <a:extLst>
                    <a:ext uri="{FF2B5EF4-FFF2-40B4-BE49-F238E27FC236}">
                      <a16:creationId xmlns:a16="http://schemas.microsoft.com/office/drawing/2014/main" id="{70D77CF6-7035-8F48-B752-27124AF6E529}"/>
                    </a:ext>
                  </a:extLst>
                </p:cNvPr>
                <p:cNvGrpSpPr/>
                <p:nvPr/>
              </p:nvGrpSpPr>
              <p:grpSpPr>
                <a:xfrm>
                  <a:off x="287999" y="3890141"/>
                  <a:ext cx="1152126" cy="693066"/>
                  <a:chOff x="287999" y="3890141"/>
                  <a:chExt cx="1152126" cy="693066"/>
                </a:xfrm>
              </p:grpSpPr>
              <p:grpSp>
                <p:nvGrpSpPr>
                  <p:cNvPr id="73" name="Group 72">
                    <a:extLst>
                      <a:ext uri="{FF2B5EF4-FFF2-40B4-BE49-F238E27FC236}">
                        <a16:creationId xmlns:a16="http://schemas.microsoft.com/office/drawing/2014/main" id="{6802DD43-63BE-0A44-89CB-110C005DD19B}"/>
                      </a:ext>
                    </a:extLst>
                  </p:cNvPr>
                  <p:cNvGrpSpPr/>
                  <p:nvPr/>
                </p:nvGrpSpPr>
                <p:grpSpPr>
                  <a:xfrm>
                    <a:off x="891485" y="4111568"/>
                    <a:ext cx="548640" cy="471639"/>
                    <a:chOff x="863679" y="2631429"/>
                    <a:chExt cx="548640" cy="471639"/>
                  </a:xfrm>
                </p:grpSpPr>
                <p:grpSp>
                  <p:nvGrpSpPr>
                    <p:cNvPr id="76" name="Group 75">
                      <a:extLst>
                        <a:ext uri="{FF2B5EF4-FFF2-40B4-BE49-F238E27FC236}">
                          <a16:creationId xmlns:a16="http://schemas.microsoft.com/office/drawing/2014/main" id="{667CF6E7-0CCC-4148-981E-762CC80D5635}"/>
                        </a:ext>
                      </a:extLst>
                    </p:cNvPr>
                    <p:cNvGrpSpPr/>
                    <p:nvPr/>
                  </p:nvGrpSpPr>
                  <p:grpSpPr>
                    <a:xfrm>
                      <a:off x="863679" y="2631429"/>
                      <a:ext cx="548640" cy="471639"/>
                      <a:chOff x="587141" y="1799924"/>
                      <a:chExt cx="548640" cy="471639"/>
                    </a:xfrm>
                  </p:grpSpPr>
                  <p:sp>
                    <p:nvSpPr>
                      <p:cNvPr id="78" name="Rectangle 77">
                        <a:extLst>
                          <a:ext uri="{FF2B5EF4-FFF2-40B4-BE49-F238E27FC236}">
                            <a16:creationId xmlns:a16="http://schemas.microsoft.com/office/drawing/2014/main" id="{EFAEEC81-AC38-F44B-B702-27FFEAF53F90}"/>
                          </a:ext>
                        </a:extLst>
                      </p:cNvPr>
                      <p:cNvSpPr/>
                      <p:nvPr/>
                    </p:nvSpPr>
                    <p:spPr>
                      <a:xfrm>
                        <a:off x="587141" y="1799924"/>
                        <a:ext cx="548640" cy="279133"/>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885CC86B-DDA1-724F-8665-6779D7D3C42C}"/>
                          </a:ext>
                        </a:extLst>
                      </p:cNvPr>
                      <p:cNvSpPr/>
                      <p:nvPr/>
                    </p:nvSpPr>
                    <p:spPr>
                      <a:xfrm>
                        <a:off x="587141" y="2088683"/>
                        <a:ext cx="548640" cy="182880"/>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7" name="Oval 76">
                      <a:extLst>
                        <a:ext uri="{FF2B5EF4-FFF2-40B4-BE49-F238E27FC236}">
                          <a16:creationId xmlns:a16="http://schemas.microsoft.com/office/drawing/2014/main" id="{54054DD4-9AE2-7340-8D7B-5C468A8D7C3F}"/>
                        </a:ext>
                      </a:extLst>
                    </p:cNvPr>
                    <p:cNvSpPr/>
                    <p:nvPr/>
                  </p:nvSpPr>
                  <p:spPr>
                    <a:xfrm flipH="1" flipV="1">
                      <a:off x="1084835" y="2965398"/>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74" name="Straight Arrow Connector 73">
                    <a:extLst>
                      <a:ext uri="{FF2B5EF4-FFF2-40B4-BE49-F238E27FC236}">
                        <a16:creationId xmlns:a16="http://schemas.microsoft.com/office/drawing/2014/main" id="{84177A3F-8F35-AE45-86C5-79E9AD9BAC6D}"/>
                      </a:ext>
                    </a:extLst>
                  </p:cNvPr>
                  <p:cNvCxnSpPr/>
                  <p:nvPr/>
                </p:nvCxnSpPr>
                <p:spPr>
                  <a:xfrm>
                    <a:off x="326529" y="4245204"/>
                    <a:ext cx="564956"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TextBox 74">
                    <a:extLst>
                      <a:ext uri="{FF2B5EF4-FFF2-40B4-BE49-F238E27FC236}">
                        <a16:creationId xmlns:a16="http://schemas.microsoft.com/office/drawing/2014/main" id="{25208B04-6EC9-C042-9E3D-FCCBDB58E8BC}"/>
                      </a:ext>
                    </a:extLst>
                  </p:cNvPr>
                  <p:cNvSpPr txBox="1"/>
                  <p:nvPr/>
                </p:nvSpPr>
                <p:spPr>
                  <a:xfrm>
                    <a:off x="287999" y="3890141"/>
                    <a:ext cx="582211"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head</a:t>
                    </a:r>
                  </a:p>
                </p:txBody>
              </p:sp>
            </p:grpSp>
          </p:grpSp>
          <p:sp>
            <p:nvSpPr>
              <p:cNvPr id="44" name="TextBox 43">
                <a:extLst>
                  <a:ext uri="{FF2B5EF4-FFF2-40B4-BE49-F238E27FC236}">
                    <a16:creationId xmlns:a16="http://schemas.microsoft.com/office/drawing/2014/main" id="{D7A3920F-2D60-564A-B176-B7CADB99D241}"/>
                  </a:ext>
                </a:extLst>
              </p:cNvPr>
              <p:cNvSpPr txBox="1"/>
              <p:nvPr/>
            </p:nvSpPr>
            <p:spPr>
              <a:xfrm>
                <a:off x="6574917" y="3311742"/>
                <a:ext cx="910827" cy="523220"/>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tail (last) </a:t>
                </a:r>
              </a:p>
              <a:p>
                <a:r>
                  <a:rPr lang="en-US" sz="1400" dirty="0">
                    <a:latin typeface="Arial" panose="020B0604020202020204" pitchFamily="34" charset="0"/>
                    <a:cs typeface="Arial" panose="020B0604020202020204" pitchFamily="34" charset="0"/>
                  </a:rPr>
                  <a:t>node</a:t>
                </a:r>
              </a:p>
            </p:txBody>
          </p:sp>
        </p:grpSp>
      </p:grpSp>
      <p:grpSp>
        <p:nvGrpSpPr>
          <p:cNvPr id="93" name="Group 92" descr="graphical representation of a BST node to represent a symbol table">
            <a:extLst>
              <a:ext uri="{FF2B5EF4-FFF2-40B4-BE49-F238E27FC236}">
                <a16:creationId xmlns:a16="http://schemas.microsoft.com/office/drawing/2014/main" id="{7E925BC8-68E8-904B-8D2E-AFBDEA87562F}"/>
              </a:ext>
            </a:extLst>
          </p:cNvPr>
          <p:cNvGrpSpPr/>
          <p:nvPr/>
        </p:nvGrpSpPr>
        <p:grpSpPr>
          <a:xfrm>
            <a:off x="326100" y="4227818"/>
            <a:ext cx="4954608" cy="1293438"/>
            <a:chOff x="3647699" y="4607311"/>
            <a:chExt cx="4954608" cy="1293438"/>
          </a:xfrm>
        </p:grpSpPr>
        <p:sp>
          <p:nvSpPr>
            <p:cNvPr id="94" name="TextBox 93">
              <a:extLst>
                <a:ext uri="{FF2B5EF4-FFF2-40B4-BE49-F238E27FC236}">
                  <a16:creationId xmlns:a16="http://schemas.microsoft.com/office/drawing/2014/main" id="{BD18604B-3CAF-3340-9B71-3B274AC5C098}"/>
                </a:ext>
              </a:extLst>
            </p:cNvPr>
            <p:cNvSpPr txBox="1"/>
            <p:nvPr/>
          </p:nvSpPr>
          <p:spPr>
            <a:xfrm>
              <a:off x="5980705" y="4607311"/>
              <a:ext cx="582211"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node</a:t>
              </a:r>
            </a:p>
          </p:txBody>
        </p:sp>
        <p:sp>
          <p:nvSpPr>
            <p:cNvPr id="95" name="TextBox 94">
              <a:extLst>
                <a:ext uri="{FF2B5EF4-FFF2-40B4-BE49-F238E27FC236}">
                  <a16:creationId xmlns:a16="http://schemas.microsoft.com/office/drawing/2014/main" id="{8B451DFD-0BE9-BB4E-A81D-E89FF9FA4293}"/>
                </a:ext>
              </a:extLst>
            </p:cNvPr>
            <p:cNvSpPr txBox="1"/>
            <p:nvPr/>
          </p:nvSpPr>
          <p:spPr>
            <a:xfrm>
              <a:off x="4306584" y="4959066"/>
              <a:ext cx="463588"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key</a:t>
              </a:r>
            </a:p>
          </p:txBody>
        </p:sp>
        <p:sp>
          <p:nvSpPr>
            <p:cNvPr id="97" name="TextBox 96">
              <a:extLst>
                <a:ext uri="{FF2B5EF4-FFF2-40B4-BE49-F238E27FC236}">
                  <a16:creationId xmlns:a16="http://schemas.microsoft.com/office/drawing/2014/main" id="{3F337073-02BD-7647-9994-1309EC958525}"/>
                </a:ext>
              </a:extLst>
            </p:cNvPr>
            <p:cNvSpPr txBox="1"/>
            <p:nvPr/>
          </p:nvSpPr>
          <p:spPr>
            <a:xfrm>
              <a:off x="7104781" y="5562179"/>
              <a:ext cx="1497526"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link to right node</a:t>
              </a:r>
            </a:p>
          </p:txBody>
        </p:sp>
        <p:sp>
          <p:nvSpPr>
            <p:cNvPr id="100" name="Oval 99">
              <a:extLst>
                <a:ext uri="{FF2B5EF4-FFF2-40B4-BE49-F238E27FC236}">
                  <a16:creationId xmlns:a16="http://schemas.microsoft.com/office/drawing/2014/main" id="{CD9B7A0D-AC84-8649-B905-5B0BCC52CB31}"/>
                </a:ext>
              </a:extLst>
            </p:cNvPr>
            <p:cNvSpPr/>
            <p:nvPr/>
          </p:nvSpPr>
          <p:spPr>
            <a:xfrm flipH="1" flipV="1">
              <a:off x="5847193" y="5409287"/>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9" name="Straight Arrow Connector 118">
              <a:extLst>
                <a:ext uri="{FF2B5EF4-FFF2-40B4-BE49-F238E27FC236}">
                  <a16:creationId xmlns:a16="http://schemas.microsoft.com/office/drawing/2014/main" id="{155D9F61-2A27-CC41-A809-43786FBF1DB5}"/>
                </a:ext>
              </a:extLst>
            </p:cNvPr>
            <p:cNvCxnSpPr>
              <a:cxnSpLocks/>
              <a:stCxn id="129" idx="1"/>
              <a:endCxn id="123" idx="3"/>
            </p:cNvCxnSpPr>
            <p:nvPr/>
          </p:nvCxnSpPr>
          <p:spPr>
            <a:xfrm flipH="1">
              <a:off x="6913270" y="5107072"/>
              <a:ext cx="528111" cy="3166"/>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0" name="Straight Arrow Connector 119">
              <a:extLst>
                <a:ext uri="{FF2B5EF4-FFF2-40B4-BE49-F238E27FC236}">
                  <a16:creationId xmlns:a16="http://schemas.microsoft.com/office/drawing/2014/main" id="{F605DE42-D0E9-2744-9B22-70A92F61E70D}"/>
                </a:ext>
              </a:extLst>
            </p:cNvPr>
            <p:cNvCxnSpPr>
              <a:cxnSpLocks/>
              <a:stCxn id="97" idx="1"/>
            </p:cNvCxnSpPr>
            <p:nvPr/>
          </p:nvCxnSpPr>
          <p:spPr>
            <a:xfrm flipH="1" flipV="1">
              <a:off x="6660413" y="5489428"/>
              <a:ext cx="444368" cy="226640"/>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3" name="Rectangle 122">
              <a:extLst>
                <a:ext uri="{FF2B5EF4-FFF2-40B4-BE49-F238E27FC236}">
                  <a16:creationId xmlns:a16="http://schemas.microsoft.com/office/drawing/2014/main" id="{AD2A616F-695E-8842-BA26-993BD3884233}"/>
                </a:ext>
              </a:extLst>
            </p:cNvPr>
            <p:cNvSpPr/>
            <p:nvPr/>
          </p:nvSpPr>
          <p:spPr>
            <a:xfrm>
              <a:off x="5602524" y="4953183"/>
              <a:ext cx="1310746" cy="314110"/>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4" name="Rectangle 123">
              <a:extLst>
                <a:ext uri="{FF2B5EF4-FFF2-40B4-BE49-F238E27FC236}">
                  <a16:creationId xmlns:a16="http://schemas.microsoft.com/office/drawing/2014/main" id="{DC29DE05-4592-B642-A05E-037D06B6EB96}"/>
                </a:ext>
              </a:extLst>
            </p:cNvPr>
            <p:cNvSpPr/>
            <p:nvPr/>
          </p:nvSpPr>
          <p:spPr>
            <a:xfrm>
              <a:off x="5602523" y="5270467"/>
              <a:ext cx="1307045" cy="3354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5" name="Straight Connector 124">
              <a:extLst>
                <a:ext uri="{FF2B5EF4-FFF2-40B4-BE49-F238E27FC236}">
                  <a16:creationId xmlns:a16="http://schemas.microsoft.com/office/drawing/2014/main" id="{4BA57C07-E6BC-BD46-84EC-B4EA7AB13485}"/>
                </a:ext>
              </a:extLst>
            </p:cNvPr>
            <p:cNvCxnSpPr>
              <a:cxnSpLocks/>
              <a:stCxn id="123" idx="0"/>
              <a:endCxn id="124" idx="2"/>
            </p:cNvCxnSpPr>
            <p:nvPr/>
          </p:nvCxnSpPr>
          <p:spPr>
            <a:xfrm flipH="1">
              <a:off x="6256046" y="4953183"/>
              <a:ext cx="1851" cy="652733"/>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26" name="Oval 125">
              <a:extLst>
                <a:ext uri="{FF2B5EF4-FFF2-40B4-BE49-F238E27FC236}">
                  <a16:creationId xmlns:a16="http://schemas.microsoft.com/office/drawing/2014/main" id="{36206B97-72FD-0D44-9D2B-BF2F1CE8CA36}"/>
                </a:ext>
              </a:extLst>
            </p:cNvPr>
            <p:cNvSpPr/>
            <p:nvPr/>
          </p:nvSpPr>
          <p:spPr>
            <a:xfrm flipH="1" flipV="1">
              <a:off x="6579695" y="5402288"/>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TextBox 126">
              <a:extLst>
                <a:ext uri="{FF2B5EF4-FFF2-40B4-BE49-F238E27FC236}">
                  <a16:creationId xmlns:a16="http://schemas.microsoft.com/office/drawing/2014/main" id="{9B2728AA-2D0A-C342-8699-CFAFB9E00B66}"/>
                </a:ext>
              </a:extLst>
            </p:cNvPr>
            <p:cNvSpPr txBox="1"/>
            <p:nvPr/>
          </p:nvSpPr>
          <p:spPr>
            <a:xfrm>
              <a:off x="3647699" y="5592972"/>
              <a:ext cx="1388522"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link to left node</a:t>
              </a:r>
            </a:p>
          </p:txBody>
        </p:sp>
        <p:cxnSp>
          <p:nvCxnSpPr>
            <p:cNvPr id="128" name="Straight Arrow Connector 127">
              <a:extLst>
                <a:ext uri="{FF2B5EF4-FFF2-40B4-BE49-F238E27FC236}">
                  <a16:creationId xmlns:a16="http://schemas.microsoft.com/office/drawing/2014/main" id="{01A57229-C517-1740-A84A-BEBD7BB4CCAD}"/>
                </a:ext>
              </a:extLst>
            </p:cNvPr>
            <p:cNvCxnSpPr>
              <a:cxnSpLocks/>
              <a:stCxn id="127" idx="3"/>
            </p:cNvCxnSpPr>
            <p:nvPr/>
          </p:nvCxnSpPr>
          <p:spPr>
            <a:xfrm flipV="1">
              <a:off x="5036221" y="5486349"/>
              <a:ext cx="770826" cy="260512"/>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29" name="TextBox 128">
              <a:extLst>
                <a:ext uri="{FF2B5EF4-FFF2-40B4-BE49-F238E27FC236}">
                  <a16:creationId xmlns:a16="http://schemas.microsoft.com/office/drawing/2014/main" id="{127234C3-1BC2-2F4D-9D9E-358D7419E536}"/>
                </a:ext>
              </a:extLst>
            </p:cNvPr>
            <p:cNvSpPr txBox="1"/>
            <p:nvPr/>
          </p:nvSpPr>
          <p:spPr>
            <a:xfrm>
              <a:off x="7441381" y="4953183"/>
              <a:ext cx="612668"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value</a:t>
              </a:r>
            </a:p>
          </p:txBody>
        </p:sp>
        <p:cxnSp>
          <p:nvCxnSpPr>
            <p:cNvPr id="130" name="Straight Arrow Connector 129">
              <a:extLst>
                <a:ext uri="{FF2B5EF4-FFF2-40B4-BE49-F238E27FC236}">
                  <a16:creationId xmlns:a16="http://schemas.microsoft.com/office/drawing/2014/main" id="{3BC2C319-D748-E747-A17C-944936482A33}"/>
                </a:ext>
              </a:extLst>
            </p:cNvPr>
            <p:cNvCxnSpPr>
              <a:cxnSpLocks/>
              <a:stCxn id="95" idx="3"/>
            </p:cNvCxnSpPr>
            <p:nvPr/>
          </p:nvCxnSpPr>
          <p:spPr>
            <a:xfrm flipV="1">
              <a:off x="4770172" y="5107071"/>
              <a:ext cx="679156" cy="5884"/>
            </a:xfrm>
            <a:prstGeom prst="straightConnector1">
              <a:avLst/>
            </a:prstGeom>
            <a:ln w="22225">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7" name="Group 16" descr="graphical representation of a BST representing a symbol table">
            <a:extLst>
              <a:ext uri="{FF2B5EF4-FFF2-40B4-BE49-F238E27FC236}">
                <a16:creationId xmlns:a16="http://schemas.microsoft.com/office/drawing/2014/main" id="{0741550F-C4E4-B844-95C2-4A2C4FAEE5A2}"/>
              </a:ext>
            </a:extLst>
          </p:cNvPr>
          <p:cNvGrpSpPr/>
          <p:nvPr/>
        </p:nvGrpSpPr>
        <p:grpSpPr>
          <a:xfrm>
            <a:off x="6420201" y="3641448"/>
            <a:ext cx="5404782" cy="3024748"/>
            <a:chOff x="6420201" y="3641448"/>
            <a:chExt cx="5404782" cy="3024748"/>
          </a:xfrm>
        </p:grpSpPr>
        <p:grpSp>
          <p:nvGrpSpPr>
            <p:cNvPr id="59" name="Group 58">
              <a:extLst>
                <a:ext uri="{FF2B5EF4-FFF2-40B4-BE49-F238E27FC236}">
                  <a16:creationId xmlns:a16="http://schemas.microsoft.com/office/drawing/2014/main" id="{D4ED3582-5512-864D-A889-3418207EBD1A}"/>
                </a:ext>
              </a:extLst>
            </p:cNvPr>
            <p:cNvGrpSpPr/>
            <p:nvPr/>
          </p:nvGrpSpPr>
          <p:grpSpPr>
            <a:xfrm>
              <a:off x="8529495" y="3641448"/>
              <a:ext cx="2697272" cy="1454159"/>
              <a:chOff x="5602523" y="4579867"/>
              <a:chExt cx="2697272" cy="1454159"/>
            </a:xfrm>
          </p:grpSpPr>
          <p:sp>
            <p:nvSpPr>
              <p:cNvPr id="62" name="TextBox 61">
                <a:extLst>
                  <a:ext uri="{FF2B5EF4-FFF2-40B4-BE49-F238E27FC236}">
                    <a16:creationId xmlns:a16="http://schemas.microsoft.com/office/drawing/2014/main" id="{FC07398E-0A9F-9946-8CFD-8A8ECB31DA48}"/>
                  </a:ext>
                </a:extLst>
              </p:cNvPr>
              <p:cNvSpPr txBox="1"/>
              <p:nvPr/>
            </p:nvSpPr>
            <p:spPr>
              <a:xfrm>
                <a:off x="5932254" y="4579867"/>
                <a:ext cx="534121" cy="307777"/>
              </a:xfrm>
              <a:prstGeom prst="rect">
                <a:avLst/>
              </a:prstGeom>
              <a:noFill/>
            </p:spPr>
            <p:txBody>
              <a:bodyPr wrap="none" rtlCol="0">
                <a:spAutoFit/>
              </a:bodyPr>
              <a:lstStyle/>
              <a:p>
                <a:r>
                  <a:rPr lang="en-US" sz="1400" dirty="0">
                    <a:latin typeface="Arial" panose="020B0604020202020204" pitchFamily="34" charset="0"/>
                    <a:cs typeface="Arial" panose="020B0604020202020204" pitchFamily="34" charset="0"/>
                  </a:rPr>
                  <a:t>BST</a:t>
                </a:r>
              </a:p>
            </p:txBody>
          </p:sp>
          <p:sp>
            <p:nvSpPr>
              <p:cNvPr id="63" name="TextBox 62">
                <a:extLst>
                  <a:ext uri="{FF2B5EF4-FFF2-40B4-BE49-F238E27FC236}">
                    <a16:creationId xmlns:a16="http://schemas.microsoft.com/office/drawing/2014/main" id="{AC9707FA-A235-794D-8B9A-4F62B77A8E42}"/>
                  </a:ext>
                </a:extLst>
              </p:cNvPr>
              <p:cNvSpPr txBox="1"/>
              <p:nvPr/>
            </p:nvSpPr>
            <p:spPr>
              <a:xfrm>
                <a:off x="7239889" y="5510806"/>
                <a:ext cx="1059906"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BST with </a:t>
                </a:r>
              </a:p>
              <a:p>
                <a:pPr algn="ctr"/>
                <a:r>
                  <a:rPr lang="en-US" sz="1400" dirty="0">
                    <a:latin typeface="Arial" panose="020B0604020202020204" pitchFamily="34" charset="0"/>
                    <a:cs typeface="Arial" panose="020B0604020202020204" pitchFamily="34" charset="0"/>
                  </a:rPr>
                  <a:t>larger keys</a:t>
                </a:r>
              </a:p>
            </p:txBody>
          </p:sp>
          <p:sp>
            <p:nvSpPr>
              <p:cNvPr id="67" name="Oval 66">
                <a:extLst>
                  <a:ext uri="{FF2B5EF4-FFF2-40B4-BE49-F238E27FC236}">
                    <a16:creationId xmlns:a16="http://schemas.microsoft.com/office/drawing/2014/main" id="{7E2C1CC0-5CDE-9A40-87D5-343EC4A34182}"/>
                  </a:ext>
                </a:extLst>
              </p:cNvPr>
              <p:cNvSpPr/>
              <p:nvPr/>
            </p:nvSpPr>
            <p:spPr>
              <a:xfrm flipH="1" flipV="1">
                <a:off x="5847193" y="5409287"/>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11719ED7-D462-FB43-B808-E241EE294BD3}"/>
                  </a:ext>
                </a:extLst>
              </p:cNvPr>
              <p:cNvSpPr/>
              <p:nvPr/>
            </p:nvSpPr>
            <p:spPr>
              <a:xfrm>
                <a:off x="5606224" y="4931844"/>
                <a:ext cx="1307045" cy="3354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a:extLst>
                  <a:ext uri="{FF2B5EF4-FFF2-40B4-BE49-F238E27FC236}">
                    <a16:creationId xmlns:a16="http://schemas.microsoft.com/office/drawing/2014/main" id="{92E65CDD-0A7C-AB44-9313-4FA1E634D54A}"/>
                  </a:ext>
                </a:extLst>
              </p:cNvPr>
              <p:cNvSpPr/>
              <p:nvPr/>
            </p:nvSpPr>
            <p:spPr>
              <a:xfrm>
                <a:off x="5602523" y="5270467"/>
                <a:ext cx="1307045" cy="3354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1" name="Straight Connector 90">
                <a:extLst>
                  <a:ext uri="{FF2B5EF4-FFF2-40B4-BE49-F238E27FC236}">
                    <a16:creationId xmlns:a16="http://schemas.microsoft.com/office/drawing/2014/main" id="{CB9E960A-1D58-654F-BD40-34155DF83556}"/>
                  </a:ext>
                </a:extLst>
              </p:cNvPr>
              <p:cNvCxnSpPr>
                <a:cxnSpLocks/>
                <a:stCxn id="71" idx="0"/>
                <a:endCxn id="90" idx="2"/>
              </p:cNvCxnSpPr>
              <p:nvPr/>
            </p:nvCxnSpPr>
            <p:spPr>
              <a:xfrm flipH="1">
                <a:off x="6256046" y="4931844"/>
                <a:ext cx="3701" cy="674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2" name="Oval 91">
                <a:extLst>
                  <a:ext uri="{FF2B5EF4-FFF2-40B4-BE49-F238E27FC236}">
                    <a16:creationId xmlns:a16="http://schemas.microsoft.com/office/drawing/2014/main" id="{9AE1C755-A790-6545-B70E-7D478A127845}"/>
                  </a:ext>
                </a:extLst>
              </p:cNvPr>
              <p:cNvSpPr/>
              <p:nvPr/>
            </p:nvSpPr>
            <p:spPr>
              <a:xfrm flipH="1" flipV="1">
                <a:off x="6579695" y="5402288"/>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1" name="Group 10">
              <a:extLst>
                <a:ext uri="{FF2B5EF4-FFF2-40B4-BE49-F238E27FC236}">
                  <a16:creationId xmlns:a16="http://schemas.microsoft.com/office/drawing/2014/main" id="{1A7C4382-31D5-2F44-A924-B14370B36AAF}"/>
                </a:ext>
              </a:extLst>
            </p:cNvPr>
            <p:cNvGrpSpPr/>
            <p:nvPr/>
          </p:nvGrpSpPr>
          <p:grpSpPr>
            <a:xfrm>
              <a:off x="9633588" y="5346699"/>
              <a:ext cx="1310746" cy="674072"/>
              <a:chOff x="10420069" y="5224144"/>
              <a:chExt cx="1310746" cy="674072"/>
            </a:xfrm>
          </p:grpSpPr>
          <p:sp>
            <p:nvSpPr>
              <p:cNvPr id="107" name="Oval 106">
                <a:extLst>
                  <a:ext uri="{FF2B5EF4-FFF2-40B4-BE49-F238E27FC236}">
                    <a16:creationId xmlns:a16="http://schemas.microsoft.com/office/drawing/2014/main" id="{41EADD6E-506F-1A42-9BFD-4F83AE168341}"/>
                  </a:ext>
                </a:extLst>
              </p:cNvPr>
              <p:cNvSpPr/>
              <p:nvPr/>
            </p:nvSpPr>
            <p:spPr>
              <a:xfrm flipH="1" flipV="1">
                <a:off x="10664739" y="5701587"/>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Rectangle 107">
                <a:extLst>
                  <a:ext uri="{FF2B5EF4-FFF2-40B4-BE49-F238E27FC236}">
                    <a16:creationId xmlns:a16="http://schemas.microsoft.com/office/drawing/2014/main" id="{70540369-E442-4246-94F6-526B958E0300}"/>
                  </a:ext>
                </a:extLst>
              </p:cNvPr>
              <p:cNvSpPr/>
              <p:nvPr/>
            </p:nvSpPr>
            <p:spPr>
              <a:xfrm>
                <a:off x="10423770" y="5224144"/>
                <a:ext cx="1307045" cy="3354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Rectangle 108">
                <a:extLst>
                  <a:ext uri="{FF2B5EF4-FFF2-40B4-BE49-F238E27FC236}">
                    <a16:creationId xmlns:a16="http://schemas.microsoft.com/office/drawing/2014/main" id="{A318F4E3-EBF5-DE49-8E51-582B94D42E95}"/>
                  </a:ext>
                </a:extLst>
              </p:cNvPr>
              <p:cNvSpPr/>
              <p:nvPr/>
            </p:nvSpPr>
            <p:spPr>
              <a:xfrm>
                <a:off x="10420069" y="5562767"/>
                <a:ext cx="1307045" cy="3354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a:extLst>
                  <a:ext uri="{FF2B5EF4-FFF2-40B4-BE49-F238E27FC236}">
                    <a16:creationId xmlns:a16="http://schemas.microsoft.com/office/drawing/2014/main" id="{C4A0F34E-C1F7-4243-9ECA-3D3C5B28AB16}"/>
                  </a:ext>
                </a:extLst>
              </p:cNvPr>
              <p:cNvCxnSpPr>
                <a:cxnSpLocks/>
                <a:stCxn id="108" idx="0"/>
                <a:endCxn id="109" idx="2"/>
              </p:cNvCxnSpPr>
              <p:nvPr/>
            </p:nvCxnSpPr>
            <p:spPr>
              <a:xfrm flipH="1">
                <a:off x="11073592" y="5224144"/>
                <a:ext cx="3701" cy="67407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1" name="Oval 110">
                <a:extLst>
                  <a:ext uri="{FF2B5EF4-FFF2-40B4-BE49-F238E27FC236}">
                    <a16:creationId xmlns:a16="http://schemas.microsoft.com/office/drawing/2014/main" id="{94FBAC36-3814-5040-82A2-3879D163D012}"/>
                  </a:ext>
                </a:extLst>
              </p:cNvPr>
              <p:cNvSpPr/>
              <p:nvPr/>
            </p:nvSpPr>
            <p:spPr>
              <a:xfrm flipH="1" flipV="1">
                <a:off x="11397241" y="5694588"/>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ED6E27E6-F31C-FC4D-AD94-A63E1AA77F3D}"/>
                </a:ext>
              </a:extLst>
            </p:cNvPr>
            <p:cNvGrpSpPr/>
            <p:nvPr/>
          </p:nvGrpSpPr>
          <p:grpSpPr>
            <a:xfrm>
              <a:off x="7135977" y="5332745"/>
              <a:ext cx="1310579" cy="671916"/>
              <a:chOff x="7000832" y="5165563"/>
              <a:chExt cx="1310579" cy="671916"/>
            </a:xfrm>
          </p:grpSpPr>
          <p:sp>
            <p:nvSpPr>
              <p:cNvPr id="96" name="Oval 95">
                <a:extLst>
                  <a:ext uri="{FF2B5EF4-FFF2-40B4-BE49-F238E27FC236}">
                    <a16:creationId xmlns:a16="http://schemas.microsoft.com/office/drawing/2014/main" id="{FC1A6D06-EEB3-604A-B21A-8872AD6F300D}"/>
                  </a:ext>
                </a:extLst>
              </p:cNvPr>
              <p:cNvSpPr/>
              <p:nvPr/>
            </p:nvSpPr>
            <p:spPr>
              <a:xfrm flipH="1" flipV="1">
                <a:off x="7249036" y="5640850"/>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a:extLst>
                  <a:ext uri="{FF2B5EF4-FFF2-40B4-BE49-F238E27FC236}">
                    <a16:creationId xmlns:a16="http://schemas.microsoft.com/office/drawing/2014/main" id="{9438722E-1A53-8C48-9B95-E33DF947AD0E}"/>
                  </a:ext>
                </a:extLst>
              </p:cNvPr>
              <p:cNvSpPr/>
              <p:nvPr/>
            </p:nvSpPr>
            <p:spPr>
              <a:xfrm>
                <a:off x="7004366" y="5502030"/>
                <a:ext cx="1307045" cy="3354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FB2CEA90-CDB2-9940-8F08-CDCF7C1BE8FD}"/>
                  </a:ext>
                </a:extLst>
              </p:cNvPr>
              <p:cNvCxnSpPr>
                <a:cxnSpLocks/>
                <a:stCxn id="112" idx="0"/>
                <a:endCxn id="98" idx="2"/>
              </p:cNvCxnSpPr>
              <p:nvPr/>
            </p:nvCxnSpPr>
            <p:spPr>
              <a:xfrm>
                <a:off x="7654355" y="5165563"/>
                <a:ext cx="3534" cy="671916"/>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Oval 104">
                <a:extLst>
                  <a:ext uri="{FF2B5EF4-FFF2-40B4-BE49-F238E27FC236}">
                    <a16:creationId xmlns:a16="http://schemas.microsoft.com/office/drawing/2014/main" id="{B1D3EDA5-04CA-6F4E-BD2B-7A2B9B282688}"/>
                  </a:ext>
                </a:extLst>
              </p:cNvPr>
              <p:cNvSpPr/>
              <p:nvPr/>
            </p:nvSpPr>
            <p:spPr>
              <a:xfrm flipH="1" flipV="1">
                <a:off x="7981538" y="5633851"/>
                <a:ext cx="85061" cy="77062"/>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a:extLst>
                  <a:ext uri="{FF2B5EF4-FFF2-40B4-BE49-F238E27FC236}">
                    <a16:creationId xmlns:a16="http://schemas.microsoft.com/office/drawing/2014/main" id="{86F10543-ADAA-8F4B-87FF-2A813EB84561}"/>
                  </a:ext>
                </a:extLst>
              </p:cNvPr>
              <p:cNvSpPr/>
              <p:nvPr/>
            </p:nvSpPr>
            <p:spPr>
              <a:xfrm>
                <a:off x="7000832" y="5165563"/>
                <a:ext cx="1307045" cy="335449"/>
              </a:xfrm>
              <a:prstGeom prst="rect">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6" name="Straight Connector 5">
              <a:extLst>
                <a:ext uri="{FF2B5EF4-FFF2-40B4-BE49-F238E27FC236}">
                  <a16:creationId xmlns:a16="http://schemas.microsoft.com/office/drawing/2014/main" id="{14E2CFA4-7847-1643-A288-884F54BE567D}"/>
                </a:ext>
              </a:extLst>
            </p:cNvPr>
            <p:cNvCxnSpPr>
              <a:stCxn id="67" idx="7"/>
              <a:endCxn id="112" idx="0"/>
            </p:cNvCxnSpPr>
            <p:nvPr/>
          </p:nvCxnSpPr>
          <p:spPr>
            <a:xfrm flipH="1">
              <a:off x="7789500" y="4536645"/>
              <a:ext cx="997122" cy="79610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0C2CFFE-424A-0C4F-AD3F-9D690A44C169}"/>
                </a:ext>
              </a:extLst>
            </p:cNvPr>
            <p:cNvCxnSpPr>
              <a:cxnSpLocks/>
              <a:stCxn id="92" idx="0"/>
              <a:endCxn id="108" idx="0"/>
            </p:cNvCxnSpPr>
            <p:nvPr/>
          </p:nvCxnSpPr>
          <p:spPr>
            <a:xfrm>
              <a:off x="9549197" y="4540931"/>
              <a:ext cx="741615" cy="8057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14" name="TextBox 113">
              <a:extLst>
                <a:ext uri="{FF2B5EF4-FFF2-40B4-BE49-F238E27FC236}">
                  <a16:creationId xmlns:a16="http://schemas.microsoft.com/office/drawing/2014/main" id="{3568E521-2B8F-3D49-803A-1A77E9B51AF2}"/>
                </a:ext>
              </a:extLst>
            </p:cNvPr>
            <p:cNvSpPr txBox="1"/>
            <p:nvPr/>
          </p:nvSpPr>
          <p:spPr>
            <a:xfrm>
              <a:off x="6895092" y="4582451"/>
              <a:ext cx="1180131" cy="523220"/>
            </a:xfrm>
            <a:prstGeom prst="rect">
              <a:avLst/>
            </a:prstGeom>
            <a:noFill/>
          </p:spPr>
          <p:txBody>
            <a:bodyPr wrap="none" rtlCol="0">
              <a:spAutoFit/>
            </a:bodyPr>
            <a:lstStyle/>
            <a:p>
              <a:pPr algn="ctr"/>
              <a:r>
                <a:rPr lang="en-US" sz="1400" dirty="0">
                  <a:latin typeface="Arial" panose="020B0604020202020204" pitchFamily="34" charset="0"/>
                  <a:cs typeface="Arial" panose="020B0604020202020204" pitchFamily="34" charset="0"/>
                </a:rPr>
                <a:t>BST with </a:t>
              </a:r>
            </a:p>
            <a:p>
              <a:pPr algn="ctr"/>
              <a:r>
                <a:rPr lang="en-US" sz="1400" dirty="0">
                  <a:latin typeface="Arial" panose="020B0604020202020204" pitchFamily="34" charset="0"/>
                  <a:cs typeface="Arial" panose="020B0604020202020204" pitchFamily="34" charset="0"/>
                </a:rPr>
                <a:t>smaller keys</a:t>
              </a:r>
            </a:p>
          </p:txBody>
        </p:sp>
        <p:cxnSp>
          <p:nvCxnSpPr>
            <p:cNvPr id="115" name="Straight Connector 114">
              <a:extLst>
                <a:ext uri="{FF2B5EF4-FFF2-40B4-BE49-F238E27FC236}">
                  <a16:creationId xmlns:a16="http://schemas.microsoft.com/office/drawing/2014/main" id="{83C5E44B-3F85-8F4B-AEC7-0F87829F1AD8}"/>
                </a:ext>
              </a:extLst>
            </p:cNvPr>
            <p:cNvCxnSpPr>
              <a:cxnSpLocks/>
            </p:cNvCxnSpPr>
            <p:nvPr/>
          </p:nvCxnSpPr>
          <p:spPr>
            <a:xfrm flipH="1">
              <a:off x="6971494" y="6018381"/>
              <a:ext cx="372250" cy="3504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225BBA2D-BA11-3440-84B7-074123C82A5E}"/>
                </a:ext>
              </a:extLst>
            </p:cNvPr>
            <p:cNvCxnSpPr>
              <a:cxnSpLocks/>
            </p:cNvCxnSpPr>
            <p:nvPr/>
          </p:nvCxnSpPr>
          <p:spPr>
            <a:xfrm>
              <a:off x="8156919" y="6000962"/>
              <a:ext cx="293171" cy="3465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441627B-3722-B044-AD90-83D9535E7DE1}"/>
                </a:ext>
              </a:extLst>
            </p:cNvPr>
            <p:cNvCxnSpPr>
              <a:cxnSpLocks/>
            </p:cNvCxnSpPr>
            <p:nvPr/>
          </p:nvCxnSpPr>
          <p:spPr>
            <a:xfrm flipH="1">
              <a:off x="9501254" y="6028887"/>
              <a:ext cx="372250" cy="3504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FC71B217-EB12-9840-9C99-AEBE5D2F797F}"/>
                </a:ext>
              </a:extLst>
            </p:cNvPr>
            <p:cNvCxnSpPr>
              <a:cxnSpLocks/>
            </p:cNvCxnSpPr>
            <p:nvPr/>
          </p:nvCxnSpPr>
          <p:spPr>
            <a:xfrm>
              <a:off x="10686679" y="6011468"/>
              <a:ext cx="293171" cy="34651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rapezium 15">
              <a:extLst>
                <a:ext uri="{FF2B5EF4-FFF2-40B4-BE49-F238E27FC236}">
                  <a16:creationId xmlns:a16="http://schemas.microsoft.com/office/drawing/2014/main" id="{E782EA88-E977-2343-9283-C99BE8113100}"/>
                </a:ext>
              </a:extLst>
            </p:cNvPr>
            <p:cNvSpPr/>
            <p:nvPr/>
          </p:nvSpPr>
          <p:spPr>
            <a:xfrm>
              <a:off x="6420201" y="3657029"/>
              <a:ext cx="5404782" cy="3009167"/>
            </a:xfrm>
            <a:prstGeom prst="trapezoid">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Trapezium 120">
              <a:extLst>
                <a:ext uri="{FF2B5EF4-FFF2-40B4-BE49-F238E27FC236}">
                  <a16:creationId xmlns:a16="http://schemas.microsoft.com/office/drawing/2014/main" id="{E4152015-08F2-BF4F-B20A-E592F07608CC}"/>
                </a:ext>
              </a:extLst>
            </p:cNvPr>
            <p:cNvSpPr/>
            <p:nvPr/>
          </p:nvSpPr>
          <p:spPr>
            <a:xfrm>
              <a:off x="6597897" y="5125366"/>
              <a:ext cx="2337324" cy="1422652"/>
            </a:xfrm>
            <a:prstGeom prst="trapezoid">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Trapezium 121">
              <a:extLst>
                <a:ext uri="{FF2B5EF4-FFF2-40B4-BE49-F238E27FC236}">
                  <a16:creationId xmlns:a16="http://schemas.microsoft.com/office/drawing/2014/main" id="{990AA1FB-4FA7-C14A-98DC-EBD3FF00A978}"/>
                </a:ext>
              </a:extLst>
            </p:cNvPr>
            <p:cNvSpPr/>
            <p:nvPr/>
          </p:nvSpPr>
          <p:spPr>
            <a:xfrm>
              <a:off x="9114054" y="5122933"/>
              <a:ext cx="2337324" cy="1422652"/>
            </a:xfrm>
            <a:prstGeom prst="trapezoid">
              <a:avLst/>
            </a:prstGeom>
            <a:noFill/>
            <a:ln w="285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63923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C1FC9-D167-FA4A-9CCF-428BDDB06061}"/>
              </a:ext>
            </a:extLst>
          </p:cNvPr>
          <p:cNvSpPr>
            <a:spLocks noGrp="1"/>
          </p:cNvSpPr>
          <p:nvPr>
            <p:ph type="title"/>
          </p:nvPr>
        </p:nvSpPr>
        <p:spPr/>
        <p:txBody>
          <a:bodyPr/>
          <a:lstStyle/>
          <a:p>
            <a:r>
              <a:rPr lang="en-US" dirty="0"/>
              <a:t>BST IMPLEMENTATION – GET(search)</a:t>
            </a:r>
          </a:p>
        </p:txBody>
      </p:sp>
      <p:sp>
        <p:nvSpPr>
          <p:cNvPr id="3" name="Content Placeholder 2">
            <a:extLst>
              <a:ext uri="{FF2B5EF4-FFF2-40B4-BE49-F238E27FC236}">
                <a16:creationId xmlns:a16="http://schemas.microsoft.com/office/drawing/2014/main" id="{CBE0015E-23B7-FA45-8A1C-108A03FA0208}"/>
              </a:ext>
            </a:extLst>
          </p:cNvPr>
          <p:cNvSpPr>
            <a:spLocks noGrp="1"/>
          </p:cNvSpPr>
          <p:nvPr>
            <p:ph idx="1"/>
          </p:nvPr>
        </p:nvSpPr>
        <p:spPr/>
        <p:txBody>
          <a:bodyPr/>
          <a:lstStyle/>
          <a:p>
            <a:r>
              <a:rPr lang="en-US" dirty="0"/>
              <a:t>Get(key): </a:t>
            </a:r>
          </a:p>
          <a:p>
            <a:pPr lvl="1"/>
            <a:r>
              <a:rPr lang="en-US" dirty="0"/>
              <a:t>If key == </a:t>
            </a:r>
            <a:r>
              <a:rPr lang="en-US" dirty="0" err="1"/>
              <a:t>node.key</a:t>
            </a:r>
            <a:r>
              <a:rPr lang="en-US" dirty="0"/>
              <a:t>, hit</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r>
              <a:rPr lang="en-US" dirty="0"/>
              <a:t>Example</a:t>
            </a:r>
          </a:p>
          <a:p>
            <a:pPr lvl="1"/>
            <a:r>
              <a:rPr lang="en-US" dirty="0"/>
              <a:t>Successful search for H</a:t>
            </a:r>
          </a:p>
        </p:txBody>
      </p:sp>
      <p:grpSp>
        <p:nvGrpSpPr>
          <p:cNvPr id="4" name="Group 3" descr="demo of successful search for key in BST">
            <a:extLst>
              <a:ext uri="{FF2B5EF4-FFF2-40B4-BE49-F238E27FC236}">
                <a16:creationId xmlns:a16="http://schemas.microsoft.com/office/drawing/2014/main" id="{4DEB8D05-87FA-AE4C-908E-7877AE1BD035}"/>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CEC54813-F1FE-F743-AF57-B294CAAF3C4F}"/>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E4FC6086-2B72-BC45-BF88-89DB0B5E9AFD}"/>
                </a:ext>
              </a:extLst>
            </p:cNvPr>
            <p:cNvSpPr/>
            <p:nvPr/>
          </p:nvSpPr>
          <p:spPr>
            <a:xfrm>
              <a:off x="7774242" y="3324591"/>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901AC237-5333-9E43-8621-603D23D69038}"/>
                </a:ext>
              </a:extLst>
            </p:cNvPr>
            <p:cNvCxnSpPr>
              <a:cxnSpLocks/>
              <a:stCxn id="6" idx="3"/>
              <a:endCxn id="34" idx="0"/>
            </p:cNvCxnSpPr>
            <p:nvPr/>
          </p:nvCxnSpPr>
          <p:spPr>
            <a:xfrm flipH="1">
              <a:off x="7030774" y="3620639"/>
              <a:ext cx="790414" cy="27121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4558E56E-B405-2542-AC6A-4C9E4DA113C8}"/>
                </a:ext>
              </a:extLst>
            </p:cNvPr>
            <p:cNvGrpSpPr/>
            <p:nvPr/>
          </p:nvGrpSpPr>
          <p:grpSpPr>
            <a:xfrm>
              <a:off x="6090548" y="3891858"/>
              <a:ext cx="1730640" cy="636744"/>
              <a:chOff x="3429450" y="3492063"/>
              <a:chExt cx="1730640" cy="636744"/>
            </a:xfrm>
          </p:grpSpPr>
          <p:sp>
            <p:nvSpPr>
              <p:cNvPr id="34" name="Oval 33">
                <a:extLst>
                  <a:ext uri="{FF2B5EF4-FFF2-40B4-BE49-F238E27FC236}">
                    <a16:creationId xmlns:a16="http://schemas.microsoft.com/office/drawing/2014/main" id="{EF692EAD-5177-E24F-B825-A75DAA7A390A}"/>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35" name="Straight Connector 34">
                <a:extLst>
                  <a:ext uri="{FF2B5EF4-FFF2-40B4-BE49-F238E27FC236}">
                    <a16:creationId xmlns:a16="http://schemas.microsoft.com/office/drawing/2014/main" id="{26B642FE-497E-BF43-8A45-3F7D656FEC00}"/>
                  </a:ext>
                </a:extLst>
              </p:cNvPr>
              <p:cNvCxnSpPr>
                <a:cxnSpLocks/>
                <a:stCxn id="34"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2716482-E2AD-B847-B2E5-3778318E5BAB}"/>
                  </a:ext>
                </a:extLst>
              </p:cNvPr>
              <p:cNvCxnSpPr>
                <a:cxnSpLocks/>
                <a:stCxn id="34" idx="5"/>
                <a:endCxn id="11" idx="1"/>
              </p:cNvCxnSpPr>
              <p:nvPr/>
            </p:nvCxnSpPr>
            <p:spPr>
              <a:xfrm>
                <a:off x="4483013" y="3788111"/>
                <a:ext cx="677077" cy="3406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31E1D2CA-7F68-5842-9C96-9B4D6F2C6145}"/>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CC457E64-BACC-D947-9F53-3D624AE2F401}"/>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C19EF0AA-AB31-554D-ABEC-849CD2267B79}"/>
                </a:ext>
              </a:extLst>
            </p:cNvPr>
            <p:cNvSpPr/>
            <p:nvPr/>
          </p:nvSpPr>
          <p:spPr>
            <a:xfrm>
              <a:off x="7774242"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46AF0C8A-626D-5840-9920-38BE2ABA54B2}"/>
                </a:ext>
              </a:extLst>
            </p:cNvPr>
            <p:cNvGrpSpPr/>
            <p:nvPr/>
          </p:nvGrpSpPr>
          <p:grpSpPr>
            <a:xfrm>
              <a:off x="7304394" y="3620639"/>
              <a:ext cx="1919174" cy="1511852"/>
              <a:chOff x="2610785" y="3178812"/>
              <a:chExt cx="1919174" cy="1511852"/>
            </a:xfrm>
          </p:grpSpPr>
          <p:sp>
            <p:nvSpPr>
              <p:cNvPr id="31" name="Oval 30">
                <a:extLst>
                  <a:ext uri="{FF2B5EF4-FFF2-40B4-BE49-F238E27FC236}">
                    <a16:creationId xmlns:a16="http://schemas.microsoft.com/office/drawing/2014/main" id="{FF110FEA-957B-0445-85A1-A4F65FB1C8BE}"/>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32" name="Straight Connector 31">
                <a:extLst>
                  <a:ext uri="{FF2B5EF4-FFF2-40B4-BE49-F238E27FC236}">
                    <a16:creationId xmlns:a16="http://schemas.microsoft.com/office/drawing/2014/main" id="{4A868108-182C-694D-ACA6-339BE579603E}"/>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4AF3DC9-8AA5-4549-8157-E0B1D25335E5}"/>
                  </a:ext>
                </a:extLst>
              </p:cNvPr>
              <p:cNvCxnSpPr>
                <a:cxnSpLocks/>
                <a:stCxn id="6" idx="5"/>
                <a:endCxn id="31"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EE66FFA4-467E-334E-90FD-61CC058493DB}"/>
                </a:ext>
              </a:extLst>
            </p:cNvPr>
            <p:cNvSpPr txBox="1"/>
            <p:nvPr/>
          </p:nvSpPr>
          <p:spPr>
            <a:xfrm>
              <a:off x="4731026" y="3175362"/>
              <a:ext cx="825867"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get(H)</a:t>
              </a:r>
            </a:p>
          </p:txBody>
        </p:sp>
        <p:cxnSp>
          <p:nvCxnSpPr>
            <p:cNvPr id="19" name="Straight Connector 18">
              <a:extLst>
                <a:ext uri="{FF2B5EF4-FFF2-40B4-BE49-F238E27FC236}">
                  <a16:creationId xmlns:a16="http://schemas.microsoft.com/office/drawing/2014/main" id="{2303AAF7-F2A1-8843-BA01-4AA7DFB7483E}"/>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31C5B45-5446-2743-A3DA-805E9CFDB68C}"/>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951B80C-A3E0-FE49-881A-D272D54C0B82}"/>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0C3DF75-ADD7-8A4A-A989-127C45EE55EE}"/>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1977093-65D7-CE4F-A548-C356EBCD654E}"/>
                </a:ext>
              </a:extLst>
            </p:cNvPr>
            <p:cNvCxnSpPr>
              <a:cxnSpLocks/>
              <a:stCxn id="31"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5A3B5D8-66CD-6B47-B5E7-86A39C42814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221A422-0134-5741-AF41-6442096813B0}"/>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9DF6D2-AE0A-E549-A8B8-5A19998F5F65}"/>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854099-18D2-FF4A-BFA2-2B91BD4136F8}"/>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5777950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C1FC9-D167-FA4A-9CCF-428BDDB06061}"/>
              </a:ext>
            </a:extLst>
          </p:cNvPr>
          <p:cNvSpPr>
            <a:spLocks noGrp="1"/>
          </p:cNvSpPr>
          <p:nvPr>
            <p:ph type="title"/>
          </p:nvPr>
        </p:nvSpPr>
        <p:spPr/>
        <p:txBody>
          <a:bodyPr/>
          <a:lstStyle/>
          <a:p>
            <a:r>
              <a:rPr lang="en-US" dirty="0"/>
              <a:t>BST IMPLEMENTATION – GET(search)</a:t>
            </a:r>
          </a:p>
        </p:txBody>
      </p:sp>
      <p:sp>
        <p:nvSpPr>
          <p:cNvPr id="3" name="Content Placeholder 2">
            <a:extLst>
              <a:ext uri="{FF2B5EF4-FFF2-40B4-BE49-F238E27FC236}">
                <a16:creationId xmlns:a16="http://schemas.microsoft.com/office/drawing/2014/main" id="{CBE0015E-23B7-FA45-8A1C-108A03FA0208}"/>
              </a:ext>
            </a:extLst>
          </p:cNvPr>
          <p:cNvSpPr>
            <a:spLocks noGrp="1"/>
          </p:cNvSpPr>
          <p:nvPr>
            <p:ph idx="1"/>
          </p:nvPr>
        </p:nvSpPr>
        <p:spPr/>
        <p:txBody>
          <a:bodyPr/>
          <a:lstStyle/>
          <a:p>
            <a:r>
              <a:rPr lang="en-US" dirty="0"/>
              <a:t>Get(key): </a:t>
            </a:r>
          </a:p>
          <a:p>
            <a:pPr lvl="1"/>
            <a:r>
              <a:rPr lang="en-US" dirty="0"/>
              <a:t>If key == </a:t>
            </a:r>
            <a:r>
              <a:rPr lang="en-US" dirty="0" err="1"/>
              <a:t>node.key</a:t>
            </a:r>
            <a:r>
              <a:rPr lang="en-US" dirty="0"/>
              <a:t>, hit</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r>
              <a:rPr lang="en-US" dirty="0"/>
              <a:t>Example</a:t>
            </a:r>
          </a:p>
          <a:p>
            <a:pPr lvl="1"/>
            <a:r>
              <a:rPr lang="en-US" dirty="0"/>
              <a:t>Successful search for H</a:t>
            </a:r>
          </a:p>
        </p:txBody>
      </p:sp>
      <p:grpSp>
        <p:nvGrpSpPr>
          <p:cNvPr id="4" name="Group 3" descr="demo of successful search for key in BST">
            <a:extLst>
              <a:ext uri="{FF2B5EF4-FFF2-40B4-BE49-F238E27FC236}">
                <a16:creationId xmlns:a16="http://schemas.microsoft.com/office/drawing/2014/main" id="{4DEB8D05-87FA-AE4C-908E-7877AE1BD035}"/>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CEC54813-F1FE-F743-AF57-B294CAAF3C4F}"/>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E4FC6086-2B72-BC45-BF88-89DB0B5E9AFD}"/>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901AC237-5333-9E43-8621-603D23D69038}"/>
                </a:ext>
              </a:extLst>
            </p:cNvPr>
            <p:cNvCxnSpPr>
              <a:cxnSpLocks/>
              <a:stCxn id="6" idx="3"/>
              <a:endCxn id="34" idx="0"/>
            </p:cNvCxnSpPr>
            <p:nvPr/>
          </p:nvCxnSpPr>
          <p:spPr>
            <a:xfrm flipH="1">
              <a:off x="7030774" y="3620639"/>
              <a:ext cx="790414" cy="27121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4558E56E-B405-2542-AC6A-4C9E4DA113C8}"/>
                </a:ext>
              </a:extLst>
            </p:cNvPr>
            <p:cNvGrpSpPr/>
            <p:nvPr/>
          </p:nvGrpSpPr>
          <p:grpSpPr>
            <a:xfrm>
              <a:off x="6090548" y="3891858"/>
              <a:ext cx="1730640" cy="636744"/>
              <a:chOff x="3429450" y="3492063"/>
              <a:chExt cx="1730640" cy="636744"/>
            </a:xfrm>
          </p:grpSpPr>
          <p:sp>
            <p:nvSpPr>
              <p:cNvPr id="34" name="Oval 33">
                <a:extLst>
                  <a:ext uri="{FF2B5EF4-FFF2-40B4-BE49-F238E27FC236}">
                    <a16:creationId xmlns:a16="http://schemas.microsoft.com/office/drawing/2014/main" id="{EF692EAD-5177-E24F-B825-A75DAA7A390A}"/>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35" name="Straight Connector 34">
                <a:extLst>
                  <a:ext uri="{FF2B5EF4-FFF2-40B4-BE49-F238E27FC236}">
                    <a16:creationId xmlns:a16="http://schemas.microsoft.com/office/drawing/2014/main" id="{26B642FE-497E-BF43-8A45-3F7D656FEC00}"/>
                  </a:ext>
                </a:extLst>
              </p:cNvPr>
              <p:cNvCxnSpPr>
                <a:cxnSpLocks/>
                <a:stCxn id="34"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2716482-E2AD-B847-B2E5-3778318E5BAB}"/>
                  </a:ext>
                </a:extLst>
              </p:cNvPr>
              <p:cNvCxnSpPr>
                <a:cxnSpLocks/>
                <a:stCxn id="34" idx="5"/>
                <a:endCxn id="11" idx="1"/>
              </p:cNvCxnSpPr>
              <p:nvPr/>
            </p:nvCxnSpPr>
            <p:spPr>
              <a:xfrm>
                <a:off x="4483013" y="3788111"/>
                <a:ext cx="677077" cy="3406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31E1D2CA-7F68-5842-9C96-9B4D6F2C6145}"/>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CC457E64-BACC-D947-9F53-3D624AE2F401}"/>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C19EF0AA-AB31-554D-ABEC-849CD2267B79}"/>
                </a:ext>
              </a:extLst>
            </p:cNvPr>
            <p:cNvSpPr/>
            <p:nvPr/>
          </p:nvSpPr>
          <p:spPr>
            <a:xfrm>
              <a:off x="7774242"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46AF0C8A-626D-5840-9920-38BE2ABA54B2}"/>
                </a:ext>
              </a:extLst>
            </p:cNvPr>
            <p:cNvGrpSpPr/>
            <p:nvPr/>
          </p:nvGrpSpPr>
          <p:grpSpPr>
            <a:xfrm>
              <a:off x="7304394" y="3620639"/>
              <a:ext cx="1919174" cy="1511852"/>
              <a:chOff x="2610785" y="3178812"/>
              <a:chExt cx="1919174" cy="1511852"/>
            </a:xfrm>
          </p:grpSpPr>
          <p:sp>
            <p:nvSpPr>
              <p:cNvPr id="31" name="Oval 30">
                <a:extLst>
                  <a:ext uri="{FF2B5EF4-FFF2-40B4-BE49-F238E27FC236}">
                    <a16:creationId xmlns:a16="http://schemas.microsoft.com/office/drawing/2014/main" id="{FF110FEA-957B-0445-85A1-A4F65FB1C8BE}"/>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32" name="Straight Connector 31">
                <a:extLst>
                  <a:ext uri="{FF2B5EF4-FFF2-40B4-BE49-F238E27FC236}">
                    <a16:creationId xmlns:a16="http://schemas.microsoft.com/office/drawing/2014/main" id="{4A868108-182C-694D-ACA6-339BE579603E}"/>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4AF3DC9-8AA5-4549-8157-E0B1D25335E5}"/>
                  </a:ext>
                </a:extLst>
              </p:cNvPr>
              <p:cNvCxnSpPr>
                <a:cxnSpLocks/>
                <a:stCxn id="6" idx="5"/>
                <a:endCxn id="31"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EE66FFA4-467E-334E-90FD-61CC058493DB}"/>
                </a:ext>
              </a:extLst>
            </p:cNvPr>
            <p:cNvSpPr txBox="1"/>
            <p:nvPr/>
          </p:nvSpPr>
          <p:spPr>
            <a:xfrm>
              <a:off x="4731026" y="3175362"/>
              <a:ext cx="825867"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get(H)</a:t>
              </a:r>
            </a:p>
          </p:txBody>
        </p:sp>
        <p:cxnSp>
          <p:nvCxnSpPr>
            <p:cNvPr id="19" name="Straight Connector 18">
              <a:extLst>
                <a:ext uri="{FF2B5EF4-FFF2-40B4-BE49-F238E27FC236}">
                  <a16:creationId xmlns:a16="http://schemas.microsoft.com/office/drawing/2014/main" id="{2303AAF7-F2A1-8843-BA01-4AA7DFB7483E}"/>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31C5B45-5446-2743-A3DA-805E9CFDB68C}"/>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951B80C-A3E0-FE49-881A-D272D54C0B82}"/>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0C3DF75-ADD7-8A4A-A989-127C45EE55EE}"/>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1977093-65D7-CE4F-A548-C356EBCD654E}"/>
                </a:ext>
              </a:extLst>
            </p:cNvPr>
            <p:cNvCxnSpPr>
              <a:cxnSpLocks/>
              <a:stCxn id="31"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5A3B5D8-66CD-6B47-B5E7-86A39C42814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221A422-0134-5741-AF41-6442096813B0}"/>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9DF6D2-AE0A-E549-A8B8-5A19998F5F65}"/>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854099-18D2-FF4A-BFA2-2B91BD4136F8}"/>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752253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C1FC9-D167-FA4A-9CCF-428BDDB06061}"/>
              </a:ext>
            </a:extLst>
          </p:cNvPr>
          <p:cNvSpPr>
            <a:spLocks noGrp="1"/>
          </p:cNvSpPr>
          <p:nvPr>
            <p:ph type="title"/>
          </p:nvPr>
        </p:nvSpPr>
        <p:spPr/>
        <p:txBody>
          <a:bodyPr/>
          <a:lstStyle/>
          <a:p>
            <a:r>
              <a:rPr lang="en-US" dirty="0"/>
              <a:t>BST IMPLEMENTATION – GET(search)</a:t>
            </a:r>
          </a:p>
        </p:txBody>
      </p:sp>
      <p:sp>
        <p:nvSpPr>
          <p:cNvPr id="3" name="Content Placeholder 2">
            <a:extLst>
              <a:ext uri="{FF2B5EF4-FFF2-40B4-BE49-F238E27FC236}">
                <a16:creationId xmlns:a16="http://schemas.microsoft.com/office/drawing/2014/main" id="{CBE0015E-23B7-FA45-8A1C-108A03FA0208}"/>
              </a:ext>
            </a:extLst>
          </p:cNvPr>
          <p:cNvSpPr>
            <a:spLocks noGrp="1"/>
          </p:cNvSpPr>
          <p:nvPr>
            <p:ph idx="1"/>
          </p:nvPr>
        </p:nvSpPr>
        <p:spPr/>
        <p:txBody>
          <a:bodyPr/>
          <a:lstStyle/>
          <a:p>
            <a:r>
              <a:rPr lang="en-US" dirty="0"/>
              <a:t>Get(key): </a:t>
            </a:r>
          </a:p>
          <a:p>
            <a:pPr lvl="1"/>
            <a:r>
              <a:rPr lang="en-US" dirty="0"/>
              <a:t>If key == </a:t>
            </a:r>
            <a:r>
              <a:rPr lang="en-US" dirty="0" err="1"/>
              <a:t>node.key</a:t>
            </a:r>
            <a:r>
              <a:rPr lang="en-US" dirty="0"/>
              <a:t>, hit</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r>
              <a:rPr lang="en-US" dirty="0"/>
              <a:t>Example</a:t>
            </a:r>
          </a:p>
          <a:p>
            <a:pPr lvl="1"/>
            <a:r>
              <a:rPr lang="en-US" dirty="0"/>
              <a:t>Successful search for H</a:t>
            </a:r>
          </a:p>
        </p:txBody>
      </p:sp>
      <p:grpSp>
        <p:nvGrpSpPr>
          <p:cNvPr id="4" name="Group 3" descr="demo of successful search for key in BST">
            <a:extLst>
              <a:ext uri="{FF2B5EF4-FFF2-40B4-BE49-F238E27FC236}">
                <a16:creationId xmlns:a16="http://schemas.microsoft.com/office/drawing/2014/main" id="{4DEB8D05-87FA-AE4C-908E-7877AE1BD035}"/>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CEC54813-F1FE-F743-AF57-B294CAAF3C4F}"/>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E4FC6086-2B72-BC45-BF88-89DB0B5E9AFD}"/>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901AC237-5333-9E43-8621-603D23D69038}"/>
                </a:ext>
              </a:extLst>
            </p:cNvPr>
            <p:cNvCxnSpPr>
              <a:cxnSpLocks/>
              <a:stCxn id="6" idx="3"/>
              <a:endCxn id="34" idx="0"/>
            </p:cNvCxnSpPr>
            <p:nvPr/>
          </p:nvCxnSpPr>
          <p:spPr>
            <a:xfrm flipH="1">
              <a:off x="7030774" y="3620639"/>
              <a:ext cx="790414" cy="271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4558E56E-B405-2542-AC6A-4C9E4DA113C8}"/>
                </a:ext>
              </a:extLst>
            </p:cNvPr>
            <p:cNvGrpSpPr/>
            <p:nvPr/>
          </p:nvGrpSpPr>
          <p:grpSpPr>
            <a:xfrm>
              <a:off x="6090548" y="3891858"/>
              <a:ext cx="1730640" cy="636744"/>
              <a:chOff x="3429450" y="3492063"/>
              <a:chExt cx="1730640" cy="636744"/>
            </a:xfrm>
          </p:grpSpPr>
          <p:sp>
            <p:nvSpPr>
              <p:cNvPr id="34" name="Oval 33">
                <a:extLst>
                  <a:ext uri="{FF2B5EF4-FFF2-40B4-BE49-F238E27FC236}">
                    <a16:creationId xmlns:a16="http://schemas.microsoft.com/office/drawing/2014/main" id="{EF692EAD-5177-E24F-B825-A75DAA7A390A}"/>
                  </a:ext>
                </a:extLst>
              </p:cNvPr>
              <p:cNvSpPr/>
              <p:nvPr/>
            </p:nvSpPr>
            <p:spPr>
              <a:xfrm>
                <a:off x="4209393" y="3492063"/>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35" name="Straight Connector 34">
                <a:extLst>
                  <a:ext uri="{FF2B5EF4-FFF2-40B4-BE49-F238E27FC236}">
                    <a16:creationId xmlns:a16="http://schemas.microsoft.com/office/drawing/2014/main" id="{26B642FE-497E-BF43-8A45-3F7D656FEC00}"/>
                  </a:ext>
                </a:extLst>
              </p:cNvPr>
              <p:cNvCxnSpPr>
                <a:cxnSpLocks/>
                <a:stCxn id="34"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2716482-E2AD-B847-B2E5-3778318E5BAB}"/>
                  </a:ext>
                </a:extLst>
              </p:cNvPr>
              <p:cNvCxnSpPr>
                <a:cxnSpLocks/>
                <a:stCxn id="34" idx="5"/>
                <a:endCxn id="11" idx="1"/>
              </p:cNvCxnSpPr>
              <p:nvPr/>
            </p:nvCxnSpPr>
            <p:spPr>
              <a:xfrm>
                <a:off x="4483013" y="3788111"/>
                <a:ext cx="677077" cy="3406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31E1D2CA-7F68-5842-9C96-9B4D6F2C6145}"/>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CC457E64-BACC-D947-9F53-3D624AE2F401}"/>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C19EF0AA-AB31-554D-ABEC-849CD2267B79}"/>
                </a:ext>
              </a:extLst>
            </p:cNvPr>
            <p:cNvSpPr/>
            <p:nvPr/>
          </p:nvSpPr>
          <p:spPr>
            <a:xfrm>
              <a:off x="7774242"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46AF0C8A-626D-5840-9920-38BE2ABA54B2}"/>
                </a:ext>
              </a:extLst>
            </p:cNvPr>
            <p:cNvGrpSpPr/>
            <p:nvPr/>
          </p:nvGrpSpPr>
          <p:grpSpPr>
            <a:xfrm>
              <a:off x="7304394" y="3620639"/>
              <a:ext cx="1919174" cy="1511852"/>
              <a:chOff x="2610785" y="3178812"/>
              <a:chExt cx="1919174" cy="1511852"/>
            </a:xfrm>
          </p:grpSpPr>
          <p:sp>
            <p:nvSpPr>
              <p:cNvPr id="31" name="Oval 30">
                <a:extLst>
                  <a:ext uri="{FF2B5EF4-FFF2-40B4-BE49-F238E27FC236}">
                    <a16:creationId xmlns:a16="http://schemas.microsoft.com/office/drawing/2014/main" id="{FF110FEA-957B-0445-85A1-A4F65FB1C8BE}"/>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32" name="Straight Connector 31">
                <a:extLst>
                  <a:ext uri="{FF2B5EF4-FFF2-40B4-BE49-F238E27FC236}">
                    <a16:creationId xmlns:a16="http://schemas.microsoft.com/office/drawing/2014/main" id="{4A868108-182C-694D-ACA6-339BE579603E}"/>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4AF3DC9-8AA5-4549-8157-E0B1D25335E5}"/>
                  </a:ext>
                </a:extLst>
              </p:cNvPr>
              <p:cNvCxnSpPr>
                <a:cxnSpLocks/>
                <a:stCxn id="6" idx="5"/>
                <a:endCxn id="31"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EE66FFA4-467E-334E-90FD-61CC058493DB}"/>
                </a:ext>
              </a:extLst>
            </p:cNvPr>
            <p:cNvSpPr txBox="1"/>
            <p:nvPr/>
          </p:nvSpPr>
          <p:spPr>
            <a:xfrm>
              <a:off x="4731026" y="3175362"/>
              <a:ext cx="825867"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get(H)</a:t>
              </a:r>
            </a:p>
          </p:txBody>
        </p:sp>
        <p:cxnSp>
          <p:nvCxnSpPr>
            <p:cNvPr id="19" name="Straight Connector 18">
              <a:extLst>
                <a:ext uri="{FF2B5EF4-FFF2-40B4-BE49-F238E27FC236}">
                  <a16:creationId xmlns:a16="http://schemas.microsoft.com/office/drawing/2014/main" id="{2303AAF7-F2A1-8843-BA01-4AA7DFB7483E}"/>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31C5B45-5446-2743-A3DA-805E9CFDB68C}"/>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951B80C-A3E0-FE49-881A-D272D54C0B82}"/>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0C3DF75-ADD7-8A4A-A989-127C45EE55EE}"/>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1977093-65D7-CE4F-A548-C356EBCD654E}"/>
                </a:ext>
              </a:extLst>
            </p:cNvPr>
            <p:cNvCxnSpPr>
              <a:cxnSpLocks/>
              <a:stCxn id="31"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5A3B5D8-66CD-6B47-B5E7-86A39C42814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221A422-0134-5741-AF41-6442096813B0}"/>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9DF6D2-AE0A-E549-A8B8-5A19998F5F65}"/>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854099-18D2-FF4A-BFA2-2B91BD4136F8}"/>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731548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C1FC9-D167-FA4A-9CCF-428BDDB06061}"/>
              </a:ext>
            </a:extLst>
          </p:cNvPr>
          <p:cNvSpPr>
            <a:spLocks noGrp="1"/>
          </p:cNvSpPr>
          <p:nvPr>
            <p:ph type="title"/>
          </p:nvPr>
        </p:nvSpPr>
        <p:spPr/>
        <p:txBody>
          <a:bodyPr/>
          <a:lstStyle/>
          <a:p>
            <a:r>
              <a:rPr lang="en-US" dirty="0"/>
              <a:t>BST IMPLEMENTATION – GET(search)</a:t>
            </a:r>
          </a:p>
        </p:txBody>
      </p:sp>
      <p:sp>
        <p:nvSpPr>
          <p:cNvPr id="3" name="Content Placeholder 2">
            <a:extLst>
              <a:ext uri="{FF2B5EF4-FFF2-40B4-BE49-F238E27FC236}">
                <a16:creationId xmlns:a16="http://schemas.microsoft.com/office/drawing/2014/main" id="{CBE0015E-23B7-FA45-8A1C-108A03FA0208}"/>
              </a:ext>
            </a:extLst>
          </p:cNvPr>
          <p:cNvSpPr>
            <a:spLocks noGrp="1"/>
          </p:cNvSpPr>
          <p:nvPr>
            <p:ph idx="1"/>
          </p:nvPr>
        </p:nvSpPr>
        <p:spPr/>
        <p:txBody>
          <a:bodyPr/>
          <a:lstStyle/>
          <a:p>
            <a:r>
              <a:rPr lang="en-US" dirty="0"/>
              <a:t>Get(key): </a:t>
            </a:r>
          </a:p>
          <a:p>
            <a:pPr lvl="1"/>
            <a:r>
              <a:rPr lang="en-US" dirty="0"/>
              <a:t>If key == </a:t>
            </a:r>
            <a:r>
              <a:rPr lang="en-US" dirty="0" err="1"/>
              <a:t>node.key</a:t>
            </a:r>
            <a:r>
              <a:rPr lang="en-US" dirty="0"/>
              <a:t>, hit</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r>
              <a:rPr lang="en-US" dirty="0"/>
              <a:t>Example</a:t>
            </a:r>
          </a:p>
          <a:p>
            <a:pPr lvl="1"/>
            <a:r>
              <a:rPr lang="en-US" dirty="0"/>
              <a:t>Successful search for H</a:t>
            </a:r>
          </a:p>
        </p:txBody>
      </p:sp>
      <p:grpSp>
        <p:nvGrpSpPr>
          <p:cNvPr id="4" name="Group 3" descr="demo of successful search for key in BST">
            <a:extLst>
              <a:ext uri="{FF2B5EF4-FFF2-40B4-BE49-F238E27FC236}">
                <a16:creationId xmlns:a16="http://schemas.microsoft.com/office/drawing/2014/main" id="{4DEB8D05-87FA-AE4C-908E-7877AE1BD035}"/>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CEC54813-F1FE-F743-AF57-B294CAAF3C4F}"/>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E4FC6086-2B72-BC45-BF88-89DB0B5E9AFD}"/>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901AC237-5333-9E43-8621-603D23D69038}"/>
                </a:ext>
              </a:extLst>
            </p:cNvPr>
            <p:cNvCxnSpPr>
              <a:cxnSpLocks/>
              <a:stCxn id="6" idx="3"/>
              <a:endCxn id="34" idx="0"/>
            </p:cNvCxnSpPr>
            <p:nvPr/>
          </p:nvCxnSpPr>
          <p:spPr>
            <a:xfrm flipH="1">
              <a:off x="7030774" y="3620639"/>
              <a:ext cx="790414" cy="271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4558E56E-B405-2542-AC6A-4C9E4DA113C8}"/>
                </a:ext>
              </a:extLst>
            </p:cNvPr>
            <p:cNvGrpSpPr/>
            <p:nvPr/>
          </p:nvGrpSpPr>
          <p:grpSpPr>
            <a:xfrm>
              <a:off x="6090548" y="3891858"/>
              <a:ext cx="1730640" cy="636744"/>
              <a:chOff x="3429450" y="3492063"/>
              <a:chExt cx="1730640" cy="636744"/>
            </a:xfrm>
          </p:grpSpPr>
          <p:sp>
            <p:nvSpPr>
              <p:cNvPr id="34" name="Oval 33">
                <a:extLst>
                  <a:ext uri="{FF2B5EF4-FFF2-40B4-BE49-F238E27FC236}">
                    <a16:creationId xmlns:a16="http://schemas.microsoft.com/office/drawing/2014/main" id="{EF692EAD-5177-E24F-B825-A75DAA7A390A}"/>
                  </a:ext>
                </a:extLst>
              </p:cNvPr>
              <p:cNvSpPr/>
              <p:nvPr/>
            </p:nvSpPr>
            <p:spPr>
              <a:xfrm>
                <a:off x="4209393" y="3492063"/>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35" name="Straight Connector 34">
                <a:extLst>
                  <a:ext uri="{FF2B5EF4-FFF2-40B4-BE49-F238E27FC236}">
                    <a16:creationId xmlns:a16="http://schemas.microsoft.com/office/drawing/2014/main" id="{26B642FE-497E-BF43-8A45-3F7D656FEC00}"/>
                  </a:ext>
                </a:extLst>
              </p:cNvPr>
              <p:cNvCxnSpPr>
                <a:cxnSpLocks/>
                <a:stCxn id="34"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2716482-E2AD-B847-B2E5-3778318E5BAB}"/>
                  </a:ext>
                </a:extLst>
              </p:cNvPr>
              <p:cNvCxnSpPr>
                <a:cxnSpLocks/>
                <a:stCxn id="34" idx="5"/>
                <a:endCxn id="11" idx="1"/>
              </p:cNvCxnSpPr>
              <p:nvPr/>
            </p:nvCxnSpPr>
            <p:spPr>
              <a:xfrm>
                <a:off x="4483013" y="3788111"/>
                <a:ext cx="677077" cy="3406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31E1D2CA-7F68-5842-9C96-9B4D6F2C6145}"/>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CC457E64-BACC-D947-9F53-3D624AE2F401}"/>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C19EF0AA-AB31-554D-ABEC-849CD2267B79}"/>
                </a:ext>
              </a:extLst>
            </p:cNvPr>
            <p:cNvSpPr/>
            <p:nvPr/>
          </p:nvSpPr>
          <p:spPr>
            <a:xfrm>
              <a:off x="7774242" y="4477808"/>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46AF0C8A-626D-5840-9920-38BE2ABA54B2}"/>
                </a:ext>
              </a:extLst>
            </p:cNvPr>
            <p:cNvGrpSpPr/>
            <p:nvPr/>
          </p:nvGrpSpPr>
          <p:grpSpPr>
            <a:xfrm>
              <a:off x="7304394" y="3620639"/>
              <a:ext cx="1919174" cy="1511852"/>
              <a:chOff x="2610785" y="3178812"/>
              <a:chExt cx="1919174" cy="1511852"/>
            </a:xfrm>
          </p:grpSpPr>
          <p:sp>
            <p:nvSpPr>
              <p:cNvPr id="31" name="Oval 30">
                <a:extLst>
                  <a:ext uri="{FF2B5EF4-FFF2-40B4-BE49-F238E27FC236}">
                    <a16:creationId xmlns:a16="http://schemas.microsoft.com/office/drawing/2014/main" id="{FF110FEA-957B-0445-85A1-A4F65FB1C8BE}"/>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32" name="Straight Connector 31">
                <a:extLst>
                  <a:ext uri="{FF2B5EF4-FFF2-40B4-BE49-F238E27FC236}">
                    <a16:creationId xmlns:a16="http://schemas.microsoft.com/office/drawing/2014/main" id="{4A868108-182C-694D-ACA6-339BE579603E}"/>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4AF3DC9-8AA5-4549-8157-E0B1D25335E5}"/>
                  </a:ext>
                </a:extLst>
              </p:cNvPr>
              <p:cNvCxnSpPr>
                <a:cxnSpLocks/>
                <a:stCxn id="6" idx="5"/>
                <a:endCxn id="31"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EE66FFA4-467E-334E-90FD-61CC058493DB}"/>
                </a:ext>
              </a:extLst>
            </p:cNvPr>
            <p:cNvSpPr txBox="1"/>
            <p:nvPr/>
          </p:nvSpPr>
          <p:spPr>
            <a:xfrm>
              <a:off x="4731026" y="3175362"/>
              <a:ext cx="825867"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get(H)</a:t>
              </a:r>
            </a:p>
          </p:txBody>
        </p:sp>
        <p:cxnSp>
          <p:nvCxnSpPr>
            <p:cNvPr id="19" name="Straight Connector 18">
              <a:extLst>
                <a:ext uri="{FF2B5EF4-FFF2-40B4-BE49-F238E27FC236}">
                  <a16:creationId xmlns:a16="http://schemas.microsoft.com/office/drawing/2014/main" id="{2303AAF7-F2A1-8843-BA01-4AA7DFB7483E}"/>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31C5B45-5446-2743-A3DA-805E9CFDB68C}"/>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951B80C-A3E0-FE49-881A-D272D54C0B82}"/>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0C3DF75-ADD7-8A4A-A989-127C45EE55EE}"/>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1977093-65D7-CE4F-A548-C356EBCD654E}"/>
                </a:ext>
              </a:extLst>
            </p:cNvPr>
            <p:cNvCxnSpPr>
              <a:cxnSpLocks/>
              <a:stCxn id="31"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5A3B5D8-66CD-6B47-B5E7-86A39C42814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221A422-0134-5741-AF41-6442096813B0}"/>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9DF6D2-AE0A-E549-A8B8-5A19998F5F65}"/>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854099-18D2-FF4A-BFA2-2B91BD4136F8}"/>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565172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C1FC9-D167-FA4A-9CCF-428BDDB06061}"/>
              </a:ext>
            </a:extLst>
          </p:cNvPr>
          <p:cNvSpPr>
            <a:spLocks noGrp="1"/>
          </p:cNvSpPr>
          <p:nvPr>
            <p:ph type="title"/>
          </p:nvPr>
        </p:nvSpPr>
        <p:spPr/>
        <p:txBody>
          <a:bodyPr/>
          <a:lstStyle/>
          <a:p>
            <a:r>
              <a:rPr lang="en-US" dirty="0"/>
              <a:t>BST IMPLEMENTATION – GET(search)</a:t>
            </a:r>
          </a:p>
        </p:txBody>
      </p:sp>
      <p:sp>
        <p:nvSpPr>
          <p:cNvPr id="3" name="Content Placeholder 2">
            <a:extLst>
              <a:ext uri="{FF2B5EF4-FFF2-40B4-BE49-F238E27FC236}">
                <a16:creationId xmlns:a16="http://schemas.microsoft.com/office/drawing/2014/main" id="{CBE0015E-23B7-FA45-8A1C-108A03FA0208}"/>
              </a:ext>
            </a:extLst>
          </p:cNvPr>
          <p:cNvSpPr>
            <a:spLocks noGrp="1"/>
          </p:cNvSpPr>
          <p:nvPr>
            <p:ph idx="1"/>
          </p:nvPr>
        </p:nvSpPr>
        <p:spPr/>
        <p:txBody>
          <a:bodyPr/>
          <a:lstStyle/>
          <a:p>
            <a:r>
              <a:rPr lang="en-US" dirty="0"/>
              <a:t>Get(key): </a:t>
            </a:r>
          </a:p>
          <a:p>
            <a:pPr lvl="1"/>
            <a:r>
              <a:rPr lang="en-US" dirty="0"/>
              <a:t>If key == </a:t>
            </a:r>
            <a:r>
              <a:rPr lang="en-US" dirty="0" err="1"/>
              <a:t>node.key</a:t>
            </a:r>
            <a:r>
              <a:rPr lang="en-US" dirty="0"/>
              <a:t>, hit</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r>
              <a:rPr lang="en-US" dirty="0"/>
              <a:t>Example</a:t>
            </a:r>
          </a:p>
          <a:p>
            <a:pPr lvl="1"/>
            <a:r>
              <a:rPr lang="en-US" dirty="0"/>
              <a:t>Successful search for H</a:t>
            </a:r>
          </a:p>
        </p:txBody>
      </p:sp>
      <p:grpSp>
        <p:nvGrpSpPr>
          <p:cNvPr id="4" name="Group 3" descr="demo of successful search for key in BST">
            <a:extLst>
              <a:ext uri="{FF2B5EF4-FFF2-40B4-BE49-F238E27FC236}">
                <a16:creationId xmlns:a16="http://schemas.microsoft.com/office/drawing/2014/main" id="{4DEB8D05-87FA-AE4C-908E-7877AE1BD035}"/>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CEC54813-F1FE-F743-AF57-B294CAAF3C4F}"/>
                </a:ext>
              </a:extLst>
            </p:cNvPr>
            <p:cNvSpPr/>
            <p:nvPr/>
          </p:nvSpPr>
          <p:spPr>
            <a:xfrm>
              <a:off x="7030774" y="5081697"/>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E4FC6086-2B72-BC45-BF88-89DB0B5E9AFD}"/>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901AC237-5333-9E43-8621-603D23D69038}"/>
                </a:ext>
              </a:extLst>
            </p:cNvPr>
            <p:cNvCxnSpPr>
              <a:cxnSpLocks/>
              <a:stCxn id="6" idx="3"/>
              <a:endCxn id="34" idx="0"/>
            </p:cNvCxnSpPr>
            <p:nvPr/>
          </p:nvCxnSpPr>
          <p:spPr>
            <a:xfrm flipH="1">
              <a:off x="7030774" y="3620639"/>
              <a:ext cx="790414" cy="271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4558E56E-B405-2542-AC6A-4C9E4DA113C8}"/>
                </a:ext>
              </a:extLst>
            </p:cNvPr>
            <p:cNvGrpSpPr/>
            <p:nvPr/>
          </p:nvGrpSpPr>
          <p:grpSpPr>
            <a:xfrm>
              <a:off x="6090548" y="3891858"/>
              <a:ext cx="1730640" cy="636744"/>
              <a:chOff x="3429450" y="3492063"/>
              <a:chExt cx="1730640" cy="636744"/>
            </a:xfrm>
          </p:grpSpPr>
          <p:sp>
            <p:nvSpPr>
              <p:cNvPr id="34" name="Oval 33">
                <a:extLst>
                  <a:ext uri="{FF2B5EF4-FFF2-40B4-BE49-F238E27FC236}">
                    <a16:creationId xmlns:a16="http://schemas.microsoft.com/office/drawing/2014/main" id="{EF692EAD-5177-E24F-B825-A75DAA7A390A}"/>
                  </a:ext>
                </a:extLst>
              </p:cNvPr>
              <p:cNvSpPr/>
              <p:nvPr/>
            </p:nvSpPr>
            <p:spPr>
              <a:xfrm>
                <a:off x="4209393" y="3492063"/>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35" name="Straight Connector 34">
                <a:extLst>
                  <a:ext uri="{FF2B5EF4-FFF2-40B4-BE49-F238E27FC236}">
                    <a16:creationId xmlns:a16="http://schemas.microsoft.com/office/drawing/2014/main" id="{26B642FE-497E-BF43-8A45-3F7D656FEC00}"/>
                  </a:ext>
                </a:extLst>
              </p:cNvPr>
              <p:cNvCxnSpPr>
                <a:cxnSpLocks/>
                <a:stCxn id="34"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2716482-E2AD-B847-B2E5-3778318E5BAB}"/>
                  </a:ext>
                </a:extLst>
              </p:cNvPr>
              <p:cNvCxnSpPr>
                <a:cxnSpLocks/>
                <a:stCxn id="34" idx="5"/>
                <a:endCxn id="11" idx="1"/>
              </p:cNvCxnSpPr>
              <p:nvPr/>
            </p:nvCxnSpPr>
            <p:spPr>
              <a:xfrm>
                <a:off x="4483013" y="3788111"/>
                <a:ext cx="677077" cy="3406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31E1D2CA-7F68-5842-9C96-9B4D6F2C6145}"/>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CC457E64-BACC-D947-9F53-3D624AE2F401}"/>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C19EF0AA-AB31-554D-ABEC-849CD2267B79}"/>
                </a:ext>
              </a:extLst>
            </p:cNvPr>
            <p:cNvSpPr/>
            <p:nvPr/>
          </p:nvSpPr>
          <p:spPr>
            <a:xfrm>
              <a:off x="7774242" y="4477808"/>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46AF0C8A-626D-5840-9920-38BE2ABA54B2}"/>
                </a:ext>
              </a:extLst>
            </p:cNvPr>
            <p:cNvGrpSpPr/>
            <p:nvPr/>
          </p:nvGrpSpPr>
          <p:grpSpPr>
            <a:xfrm>
              <a:off x="7304394" y="3620639"/>
              <a:ext cx="1919174" cy="1511852"/>
              <a:chOff x="2610785" y="3178812"/>
              <a:chExt cx="1919174" cy="1511852"/>
            </a:xfrm>
          </p:grpSpPr>
          <p:sp>
            <p:nvSpPr>
              <p:cNvPr id="31" name="Oval 30">
                <a:extLst>
                  <a:ext uri="{FF2B5EF4-FFF2-40B4-BE49-F238E27FC236}">
                    <a16:creationId xmlns:a16="http://schemas.microsoft.com/office/drawing/2014/main" id="{FF110FEA-957B-0445-85A1-A4F65FB1C8BE}"/>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32" name="Straight Connector 31">
                <a:extLst>
                  <a:ext uri="{FF2B5EF4-FFF2-40B4-BE49-F238E27FC236}">
                    <a16:creationId xmlns:a16="http://schemas.microsoft.com/office/drawing/2014/main" id="{4A868108-182C-694D-ACA6-339BE579603E}"/>
                  </a:ext>
                </a:extLst>
              </p:cNvPr>
              <p:cNvCxnSpPr>
                <a:cxnSpLocks/>
                <a:stCxn id="11" idx="3"/>
                <a:endCxn id="5" idx="7"/>
              </p:cNvCxnSpPr>
              <p:nvPr/>
            </p:nvCxnSpPr>
            <p:spPr>
              <a:xfrm flipH="1">
                <a:off x="2610785" y="4332029"/>
                <a:ext cx="516794" cy="3586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4AF3DC9-8AA5-4549-8157-E0B1D25335E5}"/>
                  </a:ext>
                </a:extLst>
              </p:cNvPr>
              <p:cNvCxnSpPr>
                <a:cxnSpLocks/>
                <a:stCxn id="6" idx="5"/>
                <a:endCxn id="31"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EE66FFA4-467E-334E-90FD-61CC058493DB}"/>
                </a:ext>
              </a:extLst>
            </p:cNvPr>
            <p:cNvSpPr txBox="1"/>
            <p:nvPr/>
          </p:nvSpPr>
          <p:spPr>
            <a:xfrm>
              <a:off x="4731026" y="3175362"/>
              <a:ext cx="825867"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get(H)</a:t>
              </a:r>
            </a:p>
          </p:txBody>
        </p:sp>
        <p:cxnSp>
          <p:nvCxnSpPr>
            <p:cNvPr id="19" name="Straight Connector 18">
              <a:extLst>
                <a:ext uri="{FF2B5EF4-FFF2-40B4-BE49-F238E27FC236}">
                  <a16:creationId xmlns:a16="http://schemas.microsoft.com/office/drawing/2014/main" id="{2303AAF7-F2A1-8843-BA01-4AA7DFB7483E}"/>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31C5B45-5446-2743-A3DA-805E9CFDB68C}"/>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951B80C-A3E0-FE49-881A-D272D54C0B82}"/>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0C3DF75-ADD7-8A4A-A989-127C45EE55EE}"/>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1977093-65D7-CE4F-A548-C356EBCD654E}"/>
                </a:ext>
              </a:extLst>
            </p:cNvPr>
            <p:cNvCxnSpPr>
              <a:cxnSpLocks/>
              <a:stCxn id="31"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5A3B5D8-66CD-6B47-B5E7-86A39C42814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221A422-0134-5741-AF41-6442096813B0}"/>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9DF6D2-AE0A-E549-A8B8-5A19998F5F65}"/>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854099-18D2-FF4A-BFA2-2B91BD4136F8}"/>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7743211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C1FC9-D167-FA4A-9CCF-428BDDB06061}"/>
              </a:ext>
            </a:extLst>
          </p:cNvPr>
          <p:cNvSpPr>
            <a:spLocks noGrp="1"/>
          </p:cNvSpPr>
          <p:nvPr>
            <p:ph type="title"/>
          </p:nvPr>
        </p:nvSpPr>
        <p:spPr/>
        <p:txBody>
          <a:bodyPr/>
          <a:lstStyle/>
          <a:p>
            <a:r>
              <a:rPr lang="en-US" dirty="0"/>
              <a:t>BST IMPLEMENTATION – GET(search)</a:t>
            </a:r>
          </a:p>
        </p:txBody>
      </p:sp>
      <p:sp>
        <p:nvSpPr>
          <p:cNvPr id="3" name="Content Placeholder 2">
            <a:extLst>
              <a:ext uri="{FF2B5EF4-FFF2-40B4-BE49-F238E27FC236}">
                <a16:creationId xmlns:a16="http://schemas.microsoft.com/office/drawing/2014/main" id="{CBE0015E-23B7-FA45-8A1C-108A03FA0208}"/>
              </a:ext>
            </a:extLst>
          </p:cNvPr>
          <p:cNvSpPr>
            <a:spLocks noGrp="1"/>
          </p:cNvSpPr>
          <p:nvPr>
            <p:ph idx="1"/>
          </p:nvPr>
        </p:nvSpPr>
        <p:spPr/>
        <p:txBody>
          <a:bodyPr/>
          <a:lstStyle/>
          <a:p>
            <a:r>
              <a:rPr lang="en-US" dirty="0"/>
              <a:t>Get(key): </a:t>
            </a:r>
          </a:p>
          <a:p>
            <a:pPr lvl="1"/>
            <a:r>
              <a:rPr lang="en-US" dirty="0"/>
              <a:t>If key == </a:t>
            </a:r>
            <a:r>
              <a:rPr lang="en-US" dirty="0" err="1"/>
              <a:t>node.key</a:t>
            </a:r>
            <a:r>
              <a:rPr lang="en-US" dirty="0"/>
              <a:t>, hit</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r>
              <a:rPr lang="en-US" dirty="0"/>
              <a:t>Example</a:t>
            </a:r>
          </a:p>
          <a:p>
            <a:pPr lvl="1"/>
            <a:r>
              <a:rPr lang="en-US" dirty="0"/>
              <a:t>Unsuccessful search for G</a:t>
            </a:r>
          </a:p>
        </p:txBody>
      </p:sp>
      <p:grpSp>
        <p:nvGrpSpPr>
          <p:cNvPr id="4" name="Group 3" descr="demo of unsuccessful search for key in BST">
            <a:extLst>
              <a:ext uri="{FF2B5EF4-FFF2-40B4-BE49-F238E27FC236}">
                <a16:creationId xmlns:a16="http://schemas.microsoft.com/office/drawing/2014/main" id="{4DEB8D05-87FA-AE4C-908E-7877AE1BD035}"/>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CEC54813-F1FE-F743-AF57-B294CAAF3C4F}"/>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E4FC6086-2B72-BC45-BF88-89DB0B5E9AFD}"/>
                </a:ext>
              </a:extLst>
            </p:cNvPr>
            <p:cNvSpPr/>
            <p:nvPr/>
          </p:nvSpPr>
          <p:spPr>
            <a:xfrm>
              <a:off x="7774242" y="3324591"/>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901AC237-5333-9E43-8621-603D23D69038}"/>
                </a:ext>
              </a:extLst>
            </p:cNvPr>
            <p:cNvCxnSpPr>
              <a:cxnSpLocks/>
              <a:stCxn id="6" idx="3"/>
              <a:endCxn id="34" idx="0"/>
            </p:cNvCxnSpPr>
            <p:nvPr/>
          </p:nvCxnSpPr>
          <p:spPr>
            <a:xfrm flipH="1">
              <a:off x="7030774" y="3620639"/>
              <a:ext cx="790414" cy="27121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4558E56E-B405-2542-AC6A-4C9E4DA113C8}"/>
                </a:ext>
              </a:extLst>
            </p:cNvPr>
            <p:cNvGrpSpPr/>
            <p:nvPr/>
          </p:nvGrpSpPr>
          <p:grpSpPr>
            <a:xfrm>
              <a:off x="6090548" y="3891858"/>
              <a:ext cx="1730640" cy="636744"/>
              <a:chOff x="3429450" y="3492063"/>
              <a:chExt cx="1730640" cy="636744"/>
            </a:xfrm>
          </p:grpSpPr>
          <p:sp>
            <p:nvSpPr>
              <p:cNvPr id="34" name="Oval 33">
                <a:extLst>
                  <a:ext uri="{FF2B5EF4-FFF2-40B4-BE49-F238E27FC236}">
                    <a16:creationId xmlns:a16="http://schemas.microsoft.com/office/drawing/2014/main" id="{EF692EAD-5177-E24F-B825-A75DAA7A390A}"/>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35" name="Straight Connector 34">
                <a:extLst>
                  <a:ext uri="{FF2B5EF4-FFF2-40B4-BE49-F238E27FC236}">
                    <a16:creationId xmlns:a16="http://schemas.microsoft.com/office/drawing/2014/main" id="{26B642FE-497E-BF43-8A45-3F7D656FEC00}"/>
                  </a:ext>
                </a:extLst>
              </p:cNvPr>
              <p:cNvCxnSpPr>
                <a:cxnSpLocks/>
                <a:stCxn id="34"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2716482-E2AD-B847-B2E5-3778318E5BAB}"/>
                  </a:ext>
                </a:extLst>
              </p:cNvPr>
              <p:cNvCxnSpPr>
                <a:cxnSpLocks/>
                <a:stCxn id="34" idx="5"/>
                <a:endCxn id="11" idx="1"/>
              </p:cNvCxnSpPr>
              <p:nvPr/>
            </p:nvCxnSpPr>
            <p:spPr>
              <a:xfrm>
                <a:off x="4483013" y="3788111"/>
                <a:ext cx="677077" cy="3406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31E1D2CA-7F68-5842-9C96-9B4D6F2C6145}"/>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CC457E64-BACC-D947-9F53-3D624AE2F401}"/>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C19EF0AA-AB31-554D-ABEC-849CD2267B79}"/>
                </a:ext>
              </a:extLst>
            </p:cNvPr>
            <p:cNvSpPr/>
            <p:nvPr/>
          </p:nvSpPr>
          <p:spPr>
            <a:xfrm>
              <a:off x="7774242"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46AF0C8A-626D-5840-9920-38BE2ABA54B2}"/>
                </a:ext>
              </a:extLst>
            </p:cNvPr>
            <p:cNvGrpSpPr/>
            <p:nvPr/>
          </p:nvGrpSpPr>
          <p:grpSpPr>
            <a:xfrm>
              <a:off x="7304394" y="3620639"/>
              <a:ext cx="1919174" cy="1511852"/>
              <a:chOff x="2610785" y="3178812"/>
              <a:chExt cx="1919174" cy="1511852"/>
            </a:xfrm>
          </p:grpSpPr>
          <p:sp>
            <p:nvSpPr>
              <p:cNvPr id="31" name="Oval 30">
                <a:extLst>
                  <a:ext uri="{FF2B5EF4-FFF2-40B4-BE49-F238E27FC236}">
                    <a16:creationId xmlns:a16="http://schemas.microsoft.com/office/drawing/2014/main" id="{FF110FEA-957B-0445-85A1-A4F65FB1C8BE}"/>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32" name="Straight Connector 31">
                <a:extLst>
                  <a:ext uri="{FF2B5EF4-FFF2-40B4-BE49-F238E27FC236}">
                    <a16:creationId xmlns:a16="http://schemas.microsoft.com/office/drawing/2014/main" id="{4A868108-182C-694D-ACA6-339BE579603E}"/>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4AF3DC9-8AA5-4549-8157-E0B1D25335E5}"/>
                  </a:ext>
                </a:extLst>
              </p:cNvPr>
              <p:cNvCxnSpPr>
                <a:cxnSpLocks/>
                <a:stCxn id="6" idx="5"/>
                <a:endCxn id="31"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EE66FFA4-467E-334E-90FD-61CC058493DB}"/>
                </a:ext>
              </a:extLst>
            </p:cNvPr>
            <p:cNvSpPr txBox="1"/>
            <p:nvPr/>
          </p:nvSpPr>
          <p:spPr>
            <a:xfrm>
              <a:off x="4731026" y="3175362"/>
              <a:ext cx="838691"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get(G)</a:t>
              </a:r>
            </a:p>
          </p:txBody>
        </p:sp>
        <p:cxnSp>
          <p:nvCxnSpPr>
            <p:cNvPr id="19" name="Straight Connector 18">
              <a:extLst>
                <a:ext uri="{FF2B5EF4-FFF2-40B4-BE49-F238E27FC236}">
                  <a16:creationId xmlns:a16="http://schemas.microsoft.com/office/drawing/2014/main" id="{2303AAF7-F2A1-8843-BA01-4AA7DFB7483E}"/>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31C5B45-5446-2743-A3DA-805E9CFDB68C}"/>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951B80C-A3E0-FE49-881A-D272D54C0B82}"/>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0C3DF75-ADD7-8A4A-A989-127C45EE55EE}"/>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1977093-65D7-CE4F-A548-C356EBCD654E}"/>
                </a:ext>
              </a:extLst>
            </p:cNvPr>
            <p:cNvCxnSpPr>
              <a:cxnSpLocks/>
              <a:stCxn id="31"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5A3B5D8-66CD-6B47-B5E7-86A39C42814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221A422-0134-5741-AF41-6442096813B0}"/>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9DF6D2-AE0A-E549-A8B8-5A19998F5F65}"/>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854099-18D2-FF4A-BFA2-2B91BD4136F8}"/>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2084059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C1FC9-D167-FA4A-9CCF-428BDDB06061}"/>
              </a:ext>
            </a:extLst>
          </p:cNvPr>
          <p:cNvSpPr>
            <a:spLocks noGrp="1"/>
          </p:cNvSpPr>
          <p:nvPr>
            <p:ph type="title"/>
          </p:nvPr>
        </p:nvSpPr>
        <p:spPr/>
        <p:txBody>
          <a:bodyPr/>
          <a:lstStyle/>
          <a:p>
            <a:r>
              <a:rPr lang="en-US" dirty="0"/>
              <a:t>BST IMPLEMENTATION – GET(search)</a:t>
            </a:r>
          </a:p>
        </p:txBody>
      </p:sp>
      <p:sp>
        <p:nvSpPr>
          <p:cNvPr id="3" name="Content Placeholder 2">
            <a:extLst>
              <a:ext uri="{FF2B5EF4-FFF2-40B4-BE49-F238E27FC236}">
                <a16:creationId xmlns:a16="http://schemas.microsoft.com/office/drawing/2014/main" id="{CBE0015E-23B7-FA45-8A1C-108A03FA0208}"/>
              </a:ext>
            </a:extLst>
          </p:cNvPr>
          <p:cNvSpPr>
            <a:spLocks noGrp="1"/>
          </p:cNvSpPr>
          <p:nvPr>
            <p:ph idx="1"/>
          </p:nvPr>
        </p:nvSpPr>
        <p:spPr/>
        <p:txBody>
          <a:bodyPr/>
          <a:lstStyle/>
          <a:p>
            <a:r>
              <a:rPr lang="en-US" dirty="0"/>
              <a:t>Get(key): </a:t>
            </a:r>
          </a:p>
          <a:p>
            <a:pPr lvl="1"/>
            <a:r>
              <a:rPr lang="en-US" dirty="0"/>
              <a:t>If key == </a:t>
            </a:r>
            <a:r>
              <a:rPr lang="en-US" dirty="0" err="1"/>
              <a:t>node.key</a:t>
            </a:r>
            <a:r>
              <a:rPr lang="en-US" dirty="0"/>
              <a:t>, hit</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r>
              <a:rPr lang="en-US" dirty="0"/>
              <a:t>Example</a:t>
            </a:r>
          </a:p>
          <a:p>
            <a:pPr lvl="1"/>
            <a:r>
              <a:rPr lang="en-US" dirty="0"/>
              <a:t>Unsuccessful search for G</a:t>
            </a:r>
          </a:p>
        </p:txBody>
      </p:sp>
      <p:grpSp>
        <p:nvGrpSpPr>
          <p:cNvPr id="4" name="Group 3" descr="demo of unsuccessful search for key in BST">
            <a:extLst>
              <a:ext uri="{FF2B5EF4-FFF2-40B4-BE49-F238E27FC236}">
                <a16:creationId xmlns:a16="http://schemas.microsoft.com/office/drawing/2014/main" id="{4DEB8D05-87FA-AE4C-908E-7877AE1BD035}"/>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CEC54813-F1FE-F743-AF57-B294CAAF3C4F}"/>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E4FC6086-2B72-BC45-BF88-89DB0B5E9AFD}"/>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901AC237-5333-9E43-8621-603D23D69038}"/>
                </a:ext>
              </a:extLst>
            </p:cNvPr>
            <p:cNvCxnSpPr>
              <a:cxnSpLocks/>
              <a:stCxn id="6" idx="3"/>
              <a:endCxn id="34" idx="0"/>
            </p:cNvCxnSpPr>
            <p:nvPr/>
          </p:nvCxnSpPr>
          <p:spPr>
            <a:xfrm flipH="1">
              <a:off x="7030774" y="3620639"/>
              <a:ext cx="790414" cy="27121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4558E56E-B405-2542-AC6A-4C9E4DA113C8}"/>
                </a:ext>
              </a:extLst>
            </p:cNvPr>
            <p:cNvGrpSpPr/>
            <p:nvPr/>
          </p:nvGrpSpPr>
          <p:grpSpPr>
            <a:xfrm>
              <a:off x="6090548" y="3891858"/>
              <a:ext cx="1730640" cy="636744"/>
              <a:chOff x="3429450" y="3492063"/>
              <a:chExt cx="1730640" cy="636744"/>
            </a:xfrm>
          </p:grpSpPr>
          <p:sp>
            <p:nvSpPr>
              <p:cNvPr id="34" name="Oval 33">
                <a:extLst>
                  <a:ext uri="{FF2B5EF4-FFF2-40B4-BE49-F238E27FC236}">
                    <a16:creationId xmlns:a16="http://schemas.microsoft.com/office/drawing/2014/main" id="{EF692EAD-5177-E24F-B825-A75DAA7A390A}"/>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35" name="Straight Connector 34">
                <a:extLst>
                  <a:ext uri="{FF2B5EF4-FFF2-40B4-BE49-F238E27FC236}">
                    <a16:creationId xmlns:a16="http://schemas.microsoft.com/office/drawing/2014/main" id="{26B642FE-497E-BF43-8A45-3F7D656FEC00}"/>
                  </a:ext>
                </a:extLst>
              </p:cNvPr>
              <p:cNvCxnSpPr>
                <a:cxnSpLocks/>
                <a:stCxn id="34"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2716482-E2AD-B847-B2E5-3778318E5BAB}"/>
                  </a:ext>
                </a:extLst>
              </p:cNvPr>
              <p:cNvCxnSpPr>
                <a:cxnSpLocks/>
                <a:stCxn id="34" idx="5"/>
                <a:endCxn id="11" idx="1"/>
              </p:cNvCxnSpPr>
              <p:nvPr/>
            </p:nvCxnSpPr>
            <p:spPr>
              <a:xfrm>
                <a:off x="4483013" y="3788111"/>
                <a:ext cx="677077" cy="3406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31E1D2CA-7F68-5842-9C96-9B4D6F2C6145}"/>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CC457E64-BACC-D947-9F53-3D624AE2F401}"/>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C19EF0AA-AB31-554D-ABEC-849CD2267B79}"/>
                </a:ext>
              </a:extLst>
            </p:cNvPr>
            <p:cNvSpPr/>
            <p:nvPr/>
          </p:nvSpPr>
          <p:spPr>
            <a:xfrm>
              <a:off x="7774242"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46AF0C8A-626D-5840-9920-38BE2ABA54B2}"/>
                </a:ext>
              </a:extLst>
            </p:cNvPr>
            <p:cNvGrpSpPr/>
            <p:nvPr/>
          </p:nvGrpSpPr>
          <p:grpSpPr>
            <a:xfrm>
              <a:off x="7304394" y="3620639"/>
              <a:ext cx="1919174" cy="1511852"/>
              <a:chOff x="2610785" y="3178812"/>
              <a:chExt cx="1919174" cy="1511852"/>
            </a:xfrm>
          </p:grpSpPr>
          <p:sp>
            <p:nvSpPr>
              <p:cNvPr id="31" name="Oval 30">
                <a:extLst>
                  <a:ext uri="{FF2B5EF4-FFF2-40B4-BE49-F238E27FC236}">
                    <a16:creationId xmlns:a16="http://schemas.microsoft.com/office/drawing/2014/main" id="{FF110FEA-957B-0445-85A1-A4F65FB1C8BE}"/>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32" name="Straight Connector 31">
                <a:extLst>
                  <a:ext uri="{FF2B5EF4-FFF2-40B4-BE49-F238E27FC236}">
                    <a16:creationId xmlns:a16="http://schemas.microsoft.com/office/drawing/2014/main" id="{4A868108-182C-694D-ACA6-339BE579603E}"/>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4AF3DC9-8AA5-4549-8157-E0B1D25335E5}"/>
                  </a:ext>
                </a:extLst>
              </p:cNvPr>
              <p:cNvCxnSpPr>
                <a:cxnSpLocks/>
                <a:stCxn id="6" idx="5"/>
                <a:endCxn id="31"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EE66FFA4-467E-334E-90FD-61CC058493DB}"/>
                </a:ext>
              </a:extLst>
            </p:cNvPr>
            <p:cNvSpPr txBox="1"/>
            <p:nvPr/>
          </p:nvSpPr>
          <p:spPr>
            <a:xfrm>
              <a:off x="4731026" y="3175362"/>
              <a:ext cx="838691"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get(G)</a:t>
              </a:r>
            </a:p>
          </p:txBody>
        </p:sp>
        <p:cxnSp>
          <p:nvCxnSpPr>
            <p:cNvPr id="19" name="Straight Connector 18">
              <a:extLst>
                <a:ext uri="{FF2B5EF4-FFF2-40B4-BE49-F238E27FC236}">
                  <a16:creationId xmlns:a16="http://schemas.microsoft.com/office/drawing/2014/main" id="{2303AAF7-F2A1-8843-BA01-4AA7DFB7483E}"/>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31C5B45-5446-2743-A3DA-805E9CFDB68C}"/>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951B80C-A3E0-FE49-881A-D272D54C0B82}"/>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0C3DF75-ADD7-8A4A-A989-127C45EE55EE}"/>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1977093-65D7-CE4F-A548-C356EBCD654E}"/>
                </a:ext>
              </a:extLst>
            </p:cNvPr>
            <p:cNvCxnSpPr>
              <a:cxnSpLocks/>
              <a:stCxn id="31"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5A3B5D8-66CD-6B47-B5E7-86A39C42814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221A422-0134-5741-AF41-6442096813B0}"/>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9DF6D2-AE0A-E549-A8B8-5A19998F5F65}"/>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854099-18D2-FF4A-BFA2-2B91BD4136F8}"/>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969098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C1FC9-D167-FA4A-9CCF-428BDDB06061}"/>
              </a:ext>
            </a:extLst>
          </p:cNvPr>
          <p:cNvSpPr>
            <a:spLocks noGrp="1"/>
          </p:cNvSpPr>
          <p:nvPr>
            <p:ph type="title"/>
          </p:nvPr>
        </p:nvSpPr>
        <p:spPr/>
        <p:txBody>
          <a:bodyPr/>
          <a:lstStyle/>
          <a:p>
            <a:r>
              <a:rPr lang="en-US" dirty="0"/>
              <a:t>BST IMPLEMENTATION – GET(search)</a:t>
            </a:r>
          </a:p>
        </p:txBody>
      </p:sp>
      <p:sp>
        <p:nvSpPr>
          <p:cNvPr id="3" name="Content Placeholder 2">
            <a:extLst>
              <a:ext uri="{FF2B5EF4-FFF2-40B4-BE49-F238E27FC236}">
                <a16:creationId xmlns:a16="http://schemas.microsoft.com/office/drawing/2014/main" id="{CBE0015E-23B7-FA45-8A1C-108A03FA0208}"/>
              </a:ext>
            </a:extLst>
          </p:cNvPr>
          <p:cNvSpPr>
            <a:spLocks noGrp="1"/>
          </p:cNvSpPr>
          <p:nvPr>
            <p:ph idx="1"/>
          </p:nvPr>
        </p:nvSpPr>
        <p:spPr/>
        <p:txBody>
          <a:bodyPr/>
          <a:lstStyle/>
          <a:p>
            <a:r>
              <a:rPr lang="en-US" dirty="0"/>
              <a:t>Get(key): </a:t>
            </a:r>
          </a:p>
          <a:p>
            <a:pPr lvl="1"/>
            <a:r>
              <a:rPr lang="en-US" dirty="0"/>
              <a:t>If key == </a:t>
            </a:r>
            <a:r>
              <a:rPr lang="en-US" dirty="0" err="1"/>
              <a:t>node.key</a:t>
            </a:r>
            <a:r>
              <a:rPr lang="en-US" dirty="0"/>
              <a:t>, hit</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r>
              <a:rPr lang="en-US" dirty="0"/>
              <a:t>Example</a:t>
            </a:r>
          </a:p>
          <a:p>
            <a:pPr lvl="1"/>
            <a:r>
              <a:rPr lang="en-US" dirty="0"/>
              <a:t>Unsuccessful search for G</a:t>
            </a:r>
          </a:p>
        </p:txBody>
      </p:sp>
      <p:grpSp>
        <p:nvGrpSpPr>
          <p:cNvPr id="4" name="Group 3" descr="demo of unsuccessful search for key in BST">
            <a:extLst>
              <a:ext uri="{FF2B5EF4-FFF2-40B4-BE49-F238E27FC236}">
                <a16:creationId xmlns:a16="http://schemas.microsoft.com/office/drawing/2014/main" id="{4DEB8D05-87FA-AE4C-908E-7877AE1BD035}"/>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CEC54813-F1FE-F743-AF57-B294CAAF3C4F}"/>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E4FC6086-2B72-BC45-BF88-89DB0B5E9AFD}"/>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901AC237-5333-9E43-8621-603D23D69038}"/>
                </a:ext>
              </a:extLst>
            </p:cNvPr>
            <p:cNvCxnSpPr>
              <a:cxnSpLocks/>
              <a:stCxn id="6" idx="3"/>
              <a:endCxn id="34" idx="0"/>
            </p:cNvCxnSpPr>
            <p:nvPr/>
          </p:nvCxnSpPr>
          <p:spPr>
            <a:xfrm flipH="1">
              <a:off x="7030774" y="3620639"/>
              <a:ext cx="790414" cy="271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4558E56E-B405-2542-AC6A-4C9E4DA113C8}"/>
                </a:ext>
              </a:extLst>
            </p:cNvPr>
            <p:cNvGrpSpPr/>
            <p:nvPr/>
          </p:nvGrpSpPr>
          <p:grpSpPr>
            <a:xfrm>
              <a:off x="6090548" y="3891858"/>
              <a:ext cx="1730640" cy="636744"/>
              <a:chOff x="3429450" y="3492063"/>
              <a:chExt cx="1730640" cy="636744"/>
            </a:xfrm>
          </p:grpSpPr>
          <p:sp>
            <p:nvSpPr>
              <p:cNvPr id="34" name="Oval 33">
                <a:extLst>
                  <a:ext uri="{FF2B5EF4-FFF2-40B4-BE49-F238E27FC236}">
                    <a16:creationId xmlns:a16="http://schemas.microsoft.com/office/drawing/2014/main" id="{EF692EAD-5177-E24F-B825-A75DAA7A390A}"/>
                  </a:ext>
                </a:extLst>
              </p:cNvPr>
              <p:cNvSpPr/>
              <p:nvPr/>
            </p:nvSpPr>
            <p:spPr>
              <a:xfrm>
                <a:off x="4209393" y="3492063"/>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35" name="Straight Connector 34">
                <a:extLst>
                  <a:ext uri="{FF2B5EF4-FFF2-40B4-BE49-F238E27FC236}">
                    <a16:creationId xmlns:a16="http://schemas.microsoft.com/office/drawing/2014/main" id="{26B642FE-497E-BF43-8A45-3F7D656FEC00}"/>
                  </a:ext>
                </a:extLst>
              </p:cNvPr>
              <p:cNvCxnSpPr>
                <a:cxnSpLocks/>
                <a:stCxn id="34"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2716482-E2AD-B847-B2E5-3778318E5BAB}"/>
                  </a:ext>
                </a:extLst>
              </p:cNvPr>
              <p:cNvCxnSpPr>
                <a:cxnSpLocks/>
                <a:stCxn id="34" idx="5"/>
                <a:endCxn id="11" idx="1"/>
              </p:cNvCxnSpPr>
              <p:nvPr/>
            </p:nvCxnSpPr>
            <p:spPr>
              <a:xfrm>
                <a:off x="4483013" y="3788111"/>
                <a:ext cx="677077" cy="3406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31E1D2CA-7F68-5842-9C96-9B4D6F2C6145}"/>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CC457E64-BACC-D947-9F53-3D624AE2F401}"/>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C19EF0AA-AB31-554D-ABEC-849CD2267B79}"/>
                </a:ext>
              </a:extLst>
            </p:cNvPr>
            <p:cNvSpPr/>
            <p:nvPr/>
          </p:nvSpPr>
          <p:spPr>
            <a:xfrm>
              <a:off x="7774242"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46AF0C8A-626D-5840-9920-38BE2ABA54B2}"/>
                </a:ext>
              </a:extLst>
            </p:cNvPr>
            <p:cNvGrpSpPr/>
            <p:nvPr/>
          </p:nvGrpSpPr>
          <p:grpSpPr>
            <a:xfrm>
              <a:off x="7304394" y="3620639"/>
              <a:ext cx="1919174" cy="1511852"/>
              <a:chOff x="2610785" y="3178812"/>
              <a:chExt cx="1919174" cy="1511852"/>
            </a:xfrm>
          </p:grpSpPr>
          <p:sp>
            <p:nvSpPr>
              <p:cNvPr id="31" name="Oval 30">
                <a:extLst>
                  <a:ext uri="{FF2B5EF4-FFF2-40B4-BE49-F238E27FC236}">
                    <a16:creationId xmlns:a16="http://schemas.microsoft.com/office/drawing/2014/main" id="{FF110FEA-957B-0445-85A1-A4F65FB1C8BE}"/>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32" name="Straight Connector 31">
                <a:extLst>
                  <a:ext uri="{FF2B5EF4-FFF2-40B4-BE49-F238E27FC236}">
                    <a16:creationId xmlns:a16="http://schemas.microsoft.com/office/drawing/2014/main" id="{4A868108-182C-694D-ACA6-339BE579603E}"/>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4AF3DC9-8AA5-4549-8157-E0B1D25335E5}"/>
                  </a:ext>
                </a:extLst>
              </p:cNvPr>
              <p:cNvCxnSpPr>
                <a:cxnSpLocks/>
                <a:stCxn id="6" idx="5"/>
                <a:endCxn id="31"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EE66FFA4-467E-334E-90FD-61CC058493DB}"/>
                </a:ext>
              </a:extLst>
            </p:cNvPr>
            <p:cNvSpPr txBox="1"/>
            <p:nvPr/>
          </p:nvSpPr>
          <p:spPr>
            <a:xfrm>
              <a:off x="4731026" y="3175362"/>
              <a:ext cx="838691"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get(G)</a:t>
              </a:r>
            </a:p>
          </p:txBody>
        </p:sp>
        <p:cxnSp>
          <p:nvCxnSpPr>
            <p:cNvPr id="19" name="Straight Connector 18">
              <a:extLst>
                <a:ext uri="{FF2B5EF4-FFF2-40B4-BE49-F238E27FC236}">
                  <a16:creationId xmlns:a16="http://schemas.microsoft.com/office/drawing/2014/main" id="{2303AAF7-F2A1-8843-BA01-4AA7DFB7483E}"/>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31C5B45-5446-2743-A3DA-805E9CFDB68C}"/>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951B80C-A3E0-FE49-881A-D272D54C0B82}"/>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0C3DF75-ADD7-8A4A-A989-127C45EE55EE}"/>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1977093-65D7-CE4F-A548-C356EBCD654E}"/>
                </a:ext>
              </a:extLst>
            </p:cNvPr>
            <p:cNvCxnSpPr>
              <a:cxnSpLocks/>
              <a:stCxn id="31"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5A3B5D8-66CD-6B47-B5E7-86A39C42814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221A422-0134-5741-AF41-6442096813B0}"/>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9DF6D2-AE0A-E549-A8B8-5A19998F5F65}"/>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854099-18D2-FF4A-BFA2-2B91BD4136F8}"/>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08152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C1FC9-D167-FA4A-9CCF-428BDDB06061}"/>
              </a:ext>
            </a:extLst>
          </p:cNvPr>
          <p:cNvSpPr>
            <a:spLocks noGrp="1"/>
          </p:cNvSpPr>
          <p:nvPr>
            <p:ph type="title"/>
          </p:nvPr>
        </p:nvSpPr>
        <p:spPr/>
        <p:txBody>
          <a:bodyPr/>
          <a:lstStyle/>
          <a:p>
            <a:r>
              <a:rPr lang="en-US" dirty="0"/>
              <a:t>BST IMPLEMENTATION – GET(search)</a:t>
            </a:r>
          </a:p>
        </p:txBody>
      </p:sp>
      <p:sp>
        <p:nvSpPr>
          <p:cNvPr id="3" name="Content Placeholder 2">
            <a:extLst>
              <a:ext uri="{FF2B5EF4-FFF2-40B4-BE49-F238E27FC236}">
                <a16:creationId xmlns:a16="http://schemas.microsoft.com/office/drawing/2014/main" id="{CBE0015E-23B7-FA45-8A1C-108A03FA0208}"/>
              </a:ext>
            </a:extLst>
          </p:cNvPr>
          <p:cNvSpPr>
            <a:spLocks noGrp="1"/>
          </p:cNvSpPr>
          <p:nvPr>
            <p:ph idx="1"/>
          </p:nvPr>
        </p:nvSpPr>
        <p:spPr/>
        <p:txBody>
          <a:bodyPr/>
          <a:lstStyle/>
          <a:p>
            <a:r>
              <a:rPr lang="en-US" dirty="0"/>
              <a:t>Get(key): </a:t>
            </a:r>
          </a:p>
          <a:p>
            <a:pPr lvl="1"/>
            <a:r>
              <a:rPr lang="en-US" dirty="0"/>
              <a:t>If key == </a:t>
            </a:r>
            <a:r>
              <a:rPr lang="en-US" dirty="0" err="1"/>
              <a:t>node.key</a:t>
            </a:r>
            <a:r>
              <a:rPr lang="en-US" dirty="0"/>
              <a:t>, hit</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r>
              <a:rPr lang="en-US" dirty="0"/>
              <a:t>Example</a:t>
            </a:r>
          </a:p>
          <a:p>
            <a:pPr lvl="1"/>
            <a:r>
              <a:rPr lang="en-US" dirty="0"/>
              <a:t>Unsuccessful search for G</a:t>
            </a:r>
          </a:p>
        </p:txBody>
      </p:sp>
      <p:grpSp>
        <p:nvGrpSpPr>
          <p:cNvPr id="4" name="Group 3" descr="demo of unsuccessful search for key in BST">
            <a:extLst>
              <a:ext uri="{FF2B5EF4-FFF2-40B4-BE49-F238E27FC236}">
                <a16:creationId xmlns:a16="http://schemas.microsoft.com/office/drawing/2014/main" id="{4DEB8D05-87FA-AE4C-908E-7877AE1BD035}"/>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CEC54813-F1FE-F743-AF57-B294CAAF3C4F}"/>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E4FC6086-2B72-BC45-BF88-89DB0B5E9AFD}"/>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901AC237-5333-9E43-8621-603D23D69038}"/>
                </a:ext>
              </a:extLst>
            </p:cNvPr>
            <p:cNvCxnSpPr>
              <a:cxnSpLocks/>
              <a:stCxn id="6" idx="3"/>
              <a:endCxn id="34" idx="0"/>
            </p:cNvCxnSpPr>
            <p:nvPr/>
          </p:nvCxnSpPr>
          <p:spPr>
            <a:xfrm flipH="1">
              <a:off x="7030774" y="3620639"/>
              <a:ext cx="790414" cy="271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4558E56E-B405-2542-AC6A-4C9E4DA113C8}"/>
                </a:ext>
              </a:extLst>
            </p:cNvPr>
            <p:cNvGrpSpPr/>
            <p:nvPr/>
          </p:nvGrpSpPr>
          <p:grpSpPr>
            <a:xfrm>
              <a:off x="6090548" y="3891858"/>
              <a:ext cx="1730640" cy="636744"/>
              <a:chOff x="3429450" y="3492063"/>
              <a:chExt cx="1730640" cy="636744"/>
            </a:xfrm>
          </p:grpSpPr>
          <p:sp>
            <p:nvSpPr>
              <p:cNvPr id="34" name="Oval 33">
                <a:extLst>
                  <a:ext uri="{FF2B5EF4-FFF2-40B4-BE49-F238E27FC236}">
                    <a16:creationId xmlns:a16="http://schemas.microsoft.com/office/drawing/2014/main" id="{EF692EAD-5177-E24F-B825-A75DAA7A390A}"/>
                  </a:ext>
                </a:extLst>
              </p:cNvPr>
              <p:cNvSpPr/>
              <p:nvPr/>
            </p:nvSpPr>
            <p:spPr>
              <a:xfrm>
                <a:off x="4209393" y="3492063"/>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35" name="Straight Connector 34">
                <a:extLst>
                  <a:ext uri="{FF2B5EF4-FFF2-40B4-BE49-F238E27FC236}">
                    <a16:creationId xmlns:a16="http://schemas.microsoft.com/office/drawing/2014/main" id="{26B642FE-497E-BF43-8A45-3F7D656FEC00}"/>
                  </a:ext>
                </a:extLst>
              </p:cNvPr>
              <p:cNvCxnSpPr>
                <a:cxnSpLocks/>
                <a:stCxn id="34"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2716482-E2AD-B847-B2E5-3778318E5BAB}"/>
                  </a:ext>
                </a:extLst>
              </p:cNvPr>
              <p:cNvCxnSpPr>
                <a:cxnSpLocks/>
                <a:stCxn id="34" idx="5"/>
                <a:endCxn id="11" idx="1"/>
              </p:cNvCxnSpPr>
              <p:nvPr/>
            </p:nvCxnSpPr>
            <p:spPr>
              <a:xfrm>
                <a:off x="4483013" y="3788111"/>
                <a:ext cx="677077" cy="3406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31E1D2CA-7F68-5842-9C96-9B4D6F2C6145}"/>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CC457E64-BACC-D947-9F53-3D624AE2F401}"/>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C19EF0AA-AB31-554D-ABEC-849CD2267B79}"/>
                </a:ext>
              </a:extLst>
            </p:cNvPr>
            <p:cNvSpPr/>
            <p:nvPr/>
          </p:nvSpPr>
          <p:spPr>
            <a:xfrm>
              <a:off x="7774242" y="4477808"/>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46AF0C8A-626D-5840-9920-38BE2ABA54B2}"/>
                </a:ext>
              </a:extLst>
            </p:cNvPr>
            <p:cNvGrpSpPr/>
            <p:nvPr/>
          </p:nvGrpSpPr>
          <p:grpSpPr>
            <a:xfrm>
              <a:off x="7304394" y="3620639"/>
              <a:ext cx="1919174" cy="1511852"/>
              <a:chOff x="2610785" y="3178812"/>
              <a:chExt cx="1919174" cy="1511852"/>
            </a:xfrm>
          </p:grpSpPr>
          <p:sp>
            <p:nvSpPr>
              <p:cNvPr id="31" name="Oval 30">
                <a:extLst>
                  <a:ext uri="{FF2B5EF4-FFF2-40B4-BE49-F238E27FC236}">
                    <a16:creationId xmlns:a16="http://schemas.microsoft.com/office/drawing/2014/main" id="{FF110FEA-957B-0445-85A1-A4F65FB1C8BE}"/>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32" name="Straight Connector 31">
                <a:extLst>
                  <a:ext uri="{FF2B5EF4-FFF2-40B4-BE49-F238E27FC236}">
                    <a16:creationId xmlns:a16="http://schemas.microsoft.com/office/drawing/2014/main" id="{4A868108-182C-694D-ACA6-339BE579603E}"/>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4AF3DC9-8AA5-4549-8157-E0B1D25335E5}"/>
                  </a:ext>
                </a:extLst>
              </p:cNvPr>
              <p:cNvCxnSpPr>
                <a:cxnSpLocks/>
                <a:stCxn id="6" idx="5"/>
                <a:endCxn id="31"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EE66FFA4-467E-334E-90FD-61CC058493DB}"/>
                </a:ext>
              </a:extLst>
            </p:cNvPr>
            <p:cNvSpPr txBox="1"/>
            <p:nvPr/>
          </p:nvSpPr>
          <p:spPr>
            <a:xfrm>
              <a:off x="4731026" y="3175362"/>
              <a:ext cx="838691"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get(G)</a:t>
              </a:r>
            </a:p>
          </p:txBody>
        </p:sp>
        <p:cxnSp>
          <p:nvCxnSpPr>
            <p:cNvPr id="19" name="Straight Connector 18">
              <a:extLst>
                <a:ext uri="{FF2B5EF4-FFF2-40B4-BE49-F238E27FC236}">
                  <a16:creationId xmlns:a16="http://schemas.microsoft.com/office/drawing/2014/main" id="{2303AAF7-F2A1-8843-BA01-4AA7DFB7483E}"/>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31C5B45-5446-2743-A3DA-805E9CFDB68C}"/>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951B80C-A3E0-FE49-881A-D272D54C0B82}"/>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0C3DF75-ADD7-8A4A-A989-127C45EE55EE}"/>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1977093-65D7-CE4F-A548-C356EBCD654E}"/>
                </a:ext>
              </a:extLst>
            </p:cNvPr>
            <p:cNvCxnSpPr>
              <a:cxnSpLocks/>
              <a:stCxn id="31"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5A3B5D8-66CD-6B47-B5E7-86A39C42814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221A422-0134-5741-AF41-6442096813B0}"/>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9DF6D2-AE0A-E549-A8B8-5A19998F5F65}"/>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854099-18D2-FF4A-BFA2-2B91BD4136F8}"/>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372965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C1FC9-D167-FA4A-9CCF-428BDDB06061}"/>
              </a:ext>
            </a:extLst>
          </p:cNvPr>
          <p:cNvSpPr>
            <a:spLocks noGrp="1"/>
          </p:cNvSpPr>
          <p:nvPr>
            <p:ph type="title"/>
          </p:nvPr>
        </p:nvSpPr>
        <p:spPr/>
        <p:txBody>
          <a:bodyPr/>
          <a:lstStyle/>
          <a:p>
            <a:r>
              <a:rPr lang="en-US" dirty="0"/>
              <a:t>BST IMPLEMENTATION – GET(search)</a:t>
            </a:r>
          </a:p>
        </p:txBody>
      </p:sp>
      <p:sp>
        <p:nvSpPr>
          <p:cNvPr id="3" name="Content Placeholder 2">
            <a:extLst>
              <a:ext uri="{FF2B5EF4-FFF2-40B4-BE49-F238E27FC236}">
                <a16:creationId xmlns:a16="http://schemas.microsoft.com/office/drawing/2014/main" id="{CBE0015E-23B7-FA45-8A1C-108A03FA0208}"/>
              </a:ext>
            </a:extLst>
          </p:cNvPr>
          <p:cNvSpPr>
            <a:spLocks noGrp="1"/>
          </p:cNvSpPr>
          <p:nvPr>
            <p:ph idx="1"/>
          </p:nvPr>
        </p:nvSpPr>
        <p:spPr/>
        <p:txBody>
          <a:bodyPr/>
          <a:lstStyle/>
          <a:p>
            <a:r>
              <a:rPr lang="en-US" dirty="0"/>
              <a:t>Get(key): </a:t>
            </a:r>
          </a:p>
          <a:p>
            <a:pPr lvl="1"/>
            <a:r>
              <a:rPr lang="en-US" dirty="0"/>
              <a:t>If key == </a:t>
            </a:r>
            <a:r>
              <a:rPr lang="en-US" dirty="0" err="1"/>
              <a:t>node.key</a:t>
            </a:r>
            <a:r>
              <a:rPr lang="en-US" dirty="0"/>
              <a:t>, hit</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r>
              <a:rPr lang="en-US" dirty="0"/>
              <a:t>Example</a:t>
            </a:r>
          </a:p>
          <a:p>
            <a:pPr lvl="1"/>
            <a:r>
              <a:rPr lang="en-US" dirty="0"/>
              <a:t>Unsuccessful search for G</a:t>
            </a:r>
          </a:p>
        </p:txBody>
      </p:sp>
      <p:grpSp>
        <p:nvGrpSpPr>
          <p:cNvPr id="4" name="Group 3" descr="demo of unsuccessful search for key in BST">
            <a:extLst>
              <a:ext uri="{FF2B5EF4-FFF2-40B4-BE49-F238E27FC236}">
                <a16:creationId xmlns:a16="http://schemas.microsoft.com/office/drawing/2014/main" id="{4DEB8D05-87FA-AE4C-908E-7877AE1BD035}"/>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CEC54813-F1FE-F743-AF57-B294CAAF3C4F}"/>
                </a:ext>
              </a:extLst>
            </p:cNvPr>
            <p:cNvSpPr/>
            <p:nvPr/>
          </p:nvSpPr>
          <p:spPr>
            <a:xfrm>
              <a:off x="7030774" y="5081697"/>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E4FC6086-2B72-BC45-BF88-89DB0B5E9AFD}"/>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901AC237-5333-9E43-8621-603D23D69038}"/>
                </a:ext>
              </a:extLst>
            </p:cNvPr>
            <p:cNvCxnSpPr>
              <a:cxnSpLocks/>
              <a:stCxn id="6" idx="3"/>
              <a:endCxn id="34" idx="0"/>
            </p:cNvCxnSpPr>
            <p:nvPr/>
          </p:nvCxnSpPr>
          <p:spPr>
            <a:xfrm flipH="1">
              <a:off x="7030774" y="3620639"/>
              <a:ext cx="790414" cy="271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4558E56E-B405-2542-AC6A-4C9E4DA113C8}"/>
                </a:ext>
              </a:extLst>
            </p:cNvPr>
            <p:cNvGrpSpPr/>
            <p:nvPr/>
          </p:nvGrpSpPr>
          <p:grpSpPr>
            <a:xfrm>
              <a:off x="6090548" y="3891858"/>
              <a:ext cx="1730640" cy="636744"/>
              <a:chOff x="3429450" y="3492063"/>
              <a:chExt cx="1730640" cy="636744"/>
            </a:xfrm>
          </p:grpSpPr>
          <p:sp>
            <p:nvSpPr>
              <p:cNvPr id="34" name="Oval 33">
                <a:extLst>
                  <a:ext uri="{FF2B5EF4-FFF2-40B4-BE49-F238E27FC236}">
                    <a16:creationId xmlns:a16="http://schemas.microsoft.com/office/drawing/2014/main" id="{EF692EAD-5177-E24F-B825-A75DAA7A390A}"/>
                  </a:ext>
                </a:extLst>
              </p:cNvPr>
              <p:cNvSpPr/>
              <p:nvPr/>
            </p:nvSpPr>
            <p:spPr>
              <a:xfrm>
                <a:off x="4209393" y="3492063"/>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35" name="Straight Connector 34">
                <a:extLst>
                  <a:ext uri="{FF2B5EF4-FFF2-40B4-BE49-F238E27FC236}">
                    <a16:creationId xmlns:a16="http://schemas.microsoft.com/office/drawing/2014/main" id="{26B642FE-497E-BF43-8A45-3F7D656FEC00}"/>
                  </a:ext>
                </a:extLst>
              </p:cNvPr>
              <p:cNvCxnSpPr>
                <a:cxnSpLocks/>
                <a:stCxn id="34"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2716482-E2AD-B847-B2E5-3778318E5BAB}"/>
                  </a:ext>
                </a:extLst>
              </p:cNvPr>
              <p:cNvCxnSpPr>
                <a:cxnSpLocks/>
                <a:stCxn id="34" idx="5"/>
                <a:endCxn id="11" idx="1"/>
              </p:cNvCxnSpPr>
              <p:nvPr/>
            </p:nvCxnSpPr>
            <p:spPr>
              <a:xfrm>
                <a:off x="4483013" y="3788111"/>
                <a:ext cx="677077" cy="3406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31E1D2CA-7F68-5842-9C96-9B4D6F2C6145}"/>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CC457E64-BACC-D947-9F53-3D624AE2F401}"/>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C19EF0AA-AB31-554D-ABEC-849CD2267B79}"/>
                </a:ext>
              </a:extLst>
            </p:cNvPr>
            <p:cNvSpPr/>
            <p:nvPr/>
          </p:nvSpPr>
          <p:spPr>
            <a:xfrm>
              <a:off x="7774242" y="4477808"/>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46AF0C8A-626D-5840-9920-38BE2ABA54B2}"/>
                </a:ext>
              </a:extLst>
            </p:cNvPr>
            <p:cNvGrpSpPr/>
            <p:nvPr/>
          </p:nvGrpSpPr>
          <p:grpSpPr>
            <a:xfrm>
              <a:off x="7304394" y="3620639"/>
              <a:ext cx="1919174" cy="1511852"/>
              <a:chOff x="2610785" y="3178812"/>
              <a:chExt cx="1919174" cy="1511852"/>
            </a:xfrm>
          </p:grpSpPr>
          <p:sp>
            <p:nvSpPr>
              <p:cNvPr id="31" name="Oval 30">
                <a:extLst>
                  <a:ext uri="{FF2B5EF4-FFF2-40B4-BE49-F238E27FC236}">
                    <a16:creationId xmlns:a16="http://schemas.microsoft.com/office/drawing/2014/main" id="{FF110FEA-957B-0445-85A1-A4F65FB1C8BE}"/>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32" name="Straight Connector 31">
                <a:extLst>
                  <a:ext uri="{FF2B5EF4-FFF2-40B4-BE49-F238E27FC236}">
                    <a16:creationId xmlns:a16="http://schemas.microsoft.com/office/drawing/2014/main" id="{4A868108-182C-694D-ACA6-339BE579603E}"/>
                  </a:ext>
                </a:extLst>
              </p:cNvPr>
              <p:cNvCxnSpPr>
                <a:cxnSpLocks/>
                <a:stCxn id="11" idx="3"/>
                <a:endCxn id="5" idx="7"/>
              </p:cNvCxnSpPr>
              <p:nvPr/>
            </p:nvCxnSpPr>
            <p:spPr>
              <a:xfrm flipH="1">
                <a:off x="2610785" y="4332029"/>
                <a:ext cx="516794" cy="3586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4AF3DC9-8AA5-4549-8157-E0B1D25335E5}"/>
                  </a:ext>
                </a:extLst>
              </p:cNvPr>
              <p:cNvCxnSpPr>
                <a:cxnSpLocks/>
                <a:stCxn id="6" idx="5"/>
                <a:endCxn id="31"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EE66FFA4-467E-334E-90FD-61CC058493DB}"/>
                </a:ext>
              </a:extLst>
            </p:cNvPr>
            <p:cNvSpPr txBox="1"/>
            <p:nvPr/>
          </p:nvSpPr>
          <p:spPr>
            <a:xfrm>
              <a:off x="4731026" y="3175362"/>
              <a:ext cx="838691"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get(G)</a:t>
              </a:r>
            </a:p>
          </p:txBody>
        </p:sp>
        <p:cxnSp>
          <p:nvCxnSpPr>
            <p:cNvPr id="19" name="Straight Connector 18">
              <a:extLst>
                <a:ext uri="{FF2B5EF4-FFF2-40B4-BE49-F238E27FC236}">
                  <a16:creationId xmlns:a16="http://schemas.microsoft.com/office/drawing/2014/main" id="{2303AAF7-F2A1-8843-BA01-4AA7DFB7483E}"/>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31C5B45-5446-2743-A3DA-805E9CFDB68C}"/>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951B80C-A3E0-FE49-881A-D272D54C0B82}"/>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0C3DF75-ADD7-8A4A-A989-127C45EE55EE}"/>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1977093-65D7-CE4F-A548-C356EBCD654E}"/>
                </a:ext>
              </a:extLst>
            </p:cNvPr>
            <p:cNvCxnSpPr>
              <a:cxnSpLocks/>
              <a:stCxn id="31"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5A3B5D8-66CD-6B47-B5E7-86A39C42814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221A422-0134-5741-AF41-6442096813B0}"/>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9DF6D2-AE0A-E549-A8B8-5A19998F5F65}"/>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854099-18D2-FF4A-BFA2-2B91BD4136F8}"/>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029424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5C1FC9-D167-FA4A-9CCF-428BDDB06061}"/>
              </a:ext>
            </a:extLst>
          </p:cNvPr>
          <p:cNvSpPr>
            <a:spLocks noGrp="1"/>
          </p:cNvSpPr>
          <p:nvPr>
            <p:ph type="title"/>
          </p:nvPr>
        </p:nvSpPr>
        <p:spPr/>
        <p:txBody>
          <a:bodyPr/>
          <a:lstStyle/>
          <a:p>
            <a:r>
              <a:rPr lang="en-US" dirty="0"/>
              <a:t>BST IMPLEMENTATION – GET(search)</a:t>
            </a:r>
          </a:p>
        </p:txBody>
      </p:sp>
      <p:sp>
        <p:nvSpPr>
          <p:cNvPr id="3" name="Content Placeholder 2">
            <a:extLst>
              <a:ext uri="{FF2B5EF4-FFF2-40B4-BE49-F238E27FC236}">
                <a16:creationId xmlns:a16="http://schemas.microsoft.com/office/drawing/2014/main" id="{CBE0015E-23B7-FA45-8A1C-108A03FA0208}"/>
              </a:ext>
            </a:extLst>
          </p:cNvPr>
          <p:cNvSpPr>
            <a:spLocks noGrp="1"/>
          </p:cNvSpPr>
          <p:nvPr>
            <p:ph idx="1"/>
          </p:nvPr>
        </p:nvSpPr>
        <p:spPr/>
        <p:txBody>
          <a:bodyPr/>
          <a:lstStyle/>
          <a:p>
            <a:r>
              <a:rPr lang="en-US" dirty="0"/>
              <a:t>Get(key): </a:t>
            </a:r>
          </a:p>
          <a:p>
            <a:pPr lvl="1"/>
            <a:r>
              <a:rPr lang="en-US" dirty="0"/>
              <a:t>If key == </a:t>
            </a:r>
            <a:r>
              <a:rPr lang="en-US" dirty="0" err="1"/>
              <a:t>node.key</a:t>
            </a:r>
            <a:r>
              <a:rPr lang="en-US" dirty="0"/>
              <a:t>, hit</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r>
              <a:rPr lang="en-US" dirty="0"/>
              <a:t>Example</a:t>
            </a:r>
          </a:p>
          <a:p>
            <a:pPr lvl="1"/>
            <a:r>
              <a:rPr lang="en-US" dirty="0"/>
              <a:t>Unsuccessful search for G</a:t>
            </a:r>
          </a:p>
        </p:txBody>
      </p:sp>
      <p:grpSp>
        <p:nvGrpSpPr>
          <p:cNvPr id="4" name="Group 3" descr="demo of unsuccessful search for key in BST">
            <a:extLst>
              <a:ext uri="{FF2B5EF4-FFF2-40B4-BE49-F238E27FC236}">
                <a16:creationId xmlns:a16="http://schemas.microsoft.com/office/drawing/2014/main" id="{4DEB8D05-87FA-AE4C-908E-7877AE1BD035}"/>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CEC54813-F1FE-F743-AF57-B294CAAF3C4F}"/>
                </a:ext>
              </a:extLst>
            </p:cNvPr>
            <p:cNvSpPr/>
            <p:nvPr/>
          </p:nvSpPr>
          <p:spPr>
            <a:xfrm>
              <a:off x="7030774" y="5081697"/>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E4FC6086-2B72-BC45-BF88-89DB0B5E9AFD}"/>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901AC237-5333-9E43-8621-603D23D69038}"/>
                </a:ext>
              </a:extLst>
            </p:cNvPr>
            <p:cNvCxnSpPr>
              <a:cxnSpLocks/>
              <a:stCxn id="6" idx="3"/>
              <a:endCxn id="34" idx="0"/>
            </p:cNvCxnSpPr>
            <p:nvPr/>
          </p:nvCxnSpPr>
          <p:spPr>
            <a:xfrm flipH="1">
              <a:off x="7030774" y="3620639"/>
              <a:ext cx="790414" cy="271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4558E56E-B405-2542-AC6A-4C9E4DA113C8}"/>
                </a:ext>
              </a:extLst>
            </p:cNvPr>
            <p:cNvGrpSpPr/>
            <p:nvPr/>
          </p:nvGrpSpPr>
          <p:grpSpPr>
            <a:xfrm>
              <a:off x="6090548" y="3891858"/>
              <a:ext cx="1730640" cy="636744"/>
              <a:chOff x="3429450" y="3492063"/>
              <a:chExt cx="1730640" cy="636744"/>
            </a:xfrm>
          </p:grpSpPr>
          <p:sp>
            <p:nvSpPr>
              <p:cNvPr id="34" name="Oval 33">
                <a:extLst>
                  <a:ext uri="{FF2B5EF4-FFF2-40B4-BE49-F238E27FC236}">
                    <a16:creationId xmlns:a16="http://schemas.microsoft.com/office/drawing/2014/main" id="{EF692EAD-5177-E24F-B825-A75DAA7A390A}"/>
                  </a:ext>
                </a:extLst>
              </p:cNvPr>
              <p:cNvSpPr/>
              <p:nvPr/>
            </p:nvSpPr>
            <p:spPr>
              <a:xfrm>
                <a:off x="4209393" y="3492063"/>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35" name="Straight Connector 34">
                <a:extLst>
                  <a:ext uri="{FF2B5EF4-FFF2-40B4-BE49-F238E27FC236}">
                    <a16:creationId xmlns:a16="http://schemas.microsoft.com/office/drawing/2014/main" id="{26B642FE-497E-BF43-8A45-3F7D656FEC00}"/>
                  </a:ext>
                </a:extLst>
              </p:cNvPr>
              <p:cNvCxnSpPr>
                <a:cxnSpLocks/>
                <a:stCxn id="34"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B2716482-E2AD-B847-B2E5-3778318E5BAB}"/>
                  </a:ext>
                </a:extLst>
              </p:cNvPr>
              <p:cNvCxnSpPr>
                <a:cxnSpLocks/>
                <a:stCxn id="34" idx="5"/>
                <a:endCxn id="11" idx="1"/>
              </p:cNvCxnSpPr>
              <p:nvPr/>
            </p:nvCxnSpPr>
            <p:spPr>
              <a:xfrm>
                <a:off x="4483013" y="3788111"/>
                <a:ext cx="677077" cy="3406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31E1D2CA-7F68-5842-9C96-9B4D6F2C6145}"/>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CC457E64-BACC-D947-9F53-3D624AE2F401}"/>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C19EF0AA-AB31-554D-ABEC-849CD2267B79}"/>
                </a:ext>
              </a:extLst>
            </p:cNvPr>
            <p:cNvSpPr/>
            <p:nvPr/>
          </p:nvSpPr>
          <p:spPr>
            <a:xfrm>
              <a:off x="7774242" y="4477808"/>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46AF0C8A-626D-5840-9920-38BE2ABA54B2}"/>
                </a:ext>
              </a:extLst>
            </p:cNvPr>
            <p:cNvGrpSpPr/>
            <p:nvPr/>
          </p:nvGrpSpPr>
          <p:grpSpPr>
            <a:xfrm>
              <a:off x="7304394" y="3620639"/>
              <a:ext cx="1919174" cy="1511852"/>
              <a:chOff x="2610785" y="3178812"/>
              <a:chExt cx="1919174" cy="1511852"/>
            </a:xfrm>
          </p:grpSpPr>
          <p:sp>
            <p:nvSpPr>
              <p:cNvPr id="31" name="Oval 30">
                <a:extLst>
                  <a:ext uri="{FF2B5EF4-FFF2-40B4-BE49-F238E27FC236}">
                    <a16:creationId xmlns:a16="http://schemas.microsoft.com/office/drawing/2014/main" id="{FF110FEA-957B-0445-85A1-A4F65FB1C8BE}"/>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32" name="Straight Connector 31">
                <a:extLst>
                  <a:ext uri="{FF2B5EF4-FFF2-40B4-BE49-F238E27FC236}">
                    <a16:creationId xmlns:a16="http://schemas.microsoft.com/office/drawing/2014/main" id="{4A868108-182C-694D-ACA6-339BE579603E}"/>
                  </a:ext>
                </a:extLst>
              </p:cNvPr>
              <p:cNvCxnSpPr>
                <a:cxnSpLocks/>
                <a:stCxn id="11" idx="3"/>
                <a:endCxn id="5" idx="7"/>
              </p:cNvCxnSpPr>
              <p:nvPr/>
            </p:nvCxnSpPr>
            <p:spPr>
              <a:xfrm flipH="1">
                <a:off x="2610785" y="4332029"/>
                <a:ext cx="516794" cy="3586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84AF3DC9-8AA5-4549-8157-E0B1D25335E5}"/>
                  </a:ext>
                </a:extLst>
              </p:cNvPr>
              <p:cNvCxnSpPr>
                <a:cxnSpLocks/>
                <a:stCxn id="6" idx="5"/>
                <a:endCxn id="31"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9" name="TextBox 28">
              <a:extLst>
                <a:ext uri="{FF2B5EF4-FFF2-40B4-BE49-F238E27FC236}">
                  <a16:creationId xmlns:a16="http://schemas.microsoft.com/office/drawing/2014/main" id="{EE66FFA4-467E-334E-90FD-61CC058493DB}"/>
                </a:ext>
              </a:extLst>
            </p:cNvPr>
            <p:cNvSpPr txBox="1"/>
            <p:nvPr/>
          </p:nvSpPr>
          <p:spPr>
            <a:xfrm>
              <a:off x="4731026" y="3175362"/>
              <a:ext cx="838691"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get(G)</a:t>
              </a:r>
            </a:p>
          </p:txBody>
        </p:sp>
        <p:cxnSp>
          <p:nvCxnSpPr>
            <p:cNvPr id="19" name="Straight Connector 18">
              <a:extLst>
                <a:ext uri="{FF2B5EF4-FFF2-40B4-BE49-F238E27FC236}">
                  <a16:creationId xmlns:a16="http://schemas.microsoft.com/office/drawing/2014/main" id="{2303AAF7-F2A1-8843-BA01-4AA7DFB7483E}"/>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731C5B45-5446-2743-A3DA-805E9CFDB68C}"/>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8951B80C-A3E0-FE49-881A-D272D54C0B82}"/>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0C3DF75-ADD7-8A4A-A989-127C45EE55EE}"/>
                </a:ext>
              </a:extLst>
            </p:cNvPr>
            <p:cNvCxnSpPr>
              <a:cxnSpLocks/>
            </p:cNvCxnSpPr>
            <p:nvPr/>
          </p:nvCxnSpPr>
          <p:spPr>
            <a:xfrm flipH="1">
              <a:off x="6972934" y="5394120"/>
              <a:ext cx="145428" cy="284931"/>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1977093-65D7-CE4F-A548-C356EBCD654E}"/>
                </a:ext>
              </a:extLst>
            </p:cNvPr>
            <p:cNvCxnSpPr>
              <a:cxnSpLocks/>
              <a:stCxn id="31"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05A3B5D8-66CD-6B47-B5E7-86A39C42814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E221A422-0134-5741-AF41-6442096813B0}"/>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409DF6D2-AE0A-E549-A8B8-5A19998F5F65}"/>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F0854099-18D2-FF4A-BFA2-2B91BD4136F8}"/>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725886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284D0-EBB6-EC42-AE36-7632ED941316}"/>
              </a:ext>
            </a:extLst>
          </p:cNvPr>
          <p:cNvSpPr>
            <a:spLocks noGrp="1"/>
          </p:cNvSpPr>
          <p:nvPr>
            <p:ph type="title"/>
          </p:nvPr>
        </p:nvSpPr>
        <p:spPr/>
        <p:txBody>
          <a:bodyPr/>
          <a:lstStyle/>
          <a:p>
            <a:r>
              <a:rPr lang="en-US" dirty="0"/>
              <a:t>BST IMPLEMENTATION – PUT(insert)</a:t>
            </a:r>
          </a:p>
        </p:txBody>
      </p:sp>
      <p:sp>
        <p:nvSpPr>
          <p:cNvPr id="3" name="Content Placeholder 2">
            <a:extLst>
              <a:ext uri="{FF2B5EF4-FFF2-40B4-BE49-F238E27FC236}">
                <a16:creationId xmlns:a16="http://schemas.microsoft.com/office/drawing/2014/main" id="{8D316A71-43AA-D04B-ACC6-CFB42B7BD171}"/>
              </a:ext>
            </a:extLst>
          </p:cNvPr>
          <p:cNvSpPr>
            <a:spLocks noGrp="1"/>
          </p:cNvSpPr>
          <p:nvPr>
            <p:ph idx="1"/>
          </p:nvPr>
        </p:nvSpPr>
        <p:spPr/>
        <p:txBody>
          <a:bodyPr/>
          <a:lstStyle/>
          <a:p>
            <a:r>
              <a:rPr lang="en-US" dirty="0"/>
              <a:t>Put(key, value):</a:t>
            </a:r>
          </a:p>
          <a:p>
            <a:pPr lvl="1"/>
            <a:r>
              <a:rPr lang="en-US" dirty="0"/>
              <a:t>If key == </a:t>
            </a:r>
            <a:r>
              <a:rPr lang="en-US" dirty="0" err="1"/>
              <a:t>node.key</a:t>
            </a:r>
            <a:r>
              <a:rPr lang="en-US" dirty="0"/>
              <a:t>, update </a:t>
            </a:r>
            <a:r>
              <a:rPr lang="en-US" dirty="0" err="1"/>
              <a:t>node.value</a:t>
            </a:r>
            <a:r>
              <a:rPr lang="en-US" dirty="0"/>
              <a:t>=value</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pPr lvl="1"/>
            <a:r>
              <a:rPr lang="en-US" dirty="0"/>
              <a:t>If null, insert new node</a:t>
            </a:r>
          </a:p>
          <a:p>
            <a:r>
              <a:rPr lang="en-US" dirty="0"/>
              <a:t>Example</a:t>
            </a:r>
          </a:p>
          <a:p>
            <a:pPr lvl="1"/>
            <a:r>
              <a:rPr lang="en-US" dirty="0"/>
              <a:t>Put new key M</a:t>
            </a:r>
          </a:p>
        </p:txBody>
      </p:sp>
      <p:grpSp>
        <p:nvGrpSpPr>
          <p:cNvPr id="4" name="Group 3" descr="demo of insertion of new key in BST">
            <a:extLst>
              <a:ext uri="{FF2B5EF4-FFF2-40B4-BE49-F238E27FC236}">
                <a16:creationId xmlns:a16="http://schemas.microsoft.com/office/drawing/2014/main" id="{3DD07CEA-E36C-3C4B-9D20-3BEDE6B90833}"/>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3E9B78FD-235C-DC4F-88AE-E74807DDDFE9}"/>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F779E6ED-EE7E-B947-9DE4-3CF32652F924}"/>
                </a:ext>
              </a:extLst>
            </p:cNvPr>
            <p:cNvSpPr/>
            <p:nvPr/>
          </p:nvSpPr>
          <p:spPr>
            <a:xfrm>
              <a:off x="7774242" y="3324591"/>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E3DC7EC0-D754-9B47-8E0D-34AA0B88C147}"/>
                </a:ext>
              </a:extLst>
            </p:cNvPr>
            <p:cNvCxnSpPr>
              <a:cxnSpLocks/>
              <a:stCxn id="6" idx="3"/>
              <a:endCxn id="26" idx="0"/>
            </p:cNvCxnSpPr>
            <p:nvPr/>
          </p:nvCxnSpPr>
          <p:spPr>
            <a:xfrm flipH="1">
              <a:off x="7030774" y="3620639"/>
              <a:ext cx="790414" cy="27121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D118168-2CCB-C94D-9F27-1A9E3DFD0288}"/>
                </a:ext>
              </a:extLst>
            </p:cNvPr>
            <p:cNvGrpSpPr/>
            <p:nvPr/>
          </p:nvGrpSpPr>
          <p:grpSpPr>
            <a:xfrm>
              <a:off x="6090548" y="3891858"/>
              <a:ext cx="1730640" cy="636744"/>
              <a:chOff x="3429450" y="3492063"/>
              <a:chExt cx="1730640" cy="636744"/>
            </a:xfrm>
          </p:grpSpPr>
          <p:sp>
            <p:nvSpPr>
              <p:cNvPr id="26" name="Oval 25">
                <a:extLst>
                  <a:ext uri="{FF2B5EF4-FFF2-40B4-BE49-F238E27FC236}">
                    <a16:creationId xmlns:a16="http://schemas.microsoft.com/office/drawing/2014/main" id="{B3347532-269E-BD42-AF4F-AF0E4313E963}"/>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27" name="Straight Connector 26">
                <a:extLst>
                  <a:ext uri="{FF2B5EF4-FFF2-40B4-BE49-F238E27FC236}">
                    <a16:creationId xmlns:a16="http://schemas.microsoft.com/office/drawing/2014/main" id="{91FC8499-80F7-CF4C-954C-BC5922314BEA}"/>
                  </a:ext>
                </a:extLst>
              </p:cNvPr>
              <p:cNvCxnSpPr>
                <a:cxnSpLocks/>
                <a:stCxn id="26"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2064155-D927-4C41-A4EA-5BD3FF7F8D3D}"/>
                  </a:ext>
                </a:extLst>
              </p:cNvPr>
              <p:cNvCxnSpPr>
                <a:cxnSpLocks/>
                <a:stCxn id="26" idx="5"/>
                <a:endCxn id="11" idx="1"/>
              </p:cNvCxnSpPr>
              <p:nvPr/>
            </p:nvCxnSpPr>
            <p:spPr>
              <a:xfrm>
                <a:off x="4483013" y="3788111"/>
                <a:ext cx="677077" cy="3406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787DB883-B908-5D49-94BD-2653A937CC61}"/>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06D67134-81E4-C247-A3F8-F6247FC3AE1C}"/>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D892C272-D6C2-274E-A835-90505EB59AE8}"/>
                </a:ext>
              </a:extLst>
            </p:cNvPr>
            <p:cNvSpPr/>
            <p:nvPr/>
          </p:nvSpPr>
          <p:spPr>
            <a:xfrm>
              <a:off x="7774242"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CDE3ECFC-4892-2548-9D24-AE7B180764A7}"/>
                </a:ext>
              </a:extLst>
            </p:cNvPr>
            <p:cNvGrpSpPr/>
            <p:nvPr/>
          </p:nvGrpSpPr>
          <p:grpSpPr>
            <a:xfrm>
              <a:off x="7304394" y="3620639"/>
              <a:ext cx="1919174" cy="1511852"/>
              <a:chOff x="2610785" y="3178812"/>
              <a:chExt cx="1919174" cy="1511852"/>
            </a:xfrm>
          </p:grpSpPr>
          <p:sp>
            <p:nvSpPr>
              <p:cNvPr id="23" name="Oval 22">
                <a:extLst>
                  <a:ext uri="{FF2B5EF4-FFF2-40B4-BE49-F238E27FC236}">
                    <a16:creationId xmlns:a16="http://schemas.microsoft.com/office/drawing/2014/main" id="{BBB20822-20B3-BE46-BCB3-BC667F533D61}"/>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24" name="Straight Connector 23">
                <a:extLst>
                  <a:ext uri="{FF2B5EF4-FFF2-40B4-BE49-F238E27FC236}">
                    <a16:creationId xmlns:a16="http://schemas.microsoft.com/office/drawing/2014/main" id="{15C0F9D1-2739-0945-B936-26739E3EDE27}"/>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8C405F1-3C09-CB4E-A580-9D76E2D40FAE}"/>
                  </a:ext>
                </a:extLst>
              </p:cNvPr>
              <p:cNvCxnSpPr>
                <a:cxnSpLocks/>
                <a:stCxn id="6" idx="5"/>
                <a:endCxn id="23"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E28C34E-32DA-BA46-BA47-8964BF893B55}"/>
                </a:ext>
              </a:extLst>
            </p:cNvPr>
            <p:cNvSpPr txBox="1"/>
            <p:nvPr/>
          </p:nvSpPr>
          <p:spPr>
            <a:xfrm>
              <a:off x="4731026" y="3175362"/>
              <a:ext cx="1467068"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put(</a:t>
              </a:r>
              <a:r>
                <a:rPr lang="en-US" dirty="0" err="1">
                  <a:solidFill>
                    <a:srgbClr val="FF0000"/>
                  </a:solidFill>
                  <a:latin typeface="Arial" panose="020B0604020202020204" pitchFamily="34" charset="0"/>
                  <a:cs typeface="Arial" panose="020B0604020202020204" pitchFamily="34" charset="0"/>
                </a:rPr>
                <a:t>M,value</a:t>
              </a:r>
              <a:r>
                <a:rPr lang="en-US" dirty="0">
                  <a:solidFill>
                    <a:srgbClr val="FF0000"/>
                  </a:solidFill>
                  <a:latin typeface="Arial" panose="020B0604020202020204" pitchFamily="34" charset="0"/>
                  <a:cs typeface="Arial" panose="020B0604020202020204" pitchFamily="34" charset="0"/>
                </a:rPr>
                <a:t>)</a:t>
              </a:r>
            </a:p>
          </p:txBody>
        </p:sp>
        <p:cxnSp>
          <p:nvCxnSpPr>
            <p:cNvPr id="14" name="Straight Connector 13">
              <a:extLst>
                <a:ext uri="{FF2B5EF4-FFF2-40B4-BE49-F238E27FC236}">
                  <a16:creationId xmlns:a16="http://schemas.microsoft.com/office/drawing/2014/main" id="{12F3E48C-37C0-3D4A-B9A3-B45CD5AD15F5}"/>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3E6A8E-5011-774C-8EF5-40F20FB4438B}"/>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0771220-9AD9-A644-862A-FC8643CEB3A8}"/>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F257A8F-0017-2A4F-8504-60571EE5602D}"/>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3F23D0A-2C5A-8049-8416-36BCBD74AF3F}"/>
                </a:ext>
              </a:extLst>
            </p:cNvPr>
            <p:cNvCxnSpPr>
              <a:cxnSpLocks/>
              <a:stCxn id="23"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A5F1737-AA16-8C4A-82BE-D86776CAAE2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3BDE0D0-69D1-9B44-924A-1195C19A23FF}"/>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6D56500-8391-8F43-90B5-BF05B09222A7}"/>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D56F4A-21B0-6B47-AA11-CDD23CC80D75}"/>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2365299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284D0-EBB6-EC42-AE36-7632ED941316}"/>
              </a:ext>
            </a:extLst>
          </p:cNvPr>
          <p:cNvSpPr>
            <a:spLocks noGrp="1"/>
          </p:cNvSpPr>
          <p:nvPr>
            <p:ph type="title"/>
          </p:nvPr>
        </p:nvSpPr>
        <p:spPr/>
        <p:txBody>
          <a:bodyPr/>
          <a:lstStyle/>
          <a:p>
            <a:r>
              <a:rPr lang="en-US" dirty="0"/>
              <a:t>BST IMPLEMENTATION – PUT(insert)</a:t>
            </a:r>
          </a:p>
        </p:txBody>
      </p:sp>
      <p:sp>
        <p:nvSpPr>
          <p:cNvPr id="3" name="Content Placeholder 2">
            <a:extLst>
              <a:ext uri="{FF2B5EF4-FFF2-40B4-BE49-F238E27FC236}">
                <a16:creationId xmlns:a16="http://schemas.microsoft.com/office/drawing/2014/main" id="{8D316A71-43AA-D04B-ACC6-CFB42B7BD171}"/>
              </a:ext>
            </a:extLst>
          </p:cNvPr>
          <p:cNvSpPr>
            <a:spLocks noGrp="1"/>
          </p:cNvSpPr>
          <p:nvPr>
            <p:ph idx="1"/>
          </p:nvPr>
        </p:nvSpPr>
        <p:spPr/>
        <p:txBody>
          <a:bodyPr/>
          <a:lstStyle/>
          <a:p>
            <a:r>
              <a:rPr lang="en-US" dirty="0"/>
              <a:t>Put(key, value):</a:t>
            </a:r>
          </a:p>
          <a:p>
            <a:pPr lvl="1"/>
            <a:r>
              <a:rPr lang="en-US" dirty="0"/>
              <a:t>If key == </a:t>
            </a:r>
            <a:r>
              <a:rPr lang="en-US" dirty="0" err="1"/>
              <a:t>node.key</a:t>
            </a:r>
            <a:r>
              <a:rPr lang="en-US" dirty="0"/>
              <a:t>, update </a:t>
            </a:r>
            <a:r>
              <a:rPr lang="en-US" dirty="0" err="1"/>
              <a:t>node.value</a:t>
            </a:r>
            <a:r>
              <a:rPr lang="en-US" dirty="0"/>
              <a:t>=value</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pPr lvl="1"/>
            <a:r>
              <a:rPr lang="en-US" dirty="0"/>
              <a:t>If null, insert new node</a:t>
            </a:r>
          </a:p>
          <a:p>
            <a:r>
              <a:rPr lang="en-US" dirty="0"/>
              <a:t>Example</a:t>
            </a:r>
          </a:p>
          <a:p>
            <a:pPr lvl="1"/>
            <a:r>
              <a:rPr lang="en-US" dirty="0"/>
              <a:t>Put new key M</a:t>
            </a:r>
          </a:p>
        </p:txBody>
      </p:sp>
      <p:grpSp>
        <p:nvGrpSpPr>
          <p:cNvPr id="4" name="Group 3" descr="demo of insertion of new key in BST">
            <a:extLst>
              <a:ext uri="{FF2B5EF4-FFF2-40B4-BE49-F238E27FC236}">
                <a16:creationId xmlns:a16="http://schemas.microsoft.com/office/drawing/2014/main" id="{3DD07CEA-E36C-3C4B-9D20-3BEDE6B90833}"/>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3E9B78FD-235C-DC4F-88AE-E74807DDDFE9}"/>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F779E6ED-EE7E-B947-9DE4-3CF32652F924}"/>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E3DC7EC0-D754-9B47-8E0D-34AA0B88C147}"/>
                </a:ext>
              </a:extLst>
            </p:cNvPr>
            <p:cNvCxnSpPr>
              <a:cxnSpLocks/>
              <a:stCxn id="6" idx="3"/>
              <a:endCxn id="26" idx="0"/>
            </p:cNvCxnSpPr>
            <p:nvPr/>
          </p:nvCxnSpPr>
          <p:spPr>
            <a:xfrm flipH="1">
              <a:off x="7030774" y="3620639"/>
              <a:ext cx="790414" cy="27121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D118168-2CCB-C94D-9F27-1A9E3DFD0288}"/>
                </a:ext>
              </a:extLst>
            </p:cNvPr>
            <p:cNvGrpSpPr/>
            <p:nvPr/>
          </p:nvGrpSpPr>
          <p:grpSpPr>
            <a:xfrm>
              <a:off x="6090548" y="3891858"/>
              <a:ext cx="1730640" cy="636744"/>
              <a:chOff x="3429450" y="3492063"/>
              <a:chExt cx="1730640" cy="636744"/>
            </a:xfrm>
          </p:grpSpPr>
          <p:sp>
            <p:nvSpPr>
              <p:cNvPr id="26" name="Oval 25">
                <a:extLst>
                  <a:ext uri="{FF2B5EF4-FFF2-40B4-BE49-F238E27FC236}">
                    <a16:creationId xmlns:a16="http://schemas.microsoft.com/office/drawing/2014/main" id="{B3347532-269E-BD42-AF4F-AF0E4313E963}"/>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27" name="Straight Connector 26">
                <a:extLst>
                  <a:ext uri="{FF2B5EF4-FFF2-40B4-BE49-F238E27FC236}">
                    <a16:creationId xmlns:a16="http://schemas.microsoft.com/office/drawing/2014/main" id="{91FC8499-80F7-CF4C-954C-BC5922314BEA}"/>
                  </a:ext>
                </a:extLst>
              </p:cNvPr>
              <p:cNvCxnSpPr>
                <a:cxnSpLocks/>
                <a:stCxn id="26"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2064155-D927-4C41-A4EA-5BD3FF7F8D3D}"/>
                  </a:ext>
                </a:extLst>
              </p:cNvPr>
              <p:cNvCxnSpPr>
                <a:cxnSpLocks/>
                <a:stCxn id="26" idx="5"/>
                <a:endCxn id="11" idx="1"/>
              </p:cNvCxnSpPr>
              <p:nvPr/>
            </p:nvCxnSpPr>
            <p:spPr>
              <a:xfrm>
                <a:off x="4483013" y="3788111"/>
                <a:ext cx="677077" cy="3406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787DB883-B908-5D49-94BD-2653A937CC61}"/>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06D67134-81E4-C247-A3F8-F6247FC3AE1C}"/>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D892C272-D6C2-274E-A835-90505EB59AE8}"/>
                </a:ext>
              </a:extLst>
            </p:cNvPr>
            <p:cNvSpPr/>
            <p:nvPr/>
          </p:nvSpPr>
          <p:spPr>
            <a:xfrm>
              <a:off x="7774242"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CDE3ECFC-4892-2548-9D24-AE7B180764A7}"/>
                </a:ext>
              </a:extLst>
            </p:cNvPr>
            <p:cNvGrpSpPr/>
            <p:nvPr/>
          </p:nvGrpSpPr>
          <p:grpSpPr>
            <a:xfrm>
              <a:off x="7304394" y="3620639"/>
              <a:ext cx="1919174" cy="1511852"/>
              <a:chOff x="2610785" y="3178812"/>
              <a:chExt cx="1919174" cy="1511852"/>
            </a:xfrm>
          </p:grpSpPr>
          <p:sp>
            <p:nvSpPr>
              <p:cNvPr id="23" name="Oval 22">
                <a:extLst>
                  <a:ext uri="{FF2B5EF4-FFF2-40B4-BE49-F238E27FC236}">
                    <a16:creationId xmlns:a16="http://schemas.microsoft.com/office/drawing/2014/main" id="{BBB20822-20B3-BE46-BCB3-BC667F533D61}"/>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24" name="Straight Connector 23">
                <a:extLst>
                  <a:ext uri="{FF2B5EF4-FFF2-40B4-BE49-F238E27FC236}">
                    <a16:creationId xmlns:a16="http://schemas.microsoft.com/office/drawing/2014/main" id="{15C0F9D1-2739-0945-B936-26739E3EDE27}"/>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8C405F1-3C09-CB4E-A580-9D76E2D40FAE}"/>
                  </a:ext>
                </a:extLst>
              </p:cNvPr>
              <p:cNvCxnSpPr>
                <a:cxnSpLocks/>
                <a:stCxn id="6" idx="5"/>
                <a:endCxn id="23"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E28C34E-32DA-BA46-BA47-8964BF893B55}"/>
                </a:ext>
              </a:extLst>
            </p:cNvPr>
            <p:cNvSpPr txBox="1"/>
            <p:nvPr/>
          </p:nvSpPr>
          <p:spPr>
            <a:xfrm>
              <a:off x="4731026" y="3175362"/>
              <a:ext cx="1467068"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put(</a:t>
              </a:r>
              <a:r>
                <a:rPr lang="en-US" dirty="0" err="1">
                  <a:solidFill>
                    <a:srgbClr val="FF0000"/>
                  </a:solidFill>
                  <a:latin typeface="Arial" panose="020B0604020202020204" pitchFamily="34" charset="0"/>
                  <a:cs typeface="Arial" panose="020B0604020202020204" pitchFamily="34" charset="0"/>
                </a:rPr>
                <a:t>M,value</a:t>
              </a:r>
              <a:r>
                <a:rPr lang="en-US" dirty="0">
                  <a:solidFill>
                    <a:srgbClr val="FF0000"/>
                  </a:solidFill>
                  <a:latin typeface="Arial" panose="020B0604020202020204" pitchFamily="34" charset="0"/>
                  <a:cs typeface="Arial" panose="020B0604020202020204" pitchFamily="34" charset="0"/>
                </a:rPr>
                <a:t>)</a:t>
              </a:r>
            </a:p>
          </p:txBody>
        </p:sp>
        <p:cxnSp>
          <p:nvCxnSpPr>
            <p:cNvPr id="14" name="Straight Connector 13">
              <a:extLst>
                <a:ext uri="{FF2B5EF4-FFF2-40B4-BE49-F238E27FC236}">
                  <a16:creationId xmlns:a16="http://schemas.microsoft.com/office/drawing/2014/main" id="{12F3E48C-37C0-3D4A-B9A3-B45CD5AD15F5}"/>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3E6A8E-5011-774C-8EF5-40F20FB4438B}"/>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0771220-9AD9-A644-862A-FC8643CEB3A8}"/>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F257A8F-0017-2A4F-8504-60571EE5602D}"/>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3F23D0A-2C5A-8049-8416-36BCBD74AF3F}"/>
                </a:ext>
              </a:extLst>
            </p:cNvPr>
            <p:cNvCxnSpPr>
              <a:cxnSpLocks/>
              <a:stCxn id="23"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A5F1737-AA16-8C4A-82BE-D86776CAAE2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3BDE0D0-69D1-9B44-924A-1195C19A23FF}"/>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6D56500-8391-8F43-90B5-BF05B09222A7}"/>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D56F4A-21B0-6B47-AA11-CDD23CC80D75}"/>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59768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284D0-EBB6-EC42-AE36-7632ED941316}"/>
              </a:ext>
            </a:extLst>
          </p:cNvPr>
          <p:cNvSpPr>
            <a:spLocks noGrp="1"/>
          </p:cNvSpPr>
          <p:nvPr>
            <p:ph type="title"/>
          </p:nvPr>
        </p:nvSpPr>
        <p:spPr/>
        <p:txBody>
          <a:bodyPr/>
          <a:lstStyle/>
          <a:p>
            <a:r>
              <a:rPr lang="en-US" dirty="0"/>
              <a:t>BST IMPLEMENTATION – PUT(insert)</a:t>
            </a:r>
          </a:p>
        </p:txBody>
      </p:sp>
      <p:sp>
        <p:nvSpPr>
          <p:cNvPr id="3" name="Content Placeholder 2">
            <a:extLst>
              <a:ext uri="{FF2B5EF4-FFF2-40B4-BE49-F238E27FC236}">
                <a16:creationId xmlns:a16="http://schemas.microsoft.com/office/drawing/2014/main" id="{8D316A71-43AA-D04B-ACC6-CFB42B7BD171}"/>
              </a:ext>
            </a:extLst>
          </p:cNvPr>
          <p:cNvSpPr>
            <a:spLocks noGrp="1"/>
          </p:cNvSpPr>
          <p:nvPr>
            <p:ph idx="1"/>
          </p:nvPr>
        </p:nvSpPr>
        <p:spPr/>
        <p:txBody>
          <a:bodyPr/>
          <a:lstStyle/>
          <a:p>
            <a:r>
              <a:rPr lang="en-US" dirty="0"/>
              <a:t>Put(key, value):</a:t>
            </a:r>
          </a:p>
          <a:p>
            <a:pPr lvl="1"/>
            <a:r>
              <a:rPr lang="en-US" dirty="0"/>
              <a:t>If key == </a:t>
            </a:r>
            <a:r>
              <a:rPr lang="en-US" dirty="0" err="1"/>
              <a:t>node.key</a:t>
            </a:r>
            <a:r>
              <a:rPr lang="en-US" dirty="0"/>
              <a:t>, update </a:t>
            </a:r>
            <a:r>
              <a:rPr lang="en-US" dirty="0" err="1"/>
              <a:t>node.value</a:t>
            </a:r>
            <a:r>
              <a:rPr lang="en-US" dirty="0"/>
              <a:t>=value</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pPr lvl="1"/>
            <a:r>
              <a:rPr lang="en-US" dirty="0"/>
              <a:t>If null, insert new node</a:t>
            </a:r>
          </a:p>
          <a:p>
            <a:r>
              <a:rPr lang="en-US" dirty="0"/>
              <a:t>Example</a:t>
            </a:r>
          </a:p>
          <a:p>
            <a:pPr lvl="1"/>
            <a:r>
              <a:rPr lang="en-US" dirty="0"/>
              <a:t>Put new key M</a:t>
            </a:r>
          </a:p>
        </p:txBody>
      </p:sp>
      <p:grpSp>
        <p:nvGrpSpPr>
          <p:cNvPr id="4" name="Group 3" descr="demo of insertion of new key in BST">
            <a:extLst>
              <a:ext uri="{FF2B5EF4-FFF2-40B4-BE49-F238E27FC236}">
                <a16:creationId xmlns:a16="http://schemas.microsoft.com/office/drawing/2014/main" id="{3DD07CEA-E36C-3C4B-9D20-3BEDE6B90833}"/>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3E9B78FD-235C-DC4F-88AE-E74807DDDFE9}"/>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F779E6ED-EE7E-B947-9DE4-3CF32652F924}"/>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E3DC7EC0-D754-9B47-8E0D-34AA0B88C147}"/>
                </a:ext>
              </a:extLst>
            </p:cNvPr>
            <p:cNvCxnSpPr>
              <a:cxnSpLocks/>
              <a:stCxn id="6" idx="3"/>
              <a:endCxn id="26" idx="0"/>
            </p:cNvCxnSpPr>
            <p:nvPr/>
          </p:nvCxnSpPr>
          <p:spPr>
            <a:xfrm flipH="1">
              <a:off x="7030774" y="3620639"/>
              <a:ext cx="790414" cy="271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D118168-2CCB-C94D-9F27-1A9E3DFD0288}"/>
                </a:ext>
              </a:extLst>
            </p:cNvPr>
            <p:cNvGrpSpPr/>
            <p:nvPr/>
          </p:nvGrpSpPr>
          <p:grpSpPr>
            <a:xfrm>
              <a:off x="6090548" y="3891858"/>
              <a:ext cx="1730640" cy="636744"/>
              <a:chOff x="3429450" y="3492063"/>
              <a:chExt cx="1730640" cy="636744"/>
            </a:xfrm>
          </p:grpSpPr>
          <p:sp>
            <p:nvSpPr>
              <p:cNvPr id="26" name="Oval 25">
                <a:extLst>
                  <a:ext uri="{FF2B5EF4-FFF2-40B4-BE49-F238E27FC236}">
                    <a16:creationId xmlns:a16="http://schemas.microsoft.com/office/drawing/2014/main" id="{B3347532-269E-BD42-AF4F-AF0E4313E963}"/>
                  </a:ext>
                </a:extLst>
              </p:cNvPr>
              <p:cNvSpPr/>
              <p:nvPr/>
            </p:nvSpPr>
            <p:spPr>
              <a:xfrm>
                <a:off x="4209393" y="3492063"/>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27" name="Straight Connector 26">
                <a:extLst>
                  <a:ext uri="{FF2B5EF4-FFF2-40B4-BE49-F238E27FC236}">
                    <a16:creationId xmlns:a16="http://schemas.microsoft.com/office/drawing/2014/main" id="{91FC8499-80F7-CF4C-954C-BC5922314BEA}"/>
                  </a:ext>
                </a:extLst>
              </p:cNvPr>
              <p:cNvCxnSpPr>
                <a:cxnSpLocks/>
                <a:stCxn id="26"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2064155-D927-4C41-A4EA-5BD3FF7F8D3D}"/>
                  </a:ext>
                </a:extLst>
              </p:cNvPr>
              <p:cNvCxnSpPr>
                <a:cxnSpLocks/>
                <a:stCxn id="26" idx="5"/>
                <a:endCxn id="11" idx="1"/>
              </p:cNvCxnSpPr>
              <p:nvPr/>
            </p:nvCxnSpPr>
            <p:spPr>
              <a:xfrm>
                <a:off x="4483013" y="3788111"/>
                <a:ext cx="677077" cy="3406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787DB883-B908-5D49-94BD-2653A937CC61}"/>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06D67134-81E4-C247-A3F8-F6247FC3AE1C}"/>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D892C272-D6C2-274E-A835-90505EB59AE8}"/>
                </a:ext>
              </a:extLst>
            </p:cNvPr>
            <p:cNvSpPr/>
            <p:nvPr/>
          </p:nvSpPr>
          <p:spPr>
            <a:xfrm>
              <a:off x="7774242"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CDE3ECFC-4892-2548-9D24-AE7B180764A7}"/>
                </a:ext>
              </a:extLst>
            </p:cNvPr>
            <p:cNvGrpSpPr/>
            <p:nvPr/>
          </p:nvGrpSpPr>
          <p:grpSpPr>
            <a:xfrm>
              <a:off x="7304394" y="3620639"/>
              <a:ext cx="1919174" cy="1511852"/>
              <a:chOff x="2610785" y="3178812"/>
              <a:chExt cx="1919174" cy="1511852"/>
            </a:xfrm>
          </p:grpSpPr>
          <p:sp>
            <p:nvSpPr>
              <p:cNvPr id="23" name="Oval 22">
                <a:extLst>
                  <a:ext uri="{FF2B5EF4-FFF2-40B4-BE49-F238E27FC236}">
                    <a16:creationId xmlns:a16="http://schemas.microsoft.com/office/drawing/2014/main" id="{BBB20822-20B3-BE46-BCB3-BC667F533D61}"/>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24" name="Straight Connector 23">
                <a:extLst>
                  <a:ext uri="{FF2B5EF4-FFF2-40B4-BE49-F238E27FC236}">
                    <a16:creationId xmlns:a16="http://schemas.microsoft.com/office/drawing/2014/main" id="{15C0F9D1-2739-0945-B936-26739E3EDE27}"/>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8C405F1-3C09-CB4E-A580-9D76E2D40FAE}"/>
                  </a:ext>
                </a:extLst>
              </p:cNvPr>
              <p:cNvCxnSpPr>
                <a:cxnSpLocks/>
                <a:stCxn id="6" idx="5"/>
                <a:endCxn id="23"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E28C34E-32DA-BA46-BA47-8964BF893B55}"/>
                </a:ext>
              </a:extLst>
            </p:cNvPr>
            <p:cNvSpPr txBox="1"/>
            <p:nvPr/>
          </p:nvSpPr>
          <p:spPr>
            <a:xfrm>
              <a:off x="4731026" y="3175362"/>
              <a:ext cx="1467068"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put(</a:t>
              </a:r>
              <a:r>
                <a:rPr lang="en-US" dirty="0" err="1">
                  <a:solidFill>
                    <a:srgbClr val="FF0000"/>
                  </a:solidFill>
                  <a:latin typeface="Arial" panose="020B0604020202020204" pitchFamily="34" charset="0"/>
                  <a:cs typeface="Arial" panose="020B0604020202020204" pitchFamily="34" charset="0"/>
                </a:rPr>
                <a:t>M,value</a:t>
              </a:r>
              <a:r>
                <a:rPr lang="en-US" dirty="0">
                  <a:solidFill>
                    <a:srgbClr val="FF0000"/>
                  </a:solidFill>
                  <a:latin typeface="Arial" panose="020B0604020202020204" pitchFamily="34" charset="0"/>
                  <a:cs typeface="Arial" panose="020B0604020202020204" pitchFamily="34" charset="0"/>
                </a:rPr>
                <a:t>)</a:t>
              </a:r>
            </a:p>
          </p:txBody>
        </p:sp>
        <p:cxnSp>
          <p:nvCxnSpPr>
            <p:cNvPr id="14" name="Straight Connector 13">
              <a:extLst>
                <a:ext uri="{FF2B5EF4-FFF2-40B4-BE49-F238E27FC236}">
                  <a16:creationId xmlns:a16="http://schemas.microsoft.com/office/drawing/2014/main" id="{12F3E48C-37C0-3D4A-B9A3-B45CD5AD15F5}"/>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3E6A8E-5011-774C-8EF5-40F20FB4438B}"/>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0771220-9AD9-A644-862A-FC8643CEB3A8}"/>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F257A8F-0017-2A4F-8504-60571EE5602D}"/>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3F23D0A-2C5A-8049-8416-36BCBD74AF3F}"/>
                </a:ext>
              </a:extLst>
            </p:cNvPr>
            <p:cNvCxnSpPr>
              <a:cxnSpLocks/>
              <a:stCxn id="23"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A5F1737-AA16-8C4A-82BE-D86776CAAE2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3BDE0D0-69D1-9B44-924A-1195C19A23FF}"/>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6D56500-8391-8F43-90B5-BF05B09222A7}"/>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D56F4A-21B0-6B47-AA11-CDD23CC80D75}"/>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2892057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284D0-EBB6-EC42-AE36-7632ED941316}"/>
              </a:ext>
            </a:extLst>
          </p:cNvPr>
          <p:cNvSpPr>
            <a:spLocks noGrp="1"/>
          </p:cNvSpPr>
          <p:nvPr>
            <p:ph type="title"/>
          </p:nvPr>
        </p:nvSpPr>
        <p:spPr/>
        <p:txBody>
          <a:bodyPr/>
          <a:lstStyle/>
          <a:p>
            <a:r>
              <a:rPr lang="en-US" dirty="0"/>
              <a:t>BST IMPLEMENTATION – PUT(insert)</a:t>
            </a:r>
          </a:p>
        </p:txBody>
      </p:sp>
      <p:sp>
        <p:nvSpPr>
          <p:cNvPr id="3" name="Content Placeholder 2">
            <a:extLst>
              <a:ext uri="{FF2B5EF4-FFF2-40B4-BE49-F238E27FC236}">
                <a16:creationId xmlns:a16="http://schemas.microsoft.com/office/drawing/2014/main" id="{8D316A71-43AA-D04B-ACC6-CFB42B7BD171}"/>
              </a:ext>
            </a:extLst>
          </p:cNvPr>
          <p:cNvSpPr>
            <a:spLocks noGrp="1"/>
          </p:cNvSpPr>
          <p:nvPr>
            <p:ph idx="1"/>
          </p:nvPr>
        </p:nvSpPr>
        <p:spPr/>
        <p:txBody>
          <a:bodyPr/>
          <a:lstStyle/>
          <a:p>
            <a:r>
              <a:rPr lang="en-US" dirty="0"/>
              <a:t>Put(key, value):</a:t>
            </a:r>
          </a:p>
          <a:p>
            <a:pPr lvl="1"/>
            <a:r>
              <a:rPr lang="en-US" dirty="0"/>
              <a:t>If key == </a:t>
            </a:r>
            <a:r>
              <a:rPr lang="en-US" dirty="0" err="1"/>
              <a:t>node.key</a:t>
            </a:r>
            <a:r>
              <a:rPr lang="en-US" dirty="0"/>
              <a:t>, update </a:t>
            </a:r>
            <a:r>
              <a:rPr lang="en-US" dirty="0" err="1"/>
              <a:t>node.value</a:t>
            </a:r>
            <a:r>
              <a:rPr lang="en-US" dirty="0"/>
              <a:t>=value</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pPr lvl="1"/>
            <a:r>
              <a:rPr lang="en-US" dirty="0"/>
              <a:t>If null, insert new node</a:t>
            </a:r>
          </a:p>
          <a:p>
            <a:r>
              <a:rPr lang="en-US" dirty="0"/>
              <a:t>Example</a:t>
            </a:r>
          </a:p>
          <a:p>
            <a:pPr lvl="1"/>
            <a:r>
              <a:rPr lang="en-US" dirty="0"/>
              <a:t>Put new key M</a:t>
            </a:r>
          </a:p>
        </p:txBody>
      </p:sp>
      <p:grpSp>
        <p:nvGrpSpPr>
          <p:cNvPr id="4" name="Group 3" descr="demo of insertion of new key in BST">
            <a:extLst>
              <a:ext uri="{FF2B5EF4-FFF2-40B4-BE49-F238E27FC236}">
                <a16:creationId xmlns:a16="http://schemas.microsoft.com/office/drawing/2014/main" id="{3DD07CEA-E36C-3C4B-9D20-3BEDE6B90833}"/>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3E9B78FD-235C-DC4F-88AE-E74807DDDFE9}"/>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F779E6ED-EE7E-B947-9DE4-3CF32652F924}"/>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E3DC7EC0-D754-9B47-8E0D-34AA0B88C147}"/>
                </a:ext>
              </a:extLst>
            </p:cNvPr>
            <p:cNvCxnSpPr>
              <a:cxnSpLocks/>
              <a:stCxn id="6" idx="3"/>
              <a:endCxn id="26" idx="0"/>
            </p:cNvCxnSpPr>
            <p:nvPr/>
          </p:nvCxnSpPr>
          <p:spPr>
            <a:xfrm flipH="1">
              <a:off x="7030774" y="3620639"/>
              <a:ext cx="790414" cy="271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D118168-2CCB-C94D-9F27-1A9E3DFD0288}"/>
                </a:ext>
              </a:extLst>
            </p:cNvPr>
            <p:cNvGrpSpPr/>
            <p:nvPr/>
          </p:nvGrpSpPr>
          <p:grpSpPr>
            <a:xfrm>
              <a:off x="6090548" y="3891858"/>
              <a:ext cx="1730640" cy="636744"/>
              <a:chOff x="3429450" y="3492063"/>
              <a:chExt cx="1730640" cy="636744"/>
            </a:xfrm>
          </p:grpSpPr>
          <p:sp>
            <p:nvSpPr>
              <p:cNvPr id="26" name="Oval 25">
                <a:extLst>
                  <a:ext uri="{FF2B5EF4-FFF2-40B4-BE49-F238E27FC236}">
                    <a16:creationId xmlns:a16="http://schemas.microsoft.com/office/drawing/2014/main" id="{B3347532-269E-BD42-AF4F-AF0E4313E963}"/>
                  </a:ext>
                </a:extLst>
              </p:cNvPr>
              <p:cNvSpPr/>
              <p:nvPr/>
            </p:nvSpPr>
            <p:spPr>
              <a:xfrm>
                <a:off x="4209393" y="3492063"/>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27" name="Straight Connector 26">
                <a:extLst>
                  <a:ext uri="{FF2B5EF4-FFF2-40B4-BE49-F238E27FC236}">
                    <a16:creationId xmlns:a16="http://schemas.microsoft.com/office/drawing/2014/main" id="{91FC8499-80F7-CF4C-954C-BC5922314BEA}"/>
                  </a:ext>
                </a:extLst>
              </p:cNvPr>
              <p:cNvCxnSpPr>
                <a:cxnSpLocks/>
                <a:stCxn id="26"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2064155-D927-4C41-A4EA-5BD3FF7F8D3D}"/>
                  </a:ext>
                </a:extLst>
              </p:cNvPr>
              <p:cNvCxnSpPr>
                <a:cxnSpLocks/>
                <a:stCxn id="26" idx="5"/>
                <a:endCxn id="11" idx="1"/>
              </p:cNvCxnSpPr>
              <p:nvPr/>
            </p:nvCxnSpPr>
            <p:spPr>
              <a:xfrm>
                <a:off x="4483013" y="3788111"/>
                <a:ext cx="677077" cy="3406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787DB883-B908-5D49-94BD-2653A937CC61}"/>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06D67134-81E4-C247-A3F8-F6247FC3AE1C}"/>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D892C272-D6C2-274E-A835-90505EB59AE8}"/>
                </a:ext>
              </a:extLst>
            </p:cNvPr>
            <p:cNvSpPr/>
            <p:nvPr/>
          </p:nvSpPr>
          <p:spPr>
            <a:xfrm>
              <a:off x="7774242" y="4477808"/>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CDE3ECFC-4892-2548-9D24-AE7B180764A7}"/>
                </a:ext>
              </a:extLst>
            </p:cNvPr>
            <p:cNvGrpSpPr/>
            <p:nvPr/>
          </p:nvGrpSpPr>
          <p:grpSpPr>
            <a:xfrm>
              <a:off x="7304394" y="3620639"/>
              <a:ext cx="1919174" cy="1511852"/>
              <a:chOff x="2610785" y="3178812"/>
              <a:chExt cx="1919174" cy="1511852"/>
            </a:xfrm>
          </p:grpSpPr>
          <p:sp>
            <p:nvSpPr>
              <p:cNvPr id="23" name="Oval 22">
                <a:extLst>
                  <a:ext uri="{FF2B5EF4-FFF2-40B4-BE49-F238E27FC236}">
                    <a16:creationId xmlns:a16="http://schemas.microsoft.com/office/drawing/2014/main" id="{BBB20822-20B3-BE46-BCB3-BC667F533D61}"/>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24" name="Straight Connector 23">
                <a:extLst>
                  <a:ext uri="{FF2B5EF4-FFF2-40B4-BE49-F238E27FC236}">
                    <a16:creationId xmlns:a16="http://schemas.microsoft.com/office/drawing/2014/main" id="{15C0F9D1-2739-0945-B936-26739E3EDE27}"/>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8C405F1-3C09-CB4E-A580-9D76E2D40FAE}"/>
                  </a:ext>
                </a:extLst>
              </p:cNvPr>
              <p:cNvCxnSpPr>
                <a:cxnSpLocks/>
                <a:stCxn id="6" idx="5"/>
                <a:endCxn id="23"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E28C34E-32DA-BA46-BA47-8964BF893B55}"/>
                </a:ext>
              </a:extLst>
            </p:cNvPr>
            <p:cNvSpPr txBox="1"/>
            <p:nvPr/>
          </p:nvSpPr>
          <p:spPr>
            <a:xfrm>
              <a:off x="4731026" y="3175362"/>
              <a:ext cx="1467068"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put(</a:t>
              </a:r>
              <a:r>
                <a:rPr lang="en-US" dirty="0" err="1">
                  <a:solidFill>
                    <a:srgbClr val="FF0000"/>
                  </a:solidFill>
                  <a:latin typeface="Arial" panose="020B0604020202020204" pitchFamily="34" charset="0"/>
                  <a:cs typeface="Arial" panose="020B0604020202020204" pitchFamily="34" charset="0"/>
                </a:rPr>
                <a:t>M,value</a:t>
              </a:r>
              <a:r>
                <a:rPr lang="en-US" dirty="0">
                  <a:solidFill>
                    <a:srgbClr val="FF0000"/>
                  </a:solidFill>
                  <a:latin typeface="Arial" panose="020B0604020202020204" pitchFamily="34" charset="0"/>
                  <a:cs typeface="Arial" panose="020B0604020202020204" pitchFamily="34" charset="0"/>
                </a:rPr>
                <a:t>)</a:t>
              </a:r>
            </a:p>
          </p:txBody>
        </p:sp>
        <p:cxnSp>
          <p:nvCxnSpPr>
            <p:cNvPr id="14" name="Straight Connector 13">
              <a:extLst>
                <a:ext uri="{FF2B5EF4-FFF2-40B4-BE49-F238E27FC236}">
                  <a16:creationId xmlns:a16="http://schemas.microsoft.com/office/drawing/2014/main" id="{12F3E48C-37C0-3D4A-B9A3-B45CD5AD15F5}"/>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3E6A8E-5011-774C-8EF5-40F20FB4438B}"/>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0771220-9AD9-A644-862A-FC8643CEB3A8}"/>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F257A8F-0017-2A4F-8504-60571EE5602D}"/>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3F23D0A-2C5A-8049-8416-36BCBD74AF3F}"/>
                </a:ext>
              </a:extLst>
            </p:cNvPr>
            <p:cNvCxnSpPr>
              <a:cxnSpLocks/>
              <a:stCxn id="23"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A5F1737-AA16-8C4A-82BE-D86776CAAE2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3BDE0D0-69D1-9B44-924A-1195C19A23FF}"/>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6D56500-8391-8F43-90B5-BF05B09222A7}"/>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D56F4A-21B0-6B47-AA11-CDD23CC80D75}"/>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95392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284D0-EBB6-EC42-AE36-7632ED941316}"/>
              </a:ext>
            </a:extLst>
          </p:cNvPr>
          <p:cNvSpPr>
            <a:spLocks noGrp="1"/>
          </p:cNvSpPr>
          <p:nvPr>
            <p:ph type="title"/>
          </p:nvPr>
        </p:nvSpPr>
        <p:spPr/>
        <p:txBody>
          <a:bodyPr/>
          <a:lstStyle/>
          <a:p>
            <a:r>
              <a:rPr lang="en-US" dirty="0"/>
              <a:t>BST IMPLEMENTATION – PUT(insert)</a:t>
            </a:r>
          </a:p>
        </p:txBody>
      </p:sp>
      <p:sp>
        <p:nvSpPr>
          <p:cNvPr id="3" name="Content Placeholder 2">
            <a:extLst>
              <a:ext uri="{FF2B5EF4-FFF2-40B4-BE49-F238E27FC236}">
                <a16:creationId xmlns:a16="http://schemas.microsoft.com/office/drawing/2014/main" id="{8D316A71-43AA-D04B-ACC6-CFB42B7BD171}"/>
              </a:ext>
            </a:extLst>
          </p:cNvPr>
          <p:cNvSpPr>
            <a:spLocks noGrp="1"/>
          </p:cNvSpPr>
          <p:nvPr>
            <p:ph idx="1"/>
          </p:nvPr>
        </p:nvSpPr>
        <p:spPr/>
        <p:txBody>
          <a:bodyPr/>
          <a:lstStyle/>
          <a:p>
            <a:r>
              <a:rPr lang="en-US" dirty="0"/>
              <a:t>Put(key, value):</a:t>
            </a:r>
          </a:p>
          <a:p>
            <a:pPr lvl="1"/>
            <a:r>
              <a:rPr lang="en-US" dirty="0"/>
              <a:t>If key == </a:t>
            </a:r>
            <a:r>
              <a:rPr lang="en-US" dirty="0" err="1"/>
              <a:t>node.key</a:t>
            </a:r>
            <a:r>
              <a:rPr lang="en-US" dirty="0"/>
              <a:t>, update </a:t>
            </a:r>
            <a:r>
              <a:rPr lang="en-US" dirty="0" err="1"/>
              <a:t>node.value</a:t>
            </a:r>
            <a:r>
              <a:rPr lang="en-US" dirty="0"/>
              <a:t>=value</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pPr lvl="1"/>
            <a:r>
              <a:rPr lang="en-US" dirty="0"/>
              <a:t>If null, insert new node</a:t>
            </a:r>
          </a:p>
          <a:p>
            <a:r>
              <a:rPr lang="en-US" dirty="0"/>
              <a:t>Example</a:t>
            </a:r>
          </a:p>
          <a:p>
            <a:pPr lvl="1"/>
            <a:r>
              <a:rPr lang="en-US" dirty="0"/>
              <a:t>Put new key M</a:t>
            </a:r>
          </a:p>
        </p:txBody>
      </p:sp>
      <p:grpSp>
        <p:nvGrpSpPr>
          <p:cNvPr id="4" name="Group 3" descr="demo of insertion of new key in BST">
            <a:extLst>
              <a:ext uri="{FF2B5EF4-FFF2-40B4-BE49-F238E27FC236}">
                <a16:creationId xmlns:a16="http://schemas.microsoft.com/office/drawing/2014/main" id="{3DD07CEA-E36C-3C4B-9D20-3BEDE6B90833}"/>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3E9B78FD-235C-DC4F-88AE-E74807DDDFE9}"/>
                </a:ext>
              </a:extLst>
            </p:cNvPr>
            <p:cNvSpPr/>
            <p:nvPr/>
          </p:nvSpPr>
          <p:spPr>
            <a:xfrm>
              <a:off x="7030774" y="5081697"/>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F779E6ED-EE7E-B947-9DE4-3CF32652F924}"/>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E3DC7EC0-D754-9B47-8E0D-34AA0B88C147}"/>
                </a:ext>
              </a:extLst>
            </p:cNvPr>
            <p:cNvCxnSpPr>
              <a:cxnSpLocks/>
              <a:stCxn id="6" idx="3"/>
              <a:endCxn id="26" idx="0"/>
            </p:cNvCxnSpPr>
            <p:nvPr/>
          </p:nvCxnSpPr>
          <p:spPr>
            <a:xfrm flipH="1">
              <a:off x="7030774" y="3620639"/>
              <a:ext cx="790414" cy="271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D118168-2CCB-C94D-9F27-1A9E3DFD0288}"/>
                </a:ext>
              </a:extLst>
            </p:cNvPr>
            <p:cNvGrpSpPr/>
            <p:nvPr/>
          </p:nvGrpSpPr>
          <p:grpSpPr>
            <a:xfrm>
              <a:off x="6090548" y="3891858"/>
              <a:ext cx="1730640" cy="636744"/>
              <a:chOff x="3429450" y="3492063"/>
              <a:chExt cx="1730640" cy="636744"/>
            </a:xfrm>
          </p:grpSpPr>
          <p:sp>
            <p:nvSpPr>
              <p:cNvPr id="26" name="Oval 25">
                <a:extLst>
                  <a:ext uri="{FF2B5EF4-FFF2-40B4-BE49-F238E27FC236}">
                    <a16:creationId xmlns:a16="http://schemas.microsoft.com/office/drawing/2014/main" id="{B3347532-269E-BD42-AF4F-AF0E4313E963}"/>
                  </a:ext>
                </a:extLst>
              </p:cNvPr>
              <p:cNvSpPr/>
              <p:nvPr/>
            </p:nvSpPr>
            <p:spPr>
              <a:xfrm>
                <a:off x="4209393" y="3492063"/>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27" name="Straight Connector 26">
                <a:extLst>
                  <a:ext uri="{FF2B5EF4-FFF2-40B4-BE49-F238E27FC236}">
                    <a16:creationId xmlns:a16="http://schemas.microsoft.com/office/drawing/2014/main" id="{91FC8499-80F7-CF4C-954C-BC5922314BEA}"/>
                  </a:ext>
                </a:extLst>
              </p:cNvPr>
              <p:cNvCxnSpPr>
                <a:cxnSpLocks/>
                <a:stCxn id="26"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2064155-D927-4C41-A4EA-5BD3FF7F8D3D}"/>
                  </a:ext>
                </a:extLst>
              </p:cNvPr>
              <p:cNvCxnSpPr>
                <a:cxnSpLocks/>
                <a:stCxn id="26" idx="5"/>
                <a:endCxn id="11" idx="1"/>
              </p:cNvCxnSpPr>
              <p:nvPr/>
            </p:nvCxnSpPr>
            <p:spPr>
              <a:xfrm>
                <a:off x="4483013" y="3788111"/>
                <a:ext cx="677077" cy="3406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787DB883-B908-5D49-94BD-2653A937CC61}"/>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06D67134-81E4-C247-A3F8-F6247FC3AE1C}"/>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D892C272-D6C2-274E-A835-90505EB59AE8}"/>
                </a:ext>
              </a:extLst>
            </p:cNvPr>
            <p:cNvSpPr/>
            <p:nvPr/>
          </p:nvSpPr>
          <p:spPr>
            <a:xfrm>
              <a:off x="7774242" y="4477808"/>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CDE3ECFC-4892-2548-9D24-AE7B180764A7}"/>
                </a:ext>
              </a:extLst>
            </p:cNvPr>
            <p:cNvGrpSpPr/>
            <p:nvPr/>
          </p:nvGrpSpPr>
          <p:grpSpPr>
            <a:xfrm>
              <a:off x="7304394" y="3620639"/>
              <a:ext cx="1919174" cy="1511852"/>
              <a:chOff x="2610785" y="3178812"/>
              <a:chExt cx="1919174" cy="1511852"/>
            </a:xfrm>
          </p:grpSpPr>
          <p:sp>
            <p:nvSpPr>
              <p:cNvPr id="23" name="Oval 22">
                <a:extLst>
                  <a:ext uri="{FF2B5EF4-FFF2-40B4-BE49-F238E27FC236}">
                    <a16:creationId xmlns:a16="http://schemas.microsoft.com/office/drawing/2014/main" id="{BBB20822-20B3-BE46-BCB3-BC667F533D61}"/>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24" name="Straight Connector 23">
                <a:extLst>
                  <a:ext uri="{FF2B5EF4-FFF2-40B4-BE49-F238E27FC236}">
                    <a16:creationId xmlns:a16="http://schemas.microsoft.com/office/drawing/2014/main" id="{15C0F9D1-2739-0945-B936-26739E3EDE27}"/>
                  </a:ext>
                </a:extLst>
              </p:cNvPr>
              <p:cNvCxnSpPr>
                <a:cxnSpLocks/>
                <a:stCxn id="11" idx="3"/>
                <a:endCxn id="5" idx="7"/>
              </p:cNvCxnSpPr>
              <p:nvPr/>
            </p:nvCxnSpPr>
            <p:spPr>
              <a:xfrm flipH="1">
                <a:off x="2610785" y="4332029"/>
                <a:ext cx="516794" cy="3586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8C405F1-3C09-CB4E-A580-9D76E2D40FAE}"/>
                  </a:ext>
                </a:extLst>
              </p:cNvPr>
              <p:cNvCxnSpPr>
                <a:cxnSpLocks/>
                <a:stCxn id="6" idx="5"/>
                <a:endCxn id="23"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E28C34E-32DA-BA46-BA47-8964BF893B55}"/>
                </a:ext>
              </a:extLst>
            </p:cNvPr>
            <p:cNvSpPr txBox="1"/>
            <p:nvPr/>
          </p:nvSpPr>
          <p:spPr>
            <a:xfrm>
              <a:off x="4731026" y="3175362"/>
              <a:ext cx="1467068"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put(</a:t>
              </a:r>
              <a:r>
                <a:rPr lang="en-US" dirty="0" err="1">
                  <a:solidFill>
                    <a:srgbClr val="FF0000"/>
                  </a:solidFill>
                  <a:latin typeface="Arial" panose="020B0604020202020204" pitchFamily="34" charset="0"/>
                  <a:cs typeface="Arial" panose="020B0604020202020204" pitchFamily="34" charset="0"/>
                </a:rPr>
                <a:t>M,value</a:t>
              </a:r>
              <a:r>
                <a:rPr lang="en-US" dirty="0">
                  <a:solidFill>
                    <a:srgbClr val="FF0000"/>
                  </a:solidFill>
                  <a:latin typeface="Arial" panose="020B0604020202020204" pitchFamily="34" charset="0"/>
                  <a:cs typeface="Arial" panose="020B0604020202020204" pitchFamily="34" charset="0"/>
                </a:rPr>
                <a:t>)</a:t>
              </a:r>
            </a:p>
          </p:txBody>
        </p:sp>
        <p:cxnSp>
          <p:nvCxnSpPr>
            <p:cNvPr id="14" name="Straight Connector 13">
              <a:extLst>
                <a:ext uri="{FF2B5EF4-FFF2-40B4-BE49-F238E27FC236}">
                  <a16:creationId xmlns:a16="http://schemas.microsoft.com/office/drawing/2014/main" id="{12F3E48C-37C0-3D4A-B9A3-B45CD5AD15F5}"/>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3E6A8E-5011-774C-8EF5-40F20FB4438B}"/>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0771220-9AD9-A644-862A-FC8643CEB3A8}"/>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F257A8F-0017-2A4F-8504-60571EE5602D}"/>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3F23D0A-2C5A-8049-8416-36BCBD74AF3F}"/>
                </a:ext>
              </a:extLst>
            </p:cNvPr>
            <p:cNvCxnSpPr>
              <a:cxnSpLocks/>
              <a:stCxn id="23"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A5F1737-AA16-8C4A-82BE-D86776CAAE2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3BDE0D0-69D1-9B44-924A-1195C19A23FF}"/>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6D56500-8391-8F43-90B5-BF05B09222A7}"/>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D56F4A-21B0-6B47-AA11-CDD23CC80D75}"/>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9646380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284D0-EBB6-EC42-AE36-7632ED941316}"/>
              </a:ext>
            </a:extLst>
          </p:cNvPr>
          <p:cNvSpPr>
            <a:spLocks noGrp="1"/>
          </p:cNvSpPr>
          <p:nvPr>
            <p:ph type="title"/>
          </p:nvPr>
        </p:nvSpPr>
        <p:spPr/>
        <p:txBody>
          <a:bodyPr/>
          <a:lstStyle/>
          <a:p>
            <a:r>
              <a:rPr lang="en-US" dirty="0"/>
              <a:t>BST IMPLEMENTATION – PUT(insert)</a:t>
            </a:r>
          </a:p>
        </p:txBody>
      </p:sp>
      <p:sp>
        <p:nvSpPr>
          <p:cNvPr id="3" name="Content Placeholder 2">
            <a:extLst>
              <a:ext uri="{FF2B5EF4-FFF2-40B4-BE49-F238E27FC236}">
                <a16:creationId xmlns:a16="http://schemas.microsoft.com/office/drawing/2014/main" id="{8D316A71-43AA-D04B-ACC6-CFB42B7BD171}"/>
              </a:ext>
            </a:extLst>
          </p:cNvPr>
          <p:cNvSpPr>
            <a:spLocks noGrp="1"/>
          </p:cNvSpPr>
          <p:nvPr>
            <p:ph idx="1"/>
          </p:nvPr>
        </p:nvSpPr>
        <p:spPr/>
        <p:txBody>
          <a:bodyPr/>
          <a:lstStyle/>
          <a:p>
            <a:r>
              <a:rPr lang="en-US" dirty="0"/>
              <a:t>Put(key, value):</a:t>
            </a:r>
          </a:p>
          <a:p>
            <a:pPr lvl="1"/>
            <a:r>
              <a:rPr lang="en-US" dirty="0"/>
              <a:t>If key == </a:t>
            </a:r>
            <a:r>
              <a:rPr lang="en-US" dirty="0" err="1"/>
              <a:t>node.key</a:t>
            </a:r>
            <a:r>
              <a:rPr lang="en-US" dirty="0"/>
              <a:t>, update </a:t>
            </a:r>
            <a:r>
              <a:rPr lang="en-US" dirty="0" err="1"/>
              <a:t>node.value</a:t>
            </a:r>
            <a:r>
              <a:rPr lang="en-US" dirty="0"/>
              <a:t>=value</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pPr lvl="1"/>
            <a:r>
              <a:rPr lang="en-US" dirty="0"/>
              <a:t>If null, insert new node</a:t>
            </a:r>
          </a:p>
          <a:p>
            <a:r>
              <a:rPr lang="en-US" dirty="0"/>
              <a:t>Example</a:t>
            </a:r>
          </a:p>
          <a:p>
            <a:pPr lvl="1"/>
            <a:r>
              <a:rPr lang="en-US" dirty="0"/>
              <a:t>Put new key M</a:t>
            </a:r>
          </a:p>
        </p:txBody>
      </p:sp>
      <p:grpSp>
        <p:nvGrpSpPr>
          <p:cNvPr id="4" name="Group 3" descr="demo of insertion of new key in BST">
            <a:extLst>
              <a:ext uri="{FF2B5EF4-FFF2-40B4-BE49-F238E27FC236}">
                <a16:creationId xmlns:a16="http://schemas.microsoft.com/office/drawing/2014/main" id="{3DD07CEA-E36C-3C4B-9D20-3BEDE6B90833}"/>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3E9B78FD-235C-DC4F-88AE-E74807DDDFE9}"/>
                </a:ext>
              </a:extLst>
            </p:cNvPr>
            <p:cNvSpPr/>
            <p:nvPr/>
          </p:nvSpPr>
          <p:spPr>
            <a:xfrm>
              <a:off x="7030774" y="5081697"/>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F779E6ED-EE7E-B947-9DE4-3CF32652F924}"/>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E3DC7EC0-D754-9B47-8E0D-34AA0B88C147}"/>
                </a:ext>
              </a:extLst>
            </p:cNvPr>
            <p:cNvCxnSpPr>
              <a:cxnSpLocks/>
              <a:stCxn id="6" idx="3"/>
              <a:endCxn id="26" idx="0"/>
            </p:cNvCxnSpPr>
            <p:nvPr/>
          </p:nvCxnSpPr>
          <p:spPr>
            <a:xfrm flipH="1">
              <a:off x="7030774" y="3620639"/>
              <a:ext cx="790414" cy="271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D118168-2CCB-C94D-9F27-1A9E3DFD0288}"/>
                </a:ext>
              </a:extLst>
            </p:cNvPr>
            <p:cNvGrpSpPr/>
            <p:nvPr/>
          </p:nvGrpSpPr>
          <p:grpSpPr>
            <a:xfrm>
              <a:off x="6090548" y="3891858"/>
              <a:ext cx="1730640" cy="636744"/>
              <a:chOff x="3429450" y="3492063"/>
              <a:chExt cx="1730640" cy="636744"/>
            </a:xfrm>
          </p:grpSpPr>
          <p:sp>
            <p:nvSpPr>
              <p:cNvPr id="26" name="Oval 25">
                <a:extLst>
                  <a:ext uri="{FF2B5EF4-FFF2-40B4-BE49-F238E27FC236}">
                    <a16:creationId xmlns:a16="http://schemas.microsoft.com/office/drawing/2014/main" id="{B3347532-269E-BD42-AF4F-AF0E4313E963}"/>
                  </a:ext>
                </a:extLst>
              </p:cNvPr>
              <p:cNvSpPr/>
              <p:nvPr/>
            </p:nvSpPr>
            <p:spPr>
              <a:xfrm>
                <a:off x="4209393" y="3492063"/>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27" name="Straight Connector 26">
                <a:extLst>
                  <a:ext uri="{FF2B5EF4-FFF2-40B4-BE49-F238E27FC236}">
                    <a16:creationId xmlns:a16="http://schemas.microsoft.com/office/drawing/2014/main" id="{91FC8499-80F7-CF4C-954C-BC5922314BEA}"/>
                  </a:ext>
                </a:extLst>
              </p:cNvPr>
              <p:cNvCxnSpPr>
                <a:cxnSpLocks/>
                <a:stCxn id="26"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2064155-D927-4C41-A4EA-5BD3FF7F8D3D}"/>
                  </a:ext>
                </a:extLst>
              </p:cNvPr>
              <p:cNvCxnSpPr>
                <a:cxnSpLocks/>
                <a:stCxn id="26" idx="5"/>
                <a:endCxn id="11" idx="1"/>
              </p:cNvCxnSpPr>
              <p:nvPr/>
            </p:nvCxnSpPr>
            <p:spPr>
              <a:xfrm>
                <a:off x="4483013" y="3788111"/>
                <a:ext cx="677077" cy="3406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787DB883-B908-5D49-94BD-2653A937CC61}"/>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06D67134-81E4-C247-A3F8-F6247FC3AE1C}"/>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D892C272-D6C2-274E-A835-90505EB59AE8}"/>
                </a:ext>
              </a:extLst>
            </p:cNvPr>
            <p:cNvSpPr/>
            <p:nvPr/>
          </p:nvSpPr>
          <p:spPr>
            <a:xfrm>
              <a:off x="7774242" y="4477808"/>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CDE3ECFC-4892-2548-9D24-AE7B180764A7}"/>
                </a:ext>
              </a:extLst>
            </p:cNvPr>
            <p:cNvGrpSpPr/>
            <p:nvPr/>
          </p:nvGrpSpPr>
          <p:grpSpPr>
            <a:xfrm>
              <a:off x="7304394" y="3620639"/>
              <a:ext cx="1919174" cy="1511852"/>
              <a:chOff x="2610785" y="3178812"/>
              <a:chExt cx="1919174" cy="1511852"/>
            </a:xfrm>
          </p:grpSpPr>
          <p:sp>
            <p:nvSpPr>
              <p:cNvPr id="23" name="Oval 22">
                <a:extLst>
                  <a:ext uri="{FF2B5EF4-FFF2-40B4-BE49-F238E27FC236}">
                    <a16:creationId xmlns:a16="http://schemas.microsoft.com/office/drawing/2014/main" id="{BBB20822-20B3-BE46-BCB3-BC667F533D61}"/>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24" name="Straight Connector 23">
                <a:extLst>
                  <a:ext uri="{FF2B5EF4-FFF2-40B4-BE49-F238E27FC236}">
                    <a16:creationId xmlns:a16="http://schemas.microsoft.com/office/drawing/2014/main" id="{15C0F9D1-2739-0945-B936-26739E3EDE27}"/>
                  </a:ext>
                </a:extLst>
              </p:cNvPr>
              <p:cNvCxnSpPr>
                <a:cxnSpLocks/>
                <a:stCxn id="11" idx="3"/>
                <a:endCxn id="5" idx="7"/>
              </p:cNvCxnSpPr>
              <p:nvPr/>
            </p:nvCxnSpPr>
            <p:spPr>
              <a:xfrm flipH="1">
                <a:off x="2610785" y="4332029"/>
                <a:ext cx="516794" cy="3586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8C405F1-3C09-CB4E-A580-9D76E2D40FAE}"/>
                  </a:ext>
                </a:extLst>
              </p:cNvPr>
              <p:cNvCxnSpPr>
                <a:cxnSpLocks/>
                <a:stCxn id="6" idx="5"/>
                <a:endCxn id="23"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E28C34E-32DA-BA46-BA47-8964BF893B55}"/>
                </a:ext>
              </a:extLst>
            </p:cNvPr>
            <p:cNvSpPr txBox="1"/>
            <p:nvPr/>
          </p:nvSpPr>
          <p:spPr>
            <a:xfrm>
              <a:off x="4731026" y="3175362"/>
              <a:ext cx="1467068"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put(</a:t>
              </a:r>
              <a:r>
                <a:rPr lang="en-US" dirty="0" err="1">
                  <a:solidFill>
                    <a:srgbClr val="FF0000"/>
                  </a:solidFill>
                  <a:latin typeface="Arial" panose="020B0604020202020204" pitchFamily="34" charset="0"/>
                  <a:cs typeface="Arial" panose="020B0604020202020204" pitchFamily="34" charset="0"/>
                </a:rPr>
                <a:t>M,value</a:t>
              </a:r>
              <a:r>
                <a:rPr lang="en-US" dirty="0">
                  <a:solidFill>
                    <a:srgbClr val="FF0000"/>
                  </a:solidFill>
                  <a:latin typeface="Arial" panose="020B0604020202020204" pitchFamily="34" charset="0"/>
                  <a:cs typeface="Arial" panose="020B0604020202020204" pitchFamily="34" charset="0"/>
                </a:rPr>
                <a:t>)</a:t>
              </a:r>
            </a:p>
          </p:txBody>
        </p:sp>
        <p:cxnSp>
          <p:nvCxnSpPr>
            <p:cNvPr id="14" name="Straight Connector 13">
              <a:extLst>
                <a:ext uri="{FF2B5EF4-FFF2-40B4-BE49-F238E27FC236}">
                  <a16:creationId xmlns:a16="http://schemas.microsoft.com/office/drawing/2014/main" id="{12F3E48C-37C0-3D4A-B9A3-B45CD5AD15F5}"/>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3E6A8E-5011-774C-8EF5-40F20FB4438B}"/>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0771220-9AD9-A644-862A-FC8643CEB3A8}"/>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F257A8F-0017-2A4F-8504-60571EE5602D}"/>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3F23D0A-2C5A-8049-8416-36BCBD74AF3F}"/>
                </a:ext>
              </a:extLst>
            </p:cNvPr>
            <p:cNvCxnSpPr>
              <a:cxnSpLocks/>
              <a:stCxn id="23"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A5F1737-AA16-8C4A-82BE-D86776CAAE2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3BDE0D0-69D1-9B44-924A-1195C19A23FF}"/>
                </a:ext>
              </a:extLst>
            </p:cNvPr>
            <p:cNvCxnSpPr>
              <a:cxnSpLocks/>
            </p:cNvCxnSpPr>
            <p:nvPr/>
          </p:nvCxnSpPr>
          <p:spPr>
            <a:xfrm>
              <a:off x="7279470" y="5390191"/>
              <a:ext cx="147631" cy="28886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6D56500-8391-8F43-90B5-BF05B09222A7}"/>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D56F4A-21B0-6B47-AA11-CDD23CC80D75}"/>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928146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284D0-EBB6-EC42-AE36-7632ED941316}"/>
              </a:ext>
            </a:extLst>
          </p:cNvPr>
          <p:cNvSpPr>
            <a:spLocks noGrp="1"/>
          </p:cNvSpPr>
          <p:nvPr>
            <p:ph type="title"/>
          </p:nvPr>
        </p:nvSpPr>
        <p:spPr/>
        <p:txBody>
          <a:bodyPr/>
          <a:lstStyle/>
          <a:p>
            <a:r>
              <a:rPr lang="en-US" dirty="0"/>
              <a:t>BST IMPLEMENTATION – PUT(insert)</a:t>
            </a:r>
          </a:p>
        </p:txBody>
      </p:sp>
      <p:sp>
        <p:nvSpPr>
          <p:cNvPr id="3" name="Content Placeholder 2">
            <a:extLst>
              <a:ext uri="{FF2B5EF4-FFF2-40B4-BE49-F238E27FC236}">
                <a16:creationId xmlns:a16="http://schemas.microsoft.com/office/drawing/2014/main" id="{8D316A71-43AA-D04B-ACC6-CFB42B7BD171}"/>
              </a:ext>
            </a:extLst>
          </p:cNvPr>
          <p:cNvSpPr>
            <a:spLocks noGrp="1"/>
          </p:cNvSpPr>
          <p:nvPr>
            <p:ph idx="1"/>
          </p:nvPr>
        </p:nvSpPr>
        <p:spPr/>
        <p:txBody>
          <a:bodyPr/>
          <a:lstStyle/>
          <a:p>
            <a:r>
              <a:rPr lang="en-US" dirty="0"/>
              <a:t>Put(key, value):</a:t>
            </a:r>
          </a:p>
          <a:p>
            <a:pPr lvl="1"/>
            <a:r>
              <a:rPr lang="en-US" dirty="0"/>
              <a:t>If key == </a:t>
            </a:r>
            <a:r>
              <a:rPr lang="en-US" dirty="0" err="1"/>
              <a:t>node.key</a:t>
            </a:r>
            <a:r>
              <a:rPr lang="en-US" dirty="0"/>
              <a:t>, update </a:t>
            </a:r>
            <a:r>
              <a:rPr lang="en-US" dirty="0" err="1"/>
              <a:t>node.value</a:t>
            </a:r>
            <a:r>
              <a:rPr lang="en-US" dirty="0"/>
              <a:t>=value</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pPr lvl="1"/>
            <a:r>
              <a:rPr lang="en-US" dirty="0"/>
              <a:t>If null, insert new node</a:t>
            </a:r>
          </a:p>
          <a:p>
            <a:r>
              <a:rPr lang="en-US" dirty="0"/>
              <a:t>Example</a:t>
            </a:r>
          </a:p>
          <a:p>
            <a:pPr lvl="1"/>
            <a:r>
              <a:rPr lang="en-US" dirty="0"/>
              <a:t>Put new key M</a:t>
            </a:r>
          </a:p>
        </p:txBody>
      </p:sp>
      <p:grpSp>
        <p:nvGrpSpPr>
          <p:cNvPr id="30" name="Group 29" descr="demo of insertion of new key in BST">
            <a:extLst>
              <a:ext uri="{FF2B5EF4-FFF2-40B4-BE49-F238E27FC236}">
                <a16:creationId xmlns:a16="http://schemas.microsoft.com/office/drawing/2014/main" id="{281A45A6-F9C1-C94F-A562-8EF6D388E5CA}"/>
              </a:ext>
            </a:extLst>
          </p:cNvPr>
          <p:cNvGrpSpPr/>
          <p:nvPr/>
        </p:nvGrpSpPr>
        <p:grpSpPr>
          <a:xfrm>
            <a:off x="6096003" y="3302804"/>
            <a:ext cx="4728374" cy="2850233"/>
            <a:chOff x="6096003" y="3302804"/>
            <a:chExt cx="4728374" cy="2850233"/>
          </a:xfrm>
        </p:grpSpPr>
        <p:grpSp>
          <p:nvGrpSpPr>
            <p:cNvPr id="4" name="Group 3" descr="demo of insertion of new key in BST">
              <a:extLst>
                <a:ext uri="{FF2B5EF4-FFF2-40B4-BE49-F238E27FC236}">
                  <a16:creationId xmlns:a16="http://schemas.microsoft.com/office/drawing/2014/main" id="{3DD07CEA-E36C-3C4B-9D20-3BEDE6B90833}"/>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3E9B78FD-235C-DC4F-88AE-E74807DDDFE9}"/>
                  </a:ext>
                </a:extLst>
              </p:cNvPr>
              <p:cNvSpPr/>
              <p:nvPr/>
            </p:nvSpPr>
            <p:spPr>
              <a:xfrm>
                <a:off x="7030774" y="5081697"/>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F779E6ED-EE7E-B947-9DE4-3CF32652F924}"/>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E3DC7EC0-D754-9B47-8E0D-34AA0B88C147}"/>
                  </a:ext>
                </a:extLst>
              </p:cNvPr>
              <p:cNvCxnSpPr>
                <a:cxnSpLocks/>
                <a:stCxn id="6" idx="3"/>
                <a:endCxn id="26" idx="0"/>
              </p:cNvCxnSpPr>
              <p:nvPr/>
            </p:nvCxnSpPr>
            <p:spPr>
              <a:xfrm flipH="1">
                <a:off x="7030774" y="3620639"/>
                <a:ext cx="790414" cy="271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D118168-2CCB-C94D-9F27-1A9E3DFD0288}"/>
                  </a:ext>
                </a:extLst>
              </p:cNvPr>
              <p:cNvGrpSpPr/>
              <p:nvPr/>
            </p:nvGrpSpPr>
            <p:grpSpPr>
              <a:xfrm>
                <a:off x="6090548" y="3891858"/>
                <a:ext cx="1730640" cy="636744"/>
                <a:chOff x="3429450" y="3492063"/>
                <a:chExt cx="1730640" cy="636744"/>
              </a:xfrm>
            </p:grpSpPr>
            <p:sp>
              <p:nvSpPr>
                <p:cNvPr id="26" name="Oval 25">
                  <a:extLst>
                    <a:ext uri="{FF2B5EF4-FFF2-40B4-BE49-F238E27FC236}">
                      <a16:creationId xmlns:a16="http://schemas.microsoft.com/office/drawing/2014/main" id="{B3347532-269E-BD42-AF4F-AF0E4313E963}"/>
                    </a:ext>
                  </a:extLst>
                </p:cNvPr>
                <p:cNvSpPr/>
                <p:nvPr/>
              </p:nvSpPr>
              <p:spPr>
                <a:xfrm>
                  <a:off x="4209393" y="3492063"/>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27" name="Straight Connector 26">
                  <a:extLst>
                    <a:ext uri="{FF2B5EF4-FFF2-40B4-BE49-F238E27FC236}">
                      <a16:creationId xmlns:a16="http://schemas.microsoft.com/office/drawing/2014/main" id="{91FC8499-80F7-CF4C-954C-BC5922314BEA}"/>
                    </a:ext>
                  </a:extLst>
                </p:cNvPr>
                <p:cNvCxnSpPr>
                  <a:cxnSpLocks/>
                  <a:stCxn id="26"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2064155-D927-4C41-A4EA-5BD3FF7F8D3D}"/>
                    </a:ext>
                  </a:extLst>
                </p:cNvPr>
                <p:cNvCxnSpPr>
                  <a:cxnSpLocks/>
                  <a:stCxn id="26" idx="5"/>
                  <a:endCxn id="11" idx="1"/>
                </p:cNvCxnSpPr>
                <p:nvPr/>
              </p:nvCxnSpPr>
              <p:spPr>
                <a:xfrm>
                  <a:off x="4483013" y="3788111"/>
                  <a:ext cx="677077" cy="340696"/>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787DB883-B908-5D49-94BD-2653A937CC61}"/>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06D67134-81E4-C247-A3F8-F6247FC3AE1C}"/>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D892C272-D6C2-274E-A835-90505EB59AE8}"/>
                  </a:ext>
                </a:extLst>
              </p:cNvPr>
              <p:cNvSpPr/>
              <p:nvPr/>
            </p:nvSpPr>
            <p:spPr>
              <a:xfrm>
                <a:off x="7774242" y="4477808"/>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CDE3ECFC-4892-2548-9D24-AE7B180764A7}"/>
                  </a:ext>
                </a:extLst>
              </p:cNvPr>
              <p:cNvGrpSpPr/>
              <p:nvPr/>
            </p:nvGrpSpPr>
            <p:grpSpPr>
              <a:xfrm>
                <a:off x="7304394" y="3620639"/>
                <a:ext cx="1919174" cy="1511852"/>
                <a:chOff x="2610785" y="3178812"/>
                <a:chExt cx="1919174" cy="1511852"/>
              </a:xfrm>
            </p:grpSpPr>
            <p:sp>
              <p:nvSpPr>
                <p:cNvPr id="23" name="Oval 22">
                  <a:extLst>
                    <a:ext uri="{FF2B5EF4-FFF2-40B4-BE49-F238E27FC236}">
                      <a16:creationId xmlns:a16="http://schemas.microsoft.com/office/drawing/2014/main" id="{BBB20822-20B3-BE46-BCB3-BC667F533D61}"/>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24" name="Straight Connector 23">
                  <a:extLst>
                    <a:ext uri="{FF2B5EF4-FFF2-40B4-BE49-F238E27FC236}">
                      <a16:creationId xmlns:a16="http://schemas.microsoft.com/office/drawing/2014/main" id="{15C0F9D1-2739-0945-B936-26739E3EDE27}"/>
                    </a:ext>
                  </a:extLst>
                </p:cNvPr>
                <p:cNvCxnSpPr>
                  <a:cxnSpLocks/>
                  <a:stCxn id="11" idx="3"/>
                  <a:endCxn id="5" idx="7"/>
                </p:cNvCxnSpPr>
                <p:nvPr/>
              </p:nvCxnSpPr>
              <p:spPr>
                <a:xfrm flipH="1">
                  <a:off x="2610785" y="4332029"/>
                  <a:ext cx="516794" cy="358635"/>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8C405F1-3C09-CB4E-A580-9D76E2D40FAE}"/>
                    </a:ext>
                  </a:extLst>
                </p:cNvPr>
                <p:cNvCxnSpPr>
                  <a:cxnSpLocks/>
                  <a:stCxn id="6" idx="5"/>
                  <a:endCxn id="23"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E28C34E-32DA-BA46-BA47-8964BF893B55}"/>
                  </a:ext>
                </a:extLst>
              </p:cNvPr>
              <p:cNvSpPr txBox="1"/>
              <p:nvPr/>
            </p:nvSpPr>
            <p:spPr>
              <a:xfrm>
                <a:off x="4731026" y="3175362"/>
                <a:ext cx="1467068"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put(</a:t>
                </a:r>
                <a:r>
                  <a:rPr lang="en-US" dirty="0" err="1">
                    <a:solidFill>
                      <a:srgbClr val="FF0000"/>
                    </a:solidFill>
                    <a:latin typeface="Arial" panose="020B0604020202020204" pitchFamily="34" charset="0"/>
                    <a:cs typeface="Arial" panose="020B0604020202020204" pitchFamily="34" charset="0"/>
                  </a:rPr>
                  <a:t>M,value</a:t>
                </a:r>
                <a:r>
                  <a:rPr lang="en-US" dirty="0">
                    <a:solidFill>
                      <a:srgbClr val="FF0000"/>
                    </a:solidFill>
                    <a:latin typeface="Arial" panose="020B0604020202020204" pitchFamily="34" charset="0"/>
                    <a:cs typeface="Arial" panose="020B0604020202020204" pitchFamily="34" charset="0"/>
                  </a:rPr>
                  <a:t>)</a:t>
                </a:r>
              </a:p>
            </p:txBody>
          </p:sp>
          <p:cxnSp>
            <p:nvCxnSpPr>
              <p:cNvPr id="14" name="Straight Connector 13">
                <a:extLst>
                  <a:ext uri="{FF2B5EF4-FFF2-40B4-BE49-F238E27FC236}">
                    <a16:creationId xmlns:a16="http://schemas.microsoft.com/office/drawing/2014/main" id="{12F3E48C-37C0-3D4A-B9A3-B45CD5AD15F5}"/>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3E6A8E-5011-774C-8EF5-40F20FB4438B}"/>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0771220-9AD9-A644-862A-FC8643CEB3A8}"/>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F257A8F-0017-2A4F-8504-60571EE5602D}"/>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3F23D0A-2C5A-8049-8416-36BCBD74AF3F}"/>
                  </a:ext>
                </a:extLst>
              </p:cNvPr>
              <p:cNvCxnSpPr>
                <a:cxnSpLocks/>
                <a:stCxn id="23"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A5F1737-AA16-8C4A-82BE-D86776CAAE2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3BDE0D0-69D1-9B44-924A-1195C19A23FF}"/>
                  </a:ext>
                </a:extLst>
              </p:cNvPr>
              <p:cNvCxnSpPr>
                <a:cxnSpLocks/>
              </p:cNvCxnSpPr>
              <p:nvPr/>
            </p:nvCxnSpPr>
            <p:spPr>
              <a:xfrm>
                <a:off x="7279470" y="5390191"/>
                <a:ext cx="147631" cy="28886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6D56500-8391-8F43-90B5-BF05B09222A7}"/>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D56F4A-21B0-6B47-AA11-CDD23CC80D75}"/>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9" name="Oval 28">
              <a:extLst>
                <a:ext uri="{FF2B5EF4-FFF2-40B4-BE49-F238E27FC236}">
                  <a16:creationId xmlns:a16="http://schemas.microsoft.com/office/drawing/2014/main" id="{D155FC2A-1B53-4C43-AE19-1F44D13AEFDC}"/>
                </a:ext>
              </a:extLst>
            </p:cNvPr>
            <p:cNvSpPr/>
            <p:nvPr/>
          </p:nvSpPr>
          <p:spPr>
            <a:xfrm>
              <a:off x="8669371" y="5806195"/>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M</a:t>
              </a:r>
            </a:p>
          </p:txBody>
        </p:sp>
      </p:grpSp>
    </p:spTree>
    <p:extLst>
      <p:ext uri="{BB962C8B-B14F-4D97-AF65-F5344CB8AC3E}">
        <p14:creationId xmlns:p14="http://schemas.microsoft.com/office/powerpoint/2010/main" val="13629661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284D0-EBB6-EC42-AE36-7632ED941316}"/>
              </a:ext>
            </a:extLst>
          </p:cNvPr>
          <p:cNvSpPr>
            <a:spLocks noGrp="1"/>
          </p:cNvSpPr>
          <p:nvPr>
            <p:ph type="title"/>
          </p:nvPr>
        </p:nvSpPr>
        <p:spPr/>
        <p:txBody>
          <a:bodyPr/>
          <a:lstStyle/>
          <a:p>
            <a:r>
              <a:rPr lang="en-US" dirty="0"/>
              <a:t>BST IMPLEMENTATION – PUT(insert)</a:t>
            </a:r>
          </a:p>
        </p:txBody>
      </p:sp>
      <p:sp>
        <p:nvSpPr>
          <p:cNvPr id="3" name="Content Placeholder 2">
            <a:extLst>
              <a:ext uri="{FF2B5EF4-FFF2-40B4-BE49-F238E27FC236}">
                <a16:creationId xmlns:a16="http://schemas.microsoft.com/office/drawing/2014/main" id="{8D316A71-43AA-D04B-ACC6-CFB42B7BD171}"/>
              </a:ext>
            </a:extLst>
          </p:cNvPr>
          <p:cNvSpPr>
            <a:spLocks noGrp="1"/>
          </p:cNvSpPr>
          <p:nvPr>
            <p:ph idx="1"/>
          </p:nvPr>
        </p:nvSpPr>
        <p:spPr/>
        <p:txBody>
          <a:bodyPr/>
          <a:lstStyle/>
          <a:p>
            <a:r>
              <a:rPr lang="en-US" dirty="0"/>
              <a:t>Put(key, value):</a:t>
            </a:r>
          </a:p>
          <a:p>
            <a:pPr lvl="1"/>
            <a:r>
              <a:rPr lang="en-US" dirty="0"/>
              <a:t>If key == </a:t>
            </a:r>
            <a:r>
              <a:rPr lang="en-US" dirty="0" err="1"/>
              <a:t>node.key</a:t>
            </a:r>
            <a:r>
              <a:rPr lang="en-US" dirty="0"/>
              <a:t>, update </a:t>
            </a:r>
            <a:r>
              <a:rPr lang="en-US" dirty="0" err="1"/>
              <a:t>node.value</a:t>
            </a:r>
            <a:r>
              <a:rPr lang="en-US" dirty="0"/>
              <a:t>=value</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pPr lvl="1"/>
            <a:r>
              <a:rPr lang="en-US" dirty="0"/>
              <a:t>If null, insert new node</a:t>
            </a:r>
          </a:p>
          <a:p>
            <a:r>
              <a:rPr lang="en-US" dirty="0"/>
              <a:t>Example</a:t>
            </a:r>
          </a:p>
          <a:p>
            <a:pPr lvl="1"/>
            <a:r>
              <a:rPr lang="en-US" dirty="0"/>
              <a:t>Update value of existing key A</a:t>
            </a:r>
          </a:p>
        </p:txBody>
      </p:sp>
      <p:grpSp>
        <p:nvGrpSpPr>
          <p:cNvPr id="4" name="Group 3" descr="demo of insertion of existing key in BST (update value)">
            <a:extLst>
              <a:ext uri="{FF2B5EF4-FFF2-40B4-BE49-F238E27FC236}">
                <a16:creationId xmlns:a16="http://schemas.microsoft.com/office/drawing/2014/main" id="{3DD07CEA-E36C-3C4B-9D20-3BEDE6B90833}"/>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3E9B78FD-235C-DC4F-88AE-E74807DDDFE9}"/>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F779E6ED-EE7E-B947-9DE4-3CF32652F924}"/>
                </a:ext>
              </a:extLst>
            </p:cNvPr>
            <p:cNvSpPr/>
            <p:nvPr/>
          </p:nvSpPr>
          <p:spPr>
            <a:xfrm>
              <a:off x="7774242" y="3324591"/>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E3DC7EC0-D754-9B47-8E0D-34AA0B88C147}"/>
                </a:ext>
              </a:extLst>
            </p:cNvPr>
            <p:cNvCxnSpPr>
              <a:cxnSpLocks/>
              <a:stCxn id="6" idx="3"/>
              <a:endCxn id="26" idx="0"/>
            </p:cNvCxnSpPr>
            <p:nvPr/>
          </p:nvCxnSpPr>
          <p:spPr>
            <a:xfrm flipH="1">
              <a:off x="7030774" y="3620639"/>
              <a:ext cx="790414" cy="27121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D118168-2CCB-C94D-9F27-1A9E3DFD0288}"/>
                </a:ext>
              </a:extLst>
            </p:cNvPr>
            <p:cNvGrpSpPr/>
            <p:nvPr/>
          </p:nvGrpSpPr>
          <p:grpSpPr>
            <a:xfrm>
              <a:off x="6090548" y="3891858"/>
              <a:ext cx="1730640" cy="636744"/>
              <a:chOff x="3429450" y="3492063"/>
              <a:chExt cx="1730640" cy="636744"/>
            </a:xfrm>
          </p:grpSpPr>
          <p:sp>
            <p:nvSpPr>
              <p:cNvPr id="26" name="Oval 25">
                <a:extLst>
                  <a:ext uri="{FF2B5EF4-FFF2-40B4-BE49-F238E27FC236}">
                    <a16:creationId xmlns:a16="http://schemas.microsoft.com/office/drawing/2014/main" id="{B3347532-269E-BD42-AF4F-AF0E4313E963}"/>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27" name="Straight Connector 26">
                <a:extLst>
                  <a:ext uri="{FF2B5EF4-FFF2-40B4-BE49-F238E27FC236}">
                    <a16:creationId xmlns:a16="http://schemas.microsoft.com/office/drawing/2014/main" id="{91FC8499-80F7-CF4C-954C-BC5922314BEA}"/>
                  </a:ext>
                </a:extLst>
              </p:cNvPr>
              <p:cNvCxnSpPr>
                <a:cxnSpLocks/>
                <a:stCxn id="26"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2064155-D927-4C41-A4EA-5BD3FF7F8D3D}"/>
                  </a:ext>
                </a:extLst>
              </p:cNvPr>
              <p:cNvCxnSpPr>
                <a:cxnSpLocks/>
                <a:stCxn id="26" idx="5"/>
                <a:endCxn id="11" idx="1"/>
              </p:cNvCxnSpPr>
              <p:nvPr/>
            </p:nvCxnSpPr>
            <p:spPr>
              <a:xfrm>
                <a:off x="4483013" y="3788111"/>
                <a:ext cx="677077" cy="3406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787DB883-B908-5D49-94BD-2653A937CC61}"/>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06D67134-81E4-C247-A3F8-F6247FC3AE1C}"/>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D892C272-D6C2-274E-A835-90505EB59AE8}"/>
                </a:ext>
              </a:extLst>
            </p:cNvPr>
            <p:cNvSpPr/>
            <p:nvPr/>
          </p:nvSpPr>
          <p:spPr>
            <a:xfrm>
              <a:off x="7774242"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CDE3ECFC-4892-2548-9D24-AE7B180764A7}"/>
                </a:ext>
              </a:extLst>
            </p:cNvPr>
            <p:cNvGrpSpPr/>
            <p:nvPr/>
          </p:nvGrpSpPr>
          <p:grpSpPr>
            <a:xfrm>
              <a:off x="7304394" y="3620639"/>
              <a:ext cx="1919174" cy="1511852"/>
              <a:chOff x="2610785" y="3178812"/>
              <a:chExt cx="1919174" cy="1511852"/>
            </a:xfrm>
          </p:grpSpPr>
          <p:sp>
            <p:nvSpPr>
              <p:cNvPr id="23" name="Oval 22">
                <a:extLst>
                  <a:ext uri="{FF2B5EF4-FFF2-40B4-BE49-F238E27FC236}">
                    <a16:creationId xmlns:a16="http://schemas.microsoft.com/office/drawing/2014/main" id="{BBB20822-20B3-BE46-BCB3-BC667F533D61}"/>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24" name="Straight Connector 23">
                <a:extLst>
                  <a:ext uri="{FF2B5EF4-FFF2-40B4-BE49-F238E27FC236}">
                    <a16:creationId xmlns:a16="http://schemas.microsoft.com/office/drawing/2014/main" id="{15C0F9D1-2739-0945-B936-26739E3EDE27}"/>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8C405F1-3C09-CB4E-A580-9D76E2D40FAE}"/>
                  </a:ext>
                </a:extLst>
              </p:cNvPr>
              <p:cNvCxnSpPr>
                <a:cxnSpLocks/>
                <a:stCxn id="6" idx="5"/>
                <a:endCxn id="23"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E28C34E-32DA-BA46-BA47-8964BF893B55}"/>
                </a:ext>
              </a:extLst>
            </p:cNvPr>
            <p:cNvSpPr txBox="1"/>
            <p:nvPr/>
          </p:nvSpPr>
          <p:spPr>
            <a:xfrm>
              <a:off x="4731026" y="3175362"/>
              <a:ext cx="1428596"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put(</a:t>
              </a:r>
              <a:r>
                <a:rPr lang="en-US" dirty="0" err="1">
                  <a:solidFill>
                    <a:srgbClr val="FF0000"/>
                  </a:solidFill>
                  <a:latin typeface="Arial" panose="020B0604020202020204" pitchFamily="34" charset="0"/>
                  <a:cs typeface="Arial" panose="020B0604020202020204" pitchFamily="34" charset="0"/>
                </a:rPr>
                <a:t>A,value</a:t>
              </a:r>
              <a:r>
                <a:rPr lang="en-US" dirty="0">
                  <a:solidFill>
                    <a:srgbClr val="FF0000"/>
                  </a:solidFill>
                  <a:latin typeface="Arial" panose="020B0604020202020204" pitchFamily="34" charset="0"/>
                  <a:cs typeface="Arial" panose="020B0604020202020204" pitchFamily="34" charset="0"/>
                </a:rPr>
                <a:t>)</a:t>
              </a:r>
            </a:p>
          </p:txBody>
        </p:sp>
        <p:cxnSp>
          <p:nvCxnSpPr>
            <p:cNvPr id="14" name="Straight Connector 13">
              <a:extLst>
                <a:ext uri="{FF2B5EF4-FFF2-40B4-BE49-F238E27FC236}">
                  <a16:creationId xmlns:a16="http://schemas.microsoft.com/office/drawing/2014/main" id="{12F3E48C-37C0-3D4A-B9A3-B45CD5AD15F5}"/>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3E6A8E-5011-774C-8EF5-40F20FB4438B}"/>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0771220-9AD9-A644-862A-FC8643CEB3A8}"/>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F257A8F-0017-2A4F-8504-60571EE5602D}"/>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3F23D0A-2C5A-8049-8416-36BCBD74AF3F}"/>
                </a:ext>
              </a:extLst>
            </p:cNvPr>
            <p:cNvCxnSpPr>
              <a:cxnSpLocks/>
              <a:stCxn id="23"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A5F1737-AA16-8C4A-82BE-D86776CAAE2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3BDE0D0-69D1-9B44-924A-1195C19A23FF}"/>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6D56500-8391-8F43-90B5-BF05B09222A7}"/>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D56F4A-21B0-6B47-AA11-CDD23CC80D75}"/>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421607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284D0-EBB6-EC42-AE36-7632ED941316}"/>
              </a:ext>
            </a:extLst>
          </p:cNvPr>
          <p:cNvSpPr>
            <a:spLocks noGrp="1"/>
          </p:cNvSpPr>
          <p:nvPr>
            <p:ph type="title"/>
          </p:nvPr>
        </p:nvSpPr>
        <p:spPr/>
        <p:txBody>
          <a:bodyPr/>
          <a:lstStyle/>
          <a:p>
            <a:r>
              <a:rPr lang="en-US" dirty="0"/>
              <a:t>BST IMPLEMENTATION – PUT(insert)</a:t>
            </a:r>
          </a:p>
        </p:txBody>
      </p:sp>
      <p:sp>
        <p:nvSpPr>
          <p:cNvPr id="3" name="Content Placeholder 2">
            <a:extLst>
              <a:ext uri="{FF2B5EF4-FFF2-40B4-BE49-F238E27FC236}">
                <a16:creationId xmlns:a16="http://schemas.microsoft.com/office/drawing/2014/main" id="{8D316A71-43AA-D04B-ACC6-CFB42B7BD171}"/>
              </a:ext>
            </a:extLst>
          </p:cNvPr>
          <p:cNvSpPr>
            <a:spLocks noGrp="1"/>
          </p:cNvSpPr>
          <p:nvPr>
            <p:ph idx="1"/>
          </p:nvPr>
        </p:nvSpPr>
        <p:spPr/>
        <p:txBody>
          <a:bodyPr/>
          <a:lstStyle/>
          <a:p>
            <a:r>
              <a:rPr lang="en-US" dirty="0"/>
              <a:t>Put(key, value):</a:t>
            </a:r>
          </a:p>
          <a:p>
            <a:pPr lvl="1"/>
            <a:r>
              <a:rPr lang="en-US" dirty="0"/>
              <a:t>If key == </a:t>
            </a:r>
            <a:r>
              <a:rPr lang="en-US" dirty="0" err="1"/>
              <a:t>node.key</a:t>
            </a:r>
            <a:r>
              <a:rPr lang="en-US" dirty="0"/>
              <a:t>, update </a:t>
            </a:r>
            <a:r>
              <a:rPr lang="en-US" dirty="0" err="1"/>
              <a:t>node.value</a:t>
            </a:r>
            <a:r>
              <a:rPr lang="en-US" dirty="0"/>
              <a:t>=value</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pPr lvl="1"/>
            <a:r>
              <a:rPr lang="en-US" dirty="0"/>
              <a:t>If null, insert new node</a:t>
            </a:r>
          </a:p>
          <a:p>
            <a:r>
              <a:rPr lang="en-US" dirty="0"/>
              <a:t>Example</a:t>
            </a:r>
          </a:p>
          <a:p>
            <a:pPr lvl="1"/>
            <a:r>
              <a:rPr lang="en-US" dirty="0"/>
              <a:t>Update value of existing key A</a:t>
            </a:r>
          </a:p>
        </p:txBody>
      </p:sp>
      <p:grpSp>
        <p:nvGrpSpPr>
          <p:cNvPr id="4" name="Group 3" descr="demo of insertion of existing key in BST (update value)">
            <a:extLst>
              <a:ext uri="{FF2B5EF4-FFF2-40B4-BE49-F238E27FC236}">
                <a16:creationId xmlns:a16="http://schemas.microsoft.com/office/drawing/2014/main" id="{3DD07CEA-E36C-3C4B-9D20-3BEDE6B90833}"/>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3E9B78FD-235C-DC4F-88AE-E74807DDDFE9}"/>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F779E6ED-EE7E-B947-9DE4-3CF32652F924}"/>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E3DC7EC0-D754-9B47-8E0D-34AA0B88C147}"/>
                </a:ext>
              </a:extLst>
            </p:cNvPr>
            <p:cNvCxnSpPr>
              <a:cxnSpLocks/>
              <a:stCxn id="6" idx="3"/>
              <a:endCxn id="26" idx="0"/>
            </p:cNvCxnSpPr>
            <p:nvPr/>
          </p:nvCxnSpPr>
          <p:spPr>
            <a:xfrm flipH="1">
              <a:off x="7030774" y="3620639"/>
              <a:ext cx="790414" cy="27121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D118168-2CCB-C94D-9F27-1A9E3DFD0288}"/>
                </a:ext>
              </a:extLst>
            </p:cNvPr>
            <p:cNvGrpSpPr/>
            <p:nvPr/>
          </p:nvGrpSpPr>
          <p:grpSpPr>
            <a:xfrm>
              <a:off x="6090548" y="3891858"/>
              <a:ext cx="1730640" cy="636744"/>
              <a:chOff x="3429450" y="3492063"/>
              <a:chExt cx="1730640" cy="636744"/>
            </a:xfrm>
          </p:grpSpPr>
          <p:sp>
            <p:nvSpPr>
              <p:cNvPr id="26" name="Oval 25">
                <a:extLst>
                  <a:ext uri="{FF2B5EF4-FFF2-40B4-BE49-F238E27FC236}">
                    <a16:creationId xmlns:a16="http://schemas.microsoft.com/office/drawing/2014/main" id="{B3347532-269E-BD42-AF4F-AF0E4313E963}"/>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27" name="Straight Connector 26">
                <a:extLst>
                  <a:ext uri="{FF2B5EF4-FFF2-40B4-BE49-F238E27FC236}">
                    <a16:creationId xmlns:a16="http://schemas.microsoft.com/office/drawing/2014/main" id="{91FC8499-80F7-CF4C-954C-BC5922314BEA}"/>
                  </a:ext>
                </a:extLst>
              </p:cNvPr>
              <p:cNvCxnSpPr>
                <a:cxnSpLocks/>
                <a:stCxn id="26"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2064155-D927-4C41-A4EA-5BD3FF7F8D3D}"/>
                  </a:ext>
                </a:extLst>
              </p:cNvPr>
              <p:cNvCxnSpPr>
                <a:cxnSpLocks/>
                <a:stCxn id="26" idx="5"/>
                <a:endCxn id="11" idx="1"/>
              </p:cNvCxnSpPr>
              <p:nvPr/>
            </p:nvCxnSpPr>
            <p:spPr>
              <a:xfrm>
                <a:off x="4483013" y="3788111"/>
                <a:ext cx="677077" cy="3406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787DB883-B908-5D49-94BD-2653A937CC61}"/>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06D67134-81E4-C247-A3F8-F6247FC3AE1C}"/>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D892C272-D6C2-274E-A835-90505EB59AE8}"/>
                </a:ext>
              </a:extLst>
            </p:cNvPr>
            <p:cNvSpPr/>
            <p:nvPr/>
          </p:nvSpPr>
          <p:spPr>
            <a:xfrm>
              <a:off x="7774242"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CDE3ECFC-4892-2548-9D24-AE7B180764A7}"/>
                </a:ext>
              </a:extLst>
            </p:cNvPr>
            <p:cNvGrpSpPr/>
            <p:nvPr/>
          </p:nvGrpSpPr>
          <p:grpSpPr>
            <a:xfrm>
              <a:off x="7304394" y="3620639"/>
              <a:ext cx="1919174" cy="1511852"/>
              <a:chOff x="2610785" y="3178812"/>
              <a:chExt cx="1919174" cy="1511852"/>
            </a:xfrm>
          </p:grpSpPr>
          <p:sp>
            <p:nvSpPr>
              <p:cNvPr id="23" name="Oval 22">
                <a:extLst>
                  <a:ext uri="{FF2B5EF4-FFF2-40B4-BE49-F238E27FC236}">
                    <a16:creationId xmlns:a16="http://schemas.microsoft.com/office/drawing/2014/main" id="{BBB20822-20B3-BE46-BCB3-BC667F533D61}"/>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24" name="Straight Connector 23">
                <a:extLst>
                  <a:ext uri="{FF2B5EF4-FFF2-40B4-BE49-F238E27FC236}">
                    <a16:creationId xmlns:a16="http://schemas.microsoft.com/office/drawing/2014/main" id="{15C0F9D1-2739-0945-B936-26739E3EDE27}"/>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8C405F1-3C09-CB4E-A580-9D76E2D40FAE}"/>
                  </a:ext>
                </a:extLst>
              </p:cNvPr>
              <p:cNvCxnSpPr>
                <a:cxnSpLocks/>
                <a:stCxn id="6" idx="5"/>
                <a:endCxn id="23"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E28C34E-32DA-BA46-BA47-8964BF893B55}"/>
                </a:ext>
              </a:extLst>
            </p:cNvPr>
            <p:cNvSpPr txBox="1"/>
            <p:nvPr/>
          </p:nvSpPr>
          <p:spPr>
            <a:xfrm>
              <a:off x="4731026" y="3175362"/>
              <a:ext cx="1428596"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put(</a:t>
              </a:r>
              <a:r>
                <a:rPr lang="en-US" dirty="0" err="1">
                  <a:solidFill>
                    <a:srgbClr val="FF0000"/>
                  </a:solidFill>
                  <a:latin typeface="Arial" panose="020B0604020202020204" pitchFamily="34" charset="0"/>
                  <a:cs typeface="Arial" panose="020B0604020202020204" pitchFamily="34" charset="0"/>
                </a:rPr>
                <a:t>A,value</a:t>
              </a:r>
              <a:r>
                <a:rPr lang="en-US" dirty="0">
                  <a:solidFill>
                    <a:srgbClr val="FF0000"/>
                  </a:solidFill>
                  <a:latin typeface="Arial" panose="020B0604020202020204" pitchFamily="34" charset="0"/>
                  <a:cs typeface="Arial" panose="020B0604020202020204" pitchFamily="34" charset="0"/>
                </a:rPr>
                <a:t>)</a:t>
              </a:r>
            </a:p>
          </p:txBody>
        </p:sp>
        <p:cxnSp>
          <p:nvCxnSpPr>
            <p:cNvPr id="14" name="Straight Connector 13">
              <a:extLst>
                <a:ext uri="{FF2B5EF4-FFF2-40B4-BE49-F238E27FC236}">
                  <a16:creationId xmlns:a16="http://schemas.microsoft.com/office/drawing/2014/main" id="{12F3E48C-37C0-3D4A-B9A3-B45CD5AD15F5}"/>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3E6A8E-5011-774C-8EF5-40F20FB4438B}"/>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0771220-9AD9-A644-862A-FC8643CEB3A8}"/>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F257A8F-0017-2A4F-8504-60571EE5602D}"/>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3F23D0A-2C5A-8049-8416-36BCBD74AF3F}"/>
                </a:ext>
              </a:extLst>
            </p:cNvPr>
            <p:cNvCxnSpPr>
              <a:cxnSpLocks/>
              <a:stCxn id="23"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A5F1737-AA16-8C4A-82BE-D86776CAAE2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3BDE0D0-69D1-9B44-924A-1195C19A23FF}"/>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6D56500-8391-8F43-90B5-BF05B09222A7}"/>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D56F4A-21B0-6B47-AA11-CDD23CC80D75}"/>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0580508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284D0-EBB6-EC42-AE36-7632ED941316}"/>
              </a:ext>
            </a:extLst>
          </p:cNvPr>
          <p:cNvSpPr>
            <a:spLocks noGrp="1"/>
          </p:cNvSpPr>
          <p:nvPr>
            <p:ph type="title"/>
          </p:nvPr>
        </p:nvSpPr>
        <p:spPr/>
        <p:txBody>
          <a:bodyPr/>
          <a:lstStyle/>
          <a:p>
            <a:r>
              <a:rPr lang="en-US" dirty="0"/>
              <a:t>BST IMPLEMENTATION – PUT(insert)</a:t>
            </a:r>
          </a:p>
        </p:txBody>
      </p:sp>
      <p:sp>
        <p:nvSpPr>
          <p:cNvPr id="3" name="Content Placeholder 2">
            <a:extLst>
              <a:ext uri="{FF2B5EF4-FFF2-40B4-BE49-F238E27FC236}">
                <a16:creationId xmlns:a16="http://schemas.microsoft.com/office/drawing/2014/main" id="{8D316A71-43AA-D04B-ACC6-CFB42B7BD171}"/>
              </a:ext>
            </a:extLst>
          </p:cNvPr>
          <p:cNvSpPr>
            <a:spLocks noGrp="1"/>
          </p:cNvSpPr>
          <p:nvPr>
            <p:ph idx="1"/>
          </p:nvPr>
        </p:nvSpPr>
        <p:spPr/>
        <p:txBody>
          <a:bodyPr/>
          <a:lstStyle/>
          <a:p>
            <a:r>
              <a:rPr lang="en-US" dirty="0"/>
              <a:t>Put(key, value):</a:t>
            </a:r>
          </a:p>
          <a:p>
            <a:pPr lvl="1"/>
            <a:r>
              <a:rPr lang="en-US" dirty="0"/>
              <a:t>If key == </a:t>
            </a:r>
            <a:r>
              <a:rPr lang="en-US" dirty="0" err="1"/>
              <a:t>node.key</a:t>
            </a:r>
            <a:r>
              <a:rPr lang="en-US" dirty="0"/>
              <a:t>, update </a:t>
            </a:r>
            <a:r>
              <a:rPr lang="en-US" dirty="0" err="1"/>
              <a:t>node.value</a:t>
            </a:r>
            <a:r>
              <a:rPr lang="en-US" dirty="0"/>
              <a:t>=value</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pPr lvl="1"/>
            <a:r>
              <a:rPr lang="en-US" dirty="0"/>
              <a:t>If null, insert new node</a:t>
            </a:r>
          </a:p>
          <a:p>
            <a:r>
              <a:rPr lang="en-US" dirty="0"/>
              <a:t>Example</a:t>
            </a:r>
          </a:p>
          <a:p>
            <a:pPr lvl="1"/>
            <a:r>
              <a:rPr lang="en-US" dirty="0"/>
              <a:t>Update value of existing key A</a:t>
            </a:r>
          </a:p>
        </p:txBody>
      </p:sp>
      <p:grpSp>
        <p:nvGrpSpPr>
          <p:cNvPr id="4" name="Group 3" descr="demo of insertion of existing key in BST (update value)">
            <a:extLst>
              <a:ext uri="{FF2B5EF4-FFF2-40B4-BE49-F238E27FC236}">
                <a16:creationId xmlns:a16="http://schemas.microsoft.com/office/drawing/2014/main" id="{3DD07CEA-E36C-3C4B-9D20-3BEDE6B90833}"/>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3E9B78FD-235C-DC4F-88AE-E74807DDDFE9}"/>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F779E6ED-EE7E-B947-9DE4-3CF32652F924}"/>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E3DC7EC0-D754-9B47-8E0D-34AA0B88C147}"/>
                </a:ext>
              </a:extLst>
            </p:cNvPr>
            <p:cNvCxnSpPr>
              <a:cxnSpLocks/>
              <a:stCxn id="6" idx="3"/>
              <a:endCxn id="26" idx="0"/>
            </p:cNvCxnSpPr>
            <p:nvPr/>
          </p:nvCxnSpPr>
          <p:spPr>
            <a:xfrm flipH="1">
              <a:off x="7030774" y="3620639"/>
              <a:ext cx="790414" cy="271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D118168-2CCB-C94D-9F27-1A9E3DFD0288}"/>
                </a:ext>
              </a:extLst>
            </p:cNvPr>
            <p:cNvGrpSpPr/>
            <p:nvPr/>
          </p:nvGrpSpPr>
          <p:grpSpPr>
            <a:xfrm>
              <a:off x="6090548" y="3891858"/>
              <a:ext cx="1730640" cy="636744"/>
              <a:chOff x="3429450" y="3492063"/>
              <a:chExt cx="1730640" cy="636744"/>
            </a:xfrm>
          </p:grpSpPr>
          <p:sp>
            <p:nvSpPr>
              <p:cNvPr id="26" name="Oval 25">
                <a:extLst>
                  <a:ext uri="{FF2B5EF4-FFF2-40B4-BE49-F238E27FC236}">
                    <a16:creationId xmlns:a16="http://schemas.microsoft.com/office/drawing/2014/main" id="{B3347532-269E-BD42-AF4F-AF0E4313E963}"/>
                  </a:ext>
                </a:extLst>
              </p:cNvPr>
              <p:cNvSpPr/>
              <p:nvPr/>
            </p:nvSpPr>
            <p:spPr>
              <a:xfrm>
                <a:off x="4209393" y="3492063"/>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27" name="Straight Connector 26">
                <a:extLst>
                  <a:ext uri="{FF2B5EF4-FFF2-40B4-BE49-F238E27FC236}">
                    <a16:creationId xmlns:a16="http://schemas.microsoft.com/office/drawing/2014/main" id="{91FC8499-80F7-CF4C-954C-BC5922314BEA}"/>
                  </a:ext>
                </a:extLst>
              </p:cNvPr>
              <p:cNvCxnSpPr>
                <a:cxnSpLocks/>
                <a:stCxn id="26"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2064155-D927-4C41-A4EA-5BD3FF7F8D3D}"/>
                  </a:ext>
                </a:extLst>
              </p:cNvPr>
              <p:cNvCxnSpPr>
                <a:cxnSpLocks/>
                <a:stCxn id="26" idx="5"/>
                <a:endCxn id="11" idx="1"/>
              </p:cNvCxnSpPr>
              <p:nvPr/>
            </p:nvCxnSpPr>
            <p:spPr>
              <a:xfrm>
                <a:off x="4483013" y="3788111"/>
                <a:ext cx="677077" cy="3406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787DB883-B908-5D49-94BD-2653A937CC61}"/>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06D67134-81E4-C247-A3F8-F6247FC3AE1C}"/>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D892C272-D6C2-274E-A835-90505EB59AE8}"/>
                </a:ext>
              </a:extLst>
            </p:cNvPr>
            <p:cNvSpPr/>
            <p:nvPr/>
          </p:nvSpPr>
          <p:spPr>
            <a:xfrm>
              <a:off x="7774242"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CDE3ECFC-4892-2548-9D24-AE7B180764A7}"/>
                </a:ext>
              </a:extLst>
            </p:cNvPr>
            <p:cNvGrpSpPr/>
            <p:nvPr/>
          </p:nvGrpSpPr>
          <p:grpSpPr>
            <a:xfrm>
              <a:off x="7304394" y="3620639"/>
              <a:ext cx="1919174" cy="1511852"/>
              <a:chOff x="2610785" y="3178812"/>
              <a:chExt cx="1919174" cy="1511852"/>
            </a:xfrm>
          </p:grpSpPr>
          <p:sp>
            <p:nvSpPr>
              <p:cNvPr id="23" name="Oval 22">
                <a:extLst>
                  <a:ext uri="{FF2B5EF4-FFF2-40B4-BE49-F238E27FC236}">
                    <a16:creationId xmlns:a16="http://schemas.microsoft.com/office/drawing/2014/main" id="{BBB20822-20B3-BE46-BCB3-BC667F533D61}"/>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24" name="Straight Connector 23">
                <a:extLst>
                  <a:ext uri="{FF2B5EF4-FFF2-40B4-BE49-F238E27FC236}">
                    <a16:creationId xmlns:a16="http://schemas.microsoft.com/office/drawing/2014/main" id="{15C0F9D1-2739-0945-B936-26739E3EDE27}"/>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8C405F1-3C09-CB4E-A580-9D76E2D40FAE}"/>
                  </a:ext>
                </a:extLst>
              </p:cNvPr>
              <p:cNvCxnSpPr>
                <a:cxnSpLocks/>
                <a:stCxn id="6" idx="5"/>
                <a:endCxn id="23"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E28C34E-32DA-BA46-BA47-8964BF893B55}"/>
                </a:ext>
              </a:extLst>
            </p:cNvPr>
            <p:cNvSpPr txBox="1"/>
            <p:nvPr/>
          </p:nvSpPr>
          <p:spPr>
            <a:xfrm>
              <a:off x="4731026" y="3175362"/>
              <a:ext cx="1428596"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put(</a:t>
              </a:r>
              <a:r>
                <a:rPr lang="en-US" dirty="0" err="1">
                  <a:solidFill>
                    <a:srgbClr val="FF0000"/>
                  </a:solidFill>
                  <a:latin typeface="Arial" panose="020B0604020202020204" pitchFamily="34" charset="0"/>
                  <a:cs typeface="Arial" panose="020B0604020202020204" pitchFamily="34" charset="0"/>
                </a:rPr>
                <a:t>A,value</a:t>
              </a:r>
              <a:r>
                <a:rPr lang="en-US" dirty="0">
                  <a:solidFill>
                    <a:srgbClr val="FF0000"/>
                  </a:solidFill>
                  <a:latin typeface="Arial" panose="020B0604020202020204" pitchFamily="34" charset="0"/>
                  <a:cs typeface="Arial" panose="020B0604020202020204" pitchFamily="34" charset="0"/>
                </a:rPr>
                <a:t>)</a:t>
              </a:r>
            </a:p>
          </p:txBody>
        </p:sp>
        <p:cxnSp>
          <p:nvCxnSpPr>
            <p:cNvPr id="14" name="Straight Connector 13">
              <a:extLst>
                <a:ext uri="{FF2B5EF4-FFF2-40B4-BE49-F238E27FC236}">
                  <a16:creationId xmlns:a16="http://schemas.microsoft.com/office/drawing/2014/main" id="{12F3E48C-37C0-3D4A-B9A3-B45CD5AD15F5}"/>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3E6A8E-5011-774C-8EF5-40F20FB4438B}"/>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0771220-9AD9-A644-862A-FC8643CEB3A8}"/>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F257A8F-0017-2A4F-8504-60571EE5602D}"/>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3F23D0A-2C5A-8049-8416-36BCBD74AF3F}"/>
                </a:ext>
              </a:extLst>
            </p:cNvPr>
            <p:cNvCxnSpPr>
              <a:cxnSpLocks/>
              <a:stCxn id="23"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A5F1737-AA16-8C4A-82BE-D86776CAAE2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3BDE0D0-69D1-9B44-924A-1195C19A23FF}"/>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6D56500-8391-8F43-90B5-BF05B09222A7}"/>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D56F4A-21B0-6B47-AA11-CDD23CC80D75}"/>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5791060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284D0-EBB6-EC42-AE36-7632ED941316}"/>
              </a:ext>
            </a:extLst>
          </p:cNvPr>
          <p:cNvSpPr>
            <a:spLocks noGrp="1"/>
          </p:cNvSpPr>
          <p:nvPr>
            <p:ph type="title"/>
          </p:nvPr>
        </p:nvSpPr>
        <p:spPr/>
        <p:txBody>
          <a:bodyPr/>
          <a:lstStyle/>
          <a:p>
            <a:r>
              <a:rPr lang="en-US" dirty="0"/>
              <a:t>BST IMPLEMENTATION – PUT(insert)</a:t>
            </a:r>
          </a:p>
        </p:txBody>
      </p:sp>
      <p:sp>
        <p:nvSpPr>
          <p:cNvPr id="3" name="Content Placeholder 2">
            <a:extLst>
              <a:ext uri="{FF2B5EF4-FFF2-40B4-BE49-F238E27FC236}">
                <a16:creationId xmlns:a16="http://schemas.microsoft.com/office/drawing/2014/main" id="{8D316A71-43AA-D04B-ACC6-CFB42B7BD171}"/>
              </a:ext>
            </a:extLst>
          </p:cNvPr>
          <p:cNvSpPr>
            <a:spLocks noGrp="1"/>
          </p:cNvSpPr>
          <p:nvPr>
            <p:ph idx="1"/>
          </p:nvPr>
        </p:nvSpPr>
        <p:spPr/>
        <p:txBody>
          <a:bodyPr/>
          <a:lstStyle/>
          <a:p>
            <a:r>
              <a:rPr lang="en-US" dirty="0"/>
              <a:t>Put(key, value):</a:t>
            </a:r>
          </a:p>
          <a:p>
            <a:pPr lvl="1"/>
            <a:r>
              <a:rPr lang="en-US" dirty="0"/>
              <a:t>If key == </a:t>
            </a:r>
            <a:r>
              <a:rPr lang="en-US" dirty="0" err="1"/>
              <a:t>node.key</a:t>
            </a:r>
            <a:r>
              <a:rPr lang="en-US" dirty="0"/>
              <a:t>, update </a:t>
            </a:r>
            <a:r>
              <a:rPr lang="en-US" dirty="0" err="1"/>
              <a:t>node.value</a:t>
            </a:r>
            <a:r>
              <a:rPr lang="en-US" dirty="0"/>
              <a:t>=value</a:t>
            </a:r>
          </a:p>
          <a:p>
            <a:pPr lvl="1"/>
            <a:r>
              <a:rPr lang="en-US" dirty="0"/>
              <a:t>If key &lt; </a:t>
            </a:r>
            <a:r>
              <a:rPr lang="en-US" dirty="0" err="1"/>
              <a:t>node.key</a:t>
            </a:r>
            <a:r>
              <a:rPr lang="en-US" dirty="0"/>
              <a:t>, go left</a:t>
            </a:r>
          </a:p>
          <a:p>
            <a:pPr lvl="1"/>
            <a:r>
              <a:rPr lang="en-US" dirty="0"/>
              <a:t>If key &gt; </a:t>
            </a:r>
            <a:r>
              <a:rPr lang="en-US" dirty="0" err="1"/>
              <a:t>node.key</a:t>
            </a:r>
            <a:r>
              <a:rPr lang="en-US" dirty="0"/>
              <a:t>, go right</a:t>
            </a:r>
          </a:p>
          <a:p>
            <a:pPr lvl="1"/>
            <a:r>
              <a:rPr lang="en-US" dirty="0"/>
              <a:t>If null, insert new node</a:t>
            </a:r>
          </a:p>
          <a:p>
            <a:r>
              <a:rPr lang="en-US" dirty="0"/>
              <a:t>Example</a:t>
            </a:r>
          </a:p>
          <a:p>
            <a:pPr lvl="1"/>
            <a:r>
              <a:rPr lang="en-US" dirty="0"/>
              <a:t>Update value of existing key A</a:t>
            </a:r>
          </a:p>
        </p:txBody>
      </p:sp>
      <p:grpSp>
        <p:nvGrpSpPr>
          <p:cNvPr id="4" name="Group 3" descr="demo of insertion of existing key in BST (update value)">
            <a:extLst>
              <a:ext uri="{FF2B5EF4-FFF2-40B4-BE49-F238E27FC236}">
                <a16:creationId xmlns:a16="http://schemas.microsoft.com/office/drawing/2014/main" id="{3DD07CEA-E36C-3C4B-9D20-3BEDE6B90833}"/>
              </a:ext>
            </a:extLst>
          </p:cNvPr>
          <p:cNvGrpSpPr/>
          <p:nvPr/>
        </p:nvGrpSpPr>
        <p:grpSpPr>
          <a:xfrm>
            <a:off x="6096003" y="3302804"/>
            <a:ext cx="4728374" cy="2527172"/>
            <a:chOff x="4731026" y="3175362"/>
            <a:chExt cx="4728374" cy="2527172"/>
          </a:xfrm>
        </p:grpSpPr>
        <p:sp>
          <p:nvSpPr>
            <p:cNvPr id="5" name="Oval 4">
              <a:extLst>
                <a:ext uri="{FF2B5EF4-FFF2-40B4-BE49-F238E27FC236}">
                  <a16:creationId xmlns:a16="http://schemas.microsoft.com/office/drawing/2014/main" id="{3E9B78FD-235C-DC4F-88AE-E74807DDDFE9}"/>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F779E6ED-EE7E-B947-9DE4-3CF32652F924}"/>
                </a:ext>
              </a:extLst>
            </p:cNvPr>
            <p:cNvSpPr/>
            <p:nvPr/>
          </p:nvSpPr>
          <p:spPr>
            <a:xfrm>
              <a:off x="7774242" y="3324591"/>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E3DC7EC0-D754-9B47-8E0D-34AA0B88C147}"/>
                </a:ext>
              </a:extLst>
            </p:cNvPr>
            <p:cNvCxnSpPr>
              <a:cxnSpLocks/>
              <a:stCxn id="6" idx="3"/>
              <a:endCxn id="26" idx="0"/>
            </p:cNvCxnSpPr>
            <p:nvPr/>
          </p:nvCxnSpPr>
          <p:spPr>
            <a:xfrm flipH="1">
              <a:off x="7030774" y="3620639"/>
              <a:ext cx="790414" cy="271219"/>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D118168-2CCB-C94D-9F27-1A9E3DFD0288}"/>
                </a:ext>
              </a:extLst>
            </p:cNvPr>
            <p:cNvGrpSpPr/>
            <p:nvPr/>
          </p:nvGrpSpPr>
          <p:grpSpPr>
            <a:xfrm>
              <a:off x="6090548" y="3891858"/>
              <a:ext cx="1730640" cy="636744"/>
              <a:chOff x="3429450" y="3492063"/>
              <a:chExt cx="1730640" cy="636744"/>
            </a:xfrm>
          </p:grpSpPr>
          <p:sp>
            <p:nvSpPr>
              <p:cNvPr id="26" name="Oval 25">
                <a:extLst>
                  <a:ext uri="{FF2B5EF4-FFF2-40B4-BE49-F238E27FC236}">
                    <a16:creationId xmlns:a16="http://schemas.microsoft.com/office/drawing/2014/main" id="{B3347532-269E-BD42-AF4F-AF0E4313E963}"/>
                  </a:ext>
                </a:extLst>
              </p:cNvPr>
              <p:cNvSpPr/>
              <p:nvPr/>
            </p:nvSpPr>
            <p:spPr>
              <a:xfrm>
                <a:off x="4209393" y="3492063"/>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27" name="Straight Connector 26">
                <a:extLst>
                  <a:ext uri="{FF2B5EF4-FFF2-40B4-BE49-F238E27FC236}">
                    <a16:creationId xmlns:a16="http://schemas.microsoft.com/office/drawing/2014/main" id="{91FC8499-80F7-CF4C-954C-BC5922314BEA}"/>
                  </a:ext>
                </a:extLst>
              </p:cNvPr>
              <p:cNvCxnSpPr>
                <a:cxnSpLocks/>
                <a:stCxn id="26" idx="3"/>
                <a:endCxn id="10" idx="0"/>
              </p:cNvCxnSpPr>
              <p:nvPr/>
            </p:nvCxnSpPr>
            <p:spPr>
              <a:xfrm flipH="1">
                <a:off x="3429450" y="3788111"/>
                <a:ext cx="826889" cy="289902"/>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A2064155-D927-4C41-A4EA-5BD3FF7F8D3D}"/>
                  </a:ext>
                </a:extLst>
              </p:cNvPr>
              <p:cNvCxnSpPr>
                <a:cxnSpLocks/>
                <a:stCxn id="26" idx="5"/>
                <a:endCxn id="11" idx="1"/>
              </p:cNvCxnSpPr>
              <p:nvPr/>
            </p:nvCxnSpPr>
            <p:spPr>
              <a:xfrm>
                <a:off x="4483013" y="3788111"/>
                <a:ext cx="677077" cy="3406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787DB883-B908-5D49-94BD-2653A937CC61}"/>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06D67134-81E4-C247-A3F8-F6247FC3AE1C}"/>
                </a:ext>
              </a:extLst>
            </p:cNvPr>
            <p:cNvSpPr/>
            <p:nvPr/>
          </p:nvSpPr>
          <p:spPr>
            <a:xfrm>
              <a:off x="5930265" y="4477808"/>
              <a:ext cx="320566" cy="346842"/>
            </a:xfrm>
            <a:prstGeom prst="ellipse">
              <a:avLst/>
            </a:prstGeom>
            <a:solidFill>
              <a:srgbClr val="FF0000">
                <a:alpha val="50000"/>
              </a:srgbClr>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D892C272-D6C2-274E-A835-90505EB59AE8}"/>
                </a:ext>
              </a:extLst>
            </p:cNvPr>
            <p:cNvSpPr/>
            <p:nvPr/>
          </p:nvSpPr>
          <p:spPr>
            <a:xfrm>
              <a:off x="7774242"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CDE3ECFC-4892-2548-9D24-AE7B180764A7}"/>
                </a:ext>
              </a:extLst>
            </p:cNvPr>
            <p:cNvGrpSpPr/>
            <p:nvPr/>
          </p:nvGrpSpPr>
          <p:grpSpPr>
            <a:xfrm>
              <a:off x="7304394" y="3620639"/>
              <a:ext cx="1919174" cy="1511852"/>
              <a:chOff x="2610785" y="3178812"/>
              <a:chExt cx="1919174" cy="1511852"/>
            </a:xfrm>
          </p:grpSpPr>
          <p:sp>
            <p:nvSpPr>
              <p:cNvPr id="23" name="Oval 22">
                <a:extLst>
                  <a:ext uri="{FF2B5EF4-FFF2-40B4-BE49-F238E27FC236}">
                    <a16:creationId xmlns:a16="http://schemas.microsoft.com/office/drawing/2014/main" id="{BBB20822-20B3-BE46-BCB3-BC667F533D61}"/>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24" name="Straight Connector 23">
                <a:extLst>
                  <a:ext uri="{FF2B5EF4-FFF2-40B4-BE49-F238E27FC236}">
                    <a16:creationId xmlns:a16="http://schemas.microsoft.com/office/drawing/2014/main" id="{15C0F9D1-2739-0945-B936-26739E3EDE27}"/>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B8C405F1-3C09-CB4E-A580-9D76E2D40FAE}"/>
                  </a:ext>
                </a:extLst>
              </p:cNvPr>
              <p:cNvCxnSpPr>
                <a:cxnSpLocks/>
                <a:stCxn id="6" idx="5"/>
                <a:endCxn id="23"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13" name="TextBox 12">
              <a:extLst>
                <a:ext uri="{FF2B5EF4-FFF2-40B4-BE49-F238E27FC236}">
                  <a16:creationId xmlns:a16="http://schemas.microsoft.com/office/drawing/2014/main" id="{AE28C34E-32DA-BA46-BA47-8964BF893B55}"/>
                </a:ext>
              </a:extLst>
            </p:cNvPr>
            <p:cNvSpPr txBox="1"/>
            <p:nvPr/>
          </p:nvSpPr>
          <p:spPr>
            <a:xfrm>
              <a:off x="4731026" y="3175362"/>
              <a:ext cx="1428596" cy="369332"/>
            </a:xfrm>
            <a:prstGeom prst="rect">
              <a:avLst/>
            </a:prstGeom>
            <a:noFill/>
          </p:spPr>
          <p:txBody>
            <a:bodyPr wrap="none" rtlCol="0">
              <a:spAutoFit/>
            </a:bodyPr>
            <a:lstStyle/>
            <a:p>
              <a:r>
                <a:rPr lang="en-US" dirty="0">
                  <a:solidFill>
                    <a:srgbClr val="FF0000"/>
                  </a:solidFill>
                  <a:latin typeface="Arial" panose="020B0604020202020204" pitchFamily="34" charset="0"/>
                  <a:cs typeface="Arial" panose="020B0604020202020204" pitchFamily="34" charset="0"/>
                </a:rPr>
                <a:t>put(</a:t>
              </a:r>
              <a:r>
                <a:rPr lang="en-US" dirty="0" err="1">
                  <a:solidFill>
                    <a:srgbClr val="FF0000"/>
                  </a:solidFill>
                  <a:latin typeface="Arial" panose="020B0604020202020204" pitchFamily="34" charset="0"/>
                  <a:cs typeface="Arial" panose="020B0604020202020204" pitchFamily="34" charset="0"/>
                </a:rPr>
                <a:t>A,value</a:t>
              </a:r>
              <a:r>
                <a:rPr lang="en-US" dirty="0">
                  <a:solidFill>
                    <a:srgbClr val="FF0000"/>
                  </a:solidFill>
                  <a:latin typeface="Arial" panose="020B0604020202020204" pitchFamily="34" charset="0"/>
                  <a:cs typeface="Arial" panose="020B0604020202020204" pitchFamily="34" charset="0"/>
                </a:rPr>
                <a:t>)</a:t>
              </a:r>
            </a:p>
          </p:txBody>
        </p:sp>
        <p:cxnSp>
          <p:nvCxnSpPr>
            <p:cNvPr id="14" name="Straight Connector 13">
              <a:extLst>
                <a:ext uri="{FF2B5EF4-FFF2-40B4-BE49-F238E27FC236}">
                  <a16:creationId xmlns:a16="http://schemas.microsoft.com/office/drawing/2014/main" id="{12F3E48C-37C0-3D4A-B9A3-B45CD5AD15F5}"/>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3E6A8E-5011-774C-8EF5-40F20FB4438B}"/>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10771220-9AD9-A644-862A-FC8643CEB3A8}"/>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BF257A8F-0017-2A4F-8504-60571EE5602D}"/>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23F23D0A-2C5A-8049-8416-36BCBD74AF3F}"/>
                </a:ext>
              </a:extLst>
            </p:cNvPr>
            <p:cNvCxnSpPr>
              <a:cxnSpLocks/>
              <a:stCxn id="23"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6A5F1737-AA16-8C4A-82BE-D86776CAAE2C}"/>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3BDE0D0-69D1-9B44-924A-1195C19A23FF}"/>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46D56500-8391-8F43-90B5-BF05B09222A7}"/>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21D56F4A-21B0-6B47-AA11-CDD23CC80D75}"/>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264035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E17B-FF4F-C445-B381-E41EBDC2838B}"/>
              </a:ext>
            </a:extLst>
          </p:cNvPr>
          <p:cNvSpPr>
            <a:spLocks noGrp="1"/>
          </p:cNvSpPr>
          <p:nvPr>
            <p:ph type="title"/>
          </p:nvPr>
        </p:nvSpPr>
        <p:spPr/>
        <p:txBody>
          <a:bodyPr/>
          <a:lstStyle/>
          <a:p>
            <a:r>
              <a:rPr lang="en-US" dirty="0"/>
              <a:t>BST pseudocode</a:t>
            </a:r>
          </a:p>
        </p:txBody>
      </p:sp>
      <p:sp>
        <p:nvSpPr>
          <p:cNvPr id="3" name="Content Placeholder 2">
            <a:extLst>
              <a:ext uri="{FF2B5EF4-FFF2-40B4-BE49-F238E27FC236}">
                <a16:creationId xmlns:a16="http://schemas.microsoft.com/office/drawing/2014/main" id="{4003FE55-9D88-A944-B155-DF8FC3CC49A5}"/>
              </a:ext>
            </a:extLst>
          </p:cNvPr>
          <p:cNvSpPr>
            <a:spLocks noGrp="1"/>
          </p:cNvSpPr>
          <p:nvPr>
            <p:ph idx="1"/>
          </p:nvPr>
        </p:nvSpPr>
        <p:spPr/>
        <p:txBody>
          <a:bodyPr/>
          <a:lstStyle/>
          <a:p>
            <a:r>
              <a:rPr lang="en-US" dirty="0"/>
              <a:t>Node</a:t>
            </a:r>
          </a:p>
        </p:txBody>
      </p:sp>
      <p:sp>
        <p:nvSpPr>
          <p:cNvPr id="4" name="TextBox 3">
            <a:extLst>
              <a:ext uri="{FF2B5EF4-FFF2-40B4-BE49-F238E27FC236}">
                <a16:creationId xmlns:a16="http://schemas.microsoft.com/office/drawing/2014/main" id="{03653606-C2FC-B441-B921-C6CD191D9C0D}"/>
              </a:ext>
            </a:extLst>
          </p:cNvPr>
          <p:cNvSpPr txBox="1"/>
          <p:nvPr/>
        </p:nvSpPr>
        <p:spPr>
          <a:xfrm>
            <a:off x="514866" y="2310075"/>
            <a:ext cx="5147563" cy="3139321"/>
          </a:xfrm>
          <a:prstGeom prst="rect">
            <a:avLst/>
          </a:prstGeom>
          <a:noFill/>
          <a:ln w="28575">
            <a:solidFill>
              <a:schemeClr val="bg1">
                <a:lumMod val="75000"/>
              </a:schemeClr>
            </a:solidFill>
          </a:ln>
        </p:spPr>
        <p:txBody>
          <a:bodyPr wrap="none" rtlCol="0">
            <a:spAutoFit/>
          </a:bodyPr>
          <a:lstStyle/>
          <a:p>
            <a:r>
              <a:rPr lang="en-GB" dirty="0">
                <a:latin typeface="Courier" pitchFamily="2" charset="0"/>
              </a:rPr>
              <a:t>class Node: </a:t>
            </a:r>
          </a:p>
          <a:p>
            <a:r>
              <a:rPr lang="en-GB" dirty="0">
                <a:latin typeface="Courier" pitchFamily="2" charset="0"/>
              </a:rPr>
              <a:t>    def __</a:t>
            </a:r>
            <a:r>
              <a:rPr lang="en-GB" dirty="0" err="1">
                <a:latin typeface="Courier" pitchFamily="2" charset="0"/>
              </a:rPr>
              <a:t>init</a:t>
            </a:r>
            <a:r>
              <a:rPr lang="en-GB" dirty="0">
                <a:latin typeface="Courier" pitchFamily="2" charset="0"/>
              </a:rPr>
              <a:t>__(self, key, value): </a:t>
            </a:r>
          </a:p>
          <a:p>
            <a:r>
              <a:rPr lang="en-GB" dirty="0">
                <a:latin typeface="Courier" pitchFamily="2" charset="0"/>
              </a:rPr>
              <a:t>	</a:t>
            </a:r>
            <a:r>
              <a:rPr lang="en-GB" dirty="0" err="1">
                <a:latin typeface="Courier" pitchFamily="2" charset="0"/>
              </a:rPr>
              <a:t>self.key</a:t>
            </a:r>
            <a:r>
              <a:rPr lang="en-GB" dirty="0">
                <a:latin typeface="Courier" pitchFamily="2" charset="0"/>
              </a:rPr>
              <a:t> = key</a:t>
            </a:r>
          </a:p>
          <a:p>
            <a:r>
              <a:rPr lang="en-GB" dirty="0">
                <a:latin typeface="Courier" pitchFamily="2" charset="0"/>
              </a:rPr>
              <a:t>	</a:t>
            </a:r>
            <a:r>
              <a:rPr lang="en-GB" dirty="0" err="1">
                <a:latin typeface="Courier" pitchFamily="2" charset="0"/>
              </a:rPr>
              <a:t>self.value</a:t>
            </a:r>
            <a:r>
              <a:rPr lang="en-GB" dirty="0">
                <a:latin typeface="Courier" pitchFamily="2" charset="0"/>
              </a:rPr>
              <a:t> = value</a:t>
            </a:r>
          </a:p>
          <a:p>
            <a:r>
              <a:rPr lang="en-GB" dirty="0">
                <a:latin typeface="Courier" pitchFamily="2" charset="0"/>
              </a:rPr>
              <a:t>	</a:t>
            </a:r>
            <a:r>
              <a:rPr lang="en-GB" dirty="0" err="1">
                <a:latin typeface="Courier" pitchFamily="2" charset="0"/>
              </a:rPr>
              <a:t>self.left</a:t>
            </a:r>
            <a:r>
              <a:rPr lang="en-GB" dirty="0">
                <a:latin typeface="Courier" pitchFamily="2" charset="0"/>
              </a:rPr>
              <a:t> = None </a:t>
            </a:r>
          </a:p>
          <a:p>
            <a:r>
              <a:rPr lang="en-GB" dirty="0">
                <a:latin typeface="Courier" pitchFamily="2" charset="0"/>
              </a:rPr>
              <a:t>	</a:t>
            </a:r>
            <a:r>
              <a:rPr lang="en-GB" dirty="0" err="1">
                <a:latin typeface="Courier" pitchFamily="2" charset="0"/>
              </a:rPr>
              <a:t>self.right</a:t>
            </a:r>
            <a:r>
              <a:rPr lang="en-GB" dirty="0">
                <a:latin typeface="Courier" pitchFamily="2" charset="0"/>
              </a:rPr>
              <a:t> = None </a:t>
            </a:r>
          </a:p>
          <a:p>
            <a:endParaRPr lang="en-GB" dirty="0">
              <a:latin typeface="Courier" pitchFamily="2" charset="0"/>
            </a:endParaRPr>
          </a:p>
          <a:p>
            <a:r>
              <a:rPr lang="en-GB" dirty="0">
                <a:latin typeface="Courier" pitchFamily="2" charset="0"/>
              </a:rPr>
              <a:t>    def get(self, key): …</a:t>
            </a:r>
          </a:p>
          <a:p>
            <a:endParaRPr lang="en-GB" dirty="0">
              <a:latin typeface="Courier" pitchFamily="2" charset="0"/>
            </a:endParaRPr>
          </a:p>
          <a:p>
            <a:r>
              <a:rPr lang="en-GB" dirty="0">
                <a:latin typeface="Courier" pitchFamily="2" charset="0"/>
              </a:rPr>
              <a:t>    def put(self, key, value): …</a:t>
            </a:r>
          </a:p>
          <a:p>
            <a:endParaRPr lang="en-GB" dirty="0">
              <a:latin typeface="Courier" pitchFamily="2" charset="0"/>
            </a:endParaRPr>
          </a:p>
        </p:txBody>
      </p:sp>
    </p:spTree>
    <p:extLst>
      <p:ext uri="{BB962C8B-B14F-4D97-AF65-F5344CB8AC3E}">
        <p14:creationId xmlns:p14="http://schemas.microsoft.com/office/powerpoint/2010/main" val="199253547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E17B-FF4F-C445-B381-E41EBDC2838B}"/>
              </a:ext>
            </a:extLst>
          </p:cNvPr>
          <p:cNvSpPr>
            <a:spLocks noGrp="1"/>
          </p:cNvSpPr>
          <p:nvPr>
            <p:ph type="title"/>
          </p:nvPr>
        </p:nvSpPr>
        <p:spPr/>
        <p:txBody>
          <a:bodyPr/>
          <a:lstStyle/>
          <a:p>
            <a:r>
              <a:rPr lang="en-US" dirty="0"/>
              <a:t>BST pseudocode</a:t>
            </a:r>
          </a:p>
        </p:txBody>
      </p:sp>
      <p:sp>
        <p:nvSpPr>
          <p:cNvPr id="3" name="Content Placeholder 2">
            <a:extLst>
              <a:ext uri="{FF2B5EF4-FFF2-40B4-BE49-F238E27FC236}">
                <a16:creationId xmlns:a16="http://schemas.microsoft.com/office/drawing/2014/main" id="{4003FE55-9D88-A944-B155-DF8FC3CC49A5}"/>
              </a:ext>
            </a:extLst>
          </p:cNvPr>
          <p:cNvSpPr>
            <a:spLocks noGrp="1"/>
          </p:cNvSpPr>
          <p:nvPr>
            <p:ph idx="1"/>
          </p:nvPr>
        </p:nvSpPr>
        <p:spPr/>
        <p:txBody>
          <a:bodyPr/>
          <a:lstStyle/>
          <a:p>
            <a:r>
              <a:rPr lang="en-US" dirty="0"/>
              <a:t>Search operation</a:t>
            </a:r>
          </a:p>
        </p:txBody>
      </p:sp>
      <p:sp>
        <p:nvSpPr>
          <p:cNvPr id="4" name="TextBox 3">
            <a:extLst>
              <a:ext uri="{FF2B5EF4-FFF2-40B4-BE49-F238E27FC236}">
                <a16:creationId xmlns:a16="http://schemas.microsoft.com/office/drawing/2014/main" id="{03653606-C2FC-B441-B921-C6CD191D9C0D}"/>
              </a:ext>
            </a:extLst>
          </p:cNvPr>
          <p:cNvSpPr txBox="1"/>
          <p:nvPr/>
        </p:nvSpPr>
        <p:spPr>
          <a:xfrm>
            <a:off x="514866" y="2199721"/>
            <a:ext cx="5698996" cy="3693319"/>
          </a:xfrm>
          <a:prstGeom prst="rect">
            <a:avLst/>
          </a:prstGeom>
          <a:noFill/>
          <a:ln w="28575">
            <a:solidFill>
              <a:schemeClr val="bg1">
                <a:lumMod val="75000"/>
              </a:schemeClr>
            </a:solidFill>
          </a:ln>
        </p:spPr>
        <p:txBody>
          <a:bodyPr wrap="none" rtlCol="0">
            <a:spAutoFit/>
          </a:bodyPr>
          <a:lstStyle/>
          <a:p>
            <a:r>
              <a:rPr lang="en-GB" dirty="0">
                <a:latin typeface="Courier" pitchFamily="2" charset="0"/>
              </a:rPr>
              <a:t>def get(self, key):</a:t>
            </a:r>
          </a:p>
          <a:p>
            <a:endParaRPr lang="en-GB" dirty="0">
              <a:latin typeface="Courier" pitchFamily="2" charset="0"/>
            </a:endParaRPr>
          </a:p>
          <a:p>
            <a:r>
              <a:rPr lang="en-GB" dirty="0">
                <a:latin typeface="Courier" pitchFamily="2" charset="0"/>
              </a:rPr>
              <a:t>    if </a:t>
            </a:r>
            <a:r>
              <a:rPr lang="en-GB" dirty="0" err="1">
                <a:latin typeface="Courier" pitchFamily="2" charset="0"/>
              </a:rPr>
              <a:t>self.key</a:t>
            </a:r>
            <a:r>
              <a:rPr lang="en-GB" dirty="0">
                <a:latin typeface="Courier" pitchFamily="2" charset="0"/>
              </a:rPr>
              <a:t> == key: </a:t>
            </a:r>
          </a:p>
          <a:p>
            <a:r>
              <a:rPr lang="en-GB" dirty="0">
                <a:latin typeface="Courier" pitchFamily="2" charset="0"/>
              </a:rPr>
              <a:t>        return </a:t>
            </a:r>
            <a:r>
              <a:rPr lang="en-GB" dirty="0" err="1">
                <a:latin typeface="Courier" pitchFamily="2" charset="0"/>
              </a:rPr>
              <a:t>self.value</a:t>
            </a:r>
            <a:r>
              <a:rPr lang="en-GB" dirty="0">
                <a:latin typeface="Courier" pitchFamily="2" charset="0"/>
              </a:rPr>
              <a:t> </a:t>
            </a:r>
          </a:p>
          <a:p>
            <a:r>
              <a:rPr lang="en-GB" dirty="0">
                <a:latin typeface="Courier" pitchFamily="2" charset="0"/>
              </a:rPr>
              <a:t>  </a:t>
            </a:r>
          </a:p>
          <a:p>
            <a:r>
              <a:rPr lang="en-GB" dirty="0">
                <a:latin typeface="Courier" pitchFamily="2" charset="0"/>
              </a:rPr>
              <a:t>    </a:t>
            </a:r>
            <a:r>
              <a:rPr lang="en-GB" dirty="0" err="1">
                <a:latin typeface="Courier" pitchFamily="2" charset="0"/>
              </a:rPr>
              <a:t>elif</a:t>
            </a:r>
            <a:r>
              <a:rPr lang="en-GB" dirty="0">
                <a:latin typeface="Courier" pitchFamily="2" charset="0"/>
              </a:rPr>
              <a:t> key &lt; </a:t>
            </a:r>
            <a:r>
              <a:rPr lang="en-GB" dirty="0" err="1">
                <a:latin typeface="Courier" pitchFamily="2" charset="0"/>
              </a:rPr>
              <a:t>self.key</a:t>
            </a:r>
            <a:r>
              <a:rPr lang="en-GB" dirty="0">
                <a:latin typeface="Courier" pitchFamily="2" charset="0"/>
              </a:rPr>
              <a:t> and </a:t>
            </a:r>
            <a:r>
              <a:rPr lang="en-GB" dirty="0" err="1">
                <a:latin typeface="Courier" pitchFamily="2" charset="0"/>
              </a:rPr>
              <a:t>self.left</a:t>
            </a:r>
            <a:r>
              <a:rPr lang="en-GB" dirty="0">
                <a:latin typeface="Courier" pitchFamily="2" charset="0"/>
              </a:rPr>
              <a:t>:</a:t>
            </a:r>
          </a:p>
          <a:p>
            <a:r>
              <a:rPr lang="en-GB" dirty="0">
                <a:latin typeface="Courier" pitchFamily="2" charset="0"/>
              </a:rPr>
              <a:t>	 return </a:t>
            </a:r>
            <a:r>
              <a:rPr lang="en-GB" dirty="0" err="1">
                <a:latin typeface="Courier" pitchFamily="2" charset="0"/>
              </a:rPr>
              <a:t>self.left.get</a:t>
            </a:r>
            <a:r>
              <a:rPr lang="en-GB" dirty="0">
                <a:latin typeface="Courier" pitchFamily="2" charset="0"/>
              </a:rPr>
              <a:t>(key) </a:t>
            </a:r>
          </a:p>
          <a:p>
            <a:r>
              <a:rPr lang="en-GB" dirty="0">
                <a:latin typeface="Courier" pitchFamily="2" charset="0"/>
              </a:rPr>
              <a:t> </a:t>
            </a:r>
          </a:p>
          <a:p>
            <a:r>
              <a:rPr lang="en-GB" dirty="0">
                <a:latin typeface="Courier" pitchFamily="2" charset="0"/>
              </a:rPr>
              <a:t>    </a:t>
            </a:r>
            <a:r>
              <a:rPr lang="en-GB" dirty="0" err="1">
                <a:latin typeface="Courier" pitchFamily="2" charset="0"/>
              </a:rPr>
              <a:t>elif</a:t>
            </a:r>
            <a:r>
              <a:rPr lang="en-GB" dirty="0">
                <a:latin typeface="Courier" pitchFamily="2" charset="0"/>
              </a:rPr>
              <a:t> key &gt; </a:t>
            </a:r>
            <a:r>
              <a:rPr lang="en-GB" dirty="0" err="1">
                <a:latin typeface="Courier" pitchFamily="2" charset="0"/>
              </a:rPr>
              <a:t>self.key</a:t>
            </a:r>
            <a:r>
              <a:rPr lang="en-GB" dirty="0">
                <a:latin typeface="Courier" pitchFamily="2" charset="0"/>
              </a:rPr>
              <a:t> and </a:t>
            </a:r>
            <a:r>
              <a:rPr lang="en-GB" dirty="0" err="1">
                <a:latin typeface="Courier" pitchFamily="2" charset="0"/>
              </a:rPr>
              <a:t>self.right</a:t>
            </a:r>
            <a:r>
              <a:rPr lang="en-GB" dirty="0">
                <a:latin typeface="Courier" pitchFamily="2" charset="0"/>
              </a:rPr>
              <a:t>: </a:t>
            </a:r>
          </a:p>
          <a:p>
            <a:r>
              <a:rPr lang="en-GB" dirty="0">
                <a:latin typeface="Courier" pitchFamily="2" charset="0"/>
              </a:rPr>
              <a:t>        return </a:t>
            </a:r>
            <a:r>
              <a:rPr lang="en-GB" dirty="0" err="1">
                <a:latin typeface="Courier" pitchFamily="2" charset="0"/>
              </a:rPr>
              <a:t>self.right.get</a:t>
            </a:r>
            <a:r>
              <a:rPr lang="en-GB" dirty="0">
                <a:latin typeface="Courier" pitchFamily="2" charset="0"/>
              </a:rPr>
              <a:t>(key) </a:t>
            </a:r>
          </a:p>
          <a:p>
            <a:endParaRPr lang="en-GB" dirty="0">
              <a:latin typeface="Courier" pitchFamily="2" charset="0"/>
            </a:endParaRPr>
          </a:p>
          <a:p>
            <a:r>
              <a:rPr lang="en-GB" dirty="0">
                <a:latin typeface="Courier" pitchFamily="2" charset="0"/>
              </a:rPr>
              <a:t>    else: </a:t>
            </a:r>
          </a:p>
          <a:p>
            <a:r>
              <a:rPr lang="en-GB" dirty="0">
                <a:latin typeface="Courier" pitchFamily="2" charset="0"/>
              </a:rPr>
              <a:t>        return None</a:t>
            </a:r>
          </a:p>
        </p:txBody>
      </p:sp>
    </p:spTree>
    <p:extLst>
      <p:ext uri="{BB962C8B-B14F-4D97-AF65-F5344CB8AC3E}">
        <p14:creationId xmlns:p14="http://schemas.microsoft.com/office/powerpoint/2010/main" val="11095992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E17B-FF4F-C445-B381-E41EBDC2838B}"/>
              </a:ext>
            </a:extLst>
          </p:cNvPr>
          <p:cNvSpPr>
            <a:spLocks noGrp="1"/>
          </p:cNvSpPr>
          <p:nvPr>
            <p:ph type="title"/>
          </p:nvPr>
        </p:nvSpPr>
        <p:spPr/>
        <p:txBody>
          <a:bodyPr/>
          <a:lstStyle/>
          <a:p>
            <a:r>
              <a:rPr lang="en-US" dirty="0"/>
              <a:t>BST pseudocode</a:t>
            </a:r>
          </a:p>
        </p:txBody>
      </p:sp>
      <p:sp>
        <p:nvSpPr>
          <p:cNvPr id="3" name="Content Placeholder 2">
            <a:extLst>
              <a:ext uri="{FF2B5EF4-FFF2-40B4-BE49-F238E27FC236}">
                <a16:creationId xmlns:a16="http://schemas.microsoft.com/office/drawing/2014/main" id="{4003FE55-9D88-A944-B155-DF8FC3CC49A5}"/>
              </a:ext>
            </a:extLst>
          </p:cNvPr>
          <p:cNvSpPr>
            <a:spLocks noGrp="1"/>
          </p:cNvSpPr>
          <p:nvPr>
            <p:ph idx="1"/>
          </p:nvPr>
        </p:nvSpPr>
        <p:spPr/>
        <p:txBody>
          <a:bodyPr/>
          <a:lstStyle/>
          <a:p>
            <a:r>
              <a:rPr lang="en-US" dirty="0"/>
              <a:t>Insert operation</a:t>
            </a:r>
          </a:p>
        </p:txBody>
      </p:sp>
      <p:sp>
        <p:nvSpPr>
          <p:cNvPr id="4" name="TextBox 3">
            <a:extLst>
              <a:ext uri="{FF2B5EF4-FFF2-40B4-BE49-F238E27FC236}">
                <a16:creationId xmlns:a16="http://schemas.microsoft.com/office/drawing/2014/main" id="{03653606-C2FC-B441-B921-C6CD191D9C0D}"/>
              </a:ext>
            </a:extLst>
          </p:cNvPr>
          <p:cNvSpPr txBox="1"/>
          <p:nvPr/>
        </p:nvSpPr>
        <p:spPr>
          <a:xfrm>
            <a:off x="514866" y="2199721"/>
            <a:ext cx="6526146" cy="3693319"/>
          </a:xfrm>
          <a:prstGeom prst="rect">
            <a:avLst/>
          </a:prstGeom>
          <a:noFill/>
          <a:ln w="28575">
            <a:solidFill>
              <a:schemeClr val="bg1">
                <a:lumMod val="75000"/>
              </a:schemeClr>
            </a:solidFill>
          </a:ln>
        </p:spPr>
        <p:txBody>
          <a:bodyPr wrap="none" rtlCol="0">
            <a:spAutoFit/>
          </a:bodyPr>
          <a:lstStyle/>
          <a:p>
            <a:r>
              <a:rPr lang="en-GB" dirty="0">
                <a:latin typeface="Courier" pitchFamily="2" charset="0"/>
              </a:rPr>
              <a:t>def put(self, key, value):</a:t>
            </a:r>
          </a:p>
          <a:p>
            <a:r>
              <a:rPr lang="en-GB" dirty="0">
                <a:latin typeface="Courier" pitchFamily="2" charset="0"/>
              </a:rPr>
              <a:t>    if key == </a:t>
            </a:r>
            <a:r>
              <a:rPr lang="en-GB" dirty="0" err="1">
                <a:latin typeface="Courier" pitchFamily="2" charset="0"/>
              </a:rPr>
              <a:t>self.key</a:t>
            </a:r>
            <a:r>
              <a:rPr lang="en-GB" dirty="0">
                <a:latin typeface="Courier" pitchFamily="2" charset="0"/>
              </a:rPr>
              <a:t>:</a:t>
            </a:r>
          </a:p>
          <a:p>
            <a:r>
              <a:rPr lang="en-GB" dirty="0">
                <a:latin typeface="Courier" pitchFamily="2" charset="0"/>
              </a:rPr>
              <a:t>        </a:t>
            </a:r>
            <a:r>
              <a:rPr lang="en-GB" dirty="0" err="1">
                <a:latin typeface="Courier" pitchFamily="2" charset="0"/>
              </a:rPr>
              <a:t>self.value</a:t>
            </a:r>
            <a:r>
              <a:rPr lang="en-GB" dirty="0">
                <a:latin typeface="Courier" pitchFamily="2" charset="0"/>
              </a:rPr>
              <a:t> = value</a:t>
            </a:r>
          </a:p>
          <a:p>
            <a:r>
              <a:rPr lang="en-GB" dirty="0">
                <a:latin typeface="Courier" pitchFamily="2" charset="0"/>
              </a:rPr>
              <a:t>    </a:t>
            </a:r>
            <a:r>
              <a:rPr lang="en-GB" dirty="0" err="1">
                <a:latin typeface="Courier" pitchFamily="2" charset="0"/>
              </a:rPr>
              <a:t>elif</a:t>
            </a:r>
            <a:r>
              <a:rPr lang="en-GB" dirty="0">
                <a:latin typeface="Courier" pitchFamily="2" charset="0"/>
              </a:rPr>
              <a:t> key &lt; </a:t>
            </a:r>
            <a:r>
              <a:rPr lang="en-GB" dirty="0" err="1">
                <a:latin typeface="Courier" pitchFamily="2" charset="0"/>
              </a:rPr>
              <a:t>self.key</a:t>
            </a:r>
            <a:r>
              <a:rPr lang="en-GB" dirty="0">
                <a:latin typeface="Courier" pitchFamily="2" charset="0"/>
              </a:rPr>
              <a:t>:</a:t>
            </a:r>
          </a:p>
          <a:p>
            <a:r>
              <a:rPr lang="en-GB" dirty="0">
                <a:latin typeface="Courier" pitchFamily="2" charset="0"/>
              </a:rPr>
              <a:t>        if </a:t>
            </a:r>
            <a:r>
              <a:rPr lang="en-GB" dirty="0" err="1">
                <a:latin typeface="Courier" pitchFamily="2" charset="0"/>
              </a:rPr>
              <a:t>self.left</a:t>
            </a:r>
            <a:r>
              <a:rPr lang="en-GB" dirty="0">
                <a:latin typeface="Courier" pitchFamily="2" charset="0"/>
              </a:rPr>
              <a:t> is None:</a:t>
            </a:r>
          </a:p>
          <a:p>
            <a:r>
              <a:rPr lang="en-GB" dirty="0">
                <a:latin typeface="Courier" pitchFamily="2" charset="0"/>
              </a:rPr>
              <a:t>            </a:t>
            </a:r>
            <a:r>
              <a:rPr lang="en-GB" dirty="0" err="1">
                <a:latin typeface="Courier" pitchFamily="2" charset="0"/>
              </a:rPr>
              <a:t>self.left</a:t>
            </a:r>
            <a:r>
              <a:rPr lang="en-GB" dirty="0">
                <a:latin typeface="Courier" pitchFamily="2" charset="0"/>
              </a:rPr>
              <a:t> = Node(key, value)</a:t>
            </a:r>
          </a:p>
          <a:p>
            <a:r>
              <a:rPr lang="en-GB" dirty="0">
                <a:latin typeface="Courier" pitchFamily="2" charset="0"/>
              </a:rPr>
              <a:t>        else:</a:t>
            </a:r>
          </a:p>
          <a:p>
            <a:r>
              <a:rPr lang="en-GB" dirty="0">
                <a:latin typeface="Courier" pitchFamily="2" charset="0"/>
              </a:rPr>
              <a:t>            </a:t>
            </a:r>
            <a:r>
              <a:rPr lang="en-GB" dirty="0" err="1">
                <a:latin typeface="Courier" pitchFamily="2" charset="0"/>
              </a:rPr>
              <a:t>self.left.put</a:t>
            </a:r>
            <a:r>
              <a:rPr lang="en-GB" dirty="0">
                <a:latin typeface="Courier" pitchFamily="2" charset="0"/>
              </a:rPr>
              <a:t>(key, value)</a:t>
            </a:r>
          </a:p>
          <a:p>
            <a:r>
              <a:rPr lang="en-GB" dirty="0">
                <a:latin typeface="Courier" pitchFamily="2" charset="0"/>
              </a:rPr>
              <a:t>    </a:t>
            </a:r>
            <a:r>
              <a:rPr lang="en-GB" dirty="0" err="1">
                <a:latin typeface="Courier" pitchFamily="2" charset="0"/>
              </a:rPr>
              <a:t>elif</a:t>
            </a:r>
            <a:r>
              <a:rPr lang="en-GB" dirty="0">
                <a:latin typeface="Courier" pitchFamily="2" charset="0"/>
              </a:rPr>
              <a:t> key &gt; </a:t>
            </a:r>
            <a:r>
              <a:rPr lang="en-GB" dirty="0" err="1">
                <a:latin typeface="Courier" pitchFamily="2" charset="0"/>
              </a:rPr>
              <a:t>self.key</a:t>
            </a:r>
            <a:r>
              <a:rPr lang="en-GB" dirty="0">
                <a:latin typeface="Courier" pitchFamily="2" charset="0"/>
              </a:rPr>
              <a:t>:</a:t>
            </a:r>
          </a:p>
          <a:p>
            <a:r>
              <a:rPr lang="en-GB" dirty="0">
                <a:latin typeface="Courier" pitchFamily="2" charset="0"/>
              </a:rPr>
              <a:t>        if </a:t>
            </a:r>
            <a:r>
              <a:rPr lang="en-GB" dirty="0" err="1">
                <a:latin typeface="Courier" pitchFamily="2" charset="0"/>
              </a:rPr>
              <a:t>self.right</a:t>
            </a:r>
            <a:r>
              <a:rPr lang="en-GB" dirty="0">
                <a:latin typeface="Courier" pitchFamily="2" charset="0"/>
              </a:rPr>
              <a:t> is None:</a:t>
            </a:r>
          </a:p>
          <a:p>
            <a:r>
              <a:rPr lang="en-GB" dirty="0">
                <a:latin typeface="Courier" pitchFamily="2" charset="0"/>
              </a:rPr>
              <a:t>            </a:t>
            </a:r>
            <a:r>
              <a:rPr lang="en-GB" dirty="0" err="1">
                <a:latin typeface="Courier" pitchFamily="2" charset="0"/>
              </a:rPr>
              <a:t>self.right</a:t>
            </a:r>
            <a:r>
              <a:rPr lang="en-GB" dirty="0">
                <a:latin typeface="Courier" pitchFamily="2" charset="0"/>
              </a:rPr>
              <a:t> = Node(key, value)</a:t>
            </a:r>
          </a:p>
          <a:p>
            <a:r>
              <a:rPr lang="en-GB" dirty="0">
                <a:latin typeface="Courier" pitchFamily="2" charset="0"/>
              </a:rPr>
              <a:t>        else:</a:t>
            </a:r>
          </a:p>
          <a:p>
            <a:r>
              <a:rPr lang="en-GB" dirty="0">
                <a:latin typeface="Courier" pitchFamily="2" charset="0"/>
              </a:rPr>
              <a:t>            </a:t>
            </a:r>
            <a:r>
              <a:rPr lang="en-GB" dirty="0" err="1">
                <a:latin typeface="Courier" pitchFamily="2" charset="0"/>
              </a:rPr>
              <a:t>self.right.put</a:t>
            </a:r>
            <a:r>
              <a:rPr lang="en-GB" dirty="0">
                <a:latin typeface="Courier" pitchFamily="2" charset="0"/>
              </a:rPr>
              <a:t>(key, value)        </a:t>
            </a:r>
          </a:p>
        </p:txBody>
      </p:sp>
    </p:spTree>
    <p:extLst>
      <p:ext uri="{BB962C8B-B14F-4D97-AF65-F5344CB8AC3E}">
        <p14:creationId xmlns:p14="http://schemas.microsoft.com/office/powerpoint/2010/main" val="67545072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3DE17B-FF4F-C445-B381-E41EBDC2838B}"/>
              </a:ext>
            </a:extLst>
          </p:cNvPr>
          <p:cNvSpPr>
            <a:spLocks noGrp="1"/>
          </p:cNvSpPr>
          <p:nvPr>
            <p:ph type="title"/>
          </p:nvPr>
        </p:nvSpPr>
        <p:spPr/>
        <p:txBody>
          <a:bodyPr/>
          <a:lstStyle/>
          <a:p>
            <a:r>
              <a:rPr lang="en-US" dirty="0"/>
              <a:t>BST pseudocode</a:t>
            </a:r>
          </a:p>
        </p:txBody>
      </p:sp>
      <p:sp>
        <p:nvSpPr>
          <p:cNvPr id="7" name="Content Placeholder 2">
            <a:extLst>
              <a:ext uri="{FF2B5EF4-FFF2-40B4-BE49-F238E27FC236}">
                <a16:creationId xmlns:a16="http://schemas.microsoft.com/office/drawing/2014/main" id="{112ED9A4-9882-7E40-8A2D-66E12214533F}"/>
              </a:ext>
            </a:extLst>
          </p:cNvPr>
          <p:cNvSpPr txBox="1">
            <a:spLocks/>
          </p:cNvSpPr>
          <p:nvPr/>
        </p:nvSpPr>
        <p:spPr>
          <a:xfrm>
            <a:off x="197708" y="1544596"/>
            <a:ext cx="6352384" cy="501684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Clr>
                <a:schemeClr val="bg2">
                  <a:lumMod val="75000"/>
                </a:schemeClr>
              </a:buClr>
              <a:buFont typeface="Wingdings"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Courier New" panose="02070309020205020404" pitchFamily="49" charset="0"/>
              <a:buChar char="o"/>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Clr>
                <a:schemeClr val="bg2">
                  <a:lumMod val="90000"/>
                </a:schemeClr>
              </a:buClr>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Node</a:t>
            </a:r>
          </a:p>
        </p:txBody>
      </p:sp>
      <p:sp>
        <p:nvSpPr>
          <p:cNvPr id="8" name="TextBox 7">
            <a:extLst>
              <a:ext uri="{FF2B5EF4-FFF2-40B4-BE49-F238E27FC236}">
                <a16:creationId xmlns:a16="http://schemas.microsoft.com/office/drawing/2014/main" id="{4EA73698-438E-EE4A-9A00-E4EAE52DDC22}"/>
              </a:ext>
            </a:extLst>
          </p:cNvPr>
          <p:cNvSpPr txBox="1"/>
          <p:nvPr/>
        </p:nvSpPr>
        <p:spPr>
          <a:xfrm>
            <a:off x="488592" y="2341606"/>
            <a:ext cx="5147563" cy="3139321"/>
          </a:xfrm>
          <a:prstGeom prst="rect">
            <a:avLst/>
          </a:prstGeom>
          <a:noFill/>
          <a:ln w="28575">
            <a:solidFill>
              <a:schemeClr val="bg1">
                <a:lumMod val="75000"/>
              </a:schemeClr>
            </a:solidFill>
          </a:ln>
        </p:spPr>
        <p:txBody>
          <a:bodyPr wrap="none" rtlCol="0">
            <a:spAutoFit/>
          </a:bodyPr>
          <a:lstStyle/>
          <a:p>
            <a:r>
              <a:rPr lang="en-GB" dirty="0">
                <a:latin typeface="Courier" pitchFamily="2" charset="0"/>
              </a:rPr>
              <a:t>class Node: </a:t>
            </a:r>
          </a:p>
          <a:p>
            <a:r>
              <a:rPr lang="en-GB" dirty="0">
                <a:latin typeface="Courier" pitchFamily="2" charset="0"/>
              </a:rPr>
              <a:t>    def __</a:t>
            </a:r>
            <a:r>
              <a:rPr lang="en-GB" dirty="0" err="1">
                <a:latin typeface="Courier" pitchFamily="2" charset="0"/>
              </a:rPr>
              <a:t>init</a:t>
            </a:r>
            <a:r>
              <a:rPr lang="en-GB" dirty="0">
                <a:latin typeface="Courier" pitchFamily="2" charset="0"/>
              </a:rPr>
              <a:t>__(self, key, value): </a:t>
            </a:r>
          </a:p>
          <a:p>
            <a:r>
              <a:rPr lang="en-GB" dirty="0">
                <a:latin typeface="Courier" pitchFamily="2" charset="0"/>
              </a:rPr>
              <a:t>	</a:t>
            </a:r>
            <a:r>
              <a:rPr lang="en-GB" dirty="0" err="1">
                <a:latin typeface="Courier" pitchFamily="2" charset="0"/>
              </a:rPr>
              <a:t>self.key</a:t>
            </a:r>
            <a:r>
              <a:rPr lang="en-GB" dirty="0">
                <a:latin typeface="Courier" pitchFamily="2" charset="0"/>
              </a:rPr>
              <a:t> = key</a:t>
            </a:r>
          </a:p>
          <a:p>
            <a:r>
              <a:rPr lang="en-GB" dirty="0">
                <a:latin typeface="Courier" pitchFamily="2" charset="0"/>
              </a:rPr>
              <a:t>	</a:t>
            </a:r>
            <a:r>
              <a:rPr lang="en-GB" dirty="0" err="1">
                <a:latin typeface="Courier" pitchFamily="2" charset="0"/>
              </a:rPr>
              <a:t>self.value</a:t>
            </a:r>
            <a:r>
              <a:rPr lang="en-GB" dirty="0">
                <a:latin typeface="Courier" pitchFamily="2" charset="0"/>
              </a:rPr>
              <a:t> = value</a:t>
            </a:r>
          </a:p>
          <a:p>
            <a:r>
              <a:rPr lang="en-GB" dirty="0">
                <a:latin typeface="Courier" pitchFamily="2" charset="0"/>
              </a:rPr>
              <a:t>	</a:t>
            </a:r>
            <a:r>
              <a:rPr lang="en-GB" dirty="0" err="1">
                <a:latin typeface="Courier" pitchFamily="2" charset="0"/>
              </a:rPr>
              <a:t>self.left</a:t>
            </a:r>
            <a:r>
              <a:rPr lang="en-GB" dirty="0">
                <a:latin typeface="Courier" pitchFamily="2" charset="0"/>
              </a:rPr>
              <a:t> = None </a:t>
            </a:r>
          </a:p>
          <a:p>
            <a:r>
              <a:rPr lang="en-GB" dirty="0">
                <a:latin typeface="Courier" pitchFamily="2" charset="0"/>
              </a:rPr>
              <a:t>	</a:t>
            </a:r>
            <a:r>
              <a:rPr lang="en-GB" dirty="0" err="1">
                <a:latin typeface="Courier" pitchFamily="2" charset="0"/>
              </a:rPr>
              <a:t>self.right</a:t>
            </a:r>
            <a:r>
              <a:rPr lang="en-GB" dirty="0">
                <a:latin typeface="Courier" pitchFamily="2" charset="0"/>
              </a:rPr>
              <a:t> = None </a:t>
            </a:r>
          </a:p>
          <a:p>
            <a:endParaRPr lang="en-GB" dirty="0">
              <a:latin typeface="Courier" pitchFamily="2" charset="0"/>
            </a:endParaRPr>
          </a:p>
          <a:p>
            <a:r>
              <a:rPr lang="en-GB" dirty="0">
                <a:latin typeface="Courier" pitchFamily="2" charset="0"/>
              </a:rPr>
              <a:t>    def get(self, key): …</a:t>
            </a:r>
          </a:p>
          <a:p>
            <a:endParaRPr lang="en-GB" dirty="0">
              <a:latin typeface="Courier" pitchFamily="2" charset="0"/>
            </a:endParaRPr>
          </a:p>
          <a:p>
            <a:r>
              <a:rPr lang="en-GB" dirty="0">
                <a:latin typeface="Courier" pitchFamily="2" charset="0"/>
              </a:rPr>
              <a:t>    def put(self, key, value): …</a:t>
            </a:r>
          </a:p>
          <a:p>
            <a:endParaRPr lang="en-GB" dirty="0">
              <a:latin typeface="Courier" pitchFamily="2" charset="0"/>
            </a:endParaRPr>
          </a:p>
        </p:txBody>
      </p:sp>
      <p:sp>
        <p:nvSpPr>
          <p:cNvPr id="3" name="Content Placeholder 2">
            <a:extLst>
              <a:ext uri="{FF2B5EF4-FFF2-40B4-BE49-F238E27FC236}">
                <a16:creationId xmlns:a16="http://schemas.microsoft.com/office/drawing/2014/main" id="{4003FE55-9D88-A944-B155-DF8FC3CC49A5}"/>
              </a:ext>
            </a:extLst>
          </p:cNvPr>
          <p:cNvSpPr>
            <a:spLocks noGrp="1"/>
          </p:cNvSpPr>
          <p:nvPr>
            <p:ph idx="1"/>
          </p:nvPr>
        </p:nvSpPr>
        <p:spPr>
          <a:xfrm>
            <a:off x="6810703" y="1544596"/>
            <a:ext cx="4866431" cy="5016842"/>
          </a:xfrm>
        </p:spPr>
        <p:txBody>
          <a:bodyPr/>
          <a:lstStyle/>
          <a:p>
            <a:r>
              <a:rPr lang="en-US" dirty="0"/>
              <a:t>BST</a:t>
            </a:r>
          </a:p>
        </p:txBody>
      </p:sp>
      <p:sp>
        <p:nvSpPr>
          <p:cNvPr id="6" name="TextBox 5">
            <a:extLst>
              <a:ext uri="{FF2B5EF4-FFF2-40B4-BE49-F238E27FC236}">
                <a16:creationId xmlns:a16="http://schemas.microsoft.com/office/drawing/2014/main" id="{2E00DE6C-45C6-8B45-AB2B-D0B69F611AFB}"/>
              </a:ext>
            </a:extLst>
          </p:cNvPr>
          <p:cNvSpPr txBox="1"/>
          <p:nvPr/>
        </p:nvSpPr>
        <p:spPr>
          <a:xfrm>
            <a:off x="7128302" y="2341606"/>
            <a:ext cx="2803973" cy="1477328"/>
          </a:xfrm>
          <a:prstGeom prst="rect">
            <a:avLst/>
          </a:prstGeom>
          <a:noFill/>
          <a:ln w="28575">
            <a:solidFill>
              <a:schemeClr val="bg1">
                <a:lumMod val="75000"/>
              </a:schemeClr>
            </a:solidFill>
          </a:ln>
        </p:spPr>
        <p:txBody>
          <a:bodyPr wrap="none" rtlCol="0">
            <a:spAutoFit/>
          </a:bodyPr>
          <a:lstStyle/>
          <a:p>
            <a:r>
              <a:rPr lang="en-GB" dirty="0" err="1">
                <a:latin typeface="Courier" pitchFamily="2" charset="0"/>
              </a:rPr>
              <a:t>BSTroot</a:t>
            </a:r>
            <a:r>
              <a:rPr lang="en-GB" dirty="0">
                <a:latin typeface="Courier" pitchFamily="2" charset="0"/>
              </a:rPr>
              <a:t> = Node(</a:t>
            </a:r>
            <a:r>
              <a:rPr lang="en-GB" dirty="0" err="1">
                <a:latin typeface="Courier" pitchFamily="2" charset="0"/>
              </a:rPr>
              <a:t>k,v</a:t>
            </a:r>
            <a:r>
              <a:rPr lang="en-GB" dirty="0">
                <a:latin typeface="Courier" pitchFamily="2" charset="0"/>
              </a:rPr>
              <a:t>)</a:t>
            </a:r>
          </a:p>
          <a:p>
            <a:r>
              <a:rPr lang="en-GB" dirty="0">
                <a:latin typeface="Courier" pitchFamily="2" charset="0"/>
              </a:rPr>
              <a:t>…</a:t>
            </a:r>
          </a:p>
          <a:p>
            <a:r>
              <a:rPr lang="en-GB" dirty="0" err="1">
                <a:latin typeface="Courier" pitchFamily="2" charset="0"/>
              </a:rPr>
              <a:t>BSTroot.put</a:t>
            </a:r>
            <a:r>
              <a:rPr lang="en-GB" dirty="0">
                <a:latin typeface="Courier" pitchFamily="2" charset="0"/>
              </a:rPr>
              <a:t>(k1,v1)</a:t>
            </a:r>
          </a:p>
          <a:p>
            <a:r>
              <a:rPr lang="en-GB" dirty="0">
                <a:latin typeface="Courier" pitchFamily="2" charset="0"/>
              </a:rPr>
              <a:t>…</a:t>
            </a:r>
          </a:p>
          <a:p>
            <a:r>
              <a:rPr lang="en-GB" dirty="0">
                <a:latin typeface="Courier" pitchFamily="2" charset="0"/>
              </a:rPr>
              <a:t>v2=</a:t>
            </a:r>
            <a:r>
              <a:rPr lang="en-GB" dirty="0" err="1">
                <a:latin typeface="Courier" pitchFamily="2" charset="0"/>
              </a:rPr>
              <a:t>BSTroot.get</a:t>
            </a:r>
            <a:r>
              <a:rPr lang="en-GB" dirty="0">
                <a:latin typeface="Courier" pitchFamily="2" charset="0"/>
              </a:rPr>
              <a:t>(k2)</a:t>
            </a:r>
          </a:p>
        </p:txBody>
      </p:sp>
    </p:spTree>
    <p:extLst>
      <p:ext uri="{BB962C8B-B14F-4D97-AF65-F5344CB8AC3E}">
        <p14:creationId xmlns:p14="http://schemas.microsoft.com/office/powerpoint/2010/main" val="137098742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A56EF9-5ABB-9544-9112-0C229EBDBCA7}"/>
              </a:ext>
            </a:extLst>
          </p:cNvPr>
          <p:cNvSpPr>
            <a:spLocks noGrp="1"/>
          </p:cNvSpPr>
          <p:nvPr>
            <p:ph type="title"/>
          </p:nvPr>
        </p:nvSpPr>
        <p:spPr/>
        <p:txBody>
          <a:bodyPr/>
          <a:lstStyle/>
          <a:p>
            <a:r>
              <a:rPr lang="en-US" dirty="0"/>
              <a:t>BST ANALYSIS</a:t>
            </a:r>
          </a:p>
        </p:txBody>
      </p:sp>
      <p:sp>
        <p:nvSpPr>
          <p:cNvPr id="3" name="Content Placeholder 2">
            <a:extLst>
              <a:ext uri="{FF2B5EF4-FFF2-40B4-BE49-F238E27FC236}">
                <a16:creationId xmlns:a16="http://schemas.microsoft.com/office/drawing/2014/main" id="{8C54C733-94F0-B34D-89BA-13DC01F08CA9}"/>
              </a:ext>
            </a:extLst>
          </p:cNvPr>
          <p:cNvSpPr>
            <a:spLocks noGrp="1"/>
          </p:cNvSpPr>
          <p:nvPr>
            <p:ph idx="1"/>
          </p:nvPr>
        </p:nvSpPr>
        <p:spPr/>
        <p:txBody>
          <a:bodyPr/>
          <a:lstStyle/>
          <a:p>
            <a:r>
              <a:rPr lang="en-US" dirty="0"/>
              <a:t>Cost (number of compare operations)</a:t>
            </a:r>
          </a:p>
          <a:p>
            <a:pPr lvl="1"/>
            <a:r>
              <a:rPr lang="en-US" dirty="0"/>
              <a:t>Get: 1 + depth of tree</a:t>
            </a:r>
          </a:p>
          <a:p>
            <a:pPr lvl="1"/>
            <a:r>
              <a:rPr lang="en-US" dirty="0"/>
              <a:t>Put: 1 + depth of tree</a:t>
            </a:r>
          </a:p>
          <a:p>
            <a:r>
              <a:rPr lang="en-US" dirty="0"/>
              <a:t>Tree shape depends on order of insertion</a:t>
            </a:r>
          </a:p>
          <a:p>
            <a:pPr lvl="1"/>
            <a:r>
              <a:rPr lang="en-US" dirty="0"/>
              <a:t>Many BSTs correspond to the same set of keys</a:t>
            </a:r>
          </a:p>
        </p:txBody>
      </p:sp>
      <p:grpSp>
        <p:nvGrpSpPr>
          <p:cNvPr id="98" name="Group 97" descr="shape of BST in best case scenario: perfectly balanced tree">
            <a:extLst>
              <a:ext uri="{FF2B5EF4-FFF2-40B4-BE49-F238E27FC236}">
                <a16:creationId xmlns:a16="http://schemas.microsoft.com/office/drawing/2014/main" id="{63952448-8445-ED4D-96FD-68AC0F3679F8}"/>
              </a:ext>
            </a:extLst>
          </p:cNvPr>
          <p:cNvGrpSpPr/>
          <p:nvPr/>
        </p:nvGrpSpPr>
        <p:grpSpPr>
          <a:xfrm>
            <a:off x="86245" y="3883901"/>
            <a:ext cx="3561851" cy="2424622"/>
            <a:chOff x="86245" y="3883901"/>
            <a:chExt cx="3561851" cy="2424622"/>
          </a:xfrm>
        </p:grpSpPr>
        <p:grpSp>
          <p:nvGrpSpPr>
            <p:cNvPr id="64" name="Group 63">
              <a:extLst>
                <a:ext uri="{FF2B5EF4-FFF2-40B4-BE49-F238E27FC236}">
                  <a16:creationId xmlns:a16="http://schemas.microsoft.com/office/drawing/2014/main" id="{A43272D1-902B-4C46-9275-8F5838A258BD}"/>
                </a:ext>
              </a:extLst>
            </p:cNvPr>
            <p:cNvGrpSpPr/>
            <p:nvPr/>
          </p:nvGrpSpPr>
          <p:grpSpPr>
            <a:xfrm>
              <a:off x="86245" y="4492696"/>
              <a:ext cx="3561851" cy="1815827"/>
              <a:chOff x="1564082" y="3980037"/>
              <a:chExt cx="3561851" cy="1815827"/>
            </a:xfrm>
          </p:grpSpPr>
          <p:sp>
            <p:nvSpPr>
              <p:cNvPr id="30" name="Oval 29">
                <a:extLst>
                  <a:ext uri="{FF2B5EF4-FFF2-40B4-BE49-F238E27FC236}">
                    <a16:creationId xmlns:a16="http://schemas.microsoft.com/office/drawing/2014/main" id="{1EB85A8D-EF57-E946-A04F-71D3647B51FF}"/>
                  </a:ext>
                </a:extLst>
              </p:cNvPr>
              <p:cNvSpPr/>
              <p:nvPr/>
            </p:nvSpPr>
            <p:spPr>
              <a:xfrm>
                <a:off x="4729606" y="5198510"/>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sp>
            <p:nvSpPr>
              <p:cNvPr id="31" name="Oval 30">
                <a:extLst>
                  <a:ext uri="{FF2B5EF4-FFF2-40B4-BE49-F238E27FC236}">
                    <a16:creationId xmlns:a16="http://schemas.microsoft.com/office/drawing/2014/main" id="{FD146566-9F4A-CA46-B4EC-AE671BF60383}"/>
                  </a:ext>
                </a:extLst>
              </p:cNvPr>
              <p:cNvSpPr/>
              <p:nvPr/>
            </p:nvSpPr>
            <p:spPr>
              <a:xfrm>
                <a:off x="3110620" y="398003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cxnSp>
            <p:nvCxnSpPr>
              <p:cNvPr id="32" name="Straight Connector 31">
                <a:extLst>
                  <a:ext uri="{FF2B5EF4-FFF2-40B4-BE49-F238E27FC236}">
                    <a16:creationId xmlns:a16="http://schemas.microsoft.com/office/drawing/2014/main" id="{BC8FFBE9-87F1-7C47-ACED-C041C1718164}"/>
                  </a:ext>
                </a:extLst>
              </p:cNvPr>
              <p:cNvCxnSpPr>
                <a:cxnSpLocks/>
                <a:stCxn id="31" idx="3"/>
                <a:endCxn id="50" idx="0"/>
              </p:cNvCxnSpPr>
              <p:nvPr/>
            </p:nvCxnSpPr>
            <p:spPr>
              <a:xfrm flipH="1">
                <a:off x="2367152" y="4276085"/>
                <a:ext cx="790414" cy="27121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B17B2030-5732-CC4A-862D-B9BE226878AC}"/>
                  </a:ext>
                </a:extLst>
              </p:cNvPr>
              <p:cNvSpPr/>
              <p:nvPr/>
            </p:nvSpPr>
            <p:spPr>
              <a:xfrm>
                <a:off x="2206869" y="4547304"/>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cxnSp>
            <p:nvCxnSpPr>
              <p:cNvPr id="51" name="Straight Connector 50">
                <a:extLst>
                  <a:ext uri="{FF2B5EF4-FFF2-40B4-BE49-F238E27FC236}">
                    <a16:creationId xmlns:a16="http://schemas.microsoft.com/office/drawing/2014/main" id="{645D123B-F491-3348-BA56-F137C0B02600}"/>
                  </a:ext>
                </a:extLst>
              </p:cNvPr>
              <p:cNvCxnSpPr>
                <a:cxnSpLocks/>
                <a:stCxn id="50" idx="3"/>
                <a:endCxn id="35" idx="0"/>
              </p:cNvCxnSpPr>
              <p:nvPr/>
            </p:nvCxnSpPr>
            <p:spPr>
              <a:xfrm flipH="1">
                <a:off x="1808990" y="4843352"/>
                <a:ext cx="444825" cy="26061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D83C883-CB0A-0347-82E6-573029406C68}"/>
                  </a:ext>
                </a:extLst>
              </p:cNvPr>
              <p:cNvCxnSpPr>
                <a:cxnSpLocks/>
                <a:stCxn id="50" idx="5"/>
                <a:endCxn id="36" idx="1"/>
              </p:cNvCxnSpPr>
              <p:nvPr/>
            </p:nvCxnSpPr>
            <p:spPr>
              <a:xfrm>
                <a:off x="2480489" y="4843352"/>
                <a:ext cx="345559" cy="302948"/>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85A48FE9-F20D-A141-AC17-2AC5728A3613}"/>
                  </a:ext>
                </a:extLst>
              </p:cNvPr>
              <p:cNvSpPr/>
              <p:nvPr/>
            </p:nvSpPr>
            <p:spPr>
              <a:xfrm>
                <a:off x="3624082" y="513632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sp>
            <p:nvSpPr>
              <p:cNvPr id="35" name="Oval 34">
                <a:extLst>
                  <a:ext uri="{FF2B5EF4-FFF2-40B4-BE49-F238E27FC236}">
                    <a16:creationId xmlns:a16="http://schemas.microsoft.com/office/drawing/2014/main" id="{1BBEAB4E-F272-3E47-B295-7269814E87D9}"/>
                  </a:ext>
                </a:extLst>
              </p:cNvPr>
              <p:cNvSpPr/>
              <p:nvPr/>
            </p:nvSpPr>
            <p:spPr>
              <a:xfrm>
                <a:off x="1648707" y="51039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36" name="Oval 35">
                <a:extLst>
                  <a:ext uri="{FF2B5EF4-FFF2-40B4-BE49-F238E27FC236}">
                    <a16:creationId xmlns:a16="http://schemas.microsoft.com/office/drawing/2014/main" id="{B0E1C30A-E4C4-204A-A9C1-3A3B8F237C33}"/>
                  </a:ext>
                </a:extLst>
              </p:cNvPr>
              <p:cNvSpPr/>
              <p:nvPr/>
            </p:nvSpPr>
            <p:spPr>
              <a:xfrm>
                <a:off x="2779102" y="5095506"/>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grpSp>
            <p:nvGrpSpPr>
              <p:cNvPr id="37" name="Group 36">
                <a:extLst>
                  <a:ext uri="{FF2B5EF4-FFF2-40B4-BE49-F238E27FC236}">
                    <a16:creationId xmlns:a16="http://schemas.microsoft.com/office/drawing/2014/main" id="{98BE3D7C-EAA3-714C-9EB7-0FA253D135E6}"/>
                  </a:ext>
                </a:extLst>
              </p:cNvPr>
              <p:cNvGrpSpPr/>
              <p:nvPr/>
            </p:nvGrpSpPr>
            <p:grpSpPr>
              <a:xfrm>
                <a:off x="3384240" y="4276085"/>
                <a:ext cx="1175706" cy="660093"/>
                <a:chOff x="3354253" y="3178812"/>
                <a:chExt cx="1175706" cy="660093"/>
              </a:xfrm>
            </p:grpSpPr>
            <p:sp>
              <p:nvSpPr>
                <p:cNvPr id="47" name="Oval 46">
                  <a:extLst>
                    <a:ext uri="{FF2B5EF4-FFF2-40B4-BE49-F238E27FC236}">
                      <a16:creationId xmlns:a16="http://schemas.microsoft.com/office/drawing/2014/main" id="{FA06C428-666C-5C41-A546-496544AE1C20}"/>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49" name="Straight Connector 48">
                  <a:extLst>
                    <a:ext uri="{FF2B5EF4-FFF2-40B4-BE49-F238E27FC236}">
                      <a16:creationId xmlns:a16="http://schemas.microsoft.com/office/drawing/2014/main" id="{7577A179-A6E6-6743-A4CC-065702A54237}"/>
                    </a:ext>
                  </a:extLst>
                </p:cNvPr>
                <p:cNvCxnSpPr>
                  <a:cxnSpLocks/>
                  <a:stCxn id="31" idx="5"/>
                  <a:endCxn id="47"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41" name="Straight Connector 40">
                <a:extLst>
                  <a:ext uri="{FF2B5EF4-FFF2-40B4-BE49-F238E27FC236}">
                    <a16:creationId xmlns:a16="http://schemas.microsoft.com/office/drawing/2014/main" id="{F1E6066D-711C-CA47-A9C8-DCB173D9F71C}"/>
                  </a:ext>
                </a:extLst>
              </p:cNvPr>
              <p:cNvCxnSpPr>
                <a:cxnSpLocks/>
              </p:cNvCxnSpPr>
              <p:nvPr/>
            </p:nvCxnSpPr>
            <p:spPr>
              <a:xfrm flipH="1">
                <a:off x="4671766" y="551093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B5701DCB-D95F-7E46-81C8-293241C33739}"/>
                  </a:ext>
                </a:extLst>
              </p:cNvPr>
              <p:cNvCxnSpPr>
                <a:cxnSpLocks/>
              </p:cNvCxnSpPr>
              <p:nvPr/>
            </p:nvCxnSpPr>
            <p:spPr>
              <a:xfrm>
                <a:off x="4978302" y="550700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234C86D8-9855-F343-B880-08E445E85358}"/>
                  </a:ext>
                </a:extLst>
              </p:cNvPr>
              <p:cNvCxnSpPr>
                <a:cxnSpLocks/>
              </p:cNvCxnSpPr>
              <p:nvPr/>
            </p:nvCxnSpPr>
            <p:spPr>
              <a:xfrm flipH="1">
                <a:off x="3551368" y="547223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73A3B081-ED5A-6644-A251-2FFAE37DB0DF}"/>
                  </a:ext>
                </a:extLst>
              </p:cNvPr>
              <p:cNvCxnSpPr>
                <a:cxnSpLocks/>
              </p:cNvCxnSpPr>
              <p:nvPr/>
            </p:nvCxnSpPr>
            <p:spPr>
              <a:xfrm>
                <a:off x="3857904" y="546830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64398A9-E5EC-554F-B05F-849C310709A7}"/>
                  </a:ext>
                </a:extLst>
              </p:cNvPr>
              <p:cNvCxnSpPr>
                <a:cxnSpLocks/>
              </p:cNvCxnSpPr>
              <p:nvPr/>
            </p:nvCxnSpPr>
            <p:spPr>
              <a:xfrm flipH="1">
                <a:off x="2719316" y="5420914"/>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9FFB007A-7111-ED44-871B-9432F70029B4}"/>
                  </a:ext>
                </a:extLst>
              </p:cNvPr>
              <p:cNvCxnSpPr>
                <a:cxnSpLocks/>
              </p:cNvCxnSpPr>
              <p:nvPr/>
            </p:nvCxnSpPr>
            <p:spPr>
              <a:xfrm>
                <a:off x="3025852" y="5416985"/>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8D4B2C9F-54F1-294E-9C22-75D3935DA905}"/>
                  </a:ext>
                </a:extLst>
              </p:cNvPr>
              <p:cNvCxnSpPr>
                <a:cxnSpLocks/>
              </p:cNvCxnSpPr>
              <p:nvPr/>
            </p:nvCxnSpPr>
            <p:spPr>
              <a:xfrm flipH="1">
                <a:off x="1564082" y="5432375"/>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7D8BA0E9-4F28-7F4B-93F0-0AF28C6C2BF1}"/>
                  </a:ext>
                </a:extLst>
              </p:cNvPr>
              <p:cNvCxnSpPr>
                <a:cxnSpLocks/>
              </p:cNvCxnSpPr>
              <p:nvPr/>
            </p:nvCxnSpPr>
            <p:spPr>
              <a:xfrm>
                <a:off x="1870618" y="5428446"/>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B34BBFB3-B0E5-9F48-ABBB-5BE1D819C537}"/>
                  </a:ext>
                </a:extLst>
              </p:cNvPr>
              <p:cNvCxnSpPr>
                <a:cxnSpLocks/>
              </p:cNvCxnSpPr>
              <p:nvPr/>
            </p:nvCxnSpPr>
            <p:spPr>
              <a:xfrm flipH="1">
                <a:off x="3855365" y="4894146"/>
                <a:ext cx="444825" cy="26061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3843D00-14E0-B747-9110-0E16DABE6B63}"/>
                  </a:ext>
                </a:extLst>
              </p:cNvPr>
              <p:cNvCxnSpPr>
                <a:cxnSpLocks/>
              </p:cNvCxnSpPr>
              <p:nvPr/>
            </p:nvCxnSpPr>
            <p:spPr>
              <a:xfrm>
                <a:off x="4477403" y="4925914"/>
                <a:ext cx="345559" cy="302948"/>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65" name="TextBox 64">
              <a:extLst>
                <a:ext uri="{FF2B5EF4-FFF2-40B4-BE49-F238E27FC236}">
                  <a16:creationId xmlns:a16="http://schemas.microsoft.com/office/drawing/2014/main" id="{9D188BC0-2238-784F-BDCE-0A716F55CBFC}"/>
                </a:ext>
              </a:extLst>
            </p:cNvPr>
            <p:cNvSpPr txBox="1"/>
            <p:nvPr/>
          </p:nvSpPr>
          <p:spPr>
            <a:xfrm>
              <a:off x="1206954" y="3883901"/>
              <a:ext cx="1197764" cy="369332"/>
            </a:xfrm>
            <a:prstGeom prst="rect">
              <a:avLst/>
            </a:prstGeom>
            <a:noFill/>
            <a:ln w="28575">
              <a:solidFill>
                <a:schemeClr val="bg1">
                  <a:lumMod val="75000"/>
                </a:schemeClr>
              </a:solidFill>
            </a:ln>
          </p:spPr>
          <p:txBody>
            <a:bodyPr wrap="none" rtlCol="0">
              <a:spAutoFit/>
            </a:bodyPr>
            <a:lstStyle/>
            <a:p>
              <a:r>
                <a:rPr lang="en-US" dirty="0">
                  <a:latin typeface="Arial" panose="020B0604020202020204" pitchFamily="34" charset="0"/>
                  <a:cs typeface="Arial" panose="020B0604020202020204" pitchFamily="34" charset="0"/>
                </a:rPr>
                <a:t>Best case</a:t>
              </a:r>
            </a:p>
          </p:txBody>
        </p:sp>
      </p:grpSp>
      <p:grpSp>
        <p:nvGrpSpPr>
          <p:cNvPr id="99" name="Group 98" descr="shape of BST in average case scenario: well balanced tree">
            <a:extLst>
              <a:ext uri="{FF2B5EF4-FFF2-40B4-BE49-F238E27FC236}">
                <a16:creationId xmlns:a16="http://schemas.microsoft.com/office/drawing/2014/main" id="{61CB350B-236C-504D-895E-1A931B456108}"/>
              </a:ext>
            </a:extLst>
          </p:cNvPr>
          <p:cNvGrpSpPr/>
          <p:nvPr/>
        </p:nvGrpSpPr>
        <p:grpSpPr>
          <a:xfrm>
            <a:off x="4446881" y="3950009"/>
            <a:ext cx="3788932" cy="2855584"/>
            <a:chOff x="4446881" y="3950009"/>
            <a:chExt cx="3788932" cy="2855584"/>
          </a:xfrm>
        </p:grpSpPr>
        <p:grpSp>
          <p:nvGrpSpPr>
            <p:cNvPr id="4" name="Group 3" descr="demo of insertion of existing key in BST (update value)">
              <a:extLst>
                <a:ext uri="{FF2B5EF4-FFF2-40B4-BE49-F238E27FC236}">
                  <a16:creationId xmlns:a16="http://schemas.microsoft.com/office/drawing/2014/main" id="{E52C1612-4D54-C141-AA40-18D0331A805F}"/>
                </a:ext>
              </a:extLst>
            </p:cNvPr>
            <p:cNvGrpSpPr/>
            <p:nvPr/>
          </p:nvGrpSpPr>
          <p:grpSpPr>
            <a:xfrm>
              <a:off x="4446881" y="4427650"/>
              <a:ext cx="3788932" cy="2377943"/>
              <a:chOff x="5670468" y="3324591"/>
              <a:chExt cx="3788932" cy="2377943"/>
            </a:xfrm>
          </p:grpSpPr>
          <p:sp>
            <p:nvSpPr>
              <p:cNvPr id="5" name="Oval 4">
                <a:extLst>
                  <a:ext uri="{FF2B5EF4-FFF2-40B4-BE49-F238E27FC236}">
                    <a16:creationId xmlns:a16="http://schemas.microsoft.com/office/drawing/2014/main" id="{CB60A56C-5348-3946-9C5B-C2622C3F4F5C}"/>
                  </a:ext>
                </a:extLst>
              </p:cNvPr>
              <p:cNvSpPr/>
              <p:nvPr/>
            </p:nvSpPr>
            <p:spPr>
              <a:xfrm>
                <a:off x="7030774"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 name="Oval 5">
                <a:extLst>
                  <a:ext uri="{FF2B5EF4-FFF2-40B4-BE49-F238E27FC236}">
                    <a16:creationId xmlns:a16="http://schemas.microsoft.com/office/drawing/2014/main" id="{6A0B1269-FB95-1F46-BDE3-138E9DC26B9F}"/>
                  </a:ext>
                </a:extLst>
              </p:cNvPr>
              <p:cNvSpPr/>
              <p:nvPr/>
            </p:nvSpPr>
            <p:spPr>
              <a:xfrm>
                <a:off x="7774242" y="3324591"/>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cxnSp>
            <p:nvCxnSpPr>
              <p:cNvPr id="7" name="Straight Connector 6">
                <a:extLst>
                  <a:ext uri="{FF2B5EF4-FFF2-40B4-BE49-F238E27FC236}">
                    <a16:creationId xmlns:a16="http://schemas.microsoft.com/office/drawing/2014/main" id="{B1A63A5B-5721-0B49-B9F2-D1EF600831D1}"/>
                  </a:ext>
                </a:extLst>
              </p:cNvPr>
              <p:cNvCxnSpPr>
                <a:cxnSpLocks/>
                <a:stCxn id="6" idx="3"/>
                <a:endCxn id="26" idx="0"/>
              </p:cNvCxnSpPr>
              <p:nvPr/>
            </p:nvCxnSpPr>
            <p:spPr>
              <a:xfrm flipH="1">
                <a:off x="7030774" y="3620639"/>
                <a:ext cx="790414" cy="271219"/>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09911118-D7EE-2844-BC63-5F35C00EDF6D}"/>
                  </a:ext>
                </a:extLst>
              </p:cNvPr>
              <p:cNvGrpSpPr/>
              <p:nvPr/>
            </p:nvGrpSpPr>
            <p:grpSpPr>
              <a:xfrm>
                <a:off x="6090548" y="3891858"/>
                <a:ext cx="1730640" cy="636744"/>
                <a:chOff x="3429450" y="3492063"/>
                <a:chExt cx="1730640" cy="636744"/>
              </a:xfrm>
            </p:grpSpPr>
            <p:sp>
              <p:nvSpPr>
                <p:cNvPr id="26" name="Oval 25">
                  <a:extLst>
                    <a:ext uri="{FF2B5EF4-FFF2-40B4-BE49-F238E27FC236}">
                      <a16:creationId xmlns:a16="http://schemas.microsoft.com/office/drawing/2014/main" id="{7B1F8005-452E-5C4A-97CA-42A58DA651E7}"/>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cxnSp>
              <p:nvCxnSpPr>
                <p:cNvPr id="27" name="Straight Connector 26">
                  <a:extLst>
                    <a:ext uri="{FF2B5EF4-FFF2-40B4-BE49-F238E27FC236}">
                      <a16:creationId xmlns:a16="http://schemas.microsoft.com/office/drawing/2014/main" id="{8A80AC60-814C-7C43-B7F5-7EF4A2024172}"/>
                    </a:ext>
                  </a:extLst>
                </p:cNvPr>
                <p:cNvCxnSpPr>
                  <a:cxnSpLocks/>
                  <a:stCxn id="26" idx="3"/>
                  <a:endCxn id="10" idx="0"/>
                </p:cNvCxnSpPr>
                <p:nvPr/>
              </p:nvCxnSpPr>
              <p:spPr>
                <a:xfrm flipH="1">
                  <a:off x="3429450" y="3788111"/>
                  <a:ext cx="826889" cy="289902"/>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7DA593D-43D9-B946-82FC-76F1AA826ADA}"/>
                    </a:ext>
                  </a:extLst>
                </p:cNvPr>
                <p:cNvCxnSpPr>
                  <a:cxnSpLocks/>
                  <a:stCxn id="26" idx="5"/>
                  <a:endCxn id="11" idx="1"/>
                </p:cNvCxnSpPr>
                <p:nvPr/>
              </p:nvCxnSpPr>
              <p:spPr>
                <a:xfrm>
                  <a:off x="4483013" y="3788111"/>
                  <a:ext cx="677077" cy="3406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9" name="Oval 8">
                <a:extLst>
                  <a:ext uri="{FF2B5EF4-FFF2-40B4-BE49-F238E27FC236}">
                    <a16:creationId xmlns:a16="http://schemas.microsoft.com/office/drawing/2014/main" id="{CEA4BE50-09D4-AA4B-A347-848AC3AD2386}"/>
                  </a:ext>
                </a:extLst>
              </p:cNvPr>
              <p:cNvSpPr/>
              <p:nvPr/>
            </p:nvSpPr>
            <p:spPr>
              <a:xfrm>
                <a:off x="6457047" y="5081697"/>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10" name="Oval 9">
                <a:extLst>
                  <a:ext uri="{FF2B5EF4-FFF2-40B4-BE49-F238E27FC236}">
                    <a16:creationId xmlns:a16="http://schemas.microsoft.com/office/drawing/2014/main" id="{EB003270-8A04-F942-8A39-C3893DED8A56}"/>
                  </a:ext>
                </a:extLst>
              </p:cNvPr>
              <p:cNvSpPr/>
              <p:nvPr/>
            </p:nvSpPr>
            <p:spPr>
              <a:xfrm>
                <a:off x="5930265"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11" name="Oval 10">
                <a:extLst>
                  <a:ext uri="{FF2B5EF4-FFF2-40B4-BE49-F238E27FC236}">
                    <a16:creationId xmlns:a16="http://schemas.microsoft.com/office/drawing/2014/main" id="{5DCB41B4-A493-E84E-ADD4-02A457C77648}"/>
                  </a:ext>
                </a:extLst>
              </p:cNvPr>
              <p:cNvSpPr/>
              <p:nvPr/>
            </p:nvSpPr>
            <p:spPr>
              <a:xfrm>
                <a:off x="7774242" y="44778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grpSp>
            <p:nvGrpSpPr>
              <p:cNvPr id="12" name="Group 11">
                <a:extLst>
                  <a:ext uri="{FF2B5EF4-FFF2-40B4-BE49-F238E27FC236}">
                    <a16:creationId xmlns:a16="http://schemas.microsoft.com/office/drawing/2014/main" id="{110D1082-5C79-8840-9D0F-30D50CEDD33A}"/>
                  </a:ext>
                </a:extLst>
              </p:cNvPr>
              <p:cNvGrpSpPr/>
              <p:nvPr/>
            </p:nvGrpSpPr>
            <p:grpSpPr>
              <a:xfrm>
                <a:off x="7304394" y="3620639"/>
                <a:ext cx="1919174" cy="1511852"/>
                <a:chOff x="2610785" y="3178812"/>
                <a:chExt cx="1919174" cy="1511852"/>
              </a:xfrm>
            </p:grpSpPr>
            <p:sp>
              <p:nvSpPr>
                <p:cNvPr id="23" name="Oval 22">
                  <a:extLst>
                    <a:ext uri="{FF2B5EF4-FFF2-40B4-BE49-F238E27FC236}">
                      <a16:creationId xmlns:a16="http://schemas.microsoft.com/office/drawing/2014/main" id="{F8A453AF-FB64-9C4F-A7C5-65EA3F748BAE}"/>
                    </a:ext>
                  </a:extLst>
                </p:cNvPr>
                <p:cNvSpPr/>
                <p:nvPr/>
              </p:nvSpPr>
              <p:spPr>
                <a:xfrm>
                  <a:off x="4209393" y="349206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24" name="Straight Connector 23">
                  <a:extLst>
                    <a:ext uri="{FF2B5EF4-FFF2-40B4-BE49-F238E27FC236}">
                      <a16:creationId xmlns:a16="http://schemas.microsoft.com/office/drawing/2014/main" id="{1B034A50-D7BC-DC4C-BEC2-3B6001E0AAC8}"/>
                    </a:ext>
                  </a:extLst>
                </p:cNvPr>
                <p:cNvCxnSpPr>
                  <a:cxnSpLocks/>
                  <a:stCxn id="11" idx="3"/>
                  <a:endCxn id="5" idx="7"/>
                </p:cNvCxnSpPr>
                <p:nvPr/>
              </p:nvCxnSpPr>
              <p:spPr>
                <a:xfrm flipH="1">
                  <a:off x="2610785" y="4332029"/>
                  <a:ext cx="516794"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517731A-485F-2C4B-B0AE-13848294B310}"/>
                    </a:ext>
                  </a:extLst>
                </p:cNvPr>
                <p:cNvCxnSpPr>
                  <a:cxnSpLocks/>
                  <a:stCxn id="6" idx="5"/>
                  <a:endCxn id="23" idx="0"/>
                </p:cNvCxnSpPr>
                <p:nvPr/>
              </p:nvCxnSpPr>
              <p:spPr>
                <a:xfrm>
                  <a:off x="3354253" y="3178812"/>
                  <a:ext cx="1015423" cy="3132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14" name="Straight Connector 13">
                <a:extLst>
                  <a:ext uri="{FF2B5EF4-FFF2-40B4-BE49-F238E27FC236}">
                    <a16:creationId xmlns:a16="http://schemas.microsoft.com/office/drawing/2014/main" id="{185502B1-A688-E64F-973C-A204F2C32F3E}"/>
                  </a:ext>
                </a:extLst>
              </p:cNvPr>
              <p:cNvCxnSpPr>
                <a:cxnSpLocks/>
                <a:stCxn id="10" idx="5"/>
                <a:endCxn id="9" idx="1"/>
              </p:cNvCxnSpPr>
              <p:nvPr/>
            </p:nvCxnSpPr>
            <p:spPr>
              <a:xfrm>
                <a:off x="6203885" y="4773856"/>
                <a:ext cx="300108" cy="35863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B5E14AC-2536-984A-BB0D-7BE755E58A62}"/>
                  </a:ext>
                </a:extLst>
              </p:cNvPr>
              <p:cNvCxnSpPr>
                <a:cxnSpLocks/>
              </p:cNvCxnSpPr>
              <p:nvPr/>
            </p:nvCxnSpPr>
            <p:spPr>
              <a:xfrm flipH="1">
                <a:off x="5670468" y="4761144"/>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6AA31DAC-0BF7-2345-B36A-0F54720ACF7C}"/>
                  </a:ext>
                </a:extLst>
              </p:cNvPr>
              <p:cNvCxnSpPr>
                <a:cxnSpLocks/>
              </p:cNvCxnSpPr>
              <p:nvPr/>
            </p:nvCxnSpPr>
            <p:spPr>
              <a:xfrm flipH="1">
                <a:off x="8667170" y="4229938"/>
                <a:ext cx="284710" cy="14495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515EEAB-D731-9543-B7C4-94E89E6DB794}"/>
                  </a:ext>
                </a:extLst>
              </p:cNvPr>
              <p:cNvCxnSpPr>
                <a:cxnSpLocks/>
              </p:cNvCxnSpPr>
              <p:nvPr/>
            </p:nvCxnSpPr>
            <p:spPr>
              <a:xfrm flipH="1">
                <a:off x="6972934" y="5394120"/>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FD24AA6-DA90-E44F-9914-2C727FBBBA57}"/>
                  </a:ext>
                </a:extLst>
              </p:cNvPr>
              <p:cNvCxnSpPr>
                <a:cxnSpLocks/>
                <a:stCxn id="23" idx="5"/>
              </p:cNvCxnSpPr>
              <p:nvPr/>
            </p:nvCxnSpPr>
            <p:spPr>
              <a:xfrm>
                <a:off x="9176622" y="4229938"/>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FDD412EA-EF4D-BE4D-B611-F53D71927308}"/>
                  </a:ext>
                </a:extLst>
              </p:cNvPr>
              <p:cNvCxnSpPr>
                <a:cxnSpLocks/>
              </p:cNvCxnSpPr>
              <p:nvPr/>
            </p:nvCxnSpPr>
            <p:spPr>
              <a:xfrm>
                <a:off x="8047952" y="4761144"/>
                <a:ext cx="282778" cy="15227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52CE9C6-8D89-2247-B98D-356E1E4D2ECB}"/>
                  </a:ext>
                </a:extLst>
              </p:cNvPr>
              <p:cNvCxnSpPr>
                <a:cxnSpLocks/>
              </p:cNvCxnSpPr>
              <p:nvPr/>
            </p:nvCxnSpPr>
            <p:spPr>
              <a:xfrm>
                <a:off x="7279470" y="5390191"/>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06D10F96-FAE7-3B4D-A762-509AC762E705}"/>
                  </a:ext>
                </a:extLst>
              </p:cNvPr>
              <p:cNvCxnSpPr>
                <a:cxnSpLocks/>
              </p:cNvCxnSpPr>
              <p:nvPr/>
            </p:nvCxnSpPr>
            <p:spPr>
              <a:xfrm flipH="1">
                <a:off x="6384333" y="5417603"/>
                <a:ext cx="145428" cy="284931"/>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B5CC45D-AA95-2E41-91A9-BF82F4821798}"/>
                  </a:ext>
                </a:extLst>
              </p:cNvPr>
              <p:cNvCxnSpPr>
                <a:cxnSpLocks/>
              </p:cNvCxnSpPr>
              <p:nvPr/>
            </p:nvCxnSpPr>
            <p:spPr>
              <a:xfrm>
                <a:off x="6690869" y="5413674"/>
                <a:ext cx="147631" cy="288860"/>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66" name="TextBox 65">
              <a:extLst>
                <a:ext uri="{FF2B5EF4-FFF2-40B4-BE49-F238E27FC236}">
                  <a16:creationId xmlns:a16="http://schemas.microsoft.com/office/drawing/2014/main" id="{E66E1588-7F20-D745-AE91-0E9251982B20}"/>
                </a:ext>
              </a:extLst>
            </p:cNvPr>
            <p:cNvSpPr txBox="1"/>
            <p:nvPr/>
          </p:nvSpPr>
          <p:spPr>
            <a:xfrm>
              <a:off x="5886395" y="3950009"/>
              <a:ext cx="1591141" cy="369332"/>
            </a:xfrm>
            <a:prstGeom prst="rect">
              <a:avLst/>
            </a:prstGeom>
            <a:noFill/>
            <a:ln w="28575">
              <a:solidFill>
                <a:schemeClr val="bg1">
                  <a:lumMod val="75000"/>
                </a:schemeClr>
              </a:solidFill>
            </a:ln>
          </p:spPr>
          <p:txBody>
            <a:bodyPr wrap="none" rtlCol="0">
              <a:spAutoFit/>
            </a:bodyPr>
            <a:lstStyle/>
            <a:p>
              <a:r>
                <a:rPr lang="en-US" dirty="0">
                  <a:latin typeface="Arial" panose="020B0604020202020204" pitchFamily="34" charset="0"/>
                  <a:cs typeface="Arial" panose="020B0604020202020204" pitchFamily="34" charset="0"/>
                </a:rPr>
                <a:t>Average case</a:t>
              </a:r>
            </a:p>
          </p:txBody>
        </p:sp>
      </p:grpSp>
      <p:grpSp>
        <p:nvGrpSpPr>
          <p:cNvPr id="97" name="Group 96" descr="shape of BST in worts case scenario: a linked list">
            <a:extLst>
              <a:ext uri="{FF2B5EF4-FFF2-40B4-BE49-F238E27FC236}">
                <a16:creationId xmlns:a16="http://schemas.microsoft.com/office/drawing/2014/main" id="{89D5DF4A-3ED4-7249-806F-51825B049B4A}"/>
              </a:ext>
            </a:extLst>
          </p:cNvPr>
          <p:cNvGrpSpPr/>
          <p:nvPr/>
        </p:nvGrpSpPr>
        <p:grpSpPr>
          <a:xfrm>
            <a:off x="9331071" y="2937648"/>
            <a:ext cx="2573873" cy="3885349"/>
            <a:chOff x="9331071" y="2937648"/>
            <a:chExt cx="2573873" cy="3885349"/>
          </a:xfrm>
        </p:grpSpPr>
        <p:sp>
          <p:nvSpPr>
            <p:cNvPr id="67" name="TextBox 66">
              <a:extLst>
                <a:ext uri="{FF2B5EF4-FFF2-40B4-BE49-F238E27FC236}">
                  <a16:creationId xmlns:a16="http://schemas.microsoft.com/office/drawing/2014/main" id="{25D8CC59-A5F9-5E4E-AA2A-D4875A111C61}"/>
                </a:ext>
              </a:extLst>
            </p:cNvPr>
            <p:cNvSpPr txBox="1"/>
            <p:nvPr/>
          </p:nvSpPr>
          <p:spPr>
            <a:xfrm>
              <a:off x="10570283" y="3966660"/>
              <a:ext cx="1334661" cy="369332"/>
            </a:xfrm>
            <a:prstGeom prst="rect">
              <a:avLst/>
            </a:prstGeom>
            <a:noFill/>
            <a:ln w="28575">
              <a:solidFill>
                <a:schemeClr val="bg1">
                  <a:lumMod val="75000"/>
                </a:schemeClr>
              </a:solidFill>
            </a:ln>
          </p:spPr>
          <p:txBody>
            <a:bodyPr wrap="none" rtlCol="0">
              <a:spAutoFit/>
            </a:bodyPr>
            <a:lstStyle/>
            <a:p>
              <a:r>
                <a:rPr lang="en-US" dirty="0">
                  <a:latin typeface="Arial" panose="020B0604020202020204" pitchFamily="34" charset="0"/>
                  <a:cs typeface="Arial" panose="020B0604020202020204" pitchFamily="34" charset="0"/>
                </a:rPr>
                <a:t>Worst case</a:t>
              </a:r>
            </a:p>
          </p:txBody>
        </p:sp>
        <p:grpSp>
          <p:nvGrpSpPr>
            <p:cNvPr id="96" name="Group 95">
              <a:extLst>
                <a:ext uri="{FF2B5EF4-FFF2-40B4-BE49-F238E27FC236}">
                  <a16:creationId xmlns:a16="http://schemas.microsoft.com/office/drawing/2014/main" id="{8B355916-8D57-0845-9D93-6B07AC79BF1A}"/>
                </a:ext>
              </a:extLst>
            </p:cNvPr>
            <p:cNvGrpSpPr/>
            <p:nvPr/>
          </p:nvGrpSpPr>
          <p:grpSpPr>
            <a:xfrm>
              <a:off x="9331071" y="2937648"/>
              <a:ext cx="2339774" cy="3885349"/>
              <a:chOff x="8938671" y="2959661"/>
              <a:chExt cx="2339774" cy="3885349"/>
            </a:xfrm>
          </p:grpSpPr>
          <p:sp>
            <p:nvSpPr>
              <p:cNvPr id="74" name="Oval 73">
                <a:extLst>
                  <a:ext uri="{FF2B5EF4-FFF2-40B4-BE49-F238E27FC236}">
                    <a16:creationId xmlns:a16="http://schemas.microsoft.com/office/drawing/2014/main" id="{AC391EF8-BC70-E445-8617-1C8816452A8C}"/>
                  </a:ext>
                </a:extLst>
              </p:cNvPr>
              <p:cNvSpPr/>
              <p:nvPr/>
            </p:nvSpPr>
            <p:spPr>
              <a:xfrm>
                <a:off x="10890920" y="6233366"/>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X</a:t>
                </a:r>
              </a:p>
            </p:txBody>
          </p:sp>
          <p:cxnSp>
            <p:nvCxnSpPr>
              <p:cNvPr id="85" name="Straight Connector 84">
                <a:extLst>
                  <a:ext uri="{FF2B5EF4-FFF2-40B4-BE49-F238E27FC236}">
                    <a16:creationId xmlns:a16="http://schemas.microsoft.com/office/drawing/2014/main" id="{20D51967-788D-1543-85D4-DFF4B8938941}"/>
                  </a:ext>
                </a:extLst>
              </p:cNvPr>
              <p:cNvCxnSpPr>
                <a:cxnSpLocks/>
              </p:cNvCxnSpPr>
              <p:nvPr/>
            </p:nvCxnSpPr>
            <p:spPr>
              <a:xfrm>
                <a:off x="10903575" y="5912499"/>
                <a:ext cx="93892" cy="3148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nvGrpSpPr>
              <p:cNvPr id="94" name="Group 93">
                <a:extLst>
                  <a:ext uri="{FF2B5EF4-FFF2-40B4-BE49-F238E27FC236}">
                    <a16:creationId xmlns:a16="http://schemas.microsoft.com/office/drawing/2014/main" id="{69D36BF3-E008-6341-B2E3-6E3A24C1FA7F}"/>
                  </a:ext>
                </a:extLst>
              </p:cNvPr>
              <p:cNvGrpSpPr/>
              <p:nvPr/>
            </p:nvGrpSpPr>
            <p:grpSpPr>
              <a:xfrm>
                <a:off x="8938671" y="2959661"/>
                <a:ext cx="2000447" cy="3035083"/>
                <a:chOff x="9175555" y="3429000"/>
                <a:chExt cx="2000447" cy="3035083"/>
              </a:xfrm>
            </p:grpSpPr>
            <p:sp>
              <p:nvSpPr>
                <p:cNvPr id="68" name="Oval 67">
                  <a:extLst>
                    <a:ext uri="{FF2B5EF4-FFF2-40B4-BE49-F238E27FC236}">
                      <a16:creationId xmlns:a16="http://schemas.microsoft.com/office/drawing/2014/main" id="{57B6BC54-1722-5F45-A07A-8DCC232C0CBE}"/>
                    </a:ext>
                  </a:extLst>
                </p:cNvPr>
                <p:cNvSpPr/>
                <p:nvPr/>
              </p:nvSpPr>
              <p:spPr>
                <a:xfrm>
                  <a:off x="10161602" y="510843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H</a:t>
                  </a:r>
                </a:p>
              </p:txBody>
            </p:sp>
            <p:sp>
              <p:nvSpPr>
                <p:cNvPr id="69" name="Oval 68">
                  <a:extLst>
                    <a:ext uri="{FF2B5EF4-FFF2-40B4-BE49-F238E27FC236}">
                      <a16:creationId xmlns:a16="http://schemas.microsoft.com/office/drawing/2014/main" id="{7C1F5074-D929-8644-AC72-7A6825FC40D3}"/>
                    </a:ext>
                  </a:extLst>
                </p:cNvPr>
                <p:cNvSpPr/>
                <p:nvPr/>
              </p:nvSpPr>
              <p:spPr>
                <a:xfrm>
                  <a:off x="10855436" y="6117241"/>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S</a:t>
                  </a:r>
                </a:p>
              </p:txBody>
            </p:sp>
            <p:sp>
              <p:nvSpPr>
                <p:cNvPr id="70" name="Oval 69">
                  <a:extLst>
                    <a:ext uri="{FF2B5EF4-FFF2-40B4-BE49-F238E27FC236}">
                      <a16:creationId xmlns:a16="http://schemas.microsoft.com/office/drawing/2014/main" id="{573465CE-909B-0041-8D72-CE5A5DC561DD}"/>
                    </a:ext>
                  </a:extLst>
                </p:cNvPr>
                <p:cNvSpPr/>
                <p:nvPr/>
              </p:nvSpPr>
              <p:spPr>
                <a:xfrm>
                  <a:off x="9847867" y="4559108"/>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E</a:t>
                  </a:r>
                </a:p>
              </p:txBody>
            </p:sp>
            <p:sp>
              <p:nvSpPr>
                <p:cNvPr id="71" name="Oval 70">
                  <a:extLst>
                    <a:ext uri="{FF2B5EF4-FFF2-40B4-BE49-F238E27FC236}">
                      <a16:creationId xmlns:a16="http://schemas.microsoft.com/office/drawing/2014/main" id="{879570DE-0E68-B84D-A3DE-13F513652380}"/>
                    </a:ext>
                  </a:extLst>
                </p:cNvPr>
                <p:cNvSpPr/>
                <p:nvPr/>
              </p:nvSpPr>
              <p:spPr>
                <a:xfrm>
                  <a:off x="9543067" y="3989150"/>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C</a:t>
                  </a:r>
                </a:p>
              </p:txBody>
            </p:sp>
            <p:sp>
              <p:nvSpPr>
                <p:cNvPr id="72" name="Oval 71">
                  <a:extLst>
                    <a:ext uri="{FF2B5EF4-FFF2-40B4-BE49-F238E27FC236}">
                      <a16:creationId xmlns:a16="http://schemas.microsoft.com/office/drawing/2014/main" id="{E069F1D0-EC0A-2641-81FE-9F55390EA61D}"/>
                    </a:ext>
                  </a:extLst>
                </p:cNvPr>
                <p:cNvSpPr/>
                <p:nvPr/>
              </p:nvSpPr>
              <p:spPr>
                <a:xfrm>
                  <a:off x="9222501" y="3429000"/>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A</a:t>
                  </a:r>
                </a:p>
              </p:txBody>
            </p:sp>
            <p:sp>
              <p:nvSpPr>
                <p:cNvPr id="73" name="Oval 72">
                  <a:extLst>
                    <a:ext uri="{FF2B5EF4-FFF2-40B4-BE49-F238E27FC236}">
                      <a16:creationId xmlns:a16="http://schemas.microsoft.com/office/drawing/2014/main" id="{F04FD007-2C07-5F41-B974-A0BC9BD2D323}"/>
                    </a:ext>
                  </a:extLst>
                </p:cNvPr>
                <p:cNvSpPr/>
                <p:nvPr/>
              </p:nvSpPr>
              <p:spPr>
                <a:xfrm>
                  <a:off x="10507219" y="5619993"/>
                  <a:ext cx="320566" cy="346842"/>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Arial" panose="020B0604020202020204" pitchFamily="34" charset="0"/>
                      <a:cs typeface="Arial" panose="020B0604020202020204" pitchFamily="34" charset="0"/>
                    </a:rPr>
                    <a:t>R</a:t>
                  </a:r>
                </a:p>
              </p:txBody>
            </p:sp>
            <p:cxnSp>
              <p:nvCxnSpPr>
                <p:cNvPr id="77" name="Straight Connector 76">
                  <a:extLst>
                    <a:ext uri="{FF2B5EF4-FFF2-40B4-BE49-F238E27FC236}">
                      <a16:creationId xmlns:a16="http://schemas.microsoft.com/office/drawing/2014/main" id="{9B6D7248-0FAD-D74E-B61E-E96E87FACB16}"/>
                    </a:ext>
                  </a:extLst>
                </p:cNvPr>
                <p:cNvCxnSpPr>
                  <a:cxnSpLocks/>
                  <a:stCxn id="72" idx="5"/>
                  <a:endCxn id="71" idx="1"/>
                </p:cNvCxnSpPr>
                <p:nvPr/>
              </p:nvCxnSpPr>
              <p:spPr>
                <a:xfrm>
                  <a:off x="9496121" y="3725048"/>
                  <a:ext cx="93892" cy="3148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51A845B-E19D-B341-8FC6-6EA5801B60CE}"/>
                    </a:ext>
                  </a:extLst>
                </p:cNvPr>
                <p:cNvCxnSpPr>
                  <a:cxnSpLocks/>
                </p:cNvCxnSpPr>
                <p:nvPr/>
              </p:nvCxnSpPr>
              <p:spPr>
                <a:xfrm>
                  <a:off x="9823462" y="4270202"/>
                  <a:ext cx="93892" cy="3148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6554D60-18B2-B848-A402-2623DB99F89B}"/>
                    </a:ext>
                  </a:extLst>
                </p:cNvPr>
                <p:cNvCxnSpPr>
                  <a:cxnSpLocks/>
                </p:cNvCxnSpPr>
                <p:nvPr/>
              </p:nvCxnSpPr>
              <p:spPr>
                <a:xfrm>
                  <a:off x="10100893" y="4850774"/>
                  <a:ext cx="93892" cy="3148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7C7FBDBA-BC83-DB4E-9C31-1A885F48F776}"/>
                    </a:ext>
                  </a:extLst>
                </p:cNvPr>
                <p:cNvCxnSpPr>
                  <a:cxnSpLocks/>
                </p:cNvCxnSpPr>
                <p:nvPr/>
              </p:nvCxnSpPr>
              <p:spPr>
                <a:xfrm>
                  <a:off x="10423933" y="5397335"/>
                  <a:ext cx="93892" cy="3148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2F97B4B-89F3-D34E-B3F5-89B04031EBE6}"/>
                    </a:ext>
                  </a:extLst>
                </p:cNvPr>
                <p:cNvCxnSpPr>
                  <a:cxnSpLocks/>
                </p:cNvCxnSpPr>
                <p:nvPr/>
              </p:nvCxnSpPr>
              <p:spPr>
                <a:xfrm>
                  <a:off x="10796265" y="5884590"/>
                  <a:ext cx="93892" cy="3148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941A94BB-8D5F-314C-BE9B-5B8493FD2C1E}"/>
                    </a:ext>
                  </a:extLst>
                </p:cNvPr>
                <p:cNvCxnSpPr>
                  <a:cxnSpLocks/>
                </p:cNvCxnSpPr>
                <p:nvPr/>
              </p:nvCxnSpPr>
              <p:spPr>
                <a:xfrm flipH="1">
                  <a:off x="9175555" y="3698539"/>
                  <a:ext cx="92756" cy="34140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C5D77BED-EA03-B04A-9331-B1D8F9D83121}"/>
                    </a:ext>
                  </a:extLst>
                </p:cNvPr>
                <p:cNvCxnSpPr>
                  <a:cxnSpLocks/>
                </p:cNvCxnSpPr>
                <p:nvPr/>
              </p:nvCxnSpPr>
              <p:spPr>
                <a:xfrm flipH="1">
                  <a:off x="9452659" y="4202412"/>
                  <a:ext cx="92756" cy="34140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9DC77F0A-1FDF-6046-8A67-67C79876E4E3}"/>
                    </a:ext>
                  </a:extLst>
                </p:cNvPr>
                <p:cNvCxnSpPr>
                  <a:cxnSpLocks/>
                </p:cNvCxnSpPr>
                <p:nvPr/>
              </p:nvCxnSpPr>
              <p:spPr>
                <a:xfrm flipH="1">
                  <a:off x="9791162" y="4844433"/>
                  <a:ext cx="92756" cy="34140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B8C7F348-EE10-3040-BF7B-EE2FE5A18294}"/>
                    </a:ext>
                  </a:extLst>
                </p:cNvPr>
                <p:cNvCxnSpPr>
                  <a:cxnSpLocks/>
                </p:cNvCxnSpPr>
                <p:nvPr/>
              </p:nvCxnSpPr>
              <p:spPr>
                <a:xfrm flipH="1">
                  <a:off x="10084870" y="5341777"/>
                  <a:ext cx="92756" cy="34140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63971F1B-0A80-C34A-A09C-EAFD5A027C2D}"/>
                    </a:ext>
                  </a:extLst>
                </p:cNvPr>
                <p:cNvCxnSpPr>
                  <a:cxnSpLocks/>
                </p:cNvCxnSpPr>
                <p:nvPr/>
              </p:nvCxnSpPr>
              <p:spPr>
                <a:xfrm flipH="1">
                  <a:off x="10408735" y="5826026"/>
                  <a:ext cx="92756" cy="34140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cxnSp>
            <p:nvCxnSpPr>
              <p:cNvPr id="92" name="Straight Connector 91">
                <a:extLst>
                  <a:ext uri="{FF2B5EF4-FFF2-40B4-BE49-F238E27FC236}">
                    <a16:creationId xmlns:a16="http://schemas.microsoft.com/office/drawing/2014/main" id="{426EE4EF-3DED-8044-906F-6C9906FD79D9}"/>
                  </a:ext>
                </a:extLst>
              </p:cNvPr>
              <p:cNvCxnSpPr>
                <a:cxnSpLocks/>
              </p:cNvCxnSpPr>
              <p:nvPr/>
            </p:nvCxnSpPr>
            <p:spPr>
              <a:xfrm flipH="1">
                <a:off x="10581355" y="5914832"/>
                <a:ext cx="92756" cy="34140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CE5CBE70-BBED-394D-9FDD-88A19402E09A}"/>
                  </a:ext>
                </a:extLst>
              </p:cNvPr>
              <p:cNvCxnSpPr>
                <a:cxnSpLocks/>
              </p:cNvCxnSpPr>
              <p:nvPr/>
            </p:nvCxnSpPr>
            <p:spPr>
              <a:xfrm flipH="1">
                <a:off x="10839849" y="6503605"/>
                <a:ext cx="92756" cy="341405"/>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675E69B2-4D24-4148-828C-0531DB8F2348}"/>
                  </a:ext>
                </a:extLst>
              </p:cNvPr>
              <p:cNvCxnSpPr>
                <a:cxnSpLocks/>
              </p:cNvCxnSpPr>
              <p:nvPr/>
            </p:nvCxnSpPr>
            <p:spPr>
              <a:xfrm>
                <a:off x="11184553" y="6490458"/>
                <a:ext cx="93892" cy="314896"/>
              </a:xfrm>
              <a:prstGeom prst="line">
                <a:avLst/>
              </a:prstGeom>
              <a:ln w="28575">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62068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52280-947B-B54D-BD85-25446873A648}"/>
              </a:ext>
            </a:extLst>
          </p:cNvPr>
          <p:cNvSpPr>
            <a:spLocks noGrp="1"/>
          </p:cNvSpPr>
          <p:nvPr>
            <p:ph type="title"/>
          </p:nvPr>
        </p:nvSpPr>
        <p:spPr/>
        <p:txBody>
          <a:bodyPr/>
          <a:lstStyle/>
          <a:p>
            <a:r>
              <a:rPr lang="en-US" dirty="0"/>
              <a:t>CONTENT – recap </a:t>
            </a:r>
          </a:p>
        </p:txBody>
      </p:sp>
      <p:sp>
        <p:nvSpPr>
          <p:cNvPr id="3" name="Content Placeholder 2">
            <a:extLst>
              <a:ext uri="{FF2B5EF4-FFF2-40B4-BE49-F238E27FC236}">
                <a16:creationId xmlns:a16="http://schemas.microsoft.com/office/drawing/2014/main" id="{5697283B-D74E-0649-A65D-235B6239F0F5}"/>
              </a:ext>
            </a:extLst>
          </p:cNvPr>
          <p:cNvSpPr>
            <a:spLocks noGrp="1"/>
          </p:cNvSpPr>
          <p:nvPr>
            <p:ph idx="1"/>
          </p:nvPr>
        </p:nvSpPr>
        <p:spPr>
          <a:xfrm>
            <a:off x="197707" y="1544596"/>
            <a:ext cx="11479427" cy="5313404"/>
          </a:xfrm>
        </p:spPr>
        <p:txBody>
          <a:bodyPr/>
          <a:lstStyle/>
          <a:p>
            <a:pPr marL="514350" indent="-514350">
              <a:buFont typeface="+mj-lt"/>
              <a:buAutoNum type="arabicPeriod"/>
            </a:pPr>
            <a:r>
              <a:rPr lang="en-US" dirty="0"/>
              <a:t>Symbol Table </a:t>
            </a:r>
          </a:p>
          <a:p>
            <a:pPr marL="514350" indent="-514350">
              <a:buFont typeface="+mj-lt"/>
              <a:buAutoNum type="arabicPeriod"/>
            </a:pPr>
            <a:r>
              <a:rPr lang="en-US" dirty="0">
                <a:highlight>
                  <a:srgbClr val="C0C0C0"/>
                </a:highlight>
              </a:rPr>
              <a:t>Binary Search Tree</a:t>
            </a:r>
          </a:p>
          <a:p>
            <a:pPr marL="514350" indent="-514350">
              <a:buFont typeface="+mj-lt"/>
              <a:buAutoNum type="arabicPeriod"/>
            </a:pPr>
            <a:endParaRPr lang="en-US" dirty="0">
              <a:highlight>
                <a:srgbClr val="C0C0C0"/>
              </a:highlight>
            </a:endParaRPr>
          </a:p>
          <a:p>
            <a:pPr marL="0" indent="0">
              <a:buNone/>
            </a:pPr>
            <a:endParaRPr lang="en-US" dirty="0">
              <a:highlight>
                <a:srgbClr val="C0C0C0"/>
              </a:highlight>
            </a:endParaRPr>
          </a:p>
          <a:p>
            <a:pPr marL="0" indent="0">
              <a:buNone/>
            </a:pPr>
            <a:endParaRPr lang="en-US" dirty="0">
              <a:highlight>
                <a:srgbClr val="C0C0C0"/>
              </a:highlight>
            </a:endParaRPr>
          </a:p>
          <a:p>
            <a:pPr marL="0" indent="0">
              <a:buNone/>
            </a:pPr>
            <a:endParaRPr lang="en-US" dirty="0">
              <a:highlight>
                <a:srgbClr val="C0C0C0"/>
              </a:highlight>
            </a:endParaRPr>
          </a:p>
          <a:p>
            <a:pPr marL="0" indent="0">
              <a:buNone/>
            </a:pPr>
            <a:endParaRPr lang="en-US" dirty="0">
              <a:highlight>
                <a:srgbClr val="C0C0C0"/>
              </a:highlight>
            </a:endParaRPr>
          </a:p>
          <a:p>
            <a:pPr marL="0" indent="0">
              <a:buNone/>
            </a:pPr>
            <a:endParaRPr lang="en-US" dirty="0">
              <a:highlight>
                <a:srgbClr val="C0C0C0"/>
              </a:highlight>
            </a:endParaRPr>
          </a:p>
          <a:p>
            <a:pPr marL="514350" indent="-514350">
              <a:buFont typeface="+mj-lt"/>
              <a:buAutoNum type="arabicPeriod" startAt="3"/>
            </a:pPr>
            <a:r>
              <a:rPr lang="en-US" dirty="0"/>
              <a:t>Balanced Search Tree</a:t>
            </a:r>
          </a:p>
          <a:p>
            <a:pPr marL="514350" indent="-514350">
              <a:buFont typeface="+mj-lt"/>
              <a:buAutoNum type="arabicPeriod" startAt="3"/>
            </a:pPr>
            <a:r>
              <a:rPr lang="en-US" dirty="0"/>
              <a:t>Hash Table</a:t>
            </a:r>
          </a:p>
        </p:txBody>
      </p:sp>
      <p:graphicFrame>
        <p:nvGraphicFramePr>
          <p:cNvPr id="4" name="Table 3">
            <a:extLst>
              <a:ext uri="{FF2B5EF4-FFF2-40B4-BE49-F238E27FC236}">
                <a16:creationId xmlns:a16="http://schemas.microsoft.com/office/drawing/2014/main" id="{737F3970-2F7C-224F-9DC7-A30C0636B7DE}"/>
              </a:ext>
            </a:extLst>
          </p:cNvPr>
          <p:cNvGraphicFramePr>
            <a:graphicFrameLocks noGrp="1"/>
          </p:cNvGraphicFramePr>
          <p:nvPr>
            <p:extLst>
              <p:ext uri="{D42A27DB-BD31-4B8C-83A1-F6EECF244321}">
                <p14:modId xmlns:p14="http://schemas.microsoft.com/office/powerpoint/2010/main" val="286442048"/>
              </p:ext>
            </p:extLst>
          </p:nvPr>
        </p:nvGraphicFramePr>
        <p:xfrm>
          <a:off x="824115" y="2816483"/>
          <a:ext cx="10543770" cy="2392680"/>
        </p:xfrm>
        <a:graphic>
          <a:graphicData uri="http://schemas.openxmlformats.org/drawingml/2006/table">
            <a:tbl>
              <a:tblPr firstRow="1" bandRow="1">
                <a:tableStyleId>{5C22544A-7EE6-4342-B048-85BDC9FD1C3A}</a:tableStyleId>
              </a:tblPr>
              <a:tblGrid>
                <a:gridCol w="2108754">
                  <a:extLst>
                    <a:ext uri="{9D8B030D-6E8A-4147-A177-3AD203B41FA5}">
                      <a16:colId xmlns:a16="http://schemas.microsoft.com/office/drawing/2014/main" val="3837284985"/>
                    </a:ext>
                  </a:extLst>
                </a:gridCol>
                <a:gridCol w="2108754">
                  <a:extLst>
                    <a:ext uri="{9D8B030D-6E8A-4147-A177-3AD203B41FA5}">
                      <a16:colId xmlns:a16="http://schemas.microsoft.com/office/drawing/2014/main" val="3488044769"/>
                    </a:ext>
                  </a:extLst>
                </a:gridCol>
                <a:gridCol w="2108754">
                  <a:extLst>
                    <a:ext uri="{9D8B030D-6E8A-4147-A177-3AD203B41FA5}">
                      <a16:colId xmlns:a16="http://schemas.microsoft.com/office/drawing/2014/main" val="927896190"/>
                    </a:ext>
                  </a:extLst>
                </a:gridCol>
                <a:gridCol w="2108754">
                  <a:extLst>
                    <a:ext uri="{9D8B030D-6E8A-4147-A177-3AD203B41FA5}">
                      <a16:colId xmlns:a16="http://schemas.microsoft.com/office/drawing/2014/main" val="1561951519"/>
                    </a:ext>
                  </a:extLst>
                </a:gridCol>
                <a:gridCol w="2108754">
                  <a:extLst>
                    <a:ext uri="{9D8B030D-6E8A-4147-A177-3AD203B41FA5}">
                      <a16:colId xmlns:a16="http://schemas.microsoft.com/office/drawing/2014/main" val="2253204784"/>
                    </a:ext>
                  </a:extLst>
                </a:gridCol>
              </a:tblGrid>
              <a:tr h="370840">
                <a:tc rowSpan="2">
                  <a:txBody>
                    <a:bodyPr/>
                    <a:lstStyle/>
                    <a:p>
                      <a:endParaRPr lang="en-US" b="0" dirty="0">
                        <a:solidFill>
                          <a:schemeClr val="tx1"/>
                        </a:solidFill>
                        <a:latin typeface="Arial" panose="020B0604020202020204" pitchFamily="34" charset="0"/>
                        <a:cs typeface="Arial" panose="020B0604020202020204" pitchFamily="34" charset="0"/>
                      </a:endParaRP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b="0" dirty="0">
                          <a:solidFill>
                            <a:schemeClr val="tx1"/>
                          </a:solidFill>
                          <a:latin typeface="Arial" panose="020B0604020202020204" pitchFamily="34" charset="0"/>
                          <a:cs typeface="Arial" panose="020B0604020202020204" pitchFamily="34" charset="0"/>
                        </a:rPr>
                        <a:t>Worst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hMerge="1">
                  <a:txBody>
                    <a:bodyPr/>
                    <a:lstStyle/>
                    <a:p>
                      <a:endParaRPr lang="en-US" dirty="0"/>
                    </a:p>
                  </a:txBody>
                  <a:tcPr/>
                </a:tc>
                <a:tc gridSpan="2">
                  <a:txBody>
                    <a:bodyPr/>
                    <a:lstStyle/>
                    <a:p>
                      <a:pPr algn="ctr"/>
                      <a:r>
                        <a:rPr lang="en-US" b="0" dirty="0">
                          <a:solidFill>
                            <a:schemeClr val="tx1"/>
                          </a:solidFill>
                          <a:latin typeface="Arial" panose="020B0604020202020204" pitchFamily="34" charset="0"/>
                          <a:cs typeface="Arial" panose="020B0604020202020204" pitchFamily="34" charset="0"/>
                        </a:rPr>
                        <a:t>Average case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hMerge="1">
                  <a:txBody>
                    <a:bodyPr/>
                    <a:lstStyle/>
                    <a:p>
                      <a:endParaRPr lang="en-US" dirty="0"/>
                    </a:p>
                  </a:txBody>
                  <a:tcPr/>
                </a:tc>
                <a:extLst>
                  <a:ext uri="{0D108BD9-81ED-4DB2-BD59-A6C34878D82A}">
                    <a16:rowId xmlns:a16="http://schemas.microsoft.com/office/drawing/2014/main" val="45617167"/>
                  </a:ext>
                </a:extLst>
              </a:tr>
              <a:tr h="370840">
                <a:tc vMerge="1">
                  <a:txBody>
                    <a:bodyPr/>
                    <a:lstStyle/>
                    <a:p>
                      <a:endParaRPr lang="en-US" b="0" dirty="0">
                        <a:solidFill>
                          <a:schemeClr val="tx1"/>
                        </a:solidFill>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latin typeface="Arial" panose="020B0604020202020204" pitchFamily="34" charset="0"/>
                          <a:cs typeface="Arial" panose="020B0604020202020204" pitchFamily="34" charset="0"/>
                        </a:rPr>
                        <a:t>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a:r>
                        <a:rPr lang="en-US" b="0" dirty="0">
                          <a:solidFill>
                            <a:schemeClr val="tx1"/>
                          </a:solidFill>
                          <a:latin typeface="Arial" panose="020B0604020202020204" pitchFamily="34" charset="0"/>
                          <a:cs typeface="Arial" panose="020B0604020202020204" pitchFamily="34" charset="0"/>
                        </a:rPr>
                        <a:t>Insert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a:r>
                        <a:rPr lang="en-US" b="0" dirty="0">
                          <a:solidFill>
                            <a:schemeClr val="tx1"/>
                          </a:solidFill>
                          <a:latin typeface="Arial" panose="020B0604020202020204" pitchFamily="34" charset="0"/>
                          <a:cs typeface="Arial" panose="020B0604020202020204" pitchFamily="34" charset="0"/>
                        </a:rPr>
                        <a:t>Search (hit)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tc>
                  <a:txBody>
                    <a:bodyPr/>
                    <a:lstStyle/>
                    <a:p>
                      <a:pPr algn="ctr"/>
                      <a:r>
                        <a:rPr lang="en-US" b="0" dirty="0">
                          <a:solidFill>
                            <a:schemeClr val="tx1"/>
                          </a:solidFill>
                          <a:latin typeface="Arial" panose="020B0604020202020204" pitchFamily="34" charset="0"/>
                          <a:cs typeface="Arial" panose="020B0604020202020204" pitchFamily="34" charset="0"/>
                        </a:rPr>
                        <a:t>Insert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alpha val="50000"/>
                      </a:schemeClr>
                    </a:solidFill>
                  </a:tcPr>
                </a:tc>
                <a:extLst>
                  <a:ext uri="{0D108BD9-81ED-4DB2-BD59-A6C34878D82A}">
                    <a16:rowId xmlns:a16="http://schemas.microsoft.com/office/drawing/2014/main" val="605292001"/>
                  </a:ext>
                </a:extLst>
              </a:tr>
              <a:tr h="370840">
                <a:tc>
                  <a:txBody>
                    <a:bodyPr/>
                    <a:lstStyle/>
                    <a:p>
                      <a:r>
                        <a:rPr lang="en-US" b="0" dirty="0">
                          <a:solidFill>
                            <a:schemeClr val="tx1"/>
                          </a:solidFill>
                          <a:latin typeface="Arial" panose="020B0604020202020204" pitchFamily="34" charset="0"/>
                          <a:cs typeface="Arial" panose="020B0604020202020204" pitchFamily="34" charset="0"/>
                        </a:rPr>
                        <a:t>Sequential search (unordered list)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latin typeface="Arial" panose="020B0604020202020204" pitchFamily="34" charset="0"/>
                          <a:cs typeface="Arial" panose="020B0604020202020204" pitchFamily="34"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latin typeface="Arial" panose="020B0604020202020204" pitchFamily="34" charset="0"/>
                          <a:cs typeface="Arial" panose="020B0604020202020204" pitchFamily="34"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latin typeface="Arial" panose="020B0604020202020204" pitchFamily="34" charset="0"/>
                          <a:cs typeface="Arial" panose="020B0604020202020204" pitchFamily="34" charset="0"/>
                        </a:rPr>
                        <a:t>N/2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latin typeface="Arial" panose="020B0604020202020204" pitchFamily="34" charset="0"/>
                          <a:cs typeface="Arial" panose="020B0604020202020204" pitchFamily="34"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50481123"/>
                  </a:ext>
                </a:extLst>
              </a:tr>
              <a:tr h="370840">
                <a:tc>
                  <a:txBody>
                    <a:bodyPr/>
                    <a:lstStyle/>
                    <a:p>
                      <a:r>
                        <a:rPr lang="en-US" b="0" dirty="0">
                          <a:solidFill>
                            <a:schemeClr val="tx1"/>
                          </a:solidFill>
                          <a:latin typeface="Arial" panose="020B0604020202020204" pitchFamily="34" charset="0"/>
                          <a:cs typeface="Arial" panose="020B0604020202020204" pitchFamily="34" charset="0"/>
                        </a:rPr>
                        <a:t>Binary Search (ordered array)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latin typeface="Arial" panose="020B0604020202020204" pitchFamily="34" charset="0"/>
                          <a:cs typeface="Arial" panose="020B0604020202020204" pitchFamily="34" charset="0"/>
                        </a:rPr>
                        <a:t>lg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latin typeface="Arial" panose="020B0604020202020204" pitchFamily="34" charset="0"/>
                          <a:cs typeface="Arial" panose="020B0604020202020204" pitchFamily="34"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latin typeface="Arial" panose="020B0604020202020204" pitchFamily="34" charset="0"/>
                          <a:cs typeface="Arial" panose="020B0604020202020204" pitchFamily="34" charset="0"/>
                        </a:rPr>
                        <a:t>lg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b="0" dirty="0">
                          <a:solidFill>
                            <a:schemeClr val="tx1"/>
                          </a:solidFill>
                          <a:latin typeface="Arial" panose="020B0604020202020204" pitchFamily="34" charset="0"/>
                          <a:cs typeface="Arial" panose="020B0604020202020204" pitchFamily="34" charset="0"/>
                        </a:rPr>
                        <a:t>N/2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79000670"/>
                  </a:ext>
                </a:extLst>
              </a:tr>
              <a:tr h="370840">
                <a:tc>
                  <a:txBody>
                    <a:bodyPr/>
                    <a:lstStyle/>
                    <a:p>
                      <a:r>
                        <a:rPr lang="en-US" b="0" dirty="0">
                          <a:solidFill>
                            <a:schemeClr val="tx1"/>
                          </a:solidFill>
                          <a:latin typeface="Arial" panose="020B0604020202020204" pitchFamily="34" charset="0"/>
                          <a:cs typeface="Arial" panose="020B0604020202020204" pitchFamily="34" charset="0"/>
                        </a:rPr>
                        <a:t>BST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alpha val="50000"/>
                      </a:schemeClr>
                    </a:solidFill>
                  </a:tcPr>
                </a:tc>
                <a:tc>
                  <a:txBody>
                    <a:bodyPr/>
                    <a:lstStyle/>
                    <a:p>
                      <a:pPr algn="ctr"/>
                      <a:r>
                        <a:rPr lang="en-US" b="0" dirty="0">
                          <a:solidFill>
                            <a:schemeClr val="tx1"/>
                          </a:solidFill>
                          <a:latin typeface="Arial" panose="020B0604020202020204" pitchFamily="34" charset="0"/>
                          <a:cs typeface="Arial" panose="020B0604020202020204" pitchFamily="34"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alpha val="50000"/>
                      </a:schemeClr>
                    </a:solidFill>
                  </a:tcPr>
                </a:tc>
                <a:tc>
                  <a:txBody>
                    <a:bodyPr/>
                    <a:lstStyle/>
                    <a:p>
                      <a:pPr algn="ctr"/>
                      <a:r>
                        <a:rPr lang="en-US" b="0" dirty="0">
                          <a:solidFill>
                            <a:schemeClr val="tx1"/>
                          </a:solidFill>
                          <a:latin typeface="Arial" panose="020B0604020202020204" pitchFamily="34" charset="0"/>
                          <a:cs typeface="Arial" panose="020B0604020202020204" pitchFamily="34" charset="0"/>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alpha val="50000"/>
                      </a:schemeClr>
                    </a:solidFill>
                  </a:tcPr>
                </a:tc>
                <a:tc>
                  <a:txBody>
                    <a:bodyPr/>
                    <a:lstStyle/>
                    <a:p>
                      <a:pPr algn="ctr"/>
                      <a:r>
                        <a:rPr lang="en-US" b="0" i="1" dirty="0">
                          <a:solidFill>
                            <a:schemeClr val="tx1"/>
                          </a:solidFill>
                          <a:latin typeface="Arial" panose="020B0604020202020204" pitchFamily="34" charset="0"/>
                          <a:cs typeface="Arial" panose="020B0604020202020204" pitchFamily="34" charset="0"/>
                        </a:rPr>
                        <a:t>c</a:t>
                      </a:r>
                      <a:r>
                        <a:rPr lang="en-US" b="0" dirty="0">
                          <a:solidFill>
                            <a:schemeClr val="tx1"/>
                          </a:solidFill>
                          <a:latin typeface="Arial" panose="020B0604020202020204" pitchFamily="34" charset="0"/>
                          <a:cs typeface="Arial" panose="020B0604020202020204" pitchFamily="34" charset="0"/>
                        </a:rPr>
                        <a:t> lg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alpha val="50000"/>
                      </a:schemeClr>
                    </a:solidFill>
                  </a:tcPr>
                </a:tc>
                <a:tc>
                  <a:txBody>
                    <a:bodyPr/>
                    <a:lstStyle/>
                    <a:p>
                      <a:pPr algn="ctr"/>
                      <a:r>
                        <a:rPr lang="en-US" b="0" i="1" dirty="0">
                          <a:solidFill>
                            <a:schemeClr val="tx1"/>
                          </a:solidFill>
                          <a:latin typeface="Arial" panose="020B0604020202020204" pitchFamily="34" charset="0"/>
                          <a:cs typeface="Arial" panose="020B0604020202020204" pitchFamily="34" charset="0"/>
                        </a:rPr>
                        <a:t>c</a:t>
                      </a:r>
                      <a:r>
                        <a:rPr lang="en-US" b="0" dirty="0">
                          <a:solidFill>
                            <a:schemeClr val="tx1"/>
                          </a:solidFill>
                          <a:latin typeface="Arial" panose="020B0604020202020204" pitchFamily="34" charset="0"/>
                          <a:cs typeface="Arial" panose="020B0604020202020204" pitchFamily="34" charset="0"/>
                        </a:rPr>
                        <a:t> lg 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alpha val="50000"/>
                      </a:schemeClr>
                    </a:solidFill>
                  </a:tcPr>
                </a:tc>
                <a:extLst>
                  <a:ext uri="{0D108BD9-81ED-4DB2-BD59-A6C34878D82A}">
                    <a16:rowId xmlns:a16="http://schemas.microsoft.com/office/drawing/2014/main" val="4105472761"/>
                  </a:ext>
                </a:extLst>
              </a:tr>
            </a:tbl>
          </a:graphicData>
        </a:graphic>
      </p:graphicFrame>
    </p:spTree>
    <p:extLst>
      <p:ext uri="{BB962C8B-B14F-4D97-AF65-F5344CB8AC3E}">
        <p14:creationId xmlns:p14="http://schemas.microsoft.com/office/powerpoint/2010/main" val="17891409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Custom Design">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3311</TotalTime>
  <Words>3294</Words>
  <Application>Microsoft Macintosh PowerPoint</Application>
  <PresentationFormat>Widescreen</PresentationFormat>
  <Paragraphs>697</Paragraphs>
  <Slides>36</Slides>
  <Notes>36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36</vt:i4>
      </vt:variant>
    </vt:vector>
  </HeadingPairs>
  <TitlesOfParts>
    <vt:vector size="43" baseType="lpstr">
      <vt:lpstr>Arial</vt:lpstr>
      <vt:lpstr>Calibri</vt:lpstr>
      <vt:lpstr>Courier</vt:lpstr>
      <vt:lpstr>Courier New</vt:lpstr>
      <vt:lpstr>Wingdings</vt:lpstr>
      <vt:lpstr>Office Theme</vt:lpstr>
      <vt:lpstr>4_Custom Design</vt:lpstr>
      <vt:lpstr>COMP0005 – ALGORITHMS   3.2 Binary Search Tree</vt:lpstr>
      <vt:lpstr>CONTENT</vt:lpstr>
      <vt:lpstr>Binary search Tree ADT</vt:lpstr>
      <vt:lpstr>Binary search Tree ADT</vt:lpstr>
      <vt:lpstr>Binary search Tree ADT</vt:lpstr>
      <vt:lpstr>Binary search Tree ADT</vt:lpstr>
      <vt:lpstr>BST IMPLEMENTATION</vt:lpstr>
      <vt:lpstr>BST IMPLEMENTATION</vt:lpstr>
      <vt:lpstr>BST IMPLEMENTATION – GET(search)</vt:lpstr>
      <vt:lpstr>BST IMPLEMENTATION – GET(search)</vt:lpstr>
      <vt:lpstr>BST IMPLEMENTATION – GET(search)</vt:lpstr>
      <vt:lpstr>BST IMPLEMENTATION – GET(search)</vt:lpstr>
      <vt:lpstr>BST IMPLEMENTATION – GET(search)</vt:lpstr>
      <vt:lpstr>BST IMPLEMENTATION – GET(search)</vt:lpstr>
      <vt:lpstr>BST IMPLEMENTATION – GET(search)</vt:lpstr>
      <vt:lpstr>BST IMPLEMENTATION – GET(search)</vt:lpstr>
      <vt:lpstr>BST IMPLEMENTATION – GET(search)</vt:lpstr>
      <vt:lpstr>BST IMPLEMENTATION – GET(search)</vt:lpstr>
      <vt:lpstr>BST IMPLEMENTATION – GET(search)</vt:lpstr>
      <vt:lpstr>BST IMPLEMENTATION – PUT(insert)</vt:lpstr>
      <vt:lpstr>BST IMPLEMENTATION – PUT(insert)</vt:lpstr>
      <vt:lpstr>BST IMPLEMENTATION – PUT(insert)</vt:lpstr>
      <vt:lpstr>BST IMPLEMENTATION – PUT(insert)</vt:lpstr>
      <vt:lpstr>BST IMPLEMENTATION – PUT(insert)</vt:lpstr>
      <vt:lpstr>BST IMPLEMENTATION – PUT(insert)</vt:lpstr>
      <vt:lpstr>BST IMPLEMENTATION – PUT(insert)</vt:lpstr>
      <vt:lpstr>BST IMPLEMENTATION – PUT(insert)</vt:lpstr>
      <vt:lpstr>BST IMPLEMENTATION – PUT(insert)</vt:lpstr>
      <vt:lpstr>BST IMPLEMENTATION – PUT(insert)</vt:lpstr>
      <vt:lpstr>BST IMPLEMENTATION – PUT(insert)</vt:lpstr>
      <vt:lpstr>BST pseudocode</vt:lpstr>
      <vt:lpstr>BST pseudocode</vt:lpstr>
      <vt:lpstr>BST pseudocode</vt:lpstr>
      <vt:lpstr>BST pseudocode</vt:lpstr>
      <vt:lpstr>BST ANALYSIS</vt:lpstr>
      <vt:lpstr>CONTENT – recap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Capra, Licia</dc:creator>
  <cp:lastModifiedBy>Capra, Licia</cp:lastModifiedBy>
  <cp:revision>69</cp:revision>
  <dcterms:created xsi:type="dcterms:W3CDTF">2020-06-23T14:37:29Z</dcterms:created>
  <dcterms:modified xsi:type="dcterms:W3CDTF">2020-11-06T10:22:35Z</dcterms:modified>
</cp:coreProperties>
</file>