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44"/>
  </p:notesMasterIdLst>
  <p:sldIdLst>
    <p:sldId id="266" r:id="rId3"/>
    <p:sldId id="306" r:id="rId4"/>
    <p:sldId id="305" r:id="rId5"/>
    <p:sldId id="304" r:id="rId6"/>
    <p:sldId id="313" r:id="rId7"/>
    <p:sldId id="307" r:id="rId8"/>
    <p:sldId id="314" r:id="rId9"/>
    <p:sldId id="315" r:id="rId10"/>
    <p:sldId id="308" r:id="rId11"/>
    <p:sldId id="309" r:id="rId12"/>
    <p:sldId id="316" r:id="rId13"/>
    <p:sldId id="317" r:id="rId14"/>
    <p:sldId id="318" r:id="rId15"/>
    <p:sldId id="319" r:id="rId16"/>
    <p:sldId id="320" r:id="rId17"/>
    <p:sldId id="321" r:id="rId18"/>
    <p:sldId id="325" r:id="rId19"/>
    <p:sldId id="322" r:id="rId20"/>
    <p:sldId id="324" r:id="rId21"/>
    <p:sldId id="323" r:id="rId22"/>
    <p:sldId id="328" r:id="rId23"/>
    <p:sldId id="326" r:id="rId24"/>
    <p:sldId id="329" r:id="rId25"/>
    <p:sldId id="333" r:id="rId26"/>
    <p:sldId id="334" r:id="rId27"/>
    <p:sldId id="335" r:id="rId28"/>
    <p:sldId id="336" r:id="rId29"/>
    <p:sldId id="337" r:id="rId30"/>
    <p:sldId id="338" r:id="rId31"/>
    <p:sldId id="339" r:id="rId32"/>
    <p:sldId id="332" r:id="rId33"/>
    <p:sldId id="340" r:id="rId34"/>
    <p:sldId id="330" r:id="rId35"/>
    <p:sldId id="342" r:id="rId36"/>
    <p:sldId id="341" r:id="rId37"/>
    <p:sldId id="343" r:id="rId38"/>
    <p:sldId id="344" r:id="rId39"/>
    <p:sldId id="345" r:id="rId40"/>
    <p:sldId id="331" r:id="rId41"/>
    <p:sldId id="346" r:id="rId42"/>
    <p:sldId id="391"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828"/>
    <p:restoredTop sz="56871"/>
  </p:normalViewPr>
  <p:slideViewPr>
    <p:cSldViewPr snapToGrid="0" snapToObjects="1">
      <p:cViewPr varScale="1">
        <p:scale>
          <a:sx n="70" d="100"/>
          <a:sy n="70" d="100"/>
        </p:scale>
        <p:origin x="2128" y="176"/>
      </p:cViewPr>
      <p:guideLst/>
    </p:cSldViewPr>
  </p:slideViewPr>
  <p:notesTextViewPr>
    <p:cViewPr>
      <p:scale>
        <a:sx n="1" d="1"/>
        <a:sy n="1" d="1"/>
      </p:scale>
      <p:origin x="0" y="0"/>
    </p:cViewPr>
  </p:notesTextViewPr>
  <p:notesViewPr>
    <p:cSldViewPr snapToGrid="0" snapToObjects="1">
      <p:cViewPr varScale="1">
        <p:scale>
          <a:sx n="102" d="100"/>
          <a:sy n="102" d="100"/>
        </p:scale>
        <p:origin x="3792" y="17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1794ED-9DCD-E143-A31C-FF459F6B3753}" type="datetimeFigureOut">
              <a:rPr lang="en-US" smtClean="0"/>
              <a:t>11/25/20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7CF15C-D2B2-934B-A539-F97C996A7B91}" type="slidenum">
              <a:rPr lang="en-US" smtClean="0"/>
              <a:t>‹#›</a:t>
            </a:fld>
            <a:endParaRPr lang="en-US"/>
          </a:p>
        </p:txBody>
      </p:sp>
    </p:spTree>
    <p:extLst>
      <p:ext uri="{BB962C8B-B14F-4D97-AF65-F5344CB8AC3E}">
        <p14:creationId xmlns:p14="http://schemas.microsoft.com/office/powerpoint/2010/main" val="759887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8455201-7865-8744-8A9B-9F5FC03C5C4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517024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7CF15C-D2B2-934B-A539-F97C996A7B91}" type="slidenum">
              <a:rPr lang="en-US" smtClean="0"/>
              <a:t>2</a:t>
            </a:fld>
            <a:endParaRPr lang="en-US"/>
          </a:p>
        </p:txBody>
      </p:sp>
    </p:spTree>
    <p:extLst>
      <p:ext uri="{BB962C8B-B14F-4D97-AF65-F5344CB8AC3E}">
        <p14:creationId xmlns:p14="http://schemas.microsoft.com/office/powerpoint/2010/main" val="17275816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7CF15C-D2B2-934B-A539-F97C996A7B91}" type="slidenum">
              <a:rPr lang="en-US" smtClean="0"/>
              <a:t>3</a:t>
            </a:fld>
            <a:endParaRPr lang="en-US"/>
          </a:p>
        </p:txBody>
      </p:sp>
    </p:spTree>
    <p:extLst>
      <p:ext uri="{BB962C8B-B14F-4D97-AF65-F5344CB8AC3E}">
        <p14:creationId xmlns:p14="http://schemas.microsoft.com/office/powerpoint/2010/main" val="260020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7CF15C-D2B2-934B-A539-F97C996A7B91}" type="slidenum">
              <a:rPr lang="en-US" smtClean="0"/>
              <a:t>4</a:t>
            </a:fld>
            <a:endParaRPr lang="en-US"/>
          </a:p>
        </p:txBody>
      </p:sp>
    </p:spTree>
    <p:extLst>
      <p:ext uri="{BB962C8B-B14F-4D97-AF65-F5344CB8AC3E}">
        <p14:creationId xmlns:p14="http://schemas.microsoft.com/office/powerpoint/2010/main" val="28510303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7CF15C-D2B2-934B-A539-F97C996A7B91}" type="slidenum">
              <a:rPr lang="en-US" smtClean="0"/>
              <a:t>5</a:t>
            </a:fld>
            <a:endParaRPr lang="en-US"/>
          </a:p>
        </p:txBody>
      </p:sp>
    </p:spTree>
    <p:extLst>
      <p:ext uri="{BB962C8B-B14F-4D97-AF65-F5344CB8AC3E}">
        <p14:creationId xmlns:p14="http://schemas.microsoft.com/office/powerpoint/2010/main" val="17985429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7CF15C-D2B2-934B-A539-F97C996A7B91}" type="slidenum">
              <a:rPr lang="en-US" smtClean="0"/>
              <a:t>6</a:t>
            </a:fld>
            <a:endParaRPr lang="en-US"/>
          </a:p>
        </p:txBody>
      </p:sp>
    </p:spTree>
    <p:extLst>
      <p:ext uri="{BB962C8B-B14F-4D97-AF65-F5344CB8AC3E}">
        <p14:creationId xmlns:p14="http://schemas.microsoft.com/office/powerpoint/2010/main" val="18397716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7CF15C-D2B2-934B-A539-F97C996A7B91}" type="slidenum">
              <a:rPr lang="en-US" smtClean="0"/>
              <a:t>7</a:t>
            </a:fld>
            <a:endParaRPr lang="en-US"/>
          </a:p>
        </p:txBody>
      </p:sp>
    </p:spTree>
    <p:extLst>
      <p:ext uri="{BB962C8B-B14F-4D97-AF65-F5344CB8AC3E}">
        <p14:creationId xmlns:p14="http://schemas.microsoft.com/office/powerpoint/2010/main" val="12749110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7CF15C-D2B2-934B-A539-F97C996A7B91}" type="slidenum">
              <a:rPr lang="en-US" smtClean="0"/>
              <a:t>8</a:t>
            </a:fld>
            <a:endParaRPr lang="en-US"/>
          </a:p>
        </p:txBody>
      </p:sp>
    </p:spTree>
    <p:extLst>
      <p:ext uri="{BB962C8B-B14F-4D97-AF65-F5344CB8AC3E}">
        <p14:creationId xmlns:p14="http://schemas.microsoft.com/office/powerpoint/2010/main" val="30875445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7CF15C-D2B2-934B-A539-F97C996A7B91}" type="slidenum">
              <a:rPr lang="en-US" smtClean="0"/>
              <a:t>9</a:t>
            </a:fld>
            <a:endParaRPr lang="en-US"/>
          </a:p>
        </p:txBody>
      </p:sp>
    </p:spTree>
    <p:extLst>
      <p:ext uri="{BB962C8B-B14F-4D97-AF65-F5344CB8AC3E}">
        <p14:creationId xmlns:p14="http://schemas.microsoft.com/office/powerpoint/2010/main" val="13732486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7CF15C-D2B2-934B-A539-F97C996A7B91}" type="slidenum">
              <a:rPr lang="en-US" smtClean="0"/>
              <a:t>10</a:t>
            </a:fld>
            <a:endParaRPr lang="en-US"/>
          </a:p>
        </p:txBody>
      </p:sp>
    </p:spTree>
    <p:extLst>
      <p:ext uri="{BB962C8B-B14F-4D97-AF65-F5344CB8AC3E}">
        <p14:creationId xmlns:p14="http://schemas.microsoft.com/office/powerpoint/2010/main" val="36755633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7CF15C-D2B2-934B-A539-F97C996A7B91}" type="slidenum">
              <a:rPr lang="en-US" smtClean="0"/>
              <a:t>11</a:t>
            </a:fld>
            <a:endParaRPr lang="en-US"/>
          </a:p>
        </p:txBody>
      </p:sp>
    </p:spTree>
    <p:extLst>
      <p:ext uri="{BB962C8B-B14F-4D97-AF65-F5344CB8AC3E}">
        <p14:creationId xmlns:p14="http://schemas.microsoft.com/office/powerpoint/2010/main" val="38085383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7CF15C-D2B2-934B-A539-F97C996A7B91}" type="slidenum">
              <a:rPr lang="en-US" smtClean="0"/>
              <a:t>12</a:t>
            </a:fld>
            <a:endParaRPr lang="en-US"/>
          </a:p>
        </p:txBody>
      </p:sp>
    </p:spTree>
    <p:extLst>
      <p:ext uri="{BB962C8B-B14F-4D97-AF65-F5344CB8AC3E}">
        <p14:creationId xmlns:p14="http://schemas.microsoft.com/office/powerpoint/2010/main" val="9426309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7CF15C-D2B2-934B-A539-F97C996A7B91}" type="slidenum">
              <a:rPr lang="en-US" smtClean="0"/>
              <a:t>13</a:t>
            </a:fld>
            <a:endParaRPr lang="en-US"/>
          </a:p>
        </p:txBody>
      </p:sp>
    </p:spTree>
    <p:extLst>
      <p:ext uri="{BB962C8B-B14F-4D97-AF65-F5344CB8AC3E}">
        <p14:creationId xmlns:p14="http://schemas.microsoft.com/office/powerpoint/2010/main" val="9134244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7CF15C-D2B2-934B-A539-F97C996A7B91}" type="slidenum">
              <a:rPr lang="en-US" smtClean="0"/>
              <a:t>14</a:t>
            </a:fld>
            <a:endParaRPr lang="en-US"/>
          </a:p>
        </p:txBody>
      </p:sp>
    </p:spTree>
    <p:extLst>
      <p:ext uri="{BB962C8B-B14F-4D97-AF65-F5344CB8AC3E}">
        <p14:creationId xmlns:p14="http://schemas.microsoft.com/office/powerpoint/2010/main" val="30279117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7CF15C-D2B2-934B-A539-F97C996A7B91}" type="slidenum">
              <a:rPr lang="en-US" smtClean="0"/>
              <a:t>15</a:t>
            </a:fld>
            <a:endParaRPr lang="en-US"/>
          </a:p>
        </p:txBody>
      </p:sp>
    </p:spTree>
    <p:extLst>
      <p:ext uri="{BB962C8B-B14F-4D97-AF65-F5344CB8AC3E}">
        <p14:creationId xmlns:p14="http://schemas.microsoft.com/office/powerpoint/2010/main" val="40768131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7CF15C-D2B2-934B-A539-F97C996A7B91}" type="slidenum">
              <a:rPr lang="en-US" smtClean="0"/>
              <a:t>16</a:t>
            </a:fld>
            <a:endParaRPr lang="en-US"/>
          </a:p>
        </p:txBody>
      </p:sp>
    </p:spTree>
    <p:extLst>
      <p:ext uri="{BB962C8B-B14F-4D97-AF65-F5344CB8AC3E}">
        <p14:creationId xmlns:p14="http://schemas.microsoft.com/office/powerpoint/2010/main" val="36227223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7CF15C-D2B2-934B-A539-F97C996A7B91}" type="slidenum">
              <a:rPr lang="en-US" smtClean="0"/>
              <a:t>17</a:t>
            </a:fld>
            <a:endParaRPr lang="en-US"/>
          </a:p>
        </p:txBody>
      </p:sp>
    </p:spTree>
    <p:extLst>
      <p:ext uri="{BB962C8B-B14F-4D97-AF65-F5344CB8AC3E}">
        <p14:creationId xmlns:p14="http://schemas.microsoft.com/office/powerpoint/2010/main" val="38916437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7CF15C-D2B2-934B-A539-F97C996A7B91}" type="slidenum">
              <a:rPr lang="en-US" smtClean="0"/>
              <a:t>18</a:t>
            </a:fld>
            <a:endParaRPr lang="en-US"/>
          </a:p>
        </p:txBody>
      </p:sp>
    </p:spTree>
    <p:extLst>
      <p:ext uri="{BB962C8B-B14F-4D97-AF65-F5344CB8AC3E}">
        <p14:creationId xmlns:p14="http://schemas.microsoft.com/office/powerpoint/2010/main" val="33793957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AC7CF15C-D2B2-934B-A539-F97C996A7B91}" type="slidenum">
              <a:rPr lang="en-US" smtClean="0"/>
              <a:t>19</a:t>
            </a:fld>
            <a:endParaRPr lang="en-US"/>
          </a:p>
        </p:txBody>
      </p:sp>
    </p:spTree>
    <p:extLst>
      <p:ext uri="{BB962C8B-B14F-4D97-AF65-F5344CB8AC3E}">
        <p14:creationId xmlns:p14="http://schemas.microsoft.com/office/powerpoint/2010/main" val="7212661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7CF15C-D2B2-934B-A539-F97C996A7B91}" type="slidenum">
              <a:rPr lang="en-US" smtClean="0"/>
              <a:t>20</a:t>
            </a:fld>
            <a:endParaRPr lang="en-US"/>
          </a:p>
        </p:txBody>
      </p:sp>
    </p:spTree>
    <p:extLst>
      <p:ext uri="{BB962C8B-B14F-4D97-AF65-F5344CB8AC3E}">
        <p14:creationId xmlns:p14="http://schemas.microsoft.com/office/powerpoint/2010/main" val="28012613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7CF15C-D2B2-934B-A539-F97C996A7B91}" type="slidenum">
              <a:rPr lang="en-US" smtClean="0"/>
              <a:t>21</a:t>
            </a:fld>
            <a:endParaRPr lang="en-US"/>
          </a:p>
        </p:txBody>
      </p:sp>
    </p:spTree>
    <p:extLst>
      <p:ext uri="{BB962C8B-B14F-4D97-AF65-F5344CB8AC3E}">
        <p14:creationId xmlns:p14="http://schemas.microsoft.com/office/powerpoint/2010/main" val="15027491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7CF15C-D2B2-934B-A539-F97C996A7B91}" type="slidenum">
              <a:rPr lang="en-US" smtClean="0"/>
              <a:t>22</a:t>
            </a:fld>
            <a:endParaRPr lang="en-US"/>
          </a:p>
        </p:txBody>
      </p:sp>
    </p:spTree>
    <p:extLst>
      <p:ext uri="{BB962C8B-B14F-4D97-AF65-F5344CB8AC3E}">
        <p14:creationId xmlns:p14="http://schemas.microsoft.com/office/powerpoint/2010/main" val="2023216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7CF15C-D2B2-934B-A539-F97C996A7B91}" type="slidenum">
              <a:rPr lang="en-US" smtClean="0"/>
              <a:t>23</a:t>
            </a:fld>
            <a:endParaRPr lang="en-US"/>
          </a:p>
        </p:txBody>
      </p:sp>
    </p:spTree>
    <p:extLst>
      <p:ext uri="{BB962C8B-B14F-4D97-AF65-F5344CB8AC3E}">
        <p14:creationId xmlns:p14="http://schemas.microsoft.com/office/powerpoint/2010/main" val="27114851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7CF15C-D2B2-934B-A539-F97C996A7B91}" type="slidenum">
              <a:rPr lang="en-US" smtClean="0"/>
              <a:t>24</a:t>
            </a:fld>
            <a:endParaRPr lang="en-US"/>
          </a:p>
        </p:txBody>
      </p:sp>
    </p:spTree>
    <p:extLst>
      <p:ext uri="{BB962C8B-B14F-4D97-AF65-F5344CB8AC3E}">
        <p14:creationId xmlns:p14="http://schemas.microsoft.com/office/powerpoint/2010/main" val="7634211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7CF15C-D2B2-934B-A539-F97C996A7B91}" type="slidenum">
              <a:rPr lang="en-US" smtClean="0"/>
              <a:t>25</a:t>
            </a:fld>
            <a:endParaRPr lang="en-US"/>
          </a:p>
        </p:txBody>
      </p:sp>
    </p:spTree>
    <p:extLst>
      <p:ext uri="{BB962C8B-B14F-4D97-AF65-F5344CB8AC3E}">
        <p14:creationId xmlns:p14="http://schemas.microsoft.com/office/powerpoint/2010/main" val="34686723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7CF15C-D2B2-934B-A539-F97C996A7B91}" type="slidenum">
              <a:rPr lang="en-US" smtClean="0"/>
              <a:t>26</a:t>
            </a:fld>
            <a:endParaRPr lang="en-US"/>
          </a:p>
        </p:txBody>
      </p:sp>
    </p:spTree>
    <p:extLst>
      <p:ext uri="{BB962C8B-B14F-4D97-AF65-F5344CB8AC3E}">
        <p14:creationId xmlns:p14="http://schemas.microsoft.com/office/powerpoint/2010/main" val="40113059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7CF15C-D2B2-934B-A539-F97C996A7B91}" type="slidenum">
              <a:rPr lang="en-US" smtClean="0"/>
              <a:t>27</a:t>
            </a:fld>
            <a:endParaRPr lang="en-US"/>
          </a:p>
        </p:txBody>
      </p:sp>
    </p:spTree>
    <p:extLst>
      <p:ext uri="{BB962C8B-B14F-4D97-AF65-F5344CB8AC3E}">
        <p14:creationId xmlns:p14="http://schemas.microsoft.com/office/powerpoint/2010/main" val="130045727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7CF15C-D2B2-934B-A539-F97C996A7B91}" type="slidenum">
              <a:rPr lang="en-US" smtClean="0"/>
              <a:t>28</a:t>
            </a:fld>
            <a:endParaRPr lang="en-US"/>
          </a:p>
        </p:txBody>
      </p:sp>
    </p:spTree>
    <p:extLst>
      <p:ext uri="{BB962C8B-B14F-4D97-AF65-F5344CB8AC3E}">
        <p14:creationId xmlns:p14="http://schemas.microsoft.com/office/powerpoint/2010/main" val="49945445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7CF15C-D2B2-934B-A539-F97C996A7B91}" type="slidenum">
              <a:rPr lang="en-US" smtClean="0"/>
              <a:t>29</a:t>
            </a:fld>
            <a:endParaRPr lang="en-US"/>
          </a:p>
        </p:txBody>
      </p:sp>
    </p:spTree>
    <p:extLst>
      <p:ext uri="{BB962C8B-B14F-4D97-AF65-F5344CB8AC3E}">
        <p14:creationId xmlns:p14="http://schemas.microsoft.com/office/powerpoint/2010/main" val="8847472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7CF15C-D2B2-934B-A539-F97C996A7B91}" type="slidenum">
              <a:rPr lang="en-US" smtClean="0"/>
              <a:t>30</a:t>
            </a:fld>
            <a:endParaRPr lang="en-US"/>
          </a:p>
        </p:txBody>
      </p:sp>
    </p:spTree>
    <p:extLst>
      <p:ext uri="{BB962C8B-B14F-4D97-AF65-F5344CB8AC3E}">
        <p14:creationId xmlns:p14="http://schemas.microsoft.com/office/powerpoint/2010/main" val="300537180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7CF15C-D2B2-934B-A539-F97C996A7B91}" type="slidenum">
              <a:rPr lang="en-US" smtClean="0"/>
              <a:t>31</a:t>
            </a:fld>
            <a:endParaRPr lang="en-US"/>
          </a:p>
        </p:txBody>
      </p:sp>
    </p:spTree>
    <p:extLst>
      <p:ext uri="{BB962C8B-B14F-4D97-AF65-F5344CB8AC3E}">
        <p14:creationId xmlns:p14="http://schemas.microsoft.com/office/powerpoint/2010/main" val="65099119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7CF15C-D2B2-934B-A539-F97C996A7B91}" type="slidenum">
              <a:rPr lang="en-US" smtClean="0"/>
              <a:t>32</a:t>
            </a:fld>
            <a:endParaRPr lang="en-US"/>
          </a:p>
        </p:txBody>
      </p:sp>
    </p:spTree>
    <p:extLst>
      <p:ext uri="{BB962C8B-B14F-4D97-AF65-F5344CB8AC3E}">
        <p14:creationId xmlns:p14="http://schemas.microsoft.com/office/powerpoint/2010/main" val="165527158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7CF15C-D2B2-934B-A539-F97C996A7B91}" type="slidenum">
              <a:rPr lang="en-US" smtClean="0"/>
              <a:t>33</a:t>
            </a:fld>
            <a:endParaRPr lang="en-US"/>
          </a:p>
        </p:txBody>
      </p:sp>
    </p:spTree>
    <p:extLst>
      <p:ext uri="{BB962C8B-B14F-4D97-AF65-F5344CB8AC3E}">
        <p14:creationId xmlns:p14="http://schemas.microsoft.com/office/powerpoint/2010/main" val="214775106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7CF15C-D2B2-934B-A539-F97C996A7B91}" type="slidenum">
              <a:rPr lang="en-US" smtClean="0"/>
              <a:t>34</a:t>
            </a:fld>
            <a:endParaRPr lang="en-US"/>
          </a:p>
        </p:txBody>
      </p:sp>
    </p:spTree>
    <p:extLst>
      <p:ext uri="{BB962C8B-B14F-4D97-AF65-F5344CB8AC3E}">
        <p14:creationId xmlns:p14="http://schemas.microsoft.com/office/powerpoint/2010/main" val="33896684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7CF15C-D2B2-934B-A539-F97C996A7B91}" type="slidenum">
              <a:rPr lang="en-US" smtClean="0"/>
              <a:t>35</a:t>
            </a:fld>
            <a:endParaRPr lang="en-US"/>
          </a:p>
        </p:txBody>
      </p:sp>
    </p:spTree>
    <p:extLst>
      <p:ext uri="{BB962C8B-B14F-4D97-AF65-F5344CB8AC3E}">
        <p14:creationId xmlns:p14="http://schemas.microsoft.com/office/powerpoint/2010/main" val="110882552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7CF15C-D2B2-934B-A539-F97C996A7B91}" type="slidenum">
              <a:rPr lang="en-US" smtClean="0"/>
              <a:t>36</a:t>
            </a:fld>
            <a:endParaRPr lang="en-US"/>
          </a:p>
        </p:txBody>
      </p:sp>
    </p:spTree>
    <p:extLst>
      <p:ext uri="{BB962C8B-B14F-4D97-AF65-F5344CB8AC3E}">
        <p14:creationId xmlns:p14="http://schemas.microsoft.com/office/powerpoint/2010/main" val="191792795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7CF15C-D2B2-934B-A539-F97C996A7B91}" type="slidenum">
              <a:rPr lang="en-US" smtClean="0"/>
              <a:t>37</a:t>
            </a:fld>
            <a:endParaRPr lang="en-US"/>
          </a:p>
        </p:txBody>
      </p:sp>
    </p:spTree>
    <p:extLst>
      <p:ext uri="{BB962C8B-B14F-4D97-AF65-F5344CB8AC3E}">
        <p14:creationId xmlns:p14="http://schemas.microsoft.com/office/powerpoint/2010/main" val="221284216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7CF15C-D2B2-934B-A539-F97C996A7B91}" type="slidenum">
              <a:rPr lang="en-US" smtClean="0"/>
              <a:t>38</a:t>
            </a:fld>
            <a:endParaRPr lang="en-US"/>
          </a:p>
        </p:txBody>
      </p:sp>
    </p:spTree>
    <p:extLst>
      <p:ext uri="{BB962C8B-B14F-4D97-AF65-F5344CB8AC3E}">
        <p14:creationId xmlns:p14="http://schemas.microsoft.com/office/powerpoint/2010/main" val="190954329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arenR"/>
            </a:pPr>
            <a:endParaRPr lang="en-US" dirty="0"/>
          </a:p>
        </p:txBody>
      </p:sp>
      <p:sp>
        <p:nvSpPr>
          <p:cNvPr id="4" name="Slide Number Placeholder 3"/>
          <p:cNvSpPr>
            <a:spLocks noGrp="1"/>
          </p:cNvSpPr>
          <p:nvPr>
            <p:ph type="sldNum" sz="quarter" idx="5"/>
          </p:nvPr>
        </p:nvSpPr>
        <p:spPr/>
        <p:txBody>
          <a:bodyPr/>
          <a:lstStyle/>
          <a:p>
            <a:fld id="{AC7CF15C-D2B2-934B-A539-F97C996A7B91}" type="slidenum">
              <a:rPr lang="en-US" smtClean="0"/>
              <a:t>39</a:t>
            </a:fld>
            <a:endParaRPr lang="en-US"/>
          </a:p>
        </p:txBody>
      </p:sp>
    </p:spTree>
    <p:extLst>
      <p:ext uri="{BB962C8B-B14F-4D97-AF65-F5344CB8AC3E}">
        <p14:creationId xmlns:p14="http://schemas.microsoft.com/office/powerpoint/2010/main" val="319334101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7CF15C-D2B2-934B-A539-F97C996A7B91}" type="slidenum">
              <a:rPr lang="en-US" smtClean="0"/>
              <a:t>40</a:t>
            </a:fld>
            <a:endParaRPr lang="en-US"/>
          </a:p>
        </p:txBody>
      </p:sp>
    </p:spTree>
    <p:extLst>
      <p:ext uri="{BB962C8B-B14F-4D97-AF65-F5344CB8AC3E}">
        <p14:creationId xmlns:p14="http://schemas.microsoft.com/office/powerpoint/2010/main" val="141548644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7CF15C-D2B2-934B-A539-F97C996A7B91}" type="slidenum">
              <a:rPr lang="en-US" smtClean="0"/>
              <a:t>41</a:t>
            </a:fld>
            <a:endParaRPr lang="en-US"/>
          </a:p>
        </p:txBody>
      </p:sp>
    </p:spTree>
    <p:extLst>
      <p:ext uri="{BB962C8B-B14F-4D97-AF65-F5344CB8AC3E}">
        <p14:creationId xmlns:p14="http://schemas.microsoft.com/office/powerpoint/2010/main" val="4354728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15104-30DF-C243-B6F5-80F122C437FD}"/>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505F9C87-B826-1B49-A847-710502CBD16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A98F453F-4E94-824B-AFA6-EB4E86C0E278}"/>
              </a:ext>
            </a:extLst>
          </p:cNvPr>
          <p:cNvSpPr>
            <a:spLocks noGrp="1"/>
          </p:cNvSpPr>
          <p:nvPr>
            <p:ph type="dt" sz="half" idx="10"/>
          </p:nvPr>
        </p:nvSpPr>
        <p:spPr>
          <a:xfrm>
            <a:off x="838200" y="6356350"/>
            <a:ext cx="2743200" cy="365125"/>
          </a:xfrm>
          <a:prstGeom prst="rect">
            <a:avLst/>
          </a:prstGeom>
        </p:spPr>
        <p:txBody>
          <a:bodyPr/>
          <a:lstStyle/>
          <a:p>
            <a:fld id="{BDA94195-58C4-C848-90FD-8ABADCA47C32}" type="datetimeFigureOut">
              <a:rPr lang="en-US" smtClean="0"/>
              <a:t>11/25/20</a:t>
            </a:fld>
            <a:endParaRPr lang="en-US"/>
          </a:p>
        </p:txBody>
      </p:sp>
      <p:sp>
        <p:nvSpPr>
          <p:cNvPr id="5" name="Footer Placeholder 4">
            <a:extLst>
              <a:ext uri="{FF2B5EF4-FFF2-40B4-BE49-F238E27FC236}">
                <a16:creationId xmlns:a16="http://schemas.microsoft.com/office/drawing/2014/main" id="{8692B56E-3BBC-654D-8FA9-E1F006DD63C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5C188353-695E-914E-959B-1DE06138DF1B}"/>
              </a:ext>
            </a:extLst>
          </p:cNvPr>
          <p:cNvSpPr>
            <a:spLocks noGrp="1"/>
          </p:cNvSpPr>
          <p:nvPr>
            <p:ph type="sldNum" sz="quarter" idx="12"/>
          </p:nvPr>
        </p:nvSpPr>
        <p:spPr>
          <a:xfrm>
            <a:off x="8610600" y="6356350"/>
            <a:ext cx="2743200" cy="365125"/>
          </a:xfrm>
          <a:prstGeom prst="rect">
            <a:avLst/>
          </a:prstGeom>
        </p:spPr>
        <p:txBody>
          <a:bodyPr/>
          <a:lstStyle/>
          <a:p>
            <a:fld id="{05840EBB-9F53-814B-8C4A-7F047AABFC84}" type="slidenum">
              <a:rPr lang="en-US" smtClean="0"/>
              <a:t>‹#›</a:t>
            </a:fld>
            <a:endParaRPr lang="en-US"/>
          </a:p>
        </p:txBody>
      </p:sp>
    </p:spTree>
    <p:extLst>
      <p:ext uri="{BB962C8B-B14F-4D97-AF65-F5344CB8AC3E}">
        <p14:creationId xmlns:p14="http://schemas.microsoft.com/office/powerpoint/2010/main" val="36726344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D7F73-75A7-BF4C-9B87-0E5DAA268B72}"/>
              </a:ext>
            </a:extLst>
          </p:cNvPr>
          <p:cNvSpPr>
            <a:spLocks noGrp="1"/>
          </p:cNvSpPr>
          <p:nvPr>
            <p:ph type="title"/>
          </p:nvPr>
        </p:nvSpPr>
        <p:spPr>
          <a:xfrm>
            <a:off x="383058" y="253106"/>
            <a:ext cx="10132541" cy="720000"/>
          </a:xfrm>
        </p:spPr>
        <p:txBody>
          <a:bodyPr/>
          <a:lstStyle>
            <a:lvl1pPr>
              <a:defRPr b="1" cap="all" baseline="0">
                <a:latin typeface="Arial" panose="020B0604020202020204" pitchFamily="34" charset="0"/>
                <a:cs typeface="Arial" panose="020B0604020202020204" pitchFamily="34" charset="0"/>
              </a:defRPr>
            </a:lvl1pPr>
          </a:lstStyle>
          <a:p>
            <a:r>
              <a:rPr lang="en-GB" dirty="0"/>
              <a:t>Click to edit Master title style</a:t>
            </a:r>
            <a:endParaRPr lang="en-US" dirty="0"/>
          </a:p>
        </p:txBody>
      </p:sp>
      <p:sp>
        <p:nvSpPr>
          <p:cNvPr id="3" name="Content Placeholder 2">
            <a:extLst>
              <a:ext uri="{FF2B5EF4-FFF2-40B4-BE49-F238E27FC236}">
                <a16:creationId xmlns:a16="http://schemas.microsoft.com/office/drawing/2014/main" id="{0DD49A81-21ED-634D-B435-4DA1AB93F8E7}"/>
              </a:ext>
            </a:extLst>
          </p:cNvPr>
          <p:cNvSpPr>
            <a:spLocks noGrp="1"/>
          </p:cNvSpPr>
          <p:nvPr>
            <p:ph idx="1"/>
          </p:nvPr>
        </p:nvSpPr>
        <p:spPr>
          <a:xfrm>
            <a:off x="197707" y="1544596"/>
            <a:ext cx="11479427" cy="501684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4332122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C7776-6F62-7949-AC29-57711FE6F1B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E81DDEED-88CB-854F-A579-2E9F5C88EAA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2D43E4C-5521-A646-9E20-EDBF5E089B20}"/>
              </a:ext>
            </a:extLst>
          </p:cNvPr>
          <p:cNvSpPr>
            <a:spLocks noGrp="1"/>
          </p:cNvSpPr>
          <p:nvPr>
            <p:ph type="dt" sz="half" idx="10"/>
          </p:nvPr>
        </p:nvSpPr>
        <p:spPr>
          <a:xfrm>
            <a:off x="838200" y="6356350"/>
            <a:ext cx="2743200" cy="365125"/>
          </a:xfrm>
          <a:prstGeom prst="rect">
            <a:avLst/>
          </a:prstGeom>
        </p:spPr>
        <p:txBody>
          <a:bodyPr/>
          <a:lstStyle/>
          <a:p>
            <a:fld id="{BDA94195-58C4-C848-90FD-8ABADCA47C32}" type="datetimeFigureOut">
              <a:rPr lang="en-US" smtClean="0"/>
              <a:t>11/25/20</a:t>
            </a:fld>
            <a:endParaRPr lang="en-US"/>
          </a:p>
        </p:txBody>
      </p:sp>
      <p:sp>
        <p:nvSpPr>
          <p:cNvPr id="5" name="Footer Placeholder 4">
            <a:extLst>
              <a:ext uri="{FF2B5EF4-FFF2-40B4-BE49-F238E27FC236}">
                <a16:creationId xmlns:a16="http://schemas.microsoft.com/office/drawing/2014/main" id="{E294BB6D-FB51-F14E-96DC-CB799402A16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6256CE9B-3262-4946-BA2B-2E15B1284C34}"/>
              </a:ext>
            </a:extLst>
          </p:cNvPr>
          <p:cNvSpPr>
            <a:spLocks noGrp="1"/>
          </p:cNvSpPr>
          <p:nvPr>
            <p:ph type="sldNum" sz="quarter" idx="12"/>
          </p:nvPr>
        </p:nvSpPr>
        <p:spPr>
          <a:xfrm>
            <a:off x="8610600" y="6356350"/>
            <a:ext cx="2743200" cy="365125"/>
          </a:xfrm>
          <a:prstGeom prst="rect">
            <a:avLst/>
          </a:prstGeom>
        </p:spPr>
        <p:txBody>
          <a:bodyPr/>
          <a:lstStyle/>
          <a:p>
            <a:fld id="{05840EBB-9F53-814B-8C4A-7F047AABFC84}" type="slidenum">
              <a:rPr lang="en-US" smtClean="0"/>
              <a:t>‹#›</a:t>
            </a:fld>
            <a:endParaRPr lang="en-US"/>
          </a:p>
        </p:txBody>
      </p:sp>
    </p:spTree>
    <p:extLst>
      <p:ext uri="{BB962C8B-B14F-4D97-AF65-F5344CB8AC3E}">
        <p14:creationId xmlns:p14="http://schemas.microsoft.com/office/powerpoint/2010/main" val="10025278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6477B-0526-5246-ADF9-A09D32252BE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E19C74B-6A3E-0D41-A414-968897748D1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E8619A30-BEDD-4E4D-A469-75A32DB6AE73}"/>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00F90622-BD04-2F49-87BF-8F8A56A92F6E}"/>
              </a:ext>
            </a:extLst>
          </p:cNvPr>
          <p:cNvSpPr>
            <a:spLocks noGrp="1"/>
          </p:cNvSpPr>
          <p:nvPr>
            <p:ph type="dt" sz="half" idx="10"/>
          </p:nvPr>
        </p:nvSpPr>
        <p:spPr>
          <a:xfrm>
            <a:off x="838200" y="6356350"/>
            <a:ext cx="2743200" cy="365125"/>
          </a:xfrm>
          <a:prstGeom prst="rect">
            <a:avLst/>
          </a:prstGeom>
        </p:spPr>
        <p:txBody>
          <a:bodyPr/>
          <a:lstStyle/>
          <a:p>
            <a:fld id="{BDA94195-58C4-C848-90FD-8ABADCA47C32}" type="datetimeFigureOut">
              <a:rPr lang="en-US" smtClean="0"/>
              <a:t>11/25/20</a:t>
            </a:fld>
            <a:endParaRPr lang="en-US"/>
          </a:p>
        </p:txBody>
      </p:sp>
      <p:sp>
        <p:nvSpPr>
          <p:cNvPr id="6" name="Footer Placeholder 5">
            <a:extLst>
              <a:ext uri="{FF2B5EF4-FFF2-40B4-BE49-F238E27FC236}">
                <a16:creationId xmlns:a16="http://schemas.microsoft.com/office/drawing/2014/main" id="{9A236CA9-0AF2-6044-B7B9-D370C9989F5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C6C07945-78CB-FD48-A540-3D195554638F}"/>
              </a:ext>
            </a:extLst>
          </p:cNvPr>
          <p:cNvSpPr>
            <a:spLocks noGrp="1"/>
          </p:cNvSpPr>
          <p:nvPr>
            <p:ph type="sldNum" sz="quarter" idx="12"/>
          </p:nvPr>
        </p:nvSpPr>
        <p:spPr>
          <a:xfrm>
            <a:off x="8610600" y="6356350"/>
            <a:ext cx="2743200" cy="365125"/>
          </a:xfrm>
          <a:prstGeom prst="rect">
            <a:avLst/>
          </a:prstGeom>
        </p:spPr>
        <p:txBody>
          <a:bodyPr/>
          <a:lstStyle/>
          <a:p>
            <a:fld id="{05840EBB-9F53-814B-8C4A-7F047AABFC84}" type="slidenum">
              <a:rPr lang="en-US" smtClean="0"/>
              <a:t>‹#›</a:t>
            </a:fld>
            <a:endParaRPr lang="en-US"/>
          </a:p>
        </p:txBody>
      </p:sp>
    </p:spTree>
    <p:extLst>
      <p:ext uri="{BB962C8B-B14F-4D97-AF65-F5344CB8AC3E}">
        <p14:creationId xmlns:p14="http://schemas.microsoft.com/office/powerpoint/2010/main" val="27847237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7105D-2311-6C4A-AFBA-C73806614789}"/>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737611F-9F84-EF46-B687-F45096EE57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528AFF43-7CB4-D043-A4E6-F7EBD5AD17D5}"/>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230651C7-134F-6D4C-B0C9-F97F16FCBDE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ED5B9679-8272-C842-80E7-7C2C35B6B18E}"/>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75A03A7-9909-8849-989F-56035CE1F120}"/>
              </a:ext>
            </a:extLst>
          </p:cNvPr>
          <p:cNvSpPr>
            <a:spLocks noGrp="1"/>
          </p:cNvSpPr>
          <p:nvPr>
            <p:ph type="dt" sz="half" idx="10"/>
          </p:nvPr>
        </p:nvSpPr>
        <p:spPr>
          <a:xfrm>
            <a:off x="838200" y="6356350"/>
            <a:ext cx="2743200" cy="365125"/>
          </a:xfrm>
          <a:prstGeom prst="rect">
            <a:avLst/>
          </a:prstGeom>
        </p:spPr>
        <p:txBody>
          <a:bodyPr/>
          <a:lstStyle/>
          <a:p>
            <a:fld id="{BDA94195-58C4-C848-90FD-8ABADCA47C32}" type="datetimeFigureOut">
              <a:rPr lang="en-US" smtClean="0"/>
              <a:t>11/25/20</a:t>
            </a:fld>
            <a:endParaRPr lang="en-US"/>
          </a:p>
        </p:txBody>
      </p:sp>
      <p:sp>
        <p:nvSpPr>
          <p:cNvPr id="8" name="Footer Placeholder 7">
            <a:extLst>
              <a:ext uri="{FF2B5EF4-FFF2-40B4-BE49-F238E27FC236}">
                <a16:creationId xmlns:a16="http://schemas.microsoft.com/office/drawing/2014/main" id="{12FF941C-DA96-0244-A4BD-DDC68807CB7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7E82B1AB-E8BD-194D-A1B0-84EEEAD59BF1}"/>
              </a:ext>
            </a:extLst>
          </p:cNvPr>
          <p:cNvSpPr>
            <a:spLocks noGrp="1"/>
          </p:cNvSpPr>
          <p:nvPr>
            <p:ph type="sldNum" sz="quarter" idx="12"/>
          </p:nvPr>
        </p:nvSpPr>
        <p:spPr>
          <a:xfrm>
            <a:off x="8610600" y="6356350"/>
            <a:ext cx="2743200" cy="365125"/>
          </a:xfrm>
          <a:prstGeom prst="rect">
            <a:avLst/>
          </a:prstGeom>
        </p:spPr>
        <p:txBody>
          <a:bodyPr/>
          <a:lstStyle/>
          <a:p>
            <a:fld id="{05840EBB-9F53-814B-8C4A-7F047AABFC84}" type="slidenum">
              <a:rPr lang="en-US" smtClean="0"/>
              <a:t>‹#›</a:t>
            </a:fld>
            <a:endParaRPr lang="en-US"/>
          </a:p>
        </p:txBody>
      </p:sp>
    </p:spTree>
    <p:extLst>
      <p:ext uri="{BB962C8B-B14F-4D97-AF65-F5344CB8AC3E}">
        <p14:creationId xmlns:p14="http://schemas.microsoft.com/office/powerpoint/2010/main" val="1584896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2B65D-442A-8843-8F16-7ABEA571F0C1}"/>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3E569297-1F38-2D41-BF9E-9074D73DB2D6}"/>
              </a:ext>
            </a:extLst>
          </p:cNvPr>
          <p:cNvSpPr>
            <a:spLocks noGrp="1"/>
          </p:cNvSpPr>
          <p:nvPr>
            <p:ph type="dt" sz="half" idx="10"/>
          </p:nvPr>
        </p:nvSpPr>
        <p:spPr>
          <a:xfrm>
            <a:off x="838200" y="6356350"/>
            <a:ext cx="2743200" cy="365125"/>
          </a:xfrm>
          <a:prstGeom prst="rect">
            <a:avLst/>
          </a:prstGeom>
        </p:spPr>
        <p:txBody>
          <a:bodyPr/>
          <a:lstStyle/>
          <a:p>
            <a:fld id="{BDA94195-58C4-C848-90FD-8ABADCA47C32}" type="datetimeFigureOut">
              <a:rPr lang="en-US" smtClean="0"/>
              <a:t>11/25/20</a:t>
            </a:fld>
            <a:endParaRPr lang="en-US"/>
          </a:p>
        </p:txBody>
      </p:sp>
      <p:sp>
        <p:nvSpPr>
          <p:cNvPr id="4" name="Footer Placeholder 3">
            <a:extLst>
              <a:ext uri="{FF2B5EF4-FFF2-40B4-BE49-F238E27FC236}">
                <a16:creationId xmlns:a16="http://schemas.microsoft.com/office/drawing/2014/main" id="{0CF6E31A-1A8B-DA41-96E1-AE81C5DA0FC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E2695C91-339E-644D-8D83-3DE22C835930}"/>
              </a:ext>
            </a:extLst>
          </p:cNvPr>
          <p:cNvSpPr>
            <a:spLocks noGrp="1"/>
          </p:cNvSpPr>
          <p:nvPr>
            <p:ph type="sldNum" sz="quarter" idx="12"/>
          </p:nvPr>
        </p:nvSpPr>
        <p:spPr>
          <a:xfrm>
            <a:off x="8610600" y="6356350"/>
            <a:ext cx="2743200" cy="365125"/>
          </a:xfrm>
          <a:prstGeom prst="rect">
            <a:avLst/>
          </a:prstGeom>
        </p:spPr>
        <p:txBody>
          <a:bodyPr/>
          <a:lstStyle/>
          <a:p>
            <a:fld id="{05840EBB-9F53-814B-8C4A-7F047AABFC84}" type="slidenum">
              <a:rPr lang="en-US" smtClean="0"/>
              <a:t>‹#›</a:t>
            </a:fld>
            <a:endParaRPr lang="en-US"/>
          </a:p>
        </p:txBody>
      </p:sp>
    </p:spTree>
    <p:extLst>
      <p:ext uri="{BB962C8B-B14F-4D97-AF65-F5344CB8AC3E}">
        <p14:creationId xmlns:p14="http://schemas.microsoft.com/office/powerpoint/2010/main" val="5484423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83269F9-C47F-5B42-8277-D273C1826E6B}"/>
              </a:ext>
            </a:extLst>
          </p:cNvPr>
          <p:cNvSpPr>
            <a:spLocks noGrp="1"/>
          </p:cNvSpPr>
          <p:nvPr>
            <p:ph type="dt" sz="half" idx="10"/>
          </p:nvPr>
        </p:nvSpPr>
        <p:spPr>
          <a:xfrm>
            <a:off x="838200" y="6356350"/>
            <a:ext cx="2743200" cy="365125"/>
          </a:xfrm>
          <a:prstGeom prst="rect">
            <a:avLst/>
          </a:prstGeom>
        </p:spPr>
        <p:txBody>
          <a:bodyPr/>
          <a:lstStyle/>
          <a:p>
            <a:fld id="{BDA94195-58C4-C848-90FD-8ABADCA47C32}" type="datetimeFigureOut">
              <a:rPr lang="en-US" smtClean="0"/>
              <a:t>11/25/20</a:t>
            </a:fld>
            <a:endParaRPr lang="en-US"/>
          </a:p>
        </p:txBody>
      </p:sp>
      <p:sp>
        <p:nvSpPr>
          <p:cNvPr id="3" name="Footer Placeholder 2">
            <a:extLst>
              <a:ext uri="{FF2B5EF4-FFF2-40B4-BE49-F238E27FC236}">
                <a16:creationId xmlns:a16="http://schemas.microsoft.com/office/drawing/2014/main" id="{2D479E2E-0F80-CC4C-AC36-AEBFFC9CCB8E}"/>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584C028F-9D1D-4246-9A8D-9B12841F5F0C}"/>
              </a:ext>
            </a:extLst>
          </p:cNvPr>
          <p:cNvSpPr>
            <a:spLocks noGrp="1"/>
          </p:cNvSpPr>
          <p:nvPr>
            <p:ph type="sldNum" sz="quarter" idx="12"/>
          </p:nvPr>
        </p:nvSpPr>
        <p:spPr>
          <a:xfrm>
            <a:off x="8610600" y="6356350"/>
            <a:ext cx="2743200" cy="365125"/>
          </a:xfrm>
          <a:prstGeom prst="rect">
            <a:avLst/>
          </a:prstGeom>
        </p:spPr>
        <p:txBody>
          <a:bodyPr/>
          <a:lstStyle/>
          <a:p>
            <a:fld id="{05840EBB-9F53-814B-8C4A-7F047AABFC84}" type="slidenum">
              <a:rPr lang="en-US" smtClean="0"/>
              <a:t>‹#›</a:t>
            </a:fld>
            <a:endParaRPr lang="en-US"/>
          </a:p>
        </p:txBody>
      </p:sp>
    </p:spTree>
    <p:extLst>
      <p:ext uri="{BB962C8B-B14F-4D97-AF65-F5344CB8AC3E}">
        <p14:creationId xmlns:p14="http://schemas.microsoft.com/office/powerpoint/2010/main" val="21966144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C425B-9808-AA41-9609-755D86C88E0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CAD59FAE-9E85-D84D-8A74-ADC02B429B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AF805D49-C024-1643-8B1C-B03459C691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168C301-58C0-8443-A8FD-FE276F98DE3A}"/>
              </a:ext>
            </a:extLst>
          </p:cNvPr>
          <p:cNvSpPr>
            <a:spLocks noGrp="1"/>
          </p:cNvSpPr>
          <p:nvPr>
            <p:ph type="dt" sz="half" idx="10"/>
          </p:nvPr>
        </p:nvSpPr>
        <p:spPr>
          <a:xfrm>
            <a:off x="838200" y="6356350"/>
            <a:ext cx="2743200" cy="365125"/>
          </a:xfrm>
          <a:prstGeom prst="rect">
            <a:avLst/>
          </a:prstGeom>
        </p:spPr>
        <p:txBody>
          <a:bodyPr/>
          <a:lstStyle/>
          <a:p>
            <a:fld id="{BDA94195-58C4-C848-90FD-8ABADCA47C32}" type="datetimeFigureOut">
              <a:rPr lang="en-US" smtClean="0"/>
              <a:t>11/25/20</a:t>
            </a:fld>
            <a:endParaRPr lang="en-US"/>
          </a:p>
        </p:txBody>
      </p:sp>
      <p:sp>
        <p:nvSpPr>
          <p:cNvPr id="6" name="Footer Placeholder 5">
            <a:extLst>
              <a:ext uri="{FF2B5EF4-FFF2-40B4-BE49-F238E27FC236}">
                <a16:creationId xmlns:a16="http://schemas.microsoft.com/office/drawing/2014/main" id="{32EAA141-96BB-DB4F-B27D-6F7AF7D750A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09A4CBB8-298F-1246-BC42-25680FD0A10A}"/>
              </a:ext>
            </a:extLst>
          </p:cNvPr>
          <p:cNvSpPr>
            <a:spLocks noGrp="1"/>
          </p:cNvSpPr>
          <p:nvPr>
            <p:ph type="sldNum" sz="quarter" idx="12"/>
          </p:nvPr>
        </p:nvSpPr>
        <p:spPr>
          <a:xfrm>
            <a:off x="8610600" y="6356350"/>
            <a:ext cx="2743200" cy="365125"/>
          </a:xfrm>
          <a:prstGeom prst="rect">
            <a:avLst/>
          </a:prstGeom>
        </p:spPr>
        <p:txBody>
          <a:bodyPr/>
          <a:lstStyle/>
          <a:p>
            <a:fld id="{05840EBB-9F53-814B-8C4A-7F047AABFC84}" type="slidenum">
              <a:rPr lang="en-US" smtClean="0"/>
              <a:t>‹#›</a:t>
            </a:fld>
            <a:endParaRPr lang="en-US"/>
          </a:p>
        </p:txBody>
      </p:sp>
    </p:spTree>
    <p:extLst>
      <p:ext uri="{BB962C8B-B14F-4D97-AF65-F5344CB8AC3E}">
        <p14:creationId xmlns:p14="http://schemas.microsoft.com/office/powerpoint/2010/main" val="17884398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4C04D-5F03-AA4D-8037-39B8E6634A0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820F1385-96F7-A140-AA79-83ACBA26350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E311CC3-A00C-784B-8C87-ECE428E1D8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B1CC509-EA9D-234D-BD95-51099A8B9FD9}"/>
              </a:ext>
            </a:extLst>
          </p:cNvPr>
          <p:cNvSpPr>
            <a:spLocks noGrp="1"/>
          </p:cNvSpPr>
          <p:nvPr>
            <p:ph type="dt" sz="half" idx="10"/>
          </p:nvPr>
        </p:nvSpPr>
        <p:spPr>
          <a:xfrm>
            <a:off x="838200" y="6356350"/>
            <a:ext cx="2743200" cy="365125"/>
          </a:xfrm>
          <a:prstGeom prst="rect">
            <a:avLst/>
          </a:prstGeom>
        </p:spPr>
        <p:txBody>
          <a:bodyPr/>
          <a:lstStyle/>
          <a:p>
            <a:fld id="{BDA94195-58C4-C848-90FD-8ABADCA47C32}" type="datetimeFigureOut">
              <a:rPr lang="en-US" smtClean="0"/>
              <a:t>11/25/20</a:t>
            </a:fld>
            <a:endParaRPr lang="en-US"/>
          </a:p>
        </p:txBody>
      </p:sp>
      <p:sp>
        <p:nvSpPr>
          <p:cNvPr id="6" name="Footer Placeholder 5">
            <a:extLst>
              <a:ext uri="{FF2B5EF4-FFF2-40B4-BE49-F238E27FC236}">
                <a16:creationId xmlns:a16="http://schemas.microsoft.com/office/drawing/2014/main" id="{5FA28714-646A-7642-ACC7-DBE604260802}"/>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E87C2430-0B85-1D4C-B46F-FC7DD6A15A4C}"/>
              </a:ext>
            </a:extLst>
          </p:cNvPr>
          <p:cNvSpPr>
            <a:spLocks noGrp="1"/>
          </p:cNvSpPr>
          <p:nvPr>
            <p:ph type="sldNum" sz="quarter" idx="12"/>
          </p:nvPr>
        </p:nvSpPr>
        <p:spPr>
          <a:xfrm>
            <a:off x="8610600" y="6356350"/>
            <a:ext cx="2743200" cy="365125"/>
          </a:xfrm>
          <a:prstGeom prst="rect">
            <a:avLst/>
          </a:prstGeom>
        </p:spPr>
        <p:txBody>
          <a:bodyPr/>
          <a:lstStyle/>
          <a:p>
            <a:fld id="{05840EBB-9F53-814B-8C4A-7F047AABFC84}" type="slidenum">
              <a:rPr lang="en-US" smtClean="0"/>
              <a:t>‹#›</a:t>
            </a:fld>
            <a:endParaRPr lang="en-US"/>
          </a:p>
        </p:txBody>
      </p:sp>
    </p:spTree>
    <p:extLst>
      <p:ext uri="{BB962C8B-B14F-4D97-AF65-F5344CB8AC3E}">
        <p14:creationId xmlns:p14="http://schemas.microsoft.com/office/powerpoint/2010/main" val="7237502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43C0C-A609-F342-919D-11DD78C44135}"/>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2119D3E-C74D-5148-A3E6-FF8D596BB68C}"/>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6616387-CFBA-0342-A560-13C5D7882A59}"/>
              </a:ext>
            </a:extLst>
          </p:cNvPr>
          <p:cNvSpPr>
            <a:spLocks noGrp="1"/>
          </p:cNvSpPr>
          <p:nvPr>
            <p:ph type="dt" sz="half" idx="10"/>
          </p:nvPr>
        </p:nvSpPr>
        <p:spPr>
          <a:xfrm>
            <a:off x="838200" y="6356350"/>
            <a:ext cx="2743200" cy="365125"/>
          </a:xfrm>
          <a:prstGeom prst="rect">
            <a:avLst/>
          </a:prstGeom>
        </p:spPr>
        <p:txBody>
          <a:bodyPr/>
          <a:lstStyle/>
          <a:p>
            <a:fld id="{BDA94195-58C4-C848-90FD-8ABADCA47C32}" type="datetimeFigureOut">
              <a:rPr lang="en-US" smtClean="0"/>
              <a:t>11/25/20</a:t>
            </a:fld>
            <a:endParaRPr lang="en-US"/>
          </a:p>
        </p:txBody>
      </p:sp>
      <p:sp>
        <p:nvSpPr>
          <p:cNvPr id="5" name="Footer Placeholder 4">
            <a:extLst>
              <a:ext uri="{FF2B5EF4-FFF2-40B4-BE49-F238E27FC236}">
                <a16:creationId xmlns:a16="http://schemas.microsoft.com/office/drawing/2014/main" id="{63A1E4AB-2F0E-DE42-A638-F24757D1795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469DB63D-2E4D-4241-83AC-C6A15648C43B}"/>
              </a:ext>
            </a:extLst>
          </p:cNvPr>
          <p:cNvSpPr>
            <a:spLocks noGrp="1"/>
          </p:cNvSpPr>
          <p:nvPr>
            <p:ph type="sldNum" sz="quarter" idx="12"/>
          </p:nvPr>
        </p:nvSpPr>
        <p:spPr>
          <a:xfrm>
            <a:off x="8610600" y="6356350"/>
            <a:ext cx="2743200" cy="365125"/>
          </a:xfrm>
          <a:prstGeom prst="rect">
            <a:avLst/>
          </a:prstGeom>
        </p:spPr>
        <p:txBody>
          <a:bodyPr/>
          <a:lstStyle/>
          <a:p>
            <a:fld id="{05840EBB-9F53-814B-8C4A-7F047AABFC84}" type="slidenum">
              <a:rPr lang="en-US" smtClean="0"/>
              <a:t>‹#›</a:t>
            </a:fld>
            <a:endParaRPr lang="en-US"/>
          </a:p>
        </p:txBody>
      </p:sp>
    </p:spTree>
    <p:extLst>
      <p:ext uri="{BB962C8B-B14F-4D97-AF65-F5344CB8AC3E}">
        <p14:creationId xmlns:p14="http://schemas.microsoft.com/office/powerpoint/2010/main" val="41305709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84ADECF-14E8-3C41-B869-448FE504D41A}"/>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445B74BE-C693-0E44-8F73-00799AB9962B}"/>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8E273F7-69F8-D743-8DD7-63377B1970D9}"/>
              </a:ext>
            </a:extLst>
          </p:cNvPr>
          <p:cNvSpPr>
            <a:spLocks noGrp="1"/>
          </p:cNvSpPr>
          <p:nvPr>
            <p:ph type="dt" sz="half" idx="10"/>
          </p:nvPr>
        </p:nvSpPr>
        <p:spPr>
          <a:xfrm>
            <a:off x="838200" y="6356350"/>
            <a:ext cx="2743200" cy="365125"/>
          </a:xfrm>
          <a:prstGeom prst="rect">
            <a:avLst/>
          </a:prstGeom>
        </p:spPr>
        <p:txBody>
          <a:bodyPr/>
          <a:lstStyle/>
          <a:p>
            <a:fld id="{BDA94195-58C4-C848-90FD-8ABADCA47C32}" type="datetimeFigureOut">
              <a:rPr lang="en-US" smtClean="0"/>
              <a:t>11/25/20</a:t>
            </a:fld>
            <a:endParaRPr lang="en-US"/>
          </a:p>
        </p:txBody>
      </p:sp>
      <p:sp>
        <p:nvSpPr>
          <p:cNvPr id="5" name="Footer Placeholder 4">
            <a:extLst>
              <a:ext uri="{FF2B5EF4-FFF2-40B4-BE49-F238E27FC236}">
                <a16:creationId xmlns:a16="http://schemas.microsoft.com/office/drawing/2014/main" id="{17C162B8-7B1D-774A-AE0D-C751F2ACC8C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6BA8F8AB-2631-7F49-804C-2B75DF4D3D17}"/>
              </a:ext>
            </a:extLst>
          </p:cNvPr>
          <p:cNvSpPr>
            <a:spLocks noGrp="1"/>
          </p:cNvSpPr>
          <p:nvPr>
            <p:ph type="sldNum" sz="quarter" idx="12"/>
          </p:nvPr>
        </p:nvSpPr>
        <p:spPr>
          <a:xfrm>
            <a:off x="8610600" y="6356350"/>
            <a:ext cx="2743200" cy="365125"/>
          </a:xfrm>
          <a:prstGeom prst="rect">
            <a:avLst/>
          </a:prstGeom>
        </p:spPr>
        <p:txBody>
          <a:bodyPr/>
          <a:lstStyle/>
          <a:p>
            <a:fld id="{05840EBB-9F53-814B-8C4A-7F047AABFC84}" type="slidenum">
              <a:rPr lang="en-US" smtClean="0"/>
              <a:t>‹#›</a:t>
            </a:fld>
            <a:endParaRPr lang="en-US"/>
          </a:p>
        </p:txBody>
      </p:sp>
    </p:spTree>
    <p:extLst>
      <p:ext uri="{BB962C8B-B14F-4D97-AF65-F5344CB8AC3E}">
        <p14:creationId xmlns:p14="http://schemas.microsoft.com/office/powerpoint/2010/main" val="21543791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arge banner">
    <p:spTree>
      <p:nvGrpSpPr>
        <p:cNvPr id="1" name=""/>
        <p:cNvGrpSpPr/>
        <p:nvPr/>
      </p:nvGrpSpPr>
      <p:grpSpPr>
        <a:xfrm>
          <a:off x="0" y="0"/>
          <a:ext cx="0" cy="0"/>
          <a:chOff x="0" y="0"/>
          <a:chExt cx="0" cy="0"/>
        </a:xfrm>
      </p:grpSpPr>
      <p:sp>
        <p:nvSpPr>
          <p:cNvPr id="2" name="Title 1"/>
          <p:cNvSpPr>
            <a:spLocks noGrp="1"/>
          </p:cNvSpPr>
          <p:nvPr>
            <p:ph type="title"/>
          </p:nvPr>
        </p:nvSpPr>
        <p:spPr>
          <a:xfrm>
            <a:off x="838200" y="2032617"/>
            <a:ext cx="10515600" cy="1325563"/>
          </a:xfrm>
          <a:prstGeom prst="rect">
            <a:avLst/>
          </a:prstGeom>
        </p:spPr>
        <p:txBody>
          <a:bodyPr/>
          <a:lstStyle>
            <a:lvl1pPr>
              <a:defRPr sz="4267" b="1">
                <a:solidFill>
                  <a:srgbClr val="D6D2C4"/>
                </a:solidFill>
                <a:latin typeface="Arial" charset="0"/>
                <a:ea typeface="Arial" charset="0"/>
                <a:cs typeface="Arial" charset="0"/>
              </a:defRPr>
            </a:lvl1pPr>
          </a:lstStyle>
          <a:p>
            <a:r>
              <a:rPr lang="en-US" dirty="0"/>
              <a:t>Click to edit Master title style</a:t>
            </a:r>
          </a:p>
        </p:txBody>
      </p:sp>
      <p:sp>
        <p:nvSpPr>
          <p:cNvPr id="3" name="Content Placeholder 2"/>
          <p:cNvSpPr>
            <a:spLocks noGrp="1"/>
          </p:cNvSpPr>
          <p:nvPr>
            <p:ph idx="1"/>
          </p:nvPr>
        </p:nvSpPr>
        <p:spPr>
          <a:xfrm>
            <a:off x="838200" y="3474719"/>
            <a:ext cx="10515600" cy="2702244"/>
          </a:xfrm>
        </p:spPr>
        <p:txBody>
          <a:bodyPr/>
          <a:lstStyle>
            <a:lvl1pPr>
              <a:defRPr>
                <a:solidFill>
                  <a:schemeClr val="tx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9" name="Group 8"/>
          <p:cNvGrpSpPr/>
          <p:nvPr userDrawn="1"/>
        </p:nvGrpSpPr>
        <p:grpSpPr>
          <a:xfrm>
            <a:off x="0" y="1"/>
            <a:ext cx="12192000" cy="1646767"/>
            <a:chOff x="0" y="-66259"/>
            <a:chExt cx="9144000" cy="1235075"/>
          </a:xfrm>
        </p:grpSpPr>
        <p:sp>
          <p:nvSpPr>
            <p:cNvPr id="10" name="Freeform 24"/>
            <p:cNvSpPr>
              <a:spLocks/>
            </p:cNvSpPr>
            <p:nvPr/>
          </p:nvSpPr>
          <p:spPr bwMode="auto">
            <a:xfrm>
              <a:off x="0" y="-66259"/>
              <a:ext cx="9144000" cy="1235075"/>
            </a:xfrm>
            <a:custGeom>
              <a:avLst/>
              <a:gdLst>
                <a:gd name="T0" fmla="*/ 0 w 1123"/>
                <a:gd name="T1" fmla="*/ 0 h 151"/>
                <a:gd name="T2" fmla="*/ 0 w 1123"/>
                <a:gd name="T3" fmla="*/ 151 h 151"/>
                <a:gd name="T4" fmla="*/ 844 w 1123"/>
                <a:gd name="T5" fmla="*/ 151 h 151"/>
                <a:gd name="T6" fmla="*/ 841 w 1123"/>
                <a:gd name="T7" fmla="*/ 148 h 151"/>
                <a:gd name="T8" fmla="*/ 832 w 1123"/>
                <a:gd name="T9" fmla="*/ 122 h 151"/>
                <a:gd name="T10" fmla="*/ 832 w 1123"/>
                <a:gd name="T11" fmla="*/ 72 h 151"/>
                <a:gd name="T12" fmla="*/ 859 w 1123"/>
                <a:gd name="T13" fmla="*/ 72 h 151"/>
                <a:gd name="T14" fmla="*/ 859 w 1123"/>
                <a:gd name="T15" fmla="*/ 124 h 151"/>
                <a:gd name="T16" fmla="*/ 863 w 1123"/>
                <a:gd name="T17" fmla="*/ 135 h 151"/>
                <a:gd name="T18" fmla="*/ 871 w 1123"/>
                <a:gd name="T19" fmla="*/ 138 h 151"/>
                <a:gd name="T20" fmla="*/ 880 w 1123"/>
                <a:gd name="T21" fmla="*/ 135 h 151"/>
                <a:gd name="T22" fmla="*/ 883 w 1123"/>
                <a:gd name="T23" fmla="*/ 124 h 151"/>
                <a:gd name="T24" fmla="*/ 883 w 1123"/>
                <a:gd name="T25" fmla="*/ 72 h 151"/>
                <a:gd name="T26" fmla="*/ 910 w 1123"/>
                <a:gd name="T27" fmla="*/ 72 h 151"/>
                <a:gd name="T28" fmla="*/ 910 w 1123"/>
                <a:gd name="T29" fmla="*/ 117 h 151"/>
                <a:gd name="T30" fmla="*/ 900 w 1123"/>
                <a:gd name="T31" fmla="*/ 148 h 151"/>
                <a:gd name="T32" fmla="*/ 897 w 1123"/>
                <a:gd name="T33" fmla="*/ 151 h 151"/>
                <a:gd name="T34" fmla="*/ 937 w 1123"/>
                <a:gd name="T35" fmla="*/ 151 h 151"/>
                <a:gd name="T36" fmla="*/ 920 w 1123"/>
                <a:gd name="T37" fmla="*/ 114 h 151"/>
                <a:gd name="T38" fmla="*/ 964 w 1123"/>
                <a:gd name="T39" fmla="*/ 69 h 151"/>
                <a:gd name="T40" fmla="*/ 998 w 1123"/>
                <a:gd name="T41" fmla="*/ 82 h 151"/>
                <a:gd name="T42" fmla="*/ 1005 w 1123"/>
                <a:gd name="T43" fmla="*/ 92 h 151"/>
                <a:gd name="T44" fmla="*/ 982 w 1123"/>
                <a:gd name="T45" fmla="*/ 103 h 151"/>
                <a:gd name="T46" fmla="*/ 965 w 1123"/>
                <a:gd name="T47" fmla="*/ 89 h 151"/>
                <a:gd name="T48" fmla="*/ 953 w 1123"/>
                <a:gd name="T49" fmla="*/ 94 h 151"/>
                <a:gd name="T50" fmla="*/ 947 w 1123"/>
                <a:gd name="T51" fmla="*/ 113 h 151"/>
                <a:gd name="T52" fmla="*/ 965 w 1123"/>
                <a:gd name="T53" fmla="*/ 137 h 151"/>
                <a:gd name="T54" fmla="*/ 982 w 1123"/>
                <a:gd name="T55" fmla="*/ 123 h 151"/>
                <a:gd name="T56" fmla="*/ 1005 w 1123"/>
                <a:gd name="T57" fmla="*/ 134 h 151"/>
                <a:gd name="T58" fmla="*/ 997 w 1123"/>
                <a:gd name="T59" fmla="*/ 146 h 151"/>
                <a:gd name="T60" fmla="*/ 991 w 1123"/>
                <a:gd name="T61" fmla="*/ 151 h 151"/>
                <a:gd name="T62" fmla="*/ 1016 w 1123"/>
                <a:gd name="T63" fmla="*/ 151 h 151"/>
                <a:gd name="T64" fmla="*/ 1016 w 1123"/>
                <a:gd name="T65" fmla="*/ 72 h 151"/>
                <a:gd name="T66" fmla="*/ 1042 w 1123"/>
                <a:gd name="T67" fmla="*/ 72 h 151"/>
                <a:gd name="T68" fmla="*/ 1042 w 1123"/>
                <a:gd name="T69" fmla="*/ 134 h 151"/>
                <a:gd name="T70" fmla="*/ 1077 w 1123"/>
                <a:gd name="T71" fmla="*/ 134 h 151"/>
                <a:gd name="T72" fmla="*/ 1077 w 1123"/>
                <a:gd name="T73" fmla="*/ 151 h 151"/>
                <a:gd name="T74" fmla="*/ 1123 w 1123"/>
                <a:gd name="T75" fmla="*/ 151 h 151"/>
                <a:gd name="T76" fmla="*/ 1123 w 1123"/>
                <a:gd name="T77" fmla="*/ 0 h 151"/>
                <a:gd name="T78" fmla="*/ 0 w 1123"/>
                <a:gd name="T79" fmla="*/ 0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123" h="151">
                  <a:moveTo>
                    <a:pt x="0" y="0"/>
                  </a:moveTo>
                  <a:cubicBezTo>
                    <a:pt x="0" y="151"/>
                    <a:pt x="0" y="151"/>
                    <a:pt x="0" y="151"/>
                  </a:cubicBezTo>
                  <a:cubicBezTo>
                    <a:pt x="844" y="151"/>
                    <a:pt x="844" y="151"/>
                    <a:pt x="844" y="151"/>
                  </a:cubicBezTo>
                  <a:cubicBezTo>
                    <a:pt x="843" y="150"/>
                    <a:pt x="842" y="149"/>
                    <a:pt x="841" y="148"/>
                  </a:cubicBezTo>
                  <a:cubicBezTo>
                    <a:pt x="833" y="140"/>
                    <a:pt x="833" y="131"/>
                    <a:pt x="832" y="122"/>
                  </a:cubicBezTo>
                  <a:cubicBezTo>
                    <a:pt x="832" y="72"/>
                    <a:pt x="832" y="72"/>
                    <a:pt x="832" y="72"/>
                  </a:cubicBezTo>
                  <a:cubicBezTo>
                    <a:pt x="859" y="72"/>
                    <a:pt x="859" y="72"/>
                    <a:pt x="859" y="72"/>
                  </a:cubicBezTo>
                  <a:cubicBezTo>
                    <a:pt x="859" y="124"/>
                    <a:pt x="859" y="124"/>
                    <a:pt x="859" y="124"/>
                  </a:cubicBezTo>
                  <a:cubicBezTo>
                    <a:pt x="859" y="128"/>
                    <a:pt x="860" y="132"/>
                    <a:pt x="863" y="135"/>
                  </a:cubicBezTo>
                  <a:cubicBezTo>
                    <a:pt x="865" y="137"/>
                    <a:pt x="868" y="138"/>
                    <a:pt x="871" y="138"/>
                  </a:cubicBezTo>
                  <a:cubicBezTo>
                    <a:pt x="875" y="138"/>
                    <a:pt x="878" y="136"/>
                    <a:pt x="880" y="135"/>
                  </a:cubicBezTo>
                  <a:cubicBezTo>
                    <a:pt x="883" y="132"/>
                    <a:pt x="883" y="128"/>
                    <a:pt x="883" y="124"/>
                  </a:cubicBezTo>
                  <a:cubicBezTo>
                    <a:pt x="883" y="72"/>
                    <a:pt x="883" y="72"/>
                    <a:pt x="883" y="72"/>
                  </a:cubicBezTo>
                  <a:cubicBezTo>
                    <a:pt x="910" y="72"/>
                    <a:pt x="910" y="72"/>
                    <a:pt x="910" y="72"/>
                  </a:cubicBezTo>
                  <a:cubicBezTo>
                    <a:pt x="910" y="117"/>
                    <a:pt x="910" y="117"/>
                    <a:pt x="910" y="117"/>
                  </a:cubicBezTo>
                  <a:cubicBezTo>
                    <a:pt x="910" y="126"/>
                    <a:pt x="910" y="139"/>
                    <a:pt x="900" y="148"/>
                  </a:cubicBezTo>
                  <a:cubicBezTo>
                    <a:pt x="899" y="149"/>
                    <a:pt x="898" y="150"/>
                    <a:pt x="897" y="151"/>
                  </a:cubicBezTo>
                  <a:cubicBezTo>
                    <a:pt x="937" y="151"/>
                    <a:pt x="937" y="151"/>
                    <a:pt x="937" y="151"/>
                  </a:cubicBezTo>
                  <a:cubicBezTo>
                    <a:pt x="925" y="142"/>
                    <a:pt x="920" y="128"/>
                    <a:pt x="920" y="114"/>
                  </a:cubicBezTo>
                  <a:cubicBezTo>
                    <a:pt x="920" y="92"/>
                    <a:pt x="935" y="69"/>
                    <a:pt x="964" y="69"/>
                  </a:cubicBezTo>
                  <a:cubicBezTo>
                    <a:pt x="976" y="69"/>
                    <a:pt x="989" y="73"/>
                    <a:pt x="998" y="82"/>
                  </a:cubicBezTo>
                  <a:cubicBezTo>
                    <a:pt x="1001" y="86"/>
                    <a:pt x="1003" y="89"/>
                    <a:pt x="1005" y="92"/>
                  </a:cubicBezTo>
                  <a:cubicBezTo>
                    <a:pt x="982" y="103"/>
                    <a:pt x="982" y="103"/>
                    <a:pt x="982" y="103"/>
                  </a:cubicBezTo>
                  <a:cubicBezTo>
                    <a:pt x="980" y="98"/>
                    <a:pt x="976" y="89"/>
                    <a:pt x="965" y="89"/>
                  </a:cubicBezTo>
                  <a:cubicBezTo>
                    <a:pt x="959" y="89"/>
                    <a:pt x="955" y="92"/>
                    <a:pt x="953" y="94"/>
                  </a:cubicBezTo>
                  <a:cubicBezTo>
                    <a:pt x="947" y="100"/>
                    <a:pt x="947" y="109"/>
                    <a:pt x="947" y="113"/>
                  </a:cubicBezTo>
                  <a:cubicBezTo>
                    <a:pt x="947" y="125"/>
                    <a:pt x="952" y="137"/>
                    <a:pt x="965" y="137"/>
                  </a:cubicBezTo>
                  <a:cubicBezTo>
                    <a:pt x="977" y="137"/>
                    <a:pt x="981" y="126"/>
                    <a:pt x="982" y="123"/>
                  </a:cubicBezTo>
                  <a:cubicBezTo>
                    <a:pt x="1005" y="134"/>
                    <a:pt x="1005" y="134"/>
                    <a:pt x="1005" y="134"/>
                  </a:cubicBezTo>
                  <a:cubicBezTo>
                    <a:pt x="1003" y="138"/>
                    <a:pt x="1001" y="142"/>
                    <a:pt x="997" y="146"/>
                  </a:cubicBezTo>
                  <a:cubicBezTo>
                    <a:pt x="995" y="148"/>
                    <a:pt x="993" y="150"/>
                    <a:pt x="991" y="151"/>
                  </a:cubicBezTo>
                  <a:cubicBezTo>
                    <a:pt x="1016" y="151"/>
                    <a:pt x="1016" y="151"/>
                    <a:pt x="1016" y="151"/>
                  </a:cubicBezTo>
                  <a:cubicBezTo>
                    <a:pt x="1016" y="72"/>
                    <a:pt x="1016" y="72"/>
                    <a:pt x="1016" y="72"/>
                  </a:cubicBezTo>
                  <a:cubicBezTo>
                    <a:pt x="1042" y="72"/>
                    <a:pt x="1042" y="72"/>
                    <a:pt x="1042" y="72"/>
                  </a:cubicBezTo>
                  <a:cubicBezTo>
                    <a:pt x="1042" y="134"/>
                    <a:pt x="1042" y="134"/>
                    <a:pt x="1042" y="134"/>
                  </a:cubicBezTo>
                  <a:cubicBezTo>
                    <a:pt x="1077" y="134"/>
                    <a:pt x="1077" y="134"/>
                    <a:pt x="1077" y="134"/>
                  </a:cubicBezTo>
                  <a:cubicBezTo>
                    <a:pt x="1077" y="151"/>
                    <a:pt x="1077" y="151"/>
                    <a:pt x="1077" y="151"/>
                  </a:cubicBezTo>
                  <a:cubicBezTo>
                    <a:pt x="1123" y="151"/>
                    <a:pt x="1123" y="151"/>
                    <a:pt x="1123" y="151"/>
                  </a:cubicBezTo>
                  <a:cubicBezTo>
                    <a:pt x="1123" y="0"/>
                    <a:pt x="1123" y="0"/>
                    <a:pt x="1123" y="0"/>
                  </a:cubicBezTo>
                  <a:lnTo>
                    <a:pt x="0" y="0"/>
                  </a:lnTo>
                  <a:close/>
                </a:path>
              </a:pathLst>
            </a:custGeom>
            <a:solidFill>
              <a:srgbClr val="D6D2C4"/>
            </a:solidFill>
            <a:ln>
              <a:noFill/>
            </a:ln>
          </p:spPr>
          <p:txBody>
            <a:bodyPr vert="horz" wrap="square" lIns="91440" tIns="45720" rIns="91440" bIns="45720" numCol="1" anchor="t" anchorCtr="0" compatLnSpc="1">
              <a:prstTxWarp prst="textNoShape">
                <a:avLst/>
              </a:prstTxWarp>
            </a:bodyPr>
            <a:lstStyle/>
            <a:p>
              <a:endParaRPr lang="en-GB" sz="2400"/>
            </a:p>
          </p:txBody>
        </p:sp>
        <p:pic>
          <p:nvPicPr>
            <p:cNvPr id="11" name="Picture 10"/>
            <p:cNvPicPr>
              <a:picLocks noChangeAspect="1"/>
            </p:cNvPicPr>
            <p:nvPr/>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flipH="1">
              <a:off x="6420182" y="514785"/>
              <a:ext cx="257986" cy="303133"/>
            </a:xfrm>
            <a:prstGeom prst="rect">
              <a:avLst/>
            </a:prstGeom>
          </p:spPr>
        </p:pic>
      </p:grpSp>
      <p:sp>
        <p:nvSpPr>
          <p:cNvPr id="7" name="Text Placeholder 6"/>
          <p:cNvSpPr>
            <a:spLocks noGrp="1"/>
          </p:cNvSpPr>
          <p:nvPr>
            <p:ph type="body" sz="quarter" idx="12" hasCustomPrompt="1"/>
          </p:nvPr>
        </p:nvSpPr>
        <p:spPr>
          <a:xfrm>
            <a:off x="383999" y="384000"/>
            <a:ext cx="7318611" cy="390725"/>
          </a:xfrm>
        </p:spPr>
        <p:txBody>
          <a:bodyPr lIns="0" tIns="0" rIns="0" bIns="0">
            <a:noAutofit/>
          </a:bodyPr>
          <a:lstStyle>
            <a:lvl1pPr marL="0" indent="0">
              <a:lnSpc>
                <a:spcPct val="80000"/>
              </a:lnSpc>
              <a:buNone/>
              <a:defRPr sz="1467" baseline="0">
                <a:solidFill>
                  <a:schemeClr val="tx1"/>
                </a:solidFill>
              </a:defRPr>
            </a:lvl1pPr>
            <a:lvl2pPr marL="0" indent="0">
              <a:lnSpc>
                <a:spcPct val="80000"/>
              </a:lnSpc>
              <a:buNone/>
              <a:defRPr sz="1467">
                <a:solidFill>
                  <a:schemeClr val="tx1"/>
                </a:solidFill>
              </a:defRPr>
            </a:lvl2pPr>
            <a:lvl3pPr marL="0" indent="0">
              <a:buNone/>
              <a:defRPr sz="1467">
                <a:solidFill>
                  <a:schemeClr val="tx1"/>
                </a:solidFill>
              </a:defRPr>
            </a:lvl3pPr>
            <a:lvl4pPr marL="0" indent="0">
              <a:buNone/>
              <a:defRPr sz="1467">
                <a:solidFill>
                  <a:schemeClr val="tx1"/>
                </a:solidFill>
              </a:defRPr>
            </a:lvl4pPr>
            <a:lvl5pPr marL="0" indent="0">
              <a:buNone/>
              <a:defRPr sz="1467">
                <a:solidFill>
                  <a:schemeClr val="tx1"/>
                </a:solidFill>
              </a:defRPr>
            </a:lvl5pPr>
          </a:lstStyle>
          <a:p>
            <a:pPr lvl="0"/>
            <a:r>
              <a:rPr lang="en-US" dirty="0"/>
              <a:t>FACULTY, SCHOOL, DEPARTMENT OR INSTITUTE NAME HERE</a:t>
            </a:r>
          </a:p>
          <a:p>
            <a:pPr lvl="1"/>
            <a:r>
              <a:rPr lang="en-US" dirty="0"/>
              <a:t>SECOND TIER INFORMATION HERE IF NEEDED</a:t>
            </a:r>
          </a:p>
        </p:txBody>
      </p:sp>
    </p:spTree>
    <p:extLst>
      <p:ext uri="{BB962C8B-B14F-4D97-AF65-F5344CB8AC3E}">
        <p14:creationId xmlns:p14="http://schemas.microsoft.com/office/powerpoint/2010/main" val="27926063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hin banner">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383999" y="1326291"/>
            <a:ext cx="11146989" cy="4993416"/>
          </a:xfrm>
        </p:spPr>
        <p:txBody>
          <a:bodyPr>
            <a:normAutofit/>
          </a:bodyPr>
          <a:lstStyle>
            <a:lvl1pPr marL="0" indent="0">
              <a:buNone/>
              <a:defRPr sz="3200" b="0">
                <a:solidFill>
                  <a:schemeClr val="tx1"/>
                </a:solidFill>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dirty="0"/>
              <a:t>Click to edit Master text styles</a:t>
            </a:r>
          </a:p>
        </p:txBody>
      </p:sp>
      <p:grpSp>
        <p:nvGrpSpPr>
          <p:cNvPr id="6" name="Group 5"/>
          <p:cNvGrpSpPr/>
          <p:nvPr userDrawn="1"/>
        </p:nvGrpSpPr>
        <p:grpSpPr>
          <a:xfrm>
            <a:off x="0" y="-2117"/>
            <a:ext cx="12192000" cy="988484"/>
            <a:chOff x="0" y="-1588"/>
            <a:chExt cx="9144000" cy="741363"/>
          </a:xfrm>
          <a:solidFill>
            <a:srgbClr val="D6D2C4"/>
          </a:solidFill>
        </p:grpSpPr>
        <p:sp>
          <p:nvSpPr>
            <p:cNvPr id="8" name="Freeform 5"/>
            <p:cNvSpPr>
              <a:spLocks/>
            </p:cNvSpPr>
            <p:nvPr/>
          </p:nvSpPr>
          <p:spPr bwMode="auto">
            <a:xfrm>
              <a:off x="0" y="-1588"/>
              <a:ext cx="9144000" cy="741363"/>
            </a:xfrm>
            <a:custGeom>
              <a:avLst/>
              <a:gdLst>
                <a:gd name="T0" fmla="*/ 0 w 1123"/>
                <a:gd name="T1" fmla="*/ 0 h 90"/>
                <a:gd name="T2" fmla="*/ 0 w 1123"/>
                <a:gd name="T3" fmla="*/ 90 h 90"/>
                <a:gd name="T4" fmla="*/ 957 w 1123"/>
                <a:gd name="T5" fmla="*/ 90 h 90"/>
                <a:gd name="T6" fmla="*/ 955 w 1123"/>
                <a:gd name="T7" fmla="*/ 89 h 90"/>
                <a:gd name="T8" fmla="*/ 949 w 1123"/>
                <a:gd name="T9" fmla="*/ 73 h 90"/>
                <a:gd name="T10" fmla="*/ 949 w 1123"/>
                <a:gd name="T11" fmla="*/ 43 h 90"/>
                <a:gd name="T12" fmla="*/ 966 w 1123"/>
                <a:gd name="T13" fmla="*/ 43 h 90"/>
                <a:gd name="T14" fmla="*/ 966 w 1123"/>
                <a:gd name="T15" fmla="*/ 74 h 90"/>
                <a:gd name="T16" fmla="*/ 967 w 1123"/>
                <a:gd name="T17" fmla="*/ 80 h 90"/>
                <a:gd name="T18" fmla="*/ 973 w 1123"/>
                <a:gd name="T19" fmla="*/ 82 h 90"/>
                <a:gd name="T20" fmla="*/ 978 w 1123"/>
                <a:gd name="T21" fmla="*/ 80 h 90"/>
                <a:gd name="T22" fmla="*/ 980 w 1123"/>
                <a:gd name="T23" fmla="*/ 74 h 90"/>
                <a:gd name="T24" fmla="*/ 980 w 1123"/>
                <a:gd name="T25" fmla="*/ 43 h 90"/>
                <a:gd name="T26" fmla="*/ 996 w 1123"/>
                <a:gd name="T27" fmla="*/ 43 h 90"/>
                <a:gd name="T28" fmla="*/ 996 w 1123"/>
                <a:gd name="T29" fmla="*/ 70 h 90"/>
                <a:gd name="T30" fmla="*/ 990 w 1123"/>
                <a:gd name="T31" fmla="*/ 89 h 90"/>
                <a:gd name="T32" fmla="*/ 988 w 1123"/>
                <a:gd name="T33" fmla="*/ 90 h 90"/>
                <a:gd name="T34" fmla="*/ 1012 w 1123"/>
                <a:gd name="T35" fmla="*/ 90 h 90"/>
                <a:gd name="T36" fmla="*/ 1002 w 1123"/>
                <a:gd name="T37" fmla="*/ 68 h 90"/>
                <a:gd name="T38" fmla="*/ 1028 w 1123"/>
                <a:gd name="T39" fmla="*/ 41 h 90"/>
                <a:gd name="T40" fmla="*/ 1048 w 1123"/>
                <a:gd name="T41" fmla="*/ 49 h 90"/>
                <a:gd name="T42" fmla="*/ 1052 w 1123"/>
                <a:gd name="T43" fmla="*/ 55 h 90"/>
                <a:gd name="T44" fmla="*/ 1039 w 1123"/>
                <a:gd name="T45" fmla="*/ 62 h 90"/>
                <a:gd name="T46" fmla="*/ 1028 w 1123"/>
                <a:gd name="T47" fmla="*/ 53 h 90"/>
                <a:gd name="T48" fmla="*/ 1022 w 1123"/>
                <a:gd name="T49" fmla="*/ 56 h 90"/>
                <a:gd name="T50" fmla="*/ 1018 w 1123"/>
                <a:gd name="T51" fmla="*/ 67 h 90"/>
                <a:gd name="T52" fmla="*/ 1028 w 1123"/>
                <a:gd name="T53" fmla="*/ 82 h 90"/>
                <a:gd name="T54" fmla="*/ 1039 w 1123"/>
                <a:gd name="T55" fmla="*/ 74 h 90"/>
                <a:gd name="T56" fmla="*/ 1052 w 1123"/>
                <a:gd name="T57" fmla="*/ 80 h 90"/>
                <a:gd name="T58" fmla="*/ 1047 w 1123"/>
                <a:gd name="T59" fmla="*/ 87 h 90"/>
                <a:gd name="T60" fmla="*/ 1044 w 1123"/>
                <a:gd name="T61" fmla="*/ 90 h 90"/>
                <a:gd name="T62" fmla="*/ 1059 w 1123"/>
                <a:gd name="T63" fmla="*/ 90 h 90"/>
                <a:gd name="T64" fmla="*/ 1059 w 1123"/>
                <a:gd name="T65" fmla="*/ 43 h 90"/>
                <a:gd name="T66" fmla="*/ 1075 w 1123"/>
                <a:gd name="T67" fmla="*/ 43 h 90"/>
                <a:gd name="T68" fmla="*/ 1075 w 1123"/>
                <a:gd name="T69" fmla="*/ 80 h 90"/>
                <a:gd name="T70" fmla="*/ 1096 w 1123"/>
                <a:gd name="T71" fmla="*/ 80 h 90"/>
                <a:gd name="T72" fmla="*/ 1096 w 1123"/>
                <a:gd name="T73" fmla="*/ 90 h 90"/>
                <a:gd name="T74" fmla="*/ 1123 w 1123"/>
                <a:gd name="T75" fmla="*/ 90 h 90"/>
                <a:gd name="T76" fmla="*/ 1123 w 1123"/>
                <a:gd name="T77" fmla="*/ 0 h 90"/>
                <a:gd name="T78" fmla="*/ 0 w 1123"/>
                <a:gd name="T79"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123" h="90">
                  <a:moveTo>
                    <a:pt x="0" y="0"/>
                  </a:moveTo>
                  <a:cubicBezTo>
                    <a:pt x="0" y="90"/>
                    <a:pt x="0" y="90"/>
                    <a:pt x="0" y="90"/>
                  </a:cubicBezTo>
                  <a:cubicBezTo>
                    <a:pt x="957" y="90"/>
                    <a:pt x="957" y="90"/>
                    <a:pt x="957" y="90"/>
                  </a:cubicBezTo>
                  <a:cubicBezTo>
                    <a:pt x="956" y="90"/>
                    <a:pt x="955" y="89"/>
                    <a:pt x="955" y="89"/>
                  </a:cubicBezTo>
                  <a:cubicBezTo>
                    <a:pt x="950" y="84"/>
                    <a:pt x="950" y="78"/>
                    <a:pt x="949" y="73"/>
                  </a:cubicBezTo>
                  <a:cubicBezTo>
                    <a:pt x="949" y="43"/>
                    <a:pt x="949" y="43"/>
                    <a:pt x="949" y="43"/>
                  </a:cubicBezTo>
                  <a:cubicBezTo>
                    <a:pt x="966" y="43"/>
                    <a:pt x="966" y="43"/>
                    <a:pt x="966" y="43"/>
                  </a:cubicBezTo>
                  <a:cubicBezTo>
                    <a:pt x="966" y="74"/>
                    <a:pt x="966" y="74"/>
                    <a:pt x="966" y="74"/>
                  </a:cubicBezTo>
                  <a:cubicBezTo>
                    <a:pt x="966" y="76"/>
                    <a:pt x="966" y="79"/>
                    <a:pt x="967" y="80"/>
                  </a:cubicBezTo>
                  <a:cubicBezTo>
                    <a:pt x="969" y="82"/>
                    <a:pt x="971" y="82"/>
                    <a:pt x="973" y="82"/>
                  </a:cubicBezTo>
                  <a:cubicBezTo>
                    <a:pt x="975" y="82"/>
                    <a:pt x="977" y="81"/>
                    <a:pt x="978" y="80"/>
                  </a:cubicBezTo>
                  <a:cubicBezTo>
                    <a:pt x="979" y="79"/>
                    <a:pt x="980" y="76"/>
                    <a:pt x="980" y="74"/>
                  </a:cubicBezTo>
                  <a:cubicBezTo>
                    <a:pt x="980" y="43"/>
                    <a:pt x="980" y="43"/>
                    <a:pt x="980" y="43"/>
                  </a:cubicBezTo>
                  <a:cubicBezTo>
                    <a:pt x="996" y="43"/>
                    <a:pt x="996" y="43"/>
                    <a:pt x="996" y="43"/>
                  </a:cubicBezTo>
                  <a:cubicBezTo>
                    <a:pt x="996" y="70"/>
                    <a:pt x="996" y="70"/>
                    <a:pt x="996" y="70"/>
                  </a:cubicBezTo>
                  <a:cubicBezTo>
                    <a:pt x="996" y="75"/>
                    <a:pt x="996" y="83"/>
                    <a:pt x="990" y="89"/>
                  </a:cubicBezTo>
                  <a:cubicBezTo>
                    <a:pt x="989" y="89"/>
                    <a:pt x="989" y="90"/>
                    <a:pt x="988" y="90"/>
                  </a:cubicBezTo>
                  <a:cubicBezTo>
                    <a:pt x="1012" y="90"/>
                    <a:pt x="1012" y="90"/>
                    <a:pt x="1012" y="90"/>
                  </a:cubicBezTo>
                  <a:cubicBezTo>
                    <a:pt x="1005" y="85"/>
                    <a:pt x="1002" y="76"/>
                    <a:pt x="1002" y="68"/>
                  </a:cubicBezTo>
                  <a:cubicBezTo>
                    <a:pt x="1002" y="55"/>
                    <a:pt x="1011" y="41"/>
                    <a:pt x="1028" y="41"/>
                  </a:cubicBezTo>
                  <a:cubicBezTo>
                    <a:pt x="1035" y="41"/>
                    <a:pt x="1043" y="44"/>
                    <a:pt x="1048" y="49"/>
                  </a:cubicBezTo>
                  <a:cubicBezTo>
                    <a:pt x="1050" y="51"/>
                    <a:pt x="1051" y="53"/>
                    <a:pt x="1052" y="55"/>
                  </a:cubicBezTo>
                  <a:cubicBezTo>
                    <a:pt x="1039" y="62"/>
                    <a:pt x="1039" y="62"/>
                    <a:pt x="1039" y="62"/>
                  </a:cubicBezTo>
                  <a:cubicBezTo>
                    <a:pt x="1038" y="59"/>
                    <a:pt x="1035" y="53"/>
                    <a:pt x="1028" y="53"/>
                  </a:cubicBezTo>
                  <a:cubicBezTo>
                    <a:pt x="1025" y="53"/>
                    <a:pt x="1023" y="55"/>
                    <a:pt x="1022" y="56"/>
                  </a:cubicBezTo>
                  <a:cubicBezTo>
                    <a:pt x="1018" y="60"/>
                    <a:pt x="1018" y="65"/>
                    <a:pt x="1018" y="67"/>
                  </a:cubicBezTo>
                  <a:cubicBezTo>
                    <a:pt x="1018" y="75"/>
                    <a:pt x="1021" y="82"/>
                    <a:pt x="1028" y="82"/>
                  </a:cubicBezTo>
                  <a:cubicBezTo>
                    <a:pt x="1036" y="82"/>
                    <a:pt x="1038" y="75"/>
                    <a:pt x="1039" y="74"/>
                  </a:cubicBezTo>
                  <a:cubicBezTo>
                    <a:pt x="1052" y="80"/>
                    <a:pt x="1052" y="80"/>
                    <a:pt x="1052" y="80"/>
                  </a:cubicBezTo>
                  <a:cubicBezTo>
                    <a:pt x="1051" y="83"/>
                    <a:pt x="1050" y="85"/>
                    <a:pt x="1047" y="87"/>
                  </a:cubicBezTo>
                  <a:cubicBezTo>
                    <a:pt x="1046" y="88"/>
                    <a:pt x="1045" y="89"/>
                    <a:pt x="1044" y="90"/>
                  </a:cubicBezTo>
                  <a:cubicBezTo>
                    <a:pt x="1059" y="90"/>
                    <a:pt x="1059" y="90"/>
                    <a:pt x="1059" y="90"/>
                  </a:cubicBezTo>
                  <a:cubicBezTo>
                    <a:pt x="1059" y="43"/>
                    <a:pt x="1059" y="43"/>
                    <a:pt x="1059" y="43"/>
                  </a:cubicBezTo>
                  <a:cubicBezTo>
                    <a:pt x="1075" y="43"/>
                    <a:pt x="1075" y="43"/>
                    <a:pt x="1075" y="43"/>
                  </a:cubicBezTo>
                  <a:cubicBezTo>
                    <a:pt x="1075" y="80"/>
                    <a:pt x="1075" y="80"/>
                    <a:pt x="1075" y="80"/>
                  </a:cubicBezTo>
                  <a:cubicBezTo>
                    <a:pt x="1096" y="80"/>
                    <a:pt x="1096" y="80"/>
                    <a:pt x="1096" y="80"/>
                  </a:cubicBezTo>
                  <a:cubicBezTo>
                    <a:pt x="1096" y="90"/>
                    <a:pt x="1096" y="90"/>
                    <a:pt x="1096" y="90"/>
                  </a:cubicBezTo>
                  <a:cubicBezTo>
                    <a:pt x="1123" y="90"/>
                    <a:pt x="1123" y="90"/>
                    <a:pt x="1123" y="90"/>
                  </a:cubicBezTo>
                  <a:cubicBezTo>
                    <a:pt x="1123" y="0"/>
                    <a:pt x="1123" y="0"/>
                    <a:pt x="1123" y="0"/>
                  </a:cubicBezTo>
                  <a:lnTo>
                    <a:pt x="0" y="0"/>
                  </a:lnTo>
                  <a:close/>
                </a:path>
              </a:pathLst>
            </a:custGeom>
            <a:solidFill>
              <a:srgbClr val="D6D2C4"/>
            </a:solidFill>
            <a:ln>
              <a:noFill/>
            </a:ln>
          </p:spPr>
          <p:txBody>
            <a:bodyPr vert="horz" wrap="square" lIns="91440" tIns="45720" rIns="91440" bIns="45720" numCol="1" anchor="t" anchorCtr="0" compatLnSpc="1">
              <a:prstTxWarp prst="textNoShape">
                <a:avLst/>
              </a:prstTxWarp>
            </a:bodyPr>
            <a:lstStyle/>
            <a:p>
              <a:endParaRPr lang="en-GB" sz="2400" dirty="0"/>
            </a:p>
          </p:txBody>
        </p:sp>
        <p:pic>
          <p:nvPicPr>
            <p:cNvPr id="10" name="Picture 9"/>
            <p:cNvPicPr>
              <a:picLocks noChangeAspect="1"/>
            </p:cNvPicPr>
            <p:nvPr/>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flipH="1">
              <a:off x="7524000" y="360000"/>
              <a:ext cx="147064" cy="172800"/>
            </a:xfrm>
            <a:prstGeom prst="rect">
              <a:avLst/>
            </a:prstGeom>
            <a:noFill/>
          </p:spPr>
        </p:pic>
      </p:grpSp>
      <p:sp>
        <p:nvSpPr>
          <p:cNvPr id="3" name="Title 2">
            <a:extLst>
              <a:ext uri="{FF2B5EF4-FFF2-40B4-BE49-F238E27FC236}">
                <a16:creationId xmlns:a16="http://schemas.microsoft.com/office/drawing/2014/main" id="{08617264-77E5-D84E-B0FF-1EA9D2C4442E}"/>
              </a:ext>
            </a:extLst>
          </p:cNvPr>
          <p:cNvSpPr>
            <a:spLocks noGrp="1"/>
          </p:cNvSpPr>
          <p:nvPr>
            <p:ph type="title"/>
          </p:nvPr>
        </p:nvSpPr>
        <p:spPr>
          <a:xfrm>
            <a:off x="383999" y="190218"/>
            <a:ext cx="9382171" cy="651911"/>
          </a:xfrm>
          <a:prstGeom prst="rect">
            <a:avLst/>
          </a:prstGeom>
        </p:spPr>
        <p:txBody>
          <a:bodyPr/>
          <a:lstStyle>
            <a:lvl1pPr>
              <a:defRPr sz="4267" b="1">
                <a:latin typeface="Arial" panose="020B0604020202020204" pitchFamily="34" charset="0"/>
                <a:cs typeface="Arial" panose="020B0604020202020204" pitchFamily="34" charset="0"/>
              </a:defRPr>
            </a:lvl1pPr>
          </a:lstStyle>
          <a:p>
            <a:r>
              <a:rPr lang="en-GB" dirty="0"/>
              <a:t>Click to edit Master title style</a:t>
            </a:r>
            <a:endParaRPr lang="en-US" dirty="0"/>
          </a:p>
        </p:txBody>
      </p:sp>
    </p:spTree>
    <p:extLst>
      <p:ext uri="{BB962C8B-B14F-4D97-AF65-F5344CB8AC3E}">
        <p14:creationId xmlns:p14="http://schemas.microsoft.com/office/powerpoint/2010/main" val="2675171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2C065B9-79B2-2E46-992C-E436F6FDC61B}"/>
              </a:ext>
            </a:extLst>
          </p:cNvPr>
          <p:cNvPicPr>
            <a:picLocks/>
          </p:cNvPicPr>
          <p:nvPr userDrawn="1"/>
        </p:nvPicPr>
        <p:blipFill>
          <a:blip r:embed="rId13"/>
          <a:stretch>
            <a:fillRect/>
          </a:stretch>
        </p:blipFill>
        <p:spPr>
          <a:xfrm>
            <a:off x="0" y="-11262"/>
            <a:ext cx="12192000" cy="1325564"/>
          </a:xfrm>
          <a:prstGeom prst="rect">
            <a:avLst/>
          </a:prstGeom>
        </p:spPr>
      </p:pic>
      <p:sp>
        <p:nvSpPr>
          <p:cNvPr id="2" name="Title Placeholder 1">
            <a:extLst>
              <a:ext uri="{FF2B5EF4-FFF2-40B4-BE49-F238E27FC236}">
                <a16:creationId xmlns:a16="http://schemas.microsoft.com/office/drawing/2014/main" id="{18D3A9AA-7FD3-E641-8BB9-C7229D097627}"/>
              </a:ext>
            </a:extLst>
          </p:cNvPr>
          <p:cNvSpPr>
            <a:spLocks noGrp="1"/>
          </p:cNvSpPr>
          <p:nvPr>
            <p:ph type="title"/>
          </p:nvPr>
        </p:nvSpPr>
        <p:spPr>
          <a:xfrm>
            <a:off x="0" y="199347"/>
            <a:ext cx="10515600" cy="904346"/>
          </a:xfrm>
          <a:prstGeom prst="rect">
            <a:avLst/>
          </a:prstGeom>
        </p:spPr>
        <p:txBody>
          <a:bodyPr vert="horz" lIns="91440" tIns="45720" rIns="91440" bIns="45720" rtlCol="0" anchor="ctr">
            <a:normAutofit/>
          </a:body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D6F63258-2D95-1B4C-B09E-444B93AC605E}"/>
              </a:ext>
            </a:extLst>
          </p:cNvPr>
          <p:cNvSpPr>
            <a:spLocks noGrp="1"/>
          </p:cNvSpPr>
          <p:nvPr>
            <p:ph type="body" idx="1"/>
          </p:nvPr>
        </p:nvSpPr>
        <p:spPr>
          <a:xfrm>
            <a:off x="197708" y="1668162"/>
            <a:ext cx="11294076" cy="4893275"/>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7766015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200"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Clr>
          <a:schemeClr val="bg2">
            <a:lumMod val="75000"/>
          </a:schemeClr>
        </a:buClr>
        <a:buFont typeface="Wingdings" pitchFamily="2" charset="2"/>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Clr>
          <a:schemeClr val="bg2">
            <a:lumMod val="90000"/>
          </a:schemeClr>
        </a:buClr>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8200" y="2000989"/>
            <a:ext cx="10515600" cy="4351339"/>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itle 1"/>
          <p:cNvSpPr txBox="1">
            <a:spLocks/>
          </p:cNvSpPr>
          <p:nvPr userDrawn="1"/>
        </p:nvSpPr>
        <p:spPr>
          <a:xfrm>
            <a:off x="220249" y="220779"/>
            <a:ext cx="4289120" cy="939967"/>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Arial" charset="0"/>
                <a:ea typeface="Arial" charset="0"/>
                <a:cs typeface="Arial" charset="0"/>
              </a:defRPr>
            </a:lvl1pPr>
          </a:lstStyle>
          <a:p>
            <a:pPr marL="16933"/>
            <a:endParaRPr lang="en-GB" sz="1333" dirty="0">
              <a:solidFill>
                <a:schemeClr val="bg1"/>
              </a:solidFill>
              <a:latin typeface="Arial"/>
              <a:cs typeface="Arial"/>
            </a:endParaRPr>
          </a:p>
        </p:txBody>
      </p:sp>
    </p:spTree>
    <p:extLst>
      <p:ext uri="{BB962C8B-B14F-4D97-AF65-F5344CB8AC3E}">
        <p14:creationId xmlns:p14="http://schemas.microsoft.com/office/powerpoint/2010/main" val="4270057836"/>
      </p:ext>
    </p:extLst>
  </p:cSld>
  <p:clrMap bg1="lt1" tx1="dk1" bg2="lt2" tx2="dk2" accent1="accent1" accent2="accent2" accent3="accent3" accent4="accent4" accent5="accent5" accent6="accent6" hlink="hlink" folHlink="folHlink"/>
  <p:sldLayoutIdLst>
    <p:sldLayoutId id="2147483661" r:id="rId1"/>
    <p:sldLayoutId id="2147483662" r:id="rId2"/>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119997" indent="-119997" algn="l" defTabSz="914377" rtl="0" eaLnBrk="1" latinLnBrk="0" hangingPunct="1">
        <a:lnSpc>
          <a:spcPct val="90000"/>
        </a:lnSpc>
        <a:spcBef>
          <a:spcPts val="1000"/>
        </a:spcBef>
        <a:buFont typeface="Arial" panose="020B0604020202020204" pitchFamily="34" charset="0"/>
        <a:buChar char="•"/>
        <a:defRPr sz="3733" b="1" kern="1200">
          <a:solidFill>
            <a:schemeClr val="tx1"/>
          </a:solidFill>
          <a:latin typeface="Arial" charset="0"/>
          <a:ea typeface="Arial" charset="0"/>
          <a:cs typeface="Arial" charset="0"/>
        </a:defRPr>
      </a:lvl1pPr>
      <a:lvl2pPr marL="119997" indent="-119997" algn="l" defTabSz="914377" rtl="0" eaLnBrk="1" latinLnBrk="0" hangingPunct="1">
        <a:lnSpc>
          <a:spcPct val="90000"/>
        </a:lnSpc>
        <a:spcBef>
          <a:spcPts val="500"/>
        </a:spcBef>
        <a:buFont typeface="Arial" panose="020B0604020202020204" pitchFamily="34" charset="0"/>
        <a:buChar char="•"/>
        <a:defRPr sz="3200" kern="1200">
          <a:solidFill>
            <a:schemeClr val="tx1"/>
          </a:solidFill>
          <a:latin typeface="Arial" charset="0"/>
          <a:ea typeface="Arial" charset="0"/>
          <a:cs typeface="Arial" charset="0"/>
        </a:defRPr>
      </a:lvl2pPr>
      <a:lvl3pPr marL="119997" indent="-119997" algn="l" defTabSz="914377" rtl="0" eaLnBrk="1" latinLnBrk="0" hangingPunct="1">
        <a:lnSpc>
          <a:spcPct val="90000"/>
        </a:lnSpc>
        <a:spcBef>
          <a:spcPts val="500"/>
        </a:spcBef>
        <a:buFont typeface="Arial" panose="020B0604020202020204" pitchFamily="34" charset="0"/>
        <a:buChar char="•"/>
        <a:defRPr sz="1867" b="1" kern="1200">
          <a:solidFill>
            <a:schemeClr val="tx1"/>
          </a:solidFill>
          <a:latin typeface="Arial" charset="0"/>
          <a:ea typeface="Arial" charset="0"/>
          <a:cs typeface="Arial" charset="0"/>
        </a:defRPr>
      </a:lvl3pPr>
      <a:lvl4pPr marL="119997" indent="-119997" algn="l" defTabSz="914377" rtl="0" eaLnBrk="1" latinLnBrk="0" hangingPunct="1">
        <a:lnSpc>
          <a:spcPct val="90000"/>
        </a:lnSpc>
        <a:spcBef>
          <a:spcPts val="500"/>
        </a:spcBef>
        <a:buFont typeface="Arial" panose="020B0604020202020204" pitchFamily="34" charset="0"/>
        <a:buChar char="•"/>
        <a:defRPr sz="1600" kern="1200">
          <a:solidFill>
            <a:schemeClr val="tx1"/>
          </a:solidFill>
          <a:latin typeface="Arial" charset="0"/>
          <a:ea typeface="Arial" charset="0"/>
          <a:cs typeface="Arial" charset="0"/>
        </a:defRPr>
      </a:lvl4pPr>
      <a:lvl5pPr marL="119997" indent="-119997" algn="l" defTabSz="914377" rtl="0" eaLnBrk="1" latinLnBrk="0" hangingPunct="1">
        <a:lnSpc>
          <a:spcPct val="90000"/>
        </a:lnSpc>
        <a:spcBef>
          <a:spcPts val="500"/>
        </a:spcBef>
        <a:buFont typeface="Arial" panose="020B0604020202020204" pitchFamily="34" charset="0"/>
        <a:buChar char="•"/>
        <a:defRPr sz="1333" b="1" kern="1200">
          <a:solidFill>
            <a:schemeClr val="tx1"/>
          </a:solidFill>
          <a:latin typeface="Arial" charset="0"/>
          <a:ea typeface="Arial" charset="0"/>
          <a:cs typeface="Arial"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838200" y="2462581"/>
            <a:ext cx="10515600" cy="1929476"/>
          </a:xfrm>
        </p:spPr>
        <p:txBody>
          <a:bodyPr/>
          <a:lstStyle/>
          <a:p>
            <a:r>
              <a:rPr lang="en-US" sz="5333" dirty="0">
                <a:solidFill>
                  <a:schemeClr val="tx1"/>
                </a:solidFill>
              </a:rPr>
              <a:t>COMP0005 – ALGORITHMS </a:t>
            </a:r>
            <a:br>
              <a:rPr lang="en-US" sz="5333" dirty="0">
                <a:solidFill>
                  <a:schemeClr val="tx1"/>
                </a:solidFill>
              </a:rPr>
            </a:br>
            <a:br>
              <a:rPr lang="en-US" sz="3733" dirty="0">
                <a:solidFill>
                  <a:schemeClr val="tx1"/>
                </a:solidFill>
              </a:rPr>
            </a:br>
            <a:r>
              <a:rPr lang="en-US" sz="3733">
                <a:solidFill>
                  <a:schemeClr val="tx1"/>
                </a:solidFill>
              </a:rPr>
              <a:t>5.4 Compression</a:t>
            </a:r>
            <a:endParaRPr lang="en-US" sz="3733" dirty="0">
              <a:solidFill>
                <a:schemeClr val="tx1"/>
              </a:solidFill>
            </a:endParaRPr>
          </a:p>
        </p:txBody>
      </p:sp>
      <p:sp>
        <p:nvSpPr>
          <p:cNvPr id="12" name="Content Placeholder 11"/>
          <p:cNvSpPr>
            <a:spLocks noGrp="1"/>
          </p:cNvSpPr>
          <p:nvPr>
            <p:ph idx="1"/>
          </p:nvPr>
        </p:nvSpPr>
        <p:spPr>
          <a:xfrm>
            <a:off x="838200" y="5189251"/>
            <a:ext cx="10515600" cy="1325563"/>
          </a:xfrm>
        </p:spPr>
        <p:txBody>
          <a:bodyPr/>
          <a:lstStyle/>
          <a:p>
            <a:pPr marL="0" indent="0">
              <a:buNone/>
            </a:pPr>
            <a:r>
              <a:rPr lang="en-US" sz="2667" dirty="0"/>
              <a:t>Prof </a:t>
            </a:r>
            <a:r>
              <a:rPr lang="en-US" sz="2667" dirty="0" err="1"/>
              <a:t>Licia</a:t>
            </a:r>
            <a:r>
              <a:rPr lang="en-US" sz="2667" dirty="0"/>
              <a:t> Capra</a:t>
            </a:r>
          </a:p>
          <a:p>
            <a:pPr marL="0" indent="0">
              <a:buNone/>
            </a:pPr>
            <a:r>
              <a:rPr lang="en-US" sz="2133" dirty="0"/>
              <a:t>Dept of Computer Science</a:t>
            </a:r>
          </a:p>
        </p:txBody>
      </p:sp>
    </p:spTree>
    <p:extLst>
      <p:ext uri="{BB962C8B-B14F-4D97-AF65-F5344CB8AC3E}">
        <p14:creationId xmlns:p14="http://schemas.microsoft.com/office/powerpoint/2010/main" val="40750162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321D1-6768-B148-8356-03AB2C79B80A}"/>
              </a:ext>
            </a:extLst>
          </p:cNvPr>
          <p:cNvSpPr>
            <a:spLocks noGrp="1"/>
          </p:cNvSpPr>
          <p:nvPr>
            <p:ph type="title"/>
          </p:nvPr>
        </p:nvSpPr>
        <p:spPr/>
        <p:txBody>
          <a:bodyPr/>
          <a:lstStyle/>
          <a:p>
            <a:r>
              <a:rPr lang="en-US" dirty="0"/>
              <a:t>LOSSLESS COMPRESSION</a:t>
            </a:r>
          </a:p>
        </p:txBody>
      </p:sp>
      <p:sp>
        <p:nvSpPr>
          <p:cNvPr id="3" name="Content Placeholder 2">
            <a:extLst>
              <a:ext uri="{FF2B5EF4-FFF2-40B4-BE49-F238E27FC236}">
                <a16:creationId xmlns:a16="http://schemas.microsoft.com/office/drawing/2014/main" id="{166F134B-EE7F-A044-9DB3-C84535015BF6}"/>
              </a:ext>
            </a:extLst>
          </p:cNvPr>
          <p:cNvSpPr>
            <a:spLocks noGrp="1"/>
          </p:cNvSpPr>
          <p:nvPr>
            <p:ph idx="1"/>
          </p:nvPr>
        </p:nvSpPr>
        <p:spPr/>
        <p:txBody>
          <a:bodyPr/>
          <a:lstStyle/>
          <a:p>
            <a:r>
              <a:rPr lang="en-US" dirty="0">
                <a:highlight>
                  <a:srgbClr val="C0C0C0"/>
                </a:highlight>
              </a:rPr>
              <a:t>Goal.</a:t>
            </a:r>
            <a:endParaRPr lang="en-US" dirty="0"/>
          </a:p>
          <a:p>
            <a:pPr lvl="1"/>
            <a:r>
              <a:rPr lang="en-US" dirty="0">
                <a:solidFill>
                  <a:schemeClr val="accent5"/>
                </a:solidFill>
              </a:rPr>
              <a:t>Message</a:t>
            </a:r>
            <a:r>
              <a:rPr lang="en-US" dirty="0"/>
              <a:t>. Given in input binary data (bit-stream) </a:t>
            </a:r>
            <a:r>
              <a:rPr lang="en-US" i="1" dirty="0"/>
              <a:t>B</a:t>
            </a:r>
            <a:r>
              <a:rPr lang="en-US" dirty="0"/>
              <a:t>.</a:t>
            </a:r>
          </a:p>
          <a:p>
            <a:pPr lvl="1"/>
            <a:r>
              <a:rPr lang="en-US" dirty="0">
                <a:solidFill>
                  <a:schemeClr val="accent5"/>
                </a:solidFill>
              </a:rPr>
              <a:t>Compress</a:t>
            </a:r>
            <a:r>
              <a:rPr lang="en-US" dirty="0"/>
              <a:t>. Generate a “compressed” representation </a:t>
            </a:r>
            <a:r>
              <a:rPr lang="en-US" i="1" dirty="0"/>
              <a:t>C(B)</a:t>
            </a:r>
            <a:r>
              <a:rPr lang="en-US" dirty="0"/>
              <a:t>.</a:t>
            </a:r>
          </a:p>
          <a:p>
            <a:pPr lvl="1"/>
            <a:r>
              <a:rPr lang="en-US" dirty="0">
                <a:solidFill>
                  <a:schemeClr val="accent5"/>
                </a:solidFill>
              </a:rPr>
              <a:t>Expand</a:t>
            </a:r>
            <a:r>
              <a:rPr lang="en-US" dirty="0"/>
              <a:t>. Reconstruct the original bitstream </a:t>
            </a:r>
            <a:r>
              <a:rPr lang="en-US" i="1" dirty="0"/>
              <a:t>B</a:t>
            </a:r>
            <a:r>
              <a:rPr lang="en-US" dirty="0"/>
              <a:t> without loss.</a:t>
            </a:r>
          </a:p>
          <a:p>
            <a:pPr lvl="1"/>
            <a:endParaRPr lang="en-US" dirty="0"/>
          </a:p>
          <a:p>
            <a:r>
              <a:rPr lang="en-US" dirty="0">
                <a:highlight>
                  <a:srgbClr val="C0C0C0"/>
                </a:highlight>
              </a:rPr>
              <a:t>Compression ratio</a:t>
            </a:r>
            <a:r>
              <a:rPr lang="en-US" dirty="0"/>
              <a:t>: bits in </a:t>
            </a:r>
            <a:r>
              <a:rPr lang="en-US" i="1" dirty="0"/>
              <a:t>C(B)</a:t>
            </a:r>
            <a:r>
              <a:rPr lang="en-US" dirty="0"/>
              <a:t> / bits in </a:t>
            </a:r>
            <a:r>
              <a:rPr lang="en-US" i="1" dirty="0"/>
              <a:t>B</a:t>
            </a:r>
          </a:p>
          <a:p>
            <a:endParaRPr lang="en-US" i="1" dirty="0"/>
          </a:p>
          <a:p>
            <a:endParaRPr lang="en-US" i="1" dirty="0"/>
          </a:p>
          <a:p>
            <a:endParaRPr lang="en-US" i="1" dirty="0"/>
          </a:p>
        </p:txBody>
      </p:sp>
      <p:grpSp>
        <p:nvGrpSpPr>
          <p:cNvPr id="25" name="Group 24" descr="graphical represenaton if having a bit stream in inout B, compressing it to C(B), then expanding back to B">
            <a:extLst>
              <a:ext uri="{FF2B5EF4-FFF2-40B4-BE49-F238E27FC236}">
                <a16:creationId xmlns:a16="http://schemas.microsoft.com/office/drawing/2014/main" id="{697F0DC2-F247-CA45-B4CA-F58883719015}"/>
              </a:ext>
            </a:extLst>
          </p:cNvPr>
          <p:cNvGrpSpPr/>
          <p:nvPr/>
        </p:nvGrpSpPr>
        <p:grpSpPr>
          <a:xfrm>
            <a:off x="382671" y="4682586"/>
            <a:ext cx="11319559" cy="918100"/>
            <a:chOff x="382671" y="4682586"/>
            <a:chExt cx="11319559" cy="918100"/>
          </a:xfrm>
        </p:grpSpPr>
        <p:sp>
          <p:nvSpPr>
            <p:cNvPr id="5" name="TextBox 4">
              <a:extLst>
                <a:ext uri="{FF2B5EF4-FFF2-40B4-BE49-F238E27FC236}">
                  <a16:creationId xmlns:a16="http://schemas.microsoft.com/office/drawing/2014/main" id="{5CCC3D9E-727D-C34D-B9B2-92520CEC9A4B}"/>
                </a:ext>
              </a:extLst>
            </p:cNvPr>
            <p:cNvSpPr txBox="1"/>
            <p:nvPr/>
          </p:nvSpPr>
          <p:spPr>
            <a:xfrm>
              <a:off x="382671" y="4989597"/>
              <a:ext cx="2679003" cy="307777"/>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011010001100010100011001...</a:t>
              </a:r>
            </a:p>
          </p:txBody>
        </p:sp>
        <p:sp>
          <p:nvSpPr>
            <p:cNvPr id="6" name="TextBox 5">
              <a:extLst>
                <a:ext uri="{FF2B5EF4-FFF2-40B4-BE49-F238E27FC236}">
                  <a16:creationId xmlns:a16="http://schemas.microsoft.com/office/drawing/2014/main" id="{28CC9AFD-A734-F742-B042-4E592D524B48}"/>
                </a:ext>
              </a:extLst>
            </p:cNvPr>
            <p:cNvSpPr txBox="1"/>
            <p:nvPr/>
          </p:nvSpPr>
          <p:spPr>
            <a:xfrm>
              <a:off x="9023227" y="4989598"/>
              <a:ext cx="2679003" cy="307777"/>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011010001100010100011001...</a:t>
              </a:r>
            </a:p>
          </p:txBody>
        </p:sp>
        <p:sp>
          <p:nvSpPr>
            <p:cNvPr id="7" name="TextBox 6">
              <a:extLst>
                <a:ext uri="{FF2B5EF4-FFF2-40B4-BE49-F238E27FC236}">
                  <a16:creationId xmlns:a16="http://schemas.microsoft.com/office/drawing/2014/main" id="{5C2392CD-1509-D64F-B74B-203CB36B2660}"/>
                </a:ext>
              </a:extLst>
            </p:cNvPr>
            <p:cNvSpPr txBox="1"/>
            <p:nvPr/>
          </p:nvSpPr>
          <p:spPr>
            <a:xfrm>
              <a:off x="5045513" y="4989597"/>
              <a:ext cx="1910588" cy="307777"/>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011001010101...        </a:t>
              </a:r>
            </a:p>
          </p:txBody>
        </p:sp>
        <p:sp>
          <p:nvSpPr>
            <p:cNvPr id="8" name="Rounded Rectangle 7">
              <a:extLst>
                <a:ext uri="{FF2B5EF4-FFF2-40B4-BE49-F238E27FC236}">
                  <a16:creationId xmlns:a16="http://schemas.microsoft.com/office/drawing/2014/main" id="{820FAC5B-756B-4A44-90B2-4B3671CE99B7}"/>
                </a:ext>
              </a:extLst>
            </p:cNvPr>
            <p:cNvSpPr/>
            <p:nvPr/>
          </p:nvSpPr>
          <p:spPr>
            <a:xfrm>
              <a:off x="3319861" y="4682586"/>
              <a:ext cx="1378131" cy="914400"/>
            </a:xfrm>
            <a:prstGeom prst="roundRect">
              <a:avLst/>
            </a:prstGeom>
            <a:solidFill>
              <a:schemeClr val="accent5">
                <a:lumMod val="20000"/>
                <a:lumOff val="80000"/>
              </a:schemeClr>
            </a:solidFill>
            <a:ln w="635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1"/>
                  </a:solidFill>
                  <a:latin typeface="Arial" panose="020B0604020202020204" pitchFamily="34" charset="0"/>
                  <a:cs typeface="Arial" panose="020B0604020202020204" pitchFamily="34" charset="0"/>
                </a:rPr>
                <a:t>Compress</a:t>
              </a:r>
            </a:p>
          </p:txBody>
        </p:sp>
        <p:sp>
          <p:nvSpPr>
            <p:cNvPr id="9" name="Rounded Rectangle 8">
              <a:extLst>
                <a:ext uri="{FF2B5EF4-FFF2-40B4-BE49-F238E27FC236}">
                  <a16:creationId xmlns:a16="http://schemas.microsoft.com/office/drawing/2014/main" id="{7235C2C8-1A66-A146-B693-ABF1722BA130}"/>
                </a:ext>
              </a:extLst>
            </p:cNvPr>
            <p:cNvSpPr/>
            <p:nvPr/>
          </p:nvSpPr>
          <p:spPr>
            <a:xfrm>
              <a:off x="7292489" y="4686286"/>
              <a:ext cx="1378131" cy="914400"/>
            </a:xfrm>
            <a:prstGeom prst="roundRect">
              <a:avLst/>
            </a:prstGeom>
            <a:solidFill>
              <a:schemeClr val="accent5">
                <a:lumMod val="20000"/>
                <a:lumOff val="80000"/>
              </a:schemeClr>
            </a:solidFill>
            <a:ln w="635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1"/>
                  </a:solidFill>
                  <a:latin typeface="Arial" panose="020B0604020202020204" pitchFamily="34" charset="0"/>
                  <a:cs typeface="Arial" panose="020B0604020202020204" pitchFamily="34" charset="0"/>
                </a:rPr>
                <a:t>Expand</a:t>
              </a:r>
            </a:p>
          </p:txBody>
        </p:sp>
        <p:cxnSp>
          <p:nvCxnSpPr>
            <p:cNvPr id="11" name="Straight Arrow Connector 10">
              <a:extLst>
                <a:ext uri="{FF2B5EF4-FFF2-40B4-BE49-F238E27FC236}">
                  <a16:creationId xmlns:a16="http://schemas.microsoft.com/office/drawing/2014/main" id="{45E6F0B9-8F03-F444-A974-EC5F7C0A6B2B}"/>
                </a:ext>
              </a:extLst>
            </p:cNvPr>
            <p:cNvCxnSpPr>
              <a:stCxn id="5" idx="3"/>
              <a:endCxn id="8" idx="1"/>
            </p:cNvCxnSpPr>
            <p:nvPr/>
          </p:nvCxnSpPr>
          <p:spPr>
            <a:xfrm flipV="1">
              <a:off x="3061674" y="5139786"/>
              <a:ext cx="258187" cy="3700"/>
            </a:xfrm>
            <a:prstGeom prst="straightConnector1">
              <a:avLst/>
            </a:prstGeom>
            <a:ln w="2857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711DAD1F-C05E-4347-82AE-FB6E617F9830}"/>
                </a:ext>
              </a:extLst>
            </p:cNvPr>
            <p:cNvCxnSpPr>
              <a:cxnSpLocks/>
              <a:stCxn id="8" idx="3"/>
              <a:endCxn id="7" idx="1"/>
            </p:cNvCxnSpPr>
            <p:nvPr/>
          </p:nvCxnSpPr>
          <p:spPr>
            <a:xfrm>
              <a:off x="4697992" y="5139786"/>
              <a:ext cx="347521" cy="3700"/>
            </a:xfrm>
            <a:prstGeom prst="straightConnector1">
              <a:avLst/>
            </a:prstGeom>
            <a:ln w="2857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B4DBC66B-3E1B-1841-B0EC-DD6A7B1BEBBD}"/>
                </a:ext>
              </a:extLst>
            </p:cNvPr>
            <p:cNvCxnSpPr>
              <a:cxnSpLocks/>
              <a:stCxn id="7" idx="3"/>
              <a:endCxn id="9" idx="1"/>
            </p:cNvCxnSpPr>
            <p:nvPr/>
          </p:nvCxnSpPr>
          <p:spPr>
            <a:xfrm>
              <a:off x="6956101" y="5143486"/>
              <a:ext cx="336388" cy="0"/>
            </a:xfrm>
            <a:prstGeom prst="straightConnector1">
              <a:avLst/>
            </a:prstGeom>
            <a:ln w="2857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77304040-601D-DF42-9873-C6192015BD99}"/>
                </a:ext>
              </a:extLst>
            </p:cNvPr>
            <p:cNvCxnSpPr>
              <a:cxnSpLocks/>
              <a:stCxn id="9" idx="3"/>
              <a:endCxn id="6" idx="1"/>
            </p:cNvCxnSpPr>
            <p:nvPr/>
          </p:nvCxnSpPr>
          <p:spPr>
            <a:xfrm>
              <a:off x="8670620" y="5143486"/>
              <a:ext cx="352607" cy="1"/>
            </a:xfrm>
            <a:prstGeom prst="straightConnector1">
              <a:avLst/>
            </a:prstGeom>
            <a:ln w="2857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3F88BEDF-A07F-1944-AAED-E8B462D31FA9}"/>
                </a:ext>
              </a:extLst>
            </p:cNvPr>
            <p:cNvSpPr txBox="1"/>
            <p:nvPr/>
          </p:nvSpPr>
          <p:spPr>
            <a:xfrm>
              <a:off x="382671" y="4714901"/>
              <a:ext cx="1111202" cy="307777"/>
            </a:xfrm>
            <a:prstGeom prst="rect">
              <a:avLst/>
            </a:prstGeom>
            <a:noFill/>
          </p:spPr>
          <p:txBody>
            <a:bodyPr wrap="none" rtlCol="0">
              <a:spAutoFit/>
            </a:bodyPr>
            <a:lstStyle/>
            <a:p>
              <a:r>
                <a:rPr lang="en-US" sz="1400" dirty="0">
                  <a:solidFill>
                    <a:schemeClr val="bg1">
                      <a:lumMod val="50000"/>
                    </a:schemeClr>
                  </a:solidFill>
                  <a:latin typeface="Arial" panose="020B0604020202020204" pitchFamily="34" charset="0"/>
                  <a:cs typeface="Arial" panose="020B0604020202020204" pitchFamily="34" charset="0"/>
                </a:rPr>
                <a:t>Bitstream B</a:t>
              </a:r>
            </a:p>
          </p:txBody>
        </p:sp>
        <p:sp>
          <p:nvSpPr>
            <p:cNvPr id="23" name="TextBox 22">
              <a:extLst>
                <a:ext uri="{FF2B5EF4-FFF2-40B4-BE49-F238E27FC236}">
                  <a16:creationId xmlns:a16="http://schemas.microsoft.com/office/drawing/2014/main" id="{695945B6-3FE5-5B46-9BA7-DAC807CBC7E8}"/>
                </a:ext>
              </a:extLst>
            </p:cNvPr>
            <p:cNvSpPr txBox="1"/>
            <p:nvPr/>
          </p:nvSpPr>
          <p:spPr>
            <a:xfrm>
              <a:off x="5021103" y="4714901"/>
              <a:ext cx="2234907" cy="307777"/>
            </a:xfrm>
            <a:prstGeom prst="rect">
              <a:avLst/>
            </a:prstGeom>
            <a:noFill/>
          </p:spPr>
          <p:txBody>
            <a:bodyPr wrap="none" rtlCol="0">
              <a:spAutoFit/>
            </a:bodyPr>
            <a:lstStyle/>
            <a:p>
              <a:r>
                <a:rPr lang="en-US" sz="1400" dirty="0">
                  <a:solidFill>
                    <a:schemeClr val="bg1">
                      <a:lumMod val="50000"/>
                    </a:schemeClr>
                  </a:solidFill>
                  <a:latin typeface="Arial" panose="020B0604020202020204" pitchFamily="34" charset="0"/>
                  <a:cs typeface="Arial" panose="020B0604020202020204" pitchFamily="34" charset="0"/>
                </a:rPr>
                <a:t>Compressed version C(B)</a:t>
              </a:r>
            </a:p>
          </p:txBody>
        </p:sp>
        <p:sp>
          <p:nvSpPr>
            <p:cNvPr id="24" name="TextBox 23">
              <a:extLst>
                <a:ext uri="{FF2B5EF4-FFF2-40B4-BE49-F238E27FC236}">
                  <a16:creationId xmlns:a16="http://schemas.microsoft.com/office/drawing/2014/main" id="{FFEB05A9-BC01-0C4E-8F4D-EAEEF959D36D}"/>
                </a:ext>
              </a:extLst>
            </p:cNvPr>
            <p:cNvSpPr txBox="1"/>
            <p:nvPr/>
          </p:nvSpPr>
          <p:spPr>
            <a:xfrm>
              <a:off x="9014349" y="4729534"/>
              <a:ext cx="1757212" cy="307777"/>
            </a:xfrm>
            <a:prstGeom prst="rect">
              <a:avLst/>
            </a:prstGeom>
            <a:noFill/>
          </p:spPr>
          <p:txBody>
            <a:bodyPr wrap="none" rtlCol="0">
              <a:spAutoFit/>
            </a:bodyPr>
            <a:lstStyle/>
            <a:p>
              <a:r>
                <a:rPr lang="en-US" sz="1400" dirty="0">
                  <a:solidFill>
                    <a:schemeClr val="bg1">
                      <a:lumMod val="50000"/>
                    </a:schemeClr>
                  </a:solidFill>
                  <a:latin typeface="Arial" panose="020B0604020202020204" pitchFamily="34" charset="0"/>
                  <a:cs typeface="Arial" panose="020B0604020202020204" pitchFamily="34" charset="0"/>
                </a:rPr>
                <a:t>Original bitstream B</a:t>
              </a:r>
            </a:p>
          </p:txBody>
        </p:sp>
      </p:grpSp>
    </p:spTree>
    <p:extLst>
      <p:ext uri="{BB962C8B-B14F-4D97-AF65-F5344CB8AC3E}">
        <p14:creationId xmlns:p14="http://schemas.microsoft.com/office/powerpoint/2010/main" val="37909222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321D1-6768-B148-8356-03AB2C79B80A}"/>
              </a:ext>
            </a:extLst>
          </p:cNvPr>
          <p:cNvSpPr>
            <a:spLocks noGrp="1"/>
          </p:cNvSpPr>
          <p:nvPr>
            <p:ph type="title"/>
          </p:nvPr>
        </p:nvSpPr>
        <p:spPr/>
        <p:txBody>
          <a:bodyPr/>
          <a:lstStyle/>
          <a:p>
            <a:r>
              <a:rPr lang="en-US" dirty="0"/>
              <a:t>LOSSLESS COMPRESSION</a:t>
            </a:r>
          </a:p>
        </p:txBody>
      </p:sp>
      <p:sp>
        <p:nvSpPr>
          <p:cNvPr id="3" name="Content Placeholder 2">
            <a:extLst>
              <a:ext uri="{FF2B5EF4-FFF2-40B4-BE49-F238E27FC236}">
                <a16:creationId xmlns:a16="http://schemas.microsoft.com/office/drawing/2014/main" id="{166F134B-EE7F-A044-9DB3-C84535015BF6}"/>
              </a:ext>
            </a:extLst>
          </p:cNvPr>
          <p:cNvSpPr>
            <a:spLocks noGrp="1"/>
          </p:cNvSpPr>
          <p:nvPr>
            <p:ph idx="1"/>
          </p:nvPr>
        </p:nvSpPr>
        <p:spPr/>
        <p:txBody>
          <a:bodyPr/>
          <a:lstStyle/>
          <a:p>
            <a:r>
              <a:rPr lang="en-US" dirty="0"/>
              <a:t>Examples</a:t>
            </a:r>
          </a:p>
          <a:p>
            <a:pPr lvl="1"/>
            <a:r>
              <a:rPr lang="en-US" dirty="0"/>
              <a:t>Lossless compression</a:t>
            </a:r>
          </a:p>
          <a:p>
            <a:pPr lvl="2"/>
            <a:r>
              <a:rPr lang="en-US" dirty="0"/>
              <a:t>Files (e.g., </a:t>
            </a:r>
            <a:r>
              <a:rPr lang="en-US" dirty="0" err="1"/>
              <a:t>gzip</a:t>
            </a:r>
            <a:r>
              <a:rPr lang="en-US" dirty="0"/>
              <a:t>)</a:t>
            </a:r>
          </a:p>
          <a:p>
            <a:pPr lvl="2"/>
            <a:r>
              <a:rPr lang="en-US" dirty="0"/>
              <a:t>Archivers (e.g., </a:t>
            </a:r>
            <a:r>
              <a:rPr lang="en-US" dirty="0" err="1"/>
              <a:t>pkzip</a:t>
            </a:r>
            <a:r>
              <a:rPr lang="en-US" dirty="0"/>
              <a:t>)</a:t>
            </a:r>
          </a:p>
          <a:p>
            <a:pPr lvl="2"/>
            <a:r>
              <a:rPr lang="en-US" dirty="0"/>
              <a:t>File systems (e.g., NTFS)</a:t>
            </a:r>
          </a:p>
          <a:p>
            <a:pPr lvl="1"/>
            <a:r>
              <a:rPr lang="en-US" dirty="0"/>
              <a:t>Lossy compression</a:t>
            </a:r>
          </a:p>
          <a:p>
            <a:pPr lvl="2"/>
            <a:r>
              <a:rPr lang="en-US" dirty="0"/>
              <a:t>Images (e.g., jpeg)</a:t>
            </a:r>
          </a:p>
          <a:p>
            <a:pPr lvl="2"/>
            <a:r>
              <a:rPr lang="en-US" dirty="0"/>
              <a:t>Sound (e.g., mp3)</a:t>
            </a:r>
          </a:p>
          <a:p>
            <a:pPr lvl="2"/>
            <a:r>
              <a:rPr lang="en-US" dirty="0"/>
              <a:t>Video (e.g., mpeg)</a:t>
            </a:r>
          </a:p>
          <a:p>
            <a:pPr lvl="2"/>
            <a:r>
              <a:rPr lang="en-US" dirty="0"/>
              <a:t>Communication (e.g., skype)</a:t>
            </a:r>
          </a:p>
        </p:txBody>
      </p:sp>
    </p:spTree>
    <p:extLst>
      <p:ext uri="{BB962C8B-B14F-4D97-AF65-F5344CB8AC3E}">
        <p14:creationId xmlns:p14="http://schemas.microsoft.com/office/powerpoint/2010/main" val="8864627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E4B2B-42A6-AB40-9BC4-CB4BFBF69C49}"/>
              </a:ext>
            </a:extLst>
          </p:cNvPr>
          <p:cNvSpPr>
            <a:spLocks noGrp="1"/>
          </p:cNvSpPr>
          <p:nvPr>
            <p:ph type="title"/>
          </p:nvPr>
        </p:nvSpPr>
        <p:spPr/>
        <p:txBody>
          <a:bodyPr/>
          <a:lstStyle/>
          <a:p>
            <a:r>
              <a:rPr lang="en-US" dirty="0"/>
              <a:t>content</a:t>
            </a:r>
          </a:p>
        </p:txBody>
      </p:sp>
      <p:sp>
        <p:nvSpPr>
          <p:cNvPr id="3" name="Content Placeholder 2">
            <a:extLst>
              <a:ext uri="{FF2B5EF4-FFF2-40B4-BE49-F238E27FC236}">
                <a16:creationId xmlns:a16="http://schemas.microsoft.com/office/drawing/2014/main" id="{636AC683-7CB8-FA4F-BFE8-E3A25C25F8FD}"/>
              </a:ext>
            </a:extLst>
          </p:cNvPr>
          <p:cNvSpPr>
            <a:spLocks noGrp="1"/>
          </p:cNvSpPr>
          <p:nvPr>
            <p:ph idx="1"/>
          </p:nvPr>
        </p:nvSpPr>
        <p:spPr/>
        <p:txBody>
          <a:bodyPr/>
          <a:lstStyle/>
          <a:p>
            <a:r>
              <a:rPr lang="en-US" dirty="0"/>
              <a:t>Run-length coding</a:t>
            </a:r>
          </a:p>
          <a:p>
            <a:r>
              <a:rPr lang="en-US" dirty="0"/>
              <a:t>Huffman compression</a:t>
            </a:r>
          </a:p>
        </p:txBody>
      </p:sp>
    </p:spTree>
    <p:extLst>
      <p:ext uri="{BB962C8B-B14F-4D97-AF65-F5344CB8AC3E}">
        <p14:creationId xmlns:p14="http://schemas.microsoft.com/office/powerpoint/2010/main" val="271081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7FBAF-399F-A449-A8B4-78D33A89103B}"/>
              </a:ext>
            </a:extLst>
          </p:cNvPr>
          <p:cNvSpPr>
            <a:spLocks noGrp="1"/>
          </p:cNvSpPr>
          <p:nvPr>
            <p:ph type="title"/>
          </p:nvPr>
        </p:nvSpPr>
        <p:spPr/>
        <p:txBody>
          <a:bodyPr/>
          <a:lstStyle/>
          <a:p>
            <a:r>
              <a:rPr lang="en-US" dirty="0"/>
              <a:t>Binary data</a:t>
            </a:r>
          </a:p>
        </p:txBody>
      </p:sp>
      <p:sp>
        <p:nvSpPr>
          <p:cNvPr id="3" name="Content Placeholder 2">
            <a:extLst>
              <a:ext uri="{FF2B5EF4-FFF2-40B4-BE49-F238E27FC236}">
                <a16:creationId xmlns:a16="http://schemas.microsoft.com/office/drawing/2014/main" id="{8E2DF80F-8D6A-AB40-9E07-F9226F2F40D4}"/>
              </a:ext>
            </a:extLst>
          </p:cNvPr>
          <p:cNvSpPr>
            <a:spLocks noGrp="1"/>
          </p:cNvSpPr>
          <p:nvPr>
            <p:ph idx="1"/>
          </p:nvPr>
        </p:nvSpPr>
        <p:spPr/>
        <p:txBody>
          <a:bodyPr/>
          <a:lstStyle/>
          <a:p>
            <a:r>
              <a:rPr lang="en-US" dirty="0">
                <a:solidFill>
                  <a:schemeClr val="accent5"/>
                </a:solidFill>
              </a:rPr>
              <a:t>Binary input / output</a:t>
            </a:r>
            <a:r>
              <a:rPr lang="en-US" dirty="0"/>
              <a:t>. API to read &amp; write bits.</a:t>
            </a:r>
          </a:p>
        </p:txBody>
      </p:sp>
      <p:sp>
        <p:nvSpPr>
          <p:cNvPr id="5" name="TextBox 4">
            <a:extLst>
              <a:ext uri="{FF2B5EF4-FFF2-40B4-BE49-F238E27FC236}">
                <a16:creationId xmlns:a16="http://schemas.microsoft.com/office/drawing/2014/main" id="{976C7EC3-4472-DF4D-A6C0-98E243DD614E}"/>
              </a:ext>
            </a:extLst>
          </p:cNvPr>
          <p:cNvSpPr txBox="1"/>
          <p:nvPr/>
        </p:nvSpPr>
        <p:spPr>
          <a:xfrm>
            <a:off x="766916" y="2639961"/>
            <a:ext cx="3995004" cy="3416320"/>
          </a:xfrm>
          <a:prstGeom prst="rect">
            <a:avLst/>
          </a:prstGeom>
          <a:noFill/>
          <a:ln w="28575">
            <a:solidFill>
              <a:schemeClr val="bg1">
                <a:lumMod val="75000"/>
              </a:schemeClr>
            </a:solidFill>
          </a:ln>
        </p:spPr>
        <p:txBody>
          <a:bodyPr wrap="none" rtlCol="0">
            <a:spAutoFit/>
          </a:bodyPr>
          <a:lstStyle/>
          <a:p>
            <a:r>
              <a:rPr lang="en-US" dirty="0">
                <a:latin typeface="Courier" pitchFamily="2" charset="0"/>
              </a:rPr>
              <a:t>class </a:t>
            </a:r>
            <a:r>
              <a:rPr lang="en-US" dirty="0" err="1">
                <a:latin typeface="Courier" pitchFamily="2" charset="0"/>
              </a:rPr>
              <a:t>BinaryStdIn</a:t>
            </a:r>
            <a:r>
              <a:rPr lang="en-US" dirty="0">
                <a:latin typeface="Courier" pitchFamily="2" charset="0"/>
              </a:rPr>
              <a:t>:</a:t>
            </a:r>
          </a:p>
          <a:p>
            <a:r>
              <a:rPr lang="en-US" dirty="0">
                <a:latin typeface="Courier" pitchFamily="2" charset="0"/>
              </a:rPr>
              <a:t>    </a:t>
            </a:r>
            <a:r>
              <a:rPr lang="en-US" dirty="0" err="1">
                <a:latin typeface="Courier" pitchFamily="2" charset="0"/>
              </a:rPr>
              <a:t>readBoolean</a:t>
            </a:r>
            <a:r>
              <a:rPr lang="en-US" dirty="0">
                <a:latin typeface="Courier" pitchFamily="2" charset="0"/>
              </a:rPr>
              <a:t>() </a:t>
            </a:r>
            <a:r>
              <a:rPr lang="en-US" dirty="0">
                <a:latin typeface="Courier" pitchFamily="2" charset="0"/>
                <a:sym typeface="Wingdings" pitchFamily="2" charset="2"/>
              </a:rPr>
              <a:t> </a:t>
            </a:r>
            <a:r>
              <a:rPr lang="en-US" dirty="0" err="1">
                <a:latin typeface="Courier" pitchFamily="2" charset="0"/>
                <a:sym typeface="Wingdings" pitchFamily="2" charset="2"/>
              </a:rPr>
              <a:t>boolean</a:t>
            </a:r>
            <a:endParaRPr lang="en-US" dirty="0">
              <a:latin typeface="Courier" pitchFamily="2" charset="0"/>
              <a:sym typeface="Wingdings" pitchFamily="2" charset="2"/>
            </a:endParaRPr>
          </a:p>
          <a:p>
            <a:r>
              <a:rPr lang="en-US" dirty="0">
                <a:latin typeface="Courier" pitchFamily="2" charset="0"/>
                <a:sym typeface="Wingdings" pitchFamily="2" charset="2"/>
              </a:rPr>
              <a:t>    </a:t>
            </a:r>
            <a:r>
              <a:rPr lang="en-US" dirty="0" err="1">
                <a:latin typeface="Courier" pitchFamily="2" charset="0"/>
                <a:sym typeface="Wingdings" pitchFamily="2" charset="2"/>
              </a:rPr>
              <a:t>readChar</a:t>
            </a:r>
            <a:r>
              <a:rPr lang="en-US" dirty="0">
                <a:latin typeface="Courier" pitchFamily="2" charset="0"/>
                <a:sym typeface="Wingdings" pitchFamily="2" charset="2"/>
              </a:rPr>
              <a:t>()  char</a:t>
            </a:r>
          </a:p>
          <a:p>
            <a:r>
              <a:rPr lang="en-US" dirty="0">
                <a:latin typeface="Courier" pitchFamily="2" charset="0"/>
                <a:sym typeface="Wingdings" pitchFamily="2" charset="2"/>
              </a:rPr>
              <a:t>    </a:t>
            </a:r>
            <a:r>
              <a:rPr lang="en-US" dirty="0" err="1">
                <a:latin typeface="Courier" pitchFamily="2" charset="0"/>
                <a:sym typeface="Wingdings" pitchFamily="2" charset="2"/>
              </a:rPr>
              <a:t>readChar</a:t>
            </a:r>
            <a:r>
              <a:rPr lang="en-US" dirty="0">
                <a:latin typeface="Courier" pitchFamily="2" charset="0"/>
                <a:sym typeface="Wingdings" pitchFamily="2" charset="2"/>
              </a:rPr>
              <a:t>(int r)  char</a:t>
            </a:r>
          </a:p>
          <a:p>
            <a:r>
              <a:rPr lang="en-US" dirty="0">
                <a:latin typeface="Courier" pitchFamily="2" charset="0"/>
                <a:sym typeface="Wingdings" pitchFamily="2" charset="2"/>
              </a:rPr>
              <a:t>    …</a:t>
            </a:r>
          </a:p>
          <a:p>
            <a:endParaRPr lang="en-US" dirty="0">
              <a:latin typeface="Courier" pitchFamily="2" charset="0"/>
              <a:sym typeface="Wingdings" pitchFamily="2" charset="2"/>
            </a:endParaRPr>
          </a:p>
          <a:p>
            <a:endParaRPr lang="en-US" dirty="0">
              <a:latin typeface="Courier" pitchFamily="2" charset="0"/>
              <a:sym typeface="Wingdings" pitchFamily="2" charset="2"/>
            </a:endParaRPr>
          </a:p>
          <a:p>
            <a:r>
              <a:rPr lang="en-US" dirty="0">
                <a:latin typeface="Courier" pitchFamily="2" charset="0"/>
                <a:sym typeface="Wingdings" pitchFamily="2" charset="2"/>
              </a:rPr>
              <a:t>class </a:t>
            </a:r>
            <a:r>
              <a:rPr lang="en-US" dirty="0" err="1">
                <a:latin typeface="Courier" pitchFamily="2" charset="0"/>
                <a:sym typeface="Wingdings" pitchFamily="2" charset="2"/>
              </a:rPr>
              <a:t>BinaryStdOut</a:t>
            </a:r>
            <a:r>
              <a:rPr lang="en-US" dirty="0">
                <a:latin typeface="Courier" pitchFamily="2" charset="0"/>
                <a:sym typeface="Wingdings" pitchFamily="2" charset="2"/>
              </a:rPr>
              <a:t>:</a:t>
            </a:r>
          </a:p>
          <a:p>
            <a:r>
              <a:rPr lang="en-US" dirty="0">
                <a:latin typeface="Courier" pitchFamily="2" charset="0"/>
                <a:sym typeface="Wingdings" pitchFamily="2" charset="2"/>
              </a:rPr>
              <a:t>    write(Boolean b)</a:t>
            </a:r>
          </a:p>
          <a:p>
            <a:r>
              <a:rPr lang="en-US" dirty="0">
                <a:latin typeface="Courier" pitchFamily="2" charset="0"/>
                <a:sym typeface="Wingdings" pitchFamily="2" charset="2"/>
              </a:rPr>
              <a:t>    write(char c)</a:t>
            </a:r>
          </a:p>
          <a:p>
            <a:r>
              <a:rPr lang="en-US" dirty="0">
                <a:latin typeface="Courier" pitchFamily="2" charset="0"/>
                <a:sym typeface="Wingdings" pitchFamily="2" charset="2"/>
              </a:rPr>
              <a:t>    write(char c, int r)</a:t>
            </a:r>
          </a:p>
          <a:p>
            <a:r>
              <a:rPr lang="en-US" dirty="0">
                <a:latin typeface="Courier" pitchFamily="2" charset="0"/>
                <a:sym typeface="Wingdings" pitchFamily="2" charset="2"/>
              </a:rPr>
              <a:t>    …</a:t>
            </a:r>
            <a:endParaRPr lang="en-US" dirty="0">
              <a:latin typeface="Courier" pitchFamily="2" charset="0"/>
            </a:endParaRPr>
          </a:p>
        </p:txBody>
      </p:sp>
      <p:sp>
        <p:nvSpPr>
          <p:cNvPr id="6" name="TextBox 5">
            <a:extLst>
              <a:ext uri="{FF2B5EF4-FFF2-40B4-BE49-F238E27FC236}">
                <a16:creationId xmlns:a16="http://schemas.microsoft.com/office/drawing/2014/main" id="{A7DE93C6-1832-394B-93B8-1CB06B427735}"/>
              </a:ext>
            </a:extLst>
          </p:cNvPr>
          <p:cNvSpPr txBox="1"/>
          <p:nvPr/>
        </p:nvSpPr>
        <p:spPr>
          <a:xfrm>
            <a:off x="6110748" y="2875002"/>
            <a:ext cx="5631670" cy="3416320"/>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read 1 bit of data, return a </a:t>
            </a:r>
            <a:r>
              <a:rPr lang="en-US" dirty="0" err="1">
                <a:latin typeface="Arial" panose="020B0604020202020204" pitchFamily="34" charset="0"/>
                <a:cs typeface="Arial" panose="020B0604020202020204" pitchFamily="34" charset="0"/>
              </a:rPr>
              <a:t>boolean</a:t>
            </a:r>
            <a:r>
              <a:rPr lang="en-US" dirty="0">
                <a:latin typeface="Arial" panose="020B0604020202020204" pitchFamily="34" charset="0"/>
                <a:cs typeface="Arial" panose="020B0604020202020204" pitchFamily="34" charset="0"/>
              </a:rPr>
              <a:t> value</a:t>
            </a:r>
          </a:p>
          <a:p>
            <a:r>
              <a:rPr lang="en-US" dirty="0">
                <a:latin typeface="Arial" panose="020B0604020202020204" pitchFamily="34" charset="0"/>
                <a:cs typeface="Arial" panose="020B0604020202020204" pitchFamily="34" charset="0"/>
              </a:rPr>
              <a:t>read 8 bits of data, return a char value</a:t>
            </a:r>
          </a:p>
          <a:p>
            <a:r>
              <a:rPr lang="en-US" dirty="0">
                <a:latin typeface="Arial" panose="020B0604020202020204" pitchFamily="34" charset="0"/>
                <a:cs typeface="Arial" panose="020B0604020202020204" pitchFamily="34" charset="0"/>
              </a:rPr>
              <a:t>read </a:t>
            </a:r>
            <a:r>
              <a:rPr lang="en-US" dirty="0">
                <a:latin typeface="Courier" pitchFamily="2" charset="0"/>
                <a:cs typeface="Arial" panose="020B0604020202020204" pitchFamily="34" charset="0"/>
              </a:rPr>
              <a:t>r</a:t>
            </a:r>
            <a:r>
              <a:rPr lang="en-US" dirty="0">
                <a:latin typeface="Arial" panose="020B0604020202020204" pitchFamily="34" charset="0"/>
                <a:cs typeface="Arial" panose="020B0604020202020204" pitchFamily="34" charset="0"/>
              </a:rPr>
              <a:t> bits of data, return a char value</a:t>
            </a:r>
          </a:p>
          <a:p>
            <a:r>
              <a:rPr lang="en-US"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write the specified bit </a:t>
            </a:r>
            <a:r>
              <a:rPr lang="en-US" dirty="0">
                <a:latin typeface="Courier" pitchFamily="2" charset="0"/>
                <a:cs typeface="Arial" panose="020B0604020202020204" pitchFamily="34" charset="0"/>
              </a:rPr>
              <a:t>b</a:t>
            </a:r>
          </a:p>
          <a:p>
            <a:r>
              <a:rPr lang="en-US" dirty="0">
                <a:latin typeface="Arial" panose="020B0604020202020204" pitchFamily="34" charset="0"/>
                <a:cs typeface="Arial" panose="020B0604020202020204" pitchFamily="34" charset="0"/>
              </a:rPr>
              <a:t>write the specified bit 8-bit char </a:t>
            </a:r>
            <a:r>
              <a:rPr lang="en-US" dirty="0">
                <a:latin typeface="Courier" pitchFamily="2" charset="0"/>
                <a:cs typeface="Arial" panose="020B0604020202020204" pitchFamily="34" charset="0"/>
              </a:rPr>
              <a:t>c</a:t>
            </a:r>
          </a:p>
          <a:p>
            <a:r>
              <a:rPr lang="en-US" dirty="0">
                <a:latin typeface="Arial" panose="020B0604020202020204" pitchFamily="34" charset="0"/>
                <a:cs typeface="Arial" panose="020B0604020202020204" pitchFamily="34" charset="0"/>
              </a:rPr>
              <a:t>write the </a:t>
            </a:r>
            <a:r>
              <a:rPr lang="en-US" dirty="0">
                <a:latin typeface="Courier" pitchFamily="2" charset="0"/>
                <a:cs typeface="Arial" panose="020B0604020202020204" pitchFamily="34" charset="0"/>
              </a:rPr>
              <a:t>r</a:t>
            </a:r>
            <a:r>
              <a:rPr lang="en-US" dirty="0">
                <a:latin typeface="Arial" panose="020B0604020202020204" pitchFamily="34" charset="0"/>
                <a:cs typeface="Arial" panose="020B0604020202020204" pitchFamily="34" charset="0"/>
              </a:rPr>
              <a:t> least significant bits of the specified char </a:t>
            </a:r>
            <a:r>
              <a:rPr lang="en-US" dirty="0">
                <a:latin typeface="Courier" pitchFamily="2" charset="0"/>
                <a:cs typeface="Arial" panose="020B0604020202020204" pitchFamily="34" charset="0"/>
              </a:rPr>
              <a:t>c</a:t>
            </a:r>
          </a:p>
          <a:p>
            <a:r>
              <a:rPr lang="en-US"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p:txBody>
      </p:sp>
      <p:grpSp>
        <p:nvGrpSpPr>
          <p:cNvPr id="19" name="Group 18">
            <a:extLst>
              <a:ext uri="{FF2B5EF4-FFF2-40B4-BE49-F238E27FC236}">
                <a16:creationId xmlns:a16="http://schemas.microsoft.com/office/drawing/2014/main" id="{CEF9D948-3E8F-0A47-B180-0F22A7D9AC95}"/>
              </a:ext>
              <a:ext uri="{C183D7F6-B498-43B3-948B-1728B52AA6E4}">
                <adec:decorative xmlns:adec="http://schemas.microsoft.com/office/drawing/2017/decorative" val="1"/>
              </a:ext>
            </a:extLst>
          </p:cNvPr>
          <p:cNvGrpSpPr/>
          <p:nvPr/>
        </p:nvGrpSpPr>
        <p:grpSpPr>
          <a:xfrm>
            <a:off x="4842186" y="3082413"/>
            <a:ext cx="1253814" cy="2450692"/>
            <a:chOff x="4842186" y="3082413"/>
            <a:chExt cx="1253814" cy="2450692"/>
          </a:xfrm>
        </p:grpSpPr>
        <p:cxnSp>
          <p:nvCxnSpPr>
            <p:cNvPr id="10" name="Straight Arrow Connector 9">
              <a:extLst>
                <a:ext uri="{FF2B5EF4-FFF2-40B4-BE49-F238E27FC236}">
                  <a16:creationId xmlns:a16="http://schemas.microsoft.com/office/drawing/2014/main" id="{E84D46AB-D0CA-E947-838E-E916EDEF75C1}"/>
                </a:ext>
              </a:extLst>
            </p:cNvPr>
            <p:cNvCxnSpPr/>
            <p:nvPr/>
          </p:nvCxnSpPr>
          <p:spPr>
            <a:xfrm flipH="1">
              <a:off x="4881716" y="3082413"/>
              <a:ext cx="1214284" cy="0"/>
            </a:xfrm>
            <a:prstGeom prst="straightConnector1">
              <a:avLst/>
            </a:prstGeom>
            <a:ln w="285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7714B1EE-E179-F548-B0A3-735BB07DE9C9}"/>
                </a:ext>
              </a:extLst>
            </p:cNvPr>
            <p:cNvCxnSpPr/>
            <p:nvPr/>
          </p:nvCxnSpPr>
          <p:spPr>
            <a:xfrm flipH="1">
              <a:off x="4881716" y="3355260"/>
              <a:ext cx="1214284" cy="0"/>
            </a:xfrm>
            <a:prstGeom prst="straightConnector1">
              <a:avLst/>
            </a:prstGeom>
            <a:ln w="285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01192A47-FC62-2D43-9C24-171E8ED45237}"/>
                </a:ext>
              </a:extLst>
            </p:cNvPr>
            <p:cNvCxnSpPr/>
            <p:nvPr/>
          </p:nvCxnSpPr>
          <p:spPr>
            <a:xfrm flipH="1">
              <a:off x="4881716" y="3640396"/>
              <a:ext cx="1214284" cy="0"/>
            </a:xfrm>
            <a:prstGeom prst="straightConnector1">
              <a:avLst/>
            </a:prstGeom>
            <a:ln w="285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2CEAE143-3EF1-0C45-8849-1EA610E7BC7E}"/>
                </a:ext>
              </a:extLst>
            </p:cNvPr>
            <p:cNvCxnSpPr/>
            <p:nvPr/>
          </p:nvCxnSpPr>
          <p:spPr>
            <a:xfrm flipH="1">
              <a:off x="4842186" y="4975122"/>
              <a:ext cx="1214284" cy="0"/>
            </a:xfrm>
            <a:prstGeom prst="straightConnector1">
              <a:avLst/>
            </a:prstGeom>
            <a:ln w="285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4CD1257D-7528-A244-ADC2-61BD73EA018C}"/>
                </a:ext>
              </a:extLst>
            </p:cNvPr>
            <p:cNvCxnSpPr/>
            <p:nvPr/>
          </p:nvCxnSpPr>
          <p:spPr>
            <a:xfrm flipH="1">
              <a:off x="4842186" y="5247969"/>
              <a:ext cx="1214284" cy="0"/>
            </a:xfrm>
            <a:prstGeom prst="straightConnector1">
              <a:avLst/>
            </a:prstGeom>
            <a:ln w="285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EE56A5F6-EA7A-C244-B6F4-9075E2F7C7EB}"/>
                </a:ext>
              </a:extLst>
            </p:cNvPr>
            <p:cNvCxnSpPr/>
            <p:nvPr/>
          </p:nvCxnSpPr>
          <p:spPr>
            <a:xfrm flipH="1">
              <a:off x="4842186" y="5533105"/>
              <a:ext cx="1214284" cy="0"/>
            </a:xfrm>
            <a:prstGeom prst="straightConnector1">
              <a:avLst/>
            </a:prstGeom>
            <a:ln w="285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573873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7FBAF-399F-A449-A8B4-78D33A89103B}"/>
              </a:ext>
            </a:extLst>
          </p:cNvPr>
          <p:cNvSpPr>
            <a:spLocks noGrp="1"/>
          </p:cNvSpPr>
          <p:nvPr>
            <p:ph type="title"/>
          </p:nvPr>
        </p:nvSpPr>
        <p:spPr/>
        <p:txBody>
          <a:bodyPr/>
          <a:lstStyle/>
          <a:p>
            <a:r>
              <a:rPr lang="en-US" dirty="0"/>
              <a:t>Run-length coding</a:t>
            </a:r>
          </a:p>
        </p:txBody>
      </p:sp>
      <p:sp>
        <p:nvSpPr>
          <p:cNvPr id="3" name="Content Placeholder 2">
            <a:extLst>
              <a:ext uri="{FF2B5EF4-FFF2-40B4-BE49-F238E27FC236}">
                <a16:creationId xmlns:a16="http://schemas.microsoft.com/office/drawing/2014/main" id="{8E2DF80F-8D6A-AB40-9E07-F9226F2F40D4}"/>
              </a:ext>
            </a:extLst>
          </p:cNvPr>
          <p:cNvSpPr>
            <a:spLocks noGrp="1"/>
          </p:cNvSpPr>
          <p:nvPr>
            <p:ph idx="1"/>
          </p:nvPr>
        </p:nvSpPr>
        <p:spPr/>
        <p:txBody>
          <a:bodyPr/>
          <a:lstStyle/>
          <a:p>
            <a:r>
              <a:rPr lang="en-US" dirty="0">
                <a:highlight>
                  <a:srgbClr val="C0C0C0"/>
                </a:highlight>
              </a:rPr>
              <a:t>Key idea</a:t>
            </a:r>
            <a:r>
              <a:rPr lang="en-US" dirty="0"/>
              <a:t>. Use counts to represent sequences of 0/1 bits</a:t>
            </a:r>
          </a:p>
          <a:p>
            <a:r>
              <a:rPr lang="en-US" dirty="0"/>
              <a:t>Example:</a:t>
            </a:r>
          </a:p>
          <a:p>
            <a:endParaRPr lang="en-US" dirty="0"/>
          </a:p>
          <a:p>
            <a:endParaRPr lang="en-US" dirty="0"/>
          </a:p>
          <a:p>
            <a:endParaRPr lang="en-US" dirty="0"/>
          </a:p>
          <a:p>
            <a:r>
              <a:rPr lang="en-US" dirty="0"/>
              <a:t>Representation. Use </a:t>
            </a:r>
            <a:r>
              <a:rPr lang="en-US" i="1" dirty="0"/>
              <a:t>n</a:t>
            </a:r>
            <a:r>
              <a:rPr lang="en-US" dirty="0"/>
              <a:t>-bit counts (e.g., n=8) to represent alternating runs of </a:t>
            </a:r>
            <a:r>
              <a:rPr lang="en-US" dirty="0">
                <a:latin typeface="Courier" pitchFamily="2" charset="0"/>
              </a:rPr>
              <a:t>0</a:t>
            </a:r>
            <a:r>
              <a:rPr lang="en-US" dirty="0"/>
              <a:t>s and </a:t>
            </a:r>
            <a:r>
              <a:rPr lang="en-US" dirty="0">
                <a:latin typeface="Courier" pitchFamily="2" charset="0"/>
              </a:rPr>
              <a:t>1</a:t>
            </a:r>
            <a:r>
              <a:rPr lang="en-US" dirty="0"/>
              <a:t>s.</a:t>
            </a:r>
          </a:p>
        </p:txBody>
      </p:sp>
      <p:grpSp>
        <p:nvGrpSpPr>
          <p:cNvPr id="15" name="Group 14" descr="example of a run of 0 and 1">
            <a:extLst>
              <a:ext uri="{FF2B5EF4-FFF2-40B4-BE49-F238E27FC236}">
                <a16:creationId xmlns:a16="http://schemas.microsoft.com/office/drawing/2014/main" id="{89B4ECEB-32D8-0541-A94B-49D10A3B4833}"/>
              </a:ext>
            </a:extLst>
          </p:cNvPr>
          <p:cNvGrpSpPr/>
          <p:nvPr/>
        </p:nvGrpSpPr>
        <p:grpSpPr>
          <a:xfrm>
            <a:off x="2393042" y="2610465"/>
            <a:ext cx="6112571" cy="1102121"/>
            <a:chOff x="2393042" y="2610465"/>
            <a:chExt cx="6112571" cy="1102121"/>
          </a:xfrm>
        </p:grpSpPr>
        <p:sp>
          <p:nvSpPr>
            <p:cNvPr id="4" name="TextBox 3">
              <a:extLst>
                <a:ext uri="{FF2B5EF4-FFF2-40B4-BE49-F238E27FC236}">
                  <a16:creationId xmlns:a16="http://schemas.microsoft.com/office/drawing/2014/main" id="{8ADB9051-06C1-2745-9E60-B45AA246DF93}"/>
                </a:ext>
              </a:extLst>
            </p:cNvPr>
            <p:cNvSpPr txBox="1"/>
            <p:nvPr/>
          </p:nvSpPr>
          <p:spPr>
            <a:xfrm>
              <a:off x="2393042" y="2757948"/>
              <a:ext cx="6112571" cy="369332"/>
            </a:xfrm>
            <a:prstGeom prst="rect">
              <a:avLst/>
            </a:prstGeom>
            <a:noFill/>
          </p:spPr>
          <p:txBody>
            <a:bodyPr wrap="none" rtlCol="0">
              <a:spAutoFit/>
            </a:bodyPr>
            <a:lstStyle/>
            <a:p>
              <a:r>
                <a:rPr lang="en-US" dirty="0">
                  <a:latin typeface="Courier" pitchFamily="2" charset="0"/>
                  <a:cs typeface="Arial" panose="020B0604020202020204" pitchFamily="34" charset="0"/>
                </a:rPr>
                <a:t>0000011111111000111111111100000000000111111</a:t>
              </a:r>
            </a:p>
          </p:txBody>
        </p:sp>
        <p:cxnSp>
          <p:nvCxnSpPr>
            <p:cNvPr id="6" name="Straight Connector 5">
              <a:extLst>
                <a:ext uri="{FF2B5EF4-FFF2-40B4-BE49-F238E27FC236}">
                  <a16:creationId xmlns:a16="http://schemas.microsoft.com/office/drawing/2014/main" id="{475CED6A-2102-9848-8586-77E85D9EC6C9}"/>
                </a:ext>
              </a:extLst>
            </p:cNvPr>
            <p:cNvCxnSpPr>
              <a:cxnSpLocks/>
            </p:cNvCxnSpPr>
            <p:nvPr/>
          </p:nvCxnSpPr>
          <p:spPr>
            <a:xfrm>
              <a:off x="3170903" y="2610465"/>
              <a:ext cx="0" cy="634180"/>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57B21864-A22A-ED45-B57F-F3EB61D1D691}"/>
                </a:ext>
              </a:extLst>
            </p:cNvPr>
            <p:cNvCxnSpPr/>
            <p:nvPr/>
          </p:nvCxnSpPr>
          <p:spPr>
            <a:xfrm>
              <a:off x="4267200" y="2610465"/>
              <a:ext cx="0" cy="634180"/>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CA5B6C4-6FA8-C343-9740-51E728DDA5FB}"/>
                </a:ext>
              </a:extLst>
            </p:cNvPr>
            <p:cNvCxnSpPr/>
            <p:nvPr/>
          </p:nvCxnSpPr>
          <p:spPr>
            <a:xfrm>
              <a:off x="4685071" y="2625524"/>
              <a:ext cx="0" cy="634180"/>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AACF146-935A-8148-8234-AF09207F0068}"/>
                </a:ext>
              </a:extLst>
            </p:cNvPr>
            <p:cNvCxnSpPr/>
            <p:nvPr/>
          </p:nvCxnSpPr>
          <p:spPr>
            <a:xfrm>
              <a:off x="6051756" y="2625524"/>
              <a:ext cx="0" cy="634180"/>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372BF35-A335-6A43-8955-F0E3B0082733}"/>
                </a:ext>
              </a:extLst>
            </p:cNvPr>
            <p:cNvCxnSpPr/>
            <p:nvPr/>
          </p:nvCxnSpPr>
          <p:spPr>
            <a:xfrm>
              <a:off x="7561008" y="2638125"/>
              <a:ext cx="0" cy="634180"/>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255E3A44-11DD-4F49-B58A-633A50C36E79}"/>
                </a:ext>
              </a:extLst>
            </p:cNvPr>
            <p:cNvSpPr txBox="1"/>
            <p:nvPr/>
          </p:nvSpPr>
          <p:spPr>
            <a:xfrm>
              <a:off x="2588659" y="3343254"/>
              <a:ext cx="5903091" cy="369332"/>
            </a:xfrm>
            <a:prstGeom prst="rect">
              <a:avLst/>
            </a:prstGeom>
            <a:noFill/>
          </p:spPr>
          <p:txBody>
            <a:bodyPr wrap="none" rtlCol="0">
              <a:spAutoFit/>
            </a:bodyPr>
            <a:lstStyle/>
            <a:p>
              <a:r>
                <a:rPr lang="en-US" dirty="0">
                  <a:solidFill>
                    <a:schemeClr val="accent5"/>
                  </a:solidFill>
                  <a:latin typeface="Arial" panose="020B0604020202020204" pitchFamily="34" charset="0"/>
                  <a:cs typeface="Arial" panose="020B0604020202020204" pitchFamily="34" charset="0"/>
                </a:rPr>
                <a:t>5 </a:t>
              </a:r>
              <a:r>
                <a:rPr lang="en-US" dirty="0">
                  <a:latin typeface="Courier" pitchFamily="2" charset="0"/>
                  <a:cs typeface="Arial" panose="020B0604020202020204" pitchFamily="34" charset="0"/>
                </a:rPr>
                <a:t>0s</a:t>
              </a:r>
              <a:r>
                <a:rPr lang="en-US" dirty="0">
                  <a:latin typeface="Arial" panose="020B0604020202020204" pitchFamily="34" charset="0"/>
                  <a:cs typeface="Arial" panose="020B0604020202020204" pitchFamily="34" charset="0"/>
                </a:rPr>
                <a:t>      </a:t>
              </a:r>
              <a:r>
                <a:rPr lang="en-US" dirty="0">
                  <a:solidFill>
                    <a:schemeClr val="accent5"/>
                  </a:solidFill>
                  <a:latin typeface="Arial" panose="020B0604020202020204" pitchFamily="34" charset="0"/>
                  <a:cs typeface="Arial" panose="020B0604020202020204" pitchFamily="34" charset="0"/>
                </a:rPr>
                <a:t>8 </a:t>
              </a:r>
              <a:r>
                <a:rPr lang="en-US" dirty="0">
                  <a:latin typeface="Courier" pitchFamily="2" charset="0"/>
                  <a:cs typeface="Arial" panose="020B0604020202020204" pitchFamily="34" charset="0"/>
                </a:rPr>
                <a:t>1s</a:t>
              </a:r>
              <a:r>
                <a:rPr lang="en-US" dirty="0">
                  <a:latin typeface="Arial" panose="020B0604020202020204" pitchFamily="34" charset="0"/>
                  <a:cs typeface="Arial" panose="020B0604020202020204" pitchFamily="34" charset="0"/>
                </a:rPr>
                <a:t>    </a:t>
              </a:r>
              <a:r>
                <a:rPr lang="en-US" dirty="0">
                  <a:solidFill>
                    <a:schemeClr val="accent5"/>
                  </a:solidFill>
                  <a:latin typeface="Arial" panose="020B0604020202020204" pitchFamily="34" charset="0"/>
                  <a:cs typeface="Arial" panose="020B0604020202020204" pitchFamily="34" charset="0"/>
                </a:rPr>
                <a:t>3 </a:t>
              </a:r>
              <a:r>
                <a:rPr lang="en-US" dirty="0">
                  <a:latin typeface="Courier" pitchFamily="2" charset="0"/>
                  <a:cs typeface="Arial" panose="020B0604020202020204" pitchFamily="34" charset="0"/>
                </a:rPr>
                <a:t>0s</a:t>
              </a:r>
              <a:r>
                <a:rPr lang="en-US" dirty="0">
                  <a:latin typeface="Arial" panose="020B0604020202020204" pitchFamily="34" charset="0"/>
                  <a:cs typeface="Arial" panose="020B0604020202020204" pitchFamily="34" charset="0"/>
                </a:rPr>
                <a:t>       </a:t>
              </a:r>
              <a:r>
                <a:rPr lang="en-US" dirty="0">
                  <a:solidFill>
                    <a:schemeClr val="accent5"/>
                  </a:solidFill>
                  <a:latin typeface="Arial" panose="020B0604020202020204" pitchFamily="34" charset="0"/>
                  <a:cs typeface="Arial" panose="020B0604020202020204" pitchFamily="34" charset="0"/>
                </a:rPr>
                <a:t>10 </a:t>
              </a:r>
              <a:r>
                <a:rPr lang="en-US" dirty="0">
                  <a:latin typeface="Courier" pitchFamily="2" charset="0"/>
                  <a:cs typeface="Arial" panose="020B0604020202020204" pitchFamily="34" charset="0"/>
                </a:rPr>
                <a:t>1</a:t>
              </a:r>
              <a:r>
                <a:rPr lang="en-US" dirty="0">
                  <a:latin typeface="Arial" panose="020B0604020202020204" pitchFamily="34" charset="0"/>
                  <a:cs typeface="Arial" panose="020B0604020202020204" pitchFamily="34" charset="0"/>
                </a:rPr>
                <a:t>s             </a:t>
              </a:r>
              <a:r>
                <a:rPr lang="en-US" dirty="0">
                  <a:solidFill>
                    <a:schemeClr val="accent5"/>
                  </a:solidFill>
                  <a:latin typeface="Arial" panose="020B0604020202020204" pitchFamily="34" charset="0"/>
                  <a:cs typeface="Arial" panose="020B0604020202020204" pitchFamily="34" charset="0"/>
                </a:rPr>
                <a:t>11 </a:t>
              </a:r>
              <a:r>
                <a:rPr lang="en-US" dirty="0">
                  <a:latin typeface="Courier" pitchFamily="2" charset="0"/>
                  <a:cs typeface="Arial" panose="020B0604020202020204" pitchFamily="34" charset="0"/>
                </a:rPr>
                <a:t>0s</a:t>
              </a:r>
              <a:r>
                <a:rPr lang="en-US" dirty="0">
                  <a:latin typeface="Arial" panose="020B0604020202020204" pitchFamily="34" charset="0"/>
                  <a:cs typeface="Arial" panose="020B0604020202020204" pitchFamily="34" charset="0"/>
                </a:rPr>
                <a:t>           </a:t>
              </a:r>
              <a:r>
                <a:rPr lang="en-US" dirty="0">
                  <a:solidFill>
                    <a:schemeClr val="accent5"/>
                  </a:solidFill>
                  <a:latin typeface="Arial" panose="020B0604020202020204" pitchFamily="34" charset="0"/>
                  <a:cs typeface="Arial" panose="020B0604020202020204" pitchFamily="34" charset="0"/>
                </a:rPr>
                <a:t>6 </a:t>
              </a:r>
              <a:r>
                <a:rPr lang="en-US" dirty="0">
                  <a:latin typeface="Courier" pitchFamily="2" charset="0"/>
                  <a:cs typeface="Arial" panose="020B0604020202020204" pitchFamily="34" charset="0"/>
                </a:rPr>
                <a:t>1s</a:t>
              </a:r>
            </a:p>
          </p:txBody>
        </p:sp>
      </p:grpSp>
    </p:spTree>
    <p:extLst>
      <p:ext uri="{BB962C8B-B14F-4D97-AF65-F5344CB8AC3E}">
        <p14:creationId xmlns:p14="http://schemas.microsoft.com/office/powerpoint/2010/main" val="657680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7FBAF-399F-A449-A8B4-78D33A89103B}"/>
              </a:ext>
            </a:extLst>
          </p:cNvPr>
          <p:cNvSpPr>
            <a:spLocks noGrp="1"/>
          </p:cNvSpPr>
          <p:nvPr>
            <p:ph type="title"/>
          </p:nvPr>
        </p:nvSpPr>
        <p:spPr/>
        <p:txBody>
          <a:bodyPr/>
          <a:lstStyle/>
          <a:p>
            <a:r>
              <a:rPr lang="en-US" dirty="0"/>
              <a:t>Run-length coding</a:t>
            </a:r>
          </a:p>
        </p:txBody>
      </p:sp>
      <p:sp>
        <p:nvSpPr>
          <p:cNvPr id="3" name="Content Placeholder 2">
            <a:extLst>
              <a:ext uri="{FF2B5EF4-FFF2-40B4-BE49-F238E27FC236}">
                <a16:creationId xmlns:a16="http://schemas.microsoft.com/office/drawing/2014/main" id="{8E2DF80F-8D6A-AB40-9E07-F9226F2F40D4}"/>
              </a:ext>
            </a:extLst>
          </p:cNvPr>
          <p:cNvSpPr>
            <a:spLocks noGrp="1"/>
          </p:cNvSpPr>
          <p:nvPr>
            <p:ph idx="1"/>
          </p:nvPr>
        </p:nvSpPr>
        <p:spPr/>
        <p:txBody>
          <a:bodyPr/>
          <a:lstStyle/>
          <a:p>
            <a:r>
              <a:rPr lang="en-US" dirty="0"/>
              <a:t>Pseudocode</a:t>
            </a:r>
          </a:p>
        </p:txBody>
      </p:sp>
      <p:sp>
        <p:nvSpPr>
          <p:cNvPr id="5" name="TextBox 4">
            <a:extLst>
              <a:ext uri="{FF2B5EF4-FFF2-40B4-BE49-F238E27FC236}">
                <a16:creationId xmlns:a16="http://schemas.microsoft.com/office/drawing/2014/main" id="{F16DFB9F-C0B1-1747-B935-ABB06C40B733}"/>
              </a:ext>
            </a:extLst>
          </p:cNvPr>
          <p:cNvSpPr txBox="1"/>
          <p:nvPr/>
        </p:nvSpPr>
        <p:spPr>
          <a:xfrm>
            <a:off x="648929" y="2138516"/>
            <a:ext cx="5615640" cy="4031873"/>
          </a:xfrm>
          <a:prstGeom prst="rect">
            <a:avLst/>
          </a:prstGeom>
          <a:noFill/>
          <a:ln w="28575">
            <a:solidFill>
              <a:schemeClr val="bg1">
                <a:lumMod val="75000"/>
              </a:schemeClr>
            </a:solidFill>
          </a:ln>
        </p:spPr>
        <p:txBody>
          <a:bodyPr wrap="none" rtlCol="0">
            <a:spAutoFit/>
          </a:bodyPr>
          <a:lstStyle/>
          <a:p>
            <a:r>
              <a:rPr lang="en-US" sz="1600" dirty="0">
                <a:latin typeface="Courier" pitchFamily="2" charset="0"/>
              </a:rPr>
              <a:t>class </a:t>
            </a:r>
            <a:r>
              <a:rPr lang="en-US" sz="1600" dirty="0" err="1">
                <a:latin typeface="Courier" pitchFamily="2" charset="0"/>
              </a:rPr>
              <a:t>RunLength</a:t>
            </a:r>
            <a:r>
              <a:rPr lang="en-US" sz="1600" dirty="0">
                <a:latin typeface="Courier" pitchFamily="2" charset="0"/>
              </a:rPr>
              <a:t>():</a:t>
            </a:r>
          </a:p>
          <a:p>
            <a:endParaRPr lang="en-US" sz="1600" dirty="0">
              <a:latin typeface="Courier" pitchFamily="2" charset="0"/>
            </a:endParaRPr>
          </a:p>
          <a:p>
            <a:r>
              <a:rPr lang="en-US" sz="1600" dirty="0">
                <a:latin typeface="Courier" pitchFamily="2" charset="0"/>
              </a:rPr>
              <a:t>    </a:t>
            </a:r>
            <a:r>
              <a:rPr lang="en-US" sz="1600" dirty="0">
                <a:highlight>
                  <a:srgbClr val="C0C0C0"/>
                </a:highlight>
                <a:latin typeface="Courier" pitchFamily="2" charset="0"/>
              </a:rPr>
              <a:t>def compress():</a:t>
            </a:r>
          </a:p>
          <a:p>
            <a:r>
              <a:rPr lang="en-US" sz="1600" dirty="0">
                <a:latin typeface="Courier" pitchFamily="2" charset="0"/>
              </a:rPr>
              <a:t>        count = 0</a:t>
            </a:r>
          </a:p>
          <a:p>
            <a:r>
              <a:rPr lang="en-US" sz="1600" dirty="0">
                <a:latin typeface="Courier" pitchFamily="2" charset="0"/>
              </a:rPr>
              <a:t>        previous = false</a:t>
            </a:r>
          </a:p>
          <a:p>
            <a:endParaRPr lang="en-US" sz="1600" dirty="0">
              <a:latin typeface="Courier" pitchFamily="2" charset="0"/>
            </a:endParaRPr>
          </a:p>
          <a:p>
            <a:r>
              <a:rPr lang="en-US" sz="1600" dirty="0">
                <a:latin typeface="Courier" pitchFamily="2" charset="0"/>
              </a:rPr>
              <a:t>        while (!</a:t>
            </a:r>
            <a:r>
              <a:rPr lang="en-US" sz="1600" dirty="0" err="1">
                <a:latin typeface="Courier" pitchFamily="2" charset="0"/>
              </a:rPr>
              <a:t>BinaryStdIn.isEmpty</a:t>
            </a:r>
            <a:r>
              <a:rPr lang="en-US" sz="1600" dirty="0">
                <a:latin typeface="Courier" pitchFamily="2" charset="0"/>
              </a:rPr>
              <a:t>()):</a:t>
            </a:r>
          </a:p>
          <a:p>
            <a:r>
              <a:rPr lang="en-US" sz="1600" dirty="0">
                <a:latin typeface="Courier" pitchFamily="2" charset="0"/>
              </a:rPr>
              <a:t>            bit = </a:t>
            </a:r>
            <a:r>
              <a:rPr lang="en-US" sz="1600" dirty="0" err="1">
                <a:latin typeface="Courier" pitchFamily="2" charset="0"/>
              </a:rPr>
              <a:t>BinaryStdIn.readBoolean</a:t>
            </a:r>
            <a:r>
              <a:rPr lang="en-US" sz="1600" dirty="0">
                <a:latin typeface="Courier" pitchFamily="2" charset="0"/>
              </a:rPr>
              <a:t>()</a:t>
            </a:r>
          </a:p>
          <a:p>
            <a:r>
              <a:rPr lang="en-US" sz="1600" dirty="0">
                <a:latin typeface="Courier" pitchFamily="2" charset="0"/>
              </a:rPr>
              <a:t>            if (bit == previous):</a:t>
            </a:r>
          </a:p>
          <a:p>
            <a:r>
              <a:rPr lang="en-US" sz="1600" dirty="0">
                <a:latin typeface="Courier" pitchFamily="2" charset="0"/>
              </a:rPr>
              <a:t>                count++</a:t>
            </a:r>
          </a:p>
          <a:p>
            <a:r>
              <a:rPr lang="en-US" sz="1600" dirty="0">
                <a:latin typeface="Courier" pitchFamily="2" charset="0"/>
              </a:rPr>
              <a:t>            else:</a:t>
            </a:r>
          </a:p>
          <a:p>
            <a:r>
              <a:rPr lang="en-US" sz="1600" dirty="0">
                <a:latin typeface="Courier" pitchFamily="2" charset="0"/>
              </a:rPr>
              <a:t>                </a:t>
            </a:r>
            <a:r>
              <a:rPr lang="en-US" sz="1600" dirty="0" err="1">
                <a:latin typeface="Courier" pitchFamily="2" charset="0"/>
              </a:rPr>
              <a:t>BinaryStdOut.write</a:t>
            </a:r>
            <a:r>
              <a:rPr lang="en-US" sz="1600" dirty="0">
                <a:latin typeface="Courier" pitchFamily="2" charset="0"/>
              </a:rPr>
              <a:t>(count, 8)</a:t>
            </a:r>
          </a:p>
          <a:p>
            <a:r>
              <a:rPr lang="en-US" sz="1600" dirty="0">
                <a:latin typeface="Courier" pitchFamily="2" charset="0"/>
              </a:rPr>
              <a:t>                count = 0</a:t>
            </a:r>
          </a:p>
          <a:p>
            <a:r>
              <a:rPr lang="en-US" sz="1600" dirty="0">
                <a:latin typeface="Courier" pitchFamily="2" charset="0"/>
              </a:rPr>
              <a:t>                previous = ! previous</a:t>
            </a:r>
          </a:p>
          <a:p>
            <a:endParaRPr lang="en-US" sz="1600" dirty="0">
              <a:latin typeface="Courier" pitchFamily="2" charset="0"/>
            </a:endParaRPr>
          </a:p>
          <a:p>
            <a:r>
              <a:rPr lang="en-US" sz="1600" dirty="0">
                <a:latin typeface="Courier" pitchFamily="2" charset="0"/>
              </a:rPr>
              <a:t>        </a:t>
            </a:r>
            <a:r>
              <a:rPr lang="en-US" sz="1600" dirty="0" err="1">
                <a:latin typeface="Courier" pitchFamily="2" charset="0"/>
              </a:rPr>
              <a:t>BinaryStdOut.write</a:t>
            </a:r>
            <a:r>
              <a:rPr lang="en-US" sz="1600" dirty="0">
                <a:latin typeface="Courier" pitchFamily="2" charset="0"/>
              </a:rPr>
              <a:t>(count)</a:t>
            </a:r>
          </a:p>
        </p:txBody>
      </p:sp>
      <p:sp>
        <p:nvSpPr>
          <p:cNvPr id="11" name="TextBox 10">
            <a:extLst>
              <a:ext uri="{FF2B5EF4-FFF2-40B4-BE49-F238E27FC236}">
                <a16:creationId xmlns:a16="http://schemas.microsoft.com/office/drawing/2014/main" id="{95B4C819-79A5-E340-B32D-89604F65A055}"/>
              </a:ext>
            </a:extLst>
          </p:cNvPr>
          <p:cNvSpPr txBox="1"/>
          <p:nvPr/>
        </p:nvSpPr>
        <p:spPr>
          <a:xfrm>
            <a:off x="7101346" y="3113922"/>
            <a:ext cx="4314675" cy="3293209"/>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Assume sequence starts with 0s</a:t>
            </a:r>
          </a:p>
          <a:p>
            <a:endParaRPr lang="en-US" sz="1600" dirty="0">
              <a:latin typeface="Arial" panose="020B0604020202020204" pitchFamily="34" charset="0"/>
              <a:cs typeface="Arial" panose="020B0604020202020204" pitchFamily="34" charset="0"/>
            </a:endParaRP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Read 1 bit at a time</a:t>
            </a:r>
          </a:p>
          <a:p>
            <a:r>
              <a:rPr lang="en-US" sz="1600" dirty="0">
                <a:latin typeface="Arial" panose="020B0604020202020204" pitchFamily="34" charset="0"/>
                <a:cs typeface="Arial" panose="020B0604020202020204" pitchFamily="34" charset="0"/>
              </a:rPr>
              <a:t>If same as previously read bit, increase count for current run</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If different, write count, reset it, and flip over next expected bit</a:t>
            </a:r>
          </a:p>
          <a:p>
            <a:endParaRPr lang="en-US" sz="1600" dirty="0">
              <a:latin typeface="Arial" panose="020B0604020202020204" pitchFamily="34" charset="0"/>
              <a:cs typeface="Arial" panose="020B0604020202020204" pitchFamily="34" charset="0"/>
            </a:endParaRP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Write count for final run</a:t>
            </a:r>
          </a:p>
          <a:p>
            <a:endParaRPr lang="en-US" sz="1600" dirty="0">
              <a:latin typeface="Arial" panose="020B0604020202020204" pitchFamily="34" charset="0"/>
              <a:cs typeface="Arial" panose="020B0604020202020204" pitchFamily="34" charset="0"/>
            </a:endParaRPr>
          </a:p>
        </p:txBody>
      </p:sp>
      <p:grpSp>
        <p:nvGrpSpPr>
          <p:cNvPr id="25" name="Group 24">
            <a:extLst>
              <a:ext uri="{FF2B5EF4-FFF2-40B4-BE49-F238E27FC236}">
                <a16:creationId xmlns:a16="http://schemas.microsoft.com/office/drawing/2014/main" id="{94B9CDA0-A495-4849-AB1B-99D6DC1E4065}"/>
              </a:ext>
              <a:ext uri="{C183D7F6-B498-43B3-948B-1728B52AA6E4}">
                <adec:decorative xmlns:adec="http://schemas.microsoft.com/office/drawing/2017/decorative" val="1"/>
              </a:ext>
            </a:extLst>
          </p:cNvPr>
          <p:cNvGrpSpPr/>
          <p:nvPr/>
        </p:nvGrpSpPr>
        <p:grpSpPr>
          <a:xfrm>
            <a:off x="6082939" y="3276269"/>
            <a:ext cx="1018408" cy="2679292"/>
            <a:chOff x="6082939" y="3276269"/>
            <a:chExt cx="1018408" cy="2679292"/>
          </a:xfrm>
        </p:grpSpPr>
        <p:cxnSp>
          <p:nvCxnSpPr>
            <p:cNvPr id="14" name="Straight Arrow Connector 13">
              <a:extLst>
                <a:ext uri="{FF2B5EF4-FFF2-40B4-BE49-F238E27FC236}">
                  <a16:creationId xmlns:a16="http://schemas.microsoft.com/office/drawing/2014/main" id="{EDE1D539-898E-1B49-B942-32F71E8B1C7C}"/>
                </a:ext>
              </a:extLst>
            </p:cNvPr>
            <p:cNvCxnSpPr/>
            <p:nvPr/>
          </p:nvCxnSpPr>
          <p:spPr>
            <a:xfrm flipH="1">
              <a:off x="6096000" y="4008773"/>
              <a:ext cx="968477" cy="0"/>
            </a:xfrm>
            <a:prstGeom prst="straightConnector1">
              <a:avLst/>
            </a:prstGeom>
            <a:ln w="285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912374ED-14EB-5B44-BBF6-C14E93323D29}"/>
                </a:ext>
              </a:extLst>
            </p:cNvPr>
            <p:cNvCxnSpPr/>
            <p:nvPr/>
          </p:nvCxnSpPr>
          <p:spPr>
            <a:xfrm flipH="1">
              <a:off x="6096000" y="4323406"/>
              <a:ext cx="968477" cy="0"/>
            </a:xfrm>
            <a:prstGeom prst="straightConnector1">
              <a:avLst/>
            </a:prstGeom>
            <a:ln w="285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49DF60A5-2F35-2843-87ED-8B47253EFE51}"/>
                </a:ext>
              </a:extLst>
            </p:cNvPr>
            <p:cNvCxnSpPr/>
            <p:nvPr/>
          </p:nvCxnSpPr>
          <p:spPr>
            <a:xfrm flipH="1">
              <a:off x="6132870" y="5006748"/>
              <a:ext cx="968477" cy="0"/>
            </a:xfrm>
            <a:prstGeom prst="straightConnector1">
              <a:avLst/>
            </a:prstGeom>
            <a:ln w="285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33936D64-5E81-704E-BA6B-23D19390770B}"/>
                </a:ext>
              </a:extLst>
            </p:cNvPr>
            <p:cNvCxnSpPr/>
            <p:nvPr/>
          </p:nvCxnSpPr>
          <p:spPr>
            <a:xfrm flipH="1">
              <a:off x="6132869" y="5955561"/>
              <a:ext cx="968477" cy="0"/>
            </a:xfrm>
            <a:prstGeom prst="straightConnector1">
              <a:avLst/>
            </a:prstGeom>
            <a:ln w="285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29291A1D-CA85-384C-A216-685D270663E2}"/>
                </a:ext>
              </a:extLst>
            </p:cNvPr>
            <p:cNvCxnSpPr/>
            <p:nvPr/>
          </p:nvCxnSpPr>
          <p:spPr>
            <a:xfrm flipH="1">
              <a:off x="6082939" y="3276269"/>
              <a:ext cx="968477" cy="0"/>
            </a:xfrm>
            <a:prstGeom prst="straightConnector1">
              <a:avLst/>
            </a:prstGeom>
            <a:ln w="285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4" name="Group 23" descr="what happens if count exceeds 2^8? additional code needed to handle edge case">
            <a:extLst>
              <a:ext uri="{FF2B5EF4-FFF2-40B4-BE49-F238E27FC236}">
                <a16:creationId xmlns:a16="http://schemas.microsoft.com/office/drawing/2014/main" id="{E1D36E99-286C-014F-B31B-321134950A78}"/>
              </a:ext>
            </a:extLst>
          </p:cNvPr>
          <p:cNvGrpSpPr/>
          <p:nvPr/>
        </p:nvGrpSpPr>
        <p:grpSpPr>
          <a:xfrm>
            <a:off x="3746090" y="2074397"/>
            <a:ext cx="7540519" cy="2364868"/>
            <a:chOff x="3746090" y="2074397"/>
            <a:chExt cx="7540519" cy="2364868"/>
          </a:xfrm>
        </p:grpSpPr>
        <p:cxnSp>
          <p:nvCxnSpPr>
            <p:cNvPr id="21" name="Straight Arrow Connector 20">
              <a:extLst>
                <a:ext uri="{FF2B5EF4-FFF2-40B4-BE49-F238E27FC236}">
                  <a16:creationId xmlns:a16="http://schemas.microsoft.com/office/drawing/2014/main" id="{C5FC73F3-DF1A-394E-A0FF-0022144898F3}"/>
                </a:ext>
              </a:extLst>
            </p:cNvPr>
            <p:cNvCxnSpPr>
              <a:cxnSpLocks/>
            </p:cNvCxnSpPr>
            <p:nvPr/>
          </p:nvCxnSpPr>
          <p:spPr>
            <a:xfrm flipH="1">
              <a:off x="3746090" y="2366785"/>
              <a:ext cx="3710137" cy="2072480"/>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6E662204-60FD-BF45-952F-8D6C64422FA5}"/>
                </a:ext>
              </a:extLst>
            </p:cNvPr>
            <p:cNvSpPr txBox="1"/>
            <p:nvPr/>
          </p:nvSpPr>
          <p:spPr>
            <a:xfrm>
              <a:off x="7456227" y="2074397"/>
              <a:ext cx="3830382" cy="584775"/>
            </a:xfrm>
            <a:prstGeom prst="rect">
              <a:avLst/>
            </a:prstGeom>
            <a:noFill/>
            <a:ln w="28575">
              <a:solidFill>
                <a:srgbClr val="C00000"/>
              </a:solidFill>
            </a:ln>
          </p:spPr>
          <p:txBody>
            <a:bodyPr wrap="square" rtlCol="0">
              <a:spAutoFit/>
            </a:bodyPr>
            <a:lstStyle/>
            <a:p>
              <a:r>
                <a:rPr lang="en-US" sz="1600" dirty="0">
                  <a:latin typeface="Arial" panose="020B0604020202020204" pitchFamily="34" charset="0"/>
                  <a:cs typeface="Arial" panose="020B0604020202020204" pitchFamily="34" charset="0"/>
                </a:rPr>
                <a:t>what happens if count exceeds 2</a:t>
              </a:r>
              <a:r>
                <a:rPr lang="en-US" sz="1600" baseline="30000" dirty="0">
                  <a:latin typeface="Arial" panose="020B0604020202020204" pitchFamily="34" charset="0"/>
                  <a:cs typeface="Arial" panose="020B0604020202020204" pitchFamily="34" charset="0"/>
                </a:rPr>
                <a:t>8</a:t>
              </a:r>
              <a:r>
                <a:rPr lang="en-US" sz="1600" dirty="0">
                  <a:latin typeface="Arial" panose="020B0604020202020204" pitchFamily="34" charset="0"/>
                  <a:cs typeface="Arial" panose="020B0604020202020204" pitchFamily="34" charset="0"/>
                </a:rPr>
                <a:t>? (if 8-bit per count used)</a:t>
              </a:r>
            </a:p>
          </p:txBody>
        </p:sp>
      </p:grpSp>
    </p:spTree>
    <p:extLst>
      <p:ext uri="{BB962C8B-B14F-4D97-AF65-F5344CB8AC3E}">
        <p14:creationId xmlns:p14="http://schemas.microsoft.com/office/powerpoint/2010/main" val="2814181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7FBAF-399F-A449-A8B4-78D33A89103B}"/>
              </a:ext>
            </a:extLst>
          </p:cNvPr>
          <p:cNvSpPr>
            <a:spLocks noGrp="1"/>
          </p:cNvSpPr>
          <p:nvPr>
            <p:ph type="title"/>
          </p:nvPr>
        </p:nvSpPr>
        <p:spPr/>
        <p:txBody>
          <a:bodyPr/>
          <a:lstStyle/>
          <a:p>
            <a:r>
              <a:rPr lang="en-US" dirty="0"/>
              <a:t>Run-length coding</a:t>
            </a:r>
          </a:p>
        </p:txBody>
      </p:sp>
      <p:sp>
        <p:nvSpPr>
          <p:cNvPr id="3" name="Content Placeholder 2">
            <a:extLst>
              <a:ext uri="{FF2B5EF4-FFF2-40B4-BE49-F238E27FC236}">
                <a16:creationId xmlns:a16="http://schemas.microsoft.com/office/drawing/2014/main" id="{8E2DF80F-8D6A-AB40-9E07-F9226F2F40D4}"/>
              </a:ext>
            </a:extLst>
          </p:cNvPr>
          <p:cNvSpPr>
            <a:spLocks noGrp="1"/>
          </p:cNvSpPr>
          <p:nvPr>
            <p:ph idx="1"/>
          </p:nvPr>
        </p:nvSpPr>
        <p:spPr/>
        <p:txBody>
          <a:bodyPr/>
          <a:lstStyle/>
          <a:p>
            <a:r>
              <a:rPr lang="en-US" dirty="0"/>
              <a:t>Pseudocode</a:t>
            </a:r>
          </a:p>
        </p:txBody>
      </p:sp>
      <p:sp>
        <p:nvSpPr>
          <p:cNvPr id="5" name="TextBox 4">
            <a:extLst>
              <a:ext uri="{FF2B5EF4-FFF2-40B4-BE49-F238E27FC236}">
                <a16:creationId xmlns:a16="http://schemas.microsoft.com/office/drawing/2014/main" id="{F16DFB9F-C0B1-1747-B935-ABB06C40B733}"/>
              </a:ext>
            </a:extLst>
          </p:cNvPr>
          <p:cNvSpPr txBox="1"/>
          <p:nvPr/>
        </p:nvSpPr>
        <p:spPr>
          <a:xfrm>
            <a:off x="648929" y="2138516"/>
            <a:ext cx="5615640" cy="2800767"/>
          </a:xfrm>
          <a:prstGeom prst="rect">
            <a:avLst/>
          </a:prstGeom>
          <a:noFill/>
          <a:ln w="28575">
            <a:solidFill>
              <a:schemeClr val="bg1">
                <a:lumMod val="75000"/>
              </a:schemeClr>
            </a:solidFill>
          </a:ln>
        </p:spPr>
        <p:txBody>
          <a:bodyPr wrap="none" rtlCol="0">
            <a:spAutoFit/>
          </a:bodyPr>
          <a:lstStyle/>
          <a:p>
            <a:r>
              <a:rPr lang="en-US" sz="1600" dirty="0">
                <a:latin typeface="Courier" pitchFamily="2" charset="0"/>
              </a:rPr>
              <a:t>…</a:t>
            </a:r>
          </a:p>
          <a:p>
            <a:endParaRPr lang="en-US" sz="1600" dirty="0">
              <a:latin typeface="Courier" pitchFamily="2" charset="0"/>
            </a:endParaRPr>
          </a:p>
          <a:p>
            <a:r>
              <a:rPr lang="en-US" sz="1600" dirty="0">
                <a:latin typeface="Courier" pitchFamily="2" charset="0"/>
              </a:rPr>
              <a:t>    </a:t>
            </a:r>
            <a:r>
              <a:rPr lang="en-US" sz="1600" dirty="0">
                <a:highlight>
                  <a:srgbClr val="C0C0C0"/>
                </a:highlight>
                <a:latin typeface="Courier" pitchFamily="2" charset="0"/>
              </a:rPr>
              <a:t>def expand():</a:t>
            </a:r>
          </a:p>
          <a:p>
            <a:r>
              <a:rPr lang="en-US" sz="1600" dirty="0">
                <a:latin typeface="Courier" pitchFamily="2" charset="0"/>
              </a:rPr>
              <a:t>        bit = false</a:t>
            </a:r>
          </a:p>
          <a:p>
            <a:endParaRPr lang="en-US" sz="1600" dirty="0">
              <a:latin typeface="Courier" pitchFamily="2" charset="0"/>
            </a:endParaRPr>
          </a:p>
          <a:p>
            <a:r>
              <a:rPr lang="en-US" sz="1600" dirty="0">
                <a:latin typeface="Courier" pitchFamily="2" charset="0"/>
              </a:rPr>
              <a:t>        while (!</a:t>
            </a:r>
            <a:r>
              <a:rPr lang="en-US" sz="1600" dirty="0" err="1">
                <a:latin typeface="Courier" pitchFamily="2" charset="0"/>
              </a:rPr>
              <a:t>BinaryStdIn.isEmpty</a:t>
            </a:r>
            <a:r>
              <a:rPr lang="en-US" sz="1600" dirty="0">
                <a:latin typeface="Courier" pitchFamily="2" charset="0"/>
              </a:rPr>
              <a:t>()):</a:t>
            </a:r>
          </a:p>
          <a:p>
            <a:r>
              <a:rPr lang="en-US" sz="1600" dirty="0">
                <a:latin typeface="Courier" pitchFamily="2" charset="0"/>
              </a:rPr>
              <a:t>            count = </a:t>
            </a:r>
            <a:r>
              <a:rPr lang="en-US" sz="1600" dirty="0" err="1">
                <a:latin typeface="Courier" pitchFamily="2" charset="0"/>
              </a:rPr>
              <a:t>BinaryStdIn.readChar</a:t>
            </a:r>
            <a:r>
              <a:rPr lang="en-US" sz="1600" dirty="0">
                <a:latin typeface="Courier" pitchFamily="2" charset="0"/>
              </a:rPr>
              <a:t>()</a:t>
            </a:r>
          </a:p>
          <a:p>
            <a:r>
              <a:rPr lang="en-US" sz="1600" dirty="0">
                <a:latin typeface="Courier" pitchFamily="2" charset="0"/>
              </a:rPr>
              <a:t>            for </a:t>
            </a:r>
            <a:r>
              <a:rPr lang="en-US" sz="1600" dirty="0" err="1">
                <a:latin typeface="Courier" pitchFamily="2" charset="0"/>
              </a:rPr>
              <a:t>i</a:t>
            </a:r>
            <a:r>
              <a:rPr lang="en-US" sz="1600" dirty="0">
                <a:latin typeface="Courier" pitchFamily="2" charset="0"/>
              </a:rPr>
              <a:t> in range (0, count):</a:t>
            </a:r>
          </a:p>
          <a:p>
            <a:r>
              <a:rPr lang="en-US" sz="1600" dirty="0">
                <a:latin typeface="Courier" pitchFamily="2" charset="0"/>
              </a:rPr>
              <a:t>                    </a:t>
            </a:r>
            <a:r>
              <a:rPr lang="en-US" sz="1600" dirty="0" err="1">
                <a:latin typeface="Courier" pitchFamily="2" charset="0"/>
              </a:rPr>
              <a:t>BinaryStdOut.write</a:t>
            </a:r>
            <a:r>
              <a:rPr lang="en-US" sz="1600" dirty="0">
                <a:latin typeface="Courier" pitchFamily="2" charset="0"/>
              </a:rPr>
              <a:t>(bit)</a:t>
            </a:r>
          </a:p>
          <a:p>
            <a:r>
              <a:rPr lang="en-US" sz="1600" dirty="0">
                <a:latin typeface="Courier" pitchFamily="2" charset="0"/>
              </a:rPr>
              <a:t>   </a:t>
            </a:r>
          </a:p>
          <a:p>
            <a:r>
              <a:rPr lang="en-US" sz="1600" dirty="0">
                <a:latin typeface="Courier" pitchFamily="2" charset="0"/>
              </a:rPr>
              <a:t>            bit = !bit</a:t>
            </a:r>
          </a:p>
        </p:txBody>
      </p:sp>
      <p:sp>
        <p:nvSpPr>
          <p:cNvPr id="7" name="TextBox 6">
            <a:extLst>
              <a:ext uri="{FF2B5EF4-FFF2-40B4-BE49-F238E27FC236}">
                <a16:creationId xmlns:a16="http://schemas.microsoft.com/office/drawing/2014/main" id="{60B1A75D-7AC8-5E45-8B76-FFEC9E34DBC2}"/>
              </a:ext>
            </a:extLst>
          </p:cNvPr>
          <p:cNvSpPr txBox="1"/>
          <p:nvPr/>
        </p:nvSpPr>
        <p:spPr>
          <a:xfrm>
            <a:off x="6994386" y="2876086"/>
            <a:ext cx="5012968" cy="2062103"/>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Assume sequence starts with 0</a:t>
            </a:r>
          </a:p>
          <a:p>
            <a:endParaRPr lang="en-US" sz="1600" dirty="0">
              <a:latin typeface="Arial" panose="020B0604020202020204" pitchFamily="34" charset="0"/>
              <a:cs typeface="Arial" panose="020B0604020202020204" pitchFamily="34" charset="0"/>
            </a:endParaRP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Read 8-bit count</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Write count bits, one at a time</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Flip over bit</a:t>
            </a:r>
          </a:p>
        </p:txBody>
      </p:sp>
      <p:grpSp>
        <p:nvGrpSpPr>
          <p:cNvPr id="4" name="Group 3">
            <a:extLst>
              <a:ext uri="{FF2B5EF4-FFF2-40B4-BE49-F238E27FC236}">
                <a16:creationId xmlns:a16="http://schemas.microsoft.com/office/drawing/2014/main" id="{A51D28D7-F5CD-A140-BB72-FA180D8270A9}"/>
              </a:ext>
              <a:ext uri="{C183D7F6-B498-43B3-948B-1728B52AA6E4}">
                <adec:decorative xmlns:adec="http://schemas.microsoft.com/office/drawing/2017/decorative" val="1"/>
              </a:ext>
            </a:extLst>
          </p:cNvPr>
          <p:cNvGrpSpPr/>
          <p:nvPr/>
        </p:nvGrpSpPr>
        <p:grpSpPr>
          <a:xfrm>
            <a:off x="6025909" y="3086051"/>
            <a:ext cx="968477" cy="1641988"/>
            <a:chOff x="6025909" y="3086051"/>
            <a:chExt cx="968477" cy="1641988"/>
          </a:xfrm>
        </p:grpSpPr>
        <p:cxnSp>
          <p:nvCxnSpPr>
            <p:cNvPr id="8" name="Straight Arrow Connector 7">
              <a:extLst>
                <a:ext uri="{FF2B5EF4-FFF2-40B4-BE49-F238E27FC236}">
                  <a16:creationId xmlns:a16="http://schemas.microsoft.com/office/drawing/2014/main" id="{B95BC00D-7A32-834F-B305-A0B5C44E7AEC}"/>
                </a:ext>
              </a:extLst>
            </p:cNvPr>
            <p:cNvCxnSpPr/>
            <p:nvPr/>
          </p:nvCxnSpPr>
          <p:spPr>
            <a:xfrm flipH="1">
              <a:off x="6025909" y="3774309"/>
              <a:ext cx="968477" cy="0"/>
            </a:xfrm>
            <a:prstGeom prst="straightConnector1">
              <a:avLst/>
            </a:prstGeom>
            <a:ln w="285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194FCB7F-24D9-D442-B6BC-EFA5EBAE7A3B}"/>
                </a:ext>
              </a:extLst>
            </p:cNvPr>
            <p:cNvCxnSpPr/>
            <p:nvPr/>
          </p:nvCxnSpPr>
          <p:spPr>
            <a:xfrm flipH="1">
              <a:off x="6025909" y="4265918"/>
              <a:ext cx="968477" cy="0"/>
            </a:xfrm>
            <a:prstGeom prst="straightConnector1">
              <a:avLst/>
            </a:prstGeom>
            <a:ln w="285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480DAC60-C623-CB41-949D-34A568F510F6}"/>
                </a:ext>
              </a:extLst>
            </p:cNvPr>
            <p:cNvCxnSpPr/>
            <p:nvPr/>
          </p:nvCxnSpPr>
          <p:spPr>
            <a:xfrm flipH="1">
              <a:off x="6025909" y="4728039"/>
              <a:ext cx="968477" cy="0"/>
            </a:xfrm>
            <a:prstGeom prst="straightConnector1">
              <a:avLst/>
            </a:prstGeom>
            <a:ln w="285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D99F370B-DD2B-6A48-8640-C779ABD2FC18}"/>
                </a:ext>
              </a:extLst>
            </p:cNvPr>
            <p:cNvCxnSpPr/>
            <p:nvPr/>
          </p:nvCxnSpPr>
          <p:spPr>
            <a:xfrm flipH="1">
              <a:off x="6025909" y="3086051"/>
              <a:ext cx="968477" cy="0"/>
            </a:xfrm>
            <a:prstGeom prst="straightConnector1">
              <a:avLst/>
            </a:prstGeom>
            <a:ln w="285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6656235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E4B2B-42A6-AB40-9BC4-CB4BFBF69C49}"/>
              </a:ext>
            </a:extLst>
          </p:cNvPr>
          <p:cNvSpPr>
            <a:spLocks noGrp="1"/>
          </p:cNvSpPr>
          <p:nvPr>
            <p:ph type="title"/>
          </p:nvPr>
        </p:nvSpPr>
        <p:spPr/>
        <p:txBody>
          <a:bodyPr/>
          <a:lstStyle/>
          <a:p>
            <a:r>
              <a:rPr lang="en-US" dirty="0"/>
              <a:t>content</a:t>
            </a:r>
          </a:p>
        </p:txBody>
      </p:sp>
      <p:sp>
        <p:nvSpPr>
          <p:cNvPr id="3" name="Content Placeholder 2">
            <a:extLst>
              <a:ext uri="{FF2B5EF4-FFF2-40B4-BE49-F238E27FC236}">
                <a16:creationId xmlns:a16="http://schemas.microsoft.com/office/drawing/2014/main" id="{636AC683-7CB8-FA4F-BFE8-E3A25C25F8FD}"/>
              </a:ext>
            </a:extLst>
          </p:cNvPr>
          <p:cNvSpPr>
            <a:spLocks noGrp="1"/>
          </p:cNvSpPr>
          <p:nvPr>
            <p:ph idx="1"/>
          </p:nvPr>
        </p:nvSpPr>
        <p:spPr/>
        <p:txBody>
          <a:bodyPr/>
          <a:lstStyle/>
          <a:p>
            <a:r>
              <a:rPr lang="en-US" dirty="0"/>
              <a:t>Run-length coding</a:t>
            </a:r>
          </a:p>
          <a:p>
            <a:r>
              <a:rPr lang="en-US" dirty="0">
                <a:highlight>
                  <a:srgbClr val="C0C0C0"/>
                </a:highlight>
              </a:rPr>
              <a:t>Huffman compression</a:t>
            </a:r>
          </a:p>
        </p:txBody>
      </p:sp>
    </p:spTree>
    <p:extLst>
      <p:ext uri="{BB962C8B-B14F-4D97-AF65-F5344CB8AC3E}">
        <p14:creationId xmlns:p14="http://schemas.microsoft.com/office/powerpoint/2010/main" val="32108835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61A64-88E3-514F-96E5-EB5877D9729F}"/>
              </a:ext>
            </a:extLst>
          </p:cNvPr>
          <p:cNvSpPr>
            <a:spLocks noGrp="1"/>
          </p:cNvSpPr>
          <p:nvPr>
            <p:ph type="title"/>
          </p:nvPr>
        </p:nvSpPr>
        <p:spPr/>
        <p:txBody>
          <a:bodyPr/>
          <a:lstStyle/>
          <a:p>
            <a:r>
              <a:rPr lang="en-US" dirty="0"/>
              <a:t>Huffman compression</a:t>
            </a:r>
          </a:p>
        </p:txBody>
      </p:sp>
      <p:sp>
        <p:nvSpPr>
          <p:cNvPr id="3" name="Content Placeholder 2">
            <a:extLst>
              <a:ext uri="{FF2B5EF4-FFF2-40B4-BE49-F238E27FC236}">
                <a16:creationId xmlns:a16="http://schemas.microsoft.com/office/drawing/2014/main" id="{B9A27260-ED92-1742-90BD-44C0FED54F03}"/>
              </a:ext>
            </a:extLst>
          </p:cNvPr>
          <p:cNvSpPr>
            <a:spLocks noGrp="1"/>
          </p:cNvSpPr>
          <p:nvPr>
            <p:ph idx="1"/>
          </p:nvPr>
        </p:nvSpPr>
        <p:spPr/>
        <p:txBody>
          <a:bodyPr/>
          <a:lstStyle/>
          <a:p>
            <a:r>
              <a:rPr lang="en-US" dirty="0">
                <a:highlight>
                  <a:srgbClr val="C0C0C0"/>
                </a:highlight>
              </a:rPr>
              <a:t>Key idea</a:t>
            </a:r>
            <a:r>
              <a:rPr lang="en-US" dirty="0"/>
              <a:t>. Instead of encoding every character in alphabet using the same number of bits, use fewer bits for characters that appear more often, so to lower the total number of bits used.</a:t>
            </a:r>
          </a:p>
          <a:p>
            <a:r>
              <a:rPr lang="en-US" dirty="0"/>
              <a:t>Example:</a:t>
            </a:r>
          </a:p>
        </p:txBody>
      </p:sp>
      <p:sp>
        <p:nvSpPr>
          <p:cNvPr id="4" name="TextBox 3">
            <a:extLst>
              <a:ext uri="{FF2B5EF4-FFF2-40B4-BE49-F238E27FC236}">
                <a16:creationId xmlns:a16="http://schemas.microsoft.com/office/drawing/2014/main" id="{048F08DD-85FF-2544-BC48-F129B3E970FC}"/>
              </a:ext>
            </a:extLst>
          </p:cNvPr>
          <p:cNvSpPr txBox="1"/>
          <p:nvPr/>
        </p:nvSpPr>
        <p:spPr>
          <a:xfrm>
            <a:off x="1042750" y="3580445"/>
            <a:ext cx="5240064" cy="2308324"/>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Input message: ABRACADABRA!</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Standard 7-bit ASCII representation: 1000001 1000010 1010010 1000001 1000011 1000001 1000100 1000001 1000010 1010010 1000001 0100001</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graphicFrame>
        <p:nvGraphicFramePr>
          <p:cNvPr id="5" name="Table 4">
            <a:extLst>
              <a:ext uri="{FF2B5EF4-FFF2-40B4-BE49-F238E27FC236}">
                <a16:creationId xmlns:a16="http://schemas.microsoft.com/office/drawing/2014/main" id="{FB34B7A4-EE1B-1040-87EC-8DB1ED31C24F}"/>
              </a:ext>
            </a:extLst>
          </p:cNvPr>
          <p:cNvGraphicFramePr>
            <a:graphicFrameLocks noGrp="1"/>
          </p:cNvGraphicFramePr>
          <p:nvPr>
            <p:extLst>
              <p:ext uri="{D42A27DB-BD31-4B8C-83A1-F6EECF244321}">
                <p14:modId xmlns:p14="http://schemas.microsoft.com/office/powerpoint/2010/main" val="2312353268"/>
              </p:ext>
            </p:extLst>
          </p:nvPr>
        </p:nvGraphicFramePr>
        <p:xfrm>
          <a:off x="6662448" y="3201072"/>
          <a:ext cx="3090034" cy="3337560"/>
        </p:xfrm>
        <a:graphic>
          <a:graphicData uri="http://schemas.openxmlformats.org/drawingml/2006/table">
            <a:tbl>
              <a:tblPr firstRow="1" bandRow="1">
                <a:tableStyleId>{5C22544A-7EE6-4342-B048-85BDC9FD1C3A}</a:tableStyleId>
              </a:tblPr>
              <a:tblGrid>
                <a:gridCol w="918989">
                  <a:extLst>
                    <a:ext uri="{9D8B030D-6E8A-4147-A177-3AD203B41FA5}">
                      <a16:colId xmlns:a16="http://schemas.microsoft.com/office/drawing/2014/main" val="503183346"/>
                    </a:ext>
                  </a:extLst>
                </a:gridCol>
                <a:gridCol w="2171045">
                  <a:extLst>
                    <a:ext uri="{9D8B030D-6E8A-4147-A177-3AD203B41FA5}">
                      <a16:colId xmlns:a16="http://schemas.microsoft.com/office/drawing/2014/main" val="3451659417"/>
                    </a:ext>
                  </a:extLst>
                </a:gridCol>
              </a:tblGrid>
              <a:tr h="370840">
                <a:tc>
                  <a:txBody>
                    <a:bodyPr/>
                    <a:lstStyle/>
                    <a:p>
                      <a:pPr algn="ctr"/>
                      <a:r>
                        <a:rPr lang="en-US" sz="1600" b="0" dirty="0">
                          <a:solidFill>
                            <a:schemeClr val="tx1"/>
                          </a:solidFill>
                          <a:latin typeface="Arial" panose="020B0604020202020204" pitchFamily="34" charset="0"/>
                          <a:cs typeface="Arial" panose="020B0604020202020204" pitchFamily="34" charset="0"/>
                        </a:rPr>
                        <a:t>Char</a:t>
                      </a:r>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ASCII</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14560110"/>
                  </a:ext>
                </a:extLst>
              </a:tr>
              <a:tr h="370840">
                <a:tc>
                  <a:txBody>
                    <a:bodyPr/>
                    <a:lstStyle/>
                    <a:p>
                      <a:pPr algn="ctr"/>
                      <a:r>
                        <a:rPr lang="en-US" sz="1600" b="0" dirty="0">
                          <a:solidFill>
                            <a:schemeClr val="tx1"/>
                          </a:solidFill>
                          <a:latin typeface="Arial" panose="020B0604020202020204" pitchFamily="34" charset="0"/>
                          <a:cs typeface="Arial" panose="020B0604020202020204" pitchFamily="34" charset="0"/>
                        </a:rPr>
                        <a:t>A</a:t>
                      </a: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sz="1600" dirty="0">
                          <a:latin typeface="Arial" panose="020B0604020202020204" pitchFamily="34" charset="0"/>
                          <a:cs typeface="Arial" panose="020B0604020202020204" pitchFamily="34" charset="0"/>
                        </a:rPr>
                        <a:t>1000001</a:t>
                      </a:r>
                      <a:endParaRPr lang="en-US" sz="16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435405305"/>
                  </a:ext>
                </a:extLst>
              </a:tr>
              <a:tr h="370840">
                <a:tc>
                  <a:txBody>
                    <a:bodyPr/>
                    <a:lstStyle/>
                    <a:p>
                      <a:pPr algn="ctr"/>
                      <a:r>
                        <a:rPr lang="en-US" sz="1600" b="0" dirty="0">
                          <a:solidFill>
                            <a:schemeClr val="tx1"/>
                          </a:solidFill>
                          <a:latin typeface="Arial" panose="020B0604020202020204" pitchFamily="34" charset="0"/>
                          <a:cs typeface="Arial" panose="020B0604020202020204" pitchFamily="34" charset="0"/>
                        </a:rPr>
                        <a:t>B</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600" dirty="0">
                          <a:latin typeface="Arial" panose="020B0604020202020204" pitchFamily="34" charset="0"/>
                          <a:cs typeface="Arial" panose="020B0604020202020204" pitchFamily="34" charset="0"/>
                        </a:rPr>
                        <a:t>1000010</a:t>
                      </a:r>
                      <a:endParaRPr lang="en-US" sz="16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801980468"/>
                  </a:ext>
                </a:extLst>
              </a:tr>
              <a:tr h="370840">
                <a:tc>
                  <a:txBody>
                    <a:bodyPr/>
                    <a:lstStyle/>
                    <a:p>
                      <a:pPr algn="ctr"/>
                      <a:r>
                        <a:rPr lang="en-US" sz="1600" b="0" dirty="0">
                          <a:solidFill>
                            <a:schemeClr val="tx1"/>
                          </a:solidFill>
                          <a:latin typeface="Arial" panose="020B0604020202020204" pitchFamily="34" charset="0"/>
                          <a:cs typeface="Arial" panose="020B0604020202020204" pitchFamily="34" charset="0"/>
                        </a:rPr>
                        <a:t>C</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600" dirty="0">
                          <a:latin typeface="Arial" panose="020B0604020202020204" pitchFamily="34" charset="0"/>
                          <a:cs typeface="Arial" panose="020B0604020202020204" pitchFamily="34" charset="0"/>
                        </a:rPr>
                        <a:t>1000011</a:t>
                      </a:r>
                      <a:endParaRPr lang="en-US" sz="16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70396342"/>
                  </a:ext>
                </a:extLst>
              </a:tr>
              <a:tr h="370840">
                <a:tc>
                  <a:txBody>
                    <a:bodyPr/>
                    <a:lstStyle/>
                    <a:p>
                      <a:pPr algn="ctr"/>
                      <a:r>
                        <a:rPr lang="en-US" sz="1600" b="0" dirty="0">
                          <a:solidFill>
                            <a:schemeClr val="tx1"/>
                          </a:solidFill>
                          <a:latin typeface="Arial" panose="020B0604020202020204" pitchFamily="34" charset="0"/>
                          <a:cs typeface="Arial" panose="020B0604020202020204" pitchFamily="34" charset="0"/>
                        </a:rPr>
                        <a:t>D</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600" dirty="0">
                          <a:latin typeface="Arial" panose="020B0604020202020204" pitchFamily="34" charset="0"/>
                          <a:cs typeface="Arial" panose="020B0604020202020204" pitchFamily="34" charset="0"/>
                        </a:rPr>
                        <a:t>1000100</a:t>
                      </a:r>
                      <a:endParaRPr lang="en-US" sz="16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49932020"/>
                  </a:ext>
                </a:extLst>
              </a:tr>
              <a:tr h="370840">
                <a:tc>
                  <a:txBody>
                    <a:bodyPr/>
                    <a:lstStyle/>
                    <a:p>
                      <a:pPr algn="ctr"/>
                      <a:r>
                        <a:rPr lang="en-US" sz="1600" b="0" dirty="0">
                          <a:solidFill>
                            <a:schemeClr val="tx1"/>
                          </a:solidFill>
                          <a:latin typeface="Arial" panose="020B0604020202020204" pitchFamily="34" charset="0"/>
                          <a:cs typeface="Arial" panose="020B0604020202020204" pitchFamily="34" charset="0"/>
                        </a:rPr>
                        <a:t>…</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78005592"/>
                  </a:ext>
                </a:extLst>
              </a:tr>
              <a:tr h="370840">
                <a:tc>
                  <a:txBody>
                    <a:bodyPr/>
                    <a:lstStyle/>
                    <a:p>
                      <a:pPr algn="ctr"/>
                      <a:r>
                        <a:rPr lang="en-US" sz="1600" b="0" dirty="0">
                          <a:solidFill>
                            <a:schemeClr val="tx1"/>
                          </a:solidFill>
                          <a:latin typeface="Arial" panose="020B0604020202020204" pitchFamily="34" charset="0"/>
                          <a:cs typeface="Arial" panose="020B0604020202020204" pitchFamily="34" charset="0"/>
                        </a:rPr>
                        <a:t>R</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600" dirty="0">
                          <a:latin typeface="Arial" panose="020B0604020202020204" pitchFamily="34" charset="0"/>
                          <a:cs typeface="Arial" panose="020B0604020202020204" pitchFamily="34" charset="0"/>
                        </a:rPr>
                        <a:t>1010010</a:t>
                      </a:r>
                      <a:endParaRPr lang="en-US" sz="16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875734043"/>
                  </a:ext>
                </a:extLst>
              </a:tr>
              <a:tr h="370840">
                <a:tc>
                  <a:txBody>
                    <a:bodyPr/>
                    <a:lstStyle/>
                    <a:p>
                      <a:pPr algn="ctr"/>
                      <a:r>
                        <a:rPr lang="en-US" sz="1600" b="0" dirty="0">
                          <a:solidFill>
                            <a:schemeClr val="tx1"/>
                          </a:solidFill>
                          <a:latin typeface="Arial" panose="020B0604020202020204" pitchFamily="34" charset="0"/>
                          <a:cs typeface="Arial" panose="020B0604020202020204" pitchFamily="34" charset="0"/>
                        </a:rPr>
                        <a:t>…</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655936196"/>
                  </a:ext>
                </a:extLst>
              </a:tr>
              <a:tr h="370840">
                <a:tc>
                  <a:txBody>
                    <a:bodyPr/>
                    <a:lstStyle/>
                    <a:p>
                      <a:pPr algn="ctr"/>
                      <a:r>
                        <a:rPr lang="en-US" sz="1600" b="0" dirty="0">
                          <a:solidFill>
                            <a:schemeClr val="tx1"/>
                          </a:solidFill>
                          <a:latin typeface="Arial" panose="020B0604020202020204" pitchFamily="34" charset="0"/>
                          <a:cs typeface="Arial" panose="020B0604020202020204" pitchFamily="34" charset="0"/>
                        </a:rPr>
                        <a:t>!</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600" dirty="0">
                          <a:latin typeface="Arial" panose="020B0604020202020204" pitchFamily="34" charset="0"/>
                          <a:cs typeface="Arial" panose="020B0604020202020204" pitchFamily="34" charset="0"/>
                        </a:rPr>
                        <a:t>0100001</a:t>
                      </a:r>
                      <a:endParaRPr lang="en-US" sz="16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23862345"/>
                  </a:ext>
                </a:extLst>
              </a:tr>
            </a:tbl>
          </a:graphicData>
        </a:graphic>
      </p:graphicFrame>
    </p:spTree>
    <p:extLst>
      <p:ext uri="{BB962C8B-B14F-4D97-AF65-F5344CB8AC3E}">
        <p14:creationId xmlns:p14="http://schemas.microsoft.com/office/powerpoint/2010/main" val="6825166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61A64-88E3-514F-96E5-EB5877D9729F}"/>
              </a:ext>
            </a:extLst>
          </p:cNvPr>
          <p:cNvSpPr>
            <a:spLocks noGrp="1"/>
          </p:cNvSpPr>
          <p:nvPr>
            <p:ph type="title"/>
          </p:nvPr>
        </p:nvSpPr>
        <p:spPr/>
        <p:txBody>
          <a:bodyPr/>
          <a:lstStyle/>
          <a:p>
            <a:r>
              <a:rPr lang="en-US" dirty="0"/>
              <a:t>Huffman compression</a:t>
            </a:r>
          </a:p>
        </p:txBody>
      </p:sp>
      <p:sp>
        <p:nvSpPr>
          <p:cNvPr id="3" name="Content Placeholder 2">
            <a:extLst>
              <a:ext uri="{FF2B5EF4-FFF2-40B4-BE49-F238E27FC236}">
                <a16:creationId xmlns:a16="http://schemas.microsoft.com/office/drawing/2014/main" id="{B9A27260-ED92-1742-90BD-44C0FED54F03}"/>
              </a:ext>
            </a:extLst>
          </p:cNvPr>
          <p:cNvSpPr>
            <a:spLocks noGrp="1"/>
          </p:cNvSpPr>
          <p:nvPr>
            <p:ph idx="1"/>
          </p:nvPr>
        </p:nvSpPr>
        <p:spPr/>
        <p:txBody>
          <a:bodyPr/>
          <a:lstStyle/>
          <a:p>
            <a:r>
              <a:rPr lang="en-US" dirty="0">
                <a:highlight>
                  <a:srgbClr val="C0C0C0"/>
                </a:highlight>
              </a:rPr>
              <a:t>Key idea</a:t>
            </a:r>
            <a:r>
              <a:rPr lang="en-US" dirty="0"/>
              <a:t>. Instead of encoding every character in alphabet using the same number of bits, use fewer bits for characters that appear more often, so to lower the total number of bits used.</a:t>
            </a:r>
          </a:p>
          <a:p>
            <a:r>
              <a:rPr lang="en-US" dirty="0"/>
              <a:t>Example:</a:t>
            </a:r>
          </a:p>
        </p:txBody>
      </p:sp>
      <p:sp>
        <p:nvSpPr>
          <p:cNvPr id="4" name="TextBox 3">
            <a:extLst>
              <a:ext uri="{FF2B5EF4-FFF2-40B4-BE49-F238E27FC236}">
                <a16:creationId xmlns:a16="http://schemas.microsoft.com/office/drawing/2014/main" id="{048F08DD-85FF-2544-BC48-F129B3E970FC}"/>
              </a:ext>
            </a:extLst>
          </p:cNvPr>
          <p:cNvSpPr txBox="1"/>
          <p:nvPr/>
        </p:nvSpPr>
        <p:spPr>
          <a:xfrm>
            <a:off x="1042750" y="3580445"/>
            <a:ext cx="5240064" cy="286232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Input message: ABRACADABRA!</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Standard 7-bit ASCII representation: 1000001 1000010 1010010 1000001 1000011 1000001 1000100 1000001 1000010 1010010 1000001 0100001</a:t>
            </a:r>
          </a:p>
          <a:p>
            <a:endParaRPr lang="en-US" dirty="0">
              <a:latin typeface="Arial" panose="020B0604020202020204" pitchFamily="34" charset="0"/>
              <a:cs typeface="Arial" panose="020B0604020202020204" pitchFamily="34" charset="0"/>
            </a:endParaRPr>
          </a:p>
          <a:p>
            <a:r>
              <a:rPr lang="en-US" dirty="0">
                <a:solidFill>
                  <a:schemeClr val="accent5"/>
                </a:solidFill>
                <a:latin typeface="Arial" panose="020B0604020202020204" pitchFamily="34" charset="0"/>
                <a:cs typeface="Arial" panose="020B0604020202020204" pitchFamily="34" charset="0"/>
              </a:rPr>
              <a:t>Huffman representation</a:t>
            </a:r>
            <a:r>
              <a:rPr lang="en-US" dirty="0">
                <a:latin typeface="Arial" panose="020B0604020202020204" pitchFamily="34" charset="0"/>
                <a:cs typeface="Arial" panose="020B0604020202020204" pitchFamily="34" charset="0"/>
              </a:rPr>
              <a:t>: 0 111 110 0 1011 0 100 0 111 110 0 1010</a:t>
            </a:r>
          </a:p>
          <a:p>
            <a:endParaRPr lang="en-US" dirty="0">
              <a:latin typeface="Arial" panose="020B0604020202020204" pitchFamily="34" charset="0"/>
              <a:cs typeface="Arial" panose="020B0604020202020204" pitchFamily="34" charset="0"/>
            </a:endParaRPr>
          </a:p>
        </p:txBody>
      </p:sp>
      <p:graphicFrame>
        <p:nvGraphicFramePr>
          <p:cNvPr id="5" name="Table 4">
            <a:extLst>
              <a:ext uri="{FF2B5EF4-FFF2-40B4-BE49-F238E27FC236}">
                <a16:creationId xmlns:a16="http://schemas.microsoft.com/office/drawing/2014/main" id="{FB34B7A4-EE1B-1040-87EC-8DB1ED31C24F}"/>
              </a:ext>
            </a:extLst>
          </p:cNvPr>
          <p:cNvGraphicFramePr>
            <a:graphicFrameLocks noGrp="1"/>
          </p:cNvGraphicFramePr>
          <p:nvPr>
            <p:extLst>
              <p:ext uri="{D42A27DB-BD31-4B8C-83A1-F6EECF244321}">
                <p14:modId xmlns:p14="http://schemas.microsoft.com/office/powerpoint/2010/main" val="2664740479"/>
              </p:ext>
            </p:extLst>
          </p:nvPr>
        </p:nvGraphicFramePr>
        <p:xfrm>
          <a:off x="6662448" y="3201072"/>
          <a:ext cx="4635051" cy="3337560"/>
        </p:xfrm>
        <a:graphic>
          <a:graphicData uri="http://schemas.openxmlformats.org/drawingml/2006/table">
            <a:tbl>
              <a:tblPr firstRow="1" bandRow="1">
                <a:tableStyleId>{5C22544A-7EE6-4342-B048-85BDC9FD1C3A}</a:tableStyleId>
              </a:tblPr>
              <a:tblGrid>
                <a:gridCol w="918989">
                  <a:extLst>
                    <a:ext uri="{9D8B030D-6E8A-4147-A177-3AD203B41FA5}">
                      <a16:colId xmlns:a16="http://schemas.microsoft.com/office/drawing/2014/main" val="503183346"/>
                    </a:ext>
                  </a:extLst>
                </a:gridCol>
                <a:gridCol w="2171045">
                  <a:extLst>
                    <a:ext uri="{9D8B030D-6E8A-4147-A177-3AD203B41FA5}">
                      <a16:colId xmlns:a16="http://schemas.microsoft.com/office/drawing/2014/main" val="3451659417"/>
                    </a:ext>
                  </a:extLst>
                </a:gridCol>
                <a:gridCol w="1545017">
                  <a:extLst>
                    <a:ext uri="{9D8B030D-6E8A-4147-A177-3AD203B41FA5}">
                      <a16:colId xmlns:a16="http://schemas.microsoft.com/office/drawing/2014/main" val="879740792"/>
                    </a:ext>
                  </a:extLst>
                </a:gridCol>
              </a:tblGrid>
              <a:tr h="370840">
                <a:tc>
                  <a:txBody>
                    <a:bodyPr/>
                    <a:lstStyle/>
                    <a:p>
                      <a:pPr algn="ctr"/>
                      <a:r>
                        <a:rPr lang="en-US" sz="1600" b="0" dirty="0">
                          <a:solidFill>
                            <a:schemeClr val="tx1"/>
                          </a:solidFill>
                          <a:latin typeface="Arial" panose="020B0604020202020204" pitchFamily="34" charset="0"/>
                          <a:cs typeface="Arial" panose="020B0604020202020204" pitchFamily="34" charset="0"/>
                        </a:rPr>
                        <a:t>Char</a:t>
                      </a:r>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ASCII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Huffman</a:t>
                      </a:r>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314560110"/>
                  </a:ext>
                </a:extLst>
              </a:tr>
              <a:tr h="370840">
                <a:tc>
                  <a:txBody>
                    <a:bodyPr/>
                    <a:lstStyle/>
                    <a:p>
                      <a:pPr algn="ctr"/>
                      <a:r>
                        <a:rPr lang="en-US" sz="1600" b="0" dirty="0">
                          <a:solidFill>
                            <a:schemeClr val="tx1"/>
                          </a:solidFill>
                          <a:latin typeface="Arial" panose="020B0604020202020204" pitchFamily="34" charset="0"/>
                          <a:cs typeface="Arial" panose="020B0604020202020204" pitchFamily="34" charset="0"/>
                        </a:rPr>
                        <a:t>A</a:t>
                      </a: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sz="1600" dirty="0">
                          <a:latin typeface="Arial" panose="020B0604020202020204" pitchFamily="34" charset="0"/>
                          <a:cs typeface="Arial" panose="020B0604020202020204" pitchFamily="34" charset="0"/>
                        </a:rPr>
                        <a:t>1000001</a:t>
                      </a:r>
                      <a:endParaRPr lang="en-US" sz="16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0</a:t>
                      </a: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435405305"/>
                  </a:ext>
                </a:extLst>
              </a:tr>
              <a:tr h="370840">
                <a:tc>
                  <a:txBody>
                    <a:bodyPr/>
                    <a:lstStyle/>
                    <a:p>
                      <a:pPr algn="ctr"/>
                      <a:r>
                        <a:rPr lang="en-US" sz="1600" b="0" dirty="0">
                          <a:solidFill>
                            <a:schemeClr val="tx1"/>
                          </a:solidFill>
                          <a:latin typeface="Arial" panose="020B0604020202020204" pitchFamily="34" charset="0"/>
                          <a:cs typeface="Arial" panose="020B0604020202020204" pitchFamily="34" charset="0"/>
                        </a:rPr>
                        <a:t>B</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600" dirty="0">
                          <a:latin typeface="Arial" panose="020B0604020202020204" pitchFamily="34" charset="0"/>
                          <a:cs typeface="Arial" panose="020B0604020202020204" pitchFamily="34" charset="0"/>
                        </a:rPr>
                        <a:t>1000010</a:t>
                      </a:r>
                      <a:endParaRPr lang="en-US" sz="16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111</a:t>
                      </a: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801980468"/>
                  </a:ext>
                </a:extLst>
              </a:tr>
              <a:tr h="370840">
                <a:tc>
                  <a:txBody>
                    <a:bodyPr/>
                    <a:lstStyle/>
                    <a:p>
                      <a:pPr algn="ctr"/>
                      <a:r>
                        <a:rPr lang="en-US" sz="1600" b="0" dirty="0">
                          <a:solidFill>
                            <a:schemeClr val="tx1"/>
                          </a:solidFill>
                          <a:latin typeface="Arial" panose="020B0604020202020204" pitchFamily="34" charset="0"/>
                          <a:cs typeface="Arial" panose="020B0604020202020204" pitchFamily="34" charset="0"/>
                        </a:rPr>
                        <a:t>C</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600" dirty="0">
                          <a:latin typeface="Arial" panose="020B0604020202020204" pitchFamily="34" charset="0"/>
                          <a:cs typeface="Arial" panose="020B0604020202020204" pitchFamily="34" charset="0"/>
                        </a:rPr>
                        <a:t>1000011</a:t>
                      </a:r>
                      <a:endParaRPr lang="en-US" sz="16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1011</a:t>
                      </a: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570396342"/>
                  </a:ext>
                </a:extLst>
              </a:tr>
              <a:tr h="370840">
                <a:tc>
                  <a:txBody>
                    <a:bodyPr/>
                    <a:lstStyle/>
                    <a:p>
                      <a:pPr algn="ctr"/>
                      <a:r>
                        <a:rPr lang="en-US" sz="1600" b="0" dirty="0">
                          <a:solidFill>
                            <a:schemeClr val="tx1"/>
                          </a:solidFill>
                          <a:latin typeface="Arial" panose="020B0604020202020204" pitchFamily="34" charset="0"/>
                          <a:cs typeface="Arial" panose="020B0604020202020204" pitchFamily="34" charset="0"/>
                        </a:rPr>
                        <a:t>D</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600" dirty="0">
                          <a:latin typeface="Arial" panose="020B0604020202020204" pitchFamily="34" charset="0"/>
                          <a:cs typeface="Arial" panose="020B0604020202020204" pitchFamily="34" charset="0"/>
                        </a:rPr>
                        <a:t>1000100</a:t>
                      </a:r>
                      <a:endParaRPr lang="en-US" sz="16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100</a:t>
                      </a: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9932020"/>
                  </a:ext>
                </a:extLst>
              </a:tr>
              <a:tr h="370840">
                <a:tc>
                  <a:txBody>
                    <a:bodyPr/>
                    <a:lstStyle/>
                    <a:p>
                      <a:pPr algn="ctr"/>
                      <a:r>
                        <a:rPr lang="en-US" sz="1600" b="0" dirty="0">
                          <a:solidFill>
                            <a:schemeClr val="tx1"/>
                          </a:solidFill>
                          <a:latin typeface="Arial" panose="020B0604020202020204" pitchFamily="34" charset="0"/>
                          <a:cs typeface="Arial" panose="020B0604020202020204" pitchFamily="34" charset="0"/>
                        </a:rPr>
                        <a:t>…</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a:t>
                      </a: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578005592"/>
                  </a:ext>
                </a:extLst>
              </a:tr>
              <a:tr h="370840">
                <a:tc>
                  <a:txBody>
                    <a:bodyPr/>
                    <a:lstStyle/>
                    <a:p>
                      <a:pPr algn="ctr"/>
                      <a:r>
                        <a:rPr lang="en-US" sz="1600" b="0" dirty="0">
                          <a:solidFill>
                            <a:schemeClr val="tx1"/>
                          </a:solidFill>
                          <a:latin typeface="Arial" panose="020B0604020202020204" pitchFamily="34" charset="0"/>
                          <a:cs typeface="Arial" panose="020B0604020202020204" pitchFamily="34" charset="0"/>
                        </a:rPr>
                        <a:t>R</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600" dirty="0">
                          <a:latin typeface="Arial" panose="020B0604020202020204" pitchFamily="34" charset="0"/>
                          <a:cs typeface="Arial" panose="020B0604020202020204" pitchFamily="34" charset="0"/>
                        </a:rPr>
                        <a:t>1010010</a:t>
                      </a:r>
                      <a:endParaRPr lang="en-US" sz="16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110</a:t>
                      </a: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875734043"/>
                  </a:ext>
                </a:extLst>
              </a:tr>
              <a:tr h="370840">
                <a:tc>
                  <a:txBody>
                    <a:bodyPr/>
                    <a:lstStyle/>
                    <a:p>
                      <a:pPr algn="ctr"/>
                      <a:r>
                        <a:rPr lang="en-US" sz="1600" b="0" dirty="0">
                          <a:solidFill>
                            <a:schemeClr val="tx1"/>
                          </a:solidFill>
                          <a:latin typeface="Arial" panose="020B0604020202020204" pitchFamily="34" charset="0"/>
                          <a:cs typeface="Arial" panose="020B0604020202020204" pitchFamily="34" charset="0"/>
                        </a:rPr>
                        <a:t>…</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a:t>
                      </a: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655936196"/>
                  </a:ext>
                </a:extLst>
              </a:tr>
              <a:tr h="370840">
                <a:tc>
                  <a:txBody>
                    <a:bodyPr/>
                    <a:lstStyle/>
                    <a:p>
                      <a:pPr algn="ctr"/>
                      <a:r>
                        <a:rPr lang="en-US" sz="1600" b="0" dirty="0">
                          <a:solidFill>
                            <a:schemeClr val="tx1"/>
                          </a:solidFill>
                          <a:latin typeface="Arial" panose="020B0604020202020204" pitchFamily="34" charset="0"/>
                          <a:cs typeface="Arial" panose="020B0604020202020204" pitchFamily="34" charset="0"/>
                        </a:rPr>
                        <a:t>!</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600" dirty="0">
                          <a:latin typeface="Arial" panose="020B0604020202020204" pitchFamily="34" charset="0"/>
                          <a:cs typeface="Arial" panose="020B0604020202020204" pitchFamily="34" charset="0"/>
                        </a:rPr>
                        <a:t>0100001</a:t>
                      </a:r>
                      <a:endParaRPr lang="en-US" sz="16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1010</a:t>
                      </a: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23862345"/>
                  </a:ext>
                </a:extLst>
              </a:tr>
            </a:tbl>
          </a:graphicData>
        </a:graphic>
      </p:graphicFrame>
    </p:spTree>
    <p:extLst>
      <p:ext uri="{BB962C8B-B14F-4D97-AF65-F5344CB8AC3E}">
        <p14:creationId xmlns:p14="http://schemas.microsoft.com/office/powerpoint/2010/main" val="36053574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61A64-88E3-514F-96E5-EB5877D9729F}"/>
              </a:ext>
            </a:extLst>
          </p:cNvPr>
          <p:cNvSpPr>
            <a:spLocks noGrp="1"/>
          </p:cNvSpPr>
          <p:nvPr>
            <p:ph type="title"/>
          </p:nvPr>
        </p:nvSpPr>
        <p:spPr/>
        <p:txBody>
          <a:bodyPr/>
          <a:lstStyle/>
          <a:p>
            <a:r>
              <a:rPr lang="en-US" dirty="0"/>
              <a:t>Huffman compression</a:t>
            </a:r>
          </a:p>
        </p:txBody>
      </p:sp>
      <p:sp>
        <p:nvSpPr>
          <p:cNvPr id="3" name="Content Placeholder 2">
            <a:extLst>
              <a:ext uri="{FF2B5EF4-FFF2-40B4-BE49-F238E27FC236}">
                <a16:creationId xmlns:a16="http://schemas.microsoft.com/office/drawing/2014/main" id="{B9A27260-ED92-1742-90BD-44C0FED54F03}"/>
              </a:ext>
            </a:extLst>
          </p:cNvPr>
          <p:cNvSpPr>
            <a:spLocks noGrp="1"/>
          </p:cNvSpPr>
          <p:nvPr>
            <p:ph idx="1"/>
          </p:nvPr>
        </p:nvSpPr>
        <p:spPr/>
        <p:txBody>
          <a:bodyPr/>
          <a:lstStyle/>
          <a:p>
            <a:r>
              <a:rPr lang="en-US" dirty="0">
                <a:highlight>
                  <a:srgbClr val="C0C0C0"/>
                </a:highlight>
              </a:rPr>
              <a:t>Key idea</a:t>
            </a:r>
            <a:r>
              <a:rPr lang="en-US" dirty="0"/>
              <a:t>. Instead of encoding every character in alphabet using the same number of bits, use fewer bits for characters that appear more often, so to lower the total number of bits used.</a:t>
            </a:r>
          </a:p>
          <a:p>
            <a:r>
              <a:rPr lang="en-US" dirty="0">
                <a:highlight>
                  <a:srgbClr val="C0C0C0"/>
                </a:highlight>
              </a:rPr>
              <a:t>Issue</a:t>
            </a:r>
            <a:r>
              <a:rPr lang="en-US" dirty="0"/>
              <a:t>: ambiguity</a:t>
            </a:r>
          </a:p>
        </p:txBody>
      </p:sp>
      <p:sp>
        <p:nvSpPr>
          <p:cNvPr id="6" name="TextBox 5">
            <a:extLst>
              <a:ext uri="{FF2B5EF4-FFF2-40B4-BE49-F238E27FC236}">
                <a16:creationId xmlns:a16="http://schemas.microsoft.com/office/drawing/2014/main" id="{ABC7CB97-BCEE-974B-A6D5-A44AF68C4829}"/>
              </a:ext>
            </a:extLst>
          </p:cNvPr>
          <p:cNvSpPr txBox="1"/>
          <p:nvPr/>
        </p:nvSpPr>
        <p:spPr>
          <a:xfrm>
            <a:off x="662921" y="3580445"/>
            <a:ext cx="5498727" cy="313932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Input message: ABRACADABRA!</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Standard 7-bit ASCII representation: 1000001 1000010 1010010 1000001 1000011 1000001 1000100 1000001 1000010 1010010 1000001 0100001</a:t>
            </a:r>
          </a:p>
          <a:p>
            <a:endParaRPr lang="en-US" dirty="0">
              <a:latin typeface="Arial" panose="020B0604020202020204" pitchFamily="34" charset="0"/>
              <a:cs typeface="Arial" panose="020B0604020202020204" pitchFamily="34" charset="0"/>
            </a:endParaRPr>
          </a:p>
          <a:p>
            <a:r>
              <a:rPr lang="en-US" dirty="0">
                <a:solidFill>
                  <a:schemeClr val="accent5"/>
                </a:solidFill>
                <a:latin typeface="Arial" panose="020B0604020202020204" pitchFamily="34" charset="0"/>
                <a:cs typeface="Arial" panose="020B0604020202020204" pitchFamily="34" charset="0"/>
              </a:rPr>
              <a:t>Huffman representation</a:t>
            </a:r>
            <a:r>
              <a:rPr lang="en-US" dirty="0">
                <a:latin typeface="Arial" panose="020B0604020202020204" pitchFamily="34" charset="0"/>
                <a:cs typeface="Arial" panose="020B0604020202020204" pitchFamily="34" charset="0"/>
              </a:rPr>
              <a:t>: 0 111 110 0 1011 0 100 0 111 110 0 1010</a:t>
            </a:r>
          </a:p>
          <a:p>
            <a:endParaRPr lang="en-US" dirty="0">
              <a:latin typeface="Arial" panose="020B0604020202020204" pitchFamily="34" charset="0"/>
              <a:cs typeface="Arial" panose="020B0604020202020204" pitchFamily="34" charset="0"/>
            </a:endParaRPr>
          </a:p>
          <a:p>
            <a:r>
              <a:rPr lang="en-US" dirty="0">
                <a:solidFill>
                  <a:schemeClr val="accent2"/>
                </a:solidFill>
                <a:latin typeface="Arial" panose="020B0604020202020204" pitchFamily="34" charset="0"/>
                <a:cs typeface="Arial" panose="020B0604020202020204" pitchFamily="34" charset="0"/>
              </a:rPr>
              <a:t>Shorter representation</a:t>
            </a:r>
            <a:r>
              <a:rPr lang="en-US" dirty="0">
                <a:latin typeface="Arial" panose="020B0604020202020204" pitchFamily="34" charset="0"/>
                <a:cs typeface="Arial" panose="020B0604020202020204" pitchFamily="34" charset="0"/>
              </a:rPr>
              <a:t>: 0 1 00 0 01 0 10 0 1 00 0 11</a:t>
            </a:r>
          </a:p>
        </p:txBody>
      </p:sp>
      <p:graphicFrame>
        <p:nvGraphicFramePr>
          <p:cNvPr id="5" name="Table 4">
            <a:extLst>
              <a:ext uri="{FF2B5EF4-FFF2-40B4-BE49-F238E27FC236}">
                <a16:creationId xmlns:a16="http://schemas.microsoft.com/office/drawing/2014/main" id="{FB34B7A4-EE1B-1040-87EC-8DB1ED31C24F}"/>
              </a:ext>
            </a:extLst>
          </p:cNvPr>
          <p:cNvGraphicFramePr>
            <a:graphicFrameLocks noGrp="1"/>
          </p:cNvGraphicFramePr>
          <p:nvPr>
            <p:extLst>
              <p:ext uri="{D42A27DB-BD31-4B8C-83A1-F6EECF244321}">
                <p14:modId xmlns:p14="http://schemas.microsoft.com/office/powerpoint/2010/main" val="1389948931"/>
              </p:ext>
            </p:extLst>
          </p:nvPr>
        </p:nvGraphicFramePr>
        <p:xfrm>
          <a:off x="6662447" y="3201072"/>
          <a:ext cx="5331845" cy="3337560"/>
        </p:xfrm>
        <a:graphic>
          <a:graphicData uri="http://schemas.openxmlformats.org/drawingml/2006/table">
            <a:tbl>
              <a:tblPr firstRow="1" bandRow="1">
                <a:tableStyleId>{5C22544A-7EE6-4342-B048-85BDC9FD1C3A}</a:tableStyleId>
              </a:tblPr>
              <a:tblGrid>
                <a:gridCol w="792857">
                  <a:extLst>
                    <a:ext uri="{9D8B030D-6E8A-4147-A177-3AD203B41FA5}">
                      <a16:colId xmlns:a16="http://schemas.microsoft.com/office/drawing/2014/main" val="503183346"/>
                    </a:ext>
                  </a:extLst>
                </a:gridCol>
                <a:gridCol w="1576154">
                  <a:extLst>
                    <a:ext uri="{9D8B030D-6E8A-4147-A177-3AD203B41FA5}">
                      <a16:colId xmlns:a16="http://schemas.microsoft.com/office/drawing/2014/main" val="3451659417"/>
                    </a:ext>
                  </a:extLst>
                </a:gridCol>
                <a:gridCol w="1294228">
                  <a:extLst>
                    <a:ext uri="{9D8B030D-6E8A-4147-A177-3AD203B41FA5}">
                      <a16:colId xmlns:a16="http://schemas.microsoft.com/office/drawing/2014/main" val="879740792"/>
                    </a:ext>
                  </a:extLst>
                </a:gridCol>
                <a:gridCol w="1668606">
                  <a:extLst>
                    <a:ext uri="{9D8B030D-6E8A-4147-A177-3AD203B41FA5}">
                      <a16:colId xmlns:a16="http://schemas.microsoft.com/office/drawing/2014/main" val="2269226229"/>
                    </a:ext>
                  </a:extLst>
                </a:gridCol>
              </a:tblGrid>
              <a:tr h="370840">
                <a:tc>
                  <a:txBody>
                    <a:bodyPr/>
                    <a:lstStyle/>
                    <a:p>
                      <a:pPr algn="ctr"/>
                      <a:r>
                        <a:rPr lang="en-US" sz="1600" b="0" dirty="0">
                          <a:solidFill>
                            <a:schemeClr val="tx1"/>
                          </a:solidFill>
                          <a:latin typeface="Arial" panose="020B0604020202020204" pitchFamily="34" charset="0"/>
                          <a:cs typeface="Arial" panose="020B0604020202020204" pitchFamily="34" charset="0"/>
                        </a:rPr>
                        <a:t>Char</a:t>
                      </a:r>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ASCII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Huffman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Shortest code</a:t>
                      </a:r>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2314560110"/>
                  </a:ext>
                </a:extLst>
              </a:tr>
              <a:tr h="370840">
                <a:tc>
                  <a:txBody>
                    <a:bodyPr/>
                    <a:lstStyle/>
                    <a:p>
                      <a:pPr algn="ctr"/>
                      <a:r>
                        <a:rPr lang="en-US" sz="1600" b="0" dirty="0">
                          <a:solidFill>
                            <a:schemeClr val="tx1"/>
                          </a:solidFill>
                          <a:latin typeface="Arial" panose="020B0604020202020204" pitchFamily="34" charset="0"/>
                          <a:cs typeface="Arial" panose="020B0604020202020204" pitchFamily="34" charset="0"/>
                        </a:rPr>
                        <a:t>A</a:t>
                      </a: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sz="1600" dirty="0">
                          <a:latin typeface="Arial" panose="020B0604020202020204" pitchFamily="34" charset="0"/>
                          <a:cs typeface="Arial" panose="020B0604020202020204" pitchFamily="34" charset="0"/>
                        </a:rPr>
                        <a:t>1000001</a:t>
                      </a:r>
                      <a:endParaRPr lang="en-US" sz="16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0</a:t>
                      </a: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3435405305"/>
                  </a:ext>
                </a:extLst>
              </a:tr>
              <a:tr h="370840">
                <a:tc>
                  <a:txBody>
                    <a:bodyPr/>
                    <a:lstStyle/>
                    <a:p>
                      <a:pPr algn="ctr"/>
                      <a:r>
                        <a:rPr lang="en-US" sz="1600" b="0" dirty="0">
                          <a:solidFill>
                            <a:schemeClr val="tx1"/>
                          </a:solidFill>
                          <a:latin typeface="Arial" panose="020B0604020202020204" pitchFamily="34" charset="0"/>
                          <a:cs typeface="Arial" panose="020B0604020202020204" pitchFamily="34" charset="0"/>
                        </a:rPr>
                        <a:t>B</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600" dirty="0">
                          <a:latin typeface="Arial" panose="020B0604020202020204" pitchFamily="34" charset="0"/>
                          <a:cs typeface="Arial" panose="020B0604020202020204" pitchFamily="34" charset="0"/>
                        </a:rPr>
                        <a:t>1000010</a:t>
                      </a:r>
                      <a:endParaRPr lang="en-US" sz="16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111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1</a:t>
                      </a: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801980468"/>
                  </a:ext>
                </a:extLst>
              </a:tr>
              <a:tr h="370840">
                <a:tc>
                  <a:txBody>
                    <a:bodyPr/>
                    <a:lstStyle/>
                    <a:p>
                      <a:pPr algn="ctr"/>
                      <a:r>
                        <a:rPr lang="en-US" sz="1600" b="0" dirty="0">
                          <a:solidFill>
                            <a:schemeClr val="tx1"/>
                          </a:solidFill>
                          <a:latin typeface="Arial" panose="020B0604020202020204" pitchFamily="34" charset="0"/>
                          <a:cs typeface="Arial" panose="020B0604020202020204" pitchFamily="34" charset="0"/>
                        </a:rPr>
                        <a:t>C</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600" dirty="0">
                          <a:latin typeface="Arial" panose="020B0604020202020204" pitchFamily="34" charset="0"/>
                          <a:cs typeface="Arial" panose="020B0604020202020204" pitchFamily="34" charset="0"/>
                        </a:rPr>
                        <a:t>1000011</a:t>
                      </a:r>
                      <a:endParaRPr lang="en-US" sz="16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1011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01</a:t>
                      </a: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570396342"/>
                  </a:ext>
                </a:extLst>
              </a:tr>
              <a:tr h="370840">
                <a:tc>
                  <a:txBody>
                    <a:bodyPr/>
                    <a:lstStyle/>
                    <a:p>
                      <a:pPr algn="ctr"/>
                      <a:r>
                        <a:rPr lang="en-US" sz="1600" b="0" dirty="0">
                          <a:solidFill>
                            <a:schemeClr val="tx1"/>
                          </a:solidFill>
                          <a:latin typeface="Arial" panose="020B0604020202020204" pitchFamily="34" charset="0"/>
                          <a:cs typeface="Arial" panose="020B0604020202020204" pitchFamily="34" charset="0"/>
                        </a:rPr>
                        <a:t>D</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600" dirty="0">
                          <a:latin typeface="Arial" panose="020B0604020202020204" pitchFamily="34" charset="0"/>
                          <a:cs typeface="Arial" panose="020B0604020202020204" pitchFamily="34" charset="0"/>
                        </a:rPr>
                        <a:t>1000100</a:t>
                      </a:r>
                      <a:endParaRPr lang="en-US" sz="16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10</a:t>
                      </a: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4149932020"/>
                  </a:ext>
                </a:extLst>
              </a:tr>
              <a:tr h="370840">
                <a:tc>
                  <a:txBody>
                    <a:bodyPr/>
                    <a:lstStyle/>
                    <a:p>
                      <a:pPr algn="ctr"/>
                      <a:r>
                        <a:rPr lang="en-US" sz="1600" b="0" dirty="0">
                          <a:solidFill>
                            <a:schemeClr val="tx1"/>
                          </a:solidFill>
                          <a:latin typeface="Arial" panose="020B0604020202020204" pitchFamily="34" charset="0"/>
                          <a:cs typeface="Arial" panose="020B0604020202020204" pitchFamily="34" charset="0"/>
                        </a:rPr>
                        <a:t>…</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a:t>
                      </a: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3578005592"/>
                  </a:ext>
                </a:extLst>
              </a:tr>
              <a:tr h="370840">
                <a:tc>
                  <a:txBody>
                    <a:bodyPr/>
                    <a:lstStyle/>
                    <a:p>
                      <a:pPr algn="ctr"/>
                      <a:r>
                        <a:rPr lang="en-US" sz="1600" b="0" dirty="0">
                          <a:solidFill>
                            <a:schemeClr val="tx1"/>
                          </a:solidFill>
                          <a:latin typeface="Arial" panose="020B0604020202020204" pitchFamily="34" charset="0"/>
                          <a:cs typeface="Arial" panose="020B0604020202020204" pitchFamily="34" charset="0"/>
                        </a:rPr>
                        <a:t>R</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600" dirty="0">
                          <a:latin typeface="Arial" panose="020B0604020202020204" pitchFamily="34" charset="0"/>
                          <a:cs typeface="Arial" panose="020B0604020202020204" pitchFamily="34" charset="0"/>
                        </a:rPr>
                        <a:t>1010010</a:t>
                      </a:r>
                      <a:endParaRPr lang="en-US" sz="16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110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00</a:t>
                      </a: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3875734043"/>
                  </a:ext>
                </a:extLst>
              </a:tr>
              <a:tr h="370840">
                <a:tc>
                  <a:txBody>
                    <a:bodyPr/>
                    <a:lstStyle/>
                    <a:p>
                      <a:pPr algn="ctr"/>
                      <a:r>
                        <a:rPr lang="en-US" sz="1600" b="0" dirty="0">
                          <a:solidFill>
                            <a:schemeClr val="tx1"/>
                          </a:solidFill>
                          <a:latin typeface="Arial" panose="020B0604020202020204" pitchFamily="34" charset="0"/>
                          <a:cs typeface="Arial" panose="020B0604020202020204" pitchFamily="34" charset="0"/>
                        </a:rPr>
                        <a:t>…</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a:t>
                      </a: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655936196"/>
                  </a:ext>
                </a:extLst>
              </a:tr>
              <a:tr h="370840">
                <a:tc>
                  <a:txBody>
                    <a:bodyPr/>
                    <a:lstStyle/>
                    <a:p>
                      <a:pPr algn="ctr"/>
                      <a:r>
                        <a:rPr lang="en-US" sz="1600" b="0" dirty="0">
                          <a:solidFill>
                            <a:schemeClr val="tx1"/>
                          </a:solidFill>
                          <a:latin typeface="Arial" panose="020B0604020202020204" pitchFamily="34" charset="0"/>
                          <a:cs typeface="Arial" panose="020B0604020202020204" pitchFamily="34" charset="0"/>
                        </a:rPr>
                        <a:t>!</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600" dirty="0">
                          <a:latin typeface="Arial" panose="020B0604020202020204" pitchFamily="34" charset="0"/>
                          <a:cs typeface="Arial" panose="020B0604020202020204" pitchFamily="34" charset="0"/>
                        </a:rPr>
                        <a:t>0100001</a:t>
                      </a:r>
                      <a:endParaRPr lang="en-US" sz="16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1010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11</a:t>
                      </a: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423862345"/>
                  </a:ext>
                </a:extLst>
              </a:tr>
            </a:tbl>
          </a:graphicData>
        </a:graphic>
      </p:graphicFrame>
    </p:spTree>
    <p:extLst>
      <p:ext uri="{BB962C8B-B14F-4D97-AF65-F5344CB8AC3E}">
        <p14:creationId xmlns:p14="http://schemas.microsoft.com/office/powerpoint/2010/main" val="38000627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61A64-88E3-514F-96E5-EB5877D9729F}"/>
              </a:ext>
            </a:extLst>
          </p:cNvPr>
          <p:cNvSpPr>
            <a:spLocks noGrp="1"/>
          </p:cNvSpPr>
          <p:nvPr>
            <p:ph type="title"/>
          </p:nvPr>
        </p:nvSpPr>
        <p:spPr/>
        <p:txBody>
          <a:bodyPr/>
          <a:lstStyle/>
          <a:p>
            <a:r>
              <a:rPr lang="en-US" dirty="0"/>
              <a:t>Huffman compression</a:t>
            </a:r>
          </a:p>
        </p:txBody>
      </p:sp>
      <p:sp>
        <p:nvSpPr>
          <p:cNvPr id="3" name="Content Placeholder 2">
            <a:extLst>
              <a:ext uri="{FF2B5EF4-FFF2-40B4-BE49-F238E27FC236}">
                <a16:creationId xmlns:a16="http://schemas.microsoft.com/office/drawing/2014/main" id="{B9A27260-ED92-1742-90BD-44C0FED54F03}"/>
              </a:ext>
            </a:extLst>
          </p:cNvPr>
          <p:cNvSpPr>
            <a:spLocks noGrp="1"/>
          </p:cNvSpPr>
          <p:nvPr>
            <p:ph idx="1"/>
          </p:nvPr>
        </p:nvSpPr>
        <p:spPr/>
        <p:txBody>
          <a:bodyPr/>
          <a:lstStyle/>
          <a:p>
            <a:r>
              <a:rPr lang="en-US" dirty="0">
                <a:highlight>
                  <a:srgbClr val="C0C0C0"/>
                </a:highlight>
              </a:rPr>
              <a:t>Key idea</a:t>
            </a:r>
            <a:r>
              <a:rPr lang="en-US" dirty="0"/>
              <a:t>. Instead of encoding every character in alphabet using the same number of bits, use fewer bits for characters that appear more often, so to lower the total number of bits used.</a:t>
            </a:r>
          </a:p>
          <a:p>
            <a:r>
              <a:rPr lang="en-US" dirty="0">
                <a:highlight>
                  <a:srgbClr val="C0C0C0"/>
                </a:highlight>
              </a:rPr>
              <a:t>Issue</a:t>
            </a:r>
            <a:r>
              <a:rPr lang="en-US" dirty="0"/>
              <a:t>: ambiguity</a:t>
            </a:r>
          </a:p>
        </p:txBody>
      </p:sp>
      <p:sp>
        <p:nvSpPr>
          <p:cNvPr id="6" name="TextBox 5">
            <a:extLst>
              <a:ext uri="{FF2B5EF4-FFF2-40B4-BE49-F238E27FC236}">
                <a16:creationId xmlns:a16="http://schemas.microsoft.com/office/drawing/2014/main" id="{ABC7CB97-BCEE-974B-A6D5-A44AF68C4829}"/>
              </a:ext>
            </a:extLst>
          </p:cNvPr>
          <p:cNvSpPr txBox="1"/>
          <p:nvPr/>
        </p:nvSpPr>
        <p:spPr>
          <a:xfrm>
            <a:off x="662921" y="3580445"/>
            <a:ext cx="5569067" cy="286232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Input message: ABRACADABRA!</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Standard 7-bit ASCII representation: 100000110000101010010100000110000111000001100010010000011000010101001010000010100001</a:t>
            </a:r>
          </a:p>
          <a:p>
            <a:endParaRPr lang="en-US" dirty="0">
              <a:latin typeface="Arial" panose="020B0604020202020204" pitchFamily="34" charset="0"/>
              <a:cs typeface="Arial" panose="020B0604020202020204" pitchFamily="34" charset="0"/>
            </a:endParaRPr>
          </a:p>
          <a:p>
            <a:r>
              <a:rPr lang="en-US" dirty="0">
                <a:solidFill>
                  <a:schemeClr val="accent5"/>
                </a:solidFill>
                <a:latin typeface="Arial" panose="020B0604020202020204" pitchFamily="34" charset="0"/>
                <a:cs typeface="Arial" panose="020B0604020202020204" pitchFamily="34" charset="0"/>
              </a:rPr>
              <a:t>Huffman representation</a:t>
            </a:r>
            <a:r>
              <a:rPr lang="en-US" dirty="0">
                <a:latin typeface="Arial" panose="020B0604020202020204" pitchFamily="34" charset="0"/>
                <a:cs typeface="Arial" panose="020B0604020202020204" pitchFamily="34" charset="0"/>
              </a:rPr>
              <a:t>: 01111100101101000111110 01010</a:t>
            </a:r>
          </a:p>
          <a:p>
            <a:endParaRPr lang="en-US" dirty="0">
              <a:latin typeface="Arial" panose="020B0604020202020204" pitchFamily="34" charset="0"/>
              <a:cs typeface="Arial" panose="020B0604020202020204" pitchFamily="34" charset="0"/>
            </a:endParaRPr>
          </a:p>
          <a:p>
            <a:r>
              <a:rPr lang="en-US" dirty="0">
                <a:solidFill>
                  <a:schemeClr val="accent2"/>
                </a:solidFill>
                <a:latin typeface="Arial" panose="020B0604020202020204" pitchFamily="34" charset="0"/>
                <a:cs typeface="Arial" panose="020B0604020202020204" pitchFamily="34" charset="0"/>
              </a:rPr>
              <a:t>Shorter representation</a:t>
            </a:r>
            <a:r>
              <a:rPr lang="en-US" dirty="0">
                <a:latin typeface="Arial" panose="020B0604020202020204" pitchFamily="34" charset="0"/>
                <a:cs typeface="Arial" panose="020B0604020202020204" pitchFamily="34" charset="0"/>
              </a:rPr>
              <a:t>: 01000010100100011</a:t>
            </a:r>
          </a:p>
        </p:txBody>
      </p:sp>
      <p:graphicFrame>
        <p:nvGraphicFramePr>
          <p:cNvPr id="5" name="Table 4">
            <a:extLst>
              <a:ext uri="{FF2B5EF4-FFF2-40B4-BE49-F238E27FC236}">
                <a16:creationId xmlns:a16="http://schemas.microsoft.com/office/drawing/2014/main" id="{FB34B7A4-EE1B-1040-87EC-8DB1ED31C24F}"/>
              </a:ext>
            </a:extLst>
          </p:cNvPr>
          <p:cNvGraphicFramePr>
            <a:graphicFrameLocks noGrp="1"/>
          </p:cNvGraphicFramePr>
          <p:nvPr/>
        </p:nvGraphicFramePr>
        <p:xfrm>
          <a:off x="6662447" y="3201072"/>
          <a:ext cx="5331845" cy="3337560"/>
        </p:xfrm>
        <a:graphic>
          <a:graphicData uri="http://schemas.openxmlformats.org/drawingml/2006/table">
            <a:tbl>
              <a:tblPr firstRow="1" bandRow="1">
                <a:tableStyleId>{5C22544A-7EE6-4342-B048-85BDC9FD1C3A}</a:tableStyleId>
              </a:tblPr>
              <a:tblGrid>
                <a:gridCol w="792857">
                  <a:extLst>
                    <a:ext uri="{9D8B030D-6E8A-4147-A177-3AD203B41FA5}">
                      <a16:colId xmlns:a16="http://schemas.microsoft.com/office/drawing/2014/main" val="503183346"/>
                    </a:ext>
                  </a:extLst>
                </a:gridCol>
                <a:gridCol w="1576154">
                  <a:extLst>
                    <a:ext uri="{9D8B030D-6E8A-4147-A177-3AD203B41FA5}">
                      <a16:colId xmlns:a16="http://schemas.microsoft.com/office/drawing/2014/main" val="3451659417"/>
                    </a:ext>
                  </a:extLst>
                </a:gridCol>
                <a:gridCol w="1294228">
                  <a:extLst>
                    <a:ext uri="{9D8B030D-6E8A-4147-A177-3AD203B41FA5}">
                      <a16:colId xmlns:a16="http://schemas.microsoft.com/office/drawing/2014/main" val="879740792"/>
                    </a:ext>
                  </a:extLst>
                </a:gridCol>
                <a:gridCol w="1668606">
                  <a:extLst>
                    <a:ext uri="{9D8B030D-6E8A-4147-A177-3AD203B41FA5}">
                      <a16:colId xmlns:a16="http://schemas.microsoft.com/office/drawing/2014/main" val="2269226229"/>
                    </a:ext>
                  </a:extLst>
                </a:gridCol>
              </a:tblGrid>
              <a:tr h="370840">
                <a:tc>
                  <a:txBody>
                    <a:bodyPr/>
                    <a:lstStyle/>
                    <a:p>
                      <a:pPr algn="ctr"/>
                      <a:r>
                        <a:rPr lang="en-US" sz="1600" b="0" dirty="0">
                          <a:solidFill>
                            <a:schemeClr val="tx1"/>
                          </a:solidFill>
                          <a:latin typeface="Arial" panose="020B0604020202020204" pitchFamily="34" charset="0"/>
                          <a:cs typeface="Arial" panose="020B0604020202020204" pitchFamily="34" charset="0"/>
                        </a:rPr>
                        <a:t>Char</a:t>
                      </a:r>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ASCII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Huffman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Shortest code</a:t>
                      </a:r>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2314560110"/>
                  </a:ext>
                </a:extLst>
              </a:tr>
              <a:tr h="370840">
                <a:tc>
                  <a:txBody>
                    <a:bodyPr/>
                    <a:lstStyle/>
                    <a:p>
                      <a:pPr algn="ctr"/>
                      <a:r>
                        <a:rPr lang="en-US" sz="1600" b="0" dirty="0">
                          <a:solidFill>
                            <a:schemeClr val="tx1"/>
                          </a:solidFill>
                          <a:latin typeface="Arial" panose="020B0604020202020204" pitchFamily="34" charset="0"/>
                          <a:cs typeface="Arial" panose="020B0604020202020204" pitchFamily="34" charset="0"/>
                        </a:rPr>
                        <a:t>A</a:t>
                      </a: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sz="1600" dirty="0">
                          <a:latin typeface="Arial" panose="020B0604020202020204" pitchFamily="34" charset="0"/>
                          <a:cs typeface="Arial" panose="020B0604020202020204" pitchFamily="34" charset="0"/>
                        </a:rPr>
                        <a:t>1000001</a:t>
                      </a:r>
                      <a:endParaRPr lang="en-US" sz="16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0</a:t>
                      </a: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3435405305"/>
                  </a:ext>
                </a:extLst>
              </a:tr>
              <a:tr h="370840">
                <a:tc>
                  <a:txBody>
                    <a:bodyPr/>
                    <a:lstStyle/>
                    <a:p>
                      <a:pPr algn="ctr"/>
                      <a:r>
                        <a:rPr lang="en-US" sz="1600" b="0" dirty="0">
                          <a:solidFill>
                            <a:schemeClr val="tx1"/>
                          </a:solidFill>
                          <a:latin typeface="Arial" panose="020B0604020202020204" pitchFamily="34" charset="0"/>
                          <a:cs typeface="Arial" panose="020B0604020202020204" pitchFamily="34" charset="0"/>
                        </a:rPr>
                        <a:t>B</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600" dirty="0">
                          <a:latin typeface="Arial" panose="020B0604020202020204" pitchFamily="34" charset="0"/>
                          <a:cs typeface="Arial" panose="020B0604020202020204" pitchFamily="34" charset="0"/>
                        </a:rPr>
                        <a:t>1000010</a:t>
                      </a:r>
                      <a:endParaRPr lang="en-US" sz="16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111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1</a:t>
                      </a: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801980468"/>
                  </a:ext>
                </a:extLst>
              </a:tr>
              <a:tr h="370840">
                <a:tc>
                  <a:txBody>
                    <a:bodyPr/>
                    <a:lstStyle/>
                    <a:p>
                      <a:pPr algn="ctr"/>
                      <a:r>
                        <a:rPr lang="en-US" sz="1600" b="0" dirty="0">
                          <a:solidFill>
                            <a:schemeClr val="tx1"/>
                          </a:solidFill>
                          <a:latin typeface="Arial" panose="020B0604020202020204" pitchFamily="34" charset="0"/>
                          <a:cs typeface="Arial" panose="020B0604020202020204" pitchFamily="34" charset="0"/>
                        </a:rPr>
                        <a:t>C</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600" dirty="0">
                          <a:latin typeface="Arial" panose="020B0604020202020204" pitchFamily="34" charset="0"/>
                          <a:cs typeface="Arial" panose="020B0604020202020204" pitchFamily="34" charset="0"/>
                        </a:rPr>
                        <a:t>1000011</a:t>
                      </a:r>
                      <a:endParaRPr lang="en-US" sz="16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1011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01</a:t>
                      </a: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570396342"/>
                  </a:ext>
                </a:extLst>
              </a:tr>
              <a:tr h="370840">
                <a:tc>
                  <a:txBody>
                    <a:bodyPr/>
                    <a:lstStyle/>
                    <a:p>
                      <a:pPr algn="ctr"/>
                      <a:r>
                        <a:rPr lang="en-US" sz="1600" b="0" dirty="0">
                          <a:solidFill>
                            <a:schemeClr val="tx1"/>
                          </a:solidFill>
                          <a:latin typeface="Arial" panose="020B0604020202020204" pitchFamily="34" charset="0"/>
                          <a:cs typeface="Arial" panose="020B0604020202020204" pitchFamily="34" charset="0"/>
                        </a:rPr>
                        <a:t>D</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600" dirty="0">
                          <a:latin typeface="Arial" panose="020B0604020202020204" pitchFamily="34" charset="0"/>
                          <a:cs typeface="Arial" panose="020B0604020202020204" pitchFamily="34" charset="0"/>
                        </a:rPr>
                        <a:t>1000100</a:t>
                      </a:r>
                      <a:endParaRPr lang="en-US" sz="16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10</a:t>
                      </a: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4149932020"/>
                  </a:ext>
                </a:extLst>
              </a:tr>
              <a:tr h="370840">
                <a:tc>
                  <a:txBody>
                    <a:bodyPr/>
                    <a:lstStyle/>
                    <a:p>
                      <a:pPr algn="ctr"/>
                      <a:r>
                        <a:rPr lang="en-US" sz="1600" b="0" dirty="0">
                          <a:solidFill>
                            <a:schemeClr val="tx1"/>
                          </a:solidFill>
                          <a:latin typeface="Arial" panose="020B0604020202020204" pitchFamily="34" charset="0"/>
                          <a:cs typeface="Arial" panose="020B0604020202020204" pitchFamily="34" charset="0"/>
                        </a:rPr>
                        <a:t>…</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a:t>
                      </a: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3578005592"/>
                  </a:ext>
                </a:extLst>
              </a:tr>
              <a:tr h="370840">
                <a:tc>
                  <a:txBody>
                    <a:bodyPr/>
                    <a:lstStyle/>
                    <a:p>
                      <a:pPr algn="ctr"/>
                      <a:r>
                        <a:rPr lang="en-US" sz="1600" b="0" dirty="0">
                          <a:solidFill>
                            <a:schemeClr val="tx1"/>
                          </a:solidFill>
                          <a:latin typeface="Arial" panose="020B0604020202020204" pitchFamily="34" charset="0"/>
                          <a:cs typeface="Arial" panose="020B0604020202020204" pitchFamily="34" charset="0"/>
                        </a:rPr>
                        <a:t>R</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600" dirty="0">
                          <a:latin typeface="Arial" panose="020B0604020202020204" pitchFamily="34" charset="0"/>
                          <a:cs typeface="Arial" panose="020B0604020202020204" pitchFamily="34" charset="0"/>
                        </a:rPr>
                        <a:t>1010010</a:t>
                      </a:r>
                      <a:endParaRPr lang="en-US" sz="16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110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00</a:t>
                      </a: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3875734043"/>
                  </a:ext>
                </a:extLst>
              </a:tr>
              <a:tr h="370840">
                <a:tc>
                  <a:txBody>
                    <a:bodyPr/>
                    <a:lstStyle/>
                    <a:p>
                      <a:pPr algn="ctr"/>
                      <a:r>
                        <a:rPr lang="en-US" sz="1600" b="0" dirty="0">
                          <a:solidFill>
                            <a:schemeClr val="tx1"/>
                          </a:solidFill>
                          <a:latin typeface="Arial" panose="020B0604020202020204" pitchFamily="34" charset="0"/>
                          <a:cs typeface="Arial" panose="020B0604020202020204" pitchFamily="34" charset="0"/>
                        </a:rPr>
                        <a:t>…</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a:t>
                      </a: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655936196"/>
                  </a:ext>
                </a:extLst>
              </a:tr>
              <a:tr h="370840">
                <a:tc>
                  <a:txBody>
                    <a:bodyPr/>
                    <a:lstStyle/>
                    <a:p>
                      <a:pPr algn="ctr"/>
                      <a:r>
                        <a:rPr lang="en-US" sz="1600" b="0" dirty="0">
                          <a:solidFill>
                            <a:schemeClr val="tx1"/>
                          </a:solidFill>
                          <a:latin typeface="Arial" panose="020B0604020202020204" pitchFamily="34" charset="0"/>
                          <a:cs typeface="Arial" panose="020B0604020202020204" pitchFamily="34" charset="0"/>
                        </a:rPr>
                        <a:t>!</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600" dirty="0">
                          <a:latin typeface="Arial" panose="020B0604020202020204" pitchFamily="34" charset="0"/>
                          <a:cs typeface="Arial" panose="020B0604020202020204" pitchFamily="34" charset="0"/>
                        </a:rPr>
                        <a:t>0100001</a:t>
                      </a:r>
                      <a:endParaRPr lang="en-US" sz="16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1010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11</a:t>
                      </a: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423862345"/>
                  </a:ext>
                </a:extLst>
              </a:tr>
            </a:tbl>
          </a:graphicData>
        </a:graphic>
      </p:graphicFrame>
    </p:spTree>
    <p:extLst>
      <p:ext uri="{BB962C8B-B14F-4D97-AF65-F5344CB8AC3E}">
        <p14:creationId xmlns:p14="http://schemas.microsoft.com/office/powerpoint/2010/main" val="17020825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61A64-88E3-514F-96E5-EB5877D9729F}"/>
              </a:ext>
            </a:extLst>
          </p:cNvPr>
          <p:cNvSpPr>
            <a:spLocks noGrp="1"/>
          </p:cNvSpPr>
          <p:nvPr>
            <p:ph type="title"/>
          </p:nvPr>
        </p:nvSpPr>
        <p:spPr/>
        <p:txBody>
          <a:bodyPr/>
          <a:lstStyle/>
          <a:p>
            <a:r>
              <a:rPr lang="en-US" dirty="0"/>
              <a:t>Huffman compression</a:t>
            </a:r>
          </a:p>
        </p:txBody>
      </p:sp>
      <p:sp>
        <p:nvSpPr>
          <p:cNvPr id="3" name="Content Placeholder 2">
            <a:extLst>
              <a:ext uri="{FF2B5EF4-FFF2-40B4-BE49-F238E27FC236}">
                <a16:creationId xmlns:a16="http://schemas.microsoft.com/office/drawing/2014/main" id="{B9A27260-ED92-1742-90BD-44C0FED54F03}"/>
              </a:ext>
            </a:extLst>
          </p:cNvPr>
          <p:cNvSpPr>
            <a:spLocks noGrp="1"/>
          </p:cNvSpPr>
          <p:nvPr>
            <p:ph idx="1"/>
          </p:nvPr>
        </p:nvSpPr>
        <p:spPr/>
        <p:txBody>
          <a:bodyPr/>
          <a:lstStyle/>
          <a:p>
            <a:r>
              <a:rPr lang="en-US" dirty="0">
                <a:highlight>
                  <a:srgbClr val="C0C0C0"/>
                </a:highlight>
              </a:rPr>
              <a:t>Key idea</a:t>
            </a:r>
            <a:r>
              <a:rPr lang="en-US" dirty="0"/>
              <a:t>. Instead of encoding every character in alphabet using the same number of bits, use fewer bits for characters that appear more often, so to lower the total number of bits used.</a:t>
            </a:r>
          </a:p>
          <a:p>
            <a:r>
              <a:rPr lang="en-US" dirty="0">
                <a:highlight>
                  <a:srgbClr val="C0C0C0"/>
                </a:highlight>
              </a:rPr>
              <a:t>Issue</a:t>
            </a:r>
            <a:r>
              <a:rPr lang="en-US" dirty="0"/>
              <a:t>: ambiguity. Possible solutions:</a:t>
            </a:r>
          </a:p>
          <a:p>
            <a:pPr lvl="1"/>
            <a:r>
              <a:rPr lang="en-US" dirty="0"/>
              <a:t>Use fixed length code</a:t>
            </a:r>
          </a:p>
          <a:p>
            <a:pPr lvl="1"/>
            <a:r>
              <a:rPr lang="en-US" dirty="0"/>
              <a:t>Append special stop-char after each codeword</a:t>
            </a:r>
          </a:p>
          <a:p>
            <a:pPr lvl="1"/>
            <a:r>
              <a:rPr lang="en-US" dirty="0">
                <a:solidFill>
                  <a:schemeClr val="accent5"/>
                </a:solidFill>
              </a:rPr>
              <a:t>Generate prefix-free code</a:t>
            </a:r>
          </a:p>
        </p:txBody>
      </p:sp>
      <p:graphicFrame>
        <p:nvGraphicFramePr>
          <p:cNvPr id="7" name="Table 6">
            <a:extLst>
              <a:ext uri="{FF2B5EF4-FFF2-40B4-BE49-F238E27FC236}">
                <a16:creationId xmlns:a16="http://schemas.microsoft.com/office/drawing/2014/main" id="{3D36885E-792C-8B4B-A569-898CE29C0752}"/>
              </a:ext>
            </a:extLst>
          </p:cNvPr>
          <p:cNvGraphicFramePr>
            <a:graphicFrameLocks noGrp="1"/>
          </p:cNvGraphicFramePr>
          <p:nvPr>
            <p:extLst>
              <p:ext uri="{D42A27DB-BD31-4B8C-83A1-F6EECF244321}">
                <p14:modId xmlns:p14="http://schemas.microsoft.com/office/powerpoint/2010/main" val="3622687536"/>
              </p:ext>
            </p:extLst>
          </p:nvPr>
        </p:nvGraphicFramePr>
        <p:xfrm>
          <a:off x="8729421" y="3223878"/>
          <a:ext cx="2087085" cy="3337560"/>
        </p:xfrm>
        <a:graphic>
          <a:graphicData uri="http://schemas.openxmlformats.org/drawingml/2006/table">
            <a:tbl>
              <a:tblPr firstRow="1" bandRow="1">
                <a:tableStyleId>{5C22544A-7EE6-4342-B048-85BDC9FD1C3A}</a:tableStyleId>
              </a:tblPr>
              <a:tblGrid>
                <a:gridCol w="792857">
                  <a:extLst>
                    <a:ext uri="{9D8B030D-6E8A-4147-A177-3AD203B41FA5}">
                      <a16:colId xmlns:a16="http://schemas.microsoft.com/office/drawing/2014/main" val="503183346"/>
                    </a:ext>
                  </a:extLst>
                </a:gridCol>
                <a:gridCol w="1294228">
                  <a:extLst>
                    <a:ext uri="{9D8B030D-6E8A-4147-A177-3AD203B41FA5}">
                      <a16:colId xmlns:a16="http://schemas.microsoft.com/office/drawing/2014/main" val="879740792"/>
                    </a:ext>
                  </a:extLst>
                </a:gridCol>
              </a:tblGrid>
              <a:tr h="370840">
                <a:tc>
                  <a:txBody>
                    <a:bodyPr/>
                    <a:lstStyle/>
                    <a:p>
                      <a:pPr algn="ctr"/>
                      <a:r>
                        <a:rPr lang="en-US" sz="1600" b="0" dirty="0">
                          <a:solidFill>
                            <a:schemeClr val="tx1"/>
                          </a:solidFill>
                          <a:latin typeface="Arial" panose="020B0604020202020204" pitchFamily="34" charset="0"/>
                          <a:cs typeface="Arial" panose="020B0604020202020204" pitchFamily="34" charset="0"/>
                        </a:rPr>
                        <a:t>Char</a:t>
                      </a:r>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Huffman</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314560110"/>
                  </a:ext>
                </a:extLst>
              </a:tr>
              <a:tr h="370840">
                <a:tc>
                  <a:txBody>
                    <a:bodyPr/>
                    <a:lstStyle/>
                    <a:p>
                      <a:pPr algn="ctr"/>
                      <a:r>
                        <a:rPr lang="en-US" sz="1600" b="0" dirty="0">
                          <a:solidFill>
                            <a:schemeClr val="tx1"/>
                          </a:solidFill>
                          <a:latin typeface="Arial" panose="020B0604020202020204" pitchFamily="34" charset="0"/>
                          <a:cs typeface="Arial" panose="020B0604020202020204" pitchFamily="34" charset="0"/>
                        </a:rPr>
                        <a:t>A</a:t>
                      </a: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0</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435405305"/>
                  </a:ext>
                </a:extLst>
              </a:tr>
              <a:tr h="370840">
                <a:tc>
                  <a:txBody>
                    <a:bodyPr/>
                    <a:lstStyle/>
                    <a:p>
                      <a:pPr algn="ctr"/>
                      <a:r>
                        <a:rPr lang="en-US" sz="1600" b="0" dirty="0">
                          <a:solidFill>
                            <a:schemeClr val="tx1"/>
                          </a:solidFill>
                          <a:latin typeface="Arial" panose="020B0604020202020204" pitchFamily="34" charset="0"/>
                          <a:cs typeface="Arial" panose="020B0604020202020204" pitchFamily="34" charset="0"/>
                        </a:rPr>
                        <a:t>B</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111</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801980468"/>
                  </a:ext>
                </a:extLst>
              </a:tr>
              <a:tr h="370840">
                <a:tc>
                  <a:txBody>
                    <a:bodyPr/>
                    <a:lstStyle/>
                    <a:p>
                      <a:pPr algn="ctr"/>
                      <a:r>
                        <a:rPr lang="en-US" sz="1600" b="0" dirty="0">
                          <a:solidFill>
                            <a:schemeClr val="tx1"/>
                          </a:solidFill>
                          <a:latin typeface="Arial" panose="020B0604020202020204" pitchFamily="34" charset="0"/>
                          <a:cs typeface="Arial" panose="020B0604020202020204" pitchFamily="34" charset="0"/>
                        </a:rPr>
                        <a:t>C</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1011</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570396342"/>
                  </a:ext>
                </a:extLst>
              </a:tr>
              <a:tr h="370840">
                <a:tc>
                  <a:txBody>
                    <a:bodyPr/>
                    <a:lstStyle/>
                    <a:p>
                      <a:pPr algn="ctr"/>
                      <a:r>
                        <a:rPr lang="en-US" sz="1600" b="0" dirty="0">
                          <a:solidFill>
                            <a:schemeClr val="tx1"/>
                          </a:solidFill>
                          <a:latin typeface="Arial" panose="020B0604020202020204" pitchFamily="34" charset="0"/>
                          <a:cs typeface="Arial" panose="020B0604020202020204" pitchFamily="34" charset="0"/>
                        </a:rPr>
                        <a:t>D</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100</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9932020"/>
                  </a:ext>
                </a:extLst>
              </a:tr>
              <a:tr h="370840">
                <a:tc>
                  <a:txBody>
                    <a:bodyPr/>
                    <a:lstStyle/>
                    <a:p>
                      <a:pPr algn="ctr"/>
                      <a:r>
                        <a:rPr lang="en-US" sz="1600" b="0" dirty="0">
                          <a:solidFill>
                            <a:schemeClr val="tx1"/>
                          </a:solidFill>
                          <a:latin typeface="Arial" panose="020B0604020202020204" pitchFamily="34" charset="0"/>
                          <a:cs typeface="Arial" panose="020B0604020202020204" pitchFamily="34" charset="0"/>
                        </a:rPr>
                        <a:t>…</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578005592"/>
                  </a:ext>
                </a:extLst>
              </a:tr>
              <a:tr h="370840">
                <a:tc>
                  <a:txBody>
                    <a:bodyPr/>
                    <a:lstStyle/>
                    <a:p>
                      <a:pPr algn="ctr"/>
                      <a:r>
                        <a:rPr lang="en-US" sz="1600" b="0" dirty="0">
                          <a:solidFill>
                            <a:schemeClr val="tx1"/>
                          </a:solidFill>
                          <a:latin typeface="Arial" panose="020B0604020202020204" pitchFamily="34" charset="0"/>
                          <a:cs typeface="Arial" panose="020B0604020202020204" pitchFamily="34" charset="0"/>
                        </a:rPr>
                        <a:t>R</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110</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875734043"/>
                  </a:ext>
                </a:extLst>
              </a:tr>
              <a:tr h="370840">
                <a:tc>
                  <a:txBody>
                    <a:bodyPr/>
                    <a:lstStyle/>
                    <a:p>
                      <a:pPr algn="ctr"/>
                      <a:r>
                        <a:rPr lang="en-US" sz="1600" b="0" dirty="0">
                          <a:solidFill>
                            <a:schemeClr val="tx1"/>
                          </a:solidFill>
                          <a:latin typeface="Arial" panose="020B0604020202020204" pitchFamily="34" charset="0"/>
                          <a:cs typeface="Arial" panose="020B0604020202020204" pitchFamily="34" charset="0"/>
                        </a:rPr>
                        <a:t>…</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655936196"/>
                  </a:ext>
                </a:extLst>
              </a:tr>
              <a:tr h="370840">
                <a:tc>
                  <a:txBody>
                    <a:bodyPr/>
                    <a:lstStyle/>
                    <a:p>
                      <a:pPr algn="ctr"/>
                      <a:r>
                        <a:rPr lang="en-US" sz="1600" b="0" dirty="0">
                          <a:solidFill>
                            <a:schemeClr val="tx1"/>
                          </a:solidFill>
                          <a:latin typeface="Arial" panose="020B0604020202020204" pitchFamily="34" charset="0"/>
                          <a:cs typeface="Arial" panose="020B0604020202020204" pitchFamily="34" charset="0"/>
                        </a:rPr>
                        <a:t>!</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1010</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23862345"/>
                  </a:ext>
                </a:extLst>
              </a:tr>
            </a:tbl>
          </a:graphicData>
        </a:graphic>
      </p:graphicFrame>
    </p:spTree>
    <p:extLst>
      <p:ext uri="{BB962C8B-B14F-4D97-AF65-F5344CB8AC3E}">
        <p14:creationId xmlns:p14="http://schemas.microsoft.com/office/powerpoint/2010/main" val="16654606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61A64-88E3-514F-96E5-EB5877D9729F}"/>
              </a:ext>
            </a:extLst>
          </p:cNvPr>
          <p:cNvSpPr>
            <a:spLocks noGrp="1"/>
          </p:cNvSpPr>
          <p:nvPr>
            <p:ph type="title"/>
          </p:nvPr>
        </p:nvSpPr>
        <p:spPr/>
        <p:txBody>
          <a:bodyPr/>
          <a:lstStyle/>
          <a:p>
            <a:r>
              <a:rPr lang="en-US" dirty="0"/>
              <a:t>Huffman compression</a:t>
            </a:r>
          </a:p>
        </p:txBody>
      </p:sp>
      <p:sp>
        <p:nvSpPr>
          <p:cNvPr id="3" name="Content Placeholder 2">
            <a:extLst>
              <a:ext uri="{FF2B5EF4-FFF2-40B4-BE49-F238E27FC236}">
                <a16:creationId xmlns:a16="http://schemas.microsoft.com/office/drawing/2014/main" id="{B9A27260-ED92-1742-90BD-44C0FED54F03}"/>
              </a:ext>
            </a:extLst>
          </p:cNvPr>
          <p:cNvSpPr>
            <a:spLocks noGrp="1"/>
          </p:cNvSpPr>
          <p:nvPr>
            <p:ph idx="1"/>
          </p:nvPr>
        </p:nvSpPr>
        <p:spPr/>
        <p:txBody>
          <a:bodyPr/>
          <a:lstStyle/>
          <a:p>
            <a:r>
              <a:rPr lang="en-US" dirty="0">
                <a:highlight>
                  <a:srgbClr val="C0C0C0"/>
                </a:highlight>
              </a:rPr>
              <a:t>Huffman encoding</a:t>
            </a:r>
            <a:r>
              <a:rPr lang="en-US" dirty="0"/>
              <a:t>. Given in input a message </a:t>
            </a:r>
            <a:r>
              <a:rPr lang="en-US" i="1" dirty="0"/>
              <a:t>B</a:t>
            </a:r>
            <a:r>
              <a:rPr lang="en-US" dirty="0"/>
              <a:t>, Huffman encoding determines the </a:t>
            </a:r>
            <a:r>
              <a:rPr lang="en-US" dirty="0">
                <a:solidFill>
                  <a:schemeClr val="accent5"/>
                </a:solidFill>
              </a:rPr>
              <a:t>variable-length prefix-free </a:t>
            </a:r>
            <a:r>
              <a:rPr lang="en-US" dirty="0"/>
              <a:t>codewords for </a:t>
            </a:r>
            <a:r>
              <a:rPr lang="en-US" i="1" dirty="0"/>
              <a:t>B</a:t>
            </a:r>
            <a:r>
              <a:rPr lang="en-US" dirty="0"/>
              <a:t> that use the minimum number of bits</a:t>
            </a:r>
          </a:p>
          <a:p>
            <a:endParaRPr lang="en-US" dirty="0">
              <a:solidFill>
                <a:schemeClr val="accent5"/>
              </a:solidFill>
            </a:endParaRPr>
          </a:p>
          <a:p>
            <a:r>
              <a:rPr lang="en-US" dirty="0">
                <a:highlight>
                  <a:srgbClr val="C0C0C0"/>
                </a:highlight>
              </a:rPr>
              <a:t>How-to.</a:t>
            </a:r>
          </a:p>
          <a:p>
            <a:pPr lvl="1"/>
            <a:r>
              <a:rPr lang="en-US" dirty="0"/>
              <a:t>Prefix-free codes represented as binary </a:t>
            </a:r>
            <a:r>
              <a:rPr lang="en-US" dirty="0" err="1"/>
              <a:t>trie</a:t>
            </a:r>
            <a:endParaRPr lang="en-US" dirty="0"/>
          </a:p>
          <a:p>
            <a:pPr lvl="1"/>
            <a:r>
              <a:rPr lang="en-US" dirty="0"/>
              <a:t>Expansion based on root-to-leaves </a:t>
            </a:r>
            <a:r>
              <a:rPr lang="en-US" dirty="0" err="1"/>
              <a:t>trie</a:t>
            </a:r>
            <a:r>
              <a:rPr lang="en-US" dirty="0"/>
              <a:t> traversal of bitstream</a:t>
            </a:r>
          </a:p>
          <a:p>
            <a:pPr lvl="1"/>
            <a:r>
              <a:rPr lang="en-US" dirty="0"/>
              <a:t>Compression based on:</a:t>
            </a:r>
          </a:p>
          <a:p>
            <a:pPr lvl="2"/>
            <a:r>
              <a:rPr lang="en-US" dirty="0" err="1"/>
              <a:t>Trie</a:t>
            </a:r>
            <a:r>
              <a:rPr lang="en-US" dirty="0"/>
              <a:t> construction </a:t>
            </a:r>
          </a:p>
          <a:p>
            <a:pPr lvl="2"/>
            <a:r>
              <a:rPr lang="en-US" dirty="0" err="1"/>
              <a:t>Trie</a:t>
            </a:r>
            <a:r>
              <a:rPr lang="en-US" dirty="0"/>
              <a:t> transmission</a:t>
            </a:r>
          </a:p>
          <a:p>
            <a:pPr lvl="2"/>
            <a:r>
              <a:rPr lang="en-US" dirty="0"/>
              <a:t>Compression based on leaves-to-root </a:t>
            </a:r>
            <a:r>
              <a:rPr lang="en-US" dirty="0" err="1"/>
              <a:t>trie</a:t>
            </a:r>
            <a:r>
              <a:rPr lang="en-US" dirty="0"/>
              <a:t> traversal</a:t>
            </a:r>
          </a:p>
        </p:txBody>
      </p:sp>
    </p:spTree>
    <p:extLst>
      <p:ext uri="{BB962C8B-B14F-4D97-AF65-F5344CB8AC3E}">
        <p14:creationId xmlns:p14="http://schemas.microsoft.com/office/powerpoint/2010/main" val="33758141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61A64-88E3-514F-96E5-EB5877D9729F}"/>
              </a:ext>
            </a:extLst>
          </p:cNvPr>
          <p:cNvSpPr>
            <a:spLocks noGrp="1"/>
          </p:cNvSpPr>
          <p:nvPr>
            <p:ph type="title"/>
          </p:nvPr>
        </p:nvSpPr>
        <p:spPr/>
        <p:txBody>
          <a:bodyPr/>
          <a:lstStyle/>
          <a:p>
            <a:r>
              <a:rPr lang="en-US" dirty="0"/>
              <a:t>Huffman compression</a:t>
            </a:r>
          </a:p>
        </p:txBody>
      </p:sp>
      <p:sp>
        <p:nvSpPr>
          <p:cNvPr id="3" name="Content Placeholder 2">
            <a:extLst>
              <a:ext uri="{FF2B5EF4-FFF2-40B4-BE49-F238E27FC236}">
                <a16:creationId xmlns:a16="http://schemas.microsoft.com/office/drawing/2014/main" id="{B9A27260-ED92-1742-90BD-44C0FED54F03}"/>
              </a:ext>
            </a:extLst>
          </p:cNvPr>
          <p:cNvSpPr>
            <a:spLocks noGrp="1"/>
          </p:cNvSpPr>
          <p:nvPr>
            <p:ph idx="1"/>
          </p:nvPr>
        </p:nvSpPr>
        <p:spPr/>
        <p:txBody>
          <a:bodyPr/>
          <a:lstStyle/>
          <a:p>
            <a:r>
              <a:rPr lang="en-US" dirty="0">
                <a:highlight>
                  <a:srgbClr val="C0C0C0"/>
                </a:highlight>
              </a:rPr>
              <a:t>How-to</a:t>
            </a:r>
            <a:r>
              <a:rPr lang="en-US" dirty="0"/>
              <a:t>:</a:t>
            </a:r>
            <a:r>
              <a:rPr lang="en-US" dirty="0">
                <a:solidFill>
                  <a:schemeClr val="accent5"/>
                </a:solidFill>
              </a:rPr>
              <a:t> </a:t>
            </a:r>
            <a:r>
              <a:rPr lang="en-US" dirty="0"/>
              <a:t>prefix-free codes represented as binary </a:t>
            </a:r>
            <a:r>
              <a:rPr lang="en-US" dirty="0" err="1"/>
              <a:t>trie</a:t>
            </a:r>
            <a:endParaRPr lang="en-US" dirty="0"/>
          </a:p>
          <a:p>
            <a:pPr lvl="1"/>
            <a:r>
              <a:rPr lang="en-US" dirty="0"/>
              <a:t>Chars in leaves</a:t>
            </a:r>
          </a:p>
          <a:p>
            <a:pPr lvl="1"/>
            <a:r>
              <a:rPr lang="en-US" dirty="0"/>
              <a:t>Codeword is bit sequence path from root to leaf</a:t>
            </a:r>
          </a:p>
        </p:txBody>
      </p:sp>
      <p:graphicFrame>
        <p:nvGraphicFramePr>
          <p:cNvPr id="99" name="Table 98">
            <a:extLst>
              <a:ext uri="{FF2B5EF4-FFF2-40B4-BE49-F238E27FC236}">
                <a16:creationId xmlns:a16="http://schemas.microsoft.com/office/drawing/2014/main" id="{3B3286BD-3C9E-FF41-9FE6-A2107DD5784E}"/>
              </a:ext>
            </a:extLst>
          </p:cNvPr>
          <p:cNvGraphicFramePr>
            <a:graphicFrameLocks noGrp="1"/>
          </p:cNvGraphicFramePr>
          <p:nvPr>
            <p:extLst>
              <p:ext uri="{D42A27DB-BD31-4B8C-83A1-F6EECF244321}">
                <p14:modId xmlns:p14="http://schemas.microsoft.com/office/powerpoint/2010/main" val="3283954647"/>
              </p:ext>
            </p:extLst>
          </p:nvPr>
        </p:nvGraphicFramePr>
        <p:xfrm>
          <a:off x="1130200" y="3397498"/>
          <a:ext cx="1675765" cy="2682240"/>
        </p:xfrm>
        <a:graphic>
          <a:graphicData uri="http://schemas.openxmlformats.org/drawingml/2006/table">
            <a:tbl>
              <a:tblPr firstRow="1" bandRow="1">
                <a:tableStyleId>{5C22544A-7EE6-4342-B048-85BDC9FD1C3A}</a:tableStyleId>
              </a:tblPr>
              <a:tblGrid>
                <a:gridCol w="636602">
                  <a:extLst>
                    <a:ext uri="{9D8B030D-6E8A-4147-A177-3AD203B41FA5}">
                      <a16:colId xmlns:a16="http://schemas.microsoft.com/office/drawing/2014/main" val="503183346"/>
                    </a:ext>
                  </a:extLst>
                </a:gridCol>
                <a:gridCol w="1039163">
                  <a:extLst>
                    <a:ext uri="{9D8B030D-6E8A-4147-A177-3AD203B41FA5}">
                      <a16:colId xmlns:a16="http://schemas.microsoft.com/office/drawing/2014/main" val="879740792"/>
                    </a:ext>
                  </a:extLst>
                </a:gridCol>
              </a:tblGrid>
              <a:tr h="281890">
                <a:tc gridSpan="2">
                  <a:txBody>
                    <a:bodyPr/>
                    <a:lstStyle/>
                    <a:p>
                      <a:pPr algn="ctr"/>
                      <a:r>
                        <a:rPr lang="en-US" sz="1600" b="0" dirty="0">
                          <a:solidFill>
                            <a:schemeClr val="accent1"/>
                          </a:solidFill>
                          <a:latin typeface="Arial" panose="020B0604020202020204" pitchFamily="34" charset="0"/>
                          <a:cs typeface="Arial" panose="020B0604020202020204" pitchFamily="34" charset="0"/>
                        </a:rPr>
                        <a:t>Codeword table</a:t>
                      </a:r>
                    </a:p>
                  </a:txBody>
                  <a:tcP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US" sz="16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11438875"/>
                  </a:ext>
                </a:extLst>
              </a:tr>
              <a:tr h="281890">
                <a:tc>
                  <a:txBody>
                    <a:bodyPr/>
                    <a:lstStyle/>
                    <a:p>
                      <a:pPr algn="ctr"/>
                      <a:r>
                        <a:rPr lang="en-US" sz="1600" b="0" dirty="0">
                          <a:solidFill>
                            <a:schemeClr val="tx1"/>
                          </a:solidFill>
                          <a:latin typeface="Arial" panose="020B0604020202020204" pitchFamily="34" charset="0"/>
                          <a:cs typeface="Arial" panose="020B0604020202020204" pitchFamily="34" charset="0"/>
                        </a:rPr>
                        <a:t>Key</a:t>
                      </a:r>
                    </a:p>
                  </a:txBody>
                  <a:tcPr>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Value</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14560110"/>
                  </a:ext>
                </a:extLst>
              </a:tr>
              <a:tr h="281890">
                <a:tc>
                  <a:txBody>
                    <a:bodyPr/>
                    <a:lstStyle/>
                    <a:p>
                      <a:pPr algn="ctr"/>
                      <a:r>
                        <a:rPr lang="en-US" sz="1600" b="0" dirty="0">
                          <a:solidFill>
                            <a:schemeClr val="tx1"/>
                          </a:solidFill>
                          <a:latin typeface="Arial" panose="020B0604020202020204" pitchFamily="34" charset="0"/>
                          <a:cs typeface="Arial" panose="020B0604020202020204" pitchFamily="34" charset="0"/>
                        </a:rPr>
                        <a:t>A</a:t>
                      </a: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0</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435405305"/>
                  </a:ext>
                </a:extLst>
              </a:tr>
              <a:tr h="281890">
                <a:tc>
                  <a:txBody>
                    <a:bodyPr/>
                    <a:lstStyle/>
                    <a:p>
                      <a:pPr algn="ctr"/>
                      <a:r>
                        <a:rPr lang="en-US" sz="1600" b="0" dirty="0">
                          <a:solidFill>
                            <a:schemeClr val="tx1"/>
                          </a:solidFill>
                          <a:latin typeface="Arial" panose="020B0604020202020204" pitchFamily="34" charset="0"/>
                          <a:cs typeface="Arial" panose="020B0604020202020204" pitchFamily="34" charset="0"/>
                        </a:rPr>
                        <a:t>B</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111</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801980468"/>
                  </a:ext>
                </a:extLst>
              </a:tr>
              <a:tr h="281890">
                <a:tc>
                  <a:txBody>
                    <a:bodyPr/>
                    <a:lstStyle/>
                    <a:p>
                      <a:pPr algn="ctr"/>
                      <a:r>
                        <a:rPr lang="en-US" sz="1600" b="0" dirty="0">
                          <a:solidFill>
                            <a:schemeClr val="tx1"/>
                          </a:solidFill>
                          <a:latin typeface="Arial" panose="020B0604020202020204" pitchFamily="34" charset="0"/>
                          <a:cs typeface="Arial" panose="020B0604020202020204" pitchFamily="34" charset="0"/>
                        </a:rPr>
                        <a:t>C</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1011</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70396342"/>
                  </a:ext>
                </a:extLst>
              </a:tr>
              <a:tr h="281890">
                <a:tc>
                  <a:txBody>
                    <a:bodyPr/>
                    <a:lstStyle/>
                    <a:p>
                      <a:pPr algn="ctr"/>
                      <a:r>
                        <a:rPr lang="en-US" sz="1600" b="0" dirty="0">
                          <a:solidFill>
                            <a:schemeClr val="tx1"/>
                          </a:solidFill>
                          <a:latin typeface="Arial" panose="020B0604020202020204" pitchFamily="34" charset="0"/>
                          <a:cs typeface="Arial" panose="020B0604020202020204" pitchFamily="34" charset="0"/>
                        </a:rPr>
                        <a:t>D</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100</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49932020"/>
                  </a:ext>
                </a:extLst>
              </a:tr>
              <a:tr h="281890">
                <a:tc>
                  <a:txBody>
                    <a:bodyPr/>
                    <a:lstStyle/>
                    <a:p>
                      <a:pPr algn="ctr"/>
                      <a:r>
                        <a:rPr lang="en-US" sz="1600" b="0" dirty="0">
                          <a:solidFill>
                            <a:schemeClr val="tx1"/>
                          </a:solidFill>
                          <a:latin typeface="Arial" panose="020B0604020202020204" pitchFamily="34" charset="0"/>
                          <a:cs typeface="Arial" panose="020B0604020202020204" pitchFamily="34" charset="0"/>
                        </a:rPr>
                        <a:t>R</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110</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875734043"/>
                  </a:ext>
                </a:extLst>
              </a:tr>
              <a:tr h="281890">
                <a:tc>
                  <a:txBody>
                    <a:bodyPr/>
                    <a:lstStyle/>
                    <a:p>
                      <a:pPr algn="ctr"/>
                      <a:r>
                        <a:rPr lang="en-US" sz="1600" b="0" dirty="0">
                          <a:solidFill>
                            <a:schemeClr val="tx1"/>
                          </a:solidFill>
                          <a:latin typeface="Arial" panose="020B0604020202020204" pitchFamily="34" charset="0"/>
                          <a:cs typeface="Arial" panose="020B0604020202020204" pitchFamily="34" charset="0"/>
                        </a:rPr>
                        <a:t>!</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1010</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23862345"/>
                  </a:ext>
                </a:extLst>
              </a:tr>
            </a:tbl>
          </a:graphicData>
        </a:graphic>
      </p:graphicFrame>
      <p:grpSp>
        <p:nvGrpSpPr>
          <p:cNvPr id="225" name="Group 224" descr="trie representation of codeword table">
            <a:extLst>
              <a:ext uri="{FF2B5EF4-FFF2-40B4-BE49-F238E27FC236}">
                <a16:creationId xmlns:a16="http://schemas.microsoft.com/office/drawing/2014/main" id="{190B1BED-C46C-B14C-A481-B4A696A72344}"/>
              </a:ext>
            </a:extLst>
          </p:cNvPr>
          <p:cNvGrpSpPr/>
          <p:nvPr/>
        </p:nvGrpSpPr>
        <p:grpSpPr>
          <a:xfrm>
            <a:off x="3637417" y="3429000"/>
            <a:ext cx="3623821" cy="2787325"/>
            <a:chOff x="5116614" y="3006457"/>
            <a:chExt cx="3623821" cy="2787325"/>
          </a:xfrm>
        </p:grpSpPr>
        <p:sp>
          <p:nvSpPr>
            <p:cNvPr id="101" name="Oval 100">
              <a:extLst>
                <a:ext uri="{FF2B5EF4-FFF2-40B4-BE49-F238E27FC236}">
                  <a16:creationId xmlns:a16="http://schemas.microsoft.com/office/drawing/2014/main" id="{0F7CA38F-485D-4E41-9053-6FE72BE2B995}"/>
                </a:ext>
              </a:extLst>
            </p:cNvPr>
            <p:cNvSpPr/>
            <p:nvPr/>
          </p:nvSpPr>
          <p:spPr>
            <a:xfrm>
              <a:off x="6124485" y="3006457"/>
              <a:ext cx="318654" cy="332509"/>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latin typeface="Arial" panose="020B0604020202020204" pitchFamily="34" charset="0"/>
                <a:cs typeface="Arial" panose="020B0604020202020204" pitchFamily="34" charset="0"/>
              </a:endParaRPr>
            </a:p>
          </p:txBody>
        </p:sp>
        <p:sp>
          <p:nvSpPr>
            <p:cNvPr id="102" name="Oval 101">
              <a:extLst>
                <a:ext uri="{FF2B5EF4-FFF2-40B4-BE49-F238E27FC236}">
                  <a16:creationId xmlns:a16="http://schemas.microsoft.com/office/drawing/2014/main" id="{4D493C4A-3D15-9641-AB49-D4CD4089ACC8}"/>
                </a:ext>
              </a:extLst>
            </p:cNvPr>
            <p:cNvSpPr/>
            <p:nvPr/>
          </p:nvSpPr>
          <p:spPr>
            <a:xfrm>
              <a:off x="5216321" y="3480229"/>
              <a:ext cx="318654" cy="332509"/>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rial" panose="020B0604020202020204" pitchFamily="34" charset="0"/>
                  <a:cs typeface="Arial" panose="020B0604020202020204" pitchFamily="34" charset="0"/>
                </a:rPr>
                <a:t>A</a:t>
              </a:r>
            </a:p>
          </p:txBody>
        </p:sp>
        <p:cxnSp>
          <p:nvCxnSpPr>
            <p:cNvPr id="121" name="Straight Connector 120">
              <a:extLst>
                <a:ext uri="{FF2B5EF4-FFF2-40B4-BE49-F238E27FC236}">
                  <a16:creationId xmlns:a16="http://schemas.microsoft.com/office/drawing/2014/main" id="{77B14FCB-994E-7B42-B7EE-F55689A1DD88}"/>
                </a:ext>
              </a:extLst>
            </p:cNvPr>
            <p:cNvCxnSpPr>
              <a:stCxn id="101" idx="2"/>
              <a:endCxn id="102" idx="7"/>
            </p:cNvCxnSpPr>
            <p:nvPr/>
          </p:nvCxnSpPr>
          <p:spPr>
            <a:xfrm flipH="1">
              <a:off x="5488309" y="3172712"/>
              <a:ext cx="636176" cy="356212"/>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8C514418-22C3-A64B-838E-A3A961D9EF55}"/>
                </a:ext>
              </a:extLst>
            </p:cNvPr>
            <p:cNvCxnSpPr>
              <a:cxnSpLocks/>
              <a:stCxn id="101" idx="6"/>
              <a:endCxn id="158" idx="1"/>
            </p:cNvCxnSpPr>
            <p:nvPr/>
          </p:nvCxnSpPr>
          <p:spPr>
            <a:xfrm>
              <a:off x="6443139" y="3172712"/>
              <a:ext cx="631488" cy="451228"/>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9D1017D4-247E-3346-B2D9-DC85E7E1735B}"/>
                </a:ext>
              </a:extLst>
            </p:cNvPr>
            <p:cNvCxnSpPr>
              <a:cxnSpLocks/>
              <a:stCxn id="102" idx="5"/>
            </p:cNvCxnSpPr>
            <p:nvPr/>
          </p:nvCxnSpPr>
          <p:spPr>
            <a:xfrm>
              <a:off x="5488309" y="3764043"/>
              <a:ext cx="89411"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40" name="TextBox 139">
              <a:extLst>
                <a:ext uri="{FF2B5EF4-FFF2-40B4-BE49-F238E27FC236}">
                  <a16:creationId xmlns:a16="http://schemas.microsoft.com/office/drawing/2014/main" id="{EF416A79-1317-1D44-8893-0E5DE571AB4C}"/>
                </a:ext>
              </a:extLst>
            </p:cNvPr>
            <p:cNvSpPr txBox="1"/>
            <p:nvPr/>
          </p:nvSpPr>
          <p:spPr>
            <a:xfrm>
              <a:off x="5624514" y="3056248"/>
              <a:ext cx="312906" cy="369332"/>
            </a:xfrm>
            <a:prstGeom prst="rect">
              <a:avLst/>
            </a:prstGeom>
            <a:noFill/>
          </p:spPr>
          <p:txBody>
            <a:bodyPr wrap="none" rtlCol="0">
              <a:spAutoFit/>
            </a:bodyPr>
            <a:lstStyle/>
            <a:p>
              <a:r>
                <a:rPr lang="en-US" dirty="0">
                  <a:solidFill>
                    <a:schemeClr val="accent5"/>
                  </a:solidFill>
                  <a:latin typeface="Arial" panose="020B0604020202020204" pitchFamily="34" charset="0"/>
                  <a:cs typeface="Arial" panose="020B0604020202020204" pitchFamily="34" charset="0"/>
                </a:rPr>
                <a:t>0</a:t>
              </a:r>
            </a:p>
          </p:txBody>
        </p:sp>
        <p:cxnSp>
          <p:nvCxnSpPr>
            <p:cNvPr id="153" name="Straight Connector 152">
              <a:extLst>
                <a:ext uri="{FF2B5EF4-FFF2-40B4-BE49-F238E27FC236}">
                  <a16:creationId xmlns:a16="http://schemas.microsoft.com/office/drawing/2014/main" id="{DEC14D98-E47F-A640-B97F-4734D20880CF}"/>
                </a:ext>
              </a:extLst>
            </p:cNvPr>
            <p:cNvCxnSpPr>
              <a:cxnSpLocks/>
              <a:stCxn id="102" idx="3"/>
            </p:cNvCxnSpPr>
            <p:nvPr/>
          </p:nvCxnSpPr>
          <p:spPr>
            <a:xfrm flipH="1">
              <a:off x="5116614" y="3764043"/>
              <a:ext cx="146373"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5083FE15-D5F4-5040-B21D-74D3D668AAFB}"/>
                </a:ext>
              </a:extLst>
            </p:cNvPr>
            <p:cNvSpPr txBox="1"/>
            <p:nvPr/>
          </p:nvSpPr>
          <p:spPr>
            <a:xfrm>
              <a:off x="6602430" y="3096103"/>
              <a:ext cx="312906" cy="369332"/>
            </a:xfrm>
            <a:prstGeom prst="rect">
              <a:avLst/>
            </a:prstGeom>
            <a:noFill/>
          </p:spPr>
          <p:txBody>
            <a:bodyPr wrap="none" rtlCol="0">
              <a:spAutoFit/>
            </a:bodyPr>
            <a:lstStyle/>
            <a:p>
              <a:r>
                <a:rPr lang="en-US" dirty="0">
                  <a:solidFill>
                    <a:schemeClr val="accent5"/>
                  </a:solidFill>
                  <a:latin typeface="Arial" panose="020B0604020202020204" pitchFamily="34" charset="0"/>
                  <a:cs typeface="Arial" panose="020B0604020202020204" pitchFamily="34" charset="0"/>
                </a:rPr>
                <a:t>1</a:t>
              </a:r>
            </a:p>
          </p:txBody>
        </p:sp>
        <p:sp>
          <p:nvSpPr>
            <p:cNvPr id="158" name="Oval 157">
              <a:extLst>
                <a:ext uri="{FF2B5EF4-FFF2-40B4-BE49-F238E27FC236}">
                  <a16:creationId xmlns:a16="http://schemas.microsoft.com/office/drawing/2014/main" id="{818049BF-F12E-A642-8049-B1C04BBBA6BA}"/>
                </a:ext>
              </a:extLst>
            </p:cNvPr>
            <p:cNvSpPr/>
            <p:nvPr/>
          </p:nvSpPr>
          <p:spPr>
            <a:xfrm>
              <a:off x="7027961" y="3575245"/>
              <a:ext cx="318654" cy="332509"/>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latin typeface="Arial" panose="020B0604020202020204" pitchFamily="34" charset="0"/>
                <a:cs typeface="Arial" panose="020B0604020202020204" pitchFamily="34" charset="0"/>
              </a:endParaRPr>
            </a:p>
          </p:txBody>
        </p:sp>
        <p:sp>
          <p:nvSpPr>
            <p:cNvPr id="159" name="Oval 158">
              <a:extLst>
                <a:ext uri="{FF2B5EF4-FFF2-40B4-BE49-F238E27FC236}">
                  <a16:creationId xmlns:a16="http://schemas.microsoft.com/office/drawing/2014/main" id="{7362C5A4-8332-6A48-9A53-CDCBDFA6BB51}"/>
                </a:ext>
              </a:extLst>
            </p:cNvPr>
            <p:cNvSpPr/>
            <p:nvPr/>
          </p:nvSpPr>
          <p:spPr>
            <a:xfrm>
              <a:off x="6205625" y="3979517"/>
              <a:ext cx="318654" cy="332509"/>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latin typeface="Arial" panose="020B0604020202020204" pitchFamily="34" charset="0"/>
                <a:cs typeface="Arial" panose="020B0604020202020204" pitchFamily="34" charset="0"/>
              </a:endParaRPr>
            </a:p>
          </p:txBody>
        </p:sp>
        <p:cxnSp>
          <p:nvCxnSpPr>
            <p:cNvPr id="161" name="Straight Connector 160">
              <a:extLst>
                <a:ext uri="{FF2B5EF4-FFF2-40B4-BE49-F238E27FC236}">
                  <a16:creationId xmlns:a16="http://schemas.microsoft.com/office/drawing/2014/main" id="{015DEFB9-C535-7847-BCA7-AF29638E900C}"/>
                </a:ext>
              </a:extLst>
            </p:cNvPr>
            <p:cNvCxnSpPr>
              <a:stCxn id="158" idx="2"/>
              <a:endCxn id="159" idx="7"/>
            </p:cNvCxnSpPr>
            <p:nvPr/>
          </p:nvCxnSpPr>
          <p:spPr>
            <a:xfrm flipH="1">
              <a:off x="6477613" y="3741500"/>
              <a:ext cx="550348" cy="286712"/>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2" name="Straight Connector 161">
              <a:extLst>
                <a:ext uri="{FF2B5EF4-FFF2-40B4-BE49-F238E27FC236}">
                  <a16:creationId xmlns:a16="http://schemas.microsoft.com/office/drawing/2014/main" id="{73ADE194-274E-3044-9AC9-7D5C35A65B26}"/>
                </a:ext>
              </a:extLst>
            </p:cNvPr>
            <p:cNvCxnSpPr>
              <a:cxnSpLocks/>
              <a:stCxn id="158" idx="6"/>
              <a:endCxn id="176" idx="1"/>
            </p:cNvCxnSpPr>
            <p:nvPr/>
          </p:nvCxnSpPr>
          <p:spPr>
            <a:xfrm>
              <a:off x="7346615" y="3741500"/>
              <a:ext cx="563020" cy="269088"/>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64" name="TextBox 163">
              <a:extLst>
                <a:ext uri="{FF2B5EF4-FFF2-40B4-BE49-F238E27FC236}">
                  <a16:creationId xmlns:a16="http://schemas.microsoft.com/office/drawing/2014/main" id="{9D9288E0-B035-0F47-84E6-607FE71F94D3}"/>
                </a:ext>
              </a:extLst>
            </p:cNvPr>
            <p:cNvSpPr txBox="1"/>
            <p:nvPr/>
          </p:nvSpPr>
          <p:spPr>
            <a:xfrm>
              <a:off x="6529310" y="3610185"/>
              <a:ext cx="312906" cy="369332"/>
            </a:xfrm>
            <a:prstGeom prst="rect">
              <a:avLst/>
            </a:prstGeom>
            <a:noFill/>
          </p:spPr>
          <p:txBody>
            <a:bodyPr wrap="none" rtlCol="0">
              <a:spAutoFit/>
            </a:bodyPr>
            <a:lstStyle/>
            <a:p>
              <a:r>
                <a:rPr lang="en-US" dirty="0">
                  <a:solidFill>
                    <a:schemeClr val="accent5"/>
                  </a:solidFill>
                  <a:latin typeface="Arial" panose="020B0604020202020204" pitchFamily="34" charset="0"/>
                  <a:cs typeface="Arial" panose="020B0604020202020204" pitchFamily="34" charset="0"/>
                </a:rPr>
                <a:t>0</a:t>
              </a:r>
            </a:p>
          </p:txBody>
        </p:sp>
        <p:sp>
          <p:nvSpPr>
            <p:cNvPr id="166" name="TextBox 165">
              <a:extLst>
                <a:ext uri="{FF2B5EF4-FFF2-40B4-BE49-F238E27FC236}">
                  <a16:creationId xmlns:a16="http://schemas.microsoft.com/office/drawing/2014/main" id="{4336B147-F9B7-7C41-8404-AA1FB29812BD}"/>
                </a:ext>
              </a:extLst>
            </p:cNvPr>
            <p:cNvSpPr txBox="1"/>
            <p:nvPr/>
          </p:nvSpPr>
          <p:spPr>
            <a:xfrm>
              <a:off x="7471799" y="3610185"/>
              <a:ext cx="312906" cy="369332"/>
            </a:xfrm>
            <a:prstGeom prst="rect">
              <a:avLst/>
            </a:prstGeom>
            <a:noFill/>
          </p:spPr>
          <p:txBody>
            <a:bodyPr wrap="none" rtlCol="0">
              <a:spAutoFit/>
            </a:bodyPr>
            <a:lstStyle/>
            <a:p>
              <a:r>
                <a:rPr lang="en-US" dirty="0">
                  <a:solidFill>
                    <a:schemeClr val="accent5"/>
                  </a:solidFill>
                  <a:latin typeface="Arial" panose="020B0604020202020204" pitchFamily="34" charset="0"/>
                  <a:cs typeface="Arial" panose="020B0604020202020204" pitchFamily="34" charset="0"/>
                </a:rPr>
                <a:t>1</a:t>
              </a:r>
            </a:p>
          </p:txBody>
        </p:sp>
        <p:sp>
          <p:nvSpPr>
            <p:cNvPr id="168" name="Oval 167">
              <a:extLst>
                <a:ext uri="{FF2B5EF4-FFF2-40B4-BE49-F238E27FC236}">
                  <a16:creationId xmlns:a16="http://schemas.microsoft.com/office/drawing/2014/main" id="{915B13BF-4323-BD4F-A395-F6FCC3D8C45C}"/>
                </a:ext>
              </a:extLst>
            </p:cNvPr>
            <p:cNvSpPr/>
            <p:nvPr/>
          </p:nvSpPr>
          <p:spPr>
            <a:xfrm>
              <a:off x="5544162" y="4613271"/>
              <a:ext cx="318654" cy="332509"/>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rial" panose="020B0604020202020204" pitchFamily="34" charset="0"/>
                  <a:cs typeface="Arial" panose="020B0604020202020204" pitchFamily="34" charset="0"/>
                </a:rPr>
                <a:t>D</a:t>
              </a:r>
            </a:p>
          </p:txBody>
        </p:sp>
        <p:sp>
          <p:nvSpPr>
            <p:cNvPr id="169" name="Oval 168">
              <a:extLst>
                <a:ext uri="{FF2B5EF4-FFF2-40B4-BE49-F238E27FC236}">
                  <a16:creationId xmlns:a16="http://schemas.microsoft.com/office/drawing/2014/main" id="{79CEF8FB-813E-A44A-8DE8-42E08E72386C}"/>
                </a:ext>
              </a:extLst>
            </p:cNvPr>
            <p:cNvSpPr/>
            <p:nvPr/>
          </p:nvSpPr>
          <p:spPr>
            <a:xfrm>
              <a:off x="6697686" y="4575276"/>
              <a:ext cx="318654" cy="332509"/>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latin typeface="Arial" panose="020B0604020202020204" pitchFamily="34" charset="0"/>
                <a:cs typeface="Arial" panose="020B0604020202020204" pitchFamily="34" charset="0"/>
              </a:endParaRPr>
            </a:p>
          </p:txBody>
        </p:sp>
        <p:cxnSp>
          <p:nvCxnSpPr>
            <p:cNvPr id="170" name="Straight Connector 169">
              <a:extLst>
                <a:ext uri="{FF2B5EF4-FFF2-40B4-BE49-F238E27FC236}">
                  <a16:creationId xmlns:a16="http://schemas.microsoft.com/office/drawing/2014/main" id="{7A24F559-7635-9547-B985-DBE30C1F7D35}"/>
                </a:ext>
              </a:extLst>
            </p:cNvPr>
            <p:cNvCxnSpPr>
              <a:cxnSpLocks/>
            </p:cNvCxnSpPr>
            <p:nvPr/>
          </p:nvCxnSpPr>
          <p:spPr>
            <a:xfrm flipH="1">
              <a:off x="5747822" y="4204291"/>
              <a:ext cx="452772" cy="402642"/>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1" name="Straight Connector 170">
              <a:extLst>
                <a:ext uri="{FF2B5EF4-FFF2-40B4-BE49-F238E27FC236}">
                  <a16:creationId xmlns:a16="http://schemas.microsoft.com/office/drawing/2014/main" id="{863787AF-5E13-D94C-8E55-E5BF9098741B}"/>
                </a:ext>
              </a:extLst>
            </p:cNvPr>
            <p:cNvCxnSpPr>
              <a:cxnSpLocks/>
              <a:stCxn id="159" idx="5"/>
              <a:endCxn id="169" idx="1"/>
            </p:cNvCxnSpPr>
            <p:nvPr/>
          </p:nvCxnSpPr>
          <p:spPr>
            <a:xfrm>
              <a:off x="6477613" y="4263331"/>
              <a:ext cx="266739" cy="36064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2" name="Straight Connector 171">
              <a:extLst>
                <a:ext uri="{FF2B5EF4-FFF2-40B4-BE49-F238E27FC236}">
                  <a16:creationId xmlns:a16="http://schemas.microsoft.com/office/drawing/2014/main" id="{7200D655-FCE7-EB40-8C61-E9DC4CB4E1CD}"/>
                </a:ext>
              </a:extLst>
            </p:cNvPr>
            <p:cNvCxnSpPr>
              <a:cxnSpLocks/>
            </p:cNvCxnSpPr>
            <p:nvPr/>
          </p:nvCxnSpPr>
          <p:spPr>
            <a:xfrm>
              <a:off x="5815932" y="4897085"/>
              <a:ext cx="89411"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39621784-6E12-CB43-AA98-CC35094339C1}"/>
                </a:ext>
              </a:extLst>
            </p:cNvPr>
            <p:cNvSpPr txBox="1"/>
            <p:nvPr/>
          </p:nvSpPr>
          <p:spPr>
            <a:xfrm>
              <a:off x="5788713" y="4078665"/>
              <a:ext cx="312906" cy="369332"/>
            </a:xfrm>
            <a:prstGeom prst="rect">
              <a:avLst/>
            </a:prstGeom>
            <a:noFill/>
          </p:spPr>
          <p:txBody>
            <a:bodyPr wrap="none" rtlCol="0">
              <a:spAutoFit/>
            </a:bodyPr>
            <a:lstStyle/>
            <a:p>
              <a:r>
                <a:rPr lang="en-US" dirty="0">
                  <a:solidFill>
                    <a:schemeClr val="accent5"/>
                  </a:solidFill>
                  <a:latin typeface="Arial" panose="020B0604020202020204" pitchFamily="34" charset="0"/>
                  <a:cs typeface="Arial" panose="020B0604020202020204" pitchFamily="34" charset="0"/>
                </a:rPr>
                <a:t>0</a:t>
              </a:r>
            </a:p>
          </p:txBody>
        </p:sp>
        <p:cxnSp>
          <p:nvCxnSpPr>
            <p:cNvPr id="174" name="Straight Connector 173">
              <a:extLst>
                <a:ext uri="{FF2B5EF4-FFF2-40B4-BE49-F238E27FC236}">
                  <a16:creationId xmlns:a16="http://schemas.microsoft.com/office/drawing/2014/main" id="{D493BA7E-BF63-F54A-8604-DD34F7649BF2}"/>
                </a:ext>
              </a:extLst>
            </p:cNvPr>
            <p:cNvCxnSpPr>
              <a:cxnSpLocks/>
              <a:stCxn id="168" idx="3"/>
            </p:cNvCxnSpPr>
            <p:nvPr/>
          </p:nvCxnSpPr>
          <p:spPr>
            <a:xfrm flipH="1">
              <a:off x="5444455" y="4897085"/>
              <a:ext cx="146373"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75" name="TextBox 174">
              <a:extLst>
                <a:ext uri="{FF2B5EF4-FFF2-40B4-BE49-F238E27FC236}">
                  <a16:creationId xmlns:a16="http://schemas.microsoft.com/office/drawing/2014/main" id="{0081AC42-C21E-034A-85FC-0728C755310B}"/>
                </a:ext>
              </a:extLst>
            </p:cNvPr>
            <p:cNvSpPr txBox="1"/>
            <p:nvPr/>
          </p:nvSpPr>
          <p:spPr>
            <a:xfrm>
              <a:off x="6571360" y="4100450"/>
              <a:ext cx="312906" cy="369332"/>
            </a:xfrm>
            <a:prstGeom prst="rect">
              <a:avLst/>
            </a:prstGeom>
            <a:noFill/>
          </p:spPr>
          <p:txBody>
            <a:bodyPr wrap="none" rtlCol="0">
              <a:spAutoFit/>
            </a:bodyPr>
            <a:lstStyle/>
            <a:p>
              <a:r>
                <a:rPr lang="en-US" dirty="0">
                  <a:solidFill>
                    <a:schemeClr val="accent5"/>
                  </a:solidFill>
                  <a:latin typeface="Arial" panose="020B0604020202020204" pitchFamily="34" charset="0"/>
                  <a:cs typeface="Arial" panose="020B0604020202020204" pitchFamily="34" charset="0"/>
                </a:rPr>
                <a:t>1</a:t>
              </a:r>
            </a:p>
          </p:txBody>
        </p:sp>
        <p:sp>
          <p:nvSpPr>
            <p:cNvPr id="176" name="Oval 175">
              <a:extLst>
                <a:ext uri="{FF2B5EF4-FFF2-40B4-BE49-F238E27FC236}">
                  <a16:creationId xmlns:a16="http://schemas.microsoft.com/office/drawing/2014/main" id="{8BFCF99B-9CE9-8047-802C-9C24CC0709C0}"/>
                </a:ext>
              </a:extLst>
            </p:cNvPr>
            <p:cNvSpPr/>
            <p:nvPr/>
          </p:nvSpPr>
          <p:spPr>
            <a:xfrm>
              <a:off x="7862969" y="3961893"/>
              <a:ext cx="318654" cy="332509"/>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latin typeface="Arial" panose="020B0604020202020204" pitchFamily="34" charset="0"/>
                <a:cs typeface="Arial" panose="020B0604020202020204" pitchFamily="34" charset="0"/>
              </a:endParaRPr>
            </a:p>
          </p:txBody>
        </p:sp>
        <p:sp>
          <p:nvSpPr>
            <p:cNvPr id="177" name="Oval 176">
              <a:extLst>
                <a:ext uri="{FF2B5EF4-FFF2-40B4-BE49-F238E27FC236}">
                  <a16:creationId xmlns:a16="http://schemas.microsoft.com/office/drawing/2014/main" id="{CC21800D-32DC-2847-BC07-0300A4339892}"/>
                </a:ext>
              </a:extLst>
            </p:cNvPr>
            <p:cNvSpPr/>
            <p:nvPr/>
          </p:nvSpPr>
          <p:spPr>
            <a:xfrm>
              <a:off x="7523249" y="4571658"/>
              <a:ext cx="318654" cy="332509"/>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rial" panose="020B0604020202020204" pitchFamily="34" charset="0"/>
                  <a:cs typeface="Arial" panose="020B0604020202020204" pitchFamily="34" charset="0"/>
                </a:rPr>
                <a:t>R</a:t>
              </a:r>
            </a:p>
          </p:txBody>
        </p:sp>
        <p:sp>
          <p:nvSpPr>
            <p:cNvPr id="178" name="Oval 177">
              <a:extLst>
                <a:ext uri="{FF2B5EF4-FFF2-40B4-BE49-F238E27FC236}">
                  <a16:creationId xmlns:a16="http://schemas.microsoft.com/office/drawing/2014/main" id="{1E2BCD53-C80D-6A4B-AAD0-2DE3D8E7DF77}"/>
                </a:ext>
              </a:extLst>
            </p:cNvPr>
            <p:cNvSpPr/>
            <p:nvPr/>
          </p:nvSpPr>
          <p:spPr>
            <a:xfrm>
              <a:off x="8357034" y="4550156"/>
              <a:ext cx="318654" cy="332509"/>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rial" panose="020B0604020202020204" pitchFamily="34" charset="0"/>
                  <a:cs typeface="Arial" panose="020B0604020202020204" pitchFamily="34" charset="0"/>
                </a:rPr>
                <a:t>B</a:t>
              </a:r>
            </a:p>
          </p:txBody>
        </p:sp>
        <p:cxnSp>
          <p:nvCxnSpPr>
            <p:cNvPr id="179" name="Straight Connector 178">
              <a:extLst>
                <a:ext uri="{FF2B5EF4-FFF2-40B4-BE49-F238E27FC236}">
                  <a16:creationId xmlns:a16="http://schemas.microsoft.com/office/drawing/2014/main" id="{A5F2E630-52C2-CA44-9BAE-17389869603F}"/>
                </a:ext>
              </a:extLst>
            </p:cNvPr>
            <p:cNvCxnSpPr>
              <a:cxnSpLocks/>
              <a:stCxn id="176" idx="3"/>
              <a:endCxn id="177" idx="7"/>
            </p:cNvCxnSpPr>
            <p:nvPr/>
          </p:nvCxnSpPr>
          <p:spPr>
            <a:xfrm flipH="1">
              <a:off x="7795237" y="4245707"/>
              <a:ext cx="114398" cy="37464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1AC3AC3E-1599-F54E-BC84-26B029F150C4}"/>
                </a:ext>
              </a:extLst>
            </p:cNvPr>
            <p:cNvCxnSpPr>
              <a:cxnSpLocks/>
              <a:stCxn id="176" idx="6"/>
              <a:endCxn id="178" idx="1"/>
            </p:cNvCxnSpPr>
            <p:nvPr/>
          </p:nvCxnSpPr>
          <p:spPr>
            <a:xfrm>
              <a:off x="8181623" y="4128148"/>
              <a:ext cx="222077" cy="470703"/>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xmlns:a16="http://schemas.microsoft.com/office/drawing/2014/main" id="{A8849709-C984-B143-97E3-03CF4BDD5644}"/>
                </a:ext>
              </a:extLst>
            </p:cNvPr>
            <p:cNvCxnSpPr>
              <a:cxnSpLocks/>
              <a:stCxn id="177" idx="5"/>
            </p:cNvCxnSpPr>
            <p:nvPr/>
          </p:nvCxnSpPr>
          <p:spPr>
            <a:xfrm>
              <a:off x="7795237" y="4855472"/>
              <a:ext cx="89411"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82" name="TextBox 181">
              <a:extLst>
                <a:ext uri="{FF2B5EF4-FFF2-40B4-BE49-F238E27FC236}">
                  <a16:creationId xmlns:a16="http://schemas.microsoft.com/office/drawing/2014/main" id="{0CA2D619-FBF1-A34B-8AB9-38310D846D26}"/>
                </a:ext>
              </a:extLst>
            </p:cNvPr>
            <p:cNvSpPr txBox="1"/>
            <p:nvPr/>
          </p:nvSpPr>
          <p:spPr>
            <a:xfrm>
              <a:off x="7562821" y="4180824"/>
              <a:ext cx="312906" cy="369332"/>
            </a:xfrm>
            <a:prstGeom prst="rect">
              <a:avLst/>
            </a:prstGeom>
            <a:noFill/>
          </p:spPr>
          <p:txBody>
            <a:bodyPr wrap="none" rtlCol="0">
              <a:spAutoFit/>
            </a:bodyPr>
            <a:lstStyle/>
            <a:p>
              <a:r>
                <a:rPr lang="en-US" dirty="0">
                  <a:solidFill>
                    <a:schemeClr val="accent5"/>
                  </a:solidFill>
                  <a:latin typeface="Arial" panose="020B0604020202020204" pitchFamily="34" charset="0"/>
                  <a:cs typeface="Arial" panose="020B0604020202020204" pitchFamily="34" charset="0"/>
                </a:rPr>
                <a:t>0</a:t>
              </a:r>
            </a:p>
          </p:txBody>
        </p:sp>
        <p:cxnSp>
          <p:nvCxnSpPr>
            <p:cNvPr id="183" name="Straight Connector 182">
              <a:extLst>
                <a:ext uri="{FF2B5EF4-FFF2-40B4-BE49-F238E27FC236}">
                  <a16:creationId xmlns:a16="http://schemas.microsoft.com/office/drawing/2014/main" id="{591D7B63-7781-C34B-8BD7-B5468C65BE8D}"/>
                </a:ext>
              </a:extLst>
            </p:cNvPr>
            <p:cNvCxnSpPr>
              <a:cxnSpLocks/>
              <a:stCxn id="177" idx="3"/>
            </p:cNvCxnSpPr>
            <p:nvPr/>
          </p:nvCxnSpPr>
          <p:spPr>
            <a:xfrm flipH="1">
              <a:off x="7423542" y="4855472"/>
              <a:ext cx="146373"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84" name="TextBox 183">
              <a:extLst>
                <a:ext uri="{FF2B5EF4-FFF2-40B4-BE49-F238E27FC236}">
                  <a16:creationId xmlns:a16="http://schemas.microsoft.com/office/drawing/2014/main" id="{49087140-42AB-084D-8D72-585D0C11D9A2}"/>
                </a:ext>
              </a:extLst>
            </p:cNvPr>
            <p:cNvSpPr txBox="1"/>
            <p:nvPr/>
          </p:nvSpPr>
          <p:spPr>
            <a:xfrm>
              <a:off x="8292661" y="4163856"/>
              <a:ext cx="312906" cy="369332"/>
            </a:xfrm>
            <a:prstGeom prst="rect">
              <a:avLst/>
            </a:prstGeom>
            <a:noFill/>
          </p:spPr>
          <p:txBody>
            <a:bodyPr wrap="none" rtlCol="0">
              <a:spAutoFit/>
            </a:bodyPr>
            <a:lstStyle/>
            <a:p>
              <a:r>
                <a:rPr lang="en-US" dirty="0">
                  <a:solidFill>
                    <a:schemeClr val="accent5"/>
                  </a:solidFill>
                  <a:latin typeface="Arial" panose="020B0604020202020204" pitchFamily="34" charset="0"/>
                  <a:cs typeface="Arial" panose="020B0604020202020204" pitchFamily="34" charset="0"/>
                </a:rPr>
                <a:t>1</a:t>
              </a:r>
            </a:p>
          </p:txBody>
        </p:sp>
        <p:sp>
          <p:nvSpPr>
            <p:cNvPr id="186" name="Oval 185">
              <a:extLst>
                <a:ext uri="{FF2B5EF4-FFF2-40B4-BE49-F238E27FC236}">
                  <a16:creationId xmlns:a16="http://schemas.microsoft.com/office/drawing/2014/main" id="{25E7A1B8-A698-0746-A7ED-F800566DC06A}"/>
                </a:ext>
              </a:extLst>
            </p:cNvPr>
            <p:cNvSpPr/>
            <p:nvPr/>
          </p:nvSpPr>
          <p:spPr>
            <a:xfrm>
              <a:off x="6200594" y="5229929"/>
              <a:ext cx="318654" cy="332509"/>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rial" panose="020B0604020202020204" pitchFamily="34" charset="0"/>
                  <a:cs typeface="Arial" panose="020B0604020202020204" pitchFamily="34" charset="0"/>
                </a:rPr>
                <a:t>!</a:t>
              </a:r>
            </a:p>
          </p:txBody>
        </p:sp>
        <p:sp>
          <p:nvSpPr>
            <p:cNvPr id="187" name="Oval 186">
              <a:extLst>
                <a:ext uri="{FF2B5EF4-FFF2-40B4-BE49-F238E27FC236}">
                  <a16:creationId xmlns:a16="http://schemas.microsoft.com/office/drawing/2014/main" id="{6178BD00-925A-F444-B93F-AAEEADCB898C}"/>
                </a:ext>
              </a:extLst>
            </p:cNvPr>
            <p:cNvSpPr/>
            <p:nvPr/>
          </p:nvSpPr>
          <p:spPr>
            <a:xfrm>
              <a:off x="7082181" y="5266146"/>
              <a:ext cx="318654" cy="332509"/>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rial" panose="020B0604020202020204" pitchFamily="34" charset="0"/>
                  <a:cs typeface="Arial" panose="020B0604020202020204" pitchFamily="34" charset="0"/>
                </a:rPr>
                <a:t>C</a:t>
              </a:r>
            </a:p>
          </p:txBody>
        </p:sp>
        <p:cxnSp>
          <p:nvCxnSpPr>
            <p:cNvPr id="188" name="Straight Connector 187">
              <a:extLst>
                <a:ext uri="{FF2B5EF4-FFF2-40B4-BE49-F238E27FC236}">
                  <a16:creationId xmlns:a16="http://schemas.microsoft.com/office/drawing/2014/main" id="{F6959007-CA02-7446-9196-AC1A302C00CA}"/>
                </a:ext>
              </a:extLst>
            </p:cNvPr>
            <p:cNvCxnSpPr>
              <a:cxnSpLocks/>
              <a:stCxn id="169" idx="2"/>
              <a:endCxn id="186" idx="7"/>
            </p:cNvCxnSpPr>
            <p:nvPr/>
          </p:nvCxnSpPr>
          <p:spPr>
            <a:xfrm flipH="1">
              <a:off x="6472582" y="4741531"/>
              <a:ext cx="225104" cy="537093"/>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9" name="Straight Connector 188">
              <a:extLst>
                <a:ext uri="{FF2B5EF4-FFF2-40B4-BE49-F238E27FC236}">
                  <a16:creationId xmlns:a16="http://schemas.microsoft.com/office/drawing/2014/main" id="{9F01A284-E25B-AC48-B9FF-071C584B6072}"/>
                </a:ext>
              </a:extLst>
            </p:cNvPr>
            <p:cNvCxnSpPr>
              <a:cxnSpLocks/>
              <a:stCxn id="169" idx="5"/>
              <a:endCxn id="187" idx="1"/>
            </p:cNvCxnSpPr>
            <p:nvPr/>
          </p:nvCxnSpPr>
          <p:spPr>
            <a:xfrm>
              <a:off x="6969674" y="4859090"/>
              <a:ext cx="159173" cy="4557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0" name="Straight Connector 189">
              <a:extLst>
                <a:ext uri="{FF2B5EF4-FFF2-40B4-BE49-F238E27FC236}">
                  <a16:creationId xmlns:a16="http://schemas.microsoft.com/office/drawing/2014/main" id="{4948B3FA-9F66-F345-8B9E-A1261EBBBBC9}"/>
                </a:ext>
              </a:extLst>
            </p:cNvPr>
            <p:cNvCxnSpPr>
              <a:cxnSpLocks/>
              <a:stCxn id="186" idx="5"/>
            </p:cNvCxnSpPr>
            <p:nvPr/>
          </p:nvCxnSpPr>
          <p:spPr>
            <a:xfrm>
              <a:off x="6472582" y="5513743"/>
              <a:ext cx="89411"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91" name="TextBox 190">
              <a:extLst>
                <a:ext uri="{FF2B5EF4-FFF2-40B4-BE49-F238E27FC236}">
                  <a16:creationId xmlns:a16="http://schemas.microsoft.com/office/drawing/2014/main" id="{7AAD00AD-1CAE-1F4F-9189-22BD1A0A0775}"/>
                </a:ext>
              </a:extLst>
            </p:cNvPr>
            <p:cNvSpPr txBox="1"/>
            <p:nvPr/>
          </p:nvSpPr>
          <p:spPr>
            <a:xfrm>
              <a:off x="6234389" y="4839700"/>
              <a:ext cx="312906" cy="369332"/>
            </a:xfrm>
            <a:prstGeom prst="rect">
              <a:avLst/>
            </a:prstGeom>
            <a:noFill/>
          </p:spPr>
          <p:txBody>
            <a:bodyPr wrap="square" rtlCol="0">
              <a:spAutoFit/>
            </a:bodyPr>
            <a:lstStyle/>
            <a:p>
              <a:r>
                <a:rPr lang="en-US" dirty="0">
                  <a:solidFill>
                    <a:schemeClr val="accent5"/>
                  </a:solidFill>
                  <a:latin typeface="Arial" panose="020B0604020202020204" pitchFamily="34" charset="0"/>
                  <a:cs typeface="Arial" panose="020B0604020202020204" pitchFamily="34" charset="0"/>
                </a:rPr>
                <a:t>0</a:t>
              </a:r>
            </a:p>
          </p:txBody>
        </p:sp>
        <p:cxnSp>
          <p:nvCxnSpPr>
            <p:cNvPr id="192" name="Straight Connector 191">
              <a:extLst>
                <a:ext uri="{FF2B5EF4-FFF2-40B4-BE49-F238E27FC236}">
                  <a16:creationId xmlns:a16="http://schemas.microsoft.com/office/drawing/2014/main" id="{E6A78D16-BE02-BD45-9E41-BD010955D144}"/>
                </a:ext>
              </a:extLst>
            </p:cNvPr>
            <p:cNvCxnSpPr>
              <a:cxnSpLocks/>
              <a:stCxn id="186" idx="3"/>
            </p:cNvCxnSpPr>
            <p:nvPr/>
          </p:nvCxnSpPr>
          <p:spPr>
            <a:xfrm flipH="1">
              <a:off x="6100887" y="5513743"/>
              <a:ext cx="146373"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93" name="TextBox 192">
              <a:extLst>
                <a:ext uri="{FF2B5EF4-FFF2-40B4-BE49-F238E27FC236}">
                  <a16:creationId xmlns:a16="http://schemas.microsoft.com/office/drawing/2014/main" id="{6C7509F8-5753-5940-B757-6B52BFFA00DE}"/>
                </a:ext>
              </a:extLst>
            </p:cNvPr>
            <p:cNvSpPr txBox="1"/>
            <p:nvPr/>
          </p:nvSpPr>
          <p:spPr>
            <a:xfrm>
              <a:off x="7030000" y="4877952"/>
              <a:ext cx="312906" cy="369332"/>
            </a:xfrm>
            <a:prstGeom prst="rect">
              <a:avLst/>
            </a:prstGeom>
            <a:noFill/>
          </p:spPr>
          <p:txBody>
            <a:bodyPr wrap="none" rtlCol="0">
              <a:spAutoFit/>
            </a:bodyPr>
            <a:lstStyle/>
            <a:p>
              <a:r>
                <a:rPr lang="en-US" dirty="0">
                  <a:solidFill>
                    <a:schemeClr val="accent5"/>
                  </a:solidFill>
                  <a:latin typeface="Arial" panose="020B0604020202020204" pitchFamily="34" charset="0"/>
                  <a:cs typeface="Arial" panose="020B0604020202020204" pitchFamily="34" charset="0"/>
                </a:rPr>
                <a:t>1</a:t>
              </a:r>
            </a:p>
          </p:txBody>
        </p:sp>
        <p:cxnSp>
          <p:nvCxnSpPr>
            <p:cNvPr id="215" name="Straight Connector 214">
              <a:extLst>
                <a:ext uri="{FF2B5EF4-FFF2-40B4-BE49-F238E27FC236}">
                  <a16:creationId xmlns:a16="http://schemas.microsoft.com/office/drawing/2014/main" id="{84767BB0-8104-EE42-8AB8-C747CDD7FAB9}"/>
                </a:ext>
              </a:extLst>
            </p:cNvPr>
            <p:cNvCxnSpPr>
              <a:cxnSpLocks/>
            </p:cNvCxnSpPr>
            <p:nvPr/>
          </p:nvCxnSpPr>
          <p:spPr>
            <a:xfrm>
              <a:off x="7330143" y="5573306"/>
              <a:ext cx="89411"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6" name="Straight Connector 215">
              <a:extLst>
                <a:ext uri="{FF2B5EF4-FFF2-40B4-BE49-F238E27FC236}">
                  <a16:creationId xmlns:a16="http://schemas.microsoft.com/office/drawing/2014/main" id="{598B5DCB-586A-8549-92B9-03CB43FE5192}"/>
                </a:ext>
              </a:extLst>
            </p:cNvPr>
            <p:cNvCxnSpPr>
              <a:cxnSpLocks/>
            </p:cNvCxnSpPr>
            <p:nvPr/>
          </p:nvCxnSpPr>
          <p:spPr>
            <a:xfrm flipH="1">
              <a:off x="6958666" y="5573306"/>
              <a:ext cx="146373"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3" name="Straight Connector 222">
              <a:extLst>
                <a:ext uri="{FF2B5EF4-FFF2-40B4-BE49-F238E27FC236}">
                  <a16:creationId xmlns:a16="http://schemas.microsoft.com/office/drawing/2014/main" id="{3B2A02B2-5F3E-E14C-AFE2-D4689A0A0B20}"/>
                </a:ext>
              </a:extLst>
            </p:cNvPr>
            <p:cNvCxnSpPr>
              <a:cxnSpLocks/>
            </p:cNvCxnSpPr>
            <p:nvPr/>
          </p:nvCxnSpPr>
          <p:spPr>
            <a:xfrm>
              <a:off x="8651024" y="4861403"/>
              <a:ext cx="89411"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4" name="Straight Connector 223">
              <a:extLst>
                <a:ext uri="{FF2B5EF4-FFF2-40B4-BE49-F238E27FC236}">
                  <a16:creationId xmlns:a16="http://schemas.microsoft.com/office/drawing/2014/main" id="{51FA5AB7-480D-E240-BFE5-5A9223C15DAF}"/>
                </a:ext>
              </a:extLst>
            </p:cNvPr>
            <p:cNvCxnSpPr>
              <a:cxnSpLocks/>
            </p:cNvCxnSpPr>
            <p:nvPr/>
          </p:nvCxnSpPr>
          <p:spPr>
            <a:xfrm flipH="1">
              <a:off x="8279329" y="4861403"/>
              <a:ext cx="146373"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873947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61A64-88E3-514F-96E5-EB5877D9729F}"/>
              </a:ext>
            </a:extLst>
          </p:cNvPr>
          <p:cNvSpPr>
            <a:spLocks noGrp="1"/>
          </p:cNvSpPr>
          <p:nvPr>
            <p:ph type="title"/>
          </p:nvPr>
        </p:nvSpPr>
        <p:spPr/>
        <p:txBody>
          <a:bodyPr/>
          <a:lstStyle/>
          <a:p>
            <a:r>
              <a:rPr lang="en-US" dirty="0"/>
              <a:t>Huffman compression</a:t>
            </a:r>
          </a:p>
        </p:txBody>
      </p:sp>
      <p:sp>
        <p:nvSpPr>
          <p:cNvPr id="3" name="Content Placeholder 2">
            <a:extLst>
              <a:ext uri="{FF2B5EF4-FFF2-40B4-BE49-F238E27FC236}">
                <a16:creationId xmlns:a16="http://schemas.microsoft.com/office/drawing/2014/main" id="{B9A27260-ED92-1742-90BD-44C0FED54F03}"/>
              </a:ext>
            </a:extLst>
          </p:cNvPr>
          <p:cNvSpPr>
            <a:spLocks noGrp="1"/>
          </p:cNvSpPr>
          <p:nvPr>
            <p:ph idx="1"/>
          </p:nvPr>
        </p:nvSpPr>
        <p:spPr/>
        <p:txBody>
          <a:bodyPr/>
          <a:lstStyle/>
          <a:p>
            <a:r>
              <a:rPr lang="en-US" dirty="0"/>
              <a:t>Pseudocode for </a:t>
            </a:r>
            <a:r>
              <a:rPr lang="en-US" dirty="0" err="1"/>
              <a:t>trie</a:t>
            </a:r>
            <a:r>
              <a:rPr lang="en-US" dirty="0"/>
              <a:t> node representation</a:t>
            </a:r>
          </a:p>
        </p:txBody>
      </p:sp>
      <p:sp>
        <p:nvSpPr>
          <p:cNvPr id="5" name="TextBox 4">
            <a:extLst>
              <a:ext uri="{FF2B5EF4-FFF2-40B4-BE49-F238E27FC236}">
                <a16:creationId xmlns:a16="http://schemas.microsoft.com/office/drawing/2014/main" id="{BAB095C9-694A-4A41-82BE-8ECAEC37CC0E}"/>
              </a:ext>
            </a:extLst>
          </p:cNvPr>
          <p:cNvSpPr txBox="1"/>
          <p:nvPr/>
        </p:nvSpPr>
        <p:spPr>
          <a:xfrm>
            <a:off x="514866" y="2236309"/>
            <a:ext cx="7220246" cy="3046988"/>
          </a:xfrm>
          <a:prstGeom prst="rect">
            <a:avLst/>
          </a:prstGeom>
          <a:noFill/>
          <a:ln w="28575">
            <a:solidFill>
              <a:schemeClr val="bg1">
                <a:lumMod val="75000"/>
              </a:schemeClr>
            </a:solidFill>
          </a:ln>
        </p:spPr>
        <p:txBody>
          <a:bodyPr wrap="none" rtlCol="0">
            <a:spAutoFit/>
          </a:bodyPr>
          <a:lstStyle/>
          <a:p>
            <a:r>
              <a:rPr lang="en-GB" sz="1600" dirty="0">
                <a:latin typeface="Courier" pitchFamily="2" charset="0"/>
              </a:rPr>
              <a:t>class Node:</a:t>
            </a:r>
          </a:p>
          <a:p>
            <a:r>
              <a:rPr lang="en-GB" sz="1600" dirty="0">
                <a:latin typeface="Courier" pitchFamily="2" charset="0"/>
              </a:rPr>
              <a:t>    def __</a:t>
            </a:r>
            <a:r>
              <a:rPr lang="en-GB" sz="1600" dirty="0" err="1">
                <a:latin typeface="Courier" pitchFamily="2" charset="0"/>
              </a:rPr>
              <a:t>init</a:t>
            </a:r>
            <a:r>
              <a:rPr lang="en-GB" sz="1600" dirty="0">
                <a:latin typeface="Courier" pitchFamily="2" charset="0"/>
              </a:rPr>
              <a:t>__(self, </a:t>
            </a:r>
            <a:r>
              <a:rPr lang="en-GB" sz="1600" dirty="0" err="1">
                <a:latin typeface="Courier" pitchFamily="2" charset="0"/>
              </a:rPr>
              <a:t>ch</a:t>
            </a:r>
            <a:r>
              <a:rPr lang="en-GB" sz="1600" dirty="0">
                <a:latin typeface="Courier" pitchFamily="2" charset="0"/>
              </a:rPr>
              <a:t>, </a:t>
            </a:r>
            <a:r>
              <a:rPr lang="en-GB" sz="1600" dirty="0" err="1">
                <a:latin typeface="Courier" pitchFamily="2" charset="0"/>
              </a:rPr>
              <a:t>freq</a:t>
            </a:r>
            <a:r>
              <a:rPr lang="en-GB" sz="1600" dirty="0">
                <a:latin typeface="Courier" pitchFamily="2" charset="0"/>
              </a:rPr>
              <a:t>, left, right): </a:t>
            </a:r>
          </a:p>
          <a:p>
            <a:r>
              <a:rPr lang="en-GB" sz="1600" dirty="0">
                <a:latin typeface="Courier" pitchFamily="2" charset="0"/>
              </a:rPr>
              <a:t>        </a:t>
            </a:r>
            <a:r>
              <a:rPr lang="en-GB" sz="1600" dirty="0" err="1">
                <a:latin typeface="Courier" pitchFamily="2" charset="0"/>
              </a:rPr>
              <a:t>self.ch</a:t>
            </a:r>
            <a:r>
              <a:rPr lang="en-GB" sz="1600" dirty="0">
                <a:latin typeface="Courier" pitchFamily="2" charset="0"/>
              </a:rPr>
              <a:t> = </a:t>
            </a:r>
            <a:r>
              <a:rPr lang="en-GB" sz="1600" dirty="0" err="1">
                <a:latin typeface="Courier" pitchFamily="2" charset="0"/>
              </a:rPr>
              <a:t>ch</a:t>
            </a:r>
            <a:endParaRPr lang="en-GB" sz="1600" dirty="0">
              <a:latin typeface="Courier" pitchFamily="2" charset="0"/>
            </a:endParaRPr>
          </a:p>
          <a:p>
            <a:r>
              <a:rPr lang="en-GB" sz="1600" dirty="0">
                <a:latin typeface="Courier" pitchFamily="2" charset="0"/>
              </a:rPr>
              <a:t>        </a:t>
            </a:r>
            <a:r>
              <a:rPr lang="en-GB" sz="1600" dirty="0" err="1">
                <a:latin typeface="Courier" pitchFamily="2" charset="0"/>
              </a:rPr>
              <a:t>self.freq</a:t>
            </a:r>
            <a:r>
              <a:rPr lang="en-GB" sz="1600" dirty="0">
                <a:latin typeface="Courier" pitchFamily="2" charset="0"/>
              </a:rPr>
              <a:t> = </a:t>
            </a:r>
            <a:r>
              <a:rPr lang="en-GB" sz="1600" dirty="0" err="1">
                <a:latin typeface="Courier" pitchFamily="2" charset="0"/>
              </a:rPr>
              <a:t>freq</a:t>
            </a:r>
            <a:endParaRPr lang="en-GB" sz="1600" dirty="0">
              <a:latin typeface="Courier" pitchFamily="2" charset="0"/>
            </a:endParaRPr>
          </a:p>
          <a:p>
            <a:r>
              <a:rPr lang="en-GB" sz="1600" dirty="0">
                <a:latin typeface="Courier" pitchFamily="2" charset="0"/>
              </a:rPr>
              <a:t>        </a:t>
            </a:r>
            <a:r>
              <a:rPr lang="en-GB" sz="1600" dirty="0" err="1">
                <a:latin typeface="Courier" pitchFamily="2" charset="0"/>
              </a:rPr>
              <a:t>self.left</a:t>
            </a:r>
            <a:r>
              <a:rPr lang="en-GB" sz="1600" dirty="0">
                <a:latin typeface="Courier" pitchFamily="2" charset="0"/>
              </a:rPr>
              <a:t> = left</a:t>
            </a:r>
          </a:p>
          <a:p>
            <a:r>
              <a:rPr lang="en-GB" sz="1600" dirty="0">
                <a:latin typeface="Courier" pitchFamily="2" charset="0"/>
              </a:rPr>
              <a:t>        </a:t>
            </a:r>
            <a:r>
              <a:rPr lang="en-GB" sz="1600" dirty="0" err="1">
                <a:latin typeface="Courier" pitchFamily="2" charset="0"/>
              </a:rPr>
              <a:t>self.right</a:t>
            </a:r>
            <a:r>
              <a:rPr lang="en-GB" sz="1600" dirty="0">
                <a:latin typeface="Courier" pitchFamily="2" charset="0"/>
              </a:rPr>
              <a:t> = right</a:t>
            </a:r>
          </a:p>
          <a:p>
            <a:endParaRPr lang="en-GB" sz="1600" dirty="0">
              <a:latin typeface="Courier" pitchFamily="2" charset="0"/>
            </a:endParaRPr>
          </a:p>
          <a:p>
            <a:r>
              <a:rPr lang="en-GB" sz="1600" dirty="0">
                <a:latin typeface="Courier" pitchFamily="2" charset="0"/>
              </a:rPr>
              <a:t>    def </a:t>
            </a:r>
            <a:r>
              <a:rPr lang="en-GB" sz="1600" dirty="0" err="1">
                <a:latin typeface="Courier" pitchFamily="2" charset="0"/>
              </a:rPr>
              <a:t>isLeaf</a:t>
            </a:r>
            <a:r>
              <a:rPr lang="en-GB" sz="1600" dirty="0">
                <a:latin typeface="Courier" pitchFamily="2" charset="0"/>
              </a:rPr>
              <a:t>(self):</a:t>
            </a:r>
          </a:p>
          <a:p>
            <a:r>
              <a:rPr lang="en-GB" sz="1600" dirty="0">
                <a:latin typeface="Courier" pitchFamily="2" charset="0"/>
              </a:rPr>
              <a:t>        return (</a:t>
            </a:r>
            <a:r>
              <a:rPr lang="en-GB" sz="1600" dirty="0" err="1">
                <a:latin typeface="Courier" pitchFamily="2" charset="0"/>
              </a:rPr>
              <a:t>self.left</a:t>
            </a:r>
            <a:r>
              <a:rPr lang="en-GB" sz="1600" dirty="0">
                <a:latin typeface="Courier" pitchFamily="2" charset="0"/>
              </a:rPr>
              <a:t> == None and </a:t>
            </a:r>
            <a:r>
              <a:rPr lang="en-GB" sz="1600" dirty="0" err="1">
                <a:latin typeface="Courier" pitchFamily="2" charset="0"/>
              </a:rPr>
              <a:t>self.right</a:t>
            </a:r>
            <a:r>
              <a:rPr lang="en-GB" sz="1600" dirty="0">
                <a:latin typeface="Courier" pitchFamily="2" charset="0"/>
              </a:rPr>
              <a:t> == None)</a:t>
            </a:r>
          </a:p>
          <a:p>
            <a:endParaRPr lang="en-GB" sz="1600" dirty="0">
              <a:latin typeface="Courier" pitchFamily="2" charset="0"/>
            </a:endParaRPr>
          </a:p>
          <a:p>
            <a:r>
              <a:rPr lang="en-GB" sz="1600" dirty="0">
                <a:latin typeface="Courier" pitchFamily="2" charset="0"/>
              </a:rPr>
              <a:t>    def </a:t>
            </a:r>
            <a:r>
              <a:rPr lang="en-GB" sz="1600" dirty="0" err="1">
                <a:latin typeface="Courier" pitchFamily="2" charset="0"/>
              </a:rPr>
              <a:t>compareTo</a:t>
            </a:r>
            <a:r>
              <a:rPr lang="en-GB" sz="1600" dirty="0">
                <a:latin typeface="Courier" pitchFamily="2" charset="0"/>
              </a:rPr>
              <a:t>(self, </a:t>
            </a:r>
            <a:r>
              <a:rPr lang="en-GB" sz="1600" dirty="0" err="1">
                <a:latin typeface="Courier" pitchFamily="2" charset="0"/>
              </a:rPr>
              <a:t>otherNode</a:t>
            </a:r>
            <a:r>
              <a:rPr lang="en-GB" sz="1600" dirty="0">
                <a:latin typeface="Courier" pitchFamily="2" charset="0"/>
              </a:rPr>
              <a:t>):</a:t>
            </a:r>
          </a:p>
          <a:p>
            <a:r>
              <a:rPr lang="en-GB" sz="1600" dirty="0">
                <a:latin typeface="Courier" pitchFamily="2" charset="0"/>
              </a:rPr>
              <a:t>        return </a:t>
            </a:r>
            <a:r>
              <a:rPr lang="en-GB" sz="1600" dirty="0" err="1">
                <a:latin typeface="Courier" pitchFamily="2" charset="0"/>
              </a:rPr>
              <a:t>self.freq</a:t>
            </a:r>
            <a:r>
              <a:rPr lang="en-GB" sz="1600" dirty="0">
                <a:latin typeface="Courier" pitchFamily="2" charset="0"/>
              </a:rPr>
              <a:t> – </a:t>
            </a:r>
            <a:r>
              <a:rPr lang="en-GB" sz="1600" dirty="0" err="1">
                <a:latin typeface="Courier" pitchFamily="2" charset="0"/>
              </a:rPr>
              <a:t>otherNode.freq</a:t>
            </a:r>
            <a:endParaRPr lang="en-GB" sz="1600" dirty="0">
              <a:latin typeface="Courier" pitchFamily="2" charset="0"/>
            </a:endParaRPr>
          </a:p>
        </p:txBody>
      </p:sp>
    </p:spTree>
    <p:extLst>
      <p:ext uri="{BB962C8B-B14F-4D97-AF65-F5344CB8AC3E}">
        <p14:creationId xmlns:p14="http://schemas.microsoft.com/office/powerpoint/2010/main" val="35058341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61A64-88E3-514F-96E5-EB5877D9729F}"/>
              </a:ext>
            </a:extLst>
          </p:cNvPr>
          <p:cNvSpPr>
            <a:spLocks noGrp="1"/>
          </p:cNvSpPr>
          <p:nvPr>
            <p:ph type="title"/>
          </p:nvPr>
        </p:nvSpPr>
        <p:spPr/>
        <p:txBody>
          <a:bodyPr/>
          <a:lstStyle/>
          <a:p>
            <a:r>
              <a:rPr lang="en-US" dirty="0"/>
              <a:t>Huffman compression</a:t>
            </a:r>
          </a:p>
        </p:txBody>
      </p:sp>
      <p:sp>
        <p:nvSpPr>
          <p:cNvPr id="3" name="Content Placeholder 2">
            <a:extLst>
              <a:ext uri="{FF2B5EF4-FFF2-40B4-BE49-F238E27FC236}">
                <a16:creationId xmlns:a16="http://schemas.microsoft.com/office/drawing/2014/main" id="{B9A27260-ED92-1742-90BD-44C0FED54F03}"/>
              </a:ext>
            </a:extLst>
          </p:cNvPr>
          <p:cNvSpPr>
            <a:spLocks noGrp="1"/>
          </p:cNvSpPr>
          <p:nvPr>
            <p:ph idx="1"/>
          </p:nvPr>
        </p:nvSpPr>
        <p:spPr/>
        <p:txBody>
          <a:bodyPr/>
          <a:lstStyle/>
          <a:p>
            <a:r>
              <a:rPr lang="en-US" dirty="0">
                <a:highlight>
                  <a:srgbClr val="C0C0C0"/>
                </a:highlight>
              </a:rPr>
              <a:t>How-to:</a:t>
            </a:r>
            <a:r>
              <a:rPr lang="en-US" dirty="0"/>
              <a:t> expansion. Upon receiving bit-stream </a:t>
            </a:r>
            <a:r>
              <a:rPr lang="en-US" i="1" dirty="0"/>
              <a:t>C(B), </a:t>
            </a:r>
            <a:r>
              <a:rPr lang="en-US" dirty="0"/>
              <a:t>reconstruct the original message </a:t>
            </a:r>
            <a:r>
              <a:rPr lang="en-US" i="1" dirty="0"/>
              <a:t>B</a:t>
            </a:r>
            <a:r>
              <a:rPr lang="en-US" dirty="0"/>
              <a:t>:</a:t>
            </a:r>
          </a:p>
          <a:p>
            <a:pPr lvl="1"/>
            <a:r>
              <a:rPr lang="en-US" dirty="0"/>
              <a:t>Start at the root of the </a:t>
            </a:r>
            <a:r>
              <a:rPr lang="en-US" dirty="0" err="1"/>
              <a:t>trie</a:t>
            </a:r>
            <a:r>
              <a:rPr lang="en-US" dirty="0"/>
              <a:t> and read one bit from the input stream at a time</a:t>
            </a:r>
          </a:p>
          <a:p>
            <a:pPr lvl="1"/>
            <a:r>
              <a:rPr lang="en-US" dirty="0"/>
              <a:t>Go left if bit is 0, go right if 1</a:t>
            </a:r>
          </a:p>
          <a:p>
            <a:pPr lvl="1"/>
            <a:r>
              <a:rPr lang="en-US" dirty="0"/>
              <a:t>Once on a leaf, emit corresponding key and restart the root</a:t>
            </a:r>
          </a:p>
        </p:txBody>
      </p:sp>
    </p:spTree>
    <p:extLst>
      <p:ext uri="{BB962C8B-B14F-4D97-AF65-F5344CB8AC3E}">
        <p14:creationId xmlns:p14="http://schemas.microsoft.com/office/powerpoint/2010/main" val="3266365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61A64-88E3-514F-96E5-EB5877D9729F}"/>
              </a:ext>
            </a:extLst>
          </p:cNvPr>
          <p:cNvSpPr>
            <a:spLocks noGrp="1"/>
          </p:cNvSpPr>
          <p:nvPr>
            <p:ph type="title"/>
          </p:nvPr>
        </p:nvSpPr>
        <p:spPr/>
        <p:txBody>
          <a:bodyPr/>
          <a:lstStyle/>
          <a:p>
            <a:r>
              <a:rPr lang="en-US" dirty="0"/>
              <a:t>Huffman compression</a:t>
            </a:r>
          </a:p>
        </p:txBody>
      </p:sp>
      <p:sp>
        <p:nvSpPr>
          <p:cNvPr id="3" name="Content Placeholder 2">
            <a:extLst>
              <a:ext uri="{FF2B5EF4-FFF2-40B4-BE49-F238E27FC236}">
                <a16:creationId xmlns:a16="http://schemas.microsoft.com/office/drawing/2014/main" id="{B9A27260-ED92-1742-90BD-44C0FED54F03}"/>
              </a:ext>
            </a:extLst>
          </p:cNvPr>
          <p:cNvSpPr>
            <a:spLocks noGrp="1"/>
          </p:cNvSpPr>
          <p:nvPr>
            <p:ph idx="1"/>
          </p:nvPr>
        </p:nvSpPr>
        <p:spPr/>
        <p:txBody>
          <a:bodyPr>
            <a:normAutofit lnSpcReduction="10000"/>
          </a:bodyPr>
          <a:lstStyle/>
          <a:p>
            <a:r>
              <a:rPr lang="en-US" dirty="0"/>
              <a:t>Pseudocode for expansion</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Cost ~ </a:t>
            </a:r>
            <a:r>
              <a:rPr lang="en-US" i="1" dirty="0"/>
              <a:t>N</a:t>
            </a:r>
            <a:r>
              <a:rPr lang="en-US" dirty="0"/>
              <a:t> </a:t>
            </a:r>
          </a:p>
        </p:txBody>
      </p:sp>
      <p:sp>
        <p:nvSpPr>
          <p:cNvPr id="4" name="TextBox 3">
            <a:extLst>
              <a:ext uri="{FF2B5EF4-FFF2-40B4-BE49-F238E27FC236}">
                <a16:creationId xmlns:a16="http://schemas.microsoft.com/office/drawing/2014/main" id="{F53B73D9-2289-3945-8133-DB36D598B2E5}"/>
              </a:ext>
            </a:extLst>
          </p:cNvPr>
          <p:cNvSpPr txBox="1"/>
          <p:nvPr/>
        </p:nvSpPr>
        <p:spPr>
          <a:xfrm>
            <a:off x="514866" y="2042684"/>
            <a:ext cx="5739072" cy="3539430"/>
          </a:xfrm>
          <a:prstGeom prst="rect">
            <a:avLst/>
          </a:prstGeom>
          <a:noFill/>
          <a:ln w="28575">
            <a:solidFill>
              <a:schemeClr val="bg1">
                <a:lumMod val="75000"/>
              </a:schemeClr>
            </a:solidFill>
          </a:ln>
        </p:spPr>
        <p:txBody>
          <a:bodyPr wrap="none" rtlCol="0">
            <a:spAutoFit/>
          </a:bodyPr>
          <a:lstStyle/>
          <a:p>
            <a:r>
              <a:rPr lang="en-US" sz="1600" dirty="0">
                <a:latin typeface="Courier" pitchFamily="2" charset="0"/>
              </a:rPr>
              <a:t>def expand():</a:t>
            </a:r>
          </a:p>
          <a:p>
            <a:endParaRPr lang="en-US" sz="1600" dirty="0">
              <a:latin typeface="Courier" pitchFamily="2" charset="0"/>
            </a:endParaRPr>
          </a:p>
          <a:p>
            <a:r>
              <a:rPr lang="en-US" sz="1600" dirty="0">
                <a:latin typeface="Courier" pitchFamily="2" charset="0"/>
              </a:rPr>
              <a:t>    </a:t>
            </a:r>
            <a:r>
              <a:rPr lang="en-US" sz="1600" dirty="0">
                <a:solidFill>
                  <a:srgbClr val="C00000"/>
                </a:solidFill>
                <a:latin typeface="Courier" pitchFamily="2" charset="0"/>
              </a:rPr>
              <a:t>root = </a:t>
            </a:r>
            <a:r>
              <a:rPr lang="en-US" sz="1600" dirty="0" err="1">
                <a:solidFill>
                  <a:srgbClr val="C00000"/>
                </a:solidFill>
                <a:latin typeface="Courier" pitchFamily="2" charset="0"/>
              </a:rPr>
              <a:t>readTrie</a:t>
            </a:r>
            <a:r>
              <a:rPr lang="en-US" sz="1600" dirty="0">
                <a:solidFill>
                  <a:srgbClr val="C00000"/>
                </a:solidFill>
                <a:latin typeface="Courier" pitchFamily="2" charset="0"/>
              </a:rPr>
              <a:t>()</a:t>
            </a:r>
          </a:p>
          <a:p>
            <a:r>
              <a:rPr lang="en-US" sz="1600" dirty="0">
                <a:latin typeface="Courier" pitchFamily="2" charset="0"/>
              </a:rPr>
              <a:t>    N = </a:t>
            </a:r>
            <a:r>
              <a:rPr lang="en-US" sz="1600" dirty="0" err="1">
                <a:latin typeface="Courier" pitchFamily="2" charset="0"/>
              </a:rPr>
              <a:t>BinaryStdIn.readInt</a:t>
            </a:r>
            <a:r>
              <a:rPr lang="en-US" sz="1600" dirty="0">
                <a:latin typeface="Courier" pitchFamily="2" charset="0"/>
              </a:rPr>
              <a:t>()</a:t>
            </a:r>
          </a:p>
          <a:p>
            <a:endParaRPr lang="en-US" sz="1600" dirty="0">
              <a:latin typeface="Courier" pitchFamily="2" charset="0"/>
            </a:endParaRPr>
          </a:p>
          <a:p>
            <a:r>
              <a:rPr lang="en-US" sz="1600" dirty="0">
                <a:latin typeface="Courier" pitchFamily="2" charset="0"/>
              </a:rPr>
              <a:t>    for </a:t>
            </a:r>
            <a:r>
              <a:rPr lang="en-US" sz="1600" dirty="0" err="1">
                <a:latin typeface="Courier" pitchFamily="2" charset="0"/>
              </a:rPr>
              <a:t>i</a:t>
            </a:r>
            <a:r>
              <a:rPr lang="en-US" sz="1600" dirty="0">
                <a:latin typeface="Courier" pitchFamily="2" charset="0"/>
              </a:rPr>
              <a:t> in range (0, N):</a:t>
            </a:r>
          </a:p>
          <a:p>
            <a:r>
              <a:rPr lang="en-US" sz="1600" dirty="0">
                <a:latin typeface="Courier" pitchFamily="2" charset="0"/>
              </a:rPr>
              <a:t>        x = root</a:t>
            </a:r>
          </a:p>
          <a:p>
            <a:r>
              <a:rPr lang="en-US" sz="1600" dirty="0">
                <a:latin typeface="Courier" pitchFamily="2" charset="0"/>
              </a:rPr>
              <a:t>        while (!</a:t>
            </a:r>
            <a:r>
              <a:rPr lang="en-US" sz="1600" dirty="0" err="1">
                <a:latin typeface="Courier" pitchFamily="2" charset="0"/>
              </a:rPr>
              <a:t>x.isLeaf</a:t>
            </a:r>
            <a:r>
              <a:rPr lang="en-US" sz="1600" dirty="0">
                <a:latin typeface="Courier" pitchFamily="2" charset="0"/>
              </a:rPr>
              <a:t>()):</a:t>
            </a:r>
          </a:p>
          <a:p>
            <a:r>
              <a:rPr lang="en-US" sz="1600" dirty="0">
                <a:latin typeface="Courier" pitchFamily="2" charset="0"/>
              </a:rPr>
              <a:t>            if (!</a:t>
            </a:r>
            <a:r>
              <a:rPr lang="en-US" sz="1600" dirty="0" err="1">
                <a:latin typeface="Courier" pitchFamily="2" charset="0"/>
              </a:rPr>
              <a:t>BinaryStdIn.readBoolean</a:t>
            </a:r>
            <a:r>
              <a:rPr lang="en-US" sz="1600" dirty="0">
                <a:latin typeface="Courier" pitchFamily="2" charset="0"/>
              </a:rPr>
              <a:t>()): </a:t>
            </a:r>
          </a:p>
          <a:p>
            <a:r>
              <a:rPr lang="en-US" sz="1600" dirty="0">
                <a:latin typeface="Courier" pitchFamily="2" charset="0"/>
              </a:rPr>
              <a:t>                x = </a:t>
            </a:r>
            <a:r>
              <a:rPr lang="en-US" sz="1600" dirty="0" err="1">
                <a:latin typeface="Courier" pitchFamily="2" charset="0"/>
              </a:rPr>
              <a:t>x.left</a:t>
            </a:r>
            <a:endParaRPr lang="en-US" sz="1600" dirty="0">
              <a:latin typeface="Courier" pitchFamily="2" charset="0"/>
            </a:endParaRPr>
          </a:p>
          <a:p>
            <a:r>
              <a:rPr lang="en-US" sz="1600" dirty="0">
                <a:latin typeface="Courier" pitchFamily="2" charset="0"/>
              </a:rPr>
              <a:t>            else:</a:t>
            </a:r>
          </a:p>
          <a:p>
            <a:r>
              <a:rPr lang="en-US" sz="1600" dirty="0">
                <a:latin typeface="Courier" pitchFamily="2" charset="0"/>
              </a:rPr>
              <a:t>                x = </a:t>
            </a:r>
            <a:r>
              <a:rPr lang="en-US" sz="1600" dirty="0" err="1">
                <a:latin typeface="Courier" pitchFamily="2" charset="0"/>
              </a:rPr>
              <a:t>x.right</a:t>
            </a:r>
            <a:endParaRPr lang="en-US" sz="1600" dirty="0">
              <a:latin typeface="Courier" pitchFamily="2" charset="0"/>
            </a:endParaRPr>
          </a:p>
          <a:p>
            <a:endParaRPr lang="en-US" sz="1600" dirty="0">
              <a:latin typeface="Courier" pitchFamily="2" charset="0"/>
            </a:endParaRPr>
          </a:p>
          <a:p>
            <a:r>
              <a:rPr lang="en-US" sz="1600" dirty="0">
                <a:latin typeface="Courier" pitchFamily="2" charset="0"/>
              </a:rPr>
              <a:t>        </a:t>
            </a:r>
            <a:r>
              <a:rPr lang="en-US" sz="1600" dirty="0" err="1">
                <a:latin typeface="Courier" pitchFamily="2" charset="0"/>
              </a:rPr>
              <a:t>BinaryStdOut.write</a:t>
            </a:r>
            <a:r>
              <a:rPr lang="en-US" sz="1600" dirty="0">
                <a:latin typeface="Courier" pitchFamily="2" charset="0"/>
              </a:rPr>
              <a:t>(</a:t>
            </a:r>
            <a:r>
              <a:rPr lang="en-US" sz="1600" dirty="0" err="1">
                <a:latin typeface="Courier" pitchFamily="2" charset="0"/>
              </a:rPr>
              <a:t>x.ch</a:t>
            </a:r>
            <a:r>
              <a:rPr lang="en-US" sz="1600" dirty="0">
                <a:latin typeface="Courier" pitchFamily="2" charset="0"/>
              </a:rPr>
              <a:t>, 8);</a:t>
            </a:r>
          </a:p>
        </p:txBody>
      </p:sp>
    </p:spTree>
    <p:extLst>
      <p:ext uri="{BB962C8B-B14F-4D97-AF65-F5344CB8AC3E}">
        <p14:creationId xmlns:p14="http://schemas.microsoft.com/office/powerpoint/2010/main" val="41159516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61A64-88E3-514F-96E5-EB5877D9729F}"/>
              </a:ext>
            </a:extLst>
          </p:cNvPr>
          <p:cNvSpPr>
            <a:spLocks noGrp="1"/>
          </p:cNvSpPr>
          <p:nvPr>
            <p:ph type="title"/>
          </p:nvPr>
        </p:nvSpPr>
        <p:spPr/>
        <p:txBody>
          <a:bodyPr/>
          <a:lstStyle/>
          <a:p>
            <a:r>
              <a:rPr lang="en-US" dirty="0"/>
              <a:t>Huffman compression</a:t>
            </a:r>
          </a:p>
        </p:txBody>
      </p:sp>
      <p:sp>
        <p:nvSpPr>
          <p:cNvPr id="3" name="Content Placeholder 2">
            <a:extLst>
              <a:ext uri="{FF2B5EF4-FFF2-40B4-BE49-F238E27FC236}">
                <a16:creationId xmlns:a16="http://schemas.microsoft.com/office/drawing/2014/main" id="{B9A27260-ED92-1742-90BD-44C0FED54F03}"/>
              </a:ext>
            </a:extLst>
          </p:cNvPr>
          <p:cNvSpPr>
            <a:spLocks noGrp="1"/>
          </p:cNvSpPr>
          <p:nvPr>
            <p:ph idx="1"/>
          </p:nvPr>
        </p:nvSpPr>
        <p:spPr/>
        <p:txBody>
          <a:bodyPr/>
          <a:lstStyle/>
          <a:p>
            <a:r>
              <a:rPr lang="en-US" dirty="0">
                <a:highlight>
                  <a:srgbClr val="C0C0C0"/>
                </a:highlight>
              </a:rPr>
              <a:t>How-to:</a:t>
            </a:r>
            <a:r>
              <a:rPr lang="en-US" dirty="0">
                <a:solidFill>
                  <a:schemeClr val="accent5"/>
                </a:solidFill>
              </a:rPr>
              <a:t> </a:t>
            </a:r>
            <a:r>
              <a:rPr lang="en-US" dirty="0"/>
              <a:t>compression</a:t>
            </a:r>
          </a:p>
          <a:p>
            <a:pPr lvl="1"/>
            <a:r>
              <a:rPr lang="en-US" dirty="0" err="1"/>
              <a:t>Trie</a:t>
            </a:r>
            <a:r>
              <a:rPr lang="en-US" dirty="0"/>
              <a:t> construction </a:t>
            </a:r>
          </a:p>
          <a:p>
            <a:pPr lvl="1"/>
            <a:r>
              <a:rPr lang="en-US" dirty="0" err="1"/>
              <a:t>Trie</a:t>
            </a:r>
            <a:r>
              <a:rPr lang="en-US" dirty="0"/>
              <a:t> transmission</a:t>
            </a:r>
          </a:p>
          <a:p>
            <a:pPr lvl="1"/>
            <a:r>
              <a:rPr lang="en-US" dirty="0"/>
              <a:t>Build an encoding table and use it (lookup) to compress</a:t>
            </a:r>
          </a:p>
          <a:p>
            <a:endParaRPr lang="en-US" dirty="0"/>
          </a:p>
        </p:txBody>
      </p:sp>
    </p:spTree>
    <p:extLst>
      <p:ext uri="{BB962C8B-B14F-4D97-AF65-F5344CB8AC3E}">
        <p14:creationId xmlns:p14="http://schemas.microsoft.com/office/powerpoint/2010/main" val="30271384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61A64-88E3-514F-96E5-EB5877D9729F}"/>
              </a:ext>
            </a:extLst>
          </p:cNvPr>
          <p:cNvSpPr>
            <a:spLocks noGrp="1"/>
          </p:cNvSpPr>
          <p:nvPr>
            <p:ph type="title"/>
          </p:nvPr>
        </p:nvSpPr>
        <p:spPr/>
        <p:txBody>
          <a:bodyPr/>
          <a:lstStyle/>
          <a:p>
            <a:r>
              <a:rPr lang="en-US" dirty="0"/>
              <a:t>Huffman compression</a:t>
            </a:r>
          </a:p>
        </p:txBody>
      </p:sp>
      <p:sp>
        <p:nvSpPr>
          <p:cNvPr id="3" name="Content Placeholder 2">
            <a:extLst>
              <a:ext uri="{FF2B5EF4-FFF2-40B4-BE49-F238E27FC236}">
                <a16:creationId xmlns:a16="http://schemas.microsoft.com/office/drawing/2014/main" id="{B9A27260-ED92-1742-90BD-44C0FED54F03}"/>
              </a:ext>
            </a:extLst>
          </p:cNvPr>
          <p:cNvSpPr>
            <a:spLocks noGrp="1"/>
          </p:cNvSpPr>
          <p:nvPr>
            <p:ph idx="1"/>
          </p:nvPr>
        </p:nvSpPr>
        <p:spPr/>
        <p:txBody>
          <a:bodyPr/>
          <a:lstStyle/>
          <a:p>
            <a:r>
              <a:rPr lang="en-US" dirty="0">
                <a:highlight>
                  <a:srgbClr val="C0C0C0"/>
                </a:highlight>
              </a:rPr>
              <a:t>How-to:</a:t>
            </a:r>
            <a:r>
              <a:rPr lang="en-US" dirty="0">
                <a:solidFill>
                  <a:schemeClr val="accent5"/>
                </a:solidFill>
              </a:rPr>
              <a:t> </a:t>
            </a:r>
            <a:r>
              <a:rPr lang="en-US" dirty="0"/>
              <a:t>compression</a:t>
            </a:r>
          </a:p>
          <a:p>
            <a:pPr lvl="1"/>
            <a:r>
              <a:rPr lang="en-US" dirty="0" err="1"/>
              <a:t>Trie</a:t>
            </a:r>
            <a:r>
              <a:rPr lang="en-US" dirty="0"/>
              <a:t> construction </a:t>
            </a:r>
          </a:p>
          <a:p>
            <a:pPr lvl="1"/>
            <a:r>
              <a:rPr lang="en-US" dirty="0" err="1">
                <a:solidFill>
                  <a:schemeClr val="bg1">
                    <a:lumMod val="75000"/>
                  </a:schemeClr>
                </a:solidFill>
              </a:rPr>
              <a:t>Trie</a:t>
            </a:r>
            <a:r>
              <a:rPr lang="en-US" dirty="0">
                <a:solidFill>
                  <a:schemeClr val="bg1">
                    <a:lumMod val="75000"/>
                  </a:schemeClr>
                </a:solidFill>
              </a:rPr>
              <a:t> transmission</a:t>
            </a:r>
          </a:p>
          <a:p>
            <a:pPr lvl="1"/>
            <a:r>
              <a:rPr lang="en-US" dirty="0">
                <a:solidFill>
                  <a:schemeClr val="bg1">
                    <a:lumMod val="75000"/>
                  </a:schemeClr>
                </a:solidFill>
              </a:rPr>
              <a:t>Build an encoding table and use it (lookup) to compress</a:t>
            </a:r>
          </a:p>
          <a:p>
            <a:pPr lvl="1"/>
            <a:endParaRPr lang="en-US" dirty="0">
              <a:solidFill>
                <a:schemeClr val="bg1">
                  <a:lumMod val="75000"/>
                </a:schemeClr>
              </a:solidFill>
            </a:endParaRPr>
          </a:p>
          <a:p>
            <a:endParaRPr lang="en-US" dirty="0"/>
          </a:p>
        </p:txBody>
      </p:sp>
    </p:spTree>
    <p:extLst>
      <p:ext uri="{BB962C8B-B14F-4D97-AF65-F5344CB8AC3E}">
        <p14:creationId xmlns:p14="http://schemas.microsoft.com/office/powerpoint/2010/main" val="34500675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61A64-88E3-514F-96E5-EB5877D9729F}"/>
              </a:ext>
            </a:extLst>
          </p:cNvPr>
          <p:cNvSpPr>
            <a:spLocks noGrp="1"/>
          </p:cNvSpPr>
          <p:nvPr>
            <p:ph type="title"/>
          </p:nvPr>
        </p:nvSpPr>
        <p:spPr/>
        <p:txBody>
          <a:bodyPr/>
          <a:lstStyle/>
          <a:p>
            <a:r>
              <a:rPr lang="en-US" dirty="0"/>
              <a:t>Huffman compression</a:t>
            </a:r>
          </a:p>
        </p:txBody>
      </p:sp>
      <p:sp>
        <p:nvSpPr>
          <p:cNvPr id="3" name="Content Placeholder 2">
            <a:extLst>
              <a:ext uri="{FF2B5EF4-FFF2-40B4-BE49-F238E27FC236}">
                <a16:creationId xmlns:a16="http://schemas.microsoft.com/office/drawing/2014/main" id="{B9A27260-ED92-1742-90BD-44C0FED54F03}"/>
              </a:ext>
            </a:extLst>
          </p:cNvPr>
          <p:cNvSpPr>
            <a:spLocks noGrp="1"/>
          </p:cNvSpPr>
          <p:nvPr>
            <p:ph idx="1"/>
          </p:nvPr>
        </p:nvSpPr>
        <p:spPr/>
        <p:txBody>
          <a:bodyPr/>
          <a:lstStyle/>
          <a:p>
            <a:r>
              <a:rPr lang="en-US" dirty="0" err="1"/>
              <a:t>Trie</a:t>
            </a:r>
            <a:r>
              <a:rPr lang="en-US" dirty="0"/>
              <a:t> construction </a:t>
            </a:r>
          </a:p>
          <a:p>
            <a:pPr lvl="1"/>
            <a:r>
              <a:rPr lang="en-US" dirty="0"/>
              <a:t>Goal: length of encoding proportional to char frequency in </a:t>
            </a:r>
            <a:r>
              <a:rPr lang="en-US" i="1" dirty="0"/>
              <a:t>B</a:t>
            </a:r>
            <a:r>
              <a:rPr lang="en-US" dirty="0"/>
              <a:t> (the more frequent the char, the shorter the encoding)</a:t>
            </a:r>
          </a:p>
          <a:p>
            <a:pPr lvl="1"/>
            <a:endParaRPr lang="en-US" dirty="0"/>
          </a:p>
          <a:p>
            <a:r>
              <a:rPr lang="en-US" dirty="0">
                <a:solidFill>
                  <a:schemeClr val="accent5"/>
                </a:solidFill>
              </a:rPr>
              <a:t>Huffman algorithm</a:t>
            </a:r>
            <a:r>
              <a:rPr lang="en-US" dirty="0"/>
              <a:t>:</a:t>
            </a:r>
          </a:p>
          <a:p>
            <a:pPr lvl="1"/>
            <a:r>
              <a:rPr lang="en-US" dirty="0"/>
              <a:t>count frequency </a:t>
            </a:r>
            <a:r>
              <a:rPr lang="en-US" dirty="0" err="1">
                <a:latin typeface="Courier" pitchFamily="2" charset="0"/>
              </a:rPr>
              <a:t>freq</a:t>
            </a:r>
            <a:r>
              <a:rPr lang="en-US" dirty="0">
                <a:latin typeface="Courier" pitchFamily="2" charset="0"/>
              </a:rPr>
              <a:t>[</a:t>
            </a:r>
            <a:r>
              <a:rPr lang="en-US" dirty="0" err="1">
                <a:latin typeface="Courier" pitchFamily="2" charset="0"/>
              </a:rPr>
              <a:t>i</a:t>
            </a:r>
            <a:r>
              <a:rPr lang="en-US" dirty="0">
                <a:latin typeface="Courier" pitchFamily="2" charset="0"/>
              </a:rPr>
              <a:t>]</a:t>
            </a:r>
            <a:r>
              <a:rPr lang="en-US" dirty="0"/>
              <a:t> for each char </a:t>
            </a:r>
            <a:r>
              <a:rPr lang="en-US" dirty="0" err="1">
                <a:latin typeface="Courier" pitchFamily="2" charset="0"/>
              </a:rPr>
              <a:t>i</a:t>
            </a:r>
            <a:r>
              <a:rPr lang="en-US" dirty="0"/>
              <a:t> in input</a:t>
            </a:r>
          </a:p>
          <a:p>
            <a:pPr lvl="1"/>
            <a:r>
              <a:rPr lang="en-US" dirty="0"/>
              <a:t>create a node for each char </a:t>
            </a:r>
            <a:r>
              <a:rPr lang="en-US" dirty="0" err="1">
                <a:latin typeface="Courier" pitchFamily="2" charset="0"/>
              </a:rPr>
              <a:t>i</a:t>
            </a:r>
            <a:r>
              <a:rPr lang="en-US" dirty="0"/>
              <a:t> and assign weight = </a:t>
            </a:r>
            <a:r>
              <a:rPr lang="en-US" dirty="0" err="1">
                <a:latin typeface="Courier" pitchFamily="2" charset="0"/>
              </a:rPr>
              <a:t>freq</a:t>
            </a:r>
            <a:r>
              <a:rPr lang="en-US" dirty="0">
                <a:latin typeface="Courier" pitchFamily="2" charset="0"/>
              </a:rPr>
              <a:t>[</a:t>
            </a:r>
            <a:r>
              <a:rPr lang="en-US" dirty="0" err="1">
                <a:latin typeface="Courier" pitchFamily="2" charset="0"/>
              </a:rPr>
              <a:t>i</a:t>
            </a:r>
            <a:r>
              <a:rPr lang="en-US" dirty="0">
                <a:latin typeface="Courier" pitchFamily="2" charset="0"/>
              </a:rPr>
              <a:t>]</a:t>
            </a:r>
            <a:endParaRPr lang="en-US" dirty="0"/>
          </a:p>
          <a:p>
            <a:pPr lvl="1"/>
            <a:r>
              <a:rPr lang="en-US" dirty="0"/>
              <a:t>repeat until a single </a:t>
            </a:r>
            <a:r>
              <a:rPr lang="en-US" dirty="0" err="1"/>
              <a:t>trie</a:t>
            </a:r>
            <a:r>
              <a:rPr lang="en-US" dirty="0"/>
              <a:t> is formed:</a:t>
            </a:r>
          </a:p>
          <a:p>
            <a:pPr lvl="2"/>
            <a:r>
              <a:rPr lang="en-US" dirty="0"/>
              <a:t>select the two tries with minimum weights </a:t>
            </a:r>
            <a:r>
              <a:rPr lang="en-US" dirty="0" err="1">
                <a:latin typeface="Courier" pitchFamily="2" charset="0"/>
              </a:rPr>
              <a:t>freq</a:t>
            </a:r>
            <a:r>
              <a:rPr lang="en-US" dirty="0">
                <a:latin typeface="Courier" pitchFamily="2" charset="0"/>
              </a:rPr>
              <a:t>[</a:t>
            </a:r>
            <a:r>
              <a:rPr lang="en-US" dirty="0" err="1">
                <a:latin typeface="Courier" pitchFamily="2" charset="0"/>
              </a:rPr>
              <a:t>i</a:t>
            </a:r>
            <a:r>
              <a:rPr lang="en-US" dirty="0">
                <a:latin typeface="Courier" pitchFamily="2" charset="0"/>
              </a:rPr>
              <a:t>]</a:t>
            </a:r>
            <a:r>
              <a:rPr lang="en-US" dirty="0"/>
              <a:t> and </a:t>
            </a:r>
            <a:r>
              <a:rPr lang="en-US" dirty="0" err="1">
                <a:latin typeface="Courier" pitchFamily="2" charset="0"/>
              </a:rPr>
              <a:t>freq</a:t>
            </a:r>
            <a:r>
              <a:rPr lang="en-US" dirty="0">
                <a:latin typeface="Courier" pitchFamily="2" charset="0"/>
              </a:rPr>
              <a:t>[j]</a:t>
            </a:r>
          </a:p>
          <a:p>
            <a:pPr lvl="2"/>
            <a:r>
              <a:rPr lang="en-US" dirty="0"/>
              <a:t>merge into a single </a:t>
            </a:r>
            <a:r>
              <a:rPr lang="en-US" dirty="0" err="1"/>
              <a:t>trie</a:t>
            </a:r>
            <a:r>
              <a:rPr lang="en-US" dirty="0"/>
              <a:t> with weight </a:t>
            </a:r>
            <a:r>
              <a:rPr lang="en-US" dirty="0" err="1">
                <a:latin typeface="Courier" pitchFamily="2" charset="0"/>
              </a:rPr>
              <a:t>freq</a:t>
            </a:r>
            <a:r>
              <a:rPr lang="en-US" dirty="0">
                <a:latin typeface="Courier" pitchFamily="2" charset="0"/>
              </a:rPr>
              <a:t>[</a:t>
            </a:r>
            <a:r>
              <a:rPr lang="en-US" dirty="0" err="1">
                <a:latin typeface="Courier" pitchFamily="2" charset="0"/>
              </a:rPr>
              <a:t>i</a:t>
            </a:r>
            <a:r>
              <a:rPr lang="en-US" dirty="0">
                <a:latin typeface="Courier" pitchFamily="2" charset="0"/>
              </a:rPr>
              <a:t>] + </a:t>
            </a:r>
            <a:r>
              <a:rPr lang="en-US" dirty="0" err="1">
                <a:latin typeface="Courier" pitchFamily="2" charset="0"/>
              </a:rPr>
              <a:t>freq</a:t>
            </a:r>
            <a:r>
              <a:rPr lang="en-US" dirty="0">
                <a:latin typeface="Courier" pitchFamily="2" charset="0"/>
              </a:rPr>
              <a:t>[j]</a:t>
            </a:r>
          </a:p>
          <a:p>
            <a:endParaRPr lang="en-US" dirty="0"/>
          </a:p>
        </p:txBody>
      </p:sp>
    </p:spTree>
    <p:extLst>
      <p:ext uri="{BB962C8B-B14F-4D97-AF65-F5344CB8AC3E}">
        <p14:creationId xmlns:p14="http://schemas.microsoft.com/office/powerpoint/2010/main" val="1397008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61A64-88E3-514F-96E5-EB5877D9729F}"/>
              </a:ext>
            </a:extLst>
          </p:cNvPr>
          <p:cNvSpPr>
            <a:spLocks noGrp="1"/>
          </p:cNvSpPr>
          <p:nvPr>
            <p:ph type="title"/>
          </p:nvPr>
        </p:nvSpPr>
        <p:spPr/>
        <p:txBody>
          <a:bodyPr/>
          <a:lstStyle/>
          <a:p>
            <a:r>
              <a:rPr lang="en-US" dirty="0"/>
              <a:t>Huffman compression</a:t>
            </a:r>
          </a:p>
        </p:txBody>
      </p:sp>
      <p:sp>
        <p:nvSpPr>
          <p:cNvPr id="3" name="Content Placeholder 2">
            <a:extLst>
              <a:ext uri="{FF2B5EF4-FFF2-40B4-BE49-F238E27FC236}">
                <a16:creationId xmlns:a16="http://schemas.microsoft.com/office/drawing/2014/main" id="{B9A27260-ED92-1742-90BD-44C0FED54F03}"/>
              </a:ext>
            </a:extLst>
          </p:cNvPr>
          <p:cNvSpPr>
            <a:spLocks noGrp="1"/>
          </p:cNvSpPr>
          <p:nvPr>
            <p:ph idx="1"/>
          </p:nvPr>
        </p:nvSpPr>
        <p:spPr/>
        <p:txBody>
          <a:bodyPr/>
          <a:lstStyle/>
          <a:p>
            <a:r>
              <a:rPr lang="en-US" dirty="0"/>
              <a:t>Demo</a:t>
            </a:r>
          </a:p>
        </p:txBody>
      </p:sp>
      <p:sp>
        <p:nvSpPr>
          <p:cNvPr id="4" name="TextBox 3">
            <a:extLst>
              <a:ext uri="{FF2B5EF4-FFF2-40B4-BE49-F238E27FC236}">
                <a16:creationId xmlns:a16="http://schemas.microsoft.com/office/drawing/2014/main" id="{EE7569D7-7FD6-584A-AE59-2A307297CAC8}"/>
              </a:ext>
            </a:extLst>
          </p:cNvPr>
          <p:cNvSpPr txBox="1"/>
          <p:nvPr/>
        </p:nvSpPr>
        <p:spPr>
          <a:xfrm>
            <a:off x="514866" y="2461846"/>
            <a:ext cx="5279009" cy="369332"/>
          </a:xfrm>
          <a:prstGeom prst="rect">
            <a:avLst/>
          </a:prstGeom>
          <a:noFill/>
        </p:spPr>
        <p:txBody>
          <a:bodyPr wrap="none" rtlCol="0">
            <a:spAutoFit/>
          </a:bodyPr>
          <a:lstStyle/>
          <a:p>
            <a:r>
              <a:rPr lang="en-US" dirty="0">
                <a:solidFill>
                  <a:schemeClr val="accent5"/>
                </a:solidFill>
                <a:latin typeface="Arial" panose="020B0604020202020204" pitchFamily="34" charset="0"/>
                <a:cs typeface="Arial" panose="020B0604020202020204" pitchFamily="34" charset="0"/>
              </a:rPr>
              <a:t>Input message </a:t>
            </a:r>
            <a:r>
              <a:rPr lang="en-US" i="1" dirty="0">
                <a:solidFill>
                  <a:schemeClr val="accent5"/>
                </a:solidFill>
                <a:latin typeface="Arial" panose="020B0604020202020204" pitchFamily="34" charset="0"/>
                <a:cs typeface="Arial" panose="020B0604020202020204" pitchFamily="34" charset="0"/>
              </a:rPr>
              <a:t>B</a:t>
            </a:r>
            <a:r>
              <a:rPr lang="en-US" dirty="0">
                <a:solidFill>
                  <a:schemeClr val="accent5"/>
                </a:solidFill>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 </a:t>
            </a:r>
            <a:r>
              <a:rPr lang="en-US" dirty="0">
                <a:latin typeface="Courier" pitchFamily="2" charset="0"/>
                <a:cs typeface="Arial" panose="020B0604020202020204" pitchFamily="34" charset="0"/>
              </a:rPr>
              <a:t>A B R A C A D A B R A !</a:t>
            </a:r>
          </a:p>
        </p:txBody>
      </p:sp>
    </p:spTree>
    <p:extLst>
      <p:ext uri="{BB962C8B-B14F-4D97-AF65-F5344CB8AC3E}">
        <p14:creationId xmlns:p14="http://schemas.microsoft.com/office/powerpoint/2010/main" val="19229981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61A64-88E3-514F-96E5-EB5877D9729F}"/>
              </a:ext>
            </a:extLst>
          </p:cNvPr>
          <p:cNvSpPr>
            <a:spLocks noGrp="1"/>
          </p:cNvSpPr>
          <p:nvPr>
            <p:ph type="title"/>
          </p:nvPr>
        </p:nvSpPr>
        <p:spPr/>
        <p:txBody>
          <a:bodyPr/>
          <a:lstStyle/>
          <a:p>
            <a:r>
              <a:rPr lang="en-US" dirty="0"/>
              <a:t>Huffman compression</a:t>
            </a:r>
          </a:p>
        </p:txBody>
      </p:sp>
      <p:sp>
        <p:nvSpPr>
          <p:cNvPr id="3" name="Content Placeholder 2">
            <a:extLst>
              <a:ext uri="{FF2B5EF4-FFF2-40B4-BE49-F238E27FC236}">
                <a16:creationId xmlns:a16="http://schemas.microsoft.com/office/drawing/2014/main" id="{B9A27260-ED92-1742-90BD-44C0FED54F03}"/>
              </a:ext>
            </a:extLst>
          </p:cNvPr>
          <p:cNvSpPr>
            <a:spLocks noGrp="1"/>
          </p:cNvSpPr>
          <p:nvPr>
            <p:ph idx="1"/>
          </p:nvPr>
        </p:nvSpPr>
        <p:spPr/>
        <p:txBody>
          <a:bodyPr/>
          <a:lstStyle/>
          <a:p>
            <a:r>
              <a:rPr lang="en-US" dirty="0"/>
              <a:t>Demo</a:t>
            </a:r>
          </a:p>
        </p:txBody>
      </p:sp>
      <p:sp>
        <p:nvSpPr>
          <p:cNvPr id="4" name="TextBox 3">
            <a:extLst>
              <a:ext uri="{FF2B5EF4-FFF2-40B4-BE49-F238E27FC236}">
                <a16:creationId xmlns:a16="http://schemas.microsoft.com/office/drawing/2014/main" id="{EE7569D7-7FD6-584A-AE59-2A307297CAC8}"/>
              </a:ext>
            </a:extLst>
          </p:cNvPr>
          <p:cNvSpPr txBox="1"/>
          <p:nvPr/>
        </p:nvSpPr>
        <p:spPr>
          <a:xfrm>
            <a:off x="514866" y="2461846"/>
            <a:ext cx="5279009" cy="369332"/>
          </a:xfrm>
          <a:prstGeom prst="rect">
            <a:avLst/>
          </a:prstGeom>
          <a:noFill/>
        </p:spPr>
        <p:txBody>
          <a:bodyPr wrap="none" rtlCol="0">
            <a:spAutoFit/>
          </a:bodyPr>
          <a:lstStyle/>
          <a:p>
            <a:r>
              <a:rPr lang="en-US" dirty="0">
                <a:solidFill>
                  <a:schemeClr val="accent5"/>
                </a:solidFill>
                <a:latin typeface="Arial" panose="020B0604020202020204" pitchFamily="34" charset="0"/>
                <a:cs typeface="Arial" panose="020B0604020202020204" pitchFamily="34" charset="0"/>
              </a:rPr>
              <a:t>Input message </a:t>
            </a:r>
            <a:r>
              <a:rPr lang="en-US" i="1" dirty="0">
                <a:solidFill>
                  <a:schemeClr val="accent5"/>
                </a:solidFill>
                <a:latin typeface="Arial" panose="020B0604020202020204" pitchFamily="34" charset="0"/>
                <a:cs typeface="Arial" panose="020B0604020202020204" pitchFamily="34" charset="0"/>
              </a:rPr>
              <a:t>B</a:t>
            </a:r>
            <a:r>
              <a:rPr lang="en-US" dirty="0">
                <a:solidFill>
                  <a:schemeClr val="accent5"/>
                </a:solidFill>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 </a:t>
            </a:r>
            <a:r>
              <a:rPr lang="en-US" dirty="0">
                <a:latin typeface="Courier" pitchFamily="2" charset="0"/>
                <a:cs typeface="Arial" panose="020B0604020202020204" pitchFamily="34" charset="0"/>
              </a:rPr>
              <a:t>A B R A C A D A B R A !</a:t>
            </a:r>
          </a:p>
        </p:txBody>
      </p:sp>
      <p:graphicFrame>
        <p:nvGraphicFramePr>
          <p:cNvPr id="5" name="Table 4">
            <a:extLst>
              <a:ext uri="{FF2B5EF4-FFF2-40B4-BE49-F238E27FC236}">
                <a16:creationId xmlns:a16="http://schemas.microsoft.com/office/drawing/2014/main" id="{0B1EFB9E-5DC7-0748-A23E-E8900A38D3EA}"/>
              </a:ext>
            </a:extLst>
          </p:cNvPr>
          <p:cNvGraphicFramePr>
            <a:graphicFrameLocks noGrp="1"/>
          </p:cNvGraphicFramePr>
          <p:nvPr>
            <p:extLst>
              <p:ext uri="{D42A27DB-BD31-4B8C-83A1-F6EECF244321}">
                <p14:modId xmlns:p14="http://schemas.microsoft.com/office/powerpoint/2010/main" val="3574824730"/>
              </p:ext>
            </p:extLst>
          </p:nvPr>
        </p:nvGraphicFramePr>
        <p:xfrm>
          <a:off x="8232419" y="1480000"/>
          <a:ext cx="3761874" cy="2333023"/>
        </p:xfrm>
        <a:graphic>
          <a:graphicData uri="http://schemas.openxmlformats.org/drawingml/2006/table">
            <a:tbl>
              <a:tblPr firstRow="1" bandRow="1">
                <a:tableStyleId>{5C22544A-7EE6-4342-B048-85BDC9FD1C3A}</a:tableStyleId>
              </a:tblPr>
              <a:tblGrid>
                <a:gridCol w="781539">
                  <a:extLst>
                    <a:ext uri="{9D8B030D-6E8A-4147-A177-3AD203B41FA5}">
                      <a16:colId xmlns:a16="http://schemas.microsoft.com/office/drawing/2014/main" val="3356975359"/>
                    </a:ext>
                  </a:extLst>
                </a:gridCol>
                <a:gridCol w="1041009">
                  <a:extLst>
                    <a:ext uri="{9D8B030D-6E8A-4147-A177-3AD203B41FA5}">
                      <a16:colId xmlns:a16="http://schemas.microsoft.com/office/drawing/2014/main" val="3601674449"/>
                    </a:ext>
                  </a:extLst>
                </a:gridCol>
                <a:gridCol w="1939326">
                  <a:extLst>
                    <a:ext uri="{9D8B030D-6E8A-4147-A177-3AD203B41FA5}">
                      <a16:colId xmlns:a16="http://schemas.microsoft.com/office/drawing/2014/main" val="2286965801"/>
                    </a:ext>
                  </a:extLst>
                </a:gridCol>
              </a:tblGrid>
              <a:tr h="333289">
                <a:tc>
                  <a:txBody>
                    <a:bodyPr/>
                    <a:lstStyle/>
                    <a:p>
                      <a:pPr algn="ctr"/>
                      <a:r>
                        <a:rPr lang="en-US" sz="1400" b="0" dirty="0">
                          <a:solidFill>
                            <a:schemeClr val="tx1"/>
                          </a:solidFill>
                          <a:latin typeface="Arial" panose="020B0604020202020204" pitchFamily="34" charset="0"/>
                          <a:cs typeface="Arial" panose="020B0604020202020204" pitchFamily="34" charset="0"/>
                        </a:rPr>
                        <a:t>char</a:t>
                      </a:r>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0" dirty="0">
                          <a:solidFill>
                            <a:schemeClr val="tx1"/>
                          </a:solidFill>
                          <a:latin typeface="Arial" panose="020B0604020202020204" pitchFamily="34" charset="0"/>
                          <a:cs typeface="Arial" panose="020B0604020202020204" pitchFamily="34" charset="0"/>
                        </a:rPr>
                        <a:t>frequency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0" dirty="0">
                          <a:solidFill>
                            <a:schemeClr val="tx1"/>
                          </a:solidFill>
                          <a:latin typeface="Arial" panose="020B0604020202020204" pitchFamily="34" charset="0"/>
                          <a:cs typeface="Arial" panose="020B0604020202020204" pitchFamily="34" charset="0"/>
                        </a:rPr>
                        <a:t>Huffman encoding</a:t>
                      </a:r>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07920617"/>
                  </a:ext>
                </a:extLst>
              </a:tr>
              <a:tr h="333289">
                <a:tc>
                  <a:txBody>
                    <a:bodyPr/>
                    <a:lstStyle/>
                    <a:p>
                      <a:pPr algn="ctr"/>
                      <a:r>
                        <a:rPr lang="en-US" sz="1400" b="0" dirty="0">
                          <a:solidFill>
                            <a:schemeClr val="tx1"/>
                          </a:solidFill>
                          <a:latin typeface="Arial" panose="020B0604020202020204" pitchFamily="34" charset="0"/>
                          <a:cs typeface="Arial" panose="020B0604020202020204" pitchFamily="34" charset="0"/>
                        </a:rPr>
                        <a:t>A</a:t>
                      </a: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sz="1400" b="0" dirty="0">
                          <a:solidFill>
                            <a:schemeClr val="tx1"/>
                          </a:solidFill>
                          <a:latin typeface="Arial" panose="020B0604020202020204" pitchFamily="34" charset="0"/>
                          <a:cs typeface="Arial" panose="020B0604020202020204" pitchFamily="34"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endParaRPr lang="en-US" sz="1400" b="0" dirty="0">
                        <a:solidFill>
                          <a:schemeClr val="tx1"/>
                        </a:solidFill>
                        <a:latin typeface="Courier" pitchFamily="2"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698704590"/>
                  </a:ext>
                </a:extLst>
              </a:tr>
              <a:tr h="333289">
                <a:tc>
                  <a:txBody>
                    <a:bodyPr/>
                    <a:lstStyle/>
                    <a:p>
                      <a:pPr algn="ctr"/>
                      <a:r>
                        <a:rPr lang="en-US" sz="1400" b="0" dirty="0">
                          <a:solidFill>
                            <a:schemeClr val="tx1"/>
                          </a:solidFill>
                          <a:latin typeface="Arial" panose="020B0604020202020204" pitchFamily="34" charset="0"/>
                          <a:cs typeface="Arial" panose="020B0604020202020204" pitchFamily="34" charset="0"/>
                        </a:rPr>
                        <a:t>B</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400" b="0" dirty="0">
                          <a:solidFill>
                            <a:schemeClr val="tx1"/>
                          </a:solidFill>
                          <a:latin typeface="Arial" panose="020B0604020202020204" pitchFamily="34" charset="0"/>
                          <a:cs typeface="Arial" panose="020B0604020202020204" pitchFamily="34"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endParaRPr lang="en-US" sz="1400" b="0" dirty="0">
                        <a:solidFill>
                          <a:schemeClr val="tx1"/>
                        </a:solidFill>
                        <a:latin typeface="Courier" pitchFamily="2"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97155727"/>
                  </a:ext>
                </a:extLst>
              </a:tr>
              <a:tr h="333289">
                <a:tc>
                  <a:txBody>
                    <a:bodyPr/>
                    <a:lstStyle/>
                    <a:p>
                      <a:pPr algn="ctr"/>
                      <a:r>
                        <a:rPr lang="en-US" sz="1400" b="0" dirty="0">
                          <a:solidFill>
                            <a:schemeClr val="tx1"/>
                          </a:solidFill>
                          <a:latin typeface="Arial" panose="020B0604020202020204" pitchFamily="34" charset="0"/>
                          <a:cs typeface="Arial" panose="020B0604020202020204" pitchFamily="34" charset="0"/>
                        </a:rPr>
                        <a:t>C</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400" b="0" dirty="0">
                          <a:solidFill>
                            <a:schemeClr val="tx1"/>
                          </a:solidFill>
                          <a:latin typeface="Arial" panose="020B0604020202020204" pitchFamily="34" charset="0"/>
                          <a:cs typeface="Arial" panose="020B0604020202020204" pitchFamily="34"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endParaRPr lang="en-US" sz="1400" b="0" dirty="0">
                        <a:solidFill>
                          <a:schemeClr val="tx1"/>
                        </a:solidFill>
                        <a:latin typeface="Courier" pitchFamily="2"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48973282"/>
                  </a:ext>
                </a:extLst>
              </a:tr>
              <a:tr h="333289">
                <a:tc>
                  <a:txBody>
                    <a:bodyPr/>
                    <a:lstStyle/>
                    <a:p>
                      <a:pPr algn="ctr"/>
                      <a:r>
                        <a:rPr lang="en-US" sz="1400" b="0" dirty="0">
                          <a:solidFill>
                            <a:schemeClr val="tx1"/>
                          </a:solidFill>
                          <a:latin typeface="Arial" panose="020B0604020202020204" pitchFamily="34" charset="0"/>
                          <a:cs typeface="Arial" panose="020B0604020202020204" pitchFamily="34" charset="0"/>
                        </a:rPr>
                        <a:t>D</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400" b="0" dirty="0">
                          <a:solidFill>
                            <a:schemeClr val="tx1"/>
                          </a:solidFill>
                          <a:latin typeface="Arial" panose="020B0604020202020204" pitchFamily="34" charset="0"/>
                          <a:cs typeface="Arial" panose="020B0604020202020204" pitchFamily="34"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endParaRPr lang="en-US" sz="1400" b="0" dirty="0">
                        <a:solidFill>
                          <a:schemeClr val="tx1"/>
                        </a:solidFill>
                        <a:latin typeface="Courier" pitchFamily="2"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931113414"/>
                  </a:ext>
                </a:extLst>
              </a:tr>
              <a:tr h="333289">
                <a:tc>
                  <a:txBody>
                    <a:bodyPr/>
                    <a:lstStyle/>
                    <a:p>
                      <a:pPr algn="ctr"/>
                      <a:r>
                        <a:rPr lang="en-US" sz="1400" b="0" dirty="0">
                          <a:solidFill>
                            <a:schemeClr val="tx1"/>
                          </a:solidFill>
                          <a:latin typeface="Arial" panose="020B0604020202020204" pitchFamily="34" charset="0"/>
                          <a:cs typeface="Arial" panose="020B0604020202020204" pitchFamily="34" charset="0"/>
                        </a:rPr>
                        <a:t>R</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400" b="0" dirty="0">
                          <a:solidFill>
                            <a:schemeClr val="tx1"/>
                          </a:solidFill>
                          <a:latin typeface="Arial" panose="020B0604020202020204" pitchFamily="34" charset="0"/>
                          <a:cs typeface="Arial" panose="020B0604020202020204" pitchFamily="34"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endParaRPr lang="en-US" sz="1400" b="0" dirty="0">
                        <a:solidFill>
                          <a:schemeClr val="tx1"/>
                        </a:solidFill>
                        <a:latin typeface="Courier" pitchFamily="2"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620110253"/>
                  </a:ext>
                </a:extLst>
              </a:tr>
              <a:tr h="333289">
                <a:tc>
                  <a:txBody>
                    <a:bodyPr/>
                    <a:lstStyle/>
                    <a:p>
                      <a:pPr algn="ctr"/>
                      <a:r>
                        <a:rPr lang="en-US" sz="1400" b="0" dirty="0">
                          <a:solidFill>
                            <a:schemeClr val="tx1"/>
                          </a:solidFill>
                          <a:latin typeface="Arial" panose="020B0604020202020204" pitchFamily="34" charset="0"/>
                          <a:cs typeface="Arial" panose="020B0604020202020204" pitchFamily="34" charset="0"/>
                        </a:rPr>
                        <a:t>!</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400" b="0" dirty="0">
                          <a:solidFill>
                            <a:schemeClr val="tx1"/>
                          </a:solidFill>
                          <a:latin typeface="Arial" panose="020B0604020202020204" pitchFamily="34" charset="0"/>
                          <a:cs typeface="Arial" panose="020B0604020202020204" pitchFamily="34"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endParaRPr lang="en-US" sz="1400" b="0" dirty="0">
                        <a:solidFill>
                          <a:schemeClr val="tx1"/>
                        </a:solidFill>
                        <a:latin typeface="Courier" pitchFamily="2"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208363806"/>
                  </a:ext>
                </a:extLst>
              </a:tr>
            </a:tbl>
          </a:graphicData>
        </a:graphic>
      </p:graphicFrame>
    </p:spTree>
    <p:extLst>
      <p:ext uri="{BB962C8B-B14F-4D97-AF65-F5344CB8AC3E}">
        <p14:creationId xmlns:p14="http://schemas.microsoft.com/office/powerpoint/2010/main" val="35069691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61A64-88E3-514F-96E5-EB5877D9729F}"/>
              </a:ext>
            </a:extLst>
          </p:cNvPr>
          <p:cNvSpPr>
            <a:spLocks noGrp="1"/>
          </p:cNvSpPr>
          <p:nvPr>
            <p:ph type="title"/>
          </p:nvPr>
        </p:nvSpPr>
        <p:spPr/>
        <p:txBody>
          <a:bodyPr/>
          <a:lstStyle/>
          <a:p>
            <a:r>
              <a:rPr lang="en-US" dirty="0"/>
              <a:t>Huffman compression</a:t>
            </a:r>
          </a:p>
        </p:txBody>
      </p:sp>
      <p:sp>
        <p:nvSpPr>
          <p:cNvPr id="3" name="Content Placeholder 2">
            <a:extLst>
              <a:ext uri="{FF2B5EF4-FFF2-40B4-BE49-F238E27FC236}">
                <a16:creationId xmlns:a16="http://schemas.microsoft.com/office/drawing/2014/main" id="{B9A27260-ED92-1742-90BD-44C0FED54F03}"/>
              </a:ext>
            </a:extLst>
          </p:cNvPr>
          <p:cNvSpPr>
            <a:spLocks noGrp="1"/>
          </p:cNvSpPr>
          <p:nvPr>
            <p:ph idx="1"/>
          </p:nvPr>
        </p:nvSpPr>
        <p:spPr/>
        <p:txBody>
          <a:bodyPr/>
          <a:lstStyle/>
          <a:p>
            <a:r>
              <a:rPr lang="en-US" dirty="0"/>
              <a:t>Demo</a:t>
            </a:r>
          </a:p>
        </p:txBody>
      </p:sp>
      <p:sp>
        <p:nvSpPr>
          <p:cNvPr id="4" name="TextBox 3">
            <a:extLst>
              <a:ext uri="{FF2B5EF4-FFF2-40B4-BE49-F238E27FC236}">
                <a16:creationId xmlns:a16="http://schemas.microsoft.com/office/drawing/2014/main" id="{EE7569D7-7FD6-584A-AE59-2A307297CAC8}"/>
              </a:ext>
            </a:extLst>
          </p:cNvPr>
          <p:cNvSpPr txBox="1"/>
          <p:nvPr/>
        </p:nvSpPr>
        <p:spPr>
          <a:xfrm>
            <a:off x="514866" y="2461846"/>
            <a:ext cx="5279009" cy="369332"/>
          </a:xfrm>
          <a:prstGeom prst="rect">
            <a:avLst/>
          </a:prstGeom>
          <a:noFill/>
        </p:spPr>
        <p:txBody>
          <a:bodyPr wrap="none" rtlCol="0">
            <a:spAutoFit/>
          </a:bodyPr>
          <a:lstStyle/>
          <a:p>
            <a:r>
              <a:rPr lang="en-US" dirty="0">
                <a:solidFill>
                  <a:schemeClr val="accent5"/>
                </a:solidFill>
                <a:latin typeface="Arial" panose="020B0604020202020204" pitchFamily="34" charset="0"/>
                <a:cs typeface="Arial" panose="020B0604020202020204" pitchFamily="34" charset="0"/>
              </a:rPr>
              <a:t>Input message </a:t>
            </a:r>
            <a:r>
              <a:rPr lang="en-US" i="1" dirty="0">
                <a:solidFill>
                  <a:schemeClr val="accent5"/>
                </a:solidFill>
                <a:latin typeface="Arial" panose="020B0604020202020204" pitchFamily="34" charset="0"/>
                <a:cs typeface="Arial" panose="020B0604020202020204" pitchFamily="34" charset="0"/>
              </a:rPr>
              <a:t>B</a:t>
            </a:r>
            <a:r>
              <a:rPr lang="en-US" dirty="0">
                <a:solidFill>
                  <a:schemeClr val="accent5"/>
                </a:solidFill>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 </a:t>
            </a:r>
            <a:r>
              <a:rPr lang="en-US" dirty="0">
                <a:latin typeface="Courier" pitchFamily="2" charset="0"/>
                <a:cs typeface="Arial" panose="020B0604020202020204" pitchFamily="34" charset="0"/>
              </a:rPr>
              <a:t>A B R A C A D A B R A !</a:t>
            </a:r>
          </a:p>
        </p:txBody>
      </p:sp>
      <p:graphicFrame>
        <p:nvGraphicFramePr>
          <p:cNvPr id="5" name="Table 4">
            <a:extLst>
              <a:ext uri="{FF2B5EF4-FFF2-40B4-BE49-F238E27FC236}">
                <a16:creationId xmlns:a16="http://schemas.microsoft.com/office/drawing/2014/main" id="{0B1EFB9E-5DC7-0748-A23E-E8900A38D3EA}"/>
              </a:ext>
            </a:extLst>
          </p:cNvPr>
          <p:cNvGraphicFramePr>
            <a:graphicFrameLocks noGrp="1"/>
          </p:cNvGraphicFramePr>
          <p:nvPr>
            <p:extLst>
              <p:ext uri="{D42A27DB-BD31-4B8C-83A1-F6EECF244321}">
                <p14:modId xmlns:p14="http://schemas.microsoft.com/office/powerpoint/2010/main" val="3196532188"/>
              </p:ext>
            </p:extLst>
          </p:nvPr>
        </p:nvGraphicFramePr>
        <p:xfrm>
          <a:off x="8232419" y="1480000"/>
          <a:ext cx="3761874" cy="2333023"/>
        </p:xfrm>
        <a:graphic>
          <a:graphicData uri="http://schemas.openxmlformats.org/drawingml/2006/table">
            <a:tbl>
              <a:tblPr firstRow="1" bandRow="1">
                <a:tableStyleId>{5C22544A-7EE6-4342-B048-85BDC9FD1C3A}</a:tableStyleId>
              </a:tblPr>
              <a:tblGrid>
                <a:gridCol w="781539">
                  <a:extLst>
                    <a:ext uri="{9D8B030D-6E8A-4147-A177-3AD203B41FA5}">
                      <a16:colId xmlns:a16="http://schemas.microsoft.com/office/drawing/2014/main" val="3356975359"/>
                    </a:ext>
                  </a:extLst>
                </a:gridCol>
                <a:gridCol w="1041009">
                  <a:extLst>
                    <a:ext uri="{9D8B030D-6E8A-4147-A177-3AD203B41FA5}">
                      <a16:colId xmlns:a16="http://schemas.microsoft.com/office/drawing/2014/main" val="3601674449"/>
                    </a:ext>
                  </a:extLst>
                </a:gridCol>
                <a:gridCol w="1939326">
                  <a:extLst>
                    <a:ext uri="{9D8B030D-6E8A-4147-A177-3AD203B41FA5}">
                      <a16:colId xmlns:a16="http://schemas.microsoft.com/office/drawing/2014/main" val="2286965801"/>
                    </a:ext>
                  </a:extLst>
                </a:gridCol>
              </a:tblGrid>
              <a:tr h="333289">
                <a:tc>
                  <a:txBody>
                    <a:bodyPr/>
                    <a:lstStyle/>
                    <a:p>
                      <a:pPr algn="ctr"/>
                      <a:r>
                        <a:rPr lang="en-US" sz="1400" b="0" dirty="0">
                          <a:solidFill>
                            <a:schemeClr val="tx1"/>
                          </a:solidFill>
                          <a:latin typeface="Arial" panose="020B0604020202020204" pitchFamily="34" charset="0"/>
                          <a:cs typeface="Arial" panose="020B0604020202020204" pitchFamily="34" charset="0"/>
                        </a:rPr>
                        <a:t>char</a:t>
                      </a:r>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0" dirty="0">
                          <a:solidFill>
                            <a:schemeClr val="tx1"/>
                          </a:solidFill>
                          <a:latin typeface="Arial" panose="020B0604020202020204" pitchFamily="34" charset="0"/>
                          <a:cs typeface="Arial" panose="020B0604020202020204" pitchFamily="34" charset="0"/>
                        </a:rPr>
                        <a:t>frequency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0" dirty="0">
                          <a:solidFill>
                            <a:schemeClr val="tx1"/>
                          </a:solidFill>
                          <a:latin typeface="Arial" panose="020B0604020202020204" pitchFamily="34" charset="0"/>
                          <a:cs typeface="Arial" panose="020B0604020202020204" pitchFamily="34" charset="0"/>
                        </a:rPr>
                        <a:t>Huffman encoding</a:t>
                      </a:r>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07920617"/>
                  </a:ext>
                </a:extLst>
              </a:tr>
              <a:tr h="333289">
                <a:tc>
                  <a:txBody>
                    <a:bodyPr/>
                    <a:lstStyle/>
                    <a:p>
                      <a:pPr algn="ctr"/>
                      <a:r>
                        <a:rPr lang="en-US" sz="1400" b="0" dirty="0">
                          <a:solidFill>
                            <a:schemeClr val="tx1"/>
                          </a:solidFill>
                          <a:latin typeface="Arial" panose="020B0604020202020204" pitchFamily="34" charset="0"/>
                          <a:cs typeface="Arial" panose="020B0604020202020204" pitchFamily="34" charset="0"/>
                        </a:rPr>
                        <a:t>A</a:t>
                      </a: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sz="1400" b="0" dirty="0">
                          <a:solidFill>
                            <a:schemeClr val="tx1"/>
                          </a:solidFill>
                          <a:latin typeface="Arial" panose="020B0604020202020204" pitchFamily="34" charset="0"/>
                          <a:cs typeface="Arial" panose="020B0604020202020204" pitchFamily="34"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endParaRPr lang="en-US" sz="1400" b="0" dirty="0">
                        <a:solidFill>
                          <a:schemeClr val="tx1"/>
                        </a:solidFill>
                        <a:latin typeface="Courier" pitchFamily="2"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698704590"/>
                  </a:ext>
                </a:extLst>
              </a:tr>
              <a:tr h="333289">
                <a:tc>
                  <a:txBody>
                    <a:bodyPr/>
                    <a:lstStyle/>
                    <a:p>
                      <a:pPr algn="ctr"/>
                      <a:r>
                        <a:rPr lang="en-US" sz="1400" b="0" dirty="0">
                          <a:solidFill>
                            <a:schemeClr val="tx1"/>
                          </a:solidFill>
                          <a:latin typeface="Arial" panose="020B0604020202020204" pitchFamily="34" charset="0"/>
                          <a:cs typeface="Arial" panose="020B0604020202020204" pitchFamily="34" charset="0"/>
                        </a:rPr>
                        <a:t>B</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400" b="0" dirty="0">
                          <a:solidFill>
                            <a:schemeClr val="tx1"/>
                          </a:solidFill>
                          <a:latin typeface="Arial" panose="020B0604020202020204" pitchFamily="34" charset="0"/>
                          <a:cs typeface="Arial" panose="020B0604020202020204" pitchFamily="34"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endParaRPr lang="en-US" sz="1400" b="0" dirty="0">
                        <a:solidFill>
                          <a:schemeClr val="tx1"/>
                        </a:solidFill>
                        <a:latin typeface="Courier" pitchFamily="2"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97155727"/>
                  </a:ext>
                </a:extLst>
              </a:tr>
              <a:tr h="333289">
                <a:tc>
                  <a:txBody>
                    <a:bodyPr/>
                    <a:lstStyle/>
                    <a:p>
                      <a:pPr algn="ctr"/>
                      <a:r>
                        <a:rPr lang="en-US" sz="1400" b="0" dirty="0">
                          <a:solidFill>
                            <a:schemeClr val="tx1"/>
                          </a:solidFill>
                          <a:latin typeface="Arial" panose="020B0604020202020204" pitchFamily="34" charset="0"/>
                          <a:cs typeface="Arial" panose="020B0604020202020204" pitchFamily="34" charset="0"/>
                        </a:rPr>
                        <a:t>C</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400" b="0" dirty="0">
                          <a:solidFill>
                            <a:schemeClr val="tx1"/>
                          </a:solidFill>
                          <a:latin typeface="Arial" panose="020B0604020202020204" pitchFamily="34" charset="0"/>
                          <a:cs typeface="Arial" panose="020B0604020202020204" pitchFamily="34"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endParaRPr lang="en-US" sz="1400" b="0" dirty="0">
                        <a:solidFill>
                          <a:schemeClr val="tx1"/>
                        </a:solidFill>
                        <a:latin typeface="Courier" pitchFamily="2"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48973282"/>
                  </a:ext>
                </a:extLst>
              </a:tr>
              <a:tr h="333289">
                <a:tc>
                  <a:txBody>
                    <a:bodyPr/>
                    <a:lstStyle/>
                    <a:p>
                      <a:pPr algn="ctr"/>
                      <a:r>
                        <a:rPr lang="en-US" sz="1400" b="0" dirty="0">
                          <a:solidFill>
                            <a:schemeClr val="tx1"/>
                          </a:solidFill>
                          <a:latin typeface="Arial" panose="020B0604020202020204" pitchFamily="34" charset="0"/>
                          <a:cs typeface="Arial" panose="020B0604020202020204" pitchFamily="34" charset="0"/>
                        </a:rPr>
                        <a:t>D</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400" b="0" dirty="0">
                          <a:solidFill>
                            <a:schemeClr val="tx1"/>
                          </a:solidFill>
                          <a:latin typeface="Arial" panose="020B0604020202020204" pitchFamily="34" charset="0"/>
                          <a:cs typeface="Arial" panose="020B0604020202020204" pitchFamily="34"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endParaRPr lang="en-US" sz="1400" b="0" dirty="0">
                        <a:solidFill>
                          <a:schemeClr val="tx1"/>
                        </a:solidFill>
                        <a:latin typeface="Courier" pitchFamily="2"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931113414"/>
                  </a:ext>
                </a:extLst>
              </a:tr>
              <a:tr h="333289">
                <a:tc>
                  <a:txBody>
                    <a:bodyPr/>
                    <a:lstStyle/>
                    <a:p>
                      <a:pPr algn="ctr"/>
                      <a:r>
                        <a:rPr lang="en-US" sz="1400" b="0" dirty="0">
                          <a:solidFill>
                            <a:schemeClr val="tx1"/>
                          </a:solidFill>
                          <a:latin typeface="Arial" panose="020B0604020202020204" pitchFamily="34" charset="0"/>
                          <a:cs typeface="Arial" panose="020B0604020202020204" pitchFamily="34" charset="0"/>
                        </a:rPr>
                        <a:t>R</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400" b="0" dirty="0">
                          <a:solidFill>
                            <a:schemeClr val="tx1"/>
                          </a:solidFill>
                          <a:latin typeface="Arial" panose="020B0604020202020204" pitchFamily="34" charset="0"/>
                          <a:cs typeface="Arial" panose="020B0604020202020204" pitchFamily="34"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endParaRPr lang="en-US" sz="1400" b="0" dirty="0">
                        <a:solidFill>
                          <a:schemeClr val="tx1"/>
                        </a:solidFill>
                        <a:latin typeface="Courier" pitchFamily="2"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620110253"/>
                  </a:ext>
                </a:extLst>
              </a:tr>
              <a:tr h="333289">
                <a:tc>
                  <a:txBody>
                    <a:bodyPr/>
                    <a:lstStyle/>
                    <a:p>
                      <a:pPr algn="ctr"/>
                      <a:r>
                        <a:rPr lang="en-US" sz="1400" b="0" dirty="0">
                          <a:solidFill>
                            <a:schemeClr val="tx1"/>
                          </a:solidFill>
                          <a:latin typeface="Arial" panose="020B0604020202020204" pitchFamily="34" charset="0"/>
                          <a:cs typeface="Arial" panose="020B0604020202020204" pitchFamily="34" charset="0"/>
                        </a:rPr>
                        <a:t>!</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400" b="0" dirty="0">
                          <a:solidFill>
                            <a:schemeClr val="tx1"/>
                          </a:solidFill>
                          <a:latin typeface="Arial" panose="020B0604020202020204" pitchFamily="34" charset="0"/>
                          <a:cs typeface="Arial" panose="020B0604020202020204" pitchFamily="34"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endParaRPr lang="en-US" sz="1400" b="0" dirty="0">
                        <a:solidFill>
                          <a:schemeClr val="tx1"/>
                        </a:solidFill>
                        <a:latin typeface="Courier" pitchFamily="2"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208363806"/>
                  </a:ext>
                </a:extLst>
              </a:tr>
            </a:tbl>
          </a:graphicData>
        </a:graphic>
      </p:graphicFrame>
      <p:grpSp>
        <p:nvGrpSpPr>
          <p:cNvPr id="56" name="Group 55" descr="simulation of code generation starting from singketin tries one oer char">
            <a:extLst>
              <a:ext uri="{FF2B5EF4-FFF2-40B4-BE49-F238E27FC236}">
                <a16:creationId xmlns:a16="http://schemas.microsoft.com/office/drawing/2014/main" id="{FA94A9DF-F285-8D45-BFA9-5A1C48C5AFFF}"/>
              </a:ext>
            </a:extLst>
          </p:cNvPr>
          <p:cNvGrpSpPr/>
          <p:nvPr/>
        </p:nvGrpSpPr>
        <p:grpSpPr>
          <a:xfrm>
            <a:off x="973675" y="4695868"/>
            <a:ext cx="6632791" cy="585564"/>
            <a:chOff x="973675" y="4695868"/>
            <a:chExt cx="6632791" cy="585564"/>
          </a:xfrm>
        </p:grpSpPr>
        <p:grpSp>
          <p:nvGrpSpPr>
            <p:cNvPr id="50" name="Group 49">
              <a:extLst>
                <a:ext uri="{FF2B5EF4-FFF2-40B4-BE49-F238E27FC236}">
                  <a16:creationId xmlns:a16="http://schemas.microsoft.com/office/drawing/2014/main" id="{4BB728EC-684D-C64F-8EEE-D6DA3F27F617}"/>
                </a:ext>
              </a:extLst>
            </p:cNvPr>
            <p:cNvGrpSpPr/>
            <p:nvPr/>
          </p:nvGrpSpPr>
          <p:grpSpPr>
            <a:xfrm>
              <a:off x="973675" y="4695868"/>
              <a:ext cx="674305" cy="559000"/>
              <a:chOff x="1750163" y="4045010"/>
              <a:chExt cx="674305" cy="559000"/>
            </a:xfrm>
          </p:grpSpPr>
          <p:sp>
            <p:nvSpPr>
              <p:cNvPr id="8" name="Oval 7">
                <a:extLst>
                  <a:ext uri="{FF2B5EF4-FFF2-40B4-BE49-F238E27FC236}">
                    <a16:creationId xmlns:a16="http://schemas.microsoft.com/office/drawing/2014/main" id="{06A05484-6E5A-FF49-A52B-C4D42E7330A8}"/>
                  </a:ext>
                </a:extLst>
              </p:cNvPr>
              <p:cNvSpPr/>
              <p:nvPr/>
            </p:nvSpPr>
            <p:spPr>
              <a:xfrm>
                <a:off x="2063069" y="4099720"/>
                <a:ext cx="318654" cy="332509"/>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rial" panose="020B0604020202020204" pitchFamily="34" charset="0"/>
                    <a:cs typeface="Arial" panose="020B0604020202020204" pitchFamily="34" charset="0"/>
                  </a:rPr>
                  <a:t>A</a:t>
                </a:r>
              </a:p>
            </p:txBody>
          </p:sp>
          <p:cxnSp>
            <p:nvCxnSpPr>
              <p:cNvPr id="11" name="Straight Connector 10">
                <a:extLst>
                  <a:ext uri="{FF2B5EF4-FFF2-40B4-BE49-F238E27FC236}">
                    <a16:creationId xmlns:a16="http://schemas.microsoft.com/office/drawing/2014/main" id="{7F416B39-AF2E-4047-9074-481B3106F0B2}"/>
                  </a:ext>
                </a:extLst>
              </p:cNvPr>
              <p:cNvCxnSpPr>
                <a:cxnSpLocks/>
                <a:stCxn id="8" idx="5"/>
              </p:cNvCxnSpPr>
              <p:nvPr/>
            </p:nvCxnSpPr>
            <p:spPr>
              <a:xfrm>
                <a:off x="2335057" y="4383534"/>
                <a:ext cx="89411"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7F635E89-5D4D-9545-9912-172119E9824E}"/>
                  </a:ext>
                </a:extLst>
              </p:cNvPr>
              <p:cNvSpPr txBox="1"/>
              <p:nvPr/>
            </p:nvSpPr>
            <p:spPr>
              <a:xfrm>
                <a:off x="1750163" y="4045010"/>
                <a:ext cx="312906" cy="369332"/>
              </a:xfrm>
              <a:prstGeom prst="rect">
                <a:avLst/>
              </a:prstGeom>
              <a:noFill/>
            </p:spPr>
            <p:txBody>
              <a:bodyPr wrap="none" rtlCol="0">
                <a:spAutoFit/>
              </a:bodyPr>
              <a:lstStyle/>
              <a:p>
                <a:r>
                  <a:rPr lang="en-US" dirty="0">
                    <a:solidFill>
                      <a:schemeClr val="accent5"/>
                    </a:solidFill>
                    <a:latin typeface="Arial" panose="020B0604020202020204" pitchFamily="34" charset="0"/>
                    <a:cs typeface="Arial" panose="020B0604020202020204" pitchFamily="34" charset="0"/>
                  </a:rPr>
                  <a:t>5</a:t>
                </a:r>
              </a:p>
            </p:txBody>
          </p:sp>
          <p:cxnSp>
            <p:nvCxnSpPr>
              <p:cNvPr id="13" name="Straight Connector 12">
                <a:extLst>
                  <a:ext uri="{FF2B5EF4-FFF2-40B4-BE49-F238E27FC236}">
                    <a16:creationId xmlns:a16="http://schemas.microsoft.com/office/drawing/2014/main" id="{39FE95BA-59D7-454A-AA88-33EC87FE60D8}"/>
                  </a:ext>
                </a:extLst>
              </p:cNvPr>
              <p:cNvCxnSpPr>
                <a:cxnSpLocks/>
                <a:stCxn id="8" idx="3"/>
              </p:cNvCxnSpPr>
              <p:nvPr/>
            </p:nvCxnSpPr>
            <p:spPr>
              <a:xfrm flipH="1">
                <a:off x="1963362" y="4383534"/>
                <a:ext cx="146373"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53" name="Group 52">
              <a:extLst>
                <a:ext uri="{FF2B5EF4-FFF2-40B4-BE49-F238E27FC236}">
                  <a16:creationId xmlns:a16="http://schemas.microsoft.com/office/drawing/2014/main" id="{80C2A224-70B8-644A-A136-753F6D307255}"/>
                </a:ext>
              </a:extLst>
            </p:cNvPr>
            <p:cNvGrpSpPr/>
            <p:nvPr/>
          </p:nvGrpSpPr>
          <p:grpSpPr>
            <a:xfrm>
              <a:off x="4457937" y="4747464"/>
              <a:ext cx="656575" cy="504290"/>
              <a:chOff x="2095516" y="5232762"/>
              <a:chExt cx="656575" cy="504290"/>
            </a:xfrm>
          </p:grpSpPr>
          <p:sp>
            <p:nvSpPr>
              <p:cNvPr id="21" name="Oval 20">
                <a:extLst>
                  <a:ext uri="{FF2B5EF4-FFF2-40B4-BE49-F238E27FC236}">
                    <a16:creationId xmlns:a16="http://schemas.microsoft.com/office/drawing/2014/main" id="{D6672FE3-8CA2-3341-9A1B-C922171C6457}"/>
                  </a:ext>
                </a:extLst>
              </p:cNvPr>
              <p:cNvSpPr/>
              <p:nvPr/>
            </p:nvSpPr>
            <p:spPr>
              <a:xfrm>
                <a:off x="2390910" y="5232762"/>
                <a:ext cx="318654" cy="332509"/>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rial" panose="020B0604020202020204" pitchFamily="34" charset="0"/>
                    <a:cs typeface="Arial" panose="020B0604020202020204" pitchFamily="34" charset="0"/>
                  </a:rPr>
                  <a:t>D</a:t>
                </a:r>
              </a:p>
            </p:txBody>
          </p:sp>
          <p:cxnSp>
            <p:nvCxnSpPr>
              <p:cNvPr id="25" name="Straight Connector 24">
                <a:extLst>
                  <a:ext uri="{FF2B5EF4-FFF2-40B4-BE49-F238E27FC236}">
                    <a16:creationId xmlns:a16="http://schemas.microsoft.com/office/drawing/2014/main" id="{5C2EF432-2414-5B4A-AABD-B24368064650}"/>
                  </a:ext>
                </a:extLst>
              </p:cNvPr>
              <p:cNvCxnSpPr>
                <a:cxnSpLocks/>
              </p:cNvCxnSpPr>
              <p:nvPr/>
            </p:nvCxnSpPr>
            <p:spPr>
              <a:xfrm>
                <a:off x="2662680" y="5516576"/>
                <a:ext cx="89411"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AB6A5AF-60FC-2C47-BE29-25A979C4D2DA}"/>
                  </a:ext>
                </a:extLst>
              </p:cNvPr>
              <p:cNvCxnSpPr>
                <a:cxnSpLocks/>
                <a:stCxn id="21" idx="3"/>
              </p:cNvCxnSpPr>
              <p:nvPr/>
            </p:nvCxnSpPr>
            <p:spPr>
              <a:xfrm flipH="1">
                <a:off x="2291203" y="5516576"/>
                <a:ext cx="146373"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BAB47F5E-531D-EB46-A610-6227428059DA}"/>
                  </a:ext>
                </a:extLst>
              </p:cNvPr>
              <p:cNvSpPr txBox="1"/>
              <p:nvPr/>
            </p:nvSpPr>
            <p:spPr>
              <a:xfrm>
                <a:off x="2095516" y="5239844"/>
                <a:ext cx="312906" cy="369332"/>
              </a:xfrm>
              <a:prstGeom prst="rect">
                <a:avLst/>
              </a:prstGeom>
              <a:noFill/>
            </p:spPr>
            <p:txBody>
              <a:bodyPr wrap="none" rtlCol="0">
                <a:spAutoFit/>
              </a:bodyPr>
              <a:lstStyle/>
              <a:p>
                <a:r>
                  <a:rPr lang="en-US" dirty="0">
                    <a:solidFill>
                      <a:schemeClr val="accent5"/>
                    </a:solidFill>
                    <a:latin typeface="Arial" panose="020B0604020202020204" pitchFamily="34" charset="0"/>
                    <a:cs typeface="Arial" panose="020B0604020202020204" pitchFamily="34" charset="0"/>
                  </a:rPr>
                  <a:t>1</a:t>
                </a:r>
              </a:p>
            </p:txBody>
          </p:sp>
        </p:grpSp>
        <p:grpSp>
          <p:nvGrpSpPr>
            <p:cNvPr id="54" name="Group 53">
              <a:extLst>
                <a:ext uri="{FF2B5EF4-FFF2-40B4-BE49-F238E27FC236}">
                  <a16:creationId xmlns:a16="http://schemas.microsoft.com/office/drawing/2014/main" id="{DBED95C4-09D9-9848-A2E3-FED2D16B1923}"/>
                </a:ext>
              </a:extLst>
            </p:cNvPr>
            <p:cNvGrpSpPr/>
            <p:nvPr/>
          </p:nvGrpSpPr>
          <p:grpSpPr>
            <a:xfrm>
              <a:off x="5581758" y="4733987"/>
              <a:ext cx="686428" cy="541113"/>
              <a:chOff x="4044968" y="5154326"/>
              <a:chExt cx="686428" cy="541113"/>
            </a:xfrm>
          </p:grpSpPr>
          <p:sp>
            <p:nvSpPr>
              <p:cNvPr id="26" name="TextBox 25">
                <a:extLst>
                  <a:ext uri="{FF2B5EF4-FFF2-40B4-BE49-F238E27FC236}">
                    <a16:creationId xmlns:a16="http://schemas.microsoft.com/office/drawing/2014/main" id="{06E36F72-4A61-154A-B16F-D1F8329DD90E}"/>
                  </a:ext>
                </a:extLst>
              </p:cNvPr>
              <p:cNvSpPr txBox="1"/>
              <p:nvPr/>
            </p:nvSpPr>
            <p:spPr>
              <a:xfrm>
                <a:off x="4044968" y="5154326"/>
                <a:ext cx="312906" cy="369332"/>
              </a:xfrm>
              <a:prstGeom prst="rect">
                <a:avLst/>
              </a:prstGeom>
              <a:noFill/>
            </p:spPr>
            <p:txBody>
              <a:bodyPr wrap="none" rtlCol="0">
                <a:spAutoFit/>
              </a:bodyPr>
              <a:lstStyle/>
              <a:p>
                <a:r>
                  <a:rPr lang="en-US" dirty="0">
                    <a:solidFill>
                      <a:schemeClr val="accent5"/>
                    </a:solidFill>
                    <a:latin typeface="Arial" panose="020B0604020202020204" pitchFamily="34" charset="0"/>
                    <a:cs typeface="Arial" panose="020B0604020202020204" pitchFamily="34" charset="0"/>
                  </a:rPr>
                  <a:t>2</a:t>
                </a:r>
              </a:p>
            </p:txBody>
          </p:sp>
          <p:sp>
            <p:nvSpPr>
              <p:cNvPr id="30" name="Oval 29">
                <a:extLst>
                  <a:ext uri="{FF2B5EF4-FFF2-40B4-BE49-F238E27FC236}">
                    <a16:creationId xmlns:a16="http://schemas.microsoft.com/office/drawing/2014/main" id="{E642B119-1D86-A44C-9577-8EBF060B8425}"/>
                  </a:ext>
                </a:extLst>
              </p:cNvPr>
              <p:cNvSpPr/>
              <p:nvPr/>
            </p:nvSpPr>
            <p:spPr>
              <a:xfrm>
                <a:off x="4369997" y="5191149"/>
                <a:ext cx="318654" cy="332509"/>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rial" panose="020B0604020202020204" pitchFamily="34" charset="0"/>
                    <a:cs typeface="Arial" panose="020B0604020202020204" pitchFamily="34" charset="0"/>
                  </a:rPr>
                  <a:t>R</a:t>
                </a:r>
              </a:p>
            </p:txBody>
          </p:sp>
          <p:cxnSp>
            <p:nvCxnSpPr>
              <p:cNvPr id="34" name="Straight Connector 33">
                <a:extLst>
                  <a:ext uri="{FF2B5EF4-FFF2-40B4-BE49-F238E27FC236}">
                    <a16:creationId xmlns:a16="http://schemas.microsoft.com/office/drawing/2014/main" id="{012D269B-7F07-4847-B1D9-B334DA13113F}"/>
                  </a:ext>
                </a:extLst>
              </p:cNvPr>
              <p:cNvCxnSpPr>
                <a:cxnSpLocks/>
                <a:stCxn id="30" idx="5"/>
              </p:cNvCxnSpPr>
              <p:nvPr/>
            </p:nvCxnSpPr>
            <p:spPr>
              <a:xfrm>
                <a:off x="4641985" y="5474963"/>
                <a:ext cx="89411"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94616B5-085B-6445-999D-C838831D869B}"/>
                  </a:ext>
                </a:extLst>
              </p:cNvPr>
              <p:cNvCxnSpPr>
                <a:cxnSpLocks/>
                <a:stCxn id="30" idx="3"/>
              </p:cNvCxnSpPr>
              <p:nvPr/>
            </p:nvCxnSpPr>
            <p:spPr>
              <a:xfrm flipH="1">
                <a:off x="4270290" y="5474963"/>
                <a:ext cx="146373"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55" name="Group 54">
              <a:extLst>
                <a:ext uri="{FF2B5EF4-FFF2-40B4-BE49-F238E27FC236}">
                  <a16:creationId xmlns:a16="http://schemas.microsoft.com/office/drawing/2014/main" id="{8BCCA23C-6120-324A-80C0-BB5D4E1070A1}"/>
                </a:ext>
              </a:extLst>
            </p:cNvPr>
            <p:cNvGrpSpPr/>
            <p:nvPr/>
          </p:nvGrpSpPr>
          <p:grpSpPr>
            <a:xfrm>
              <a:off x="6997843" y="4770204"/>
              <a:ext cx="608623" cy="504896"/>
              <a:chOff x="2800118" y="5848814"/>
              <a:chExt cx="608623" cy="504896"/>
            </a:xfrm>
          </p:grpSpPr>
          <p:sp>
            <p:nvSpPr>
              <p:cNvPr id="20" name="TextBox 19">
                <a:extLst>
                  <a:ext uri="{FF2B5EF4-FFF2-40B4-BE49-F238E27FC236}">
                    <a16:creationId xmlns:a16="http://schemas.microsoft.com/office/drawing/2014/main" id="{727DCE5D-8EC6-864B-896F-70EC0B08CD94}"/>
                  </a:ext>
                </a:extLst>
              </p:cNvPr>
              <p:cNvSpPr txBox="1"/>
              <p:nvPr/>
            </p:nvSpPr>
            <p:spPr>
              <a:xfrm>
                <a:off x="2800118" y="5848814"/>
                <a:ext cx="312906" cy="369332"/>
              </a:xfrm>
              <a:prstGeom prst="rect">
                <a:avLst/>
              </a:prstGeom>
              <a:noFill/>
            </p:spPr>
            <p:txBody>
              <a:bodyPr wrap="none" rtlCol="0">
                <a:spAutoFit/>
              </a:bodyPr>
              <a:lstStyle/>
              <a:p>
                <a:r>
                  <a:rPr lang="en-US" dirty="0">
                    <a:solidFill>
                      <a:schemeClr val="accent5"/>
                    </a:solidFill>
                    <a:latin typeface="Arial" panose="020B0604020202020204" pitchFamily="34" charset="0"/>
                    <a:cs typeface="Arial" panose="020B0604020202020204" pitchFamily="34" charset="0"/>
                  </a:rPr>
                  <a:t>1</a:t>
                </a:r>
              </a:p>
            </p:txBody>
          </p:sp>
          <p:sp>
            <p:nvSpPr>
              <p:cNvPr id="38" name="Oval 37">
                <a:extLst>
                  <a:ext uri="{FF2B5EF4-FFF2-40B4-BE49-F238E27FC236}">
                    <a16:creationId xmlns:a16="http://schemas.microsoft.com/office/drawing/2014/main" id="{2127C9C6-2140-6B43-AC01-EBE5FEA76679}"/>
                  </a:ext>
                </a:extLst>
              </p:cNvPr>
              <p:cNvSpPr/>
              <p:nvPr/>
            </p:nvSpPr>
            <p:spPr>
              <a:xfrm>
                <a:off x="3047342" y="5849420"/>
                <a:ext cx="318654" cy="332509"/>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rial" panose="020B0604020202020204" pitchFamily="34" charset="0"/>
                    <a:cs typeface="Arial" panose="020B0604020202020204" pitchFamily="34" charset="0"/>
                  </a:rPr>
                  <a:t>!</a:t>
                </a:r>
              </a:p>
            </p:txBody>
          </p:sp>
          <p:cxnSp>
            <p:nvCxnSpPr>
              <p:cNvPr id="42" name="Straight Connector 41">
                <a:extLst>
                  <a:ext uri="{FF2B5EF4-FFF2-40B4-BE49-F238E27FC236}">
                    <a16:creationId xmlns:a16="http://schemas.microsoft.com/office/drawing/2014/main" id="{6C5036F1-EE6B-E148-93CC-87B22BF6B9CD}"/>
                  </a:ext>
                </a:extLst>
              </p:cNvPr>
              <p:cNvCxnSpPr>
                <a:cxnSpLocks/>
                <a:stCxn id="38" idx="5"/>
              </p:cNvCxnSpPr>
              <p:nvPr/>
            </p:nvCxnSpPr>
            <p:spPr>
              <a:xfrm>
                <a:off x="3319330" y="6133234"/>
                <a:ext cx="89411"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774C459E-FF64-9A4A-BB63-3308E3CB024B}"/>
                  </a:ext>
                </a:extLst>
              </p:cNvPr>
              <p:cNvCxnSpPr>
                <a:cxnSpLocks/>
                <a:stCxn id="38" idx="3"/>
              </p:cNvCxnSpPr>
              <p:nvPr/>
            </p:nvCxnSpPr>
            <p:spPr>
              <a:xfrm flipH="1">
                <a:off x="2947635" y="6133234"/>
                <a:ext cx="146373"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52" name="Group 51">
              <a:extLst>
                <a:ext uri="{FF2B5EF4-FFF2-40B4-BE49-F238E27FC236}">
                  <a16:creationId xmlns:a16="http://schemas.microsoft.com/office/drawing/2014/main" id="{ADA2F9D6-8F0A-7C4A-AD27-26205113B7D8}"/>
                </a:ext>
              </a:extLst>
            </p:cNvPr>
            <p:cNvGrpSpPr/>
            <p:nvPr/>
          </p:nvGrpSpPr>
          <p:grpSpPr>
            <a:xfrm>
              <a:off x="3273953" y="4711247"/>
              <a:ext cx="607269" cy="563853"/>
              <a:chOff x="3659033" y="5849420"/>
              <a:chExt cx="607269" cy="563853"/>
            </a:xfrm>
          </p:grpSpPr>
          <p:sp>
            <p:nvSpPr>
              <p:cNvPr id="39" name="Oval 38">
                <a:extLst>
                  <a:ext uri="{FF2B5EF4-FFF2-40B4-BE49-F238E27FC236}">
                    <a16:creationId xmlns:a16="http://schemas.microsoft.com/office/drawing/2014/main" id="{10689D03-0CF9-0540-888E-D17C352C2EE9}"/>
                  </a:ext>
                </a:extLst>
              </p:cNvPr>
              <p:cNvSpPr/>
              <p:nvPr/>
            </p:nvSpPr>
            <p:spPr>
              <a:xfrm>
                <a:off x="3928929" y="5885637"/>
                <a:ext cx="318654" cy="332509"/>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rial" panose="020B0604020202020204" pitchFamily="34" charset="0"/>
                    <a:cs typeface="Arial" panose="020B0604020202020204" pitchFamily="34" charset="0"/>
                  </a:rPr>
                  <a:t>C</a:t>
                </a:r>
              </a:p>
            </p:txBody>
          </p:sp>
          <p:sp>
            <p:nvSpPr>
              <p:cNvPr id="45" name="TextBox 44">
                <a:extLst>
                  <a:ext uri="{FF2B5EF4-FFF2-40B4-BE49-F238E27FC236}">
                    <a16:creationId xmlns:a16="http://schemas.microsoft.com/office/drawing/2014/main" id="{61BF5F88-CEB7-034F-A6BA-7BEFE722CF65}"/>
                  </a:ext>
                </a:extLst>
              </p:cNvPr>
              <p:cNvSpPr txBox="1"/>
              <p:nvPr/>
            </p:nvSpPr>
            <p:spPr>
              <a:xfrm>
                <a:off x="3659033" y="5849420"/>
                <a:ext cx="312906" cy="369332"/>
              </a:xfrm>
              <a:prstGeom prst="rect">
                <a:avLst/>
              </a:prstGeom>
              <a:noFill/>
            </p:spPr>
            <p:txBody>
              <a:bodyPr wrap="none" rtlCol="0">
                <a:spAutoFit/>
              </a:bodyPr>
              <a:lstStyle/>
              <a:p>
                <a:r>
                  <a:rPr lang="en-US" dirty="0">
                    <a:solidFill>
                      <a:schemeClr val="accent5"/>
                    </a:solidFill>
                    <a:latin typeface="Arial" panose="020B0604020202020204" pitchFamily="34" charset="0"/>
                    <a:cs typeface="Arial" panose="020B0604020202020204" pitchFamily="34" charset="0"/>
                  </a:rPr>
                  <a:t>1</a:t>
                </a:r>
              </a:p>
            </p:txBody>
          </p:sp>
          <p:cxnSp>
            <p:nvCxnSpPr>
              <p:cNvPr id="46" name="Straight Connector 45">
                <a:extLst>
                  <a:ext uri="{FF2B5EF4-FFF2-40B4-BE49-F238E27FC236}">
                    <a16:creationId xmlns:a16="http://schemas.microsoft.com/office/drawing/2014/main" id="{4C200A43-A8D1-994C-849E-661DCD3B99E4}"/>
                  </a:ext>
                </a:extLst>
              </p:cNvPr>
              <p:cNvCxnSpPr>
                <a:cxnSpLocks/>
              </p:cNvCxnSpPr>
              <p:nvPr/>
            </p:nvCxnSpPr>
            <p:spPr>
              <a:xfrm>
                <a:off x="4176891" y="6192797"/>
                <a:ext cx="89411"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BF6B1C4A-4590-F547-9264-0AFB17854521}"/>
                  </a:ext>
                </a:extLst>
              </p:cNvPr>
              <p:cNvCxnSpPr>
                <a:cxnSpLocks/>
              </p:cNvCxnSpPr>
              <p:nvPr/>
            </p:nvCxnSpPr>
            <p:spPr>
              <a:xfrm flipH="1">
                <a:off x="3805414" y="6192797"/>
                <a:ext cx="146373"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51" name="Group 50">
              <a:extLst>
                <a:ext uri="{FF2B5EF4-FFF2-40B4-BE49-F238E27FC236}">
                  <a16:creationId xmlns:a16="http://schemas.microsoft.com/office/drawing/2014/main" id="{A24A3F39-4AA7-F740-B458-F22569ED3BAE}"/>
                </a:ext>
              </a:extLst>
            </p:cNvPr>
            <p:cNvGrpSpPr/>
            <p:nvPr/>
          </p:nvGrpSpPr>
          <p:grpSpPr>
            <a:xfrm>
              <a:off x="2123814" y="4727306"/>
              <a:ext cx="645196" cy="554126"/>
              <a:chOff x="4941987" y="5147244"/>
              <a:chExt cx="645196" cy="554126"/>
            </a:xfrm>
          </p:grpSpPr>
          <p:sp>
            <p:nvSpPr>
              <p:cNvPr id="31" name="Oval 30">
                <a:extLst>
                  <a:ext uri="{FF2B5EF4-FFF2-40B4-BE49-F238E27FC236}">
                    <a16:creationId xmlns:a16="http://schemas.microsoft.com/office/drawing/2014/main" id="{672AA4AA-B7BD-3A4E-A1FB-38D2C2633F75}"/>
                  </a:ext>
                </a:extLst>
              </p:cNvPr>
              <p:cNvSpPr/>
              <p:nvPr/>
            </p:nvSpPr>
            <p:spPr>
              <a:xfrm>
                <a:off x="5203782" y="5169647"/>
                <a:ext cx="318654" cy="332509"/>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rial" panose="020B0604020202020204" pitchFamily="34" charset="0"/>
                    <a:cs typeface="Arial" panose="020B0604020202020204" pitchFamily="34" charset="0"/>
                  </a:rPr>
                  <a:t>B</a:t>
                </a:r>
              </a:p>
            </p:txBody>
          </p:sp>
          <p:sp>
            <p:nvSpPr>
              <p:cNvPr id="37" name="TextBox 36">
                <a:extLst>
                  <a:ext uri="{FF2B5EF4-FFF2-40B4-BE49-F238E27FC236}">
                    <a16:creationId xmlns:a16="http://schemas.microsoft.com/office/drawing/2014/main" id="{A45535CD-8E64-0842-B568-A6F37CAA9314}"/>
                  </a:ext>
                </a:extLst>
              </p:cNvPr>
              <p:cNvSpPr txBox="1"/>
              <p:nvPr/>
            </p:nvSpPr>
            <p:spPr>
              <a:xfrm>
                <a:off x="4941987" y="5147244"/>
                <a:ext cx="312906" cy="369332"/>
              </a:xfrm>
              <a:prstGeom prst="rect">
                <a:avLst/>
              </a:prstGeom>
              <a:noFill/>
            </p:spPr>
            <p:txBody>
              <a:bodyPr wrap="none" rtlCol="0">
                <a:spAutoFit/>
              </a:bodyPr>
              <a:lstStyle/>
              <a:p>
                <a:r>
                  <a:rPr lang="en-US" dirty="0">
                    <a:solidFill>
                      <a:schemeClr val="accent5"/>
                    </a:solidFill>
                    <a:latin typeface="Arial" panose="020B0604020202020204" pitchFamily="34" charset="0"/>
                    <a:cs typeface="Arial" panose="020B0604020202020204" pitchFamily="34" charset="0"/>
                  </a:rPr>
                  <a:t>2</a:t>
                </a:r>
              </a:p>
            </p:txBody>
          </p:sp>
          <p:cxnSp>
            <p:nvCxnSpPr>
              <p:cNvPr id="48" name="Straight Connector 47">
                <a:extLst>
                  <a:ext uri="{FF2B5EF4-FFF2-40B4-BE49-F238E27FC236}">
                    <a16:creationId xmlns:a16="http://schemas.microsoft.com/office/drawing/2014/main" id="{C0BA2E99-AC99-E74E-AD6B-FA203D1318A4}"/>
                  </a:ext>
                </a:extLst>
              </p:cNvPr>
              <p:cNvCxnSpPr>
                <a:cxnSpLocks/>
              </p:cNvCxnSpPr>
              <p:nvPr/>
            </p:nvCxnSpPr>
            <p:spPr>
              <a:xfrm>
                <a:off x="5497772" y="5480894"/>
                <a:ext cx="89411"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2F4F3599-0F9C-6A4C-9C2C-EBFD9B07CD93}"/>
                  </a:ext>
                </a:extLst>
              </p:cNvPr>
              <p:cNvCxnSpPr>
                <a:cxnSpLocks/>
              </p:cNvCxnSpPr>
              <p:nvPr/>
            </p:nvCxnSpPr>
            <p:spPr>
              <a:xfrm flipH="1">
                <a:off x="5126077" y="5480894"/>
                <a:ext cx="146373"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18021142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61A64-88E3-514F-96E5-EB5877D9729F}"/>
              </a:ext>
            </a:extLst>
          </p:cNvPr>
          <p:cNvSpPr>
            <a:spLocks noGrp="1"/>
          </p:cNvSpPr>
          <p:nvPr>
            <p:ph type="title"/>
          </p:nvPr>
        </p:nvSpPr>
        <p:spPr/>
        <p:txBody>
          <a:bodyPr/>
          <a:lstStyle/>
          <a:p>
            <a:r>
              <a:rPr lang="en-US" dirty="0"/>
              <a:t>Huffman compression</a:t>
            </a:r>
          </a:p>
        </p:txBody>
      </p:sp>
      <p:sp>
        <p:nvSpPr>
          <p:cNvPr id="3" name="Content Placeholder 2">
            <a:extLst>
              <a:ext uri="{FF2B5EF4-FFF2-40B4-BE49-F238E27FC236}">
                <a16:creationId xmlns:a16="http://schemas.microsoft.com/office/drawing/2014/main" id="{B9A27260-ED92-1742-90BD-44C0FED54F03}"/>
              </a:ext>
            </a:extLst>
          </p:cNvPr>
          <p:cNvSpPr>
            <a:spLocks noGrp="1"/>
          </p:cNvSpPr>
          <p:nvPr>
            <p:ph idx="1"/>
          </p:nvPr>
        </p:nvSpPr>
        <p:spPr/>
        <p:txBody>
          <a:bodyPr/>
          <a:lstStyle/>
          <a:p>
            <a:r>
              <a:rPr lang="en-US" dirty="0"/>
              <a:t>Demo</a:t>
            </a:r>
          </a:p>
        </p:txBody>
      </p:sp>
      <p:sp>
        <p:nvSpPr>
          <p:cNvPr id="4" name="TextBox 3">
            <a:extLst>
              <a:ext uri="{FF2B5EF4-FFF2-40B4-BE49-F238E27FC236}">
                <a16:creationId xmlns:a16="http://schemas.microsoft.com/office/drawing/2014/main" id="{EE7569D7-7FD6-584A-AE59-2A307297CAC8}"/>
              </a:ext>
            </a:extLst>
          </p:cNvPr>
          <p:cNvSpPr txBox="1"/>
          <p:nvPr/>
        </p:nvSpPr>
        <p:spPr>
          <a:xfrm>
            <a:off x="514866" y="2461846"/>
            <a:ext cx="5279009" cy="369332"/>
          </a:xfrm>
          <a:prstGeom prst="rect">
            <a:avLst/>
          </a:prstGeom>
          <a:noFill/>
        </p:spPr>
        <p:txBody>
          <a:bodyPr wrap="none" rtlCol="0">
            <a:spAutoFit/>
          </a:bodyPr>
          <a:lstStyle/>
          <a:p>
            <a:r>
              <a:rPr lang="en-US" dirty="0">
                <a:solidFill>
                  <a:schemeClr val="accent5"/>
                </a:solidFill>
                <a:latin typeface="Arial" panose="020B0604020202020204" pitchFamily="34" charset="0"/>
                <a:cs typeface="Arial" panose="020B0604020202020204" pitchFamily="34" charset="0"/>
              </a:rPr>
              <a:t>Input message </a:t>
            </a:r>
            <a:r>
              <a:rPr lang="en-US" i="1" dirty="0">
                <a:solidFill>
                  <a:schemeClr val="accent5"/>
                </a:solidFill>
                <a:latin typeface="Arial" panose="020B0604020202020204" pitchFamily="34" charset="0"/>
                <a:cs typeface="Arial" panose="020B0604020202020204" pitchFamily="34" charset="0"/>
              </a:rPr>
              <a:t>B</a:t>
            </a:r>
            <a:r>
              <a:rPr lang="en-US" dirty="0">
                <a:solidFill>
                  <a:schemeClr val="accent5"/>
                </a:solidFill>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 </a:t>
            </a:r>
            <a:r>
              <a:rPr lang="en-US" dirty="0">
                <a:latin typeface="Courier" pitchFamily="2" charset="0"/>
                <a:cs typeface="Arial" panose="020B0604020202020204" pitchFamily="34" charset="0"/>
              </a:rPr>
              <a:t>A B R A C A D A B R A !</a:t>
            </a:r>
          </a:p>
        </p:txBody>
      </p:sp>
      <p:graphicFrame>
        <p:nvGraphicFramePr>
          <p:cNvPr id="5" name="Table 4">
            <a:extLst>
              <a:ext uri="{FF2B5EF4-FFF2-40B4-BE49-F238E27FC236}">
                <a16:creationId xmlns:a16="http://schemas.microsoft.com/office/drawing/2014/main" id="{0B1EFB9E-5DC7-0748-A23E-E8900A38D3EA}"/>
              </a:ext>
            </a:extLst>
          </p:cNvPr>
          <p:cNvGraphicFramePr>
            <a:graphicFrameLocks noGrp="1"/>
          </p:cNvGraphicFramePr>
          <p:nvPr/>
        </p:nvGraphicFramePr>
        <p:xfrm>
          <a:off x="8232419" y="1480000"/>
          <a:ext cx="3761874" cy="2333023"/>
        </p:xfrm>
        <a:graphic>
          <a:graphicData uri="http://schemas.openxmlformats.org/drawingml/2006/table">
            <a:tbl>
              <a:tblPr firstRow="1" bandRow="1">
                <a:tableStyleId>{5C22544A-7EE6-4342-B048-85BDC9FD1C3A}</a:tableStyleId>
              </a:tblPr>
              <a:tblGrid>
                <a:gridCol w="781539">
                  <a:extLst>
                    <a:ext uri="{9D8B030D-6E8A-4147-A177-3AD203B41FA5}">
                      <a16:colId xmlns:a16="http://schemas.microsoft.com/office/drawing/2014/main" val="3356975359"/>
                    </a:ext>
                  </a:extLst>
                </a:gridCol>
                <a:gridCol w="1041009">
                  <a:extLst>
                    <a:ext uri="{9D8B030D-6E8A-4147-A177-3AD203B41FA5}">
                      <a16:colId xmlns:a16="http://schemas.microsoft.com/office/drawing/2014/main" val="3601674449"/>
                    </a:ext>
                  </a:extLst>
                </a:gridCol>
                <a:gridCol w="1939326">
                  <a:extLst>
                    <a:ext uri="{9D8B030D-6E8A-4147-A177-3AD203B41FA5}">
                      <a16:colId xmlns:a16="http://schemas.microsoft.com/office/drawing/2014/main" val="2286965801"/>
                    </a:ext>
                  </a:extLst>
                </a:gridCol>
              </a:tblGrid>
              <a:tr h="333289">
                <a:tc>
                  <a:txBody>
                    <a:bodyPr/>
                    <a:lstStyle/>
                    <a:p>
                      <a:pPr algn="ctr"/>
                      <a:r>
                        <a:rPr lang="en-US" sz="1400" b="0" dirty="0">
                          <a:solidFill>
                            <a:schemeClr val="tx1"/>
                          </a:solidFill>
                          <a:latin typeface="Arial" panose="020B0604020202020204" pitchFamily="34" charset="0"/>
                          <a:cs typeface="Arial" panose="020B0604020202020204" pitchFamily="34" charset="0"/>
                        </a:rPr>
                        <a:t>char</a:t>
                      </a:r>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0" dirty="0">
                          <a:solidFill>
                            <a:schemeClr val="tx1"/>
                          </a:solidFill>
                          <a:latin typeface="Arial" panose="020B0604020202020204" pitchFamily="34" charset="0"/>
                          <a:cs typeface="Arial" panose="020B0604020202020204" pitchFamily="34" charset="0"/>
                        </a:rPr>
                        <a:t>frequency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0" dirty="0">
                          <a:solidFill>
                            <a:schemeClr val="tx1"/>
                          </a:solidFill>
                          <a:latin typeface="Arial" panose="020B0604020202020204" pitchFamily="34" charset="0"/>
                          <a:cs typeface="Arial" panose="020B0604020202020204" pitchFamily="34" charset="0"/>
                        </a:rPr>
                        <a:t>Huffman encoding</a:t>
                      </a:r>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07920617"/>
                  </a:ext>
                </a:extLst>
              </a:tr>
              <a:tr h="333289">
                <a:tc>
                  <a:txBody>
                    <a:bodyPr/>
                    <a:lstStyle/>
                    <a:p>
                      <a:pPr algn="ctr"/>
                      <a:r>
                        <a:rPr lang="en-US" sz="1400" b="0" dirty="0">
                          <a:solidFill>
                            <a:schemeClr val="tx1"/>
                          </a:solidFill>
                          <a:latin typeface="Arial" panose="020B0604020202020204" pitchFamily="34" charset="0"/>
                          <a:cs typeface="Arial" panose="020B0604020202020204" pitchFamily="34" charset="0"/>
                        </a:rPr>
                        <a:t>A</a:t>
                      </a: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sz="1400" b="0" dirty="0">
                          <a:solidFill>
                            <a:schemeClr val="tx1"/>
                          </a:solidFill>
                          <a:latin typeface="Arial" panose="020B0604020202020204" pitchFamily="34" charset="0"/>
                          <a:cs typeface="Arial" panose="020B0604020202020204" pitchFamily="34"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endParaRPr lang="en-US" sz="1400" b="0" dirty="0">
                        <a:solidFill>
                          <a:schemeClr val="tx1"/>
                        </a:solidFill>
                        <a:latin typeface="Courier" pitchFamily="2"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698704590"/>
                  </a:ext>
                </a:extLst>
              </a:tr>
              <a:tr h="333289">
                <a:tc>
                  <a:txBody>
                    <a:bodyPr/>
                    <a:lstStyle/>
                    <a:p>
                      <a:pPr algn="ctr"/>
                      <a:r>
                        <a:rPr lang="en-US" sz="1400" b="0" dirty="0">
                          <a:solidFill>
                            <a:schemeClr val="tx1"/>
                          </a:solidFill>
                          <a:latin typeface="Arial" panose="020B0604020202020204" pitchFamily="34" charset="0"/>
                          <a:cs typeface="Arial" panose="020B0604020202020204" pitchFamily="34" charset="0"/>
                        </a:rPr>
                        <a:t>B</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400" b="0" dirty="0">
                          <a:solidFill>
                            <a:schemeClr val="tx1"/>
                          </a:solidFill>
                          <a:latin typeface="Arial" panose="020B0604020202020204" pitchFamily="34" charset="0"/>
                          <a:cs typeface="Arial" panose="020B0604020202020204" pitchFamily="34"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endParaRPr lang="en-US" sz="1400" b="0" dirty="0">
                        <a:solidFill>
                          <a:schemeClr val="tx1"/>
                        </a:solidFill>
                        <a:latin typeface="Courier" pitchFamily="2"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97155727"/>
                  </a:ext>
                </a:extLst>
              </a:tr>
              <a:tr h="333289">
                <a:tc>
                  <a:txBody>
                    <a:bodyPr/>
                    <a:lstStyle/>
                    <a:p>
                      <a:pPr algn="ctr"/>
                      <a:r>
                        <a:rPr lang="en-US" sz="1400" b="0" dirty="0">
                          <a:solidFill>
                            <a:schemeClr val="tx1"/>
                          </a:solidFill>
                          <a:latin typeface="Arial" panose="020B0604020202020204" pitchFamily="34" charset="0"/>
                          <a:cs typeface="Arial" panose="020B0604020202020204" pitchFamily="34" charset="0"/>
                        </a:rPr>
                        <a:t>C</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400" b="0" dirty="0">
                          <a:solidFill>
                            <a:schemeClr val="tx1"/>
                          </a:solidFill>
                          <a:latin typeface="Arial" panose="020B0604020202020204" pitchFamily="34" charset="0"/>
                          <a:cs typeface="Arial" panose="020B0604020202020204" pitchFamily="34"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endParaRPr lang="en-US" sz="1400" b="0" dirty="0">
                        <a:solidFill>
                          <a:schemeClr val="tx1"/>
                        </a:solidFill>
                        <a:latin typeface="Courier" pitchFamily="2"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48973282"/>
                  </a:ext>
                </a:extLst>
              </a:tr>
              <a:tr h="333289">
                <a:tc>
                  <a:txBody>
                    <a:bodyPr/>
                    <a:lstStyle/>
                    <a:p>
                      <a:pPr algn="ctr"/>
                      <a:r>
                        <a:rPr lang="en-US" sz="1400" b="0" dirty="0">
                          <a:solidFill>
                            <a:schemeClr val="tx1"/>
                          </a:solidFill>
                          <a:latin typeface="Arial" panose="020B0604020202020204" pitchFamily="34" charset="0"/>
                          <a:cs typeface="Arial" panose="020B0604020202020204" pitchFamily="34" charset="0"/>
                        </a:rPr>
                        <a:t>D</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400" b="0" dirty="0">
                          <a:solidFill>
                            <a:schemeClr val="tx1"/>
                          </a:solidFill>
                          <a:latin typeface="Arial" panose="020B0604020202020204" pitchFamily="34" charset="0"/>
                          <a:cs typeface="Arial" panose="020B0604020202020204" pitchFamily="34"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endParaRPr lang="en-US" sz="1400" b="0" dirty="0">
                        <a:solidFill>
                          <a:schemeClr val="tx1"/>
                        </a:solidFill>
                        <a:latin typeface="Courier" pitchFamily="2"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931113414"/>
                  </a:ext>
                </a:extLst>
              </a:tr>
              <a:tr h="333289">
                <a:tc>
                  <a:txBody>
                    <a:bodyPr/>
                    <a:lstStyle/>
                    <a:p>
                      <a:pPr algn="ctr"/>
                      <a:r>
                        <a:rPr lang="en-US" sz="1400" b="0" dirty="0">
                          <a:solidFill>
                            <a:schemeClr val="tx1"/>
                          </a:solidFill>
                          <a:latin typeface="Arial" panose="020B0604020202020204" pitchFamily="34" charset="0"/>
                          <a:cs typeface="Arial" panose="020B0604020202020204" pitchFamily="34" charset="0"/>
                        </a:rPr>
                        <a:t>R</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400" b="0" dirty="0">
                          <a:solidFill>
                            <a:schemeClr val="tx1"/>
                          </a:solidFill>
                          <a:latin typeface="Arial" panose="020B0604020202020204" pitchFamily="34" charset="0"/>
                          <a:cs typeface="Arial" panose="020B0604020202020204" pitchFamily="34"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endParaRPr lang="en-US" sz="1400" b="0" dirty="0">
                        <a:solidFill>
                          <a:schemeClr val="tx1"/>
                        </a:solidFill>
                        <a:latin typeface="Courier" pitchFamily="2"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620110253"/>
                  </a:ext>
                </a:extLst>
              </a:tr>
              <a:tr h="333289">
                <a:tc>
                  <a:txBody>
                    <a:bodyPr/>
                    <a:lstStyle/>
                    <a:p>
                      <a:pPr algn="ctr"/>
                      <a:r>
                        <a:rPr lang="en-US" sz="1400" b="0" dirty="0">
                          <a:solidFill>
                            <a:schemeClr val="tx1"/>
                          </a:solidFill>
                          <a:latin typeface="Arial" panose="020B0604020202020204" pitchFamily="34" charset="0"/>
                          <a:cs typeface="Arial" panose="020B0604020202020204" pitchFamily="34" charset="0"/>
                        </a:rPr>
                        <a:t>!</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400" b="0" dirty="0">
                          <a:solidFill>
                            <a:schemeClr val="tx1"/>
                          </a:solidFill>
                          <a:latin typeface="Arial" panose="020B0604020202020204" pitchFamily="34" charset="0"/>
                          <a:cs typeface="Arial" panose="020B0604020202020204" pitchFamily="34"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endParaRPr lang="en-US" sz="1400" b="0" dirty="0">
                        <a:solidFill>
                          <a:schemeClr val="tx1"/>
                        </a:solidFill>
                        <a:latin typeface="Courier" pitchFamily="2"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208363806"/>
                  </a:ext>
                </a:extLst>
              </a:tr>
            </a:tbl>
          </a:graphicData>
        </a:graphic>
      </p:graphicFrame>
      <p:grpSp>
        <p:nvGrpSpPr>
          <p:cNvPr id="14" name="Group 13" descr="simulation of code generation via iterative merging of 2 lest frequent tries">
            <a:extLst>
              <a:ext uri="{FF2B5EF4-FFF2-40B4-BE49-F238E27FC236}">
                <a16:creationId xmlns:a16="http://schemas.microsoft.com/office/drawing/2014/main" id="{A1442D0C-04D1-EC4E-A05A-DBB522B0CA56}"/>
              </a:ext>
            </a:extLst>
          </p:cNvPr>
          <p:cNvGrpSpPr/>
          <p:nvPr/>
        </p:nvGrpSpPr>
        <p:grpSpPr>
          <a:xfrm>
            <a:off x="973675" y="4695868"/>
            <a:ext cx="8982462" cy="1767148"/>
            <a:chOff x="973675" y="4695868"/>
            <a:chExt cx="8982462" cy="1767148"/>
          </a:xfrm>
        </p:grpSpPr>
        <p:grpSp>
          <p:nvGrpSpPr>
            <p:cNvPr id="50" name="Group 49">
              <a:extLst>
                <a:ext uri="{FF2B5EF4-FFF2-40B4-BE49-F238E27FC236}">
                  <a16:creationId xmlns:a16="http://schemas.microsoft.com/office/drawing/2014/main" id="{4BB728EC-684D-C64F-8EEE-D6DA3F27F617}"/>
                </a:ext>
              </a:extLst>
            </p:cNvPr>
            <p:cNvGrpSpPr/>
            <p:nvPr/>
          </p:nvGrpSpPr>
          <p:grpSpPr>
            <a:xfrm>
              <a:off x="973675" y="4695868"/>
              <a:ext cx="674305" cy="559000"/>
              <a:chOff x="1750163" y="4045010"/>
              <a:chExt cx="674305" cy="559000"/>
            </a:xfrm>
          </p:grpSpPr>
          <p:sp>
            <p:nvSpPr>
              <p:cNvPr id="8" name="Oval 7">
                <a:extLst>
                  <a:ext uri="{FF2B5EF4-FFF2-40B4-BE49-F238E27FC236}">
                    <a16:creationId xmlns:a16="http://schemas.microsoft.com/office/drawing/2014/main" id="{06A05484-6E5A-FF49-A52B-C4D42E7330A8}"/>
                  </a:ext>
                </a:extLst>
              </p:cNvPr>
              <p:cNvSpPr/>
              <p:nvPr/>
            </p:nvSpPr>
            <p:spPr>
              <a:xfrm>
                <a:off x="2063069" y="4099720"/>
                <a:ext cx="318654" cy="332509"/>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rial" panose="020B0604020202020204" pitchFamily="34" charset="0"/>
                    <a:cs typeface="Arial" panose="020B0604020202020204" pitchFamily="34" charset="0"/>
                  </a:rPr>
                  <a:t>A</a:t>
                </a:r>
              </a:p>
            </p:txBody>
          </p:sp>
          <p:cxnSp>
            <p:nvCxnSpPr>
              <p:cNvPr id="11" name="Straight Connector 10">
                <a:extLst>
                  <a:ext uri="{FF2B5EF4-FFF2-40B4-BE49-F238E27FC236}">
                    <a16:creationId xmlns:a16="http://schemas.microsoft.com/office/drawing/2014/main" id="{7F416B39-AF2E-4047-9074-481B3106F0B2}"/>
                  </a:ext>
                </a:extLst>
              </p:cNvPr>
              <p:cNvCxnSpPr>
                <a:cxnSpLocks/>
                <a:stCxn id="8" idx="5"/>
              </p:cNvCxnSpPr>
              <p:nvPr/>
            </p:nvCxnSpPr>
            <p:spPr>
              <a:xfrm>
                <a:off x="2335057" y="4383534"/>
                <a:ext cx="89411"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7F635E89-5D4D-9545-9912-172119E9824E}"/>
                  </a:ext>
                </a:extLst>
              </p:cNvPr>
              <p:cNvSpPr txBox="1"/>
              <p:nvPr/>
            </p:nvSpPr>
            <p:spPr>
              <a:xfrm>
                <a:off x="1750163" y="4045010"/>
                <a:ext cx="312906" cy="369332"/>
              </a:xfrm>
              <a:prstGeom prst="rect">
                <a:avLst/>
              </a:prstGeom>
              <a:noFill/>
            </p:spPr>
            <p:txBody>
              <a:bodyPr wrap="none" rtlCol="0">
                <a:spAutoFit/>
              </a:bodyPr>
              <a:lstStyle/>
              <a:p>
                <a:r>
                  <a:rPr lang="en-US" dirty="0">
                    <a:solidFill>
                      <a:schemeClr val="accent5"/>
                    </a:solidFill>
                    <a:latin typeface="Arial" panose="020B0604020202020204" pitchFamily="34" charset="0"/>
                    <a:cs typeface="Arial" panose="020B0604020202020204" pitchFamily="34" charset="0"/>
                  </a:rPr>
                  <a:t>5</a:t>
                </a:r>
              </a:p>
            </p:txBody>
          </p:sp>
          <p:cxnSp>
            <p:nvCxnSpPr>
              <p:cNvPr id="13" name="Straight Connector 12">
                <a:extLst>
                  <a:ext uri="{FF2B5EF4-FFF2-40B4-BE49-F238E27FC236}">
                    <a16:creationId xmlns:a16="http://schemas.microsoft.com/office/drawing/2014/main" id="{39FE95BA-59D7-454A-AA88-33EC87FE60D8}"/>
                  </a:ext>
                </a:extLst>
              </p:cNvPr>
              <p:cNvCxnSpPr>
                <a:cxnSpLocks/>
                <a:stCxn id="8" idx="3"/>
              </p:cNvCxnSpPr>
              <p:nvPr/>
            </p:nvCxnSpPr>
            <p:spPr>
              <a:xfrm flipH="1">
                <a:off x="1963362" y="4383534"/>
                <a:ext cx="146373"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53" name="Group 52">
              <a:extLst>
                <a:ext uri="{FF2B5EF4-FFF2-40B4-BE49-F238E27FC236}">
                  <a16:creationId xmlns:a16="http://schemas.microsoft.com/office/drawing/2014/main" id="{80C2A224-70B8-644A-A136-753F6D307255}"/>
                </a:ext>
              </a:extLst>
            </p:cNvPr>
            <p:cNvGrpSpPr/>
            <p:nvPr/>
          </p:nvGrpSpPr>
          <p:grpSpPr>
            <a:xfrm>
              <a:off x="4457937" y="4747464"/>
              <a:ext cx="656575" cy="504290"/>
              <a:chOff x="2095516" y="5232762"/>
              <a:chExt cx="656575" cy="504290"/>
            </a:xfrm>
          </p:grpSpPr>
          <p:sp>
            <p:nvSpPr>
              <p:cNvPr id="21" name="Oval 20">
                <a:extLst>
                  <a:ext uri="{FF2B5EF4-FFF2-40B4-BE49-F238E27FC236}">
                    <a16:creationId xmlns:a16="http://schemas.microsoft.com/office/drawing/2014/main" id="{D6672FE3-8CA2-3341-9A1B-C922171C6457}"/>
                  </a:ext>
                </a:extLst>
              </p:cNvPr>
              <p:cNvSpPr/>
              <p:nvPr/>
            </p:nvSpPr>
            <p:spPr>
              <a:xfrm>
                <a:off x="2390910" y="5232762"/>
                <a:ext cx="318654" cy="332509"/>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rial" panose="020B0604020202020204" pitchFamily="34" charset="0"/>
                    <a:cs typeface="Arial" panose="020B0604020202020204" pitchFamily="34" charset="0"/>
                  </a:rPr>
                  <a:t>D</a:t>
                </a:r>
              </a:p>
            </p:txBody>
          </p:sp>
          <p:cxnSp>
            <p:nvCxnSpPr>
              <p:cNvPr id="25" name="Straight Connector 24">
                <a:extLst>
                  <a:ext uri="{FF2B5EF4-FFF2-40B4-BE49-F238E27FC236}">
                    <a16:creationId xmlns:a16="http://schemas.microsoft.com/office/drawing/2014/main" id="{5C2EF432-2414-5B4A-AABD-B24368064650}"/>
                  </a:ext>
                </a:extLst>
              </p:cNvPr>
              <p:cNvCxnSpPr>
                <a:cxnSpLocks/>
              </p:cNvCxnSpPr>
              <p:nvPr/>
            </p:nvCxnSpPr>
            <p:spPr>
              <a:xfrm>
                <a:off x="2662680" y="5516576"/>
                <a:ext cx="89411"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AB6A5AF-60FC-2C47-BE29-25A979C4D2DA}"/>
                  </a:ext>
                </a:extLst>
              </p:cNvPr>
              <p:cNvCxnSpPr>
                <a:cxnSpLocks/>
                <a:stCxn id="21" idx="3"/>
              </p:cNvCxnSpPr>
              <p:nvPr/>
            </p:nvCxnSpPr>
            <p:spPr>
              <a:xfrm flipH="1">
                <a:off x="2291203" y="5516576"/>
                <a:ext cx="146373"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BAB47F5E-531D-EB46-A610-6227428059DA}"/>
                  </a:ext>
                </a:extLst>
              </p:cNvPr>
              <p:cNvSpPr txBox="1"/>
              <p:nvPr/>
            </p:nvSpPr>
            <p:spPr>
              <a:xfrm>
                <a:off x="2095516" y="5239844"/>
                <a:ext cx="312906" cy="369332"/>
              </a:xfrm>
              <a:prstGeom prst="rect">
                <a:avLst/>
              </a:prstGeom>
              <a:noFill/>
            </p:spPr>
            <p:txBody>
              <a:bodyPr wrap="none" rtlCol="0">
                <a:spAutoFit/>
              </a:bodyPr>
              <a:lstStyle/>
              <a:p>
                <a:r>
                  <a:rPr lang="en-US" dirty="0">
                    <a:solidFill>
                      <a:schemeClr val="accent5"/>
                    </a:solidFill>
                    <a:latin typeface="Arial" panose="020B0604020202020204" pitchFamily="34" charset="0"/>
                    <a:cs typeface="Arial" panose="020B0604020202020204" pitchFamily="34" charset="0"/>
                  </a:rPr>
                  <a:t>1</a:t>
                </a:r>
              </a:p>
            </p:txBody>
          </p:sp>
        </p:grpSp>
        <p:grpSp>
          <p:nvGrpSpPr>
            <p:cNvPr id="54" name="Group 53">
              <a:extLst>
                <a:ext uri="{FF2B5EF4-FFF2-40B4-BE49-F238E27FC236}">
                  <a16:creationId xmlns:a16="http://schemas.microsoft.com/office/drawing/2014/main" id="{DBED95C4-09D9-9848-A2E3-FED2D16B1923}"/>
                </a:ext>
              </a:extLst>
            </p:cNvPr>
            <p:cNvGrpSpPr/>
            <p:nvPr/>
          </p:nvGrpSpPr>
          <p:grpSpPr>
            <a:xfrm>
              <a:off x="5581758" y="4733987"/>
              <a:ext cx="686428" cy="541113"/>
              <a:chOff x="4044968" y="5154326"/>
              <a:chExt cx="686428" cy="541113"/>
            </a:xfrm>
          </p:grpSpPr>
          <p:sp>
            <p:nvSpPr>
              <p:cNvPr id="26" name="TextBox 25">
                <a:extLst>
                  <a:ext uri="{FF2B5EF4-FFF2-40B4-BE49-F238E27FC236}">
                    <a16:creationId xmlns:a16="http://schemas.microsoft.com/office/drawing/2014/main" id="{06E36F72-4A61-154A-B16F-D1F8329DD90E}"/>
                  </a:ext>
                </a:extLst>
              </p:cNvPr>
              <p:cNvSpPr txBox="1"/>
              <p:nvPr/>
            </p:nvSpPr>
            <p:spPr>
              <a:xfrm>
                <a:off x="4044968" y="5154326"/>
                <a:ext cx="312906" cy="369332"/>
              </a:xfrm>
              <a:prstGeom prst="rect">
                <a:avLst/>
              </a:prstGeom>
              <a:noFill/>
            </p:spPr>
            <p:txBody>
              <a:bodyPr wrap="none" rtlCol="0">
                <a:spAutoFit/>
              </a:bodyPr>
              <a:lstStyle/>
              <a:p>
                <a:r>
                  <a:rPr lang="en-US" dirty="0">
                    <a:solidFill>
                      <a:schemeClr val="accent5"/>
                    </a:solidFill>
                    <a:latin typeface="Arial" panose="020B0604020202020204" pitchFamily="34" charset="0"/>
                    <a:cs typeface="Arial" panose="020B0604020202020204" pitchFamily="34" charset="0"/>
                  </a:rPr>
                  <a:t>2</a:t>
                </a:r>
              </a:p>
            </p:txBody>
          </p:sp>
          <p:sp>
            <p:nvSpPr>
              <p:cNvPr id="30" name="Oval 29">
                <a:extLst>
                  <a:ext uri="{FF2B5EF4-FFF2-40B4-BE49-F238E27FC236}">
                    <a16:creationId xmlns:a16="http://schemas.microsoft.com/office/drawing/2014/main" id="{E642B119-1D86-A44C-9577-8EBF060B8425}"/>
                  </a:ext>
                </a:extLst>
              </p:cNvPr>
              <p:cNvSpPr/>
              <p:nvPr/>
            </p:nvSpPr>
            <p:spPr>
              <a:xfrm>
                <a:off x="4369997" y="5191149"/>
                <a:ext cx="318654" cy="332509"/>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rial" panose="020B0604020202020204" pitchFamily="34" charset="0"/>
                    <a:cs typeface="Arial" panose="020B0604020202020204" pitchFamily="34" charset="0"/>
                  </a:rPr>
                  <a:t>R</a:t>
                </a:r>
              </a:p>
            </p:txBody>
          </p:sp>
          <p:cxnSp>
            <p:nvCxnSpPr>
              <p:cNvPr id="34" name="Straight Connector 33">
                <a:extLst>
                  <a:ext uri="{FF2B5EF4-FFF2-40B4-BE49-F238E27FC236}">
                    <a16:creationId xmlns:a16="http://schemas.microsoft.com/office/drawing/2014/main" id="{012D269B-7F07-4847-B1D9-B334DA13113F}"/>
                  </a:ext>
                </a:extLst>
              </p:cNvPr>
              <p:cNvCxnSpPr>
                <a:cxnSpLocks/>
                <a:stCxn id="30" idx="5"/>
              </p:cNvCxnSpPr>
              <p:nvPr/>
            </p:nvCxnSpPr>
            <p:spPr>
              <a:xfrm>
                <a:off x="4641985" y="5474963"/>
                <a:ext cx="89411"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94616B5-085B-6445-999D-C838831D869B}"/>
                  </a:ext>
                </a:extLst>
              </p:cNvPr>
              <p:cNvCxnSpPr>
                <a:cxnSpLocks/>
                <a:stCxn id="30" idx="3"/>
              </p:cNvCxnSpPr>
              <p:nvPr/>
            </p:nvCxnSpPr>
            <p:spPr>
              <a:xfrm flipH="1">
                <a:off x="4270290" y="5474963"/>
                <a:ext cx="146373"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55" name="Group 54">
              <a:extLst>
                <a:ext uri="{FF2B5EF4-FFF2-40B4-BE49-F238E27FC236}">
                  <a16:creationId xmlns:a16="http://schemas.microsoft.com/office/drawing/2014/main" id="{8BCCA23C-6120-324A-80C0-BB5D4E1070A1}"/>
                </a:ext>
              </a:extLst>
            </p:cNvPr>
            <p:cNvGrpSpPr/>
            <p:nvPr/>
          </p:nvGrpSpPr>
          <p:grpSpPr>
            <a:xfrm>
              <a:off x="7922235" y="5958120"/>
              <a:ext cx="608623" cy="504896"/>
              <a:chOff x="2800118" y="5848814"/>
              <a:chExt cx="608623" cy="504896"/>
            </a:xfrm>
          </p:grpSpPr>
          <p:sp>
            <p:nvSpPr>
              <p:cNvPr id="20" name="TextBox 19">
                <a:extLst>
                  <a:ext uri="{FF2B5EF4-FFF2-40B4-BE49-F238E27FC236}">
                    <a16:creationId xmlns:a16="http://schemas.microsoft.com/office/drawing/2014/main" id="{727DCE5D-8EC6-864B-896F-70EC0B08CD94}"/>
                  </a:ext>
                </a:extLst>
              </p:cNvPr>
              <p:cNvSpPr txBox="1"/>
              <p:nvPr/>
            </p:nvSpPr>
            <p:spPr>
              <a:xfrm>
                <a:off x="2800118" y="5848814"/>
                <a:ext cx="312906" cy="369332"/>
              </a:xfrm>
              <a:prstGeom prst="rect">
                <a:avLst/>
              </a:prstGeom>
              <a:noFill/>
            </p:spPr>
            <p:txBody>
              <a:bodyPr wrap="none" rtlCol="0">
                <a:spAutoFit/>
              </a:bodyPr>
              <a:lstStyle/>
              <a:p>
                <a:r>
                  <a:rPr lang="en-US" dirty="0">
                    <a:solidFill>
                      <a:schemeClr val="accent5"/>
                    </a:solidFill>
                    <a:latin typeface="Arial" panose="020B0604020202020204" pitchFamily="34" charset="0"/>
                    <a:cs typeface="Arial" panose="020B0604020202020204" pitchFamily="34" charset="0"/>
                  </a:rPr>
                  <a:t>1</a:t>
                </a:r>
              </a:p>
            </p:txBody>
          </p:sp>
          <p:sp>
            <p:nvSpPr>
              <p:cNvPr id="38" name="Oval 37">
                <a:extLst>
                  <a:ext uri="{FF2B5EF4-FFF2-40B4-BE49-F238E27FC236}">
                    <a16:creationId xmlns:a16="http://schemas.microsoft.com/office/drawing/2014/main" id="{2127C9C6-2140-6B43-AC01-EBE5FEA76679}"/>
                  </a:ext>
                </a:extLst>
              </p:cNvPr>
              <p:cNvSpPr/>
              <p:nvPr/>
            </p:nvSpPr>
            <p:spPr>
              <a:xfrm>
                <a:off x="3047342" y="5849420"/>
                <a:ext cx="318654" cy="332509"/>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rial" panose="020B0604020202020204" pitchFamily="34" charset="0"/>
                    <a:cs typeface="Arial" panose="020B0604020202020204" pitchFamily="34" charset="0"/>
                  </a:rPr>
                  <a:t>!</a:t>
                </a:r>
              </a:p>
            </p:txBody>
          </p:sp>
          <p:cxnSp>
            <p:nvCxnSpPr>
              <p:cNvPr id="42" name="Straight Connector 41">
                <a:extLst>
                  <a:ext uri="{FF2B5EF4-FFF2-40B4-BE49-F238E27FC236}">
                    <a16:creationId xmlns:a16="http://schemas.microsoft.com/office/drawing/2014/main" id="{6C5036F1-EE6B-E148-93CC-87B22BF6B9CD}"/>
                  </a:ext>
                </a:extLst>
              </p:cNvPr>
              <p:cNvCxnSpPr>
                <a:cxnSpLocks/>
                <a:stCxn id="38" idx="5"/>
              </p:cNvCxnSpPr>
              <p:nvPr/>
            </p:nvCxnSpPr>
            <p:spPr>
              <a:xfrm>
                <a:off x="3319330" y="6133234"/>
                <a:ext cx="89411"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774C459E-FF64-9A4A-BB63-3308E3CB024B}"/>
                  </a:ext>
                </a:extLst>
              </p:cNvPr>
              <p:cNvCxnSpPr>
                <a:cxnSpLocks/>
                <a:stCxn id="38" idx="3"/>
              </p:cNvCxnSpPr>
              <p:nvPr/>
            </p:nvCxnSpPr>
            <p:spPr>
              <a:xfrm flipH="1">
                <a:off x="2947635" y="6133234"/>
                <a:ext cx="146373"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52" name="Group 51">
              <a:extLst>
                <a:ext uri="{FF2B5EF4-FFF2-40B4-BE49-F238E27FC236}">
                  <a16:creationId xmlns:a16="http://schemas.microsoft.com/office/drawing/2014/main" id="{ADA2F9D6-8F0A-7C4A-AD27-26205113B7D8}"/>
                </a:ext>
              </a:extLst>
            </p:cNvPr>
            <p:cNvGrpSpPr/>
            <p:nvPr/>
          </p:nvGrpSpPr>
          <p:grpSpPr>
            <a:xfrm>
              <a:off x="9348868" y="5899163"/>
              <a:ext cx="607269" cy="563853"/>
              <a:chOff x="3659033" y="5849420"/>
              <a:chExt cx="607269" cy="563853"/>
            </a:xfrm>
          </p:grpSpPr>
          <p:sp>
            <p:nvSpPr>
              <p:cNvPr id="39" name="Oval 38">
                <a:extLst>
                  <a:ext uri="{FF2B5EF4-FFF2-40B4-BE49-F238E27FC236}">
                    <a16:creationId xmlns:a16="http://schemas.microsoft.com/office/drawing/2014/main" id="{10689D03-0CF9-0540-888E-D17C352C2EE9}"/>
                  </a:ext>
                </a:extLst>
              </p:cNvPr>
              <p:cNvSpPr/>
              <p:nvPr/>
            </p:nvSpPr>
            <p:spPr>
              <a:xfrm>
                <a:off x="3928929" y="5885637"/>
                <a:ext cx="318654" cy="332509"/>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rial" panose="020B0604020202020204" pitchFamily="34" charset="0"/>
                    <a:cs typeface="Arial" panose="020B0604020202020204" pitchFamily="34" charset="0"/>
                  </a:rPr>
                  <a:t>C</a:t>
                </a:r>
              </a:p>
            </p:txBody>
          </p:sp>
          <p:sp>
            <p:nvSpPr>
              <p:cNvPr id="45" name="TextBox 44">
                <a:extLst>
                  <a:ext uri="{FF2B5EF4-FFF2-40B4-BE49-F238E27FC236}">
                    <a16:creationId xmlns:a16="http://schemas.microsoft.com/office/drawing/2014/main" id="{61BF5F88-CEB7-034F-A6BA-7BEFE722CF65}"/>
                  </a:ext>
                </a:extLst>
              </p:cNvPr>
              <p:cNvSpPr txBox="1"/>
              <p:nvPr/>
            </p:nvSpPr>
            <p:spPr>
              <a:xfrm>
                <a:off x="3659033" y="5849420"/>
                <a:ext cx="312906" cy="369332"/>
              </a:xfrm>
              <a:prstGeom prst="rect">
                <a:avLst/>
              </a:prstGeom>
              <a:noFill/>
            </p:spPr>
            <p:txBody>
              <a:bodyPr wrap="none" rtlCol="0">
                <a:spAutoFit/>
              </a:bodyPr>
              <a:lstStyle/>
              <a:p>
                <a:r>
                  <a:rPr lang="en-US" dirty="0">
                    <a:solidFill>
                      <a:schemeClr val="accent5"/>
                    </a:solidFill>
                    <a:latin typeface="Arial" panose="020B0604020202020204" pitchFamily="34" charset="0"/>
                    <a:cs typeface="Arial" panose="020B0604020202020204" pitchFamily="34" charset="0"/>
                  </a:rPr>
                  <a:t>1</a:t>
                </a:r>
              </a:p>
            </p:txBody>
          </p:sp>
          <p:cxnSp>
            <p:nvCxnSpPr>
              <p:cNvPr id="46" name="Straight Connector 45">
                <a:extLst>
                  <a:ext uri="{FF2B5EF4-FFF2-40B4-BE49-F238E27FC236}">
                    <a16:creationId xmlns:a16="http://schemas.microsoft.com/office/drawing/2014/main" id="{4C200A43-A8D1-994C-849E-661DCD3B99E4}"/>
                  </a:ext>
                </a:extLst>
              </p:cNvPr>
              <p:cNvCxnSpPr>
                <a:cxnSpLocks/>
              </p:cNvCxnSpPr>
              <p:nvPr/>
            </p:nvCxnSpPr>
            <p:spPr>
              <a:xfrm>
                <a:off x="4176891" y="6192797"/>
                <a:ext cx="89411"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BF6B1C4A-4590-F547-9264-0AFB17854521}"/>
                  </a:ext>
                </a:extLst>
              </p:cNvPr>
              <p:cNvCxnSpPr>
                <a:cxnSpLocks/>
              </p:cNvCxnSpPr>
              <p:nvPr/>
            </p:nvCxnSpPr>
            <p:spPr>
              <a:xfrm flipH="1">
                <a:off x="3805414" y="6192797"/>
                <a:ext cx="146373"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51" name="Group 50">
              <a:extLst>
                <a:ext uri="{FF2B5EF4-FFF2-40B4-BE49-F238E27FC236}">
                  <a16:creationId xmlns:a16="http://schemas.microsoft.com/office/drawing/2014/main" id="{A24A3F39-4AA7-F740-B458-F22569ED3BAE}"/>
                </a:ext>
              </a:extLst>
            </p:cNvPr>
            <p:cNvGrpSpPr/>
            <p:nvPr/>
          </p:nvGrpSpPr>
          <p:grpSpPr>
            <a:xfrm>
              <a:off x="2123814" y="4727306"/>
              <a:ext cx="645196" cy="554126"/>
              <a:chOff x="4941987" y="5147244"/>
              <a:chExt cx="645196" cy="554126"/>
            </a:xfrm>
          </p:grpSpPr>
          <p:sp>
            <p:nvSpPr>
              <p:cNvPr id="31" name="Oval 30">
                <a:extLst>
                  <a:ext uri="{FF2B5EF4-FFF2-40B4-BE49-F238E27FC236}">
                    <a16:creationId xmlns:a16="http://schemas.microsoft.com/office/drawing/2014/main" id="{672AA4AA-B7BD-3A4E-A1FB-38D2C2633F75}"/>
                  </a:ext>
                </a:extLst>
              </p:cNvPr>
              <p:cNvSpPr/>
              <p:nvPr/>
            </p:nvSpPr>
            <p:spPr>
              <a:xfrm>
                <a:off x="5203782" y="5169647"/>
                <a:ext cx="318654" cy="332509"/>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rial" panose="020B0604020202020204" pitchFamily="34" charset="0"/>
                    <a:cs typeface="Arial" panose="020B0604020202020204" pitchFamily="34" charset="0"/>
                  </a:rPr>
                  <a:t>B</a:t>
                </a:r>
              </a:p>
            </p:txBody>
          </p:sp>
          <p:sp>
            <p:nvSpPr>
              <p:cNvPr id="37" name="TextBox 36">
                <a:extLst>
                  <a:ext uri="{FF2B5EF4-FFF2-40B4-BE49-F238E27FC236}">
                    <a16:creationId xmlns:a16="http://schemas.microsoft.com/office/drawing/2014/main" id="{A45535CD-8E64-0842-B568-A6F37CAA9314}"/>
                  </a:ext>
                </a:extLst>
              </p:cNvPr>
              <p:cNvSpPr txBox="1"/>
              <p:nvPr/>
            </p:nvSpPr>
            <p:spPr>
              <a:xfrm>
                <a:off x="4941987" y="5147244"/>
                <a:ext cx="312906" cy="369332"/>
              </a:xfrm>
              <a:prstGeom prst="rect">
                <a:avLst/>
              </a:prstGeom>
              <a:noFill/>
            </p:spPr>
            <p:txBody>
              <a:bodyPr wrap="none" rtlCol="0">
                <a:spAutoFit/>
              </a:bodyPr>
              <a:lstStyle/>
              <a:p>
                <a:r>
                  <a:rPr lang="en-US" dirty="0">
                    <a:solidFill>
                      <a:schemeClr val="accent5"/>
                    </a:solidFill>
                    <a:latin typeface="Arial" panose="020B0604020202020204" pitchFamily="34" charset="0"/>
                    <a:cs typeface="Arial" panose="020B0604020202020204" pitchFamily="34" charset="0"/>
                  </a:rPr>
                  <a:t>2</a:t>
                </a:r>
              </a:p>
            </p:txBody>
          </p:sp>
          <p:cxnSp>
            <p:nvCxnSpPr>
              <p:cNvPr id="48" name="Straight Connector 47">
                <a:extLst>
                  <a:ext uri="{FF2B5EF4-FFF2-40B4-BE49-F238E27FC236}">
                    <a16:creationId xmlns:a16="http://schemas.microsoft.com/office/drawing/2014/main" id="{C0BA2E99-AC99-E74E-AD6B-FA203D1318A4}"/>
                  </a:ext>
                </a:extLst>
              </p:cNvPr>
              <p:cNvCxnSpPr>
                <a:cxnSpLocks/>
              </p:cNvCxnSpPr>
              <p:nvPr/>
            </p:nvCxnSpPr>
            <p:spPr>
              <a:xfrm>
                <a:off x="5497772" y="5480894"/>
                <a:ext cx="89411"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2F4F3599-0F9C-6A4C-9C2C-EBFD9B07CD93}"/>
                  </a:ext>
                </a:extLst>
              </p:cNvPr>
              <p:cNvCxnSpPr>
                <a:cxnSpLocks/>
              </p:cNvCxnSpPr>
              <p:nvPr/>
            </p:nvCxnSpPr>
            <p:spPr>
              <a:xfrm flipH="1">
                <a:off x="5126077" y="5480894"/>
                <a:ext cx="146373"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40" name="Oval 39">
              <a:extLst>
                <a:ext uri="{FF2B5EF4-FFF2-40B4-BE49-F238E27FC236}">
                  <a16:creationId xmlns:a16="http://schemas.microsoft.com/office/drawing/2014/main" id="{0DC79CBF-4227-4545-BCD5-C596AD831B57}"/>
                </a:ext>
              </a:extLst>
            </p:cNvPr>
            <p:cNvSpPr/>
            <p:nvPr/>
          </p:nvSpPr>
          <p:spPr>
            <a:xfrm>
              <a:off x="8991523" y="5251754"/>
              <a:ext cx="318654" cy="332509"/>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latin typeface="Arial" panose="020B0604020202020204" pitchFamily="34" charset="0"/>
                <a:cs typeface="Arial" panose="020B0604020202020204" pitchFamily="34" charset="0"/>
              </a:endParaRPr>
            </a:p>
          </p:txBody>
        </p:sp>
        <p:cxnSp>
          <p:nvCxnSpPr>
            <p:cNvPr id="41" name="Straight Connector 40">
              <a:extLst>
                <a:ext uri="{FF2B5EF4-FFF2-40B4-BE49-F238E27FC236}">
                  <a16:creationId xmlns:a16="http://schemas.microsoft.com/office/drawing/2014/main" id="{B669C97F-D0A9-AA46-8A16-1A5EBC831B9F}"/>
                </a:ext>
              </a:extLst>
            </p:cNvPr>
            <p:cNvCxnSpPr>
              <a:cxnSpLocks/>
              <a:stCxn id="40" idx="3"/>
              <a:endCxn id="38" idx="7"/>
            </p:cNvCxnSpPr>
            <p:nvPr/>
          </p:nvCxnSpPr>
          <p:spPr>
            <a:xfrm flipH="1">
              <a:off x="8441447" y="5535568"/>
              <a:ext cx="596742" cy="471853"/>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3C9CE3C9-DE7D-1D41-A53A-191CFF549313}"/>
                </a:ext>
              </a:extLst>
            </p:cNvPr>
            <p:cNvCxnSpPr>
              <a:cxnSpLocks/>
              <a:stCxn id="40" idx="5"/>
              <a:endCxn id="39" idx="1"/>
            </p:cNvCxnSpPr>
            <p:nvPr/>
          </p:nvCxnSpPr>
          <p:spPr>
            <a:xfrm>
              <a:off x="9263511" y="5535568"/>
              <a:ext cx="401919" cy="448507"/>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FDCA9A76-CD34-8B42-AF84-DDB8A63ACBF3}"/>
                </a:ext>
              </a:extLst>
            </p:cNvPr>
            <p:cNvSpPr txBox="1"/>
            <p:nvPr/>
          </p:nvSpPr>
          <p:spPr>
            <a:xfrm>
              <a:off x="8725283" y="5139121"/>
              <a:ext cx="312906" cy="369332"/>
            </a:xfrm>
            <a:prstGeom prst="rect">
              <a:avLst/>
            </a:prstGeom>
            <a:noFill/>
          </p:spPr>
          <p:txBody>
            <a:bodyPr wrap="none" rtlCol="0">
              <a:spAutoFit/>
            </a:bodyPr>
            <a:lstStyle/>
            <a:p>
              <a:r>
                <a:rPr lang="en-US" dirty="0">
                  <a:solidFill>
                    <a:schemeClr val="accent5"/>
                  </a:solidFill>
                  <a:latin typeface="Arial" panose="020B0604020202020204" pitchFamily="34" charset="0"/>
                  <a:cs typeface="Arial" panose="020B0604020202020204" pitchFamily="34" charset="0"/>
                </a:rPr>
                <a:t>2</a:t>
              </a:r>
            </a:p>
          </p:txBody>
        </p:sp>
      </p:grpSp>
    </p:spTree>
    <p:extLst>
      <p:ext uri="{BB962C8B-B14F-4D97-AF65-F5344CB8AC3E}">
        <p14:creationId xmlns:p14="http://schemas.microsoft.com/office/powerpoint/2010/main" val="28654087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61A64-88E3-514F-96E5-EB5877D9729F}"/>
              </a:ext>
            </a:extLst>
          </p:cNvPr>
          <p:cNvSpPr>
            <a:spLocks noGrp="1"/>
          </p:cNvSpPr>
          <p:nvPr>
            <p:ph type="title"/>
          </p:nvPr>
        </p:nvSpPr>
        <p:spPr/>
        <p:txBody>
          <a:bodyPr/>
          <a:lstStyle/>
          <a:p>
            <a:r>
              <a:rPr lang="en-US" dirty="0"/>
              <a:t>Huffman compression</a:t>
            </a:r>
          </a:p>
        </p:txBody>
      </p:sp>
      <p:sp>
        <p:nvSpPr>
          <p:cNvPr id="3" name="Content Placeholder 2">
            <a:extLst>
              <a:ext uri="{FF2B5EF4-FFF2-40B4-BE49-F238E27FC236}">
                <a16:creationId xmlns:a16="http://schemas.microsoft.com/office/drawing/2014/main" id="{B9A27260-ED92-1742-90BD-44C0FED54F03}"/>
              </a:ext>
            </a:extLst>
          </p:cNvPr>
          <p:cNvSpPr>
            <a:spLocks noGrp="1"/>
          </p:cNvSpPr>
          <p:nvPr>
            <p:ph idx="1"/>
          </p:nvPr>
        </p:nvSpPr>
        <p:spPr/>
        <p:txBody>
          <a:bodyPr/>
          <a:lstStyle/>
          <a:p>
            <a:r>
              <a:rPr lang="en-US" dirty="0"/>
              <a:t>Demo</a:t>
            </a:r>
          </a:p>
        </p:txBody>
      </p:sp>
      <p:sp>
        <p:nvSpPr>
          <p:cNvPr id="4" name="TextBox 3">
            <a:extLst>
              <a:ext uri="{FF2B5EF4-FFF2-40B4-BE49-F238E27FC236}">
                <a16:creationId xmlns:a16="http://schemas.microsoft.com/office/drawing/2014/main" id="{EE7569D7-7FD6-584A-AE59-2A307297CAC8}"/>
              </a:ext>
            </a:extLst>
          </p:cNvPr>
          <p:cNvSpPr txBox="1"/>
          <p:nvPr/>
        </p:nvSpPr>
        <p:spPr>
          <a:xfrm>
            <a:off x="514866" y="2461846"/>
            <a:ext cx="5279009" cy="369332"/>
          </a:xfrm>
          <a:prstGeom prst="rect">
            <a:avLst/>
          </a:prstGeom>
          <a:noFill/>
        </p:spPr>
        <p:txBody>
          <a:bodyPr wrap="none" rtlCol="0">
            <a:spAutoFit/>
          </a:bodyPr>
          <a:lstStyle/>
          <a:p>
            <a:r>
              <a:rPr lang="en-US" dirty="0">
                <a:solidFill>
                  <a:schemeClr val="accent5"/>
                </a:solidFill>
                <a:latin typeface="Arial" panose="020B0604020202020204" pitchFamily="34" charset="0"/>
                <a:cs typeface="Arial" panose="020B0604020202020204" pitchFamily="34" charset="0"/>
              </a:rPr>
              <a:t>Input message </a:t>
            </a:r>
            <a:r>
              <a:rPr lang="en-US" i="1" dirty="0">
                <a:solidFill>
                  <a:schemeClr val="accent5"/>
                </a:solidFill>
                <a:latin typeface="Arial" panose="020B0604020202020204" pitchFamily="34" charset="0"/>
                <a:cs typeface="Arial" panose="020B0604020202020204" pitchFamily="34" charset="0"/>
              </a:rPr>
              <a:t>B</a:t>
            </a:r>
            <a:r>
              <a:rPr lang="en-US" dirty="0">
                <a:solidFill>
                  <a:schemeClr val="accent5"/>
                </a:solidFill>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 </a:t>
            </a:r>
            <a:r>
              <a:rPr lang="en-US" dirty="0">
                <a:latin typeface="Courier" pitchFamily="2" charset="0"/>
                <a:cs typeface="Arial" panose="020B0604020202020204" pitchFamily="34" charset="0"/>
              </a:rPr>
              <a:t>A B R A C A D A B R A !</a:t>
            </a:r>
          </a:p>
        </p:txBody>
      </p:sp>
      <p:graphicFrame>
        <p:nvGraphicFramePr>
          <p:cNvPr id="5" name="Table 4">
            <a:extLst>
              <a:ext uri="{FF2B5EF4-FFF2-40B4-BE49-F238E27FC236}">
                <a16:creationId xmlns:a16="http://schemas.microsoft.com/office/drawing/2014/main" id="{0B1EFB9E-5DC7-0748-A23E-E8900A38D3EA}"/>
              </a:ext>
            </a:extLst>
          </p:cNvPr>
          <p:cNvGraphicFramePr>
            <a:graphicFrameLocks noGrp="1"/>
          </p:cNvGraphicFramePr>
          <p:nvPr/>
        </p:nvGraphicFramePr>
        <p:xfrm>
          <a:off x="8232419" y="1480000"/>
          <a:ext cx="3761874" cy="2333023"/>
        </p:xfrm>
        <a:graphic>
          <a:graphicData uri="http://schemas.openxmlformats.org/drawingml/2006/table">
            <a:tbl>
              <a:tblPr firstRow="1" bandRow="1">
                <a:tableStyleId>{5C22544A-7EE6-4342-B048-85BDC9FD1C3A}</a:tableStyleId>
              </a:tblPr>
              <a:tblGrid>
                <a:gridCol w="781539">
                  <a:extLst>
                    <a:ext uri="{9D8B030D-6E8A-4147-A177-3AD203B41FA5}">
                      <a16:colId xmlns:a16="http://schemas.microsoft.com/office/drawing/2014/main" val="3356975359"/>
                    </a:ext>
                  </a:extLst>
                </a:gridCol>
                <a:gridCol w="1041009">
                  <a:extLst>
                    <a:ext uri="{9D8B030D-6E8A-4147-A177-3AD203B41FA5}">
                      <a16:colId xmlns:a16="http://schemas.microsoft.com/office/drawing/2014/main" val="3601674449"/>
                    </a:ext>
                  </a:extLst>
                </a:gridCol>
                <a:gridCol w="1939326">
                  <a:extLst>
                    <a:ext uri="{9D8B030D-6E8A-4147-A177-3AD203B41FA5}">
                      <a16:colId xmlns:a16="http://schemas.microsoft.com/office/drawing/2014/main" val="2286965801"/>
                    </a:ext>
                  </a:extLst>
                </a:gridCol>
              </a:tblGrid>
              <a:tr h="333289">
                <a:tc>
                  <a:txBody>
                    <a:bodyPr/>
                    <a:lstStyle/>
                    <a:p>
                      <a:pPr algn="ctr"/>
                      <a:r>
                        <a:rPr lang="en-US" sz="1400" b="0" dirty="0">
                          <a:solidFill>
                            <a:schemeClr val="tx1"/>
                          </a:solidFill>
                          <a:latin typeface="Arial" panose="020B0604020202020204" pitchFamily="34" charset="0"/>
                          <a:cs typeface="Arial" panose="020B0604020202020204" pitchFamily="34" charset="0"/>
                        </a:rPr>
                        <a:t>char</a:t>
                      </a:r>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0" dirty="0">
                          <a:solidFill>
                            <a:schemeClr val="tx1"/>
                          </a:solidFill>
                          <a:latin typeface="Arial" panose="020B0604020202020204" pitchFamily="34" charset="0"/>
                          <a:cs typeface="Arial" panose="020B0604020202020204" pitchFamily="34" charset="0"/>
                        </a:rPr>
                        <a:t>frequency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0" dirty="0">
                          <a:solidFill>
                            <a:schemeClr val="tx1"/>
                          </a:solidFill>
                          <a:latin typeface="Arial" panose="020B0604020202020204" pitchFamily="34" charset="0"/>
                          <a:cs typeface="Arial" panose="020B0604020202020204" pitchFamily="34" charset="0"/>
                        </a:rPr>
                        <a:t>Huffman encoding</a:t>
                      </a:r>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07920617"/>
                  </a:ext>
                </a:extLst>
              </a:tr>
              <a:tr h="333289">
                <a:tc>
                  <a:txBody>
                    <a:bodyPr/>
                    <a:lstStyle/>
                    <a:p>
                      <a:pPr algn="ctr"/>
                      <a:r>
                        <a:rPr lang="en-US" sz="1400" b="0" dirty="0">
                          <a:solidFill>
                            <a:schemeClr val="tx1"/>
                          </a:solidFill>
                          <a:latin typeface="Arial" panose="020B0604020202020204" pitchFamily="34" charset="0"/>
                          <a:cs typeface="Arial" panose="020B0604020202020204" pitchFamily="34" charset="0"/>
                        </a:rPr>
                        <a:t>A</a:t>
                      </a: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sz="1400" b="0" dirty="0">
                          <a:solidFill>
                            <a:schemeClr val="tx1"/>
                          </a:solidFill>
                          <a:latin typeface="Arial" panose="020B0604020202020204" pitchFamily="34" charset="0"/>
                          <a:cs typeface="Arial" panose="020B0604020202020204" pitchFamily="34"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endParaRPr lang="en-US" sz="1400" b="0" dirty="0">
                        <a:solidFill>
                          <a:schemeClr val="tx1"/>
                        </a:solidFill>
                        <a:latin typeface="Courier" pitchFamily="2"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698704590"/>
                  </a:ext>
                </a:extLst>
              </a:tr>
              <a:tr h="333289">
                <a:tc>
                  <a:txBody>
                    <a:bodyPr/>
                    <a:lstStyle/>
                    <a:p>
                      <a:pPr algn="ctr"/>
                      <a:r>
                        <a:rPr lang="en-US" sz="1400" b="0" dirty="0">
                          <a:solidFill>
                            <a:schemeClr val="tx1"/>
                          </a:solidFill>
                          <a:latin typeface="Arial" panose="020B0604020202020204" pitchFamily="34" charset="0"/>
                          <a:cs typeface="Arial" panose="020B0604020202020204" pitchFamily="34" charset="0"/>
                        </a:rPr>
                        <a:t>B</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400" b="0" dirty="0">
                          <a:solidFill>
                            <a:schemeClr val="tx1"/>
                          </a:solidFill>
                          <a:latin typeface="Arial" panose="020B0604020202020204" pitchFamily="34" charset="0"/>
                          <a:cs typeface="Arial" panose="020B0604020202020204" pitchFamily="34"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endParaRPr lang="en-US" sz="1400" b="0" dirty="0">
                        <a:solidFill>
                          <a:schemeClr val="tx1"/>
                        </a:solidFill>
                        <a:latin typeface="Courier" pitchFamily="2"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97155727"/>
                  </a:ext>
                </a:extLst>
              </a:tr>
              <a:tr h="333289">
                <a:tc>
                  <a:txBody>
                    <a:bodyPr/>
                    <a:lstStyle/>
                    <a:p>
                      <a:pPr algn="ctr"/>
                      <a:r>
                        <a:rPr lang="en-US" sz="1400" b="0" dirty="0">
                          <a:solidFill>
                            <a:schemeClr val="tx1"/>
                          </a:solidFill>
                          <a:latin typeface="Arial" panose="020B0604020202020204" pitchFamily="34" charset="0"/>
                          <a:cs typeface="Arial" panose="020B0604020202020204" pitchFamily="34" charset="0"/>
                        </a:rPr>
                        <a:t>C</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400" b="0" dirty="0">
                          <a:solidFill>
                            <a:schemeClr val="tx1"/>
                          </a:solidFill>
                          <a:latin typeface="Arial" panose="020B0604020202020204" pitchFamily="34" charset="0"/>
                          <a:cs typeface="Arial" panose="020B0604020202020204" pitchFamily="34"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endParaRPr lang="en-US" sz="1400" b="0" dirty="0">
                        <a:solidFill>
                          <a:schemeClr val="tx1"/>
                        </a:solidFill>
                        <a:latin typeface="Courier" pitchFamily="2"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48973282"/>
                  </a:ext>
                </a:extLst>
              </a:tr>
              <a:tr h="333289">
                <a:tc>
                  <a:txBody>
                    <a:bodyPr/>
                    <a:lstStyle/>
                    <a:p>
                      <a:pPr algn="ctr"/>
                      <a:r>
                        <a:rPr lang="en-US" sz="1400" b="0" dirty="0">
                          <a:solidFill>
                            <a:schemeClr val="tx1"/>
                          </a:solidFill>
                          <a:latin typeface="Arial" panose="020B0604020202020204" pitchFamily="34" charset="0"/>
                          <a:cs typeface="Arial" panose="020B0604020202020204" pitchFamily="34" charset="0"/>
                        </a:rPr>
                        <a:t>D</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400" b="0" dirty="0">
                          <a:solidFill>
                            <a:schemeClr val="tx1"/>
                          </a:solidFill>
                          <a:latin typeface="Arial" panose="020B0604020202020204" pitchFamily="34" charset="0"/>
                          <a:cs typeface="Arial" panose="020B0604020202020204" pitchFamily="34"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endParaRPr lang="en-US" sz="1400" b="0" dirty="0">
                        <a:solidFill>
                          <a:schemeClr val="tx1"/>
                        </a:solidFill>
                        <a:latin typeface="Courier" pitchFamily="2"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931113414"/>
                  </a:ext>
                </a:extLst>
              </a:tr>
              <a:tr h="333289">
                <a:tc>
                  <a:txBody>
                    <a:bodyPr/>
                    <a:lstStyle/>
                    <a:p>
                      <a:pPr algn="ctr"/>
                      <a:r>
                        <a:rPr lang="en-US" sz="1400" b="0" dirty="0">
                          <a:solidFill>
                            <a:schemeClr val="tx1"/>
                          </a:solidFill>
                          <a:latin typeface="Arial" panose="020B0604020202020204" pitchFamily="34" charset="0"/>
                          <a:cs typeface="Arial" panose="020B0604020202020204" pitchFamily="34" charset="0"/>
                        </a:rPr>
                        <a:t>R</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400" b="0" dirty="0">
                          <a:solidFill>
                            <a:schemeClr val="tx1"/>
                          </a:solidFill>
                          <a:latin typeface="Arial" panose="020B0604020202020204" pitchFamily="34" charset="0"/>
                          <a:cs typeface="Arial" panose="020B0604020202020204" pitchFamily="34"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endParaRPr lang="en-US" sz="1400" b="0" dirty="0">
                        <a:solidFill>
                          <a:schemeClr val="tx1"/>
                        </a:solidFill>
                        <a:latin typeface="Courier" pitchFamily="2"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620110253"/>
                  </a:ext>
                </a:extLst>
              </a:tr>
              <a:tr h="333289">
                <a:tc>
                  <a:txBody>
                    <a:bodyPr/>
                    <a:lstStyle/>
                    <a:p>
                      <a:pPr algn="ctr"/>
                      <a:r>
                        <a:rPr lang="en-US" sz="1400" b="0" dirty="0">
                          <a:solidFill>
                            <a:schemeClr val="tx1"/>
                          </a:solidFill>
                          <a:latin typeface="Arial" panose="020B0604020202020204" pitchFamily="34" charset="0"/>
                          <a:cs typeface="Arial" panose="020B0604020202020204" pitchFamily="34" charset="0"/>
                        </a:rPr>
                        <a:t>!</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400" b="0" dirty="0">
                          <a:solidFill>
                            <a:schemeClr val="tx1"/>
                          </a:solidFill>
                          <a:latin typeface="Arial" panose="020B0604020202020204" pitchFamily="34" charset="0"/>
                          <a:cs typeface="Arial" panose="020B0604020202020204" pitchFamily="34"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endParaRPr lang="en-US" sz="1400" b="0" dirty="0">
                        <a:solidFill>
                          <a:schemeClr val="tx1"/>
                        </a:solidFill>
                        <a:latin typeface="Courier" pitchFamily="2"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208363806"/>
                  </a:ext>
                </a:extLst>
              </a:tr>
            </a:tbl>
          </a:graphicData>
        </a:graphic>
      </p:graphicFrame>
      <p:grpSp>
        <p:nvGrpSpPr>
          <p:cNvPr id="15" name="Group 14" descr="simulation of code generation via iterative merging of 2 lest frequent tries">
            <a:extLst>
              <a:ext uri="{FF2B5EF4-FFF2-40B4-BE49-F238E27FC236}">
                <a16:creationId xmlns:a16="http://schemas.microsoft.com/office/drawing/2014/main" id="{4844B056-08A6-A548-A05D-A458BCFF4348}"/>
              </a:ext>
            </a:extLst>
          </p:cNvPr>
          <p:cNvGrpSpPr/>
          <p:nvPr/>
        </p:nvGrpSpPr>
        <p:grpSpPr>
          <a:xfrm>
            <a:off x="973675" y="4456385"/>
            <a:ext cx="8982462" cy="2006631"/>
            <a:chOff x="973675" y="4456385"/>
            <a:chExt cx="8982462" cy="2006631"/>
          </a:xfrm>
        </p:grpSpPr>
        <p:grpSp>
          <p:nvGrpSpPr>
            <p:cNvPr id="50" name="Group 49">
              <a:extLst>
                <a:ext uri="{FF2B5EF4-FFF2-40B4-BE49-F238E27FC236}">
                  <a16:creationId xmlns:a16="http://schemas.microsoft.com/office/drawing/2014/main" id="{4BB728EC-684D-C64F-8EEE-D6DA3F27F617}"/>
                </a:ext>
              </a:extLst>
            </p:cNvPr>
            <p:cNvGrpSpPr/>
            <p:nvPr/>
          </p:nvGrpSpPr>
          <p:grpSpPr>
            <a:xfrm>
              <a:off x="973675" y="4695868"/>
              <a:ext cx="674305" cy="559000"/>
              <a:chOff x="1750163" y="4045010"/>
              <a:chExt cx="674305" cy="559000"/>
            </a:xfrm>
          </p:grpSpPr>
          <p:sp>
            <p:nvSpPr>
              <p:cNvPr id="8" name="Oval 7">
                <a:extLst>
                  <a:ext uri="{FF2B5EF4-FFF2-40B4-BE49-F238E27FC236}">
                    <a16:creationId xmlns:a16="http://schemas.microsoft.com/office/drawing/2014/main" id="{06A05484-6E5A-FF49-A52B-C4D42E7330A8}"/>
                  </a:ext>
                </a:extLst>
              </p:cNvPr>
              <p:cNvSpPr/>
              <p:nvPr/>
            </p:nvSpPr>
            <p:spPr>
              <a:xfrm>
                <a:off x="2063069" y="4099720"/>
                <a:ext cx="318654" cy="332509"/>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rial" panose="020B0604020202020204" pitchFamily="34" charset="0"/>
                    <a:cs typeface="Arial" panose="020B0604020202020204" pitchFamily="34" charset="0"/>
                  </a:rPr>
                  <a:t>A</a:t>
                </a:r>
              </a:p>
            </p:txBody>
          </p:sp>
          <p:cxnSp>
            <p:nvCxnSpPr>
              <p:cNvPr id="11" name="Straight Connector 10">
                <a:extLst>
                  <a:ext uri="{FF2B5EF4-FFF2-40B4-BE49-F238E27FC236}">
                    <a16:creationId xmlns:a16="http://schemas.microsoft.com/office/drawing/2014/main" id="{7F416B39-AF2E-4047-9074-481B3106F0B2}"/>
                  </a:ext>
                </a:extLst>
              </p:cNvPr>
              <p:cNvCxnSpPr>
                <a:cxnSpLocks/>
                <a:stCxn id="8" idx="5"/>
              </p:cNvCxnSpPr>
              <p:nvPr/>
            </p:nvCxnSpPr>
            <p:spPr>
              <a:xfrm>
                <a:off x="2335057" y="4383534"/>
                <a:ext cx="89411"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7F635E89-5D4D-9545-9912-172119E9824E}"/>
                  </a:ext>
                </a:extLst>
              </p:cNvPr>
              <p:cNvSpPr txBox="1"/>
              <p:nvPr/>
            </p:nvSpPr>
            <p:spPr>
              <a:xfrm>
                <a:off x="1750163" y="4045010"/>
                <a:ext cx="312906" cy="369332"/>
              </a:xfrm>
              <a:prstGeom prst="rect">
                <a:avLst/>
              </a:prstGeom>
              <a:noFill/>
            </p:spPr>
            <p:txBody>
              <a:bodyPr wrap="none" rtlCol="0">
                <a:spAutoFit/>
              </a:bodyPr>
              <a:lstStyle/>
              <a:p>
                <a:r>
                  <a:rPr lang="en-US" dirty="0">
                    <a:solidFill>
                      <a:schemeClr val="accent5"/>
                    </a:solidFill>
                    <a:latin typeface="Arial" panose="020B0604020202020204" pitchFamily="34" charset="0"/>
                    <a:cs typeface="Arial" panose="020B0604020202020204" pitchFamily="34" charset="0"/>
                  </a:rPr>
                  <a:t>5</a:t>
                </a:r>
              </a:p>
            </p:txBody>
          </p:sp>
          <p:cxnSp>
            <p:nvCxnSpPr>
              <p:cNvPr id="13" name="Straight Connector 12">
                <a:extLst>
                  <a:ext uri="{FF2B5EF4-FFF2-40B4-BE49-F238E27FC236}">
                    <a16:creationId xmlns:a16="http://schemas.microsoft.com/office/drawing/2014/main" id="{39FE95BA-59D7-454A-AA88-33EC87FE60D8}"/>
                  </a:ext>
                </a:extLst>
              </p:cNvPr>
              <p:cNvCxnSpPr>
                <a:cxnSpLocks/>
                <a:stCxn id="8" idx="3"/>
              </p:cNvCxnSpPr>
              <p:nvPr/>
            </p:nvCxnSpPr>
            <p:spPr>
              <a:xfrm flipH="1">
                <a:off x="1963362" y="4383534"/>
                <a:ext cx="146373"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53" name="Group 52">
              <a:extLst>
                <a:ext uri="{FF2B5EF4-FFF2-40B4-BE49-F238E27FC236}">
                  <a16:creationId xmlns:a16="http://schemas.microsoft.com/office/drawing/2014/main" id="{80C2A224-70B8-644A-A136-753F6D307255}"/>
                </a:ext>
              </a:extLst>
            </p:cNvPr>
            <p:cNvGrpSpPr/>
            <p:nvPr/>
          </p:nvGrpSpPr>
          <p:grpSpPr>
            <a:xfrm>
              <a:off x="7289520" y="5255531"/>
              <a:ext cx="656575" cy="504290"/>
              <a:chOff x="2095516" y="5232762"/>
              <a:chExt cx="656575" cy="504290"/>
            </a:xfrm>
          </p:grpSpPr>
          <p:sp>
            <p:nvSpPr>
              <p:cNvPr id="21" name="Oval 20">
                <a:extLst>
                  <a:ext uri="{FF2B5EF4-FFF2-40B4-BE49-F238E27FC236}">
                    <a16:creationId xmlns:a16="http://schemas.microsoft.com/office/drawing/2014/main" id="{D6672FE3-8CA2-3341-9A1B-C922171C6457}"/>
                  </a:ext>
                </a:extLst>
              </p:cNvPr>
              <p:cNvSpPr/>
              <p:nvPr/>
            </p:nvSpPr>
            <p:spPr>
              <a:xfrm>
                <a:off x="2390910" y="5232762"/>
                <a:ext cx="318654" cy="332509"/>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rial" panose="020B0604020202020204" pitchFamily="34" charset="0"/>
                    <a:cs typeface="Arial" panose="020B0604020202020204" pitchFamily="34" charset="0"/>
                  </a:rPr>
                  <a:t>D</a:t>
                </a:r>
              </a:p>
            </p:txBody>
          </p:sp>
          <p:cxnSp>
            <p:nvCxnSpPr>
              <p:cNvPr id="25" name="Straight Connector 24">
                <a:extLst>
                  <a:ext uri="{FF2B5EF4-FFF2-40B4-BE49-F238E27FC236}">
                    <a16:creationId xmlns:a16="http://schemas.microsoft.com/office/drawing/2014/main" id="{5C2EF432-2414-5B4A-AABD-B24368064650}"/>
                  </a:ext>
                </a:extLst>
              </p:cNvPr>
              <p:cNvCxnSpPr>
                <a:cxnSpLocks/>
              </p:cNvCxnSpPr>
              <p:nvPr/>
            </p:nvCxnSpPr>
            <p:spPr>
              <a:xfrm>
                <a:off x="2662680" y="5516576"/>
                <a:ext cx="89411"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AB6A5AF-60FC-2C47-BE29-25A979C4D2DA}"/>
                  </a:ext>
                </a:extLst>
              </p:cNvPr>
              <p:cNvCxnSpPr>
                <a:cxnSpLocks/>
                <a:stCxn id="21" idx="3"/>
              </p:cNvCxnSpPr>
              <p:nvPr/>
            </p:nvCxnSpPr>
            <p:spPr>
              <a:xfrm flipH="1">
                <a:off x="2291203" y="5516576"/>
                <a:ext cx="146373"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BAB47F5E-531D-EB46-A610-6227428059DA}"/>
                  </a:ext>
                </a:extLst>
              </p:cNvPr>
              <p:cNvSpPr txBox="1"/>
              <p:nvPr/>
            </p:nvSpPr>
            <p:spPr>
              <a:xfrm>
                <a:off x="2095516" y="5239844"/>
                <a:ext cx="312906" cy="369332"/>
              </a:xfrm>
              <a:prstGeom prst="rect">
                <a:avLst/>
              </a:prstGeom>
              <a:noFill/>
            </p:spPr>
            <p:txBody>
              <a:bodyPr wrap="none" rtlCol="0">
                <a:spAutoFit/>
              </a:bodyPr>
              <a:lstStyle/>
              <a:p>
                <a:r>
                  <a:rPr lang="en-US" dirty="0">
                    <a:solidFill>
                      <a:schemeClr val="accent5"/>
                    </a:solidFill>
                    <a:latin typeface="Arial" panose="020B0604020202020204" pitchFamily="34" charset="0"/>
                    <a:cs typeface="Arial" panose="020B0604020202020204" pitchFamily="34" charset="0"/>
                  </a:rPr>
                  <a:t>1</a:t>
                </a:r>
              </a:p>
            </p:txBody>
          </p:sp>
        </p:grpSp>
        <p:grpSp>
          <p:nvGrpSpPr>
            <p:cNvPr id="54" name="Group 53">
              <a:extLst>
                <a:ext uri="{FF2B5EF4-FFF2-40B4-BE49-F238E27FC236}">
                  <a16:creationId xmlns:a16="http://schemas.microsoft.com/office/drawing/2014/main" id="{DBED95C4-09D9-9848-A2E3-FED2D16B1923}"/>
                </a:ext>
              </a:extLst>
            </p:cNvPr>
            <p:cNvGrpSpPr/>
            <p:nvPr/>
          </p:nvGrpSpPr>
          <p:grpSpPr>
            <a:xfrm>
              <a:off x="3414981" y="4721500"/>
              <a:ext cx="686428" cy="541113"/>
              <a:chOff x="4044968" y="5154326"/>
              <a:chExt cx="686428" cy="541113"/>
            </a:xfrm>
          </p:grpSpPr>
          <p:sp>
            <p:nvSpPr>
              <p:cNvPr id="26" name="TextBox 25">
                <a:extLst>
                  <a:ext uri="{FF2B5EF4-FFF2-40B4-BE49-F238E27FC236}">
                    <a16:creationId xmlns:a16="http://schemas.microsoft.com/office/drawing/2014/main" id="{06E36F72-4A61-154A-B16F-D1F8329DD90E}"/>
                  </a:ext>
                </a:extLst>
              </p:cNvPr>
              <p:cNvSpPr txBox="1"/>
              <p:nvPr/>
            </p:nvSpPr>
            <p:spPr>
              <a:xfrm>
                <a:off x="4044968" y="5154326"/>
                <a:ext cx="312906" cy="369332"/>
              </a:xfrm>
              <a:prstGeom prst="rect">
                <a:avLst/>
              </a:prstGeom>
              <a:noFill/>
            </p:spPr>
            <p:txBody>
              <a:bodyPr wrap="none" rtlCol="0">
                <a:spAutoFit/>
              </a:bodyPr>
              <a:lstStyle/>
              <a:p>
                <a:r>
                  <a:rPr lang="en-US" dirty="0">
                    <a:solidFill>
                      <a:schemeClr val="accent5"/>
                    </a:solidFill>
                    <a:latin typeface="Arial" panose="020B0604020202020204" pitchFamily="34" charset="0"/>
                    <a:cs typeface="Arial" panose="020B0604020202020204" pitchFamily="34" charset="0"/>
                  </a:rPr>
                  <a:t>2</a:t>
                </a:r>
              </a:p>
            </p:txBody>
          </p:sp>
          <p:sp>
            <p:nvSpPr>
              <p:cNvPr id="30" name="Oval 29">
                <a:extLst>
                  <a:ext uri="{FF2B5EF4-FFF2-40B4-BE49-F238E27FC236}">
                    <a16:creationId xmlns:a16="http://schemas.microsoft.com/office/drawing/2014/main" id="{E642B119-1D86-A44C-9577-8EBF060B8425}"/>
                  </a:ext>
                </a:extLst>
              </p:cNvPr>
              <p:cNvSpPr/>
              <p:nvPr/>
            </p:nvSpPr>
            <p:spPr>
              <a:xfrm>
                <a:off x="4369997" y="5191149"/>
                <a:ext cx="318654" cy="332509"/>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rial" panose="020B0604020202020204" pitchFamily="34" charset="0"/>
                    <a:cs typeface="Arial" panose="020B0604020202020204" pitchFamily="34" charset="0"/>
                  </a:rPr>
                  <a:t>R</a:t>
                </a:r>
              </a:p>
            </p:txBody>
          </p:sp>
          <p:cxnSp>
            <p:nvCxnSpPr>
              <p:cNvPr id="34" name="Straight Connector 33">
                <a:extLst>
                  <a:ext uri="{FF2B5EF4-FFF2-40B4-BE49-F238E27FC236}">
                    <a16:creationId xmlns:a16="http://schemas.microsoft.com/office/drawing/2014/main" id="{012D269B-7F07-4847-B1D9-B334DA13113F}"/>
                  </a:ext>
                </a:extLst>
              </p:cNvPr>
              <p:cNvCxnSpPr>
                <a:cxnSpLocks/>
                <a:stCxn id="30" idx="5"/>
              </p:cNvCxnSpPr>
              <p:nvPr/>
            </p:nvCxnSpPr>
            <p:spPr>
              <a:xfrm>
                <a:off x="4641985" y="5474963"/>
                <a:ext cx="89411"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94616B5-085B-6445-999D-C838831D869B}"/>
                  </a:ext>
                </a:extLst>
              </p:cNvPr>
              <p:cNvCxnSpPr>
                <a:cxnSpLocks/>
                <a:stCxn id="30" idx="3"/>
              </p:cNvCxnSpPr>
              <p:nvPr/>
            </p:nvCxnSpPr>
            <p:spPr>
              <a:xfrm flipH="1">
                <a:off x="4270290" y="5474963"/>
                <a:ext cx="146373"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55" name="Group 54">
              <a:extLst>
                <a:ext uri="{FF2B5EF4-FFF2-40B4-BE49-F238E27FC236}">
                  <a16:creationId xmlns:a16="http://schemas.microsoft.com/office/drawing/2014/main" id="{8BCCA23C-6120-324A-80C0-BB5D4E1070A1}"/>
                </a:ext>
              </a:extLst>
            </p:cNvPr>
            <p:cNvGrpSpPr/>
            <p:nvPr/>
          </p:nvGrpSpPr>
          <p:grpSpPr>
            <a:xfrm>
              <a:off x="7922235" y="5958120"/>
              <a:ext cx="608623" cy="504896"/>
              <a:chOff x="2800118" y="5848814"/>
              <a:chExt cx="608623" cy="504896"/>
            </a:xfrm>
          </p:grpSpPr>
          <p:sp>
            <p:nvSpPr>
              <p:cNvPr id="20" name="TextBox 19">
                <a:extLst>
                  <a:ext uri="{FF2B5EF4-FFF2-40B4-BE49-F238E27FC236}">
                    <a16:creationId xmlns:a16="http://schemas.microsoft.com/office/drawing/2014/main" id="{727DCE5D-8EC6-864B-896F-70EC0B08CD94}"/>
                  </a:ext>
                </a:extLst>
              </p:cNvPr>
              <p:cNvSpPr txBox="1"/>
              <p:nvPr/>
            </p:nvSpPr>
            <p:spPr>
              <a:xfrm>
                <a:off x="2800118" y="5848814"/>
                <a:ext cx="312906" cy="369332"/>
              </a:xfrm>
              <a:prstGeom prst="rect">
                <a:avLst/>
              </a:prstGeom>
              <a:noFill/>
            </p:spPr>
            <p:txBody>
              <a:bodyPr wrap="none" rtlCol="0">
                <a:spAutoFit/>
              </a:bodyPr>
              <a:lstStyle/>
              <a:p>
                <a:r>
                  <a:rPr lang="en-US" dirty="0">
                    <a:solidFill>
                      <a:schemeClr val="accent5"/>
                    </a:solidFill>
                    <a:latin typeface="Arial" panose="020B0604020202020204" pitchFamily="34" charset="0"/>
                    <a:cs typeface="Arial" panose="020B0604020202020204" pitchFamily="34" charset="0"/>
                  </a:rPr>
                  <a:t>1</a:t>
                </a:r>
              </a:p>
            </p:txBody>
          </p:sp>
          <p:sp>
            <p:nvSpPr>
              <p:cNvPr id="38" name="Oval 37">
                <a:extLst>
                  <a:ext uri="{FF2B5EF4-FFF2-40B4-BE49-F238E27FC236}">
                    <a16:creationId xmlns:a16="http://schemas.microsoft.com/office/drawing/2014/main" id="{2127C9C6-2140-6B43-AC01-EBE5FEA76679}"/>
                  </a:ext>
                </a:extLst>
              </p:cNvPr>
              <p:cNvSpPr/>
              <p:nvPr/>
            </p:nvSpPr>
            <p:spPr>
              <a:xfrm>
                <a:off x="3047342" y="5849420"/>
                <a:ext cx="318654" cy="332509"/>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rial" panose="020B0604020202020204" pitchFamily="34" charset="0"/>
                    <a:cs typeface="Arial" panose="020B0604020202020204" pitchFamily="34" charset="0"/>
                  </a:rPr>
                  <a:t>!</a:t>
                </a:r>
              </a:p>
            </p:txBody>
          </p:sp>
          <p:cxnSp>
            <p:nvCxnSpPr>
              <p:cNvPr id="42" name="Straight Connector 41">
                <a:extLst>
                  <a:ext uri="{FF2B5EF4-FFF2-40B4-BE49-F238E27FC236}">
                    <a16:creationId xmlns:a16="http://schemas.microsoft.com/office/drawing/2014/main" id="{6C5036F1-EE6B-E148-93CC-87B22BF6B9CD}"/>
                  </a:ext>
                </a:extLst>
              </p:cNvPr>
              <p:cNvCxnSpPr>
                <a:cxnSpLocks/>
                <a:stCxn id="38" idx="5"/>
              </p:cNvCxnSpPr>
              <p:nvPr/>
            </p:nvCxnSpPr>
            <p:spPr>
              <a:xfrm>
                <a:off x="3319330" y="6133234"/>
                <a:ext cx="89411"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774C459E-FF64-9A4A-BB63-3308E3CB024B}"/>
                  </a:ext>
                </a:extLst>
              </p:cNvPr>
              <p:cNvCxnSpPr>
                <a:cxnSpLocks/>
                <a:stCxn id="38" idx="3"/>
              </p:cNvCxnSpPr>
              <p:nvPr/>
            </p:nvCxnSpPr>
            <p:spPr>
              <a:xfrm flipH="1">
                <a:off x="2947635" y="6133234"/>
                <a:ext cx="146373"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52" name="Group 51">
              <a:extLst>
                <a:ext uri="{FF2B5EF4-FFF2-40B4-BE49-F238E27FC236}">
                  <a16:creationId xmlns:a16="http://schemas.microsoft.com/office/drawing/2014/main" id="{ADA2F9D6-8F0A-7C4A-AD27-26205113B7D8}"/>
                </a:ext>
              </a:extLst>
            </p:cNvPr>
            <p:cNvGrpSpPr/>
            <p:nvPr/>
          </p:nvGrpSpPr>
          <p:grpSpPr>
            <a:xfrm>
              <a:off x="9348868" y="5899163"/>
              <a:ext cx="607269" cy="563853"/>
              <a:chOff x="3659033" y="5849420"/>
              <a:chExt cx="607269" cy="563853"/>
            </a:xfrm>
          </p:grpSpPr>
          <p:sp>
            <p:nvSpPr>
              <p:cNvPr id="39" name="Oval 38">
                <a:extLst>
                  <a:ext uri="{FF2B5EF4-FFF2-40B4-BE49-F238E27FC236}">
                    <a16:creationId xmlns:a16="http://schemas.microsoft.com/office/drawing/2014/main" id="{10689D03-0CF9-0540-888E-D17C352C2EE9}"/>
                  </a:ext>
                </a:extLst>
              </p:cNvPr>
              <p:cNvSpPr/>
              <p:nvPr/>
            </p:nvSpPr>
            <p:spPr>
              <a:xfrm>
                <a:off x="3928929" y="5885637"/>
                <a:ext cx="318654" cy="332509"/>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rial" panose="020B0604020202020204" pitchFamily="34" charset="0"/>
                    <a:cs typeface="Arial" panose="020B0604020202020204" pitchFamily="34" charset="0"/>
                  </a:rPr>
                  <a:t>C</a:t>
                </a:r>
              </a:p>
            </p:txBody>
          </p:sp>
          <p:sp>
            <p:nvSpPr>
              <p:cNvPr id="45" name="TextBox 44">
                <a:extLst>
                  <a:ext uri="{FF2B5EF4-FFF2-40B4-BE49-F238E27FC236}">
                    <a16:creationId xmlns:a16="http://schemas.microsoft.com/office/drawing/2014/main" id="{61BF5F88-CEB7-034F-A6BA-7BEFE722CF65}"/>
                  </a:ext>
                </a:extLst>
              </p:cNvPr>
              <p:cNvSpPr txBox="1"/>
              <p:nvPr/>
            </p:nvSpPr>
            <p:spPr>
              <a:xfrm>
                <a:off x="3659033" y="5849420"/>
                <a:ext cx="312906" cy="369332"/>
              </a:xfrm>
              <a:prstGeom prst="rect">
                <a:avLst/>
              </a:prstGeom>
              <a:noFill/>
            </p:spPr>
            <p:txBody>
              <a:bodyPr wrap="none" rtlCol="0">
                <a:spAutoFit/>
              </a:bodyPr>
              <a:lstStyle/>
              <a:p>
                <a:r>
                  <a:rPr lang="en-US" dirty="0">
                    <a:solidFill>
                      <a:schemeClr val="accent5"/>
                    </a:solidFill>
                    <a:latin typeface="Arial" panose="020B0604020202020204" pitchFamily="34" charset="0"/>
                    <a:cs typeface="Arial" panose="020B0604020202020204" pitchFamily="34" charset="0"/>
                  </a:rPr>
                  <a:t>1</a:t>
                </a:r>
              </a:p>
            </p:txBody>
          </p:sp>
          <p:cxnSp>
            <p:nvCxnSpPr>
              <p:cNvPr id="46" name="Straight Connector 45">
                <a:extLst>
                  <a:ext uri="{FF2B5EF4-FFF2-40B4-BE49-F238E27FC236}">
                    <a16:creationId xmlns:a16="http://schemas.microsoft.com/office/drawing/2014/main" id="{4C200A43-A8D1-994C-849E-661DCD3B99E4}"/>
                  </a:ext>
                </a:extLst>
              </p:cNvPr>
              <p:cNvCxnSpPr>
                <a:cxnSpLocks/>
              </p:cNvCxnSpPr>
              <p:nvPr/>
            </p:nvCxnSpPr>
            <p:spPr>
              <a:xfrm>
                <a:off x="4176891" y="6192797"/>
                <a:ext cx="89411"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BF6B1C4A-4590-F547-9264-0AFB17854521}"/>
                  </a:ext>
                </a:extLst>
              </p:cNvPr>
              <p:cNvCxnSpPr>
                <a:cxnSpLocks/>
              </p:cNvCxnSpPr>
              <p:nvPr/>
            </p:nvCxnSpPr>
            <p:spPr>
              <a:xfrm flipH="1">
                <a:off x="3805414" y="6192797"/>
                <a:ext cx="146373"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51" name="Group 50">
              <a:extLst>
                <a:ext uri="{FF2B5EF4-FFF2-40B4-BE49-F238E27FC236}">
                  <a16:creationId xmlns:a16="http://schemas.microsoft.com/office/drawing/2014/main" id="{A24A3F39-4AA7-F740-B458-F22569ED3BAE}"/>
                </a:ext>
              </a:extLst>
            </p:cNvPr>
            <p:cNvGrpSpPr/>
            <p:nvPr/>
          </p:nvGrpSpPr>
          <p:grpSpPr>
            <a:xfrm>
              <a:off x="2123814" y="4727306"/>
              <a:ext cx="645196" cy="554126"/>
              <a:chOff x="4941987" y="5147244"/>
              <a:chExt cx="645196" cy="554126"/>
            </a:xfrm>
          </p:grpSpPr>
          <p:sp>
            <p:nvSpPr>
              <p:cNvPr id="31" name="Oval 30">
                <a:extLst>
                  <a:ext uri="{FF2B5EF4-FFF2-40B4-BE49-F238E27FC236}">
                    <a16:creationId xmlns:a16="http://schemas.microsoft.com/office/drawing/2014/main" id="{672AA4AA-B7BD-3A4E-A1FB-38D2C2633F75}"/>
                  </a:ext>
                </a:extLst>
              </p:cNvPr>
              <p:cNvSpPr/>
              <p:nvPr/>
            </p:nvSpPr>
            <p:spPr>
              <a:xfrm>
                <a:off x="5203782" y="5169647"/>
                <a:ext cx="318654" cy="332509"/>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rial" panose="020B0604020202020204" pitchFamily="34" charset="0"/>
                    <a:cs typeface="Arial" panose="020B0604020202020204" pitchFamily="34" charset="0"/>
                  </a:rPr>
                  <a:t>B</a:t>
                </a:r>
              </a:p>
            </p:txBody>
          </p:sp>
          <p:sp>
            <p:nvSpPr>
              <p:cNvPr id="37" name="TextBox 36">
                <a:extLst>
                  <a:ext uri="{FF2B5EF4-FFF2-40B4-BE49-F238E27FC236}">
                    <a16:creationId xmlns:a16="http://schemas.microsoft.com/office/drawing/2014/main" id="{A45535CD-8E64-0842-B568-A6F37CAA9314}"/>
                  </a:ext>
                </a:extLst>
              </p:cNvPr>
              <p:cNvSpPr txBox="1"/>
              <p:nvPr/>
            </p:nvSpPr>
            <p:spPr>
              <a:xfrm>
                <a:off x="4941987" y="5147244"/>
                <a:ext cx="312906" cy="369332"/>
              </a:xfrm>
              <a:prstGeom prst="rect">
                <a:avLst/>
              </a:prstGeom>
              <a:noFill/>
            </p:spPr>
            <p:txBody>
              <a:bodyPr wrap="none" rtlCol="0">
                <a:spAutoFit/>
              </a:bodyPr>
              <a:lstStyle/>
              <a:p>
                <a:r>
                  <a:rPr lang="en-US" dirty="0">
                    <a:solidFill>
                      <a:schemeClr val="accent5"/>
                    </a:solidFill>
                    <a:latin typeface="Arial" panose="020B0604020202020204" pitchFamily="34" charset="0"/>
                    <a:cs typeface="Arial" panose="020B0604020202020204" pitchFamily="34" charset="0"/>
                  </a:rPr>
                  <a:t>2</a:t>
                </a:r>
              </a:p>
            </p:txBody>
          </p:sp>
          <p:cxnSp>
            <p:nvCxnSpPr>
              <p:cNvPr id="48" name="Straight Connector 47">
                <a:extLst>
                  <a:ext uri="{FF2B5EF4-FFF2-40B4-BE49-F238E27FC236}">
                    <a16:creationId xmlns:a16="http://schemas.microsoft.com/office/drawing/2014/main" id="{C0BA2E99-AC99-E74E-AD6B-FA203D1318A4}"/>
                  </a:ext>
                </a:extLst>
              </p:cNvPr>
              <p:cNvCxnSpPr>
                <a:cxnSpLocks/>
              </p:cNvCxnSpPr>
              <p:nvPr/>
            </p:nvCxnSpPr>
            <p:spPr>
              <a:xfrm>
                <a:off x="5497772" y="5480894"/>
                <a:ext cx="89411"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2F4F3599-0F9C-6A4C-9C2C-EBFD9B07CD93}"/>
                  </a:ext>
                </a:extLst>
              </p:cNvPr>
              <p:cNvCxnSpPr>
                <a:cxnSpLocks/>
              </p:cNvCxnSpPr>
              <p:nvPr/>
            </p:nvCxnSpPr>
            <p:spPr>
              <a:xfrm flipH="1">
                <a:off x="5126077" y="5480894"/>
                <a:ext cx="146373"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40" name="Oval 39">
              <a:extLst>
                <a:ext uri="{FF2B5EF4-FFF2-40B4-BE49-F238E27FC236}">
                  <a16:creationId xmlns:a16="http://schemas.microsoft.com/office/drawing/2014/main" id="{0DC79CBF-4227-4545-BCD5-C596AD831B57}"/>
                </a:ext>
              </a:extLst>
            </p:cNvPr>
            <p:cNvSpPr/>
            <p:nvPr/>
          </p:nvSpPr>
          <p:spPr>
            <a:xfrm>
              <a:off x="8991523" y="5251754"/>
              <a:ext cx="318654" cy="332509"/>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latin typeface="Arial" panose="020B0604020202020204" pitchFamily="34" charset="0"/>
                <a:cs typeface="Arial" panose="020B0604020202020204" pitchFamily="34" charset="0"/>
              </a:endParaRPr>
            </a:p>
          </p:txBody>
        </p:sp>
        <p:cxnSp>
          <p:nvCxnSpPr>
            <p:cNvPr id="41" name="Straight Connector 40">
              <a:extLst>
                <a:ext uri="{FF2B5EF4-FFF2-40B4-BE49-F238E27FC236}">
                  <a16:creationId xmlns:a16="http://schemas.microsoft.com/office/drawing/2014/main" id="{B669C97F-D0A9-AA46-8A16-1A5EBC831B9F}"/>
                </a:ext>
              </a:extLst>
            </p:cNvPr>
            <p:cNvCxnSpPr>
              <a:cxnSpLocks/>
              <a:stCxn id="40" idx="3"/>
              <a:endCxn id="38" idx="7"/>
            </p:cNvCxnSpPr>
            <p:nvPr/>
          </p:nvCxnSpPr>
          <p:spPr>
            <a:xfrm flipH="1">
              <a:off x="8441447" y="5535568"/>
              <a:ext cx="596742" cy="471853"/>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3C9CE3C9-DE7D-1D41-A53A-191CFF549313}"/>
                </a:ext>
              </a:extLst>
            </p:cNvPr>
            <p:cNvCxnSpPr>
              <a:cxnSpLocks/>
              <a:stCxn id="40" idx="5"/>
              <a:endCxn id="39" idx="1"/>
            </p:cNvCxnSpPr>
            <p:nvPr/>
          </p:nvCxnSpPr>
          <p:spPr>
            <a:xfrm>
              <a:off x="9263511" y="5535568"/>
              <a:ext cx="401919" cy="448507"/>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FDCA9A76-CD34-8B42-AF84-DDB8A63ACBF3}"/>
                </a:ext>
              </a:extLst>
            </p:cNvPr>
            <p:cNvSpPr txBox="1"/>
            <p:nvPr/>
          </p:nvSpPr>
          <p:spPr>
            <a:xfrm>
              <a:off x="8725283" y="5139121"/>
              <a:ext cx="312906" cy="369332"/>
            </a:xfrm>
            <a:prstGeom prst="rect">
              <a:avLst/>
            </a:prstGeom>
            <a:noFill/>
          </p:spPr>
          <p:txBody>
            <a:bodyPr wrap="none" rtlCol="0">
              <a:spAutoFit/>
            </a:bodyPr>
            <a:lstStyle/>
            <a:p>
              <a:r>
                <a:rPr lang="en-US" dirty="0">
                  <a:solidFill>
                    <a:schemeClr val="accent5"/>
                  </a:solidFill>
                  <a:latin typeface="Arial" panose="020B0604020202020204" pitchFamily="34" charset="0"/>
                  <a:cs typeface="Arial" panose="020B0604020202020204" pitchFamily="34" charset="0"/>
                </a:rPr>
                <a:t>2</a:t>
              </a:r>
            </a:p>
          </p:txBody>
        </p:sp>
        <p:sp>
          <p:nvSpPr>
            <p:cNvPr id="56" name="Oval 55">
              <a:extLst>
                <a:ext uri="{FF2B5EF4-FFF2-40B4-BE49-F238E27FC236}">
                  <a16:creationId xmlns:a16="http://schemas.microsoft.com/office/drawing/2014/main" id="{DA981DA1-963F-9741-BD63-DD9A72D22BE1}"/>
                </a:ext>
              </a:extLst>
            </p:cNvPr>
            <p:cNvSpPr/>
            <p:nvPr/>
          </p:nvSpPr>
          <p:spPr>
            <a:xfrm>
              <a:off x="8300820" y="4529018"/>
              <a:ext cx="318654" cy="332509"/>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latin typeface="Arial" panose="020B0604020202020204" pitchFamily="34" charset="0"/>
                <a:cs typeface="Arial" panose="020B0604020202020204" pitchFamily="34" charset="0"/>
              </a:endParaRPr>
            </a:p>
          </p:txBody>
        </p:sp>
        <p:cxnSp>
          <p:nvCxnSpPr>
            <p:cNvPr id="58" name="Straight Connector 57">
              <a:extLst>
                <a:ext uri="{FF2B5EF4-FFF2-40B4-BE49-F238E27FC236}">
                  <a16:creationId xmlns:a16="http://schemas.microsoft.com/office/drawing/2014/main" id="{3C8FC2E7-4462-9C48-9065-724350371118}"/>
                </a:ext>
              </a:extLst>
            </p:cNvPr>
            <p:cNvCxnSpPr>
              <a:cxnSpLocks/>
              <a:stCxn id="56" idx="3"/>
              <a:endCxn id="21" idx="7"/>
            </p:cNvCxnSpPr>
            <p:nvPr/>
          </p:nvCxnSpPr>
          <p:spPr>
            <a:xfrm flipH="1">
              <a:off x="7856902" y="4812832"/>
              <a:ext cx="490584" cy="49139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ABCD1712-C837-EA45-9F9D-F1C4F8F391A4}"/>
                </a:ext>
              </a:extLst>
            </p:cNvPr>
            <p:cNvCxnSpPr>
              <a:cxnSpLocks/>
              <a:stCxn id="56" idx="5"/>
              <a:endCxn id="40" idx="0"/>
            </p:cNvCxnSpPr>
            <p:nvPr/>
          </p:nvCxnSpPr>
          <p:spPr>
            <a:xfrm>
              <a:off x="8572808" y="4812832"/>
              <a:ext cx="578042" cy="438922"/>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F311EC65-80E2-E849-9E47-5B2D2F279130}"/>
                </a:ext>
              </a:extLst>
            </p:cNvPr>
            <p:cNvSpPr txBox="1"/>
            <p:nvPr/>
          </p:nvSpPr>
          <p:spPr>
            <a:xfrm>
              <a:off x="8034580" y="4456385"/>
              <a:ext cx="312906" cy="369332"/>
            </a:xfrm>
            <a:prstGeom prst="rect">
              <a:avLst/>
            </a:prstGeom>
            <a:noFill/>
          </p:spPr>
          <p:txBody>
            <a:bodyPr wrap="none" rtlCol="0">
              <a:spAutoFit/>
            </a:bodyPr>
            <a:lstStyle/>
            <a:p>
              <a:r>
                <a:rPr lang="en-US" dirty="0">
                  <a:solidFill>
                    <a:schemeClr val="accent5"/>
                  </a:solidFill>
                  <a:latin typeface="Arial" panose="020B0604020202020204" pitchFamily="34" charset="0"/>
                  <a:cs typeface="Arial" panose="020B0604020202020204" pitchFamily="34" charset="0"/>
                </a:rPr>
                <a:t>3</a:t>
              </a:r>
            </a:p>
          </p:txBody>
        </p:sp>
      </p:grpSp>
    </p:spTree>
    <p:extLst>
      <p:ext uri="{BB962C8B-B14F-4D97-AF65-F5344CB8AC3E}">
        <p14:creationId xmlns:p14="http://schemas.microsoft.com/office/powerpoint/2010/main" val="4231320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61A64-88E3-514F-96E5-EB5877D9729F}"/>
              </a:ext>
            </a:extLst>
          </p:cNvPr>
          <p:cNvSpPr>
            <a:spLocks noGrp="1"/>
          </p:cNvSpPr>
          <p:nvPr>
            <p:ph type="title"/>
          </p:nvPr>
        </p:nvSpPr>
        <p:spPr/>
        <p:txBody>
          <a:bodyPr/>
          <a:lstStyle/>
          <a:p>
            <a:r>
              <a:rPr lang="en-US" dirty="0"/>
              <a:t>Huffman compression</a:t>
            </a:r>
          </a:p>
        </p:txBody>
      </p:sp>
      <p:sp>
        <p:nvSpPr>
          <p:cNvPr id="3" name="Content Placeholder 2">
            <a:extLst>
              <a:ext uri="{FF2B5EF4-FFF2-40B4-BE49-F238E27FC236}">
                <a16:creationId xmlns:a16="http://schemas.microsoft.com/office/drawing/2014/main" id="{B9A27260-ED92-1742-90BD-44C0FED54F03}"/>
              </a:ext>
            </a:extLst>
          </p:cNvPr>
          <p:cNvSpPr>
            <a:spLocks noGrp="1"/>
          </p:cNvSpPr>
          <p:nvPr>
            <p:ph idx="1"/>
          </p:nvPr>
        </p:nvSpPr>
        <p:spPr/>
        <p:txBody>
          <a:bodyPr/>
          <a:lstStyle/>
          <a:p>
            <a:r>
              <a:rPr lang="en-US" dirty="0"/>
              <a:t>Demo</a:t>
            </a:r>
          </a:p>
        </p:txBody>
      </p:sp>
      <p:sp>
        <p:nvSpPr>
          <p:cNvPr id="4" name="TextBox 3">
            <a:extLst>
              <a:ext uri="{FF2B5EF4-FFF2-40B4-BE49-F238E27FC236}">
                <a16:creationId xmlns:a16="http://schemas.microsoft.com/office/drawing/2014/main" id="{EE7569D7-7FD6-584A-AE59-2A307297CAC8}"/>
              </a:ext>
            </a:extLst>
          </p:cNvPr>
          <p:cNvSpPr txBox="1"/>
          <p:nvPr/>
        </p:nvSpPr>
        <p:spPr>
          <a:xfrm>
            <a:off x="514866" y="2461846"/>
            <a:ext cx="5279009" cy="369332"/>
          </a:xfrm>
          <a:prstGeom prst="rect">
            <a:avLst/>
          </a:prstGeom>
          <a:noFill/>
        </p:spPr>
        <p:txBody>
          <a:bodyPr wrap="none" rtlCol="0">
            <a:spAutoFit/>
          </a:bodyPr>
          <a:lstStyle/>
          <a:p>
            <a:r>
              <a:rPr lang="en-US" dirty="0">
                <a:solidFill>
                  <a:schemeClr val="accent5"/>
                </a:solidFill>
                <a:latin typeface="Arial" panose="020B0604020202020204" pitchFamily="34" charset="0"/>
                <a:cs typeface="Arial" panose="020B0604020202020204" pitchFamily="34" charset="0"/>
              </a:rPr>
              <a:t>Input message </a:t>
            </a:r>
            <a:r>
              <a:rPr lang="en-US" i="1" dirty="0">
                <a:solidFill>
                  <a:schemeClr val="accent5"/>
                </a:solidFill>
                <a:latin typeface="Arial" panose="020B0604020202020204" pitchFamily="34" charset="0"/>
                <a:cs typeface="Arial" panose="020B0604020202020204" pitchFamily="34" charset="0"/>
              </a:rPr>
              <a:t>B</a:t>
            </a:r>
            <a:r>
              <a:rPr lang="en-US" dirty="0">
                <a:solidFill>
                  <a:schemeClr val="accent5"/>
                </a:solidFill>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 </a:t>
            </a:r>
            <a:r>
              <a:rPr lang="en-US" dirty="0">
                <a:latin typeface="Courier" pitchFamily="2" charset="0"/>
                <a:cs typeface="Arial" panose="020B0604020202020204" pitchFamily="34" charset="0"/>
              </a:rPr>
              <a:t>A B R A C A D A B R A !</a:t>
            </a:r>
          </a:p>
        </p:txBody>
      </p:sp>
      <p:graphicFrame>
        <p:nvGraphicFramePr>
          <p:cNvPr id="5" name="Table 4">
            <a:extLst>
              <a:ext uri="{FF2B5EF4-FFF2-40B4-BE49-F238E27FC236}">
                <a16:creationId xmlns:a16="http://schemas.microsoft.com/office/drawing/2014/main" id="{0B1EFB9E-5DC7-0748-A23E-E8900A38D3EA}"/>
              </a:ext>
            </a:extLst>
          </p:cNvPr>
          <p:cNvGraphicFramePr>
            <a:graphicFrameLocks noGrp="1"/>
          </p:cNvGraphicFramePr>
          <p:nvPr/>
        </p:nvGraphicFramePr>
        <p:xfrm>
          <a:off x="8232419" y="1480000"/>
          <a:ext cx="3761874" cy="2333023"/>
        </p:xfrm>
        <a:graphic>
          <a:graphicData uri="http://schemas.openxmlformats.org/drawingml/2006/table">
            <a:tbl>
              <a:tblPr firstRow="1" bandRow="1">
                <a:tableStyleId>{5C22544A-7EE6-4342-B048-85BDC9FD1C3A}</a:tableStyleId>
              </a:tblPr>
              <a:tblGrid>
                <a:gridCol w="781539">
                  <a:extLst>
                    <a:ext uri="{9D8B030D-6E8A-4147-A177-3AD203B41FA5}">
                      <a16:colId xmlns:a16="http://schemas.microsoft.com/office/drawing/2014/main" val="3356975359"/>
                    </a:ext>
                  </a:extLst>
                </a:gridCol>
                <a:gridCol w="1041009">
                  <a:extLst>
                    <a:ext uri="{9D8B030D-6E8A-4147-A177-3AD203B41FA5}">
                      <a16:colId xmlns:a16="http://schemas.microsoft.com/office/drawing/2014/main" val="3601674449"/>
                    </a:ext>
                  </a:extLst>
                </a:gridCol>
                <a:gridCol w="1939326">
                  <a:extLst>
                    <a:ext uri="{9D8B030D-6E8A-4147-A177-3AD203B41FA5}">
                      <a16:colId xmlns:a16="http://schemas.microsoft.com/office/drawing/2014/main" val="2286965801"/>
                    </a:ext>
                  </a:extLst>
                </a:gridCol>
              </a:tblGrid>
              <a:tr h="333289">
                <a:tc>
                  <a:txBody>
                    <a:bodyPr/>
                    <a:lstStyle/>
                    <a:p>
                      <a:pPr algn="ctr"/>
                      <a:r>
                        <a:rPr lang="en-US" sz="1400" b="0" dirty="0">
                          <a:solidFill>
                            <a:schemeClr val="tx1"/>
                          </a:solidFill>
                          <a:latin typeface="Arial" panose="020B0604020202020204" pitchFamily="34" charset="0"/>
                          <a:cs typeface="Arial" panose="020B0604020202020204" pitchFamily="34" charset="0"/>
                        </a:rPr>
                        <a:t>char</a:t>
                      </a:r>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0" dirty="0">
                          <a:solidFill>
                            <a:schemeClr val="tx1"/>
                          </a:solidFill>
                          <a:latin typeface="Arial" panose="020B0604020202020204" pitchFamily="34" charset="0"/>
                          <a:cs typeface="Arial" panose="020B0604020202020204" pitchFamily="34" charset="0"/>
                        </a:rPr>
                        <a:t>frequency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0" dirty="0">
                          <a:solidFill>
                            <a:schemeClr val="tx1"/>
                          </a:solidFill>
                          <a:latin typeface="Arial" panose="020B0604020202020204" pitchFamily="34" charset="0"/>
                          <a:cs typeface="Arial" panose="020B0604020202020204" pitchFamily="34" charset="0"/>
                        </a:rPr>
                        <a:t>Huffman encoding</a:t>
                      </a:r>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07920617"/>
                  </a:ext>
                </a:extLst>
              </a:tr>
              <a:tr h="333289">
                <a:tc>
                  <a:txBody>
                    <a:bodyPr/>
                    <a:lstStyle/>
                    <a:p>
                      <a:pPr algn="ctr"/>
                      <a:r>
                        <a:rPr lang="en-US" sz="1400" b="0" dirty="0">
                          <a:solidFill>
                            <a:schemeClr val="tx1"/>
                          </a:solidFill>
                          <a:latin typeface="Arial" panose="020B0604020202020204" pitchFamily="34" charset="0"/>
                          <a:cs typeface="Arial" panose="020B0604020202020204" pitchFamily="34" charset="0"/>
                        </a:rPr>
                        <a:t>A</a:t>
                      </a: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sz="1400" b="0" dirty="0">
                          <a:solidFill>
                            <a:schemeClr val="tx1"/>
                          </a:solidFill>
                          <a:latin typeface="Arial" panose="020B0604020202020204" pitchFamily="34" charset="0"/>
                          <a:cs typeface="Arial" panose="020B0604020202020204" pitchFamily="34"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endParaRPr lang="en-US" sz="1400" b="0" dirty="0">
                        <a:solidFill>
                          <a:schemeClr val="tx1"/>
                        </a:solidFill>
                        <a:latin typeface="Courier" pitchFamily="2"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698704590"/>
                  </a:ext>
                </a:extLst>
              </a:tr>
              <a:tr h="333289">
                <a:tc>
                  <a:txBody>
                    <a:bodyPr/>
                    <a:lstStyle/>
                    <a:p>
                      <a:pPr algn="ctr"/>
                      <a:r>
                        <a:rPr lang="en-US" sz="1400" b="0" dirty="0">
                          <a:solidFill>
                            <a:schemeClr val="tx1"/>
                          </a:solidFill>
                          <a:latin typeface="Arial" panose="020B0604020202020204" pitchFamily="34" charset="0"/>
                          <a:cs typeface="Arial" panose="020B0604020202020204" pitchFamily="34" charset="0"/>
                        </a:rPr>
                        <a:t>B</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400" b="0" dirty="0">
                          <a:solidFill>
                            <a:schemeClr val="tx1"/>
                          </a:solidFill>
                          <a:latin typeface="Arial" panose="020B0604020202020204" pitchFamily="34" charset="0"/>
                          <a:cs typeface="Arial" panose="020B0604020202020204" pitchFamily="34"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endParaRPr lang="en-US" sz="1400" b="0" dirty="0">
                        <a:solidFill>
                          <a:schemeClr val="tx1"/>
                        </a:solidFill>
                        <a:latin typeface="Courier" pitchFamily="2"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97155727"/>
                  </a:ext>
                </a:extLst>
              </a:tr>
              <a:tr h="333289">
                <a:tc>
                  <a:txBody>
                    <a:bodyPr/>
                    <a:lstStyle/>
                    <a:p>
                      <a:pPr algn="ctr"/>
                      <a:r>
                        <a:rPr lang="en-US" sz="1400" b="0" dirty="0">
                          <a:solidFill>
                            <a:schemeClr val="tx1"/>
                          </a:solidFill>
                          <a:latin typeface="Arial" panose="020B0604020202020204" pitchFamily="34" charset="0"/>
                          <a:cs typeface="Arial" panose="020B0604020202020204" pitchFamily="34" charset="0"/>
                        </a:rPr>
                        <a:t>C</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400" b="0" dirty="0">
                          <a:solidFill>
                            <a:schemeClr val="tx1"/>
                          </a:solidFill>
                          <a:latin typeface="Arial" panose="020B0604020202020204" pitchFamily="34" charset="0"/>
                          <a:cs typeface="Arial" panose="020B0604020202020204" pitchFamily="34"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endParaRPr lang="en-US" sz="1400" b="0" dirty="0">
                        <a:solidFill>
                          <a:schemeClr val="tx1"/>
                        </a:solidFill>
                        <a:latin typeface="Courier" pitchFamily="2"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48973282"/>
                  </a:ext>
                </a:extLst>
              </a:tr>
              <a:tr h="333289">
                <a:tc>
                  <a:txBody>
                    <a:bodyPr/>
                    <a:lstStyle/>
                    <a:p>
                      <a:pPr algn="ctr"/>
                      <a:r>
                        <a:rPr lang="en-US" sz="1400" b="0" dirty="0">
                          <a:solidFill>
                            <a:schemeClr val="tx1"/>
                          </a:solidFill>
                          <a:latin typeface="Arial" panose="020B0604020202020204" pitchFamily="34" charset="0"/>
                          <a:cs typeface="Arial" panose="020B0604020202020204" pitchFamily="34" charset="0"/>
                        </a:rPr>
                        <a:t>D</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400" b="0" dirty="0">
                          <a:solidFill>
                            <a:schemeClr val="tx1"/>
                          </a:solidFill>
                          <a:latin typeface="Arial" panose="020B0604020202020204" pitchFamily="34" charset="0"/>
                          <a:cs typeface="Arial" panose="020B0604020202020204" pitchFamily="34"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endParaRPr lang="en-US" sz="1400" b="0" dirty="0">
                        <a:solidFill>
                          <a:schemeClr val="tx1"/>
                        </a:solidFill>
                        <a:latin typeface="Courier" pitchFamily="2"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931113414"/>
                  </a:ext>
                </a:extLst>
              </a:tr>
              <a:tr h="333289">
                <a:tc>
                  <a:txBody>
                    <a:bodyPr/>
                    <a:lstStyle/>
                    <a:p>
                      <a:pPr algn="ctr"/>
                      <a:r>
                        <a:rPr lang="en-US" sz="1400" b="0" dirty="0">
                          <a:solidFill>
                            <a:schemeClr val="tx1"/>
                          </a:solidFill>
                          <a:latin typeface="Arial" panose="020B0604020202020204" pitchFamily="34" charset="0"/>
                          <a:cs typeface="Arial" panose="020B0604020202020204" pitchFamily="34" charset="0"/>
                        </a:rPr>
                        <a:t>R</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400" b="0" dirty="0">
                          <a:solidFill>
                            <a:schemeClr val="tx1"/>
                          </a:solidFill>
                          <a:latin typeface="Arial" panose="020B0604020202020204" pitchFamily="34" charset="0"/>
                          <a:cs typeface="Arial" panose="020B0604020202020204" pitchFamily="34"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endParaRPr lang="en-US" sz="1400" b="0" dirty="0">
                        <a:solidFill>
                          <a:schemeClr val="tx1"/>
                        </a:solidFill>
                        <a:latin typeface="Courier" pitchFamily="2"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620110253"/>
                  </a:ext>
                </a:extLst>
              </a:tr>
              <a:tr h="333289">
                <a:tc>
                  <a:txBody>
                    <a:bodyPr/>
                    <a:lstStyle/>
                    <a:p>
                      <a:pPr algn="ctr"/>
                      <a:r>
                        <a:rPr lang="en-US" sz="1400" b="0" dirty="0">
                          <a:solidFill>
                            <a:schemeClr val="tx1"/>
                          </a:solidFill>
                          <a:latin typeface="Arial" panose="020B0604020202020204" pitchFamily="34" charset="0"/>
                          <a:cs typeface="Arial" panose="020B0604020202020204" pitchFamily="34" charset="0"/>
                        </a:rPr>
                        <a:t>!</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400" b="0" dirty="0">
                          <a:solidFill>
                            <a:schemeClr val="tx1"/>
                          </a:solidFill>
                          <a:latin typeface="Arial" panose="020B0604020202020204" pitchFamily="34" charset="0"/>
                          <a:cs typeface="Arial" panose="020B0604020202020204" pitchFamily="34"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endParaRPr lang="en-US" sz="1400" b="0" dirty="0">
                        <a:solidFill>
                          <a:schemeClr val="tx1"/>
                        </a:solidFill>
                        <a:latin typeface="Courier" pitchFamily="2"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208363806"/>
                  </a:ext>
                </a:extLst>
              </a:tr>
            </a:tbl>
          </a:graphicData>
        </a:graphic>
      </p:graphicFrame>
      <p:grpSp>
        <p:nvGrpSpPr>
          <p:cNvPr id="6" name="Group 5" descr="simulation of code generation via iterative merging of 2 lest frequent tries">
            <a:extLst>
              <a:ext uri="{FF2B5EF4-FFF2-40B4-BE49-F238E27FC236}">
                <a16:creationId xmlns:a16="http://schemas.microsoft.com/office/drawing/2014/main" id="{35C9894B-685A-E049-92EB-FCDF29EB0834}"/>
              </a:ext>
            </a:extLst>
          </p:cNvPr>
          <p:cNvGrpSpPr/>
          <p:nvPr/>
        </p:nvGrpSpPr>
        <p:grpSpPr>
          <a:xfrm>
            <a:off x="973675" y="4456385"/>
            <a:ext cx="8982462" cy="2006631"/>
            <a:chOff x="973675" y="4456385"/>
            <a:chExt cx="8982462" cy="2006631"/>
          </a:xfrm>
        </p:grpSpPr>
        <p:grpSp>
          <p:nvGrpSpPr>
            <p:cNvPr id="50" name="Group 49">
              <a:extLst>
                <a:ext uri="{FF2B5EF4-FFF2-40B4-BE49-F238E27FC236}">
                  <a16:creationId xmlns:a16="http://schemas.microsoft.com/office/drawing/2014/main" id="{4BB728EC-684D-C64F-8EEE-D6DA3F27F617}"/>
                </a:ext>
              </a:extLst>
            </p:cNvPr>
            <p:cNvGrpSpPr/>
            <p:nvPr/>
          </p:nvGrpSpPr>
          <p:grpSpPr>
            <a:xfrm>
              <a:off x="973675" y="4695868"/>
              <a:ext cx="674305" cy="559000"/>
              <a:chOff x="1750163" y="4045010"/>
              <a:chExt cx="674305" cy="559000"/>
            </a:xfrm>
          </p:grpSpPr>
          <p:sp>
            <p:nvSpPr>
              <p:cNvPr id="8" name="Oval 7">
                <a:extLst>
                  <a:ext uri="{FF2B5EF4-FFF2-40B4-BE49-F238E27FC236}">
                    <a16:creationId xmlns:a16="http://schemas.microsoft.com/office/drawing/2014/main" id="{06A05484-6E5A-FF49-A52B-C4D42E7330A8}"/>
                  </a:ext>
                </a:extLst>
              </p:cNvPr>
              <p:cNvSpPr/>
              <p:nvPr/>
            </p:nvSpPr>
            <p:spPr>
              <a:xfrm>
                <a:off x="2063069" y="4099720"/>
                <a:ext cx="318654" cy="332509"/>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rial" panose="020B0604020202020204" pitchFamily="34" charset="0"/>
                    <a:cs typeface="Arial" panose="020B0604020202020204" pitchFamily="34" charset="0"/>
                  </a:rPr>
                  <a:t>A</a:t>
                </a:r>
              </a:p>
            </p:txBody>
          </p:sp>
          <p:cxnSp>
            <p:nvCxnSpPr>
              <p:cNvPr id="11" name="Straight Connector 10">
                <a:extLst>
                  <a:ext uri="{FF2B5EF4-FFF2-40B4-BE49-F238E27FC236}">
                    <a16:creationId xmlns:a16="http://schemas.microsoft.com/office/drawing/2014/main" id="{7F416B39-AF2E-4047-9074-481B3106F0B2}"/>
                  </a:ext>
                </a:extLst>
              </p:cNvPr>
              <p:cNvCxnSpPr>
                <a:cxnSpLocks/>
                <a:stCxn id="8" idx="5"/>
              </p:cNvCxnSpPr>
              <p:nvPr/>
            </p:nvCxnSpPr>
            <p:spPr>
              <a:xfrm>
                <a:off x="2335057" y="4383534"/>
                <a:ext cx="89411"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7F635E89-5D4D-9545-9912-172119E9824E}"/>
                  </a:ext>
                </a:extLst>
              </p:cNvPr>
              <p:cNvSpPr txBox="1"/>
              <p:nvPr/>
            </p:nvSpPr>
            <p:spPr>
              <a:xfrm>
                <a:off x="1750163" y="4045010"/>
                <a:ext cx="312906" cy="369332"/>
              </a:xfrm>
              <a:prstGeom prst="rect">
                <a:avLst/>
              </a:prstGeom>
              <a:noFill/>
            </p:spPr>
            <p:txBody>
              <a:bodyPr wrap="none" rtlCol="0">
                <a:spAutoFit/>
              </a:bodyPr>
              <a:lstStyle/>
              <a:p>
                <a:r>
                  <a:rPr lang="en-US" dirty="0">
                    <a:solidFill>
                      <a:schemeClr val="accent5"/>
                    </a:solidFill>
                    <a:latin typeface="Arial" panose="020B0604020202020204" pitchFamily="34" charset="0"/>
                    <a:cs typeface="Arial" panose="020B0604020202020204" pitchFamily="34" charset="0"/>
                  </a:rPr>
                  <a:t>5</a:t>
                </a:r>
              </a:p>
            </p:txBody>
          </p:sp>
          <p:cxnSp>
            <p:nvCxnSpPr>
              <p:cNvPr id="13" name="Straight Connector 12">
                <a:extLst>
                  <a:ext uri="{FF2B5EF4-FFF2-40B4-BE49-F238E27FC236}">
                    <a16:creationId xmlns:a16="http://schemas.microsoft.com/office/drawing/2014/main" id="{39FE95BA-59D7-454A-AA88-33EC87FE60D8}"/>
                  </a:ext>
                </a:extLst>
              </p:cNvPr>
              <p:cNvCxnSpPr>
                <a:cxnSpLocks/>
                <a:stCxn id="8" idx="3"/>
              </p:cNvCxnSpPr>
              <p:nvPr/>
            </p:nvCxnSpPr>
            <p:spPr>
              <a:xfrm flipH="1">
                <a:off x="1963362" y="4383534"/>
                <a:ext cx="146373"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53" name="Group 52">
              <a:extLst>
                <a:ext uri="{FF2B5EF4-FFF2-40B4-BE49-F238E27FC236}">
                  <a16:creationId xmlns:a16="http://schemas.microsoft.com/office/drawing/2014/main" id="{80C2A224-70B8-644A-A136-753F6D307255}"/>
                </a:ext>
              </a:extLst>
            </p:cNvPr>
            <p:cNvGrpSpPr/>
            <p:nvPr/>
          </p:nvGrpSpPr>
          <p:grpSpPr>
            <a:xfrm>
              <a:off x="7289520" y="5255531"/>
              <a:ext cx="656575" cy="504290"/>
              <a:chOff x="2095516" y="5232762"/>
              <a:chExt cx="656575" cy="504290"/>
            </a:xfrm>
          </p:grpSpPr>
          <p:sp>
            <p:nvSpPr>
              <p:cNvPr id="21" name="Oval 20">
                <a:extLst>
                  <a:ext uri="{FF2B5EF4-FFF2-40B4-BE49-F238E27FC236}">
                    <a16:creationId xmlns:a16="http://schemas.microsoft.com/office/drawing/2014/main" id="{D6672FE3-8CA2-3341-9A1B-C922171C6457}"/>
                  </a:ext>
                </a:extLst>
              </p:cNvPr>
              <p:cNvSpPr/>
              <p:nvPr/>
            </p:nvSpPr>
            <p:spPr>
              <a:xfrm>
                <a:off x="2390910" y="5232762"/>
                <a:ext cx="318654" cy="332509"/>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rial" panose="020B0604020202020204" pitchFamily="34" charset="0"/>
                    <a:cs typeface="Arial" panose="020B0604020202020204" pitchFamily="34" charset="0"/>
                  </a:rPr>
                  <a:t>D</a:t>
                </a:r>
              </a:p>
            </p:txBody>
          </p:sp>
          <p:cxnSp>
            <p:nvCxnSpPr>
              <p:cNvPr id="25" name="Straight Connector 24">
                <a:extLst>
                  <a:ext uri="{FF2B5EF4-FFF2-40B4-BE49-F238E27FC236}">
                    <a16:creationId xmlns:a16="http://schemas.microsoft.com/office/drawing/2014/main" id="{5C2EF432-2414-5B4A-AABD-B24368064650}"/>
                  </a:ext>
                </a:extLst>
              </p:cNvPr>
              <p:cNvCxnSpPr>
                <a:cxnSpLocks/>
              </p:cNvCxnSpPr>
              <p:nvPr/>
            </p:nvCxnSpPr>
            <p:spPr>
              <a:xfrm>
                <a:off x="2662680" y="5516576"/>
                <a:ext cx="89411"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AB6A5AF-60FC-2C47-BE29-25A979C4D2DA}"/>
                  </a:ext>
                </a:extLst>
              </p:cNvPr>
              <p:cNvCxnSpPr>
                <a:cxnSpLocks/>
                <a:stCxn id="21" idx="3"/>
              </p:cNvCxnSpPr>
              <p:nvPr/>
            </p:nvCxnSpPr>
            <p:spPr>
              <a:xfrm flipH="1">
                <a:off x="2291203" y="5516576"/>
                <a:ext cx="146373"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BAB47F5E-531D-EB46-A610-6227428059DA}"/>
                  </a:ext>
                </a:extLst>
              </p:cNvPr>
              <p:cNvSpPr txBox="1"/>
              <p:nvPr/>
            </p:nvSpPr>
            <p:spPr>
              <a:xfrm>
                <a:off x="2095516" y="5239844"/>
                <a:ext cx="312906" cy="369332"/>
              </a:xfrm>
              <a:prstGeom prst="rect">
                <a:avLst/>
              </a:prstGeom>
              <a:noFill/>
            </p:spPr>
            <p:txBody>
              <a:bodyPr wrap="none" rtlCol="0">
                <a:spAutoFit/>
              </a:bodyPr>
              <a:lstStyle/>
              <a:p>
                <a:r>
                  <a:rPr lang="en-US" dirty="0">
                    <a:solidFill>
                      <a:schemeClr val="accent5"/>
                    </a:solidFill>
                    <a:latin typeface="Arial" panose="020B0604020202020204" pitchFamily="34" charset="0"/>
                    <a:cs typeface="Arial" panose="020B0604020202020204" pitchFamily="34" charset="0"/>
                  </a:rPr>
                  <a:t>1</a:t>
                </a:r>
              </a:p>
            </p:txBody>
          </p:sp>
        </p:grpSp>
        <p:grpSp>
          <p:nvGrpSpPr>
            <p:cNvPr id="54" name="Group 53">
              <a:extLst>
                <a:ext uri="{FF2B5EF4-FFF2-40B4-BE49-F238E27FC236}">
                  <a16:creationId xmlns:a16="http://schemas.microsoft.com/office/drawing/2014/main" id="{DBED95C4-09D9-9848-A2E3-FED2D16B1923}"/>
                </a:ext>
              </a:extLst>
            </p:cNvPr>
            <p:cNvGrpSpPr/>
            <p:nvPr/>
          </p:nvGrpSpPr>
          <p:grpSpPr>
            <a:xfrm>
              <a:off x="4250252" y="5792582"/>
              <a:ext cx="686428" cy="541113"/>
              <a:chOff x="4044968" y="5154326"/>
              <a:chExt cx="686428" cy="541113"/>
            </a:xfrm>
          </p:grpSpPr>
          <p:sp>
            <p:nvSpPr>
              <p:cNvPr id="26" name="TextBox 25">
                <a:extLst>
                  <a:ext uri="{FF2B5EF4-FFF2-40B4-BE49-F238E27FC236}">
                    <a16:creationId xmlns:a16="http://schemas.microsoft.com/office/drawing/2014/main" id="{06E36F72-4A61-154A-B16F-D1F8329DD90E}"/>
                  </a:ext>
                </a:extLst>
              </p:cNvPr>
              <p:cNvSpPr txBox="1"/>
              <p:nvPr/>
            </p:nvSpPr>
            <p:spPr>
              <a:xfrm>
                <a:off x="4044968" y="5154326"/>
                <a:ext cx="312906" cy="369332"/>
              </a:xfrm>
              <a:prstGeom prst="rect">
                <a:avLst/>
              </a:prstGeom>
              <a:noFill/>
            </p:spPr>
            <p:txBody>
              <a:bodyPr wrap="none" rtlCol="0">
                <a:spAutoFit/>
              </a:bodyPr>
              <a:lstStyle/>
              <a:p>
                <a:r>
                  <a:rPr lang="en-US" dirty="0">
                    <a:solidFill>
                      <a:schemeClr val="accent5"/>
                    </a:solidFill>
                    <a:latin typeface="Arial" panose="020B0604020202020204" pitchFamily="34" charset="0"/>
                    <a:cs typeface="Arial" panose="020B0604020202020204" pitchFamily="34" charset="0"/>
                  </a:rPr>
                  <a:t>2</a:t>
                </a:r>
              </a:p>
            </p:txBody>
          </p:sp>
          <p:sp>
            <p:nvSpPr>
              <p:cNvPr id="30" name="Oval 29">
                <a:extLst>
                  <a:ext uri="{FF2B5EF4-FFF2-40B4-BE49-F238E27FC236}">
                    <a16:creationId xmlns:a16="http://schemas.microsoft.com/office/drawing/2014/main" id="{E642B119-1D86-A44C-9577-8EBF060B8425}"/>
                  </a:ext>
                </a:extLst>
              </p:cNvPr>
              <p:cNvSpPr/>
              <p:nvPr/>
            </p:nvSpPr>
            <p:spPr>
              <a:xfrm>
                <a:off x="4369997" y="5191149"/>
                <a:ext cx="318654" cy="332509"/>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rial" panose="020B0604020202020204" pitchFamily="34" charset="0"/>
                    <a:cs typeface="Arial" panose="020B0604020202020204" pitchFamily="34" charset="0"/>
                  </a:rPr>
                  <a:t>B</a:t>
                </a:r>
              </a:p>
            </p:txBody>
          </p:sp>
          <p:cxnSp>
            <p:nvCxnSpPr>
              <p:cNvPr id="34" name="Straight Connector 33">
                <a:extLst>
                  <a:ext uri="{FF2B5EF4-FFF2-40B4-BE49-F238E27FC236}">
                    <a16:creationId xmlns:a16="http://schemas.microsoft.com/office/drawing/2014/main" id="{012D269B-7F07-4847-B1D9-B334DA13113F}"/>
                  </a:ext>
                </a:extLst>
              </p:cNvPr>
              <p:cNvCxnSpPr>
                <a:cxnSpLocks/>
                <a:stCxn id="30" idx="5"/>
              </p:cNvCxnSpPr>
              <p:nvPr/>
            </p:nvCxnSpPr>
            <p:spPr>
              <a:xfrm>
                <a:off x="4641985" y="5474963"/>
                <a:ext cx="89411"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94616B5-085B-6445-999D-C838831D869B}"/>
                  </a:ext>
                </a:extLst>
              </p:cNvPr>
              <p:cNvCxnSpPr>
                <a:cxnSpLocks/>
                <a:stCxn id="30" idx="3"/>
              </p:cNvCxnSpPr>
              <p:nvPr/>
            </p:nvCxnSpPr>
            <p:spPr>
              <a:xfrm flipH="1">
                <a:off x="4270290" y="5474963"/>
                <a:ext cx="146373"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55" name="Group 54">
              <a:extLst>
                <a:ext uri="{FF2B5EF4-FFF2-40B4-BE49-F238E27FC236}">
                  <a16:creationId xmlns:a16="http://schemas.microsoft.com/office/drawing/2014/main" id="{8BCCA23C-6120-324A-80C0-BB5D4E1070A1}"/>
                </a:ext>
              </a:extLst>
            </p:cNvPr>
            <p:cNvGrpSpPr/>
            <p:nvPr/>
          </p:nvGrpSpPr>
          <p:grpSpPr>
            <a:xfrm>
              <a:off x="7922235" y="5958120"/>
              <a:ext cx="608623" cy="504896"/>
              <a:chOff x="2800118" y="5848814"/>
              <a:chExt cx="608623" cy="504896"/>
            </a:xfrm>
          </p:grpSpPr>
          <p:sp>
            <p:nvSpPr>
              <p:cNvPr id="20" name="TextBox 19">
                <a:extLst>
                  <a:ext uri="{FF2B5EF4-FFF2-40B4-BE49-F238E27FC236}">
                    <a16:creationId xmlns:a16="http://schemas.microsoft.com/office/drawing/2014/main" id="{727DCE5D-8EC6-864B-896F-70EC0B08CD94}"/>
                  </a:ext>
                </a:extLst>
              </p:cNvPr>
              <p:cNvSpPr txBox="1"/>
              <p:nvPr/>
            </p:nvSpPr>
            <p:spPr>
              <a:xfrm>
                <a:off x="2800118" y="5848814"/>
                <a:ext cx="312906" cy="369332"/>
              </a:xfrm>
              <a:prstGeom prst="rect">
                <a:avLst/>
              </a:prstGeom>
              <a:noFill/>
            </p:spPr>
            <p:txBody>
              <a:bodyPr wrap="none" rtlCol="0">
                <a:spAutoFit/>
              </a:bodyPr>
              <a:lstStyle/>
              <a:p>
                <a:r>
                  <a:rPr lang="en-US" dirty="0">
                    <a:solidFill>
                      <a:schemeClr val="accent5"/>
                    </a:solidFill>
                    <a:latin typeface="Arial" panose="020B0604020202020204" pitchFamily="34" charset="0"/>
                    <a:cs typeface="Arial" panose="020B0604020202020204" pitchFamily="34" charset="0"/>
                  </a:rPr>
                  <a:t>1</a:t>
                </a:r>
              </a:p>
            </p:txBody>
          </p:sp>
          <p:sp>
            <p:nvSpPr>
              <p:cNvPr id="38" name="Oval 37">
                <a:extLst>
                  <a:ext uri="{FF2B5EF4-FFF2-40B4-BE49-F238E27FC236}">
                    <a16:creationId xmlns:a16="http://schemas.microsoft.com/office/drawing/2014/main" id="{2127C9C6-2140-6B43-AC01-EBE5FEA76679}"/>
                  </a:ext>
                </a:extLst>
              </p:cNvPr>
              <p:cNvSpPr/>
              <p:nvPr/>
            </p:nvSpPr>
            <p:spPr>
              <a:xfrm>
                <a:off x="3047342" y="5849420"/>
                <a:ext cx="318654" cy="332509"/>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rial" panose="020B0604020202020204" pitchFamily="34" charset="0"/>
                    <a:cs typeface="Arial" panose="020B0604020202020204" pitchFamily="34" charset="0"/>
                  </a:rPr>
                  <a:t>!</a:t>
                </a:r>
              </a:p>
            </p:txBody>
          </p:sp>
          <p:cxnSp>
            <p:nvCxnSpPr>
              <p:cNvPr id="42" name="Straight Connector 41">
                <a:extLst>
                  <a:ext uri="{FF2B5EF4-FFF2-40B4-BE49-F238E27FC236}">
                    <a16:creationId xmlns:a16="http://schemas.microsoft.com/office/drawing/2014/main" id="{6C5036F1-EE6B-E148-93CC-87B22BF6B9CD}"/>
                  </a:ext>
                </a:extLst>
              </p:cNvPr>
              <p:cNvCxnSpPr>
                <a:cxnSpLocks/>
                <a:stCxn id="38" idx="5"/>
              </p:cNvCxnSpPr>
              <p:nvPr/>
            </p:nvCxnSpPr>
            <p:spPr>
              <a:xfrm>
                <a:off x="3319330" y="6133234"/>
                <a:ext cx="89411"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774C459E-FF64-9A4A-BB63-3308E3CB024B}"/>
                  </a:ext>
                </a:extLst>
              </p:cNvPr>
              <p:cNvCxnSpPr>
                <a:cxnSpLocks/>
                <a:stCxn id="38" idx="3"/>
              </p:cNvCxnSpPr>
              <p:nvPr/>
            </p:nvCxnSpPr>
            <p:spPr>
              <a:xfrm flipH="1">
                <a:off x="2947635" y="6133234"/>
                <a:ext cx="146373"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52" name="Group 51">
              <a:extLst>
                <a:ext uri="{FF2B5EF4-FFF2-40B4-BE49-F238E27FC236}">
                  <a16:creationId xmlns:a16="http://schemas.microsoft.com/office/drawing/2014/main" id="{ADA2F9D6-8F0A-7C4A-AD27-26205113B7D8}"/>
                </a:ext>
              </a:extLst>
            </p:cNvPr>
            <p:cNvGrpSpPr/>
            <p:nvPr/>
          </p:nvGrpSpPr>
          <p:grpSpPr>
            <a:xfrm>
              <a:off x="9348868" y="5899163"/>
              <a:ext cx="607269" cy="563853"/>
              <a:chOff x="3659033" y="5849420"/>
              <a:chExt cx="607269" cy="563853"/>
            </a:xfrm>
          </p:grpSpPr>
          <p:sp>
            <p:nvSpPr>
              <p:cNvPr id="39" name="Oval 38">
                <a:extLst>
                  <a:ext uri="{FF2B5EF4-FFF2-40B4-BE49-F238E27FC236}">
                    <a16:creationId xmlns:a16="http://schemas.microsoft.com/office/drawing/2014/main" id="{10689D03-0CF9-0540-888E-D17C352C2EE9}"/>
                  </a:ext>
                </a:extLst>
              </p:cNvPr>
              <p:cNvSpPr/>
              <p:nvPr/>
            </p:nvSpPr>
            <p:spPr>
              <a:xfrm>
                <a:off x="3928929" y="5885637"/>
                <a:ext cx="318654" cy="332509"/>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rial" panose="020B0604020202020204" pitchFamily="34" charset="0"/>
                    <a:cs typeface="Arial" panose="020B0604020202020204" pitchFamily="34" charset="0"/>
                  </a:rPr>
                  <a:t>C</a:t>
                </a:r>
              </a:p>
            </p:txBody>
          </p:sp>
          <p:sp>
            <p:nvSpPr>
              <p:cNvPr id="45" name="TextBox 44">
                <a:extLst>
                  <a:ext uri="{FF2B5EF4-FFF2-40B4-BE49-F238E27FC236}">
                    <a16:creationId xmlns:a16="http://schemas.microsoft.com/office/drawing/2014/main" id="{61BF5F88-CEB7-034F-A6BA-7BEFE722CF65}"/>
                  </a:ext>
                </a:extLst>
              </p:cNvPr>
              <p:cNvSpPr txBox="1"/>
              <p:nvPr/>
            </p:nvSpPr>
            <p:spPr>
              <a:xfrm>
                <a:off x="3659033" y="5849420"/>
                <a:ext cx="312906" cy="369332"/>
              </a:xfrm>
              <a:prstGeom prst="rect">
                <a:avLst/>
              </a:prstGeom>
              <a:noFill/>
            </p:spPr>
            <p:txBody>
              <a:bodyPr wrap="none" rtlCol="0">
                <a:spAutoFit/>
              </a:bodyPr>
              <a:lstStyle/>
              <a:p>
                <a:r>
                  <a:rPr lang="en-US" dirty="0">
                    <a:solidFill>
                      <a:schemeClr val="accent5"/>
                    </a:solidFill>
                    <a:latin typeface="Arial" panose="020B0604020202020204" pitchFamily="34" charset="0"/>
                    <a:cs typeface="Arial" panose="020B0604020202020204" pitchFamily="34" charset="0"/>
                  </a:rPr>
                  <a:t>1</a:t>
                </a:r>
              </a:p>
            </p:txBody>
          </p:sp>
          <p:cxnSp>
            <p:nvCxnSpPr>
              <p:cNvPr id="46" name="Straight Connector 45">
                <a:extLst>
                  <a:ext uri="{FF2B5EF4-FFF2-40B4-BE49-F238E27FC236}">
                    <a16:creationId xmlns:a16="http://schemas.microsoft.com/office/drawing/2014/main" id="{4C200A43-A8D1-994C-849E-661DCD3B99E4}"/>
                  </a:ext>
                </a:extLst>
              </p:cNvPr>
              <p:cNvCxnSpPr>
                <a:cxnSpLocks/>
              </p:cNvCxnSpPr>
              <p:nvPr/>
            </p:nvCxnSpPr>
            <p:spPr>
              <a:xfrm>
                <a:off x="4176891" y="6192797"/>
                <a:ext cx="89411"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BF6B1C4A-4590-F547-9264-0AFB17854521}"/>
                  </a:ext>
                </a:extLst>
              </p:cNvPr>
              <p:cNvCxnSpPr>
                <a:cxnSpLocks/>
              </p:cNvCxnSpPr>
              <p:nvPr/>
            </p:nvCxnSpPr>
            <p:spPr>
              <a:xfrm flipH="1">
                <a:off x="3805414" y="6192797"/>
                <a:ext cx="146373"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51" name="Group 50">
              <a:extLst>
                <a:ext uri="{FF2B5EF4-FFF2-40B4-BE49-F238E27FC236}">
                  <a16:creationId xmlns:a16="http://schemas.microsoft.com/office/drawing/2014/main" id="{A24A3F39-4AA7-F740-B458-F22569ED3BAE}"/>
                </a:ext>
              </a:extLst>
            </p:cNvPr>
            <p:cNvGrpSpPr/>
            <p:nvPr/>
          </p:nvGrpSpPr>
          <p:grpSpPr>
            <a:xfrm>
              <a:off x="2959085" y="5798388"/>
              <a:ext cx="645196" cy="554126"/>
              <a:chOff x="4941987" y="5147244"/>
              <a:chExt cx="645196" cy="554126"/>
            </a:xfrm>
          </p:grpSpPr>
          <p:sp>
            <p:nvSpPr>
              <p:cNvPr id="31" name="Oval 30">
                <a:extLst>
                  <a:ext uri="{FF2B5EF4-FFF2-40B4-BE49-F238E27FC236}">
                    <a16:creationId xmlns:a16="http://schemas.microsoft.com/office/drawing/2014/main" id="{672AA4AA-B7BD-3A4E-A1FB-38D2C2633F75}"/>
                  </a:ext>
                </a:extLst>
              </p:cNvPr>
              <p:cNvSpPr/>
              <p:nvPr/>
            </p:nvSpPr>
            <p:spPr>
              <a:xfrm>
                <a:off x="5203782" y="5169647"/>
                <a:ext cx="318654" cy="332509"/>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rial" panose="020B0604020202020204" pitchFamily="34" charset="0"/>
                    <a:cs typeface="Arial" panose="020B0604020202020204" pitchFamily="34" charset="0"/>
                  </a:rPr>
                  <a:t>R</a:t>
                </a:r>
              </a:p>
            </p:txBody>
          </p:sp>
          <p:sp>
            <p:nvSpPr>
              <p:cNvPr id="37" name="TextBox 36">
                <a:extLst>
                  <a:ext uri="{FF2B5EF4-FFF2-40B4-BE49-F238E27FC236}">
                    <a16:creationId xmlns:a16="http://schemas.microsoft.com/office/drawing/2014/main" id="{A45535CD-8E64-0842-B568-A6F37CAA9314}"/>
                  </a:ext>
                </a:extLst>
              </p:cNvPr>
              <p:cNvSpPr txBox="1"/>
              <p:nvPr/>
            </p:nvSpPr>
            <p:spPr>
              <a:xfrm>
                <a:off x="4941987" y="5147244"/>
                <a:ext cx="312906" cy="369332"/>
              </a:xfrm>
              <a:prstGeom prst="rect">
                <a:avLst/>
              </a:prstGeom>
              <a:noFill/>
            </p:spPr>
            <p:txBody>
              <a:bodyPr wrap="none" rtlCol="0">
                <a:spAutoFit/>
              </a:bodyPr>
              <a:lstStyle/>
              <a:p>
                <a:r>
                  <a:rPr lang="en-US" dirty="0">
                    <a:solidFill>
                      <a:schemeClr val="accent5"/>
                    </a:solidFill>
                    <a:latin typeface="Arial" panose="020B0604020202020204" pitchFamily="34" charset="0"/>
                    <a:cs typeface="Arial" panose="020B0604020202020204" pitchFamily="34" charset="0"/>
                  </a:rPr>
                  <a:t>2</a:t>
                </a:r>
              </a:p>
            </p:txBody>
          </p:sp>
          <p:cxnSp>
            <p:nvCxnSpPr>
              <p:cNvPr id="48" name="Straight Connector 47">
                <a:extLst>
                  <a:ext uri="{FF2B5EF4-FFF2-40B4-BE49-F238E27FC236}">
                    <a16:creationId xmlns:a16="http://schemas.microsoft.com/office/drawing/2014/main" id="{C0BA2E99-AC99-E74E-AD6B-FA203D1318A4}"/>
                  </a:ext>
                </a:extLst>
              </p:cNvPr>
              <p:cNvCxnSpPr>
                <a:cxnSpLocks/>
              </p:cNvCxnSpPr>
              <p:nvPr/>
            </p:nvCxnSpPr>
            <p:spPr>
              <a:xfrm>
                <a:off x="5497772" y="5480894"/>
                <a:ext cx="89411"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2F4F3599-0F9C-6A4C-9C2C-EBFD9B07CD93}"/>
                  </a:ext>
                </a:extLst>
              </p:cNvPr>
              <p:cNvCxnSpPr>
                <a:cxnSpLocks/>
              </p:cNvCxnSpPr>
              <p:nvPr/>
            </p:nvCxnSpPr>
            <p:spPr>
              <a:xfrm flipH="1">
                <a:off x="5126077" y="5480894"/>
                <a:ext cx="146373"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40" name="Oval 39">
              <a:extLst>
                <a:ext uri="{FF2B5EF4-FFF2-40B4-BE49-F238E27FC236}">
                  <a16:creationId xmlns:a16="http://schemas.microsoft.com/office/drawing/2014/main" id="{0DC79CBF-4227-4545-BCD5-C596AD831B57}"/>
                </a:ext>
              </a:extLst>
            </p:cNvPr>
            <p:cNvSpPr/>
            <p:nvPr/>
          </p:nvSpPr>
          <p:spPr>
            <a:xfrm>
              <a:off x="8991523" y="5251754"/>
              <a:ext cx="318654" cy="332509"/>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latin typeface="Arial" panose="020B0604020202020204" pitchFamily="34" charset="0"/>
                <a:cs typeface="Arial" panose="020B0604020202020204" pitchFamily="34" charset="0"/>
              </a:endParaRPr>
            </a:p>
          </p:txBody>
        </p:sp>
        <p:cxnSp>
          <p:nvCxnSpPr>
            <p:cNvPr id="41" name="Straight Connector 40">
              <a:extLst>
                <a:ext uri="{FF2B5EF4-FFF2-40B4-BE49-F238E27FC236}">
                  <a16:creationId xmlns:a16="http://schemas.microsoft.com/office/drawing/2014/main" id="{B669C97F-D0A9-AA46-8A16-1A5EBC831B9F}"/>
                </a:ext>
              </a:extLst>
            </p:cNvPr>
            <p:cNvCxnSpPr>
              <a:cxnSpLocks/>
              <a:stCxn id="40" idx="3"/>
              <a:endCxn id="38" idx="7"/>
            </p:cNvCxnSpPr>
            <p:nvPr/>
          </p:nvCxnSpPr>
          <p:spPr>
            <a:xfrm flipH="1">
              <a:off x="8441447" y="5535568"/>
              <a:ext cx="596742" cy="471853"/>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3C9CE3C9-DE7D-1D41-A53A-191CFF549313}"/>
                </a:ext>
              </a:extLst>
            </p:cNvPr>
            <p:cNvCxnSpPr>
              <a:cxnSpLocks/>
              <a:stCxn id="40" idx="5"/>
              <a:endCxn id="39" idx="1"/>
            </p:cNvCxnSpPr>
            <p:nvPr/>
          </p:nvCxnSpPr>
          <p:spPr>
            <a:xfrm>
              <a:off x="9263511" y="5535568"/>
              <a:ext cx="401919" cy="448507"/>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FDCA9A76-CD34-8B42-AF84-DDB8A63ACBF3}"/>
                </a:ext>
              </a:extLst>
            </p:cNvPr>
            <p:cNvSpPr txBox="1"/>
            <p:nvPr/>
          </p:nvSpPr>
          <p:spPr>
            <a:xfrm>
              <a:off x="8725283" y="5139121"/>
              <a:ext cx="312906" cy="369332"/>
            </a:xfrm>
            <a:prstGeom prst="rect">
              <a:avLst/>
            </a:prstGeom>
            <a:noFill/>
          </p:spPr>
          <p:txBody>
            <a:bodyPr wrap="none" rtlCol="0">
              <a:spAutoFit/>
            </a:bodyPr>
            <a:lstStyle/>
            <a:p>
              <a:r>
                <a:rPr lang="en-US" dirty="0">
                  <a:solidFill>
                    <a:schemeClr val="accent5"/>
                  </a:solidFill>
                  <a:latin typeface="Arial" panose="020B0604020202020204" pitchFamily="34" charset="0"/>
                  <a:cs typeface="Arial" panose="020B0604020202020204" pitchFamily="34" charset="0"/>
                </a:rPr>
                <a:t>2</a:t>
              </a:r>
            </a:p>
          </p:txBody>
        </p:sp>
        <p:sp>
          <p:nvSpPr>
            <p:cNvPr id="56" name="Oval 55">
              <a:extLst>
                <a:ext uri="{FF2B5EF4-FFF2-40B4-BE49-F238E27FC236}">
                  <a16:creationId xmlns:a16="http://schemas.microsoft.com/office/drawing/2014/main" id="{DA981DA1-963F-9741-BD63-DD9A72D22BE1}"/>
                </a:ext>
              </a:extLst>
            </p:cNvPr>
            <p:cNvSpPr/>
            <p:nvPr/>
          </p:nvSpPr>
          <p:spPr>
            <a:xfrm>
              <a:off x="8300820" y="4529018"/>
              <a:ext cx="318654" cy="332509"/>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latin typeface="Arial" panose="020B0604020202020204" pitchFamily="34" charset="0"/>
                <a:cs typeface="Arial" panose="020B0604020202020204" pitchFamily="34" charset="0"/>
              </a:endParaRPr>
            </a:p>
          </p:txBody>
        </p:sp>
        <p:cxnSp>
          <p:nvCxnSpPr>
            <p:cNvPr id="58" name="Straight Connector 57">
              <a:extLst>
                <a:ext uri="{FF2B5EF4-FFF2-40B4-BE49-F238E27FC236}">
                  <a16:creationId xmlns:a16="http://schemas.microsoft.com/office/drawing/2014/main" id="{3C8FC2E7-4462-9C48-9065-724350371118}"/>
                </a:ext>
              </a:extLst>
            </p:cNvPr>
            <p:cNvCxnSpPr>
              <a:cxnSpLocks/>
              <a:stCxn id="56" idx="3"/>
              <a:endCxn id="21" idx="7"/>
            </p:cNvCxnSpPr>
            <p:nvPr/>
          </p:nvCxnSpPr>
          <p:spPr>
            <a:xfrm flipH="1">
              <a:off x="7856902" y="4812832"/>
              <a:ext cx="490584" cy="49139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ABCD1712-C837-EA45-9F9D-F1C4F8F391A4}"/>
                </a:ext>
              </a:extLst>
            </p:cNvPr>
            <p:cNvCxnSpPr>
              <a:cxnSpLocks/>
              <a:stCxn id="56" idx="5"/>
              <a:endCxn id="40" idx="0"/>
            </p:cNvCxnSpPr>
            <p:nvPr/>
          </p:nvCxnSpPr>
          <p:spPr>
            <a:xfrm>
              <a:off x="8572808" y="4812832"/>
              <a:ext cx="578042" cy="438922"/>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F311EC65-80E2-E849-9E47-5B2D2F279130}"/>
                </a:ext>
              </a:extLst>
            </p:cNvPr>
            <p:cNvSpPr txBox="1"/>
            <p:nvPr/>
          </p:nvSpPr>
          <p:spPr>
            <a:xfrm>
              <a:off x="8034580" y="4456385"/>
              <a:ext cx="312906" cy="369332"/>
            </a:xfrm>
            <a:prstGeom prst="rect">
              <a:avLst/>
            </a:prstGeom>
            <a:noFill/>
          </p:spPr>
          <p:txBody>
            <a:bodyPr wrap="none" rtlCol="0">
              <a:spAutoFit/>
            </a:bodyPr>
            <a:lstStyle/>
            <a:p>
              <a:r>
                <a:rPr lang="en-US" dirty="0">
                  <a:solidFill>
                    <a:schemeClr val="accent5"/>
                  </a:solidFill>
                  <a:latin typeface="Arial" panose="020B0604020202020204" pitchFamily="34" charset="0"/>
                  <a:cs typeface="Arial" panose="020B0604020202020204" pitchFamily="34" charset="0"/>
                </a:rPr>
                <a:t>3</a:t>
              </a:r>
            </a:p>
          </p:txBody>
        </p:sp>
        <p:sp>
          <p:nvSpPr>
            <p:cNvPr id="61" name="Oval 60">
              <a:extLst>
                <a:ext uri="{FF2B5EF4-FFF2-40B4-BE49-F238E27FC236}">
                  <a16:creationId xmlns:a16="http://schemas.microsoft.com/office/drawing/2014/main" id="{79FF1835-F4E9-B547-9980-63FBD65AAFCC}"/>
                </a:ext>
              </a:extLst>
            </p:cNvPr>
            <p:cNvSpPr/>
            <p:nvPr/>
          </p:nvSpPr>
          <p:spPr>
            <a:xfrm>
              <a:off x="4039751" y="5080239"/>
              <a:ext cx="318654" cy="332509"/>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latin typeface="Arial" panose="020B0604020202020204" pitchFamily="34" charset="0"/>
                <a:cs typeface="Arial" panose="020B0604020202020204" pitchFamily="34" charset="0"/>
              </a:endParaRPr>
            </a:p>
          </p:txBody>
        </p:sp>
        <p:cxnSp>
          <p:nvCxnSpPr>
            <p:cNvPr id="62" name="Straight Connector 61">
              <a:extLst>
                <a:ext uri="{FF2B5EF4-FFF2-40B4-BE49-F238E27FC236}">
                  <a16:creationId xmlns:a16="http://schemas.microsoft.com/office/drawing/2014/main" id="{F7E734FE-AC14-6F40-8C0B-2D110720967F}"/>
                </a:ext>
              </a:extLst>
            </p:cNvPr>
            <p:cNvCxnSpPr>
              <a:cxnSpLocks/>
              <a:stCxn id="61" idx="3"/>
            </p:cNvCxnSpPr>
            <p:nvPr/>
          </p:nvCxnSpPr>
          <p:spPr>
            <a:xfrm flipH="1">
              <a:off x="3489675" y="5364053"/>
              <a:ext cx="596742" cy="471853"/>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31350534-44B2-1349-8D8C-BA25D7F7495C}"/>
                </a:ext>
              </a:extLst>
            </p:cNvPr>
            <p:cNvCxnSpPr>
              <a:cxnSpLocks/>
              <a:stCxn id="61" idx="5"/>
            </p:cNvCxnSpPr>
            <p:nvPr/>
          </p:nvCxnSpPr>
          <p:spPr>
            <a:xfrm>
              <a:off x="4311739" y="5364053"/>
              <a:ext cx="401919" cy="448507"/>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6E100199-50D7-824A-A28F-A145E6CD0ADE}"/>
                </a:ext>
              </a:extLst>
            </p:cNvPr>
            <p:cNvSpPr txBox="1"/>
            <p:nvPr/>
          </p:nvSpPr>
          <p:spPr>
            <a:xfrm>
              <a:off x="3773511" y="4967606"/>
              <a:ext cx="312906" cy="369332"/>
            </a:xfrm>
            <a:prstGeom prst="rect">
              <a:avLst/>
            </a:prstGeom>
            <a:noFill/>
          </p:spPr>
          <p:txBody>
            <a:bodyPr wrap="none" rtlCol="0">
              <a:spAutoFit/>
            </a:bodyPr>
            <a:lstStyle/>
            <a:p>
              <a:r>
                <a:rPr lang="en-US" dirty="0">
                  <a:solidFill>
                    <a:schemeClr val="accent5"/>
                  </a:solidFill>
                  <a:latin typeface="Arial" panose="020B0604020202020204" pitchFamily="34" charset="0"/>
                  <a:cs typeface="Arial" panose="020B0604020202020204" pitchFamily="34" charset="0"/>
                </a:rPr>
                <a:t>4</a:t>
              </a:r>
            </a:p>
          </p:txBody>
        </p:sp>
      </p:grpSp>
    </p:spTree>
    <p:extLst>
      <p:ext uri="{BB962C8B-B14F-4D97-AF65-F5344CB8AC3E}">
        <p14:creationId xmlns:p14="http://schemas.microsoft.com/office/powerpoint/2010/main" val="11703772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61A64-88E3-514F-96E5-EB5877D9729F}"/>
              </a:ext>
            </a:extLst>
          </p:cNvPr>
          <p:cNvSpPr>
            <a:spLocks noGrp="1"/>
          </p:cNvSpPr>
          <p:nvPr>
            <p:ph type="title"/>
          </p:nvPr>
        </p:nvSpPr>
        <p:spPr/>
        <p:txBody>
          <a:bodyPr/>
          <a:lstStyle/>
          <a:p>
            <a:r>
              <a:rPr lang="en-US" dirty="0"/>
              <a:t>Huffman compression</a:t>
            </a:r>
          </a:p>
        </p:txBody>
      </p:sp>
      <p:sp>
        <p:nvSpPr>
          <p:cNvPr id="3" name="Content Placeholder 2">
            <a:extLst>
              <a:ext uri="{FF2B5EF4-FFF2-40B4-BE49-F238E27FC236}">
                <a16:creationId xmlns:a16="http://schemas.microsoft.com/office/drawing/2014/main" id="{B9A27260-ED92-1742-90BD-44C0FED54F03}"/>
              </a:ext>
            </a:extLst>
          </p:cNvPr>
          <p:cNvSpPr>
            <a:spLocks noGrp="1"/>
          </p:cNvSpPr>
          <p:nvPr>
            <p:ph idx="1"/>
          </p:nvPr>
        </p:nvSpPr>
        <p:spPr/>
        <p:txBody>
          <a:bodyPr/>
          <a:lstStyle/>
          <a:p>
            <a:r>
              <a:rPr lang="en-US" dirty="0"/>
              <a:t>Demo</a:t>
            </a:r>
          </a:p>
        </p:txBody>
      </p:sp>
      <p:sp>
        <p:nvSpPr>
          <p:cNvPr id="4" name="TextBox 3">
            <a:extLst>
              <a:ext uri="{FF2B5EF4-FFF2-40B4-BE49-F238E27FC236}">
                <a16:creationId xmlns:a16="http://schemas.microsoft.com/office/drawing/2014/main" id="{EE7569D7-7FD6-584A-AE59-2A307297CAC8}"/>
              </a:ext>
            </a:extLst>
          </p:cNvPr>
          <p:cNvSpPr txBox="1"/>
          <p:nvPr/>
        </p:nvSpPr>
        <p:spPr>
          <a:xfrm>
            <a:off x="514866" y="2461846"/>
            <a:ext cx="5279009" cy="369332"/>
          </a:xfrm>
          <a:prstGeom prst="rect">
            <a:avLst/>
          </a:prstGeom>
          <a:noFill/>
        </p:spPr>
        <p:txBody>
          <a:bodyPr wrap="none" rtlCol="0">
            <a:spAutoFit/>
          </a:bodyPr>
          <a:lstStyle/>
          <a:p>
            <a:r>
              <a:rPr lang="en-US" dirty="0">
                <a:solidFill>
                  <a:schemeClr val="accent5"/>
                </a:solidFill>
                <a:latin typeface="Arial" panose="020B0604020202020204" pitchFamily="34" charset="0"/>
                <a:cs typeface="Arial" panose="020B0604020202020204" pitchFamily="34" charset="0"/>
              </a:rPr>
              <a:t>Input message </a:t>
            </a:r>
            <a:r>
              <a:rPr lang="en-US" i="1" dirty="0">
                <a:solidFill>
                  <a:schemeClr val="accent5"/>
                </a:solidFill>
                <a:latin typeface="Arial" panose="020B0604020202020204" pitchFamily="34" charset="0"/>
                <a:cs typeface="Arial" panose="020B0604020202020204" pitchFamily="34" charset="0"/>
              </a:rPr>
              <a:t>B</a:t>
            </a:r>
            <a:r>
              <a:rPr lang="en-US" dirty="0">
                <a:solidFill>
                  <a:schemeClr val="accent5"/>
                </a:solidFill>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 </a:t>
            </a:r>
            <a:r>
              <a:rPr lang="en-US" dirty="0">
                <a:latin typeface="Courier" pitchFamily="2" charset="0"/>
                <a:cs typeface="Arial" panose="020B0604020202020204" pitchFamily="34" charset="0"/>
              </a:rPr>
              <a:t>A B R A C A D A B R A !</a:t>
            </a:r>
          </a:p>
        </p:txBody>
      </p:sp>
      <p:grpSp>
        <p:nvGrpSpPr>
          <p:cNvPr id="17" name="Group 16" descr="simulation of code generation via iterative merging of 2 lest frequent tries">
            <a:extLst>
              <a:ext uri="{FF2B5EF4-FFF2-40B4-BE49-F238E27FC236}">
                <a16:creationId xmlns:a16="http://schemas.microsoft.com/office/drawing/2014/main" id="{A71BA1A4-F3A8-B541-9139-9967A7A5A9D0}"/>
              </a:ext>
            </a:extLst>
          </p:cNvPr>
          <p:cNvGrpSpPr/>
          <p:nvPr/>
        </p:nvGrpSpPr>
        <p:grpSpPr>
          <a:xfrm>
            <a:off x="973675" y="3565117"/>
            <a:ext cx="7137812" cy="2866742"/>
            <a:chOff x="973675" y="3565117"/>
            <a:chExt cx="7137812" cy="2866742"/>
          </a:xfrm>
        </p:grpSpPr>
        <p:grpSp>
          <p:nvGrpSpPr>
            <p:cNvPr id="50" name="Group 49">
              <a:extLst>
                <a:ext uri="{FF2B5EF4-FFF2-40B4-BE49-F238E27FC236}">
                  <a16:creationId xmlns:a16="http://schemas.microsoft.com/office/drawing/2014/main" id="{4BB728EC-684D-C64F-8EEE-D6DA3F27F617}"/>
                </a:ext>
              </a:extLst>
            </p:cNvPr>
            <p:cNvGrpSpPr/>
            <p:nvPr/>
          </p:nvGrpSpPr>
          <p:grpSpPr>
            <a:xfrm>
              <a:off x="973675" y="4695868"/>
              <a:ext cx="674305" cy="559000"/>
              <a:chOff x="1750163" y="4045010"/>
              <a:chExt cx="674305" cy="559000"/>
            </a:xfrm>
          </p:grpSpPr>
          <p:sp>
            <p:nvSpPr>
              <p:cNvPr id="8" name="Oval 7">
                <a:extLst>
                  <a:ext uri="{FF2B5EF4-FFF2-40B4-BE49-F238E27FC236}">
                    <a16:creationId xmlns:a16="http://schemas.microsoft.com/office/drawing/2014/main" id="{06A05484-6E5A-FF49-A52B-C4D42E7330A8}"/>
                  </a:ext>
                </a:extLst>
              </p:cNvPr>
              <p:cNvSpPr/>
              <p:nvPr/>
            </p:nvSpPr>
            <p:spPr>
              <a:xfrm>
                <a:off x="2063069" y="4099720"/>
                <a:ext cx="318654" cy="332509"/>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rial" panose="020B0604020202020204" pitchFamily="34" charset="0"/>
                    <a:cs typeface="Arial" panose="020B0604020202020204" pitchFamily="34" charset="0"/>
                  </a:rPr>
                  <a:t>A</a:t>
                </a:r>
              </a:p>
            </p:txBody>
          </p:sp>
          <p:cxnSp>
            <p:nvCxnSpPr>
              <p:cNvPr id="11" name="Straight Connector 10">
                <a:extLst>
                  <a:ext uri="{FF2B5EF4-FFF2-40B4-BE49-F238E27FC236}">
                    <a16:creationId xmlns:a16="http://schemas.microsoft.com/office/drawing/2014/main" id="{7F416B39-AF2E-4047-9074-481B3106F0B2}"/>
                  </a:ext>
                </a:extLst>
              </p:cNvPr>
              <p:cNvCxnSpPr>
                <a:cxnSpLocks/>
                <a:stCxn id="8" idx="5"/>
              </p:cNvCxnSpPr>
              <p:nvPr/>
            </p:nvCxnSpPr>
            <p:spPr>
              <a:xfrm>
                <a:off x="2335057" y="4383534"/>
                <a:ext cx="89411"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7F635E89-5D4D-9545-9912-172119E9824E}"/>
                  </a:ext>
                </a:extLst>
              </p:cNvPr>
              <p:cNvSpPr txBox="1"/>
              <p:nvPr/>
            </p:nvSpPr>
            <p:spPr>
              <a:xfrm>
                <a:off x="1750163" y="4045010"/>
                <a:ext cx="312906" cy="369332"/>
              </a:xfrm>
              <a:prstGeom prst="rect">
                <a:avLst/>
              </a:prstGeom>
              <a:noFill/>
            </p:spPr>
            <p:txBody>
              <a:bodyPr wrap="none" rtlCol="0">
                <a:spAutoFit/>
              </a:bodyPr>
              <a:lstStyle/>
              <a:p>
                <a:r>
                  <a:rPr lang="en-US" dirty="0">
                    <a:solidFill>
                      <a:schemeClr val="accent5"/>
                    </a:solidFill>
                    <a:latin typeface="Arial" panose="020B0604020202020204" pitchFamily="34" charset="0"/>
                    <a:cs typeface="Arial" panose="020B0604020202020204" pitchFamily="34" charset="0"/>
                  </a:rPr>
                  <a:t>5</a:t>
                </a:r>
              </a:p>
            </p:txBody>
          </p:sp>
          <p:cxnSp>
            <p:nvCxnSpPr>
              <p:cNvPr id="13" name="Straight Connector 12">
                <a:extLst>
                  <a:ext uri="{FF2B5EF4-FFF2-40B4-BE49-F238E27FC236}">
                    <a16:creationId xmlns:a16="http://schemas.microsoft.com/office/drawing/2014/main" id="{39FE95BA-59D7-454A-AA88-33EC87FE60D8}"/>
                  </a:ext>
                </a:extLst>
              </p:cNvPr>
              <p:cNvCxnSpPr>
                <a:cxnSpLocks/>
                <a:stCxn id="8" idx="3"/>
              </p:cNvCxnSpPr>
              <p:nvPr/>
            </p:nvCxnSpPr>
            <p:spPr>
              <a:xfrm flipH="1">
                <a:off x="1963362" y="4383534"/>
                <a:ext cx="146373"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53" name="Group 52">
              <a:extLst>
                <a:ext uri="{FF2B5EF4-FFF2-40B4-BE49-F238E27FC236}">
                  <a16:creationId xmlns:a16="http://schemas.microsoft.com/office/drawing/2014/main" id="{80C2A224-70B8-644A-A136-753F6D307255}"/>
                </a:ext>
              </a:extLst>
            </p:cNvPr>
            <p:cNvGrpSpPr/>
            <p:nvPr/>
          </p:nvGrpSpPr>
          <p:grpSpPr>
            <a:xfrm>
              <a:off x="3115439" y="5224374"/>
              <a:ext cx="656575" cy="504290"/>
              <a:chOff x="2095516" y="5232762"/>
              <a:chExt cx="656575" cy="504290"/>
            </a:xfrm>
          </p:grpSpPr>
          <p:sp>
            <p:nvSpPr>
              <p:cNvPr id="21" name="Oval 20">
                <a:extLst>
                  <a:ext uri="{FF2B5EF4-FFF2-40B4-BE49-F238E27FC236}">
                    <a16:creationId xmlns:a16="http://schemas.microsoft.com/office/drawing/2014/main" id="{D6672FE3-8CA2-3341-9A1B-C922171C6457}"/>
                  </a:ext>
                </a:extLst>
              </p:cNvPr>
              <p:cNvSpPr/>
              <p:nvPr/>
            </p:nvSpPr>
            <p:spPr>
              <a:xfrm>
                <a:off x="2390910" y="5232762"/>
                <a:ext cx="318654" cy="332509"/>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rial" panose="020B0604020202020204" pitchFamily="34" charset="0"/>
                    <a:cs typeface="Arial" panose="020B0604020202020204" pitchFamily="34" charset="0"/>
                  </a:rPr>
                  <a:t>D</a:t>
                </a:r>
              </a:p>
            </p:txBody>
          </p:sp>
          <p:cxnSp>
            <p:nvCxnSpPr>
              <p:cNvPr id="25" name="Straight Connector 24">
                <a:extLst>
                  <a:ext uri="{FF2B5EF4-FFF2-40B4-BE49-F238E27FC236}">
                    <a16:creationId xmlns:a16="http://schemas.microsoft.com/office/drawing/2014/main" id="{5C2EF432-2414-5B4A-AABD-B24368064650}"/>
                  </a:ext>
                </a:extLst>
              </p:cNvPr>
              <p:cNvCxnSpPr>
                <a:cxnSpLocks/>
              </p:cNvCxnSpPr>
              <p:nvPr/>
            </p:nvCxnSpPr>
            <p:spPr>
              <a:xfrm>
                <a:off x="2662680" y="5516576"/>
                <a:ext cx="89411"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AB6A5AF-60FC-2C47-BE29-25A979C4D2DA}"/>
                  </a:ext>
                </a:extLst>
              </p:cNvPr>
              <p:cNvCxnSpPr>
                <a:cxnSpLocks/>
                <a:stCxn id="21" idx="3"/>
              </p:cNvCxnSpPr>
              <p:nvPr/>
            </p:nvCxnSpPr>
            <p:spPr>
              <a:xfrm flipH="1">
                <a:off x="2291203" y="5516576"/>
                <a:ext cx="146373"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BAB47F5E-531D-EB46-A610-6227428059DA}"/>
                  </a:ext>
                </a:extLst>
              </p:cNvPr>
              <p:cNvSpPr txBox="1"/>
              <p:nvPr/>
            </p:nvSpPr>
            <p:spPr>
              <a:xfrm>
                <a:off x="2095516" y="5239844"/>
                <a:ext cx="312906" cy="369332"/>
              </a:xfrm>
              <a:prstGeom prst="rect">
                <a:avLst/>
              </a:prstGeom>
              <a:noFill/>
            </p:spPr>
            <p:txBody>
              <a:bodyPr wrap="none" rtlCol="0">
                <a:spAutoFit/>
              </a:bodyPr>
              <a:lstStyle/>
              <a:p>
                <a:r>
                  <a:rPr lang="en-US" dirty="0">
                    <a:solidFill>
                      <a:schemeClr val="accent5"/>
                    </a:solidFill>
                    <a:latin typeface="Arial" panose="020B0604020202020204" pitchFamily="34" charset="0"/>
                    <a:cs typeface="Arial" panose="020B0604020202020204" pitchFamily="34" charset="0"/>
                  </a:rPr>
                  <a:t>1</a:t>
                </a:r>
              </a:p>
            </p:txBody>
          </p:sp>
        </p:grpSp>
        <p:grpSp>
          <p:nvGrpSpPr>
            <p:cNvPr id="55" name="Group 54">
              <a:extLst>
                <a:ext uri="{FF2B5EF4-FFF2-40B4-BE49-F238E27FC236}">
                  <a16:creationId xmlns:a16="http://schemas.microsoft.com/office/drawing/2014/main" id="{8BCCA23C-6120-324A-80C0-BB5D4E1070A1}"/>
                </a:ext>
              </a:extLst>
            </p:cNvPr>
            <p:cNvGrpSpPr/>
            <p:nvPr/>
          </p:nvGrpSpPr>
          <p:grpSpPr>
            <a:xfrm>
              <a:off x="3748154" y="5926963"/>
              <a:ext cx="608623" cy="504896"/>
              <a:chOff x="2800118" y="5848814"/>
              <a:chExt cx="608623" cy="504896"/>
            </a:xfrm>
          </p:grpSpPr>
          <p:sp>
            <p:nvSpPr>
              <p:cNvPr id="20" name="TextBox 19">
                <a:extLst>
                  <a:ext uri="{FF2B5EF4-FFF2-40B4-BE49-F238E27FC236}">
                    <a16:creationId xmlns:a16="http://schemas.microsoft.com/office/drawing/2014/main" id="{727DCE5D-8EC6-864B-896F-70EC0B08CD94}"/>
                  </a:ext>
                </a:extLst>
              </p:cNvPr>
              <p:cNvSpPr txBox="1"/>
              <p:nvPr/>
            </p:nvSpPr>
            <p:spPr>
              <a:xfrm>
                <a:off x="2800118" y="5848814"/>
                <a:ext cx="312906" cy="369332"/>
              </a:xfrm>
              <a:prstGeom prst="rect">
                <a:avLst/>
              </a:prstGeom>
              <a:noFill/>
            </p:spPr>
            <p:txBody>
              <a:bodyPr wrap="none" rtlCol="0">
                <a:spAutoFit/>
              </a:bodyPr>
              <a:lstStyle/>
              <a:p>
                <a:r>
                  <a:rPr lang="en-US" dirty="0">
                    <a:solidFill>
                      <a:schemeClr val="accent5"/>
                    </a:solidFill>
                    <a:latin typeface="Arial" panose="020B0604020202020204" pitchFamily="34" charset="0"/>
                    <a:cs typeface="Arial" panose="020B0604020202020204" pitchFamily="34" charset="0"/>
                  </a:rPr>
                  <a:t>1</a:t>
                </a:r>
              </a:p>
            </p:txBody>
          </p:sp>
          <p:sp>
            <p:nvSpPr>
              <p:cNvPr id="38" name="Oval 37">
                <a:extLst>
                  <a:ext uri="{FF2B5EF4-FFF2-40B4-BE49-F238E27FC236}">
                    <a16:creationId xmlns:a16="http://schemas.microsoft.com/office/drawing/2014/main" id="{2127C9C6-2140-6B43-AC01-EBE5FEA76679}"/>
                  </a:ext>
                </a:extLst>
              </p:cNvPr>
              <p:cNvSpPr/>
              <p:nvPr/>
            </p:nvSpPr>
            <p:spPr>
              <a:xfrm>
                <a:off x="3047342" y="5849420"/>
                <a:ext cx="318654" cy="332509"/>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rial" panose="020B0604020202020204" pitchFamily="34" charset="0"/>
                    <a:cs typeface="Arial" panose="020B0604020202020204" pitchFamily="34" charset="0"/>
                  </a:rPr>
                  <a:t>!</a:t>
                </a:r>
              </a:p>
            </p:txBody>
          </p:sp>
          <p:cxnSp>
            <p:nvCxnSpPr>
              <p:cNvPr id="42" name="Straight Connector 41">
                <a:extLst>
                  <a:ext uri="{FF2B5EF4-FFF2-40B4-BE49-F238E27FC236}">
                    <a16:creationId xmlns:a16="http://schemas.microsoft.com/office/drawing/2014/main" id="{6C5036F1-EE6B-E148-93CC-87B22BF6B9CD}"/>
                  </a:ext>
                </a:extLst>
              </p:cNvPr>
              <p:cNvCxnSpPr>
                <a:cxnSpLocks/>
                <a:stCxn id="38" idx="5"/>
              </p:cNvCxnSpPr>
              <p:nvPr/>
            </p:nvCxnSpPr>
            <p:spPr>
              <a:xfrm>
                <a:off x="3319330" y="6133234"/>
                <a:ext cx="89411"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774C459E-FF64-9A4A-BB63-3308E3CB024B}"/>
                  </a:ext>
                </a:extLst>
              </p:cNvPr>
              <p:cNvCxnSpPr>
                <a:cxnSpLocks/>
                <a:stCxn id="38" idx="3"/>
              </p:cNvCxnSpPr>
              <p:nvPr/>
            </p:nvCxnSpPr>
            <p:spPr>
              <a:xfrm flipH="1">
                <a:off x="2947635" y="6133234"/>
                <a:ext cx="146373"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52" name="Group 51">
              <a:extLst>
                <a:ext uri="{FF2B5EF4-FFF2-40B4-BE49-F238E27FC236}">
                  <a16:creationId xmlns:a16="http://schemas.microsoft.com/office/drawing/2014/main" id="{ADA2F9D6-8F0A-7C4A-AD27-26205113B7D8}"/>
                </a:ext>
              </a:extLst>
            </p:cNvPr>
            <p:cNvGrpSpPr/>
            <p:nvPr/>
          </p:nvGrpSpPr>
          <p:grpSpPr>
            <a:xfrm>
              <a:off x="5174787" y="5868006"/>
              <a:ext cx="607269" cy="563853"/>
              <a:chOff x="3659033" y="5849420"/>
              <a:chExt cx="607269" cy="563853"/>
            </a:xfrm>
          </p:grpSpPr>
          <p:sp>
            <p:nvSpPr>
              <p:cNvPr id="39" name="Oval 38">
                <a:extLst>
                  <a:ext uri="{FF2B5EF4-FFF2-40B4-BE49-F238E27FC236}">
                    <a16:creationId xmlns:a16="http://schemas.microsoft.com/office/drawing/2014/main" id="{10689D03-0CF9-0540-888E-D17C352C2EE9}"/>
                  </a:ext>
                </a:extLst>
              </p:cNvPr>
              <p:cNvSpPr/>
              <p:nvPr/>
            </p:nvSpPr>
            <p:spPr>
              <a:xfrm>
                <a:off x="3928929" y="5885637"/>
                <a:ext cx="318654" cy="332509"/>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rial" panose="020B0604020202020204" pitchFamily="34" charset="0"/>
                    <a:cs typeface="Arial" panose="020B0604020202020204" pitchFamily="34" charset="0"/>
                  </a:rPr>
                  <a:t>C</a:t>
                </a:r>
              </a:p>
            </p:txBody>
          </p:sp>
          <p:sp>
            <p:nvSpPr>
              <p:cNvPr id="45" name="TextBox 44">
                <a:extLst>
                  <a:ext uri="{FF2B5EF4-FFF2-40B4-BE49-F238E27FC236}">
                    <a16:creationId xmlns:a16="http://schemas.microsoft.com/office/drawing/2014/main" id="{61BF5F88-CEB7-034F-A6BA-7BEFE722CF65}"/>
                  </a:ext>
                </a:extLst>
              </p:cNvPr>
              <p:cNvSpPr txBox="1"/>
              <p:nvPr/>
            </p:nvSpPr>
            <p:spPr>
              <a:xfrm>
                <a:off x="3659033" y="5849420"/>
                <a:ext cx="312906" cy="369332"/>
              </a:xfrm>
              <a:prstGeom prst="rect">
                <a:avLst/>
              </a:prstGeom>
              <a:noFill/>
            </p:spPr>
            <p:txBody>
              <a:bodyPr wrap="none" rtlCol="0">
                <a:spAutoFit/>
              </a:bodyPr>
              <a:lstStyle/>
              <a:p>
                <a:r>
                  <a:rPr lang="en-US" dirty="0">
                    <a:solidFill>
                      <a:schemeClr val="accent5"/>
                    </a:solidFill>
                    <a:latin typeface="Arial" panose="020B0604020202020204" pitchFamily="34" charset="0"/>
                    <a:cs typeface="Arial" panose="020B0604020202020204" pitchFamily="34" charset="0"/>
                  </a:rPr>
                  <a:t>1</a:t>
                </a:r>
              </a:p>
            </p:txBody>
          </p:sp>
          <p:cxnSp>
            <p:nvCxnSpPr>
              <p:cNvPr id="46" name="Straight Connector 45">
                <a:extLst>
                  <a:ext uri="{FF2B5EF4-FFF2-40B4-BE49-F238E27FC236}">
                    <a16:creationId xmlns:a16="http://schemas.microsoft.com/office/drawing/2014/main" id="{4C200A43-A8D1-994C-849E-661DCD3B99E4}"/>
                  </a:ext>
                </a:extLst>
              </p:cNvPr>
              <p:cNvCxnSpPr>
                <a:cxnSpLocks/>
              </p:cNvCxnSpPr>
              <p:nvPr/>
            </p:nvCxnSpPr>
            <p:spPr>
              <a:xfrm>
                <a:off x="4176891" y="6192797"/>
                <a:ext cx="89411"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BF6B1C4A-4590-F547-9264-0AFB17854521}"/>
                  </a:ext>
                </a:extLst>
              </p:cNvPr>
              <p:cNvCxnSpPr>
                <a:cxnSpLocks/>
              </p:cNvCxnSpPr>
              <p:nvPr/>
            </p:nvCxnSpPr>
            <p:spPr>
              <a:xfrm flipH="1">
                <a:off x="3805414" y="6192797"/>
                <a:ext cx="146373"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40" name="Oval 39">
              <a:extLst>
                <a:ext uri="{FF2B5EF4-FFF2-40B4-BE49-F238E27FC236}">
                  <a16:creationId xmlns:a16="http://schemas.microsoft.com/office/drawing/2014/main" id="{0DC79CBF-4227-4545-BCD5-C596AD831B57}"/>
                </a:ext>
              </a:extLst>
            </p:cNvPr>
            <p:cNvSpPr/>
            <p:nvPr/>
          </p:nvSpPr>
          <p:spPr>
            <a:xfrm>
              <a:off x="4817442" y="5220597"/>
              <a:ext cx="318654" cy="332509"/>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latin typeface="Arial" panose="020B0604020202020204" pitchFamily="34" charset="0"/>
                <a:cs typeface="Arial" panose="020B0604020202020204" pitchFamily="34" charset="0"/>
              </a:endParaRPr>
            </a:p>
          </p:txBody>
        </p:sp>
        <p:cxnSp>
          <p:nvCxnSpPr>
            <p:cNvPr id="41" name="Straight Connector 40">
              <a:extLst>
                <a:ext uri="{FF2B5EF4-FFF2-40B4-BE49-F238E27FC236}">
                  <a16:creationId xmlns:a16="http://schemas.microsoft.com/office/drawing/2014/main" id="{B669C97F-D0A9-AA46-8A16-1A5EBC831B9F}"/>
                </a:ext>
              </a:extLst>
            </p:cNvPr>
            <p:cNvCxnSpPr>
              <a:cxnSpLocks/>
              <a:stCxn id="40" idx="3"/>
              <a:endCxn id="38" idx="7"/>
            </p:cNvCxnSpPr>
            <p:nvPr/>
          </p:nvCxnSpPr>
          <p:spPr>
            <a:xfrm flipH="1">
              <a:off x="4267366" y="5504411"/>
              <a:ext cx="596742" cy="471853"/>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3C9CE3C9-DE7D-1D41-A53A-191CFF549313}"/>
                </a:ext>
              </a:extLst>
            </p:cNvPr>
            <p:cNvCxnSpPr>
              <a:cxnSpLocks/>
              <a:stCxn id="40" idx="5"/>
              <a:endCxn id="39" idx="1"/>
            </p:cNvCxnSpPr>
            <p:nvPr/>
          </p:nvCxnSpPr>
          <p:spPr>
            <a:xfrm>
              <a:off x="5089430" y="5504411"/>
              <a:ext cx="401919" cy="448507"/>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FDCA9A76-CD34-8B42-AF84-DDB8A63ACBF3}"/>
                </a:ext>
              </a:extLst>
            </p:cNvPr>
            <p:cNvSpPr txBox="1"/>
            <p:nvPr/>
          </p:nvSpPr>
          <p:spPr>
            <a:xfrm>
              <a:off x="4551202" y="5107964"/>
              <a:ext cx="312906" cy="369332"/>
            </a:xfrm>
            <a:prstGeom prst="rect">
              <a:avLst/>
            </a:prstGeom>
            <a:noFill/>
          </p:spPr>
          <p:txBody>
            <a:bodyPr wrap="none" rtlCol="0">
              <a:spAutoFit/>
            </a:bodyPr>
            <a:lstStyle/>
            <a:p>
              <a:r>
                <a:rPr lang="en-US" dirty="0">
                  <a:solidFill>
                    <a:schemeClr val="accent5"/>
                  </a:solidFill>
                  <a:latin typeface="Arial" panose="020B0604020202020204" pitchFamily="34" charset="0"/>
                  <a:cs typeface="Arial" panose="020B0604020202020204" pitchFamily="34" charset="0"/>
                </a:rPr>
                <a:t>2</a:t>
              </a:r>
            </a:p>
          </p:txBody>
        </p:sp>
        <p:sp>
          <p:nvSpPr>
            <p:cNvPr id="56" name="Oval 55">
              <a:extLst>
                <a:ext uri="{FF2B5EF4-FFF2-40B4-BE49-F238E27FC236}">
                  <a16:creationId xmlns:a16="http://schemas.microsoft.com/office/drawing/2014/main" id="{DA981DA1-963F-9741-BD63-DD9A72D22BE1}"/>
                </a:ext>
              </a:extLst>
            </p:cNvPr>
            <p:cNvSpPr/>
            <p:nvPr/>
          </p:nvSpPr>
          <p:spPr>
            <a:xfrm>
              <a:off x="4126739" y="4497861"/>
              <a:ext cx="318654" cy="332509"/>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latin typeface="Arial" panose="020B0604020202020204" pitchFamily="34" charset="0"/>
                <a:cs typeface="Arial" panose="020B0604020202020204" pitchFamily="34" charset="0"/>
              </a:endParaRPr>
            </a:p>
          </p:txBody>
        </p:sp>
        <p:cxnSp>
          <p:nvCxnSpPr>
            <p:cNvPr id="58" name="Straight Connector 57">
              <a:extLst>
                <a:ext uri="{FF2B5EF4-FFF2-40B4-BE49-F238E27FC236}">
                  <a16:creationId xmlns:a16="http://schemas.microsoft.com/office/drawing/2014/main" id="{3C8FC2E7-4462-9C48-9065-724350371118}"/>
                </a:ext>
              </a:extLst>
            </p:cNvPr>
            <p:cNvCxnSpPr>
              <a:cxnSpLocks/>
              <a:stCxn id="56" idx="3"/>
              <a:endCxn id="21" idx="7"/>
            </p:cNvCxnSpPr>
            <p:nvPr/>
          </p:nvCxnSpPr>
          <p:spPr>
            <a:xfrm flipH="1">
              <a:off x="3682821" y="4781675"/>
              <a:ext cx="490584" cy="49139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ABCD1712-C837-EA45-9F9D-F1C4F8F391A4}"/>
                </a:ext>
              </a:extLst>
            </p:cNvPr>
            <p:cNvCxnSpPr>
              <a:cxnSpLocks/>
              <a:stCxn id="56" idx="5"/>
              <a:endCxn id="40" idx="0"/>
            </p:cNvCxnSpPr>
            <p:nvPr/>
          </p:nvCxnSpPr>
          <p:spPr>
            <a:xfrm>
              <a:off x="4398727" y="4781675"/>
              <a:ext cx="578042" cy="438922"/>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F311EC65-80E2-E849-9E47-5B2D2F279130}"/>
                </a:ext>
              </a:extLst>
            </p:cNvPr>
            <p:cNvSpPr txBox="1"/>
            <p:nvPr/>
          </p:nvSpPr>
          <p:spPr>
            <a:xfrm>
              <a:off x="3860499" y="4425228"/>
              <a:ext cx="312906" cy="369332"/>
            </a:xfrm>
            <a:prstGeom prst="rect">
              <a:avLst/>
            </a:prstGeom>
            <a:noFill/>
          </p:spPr>
          <p:txBody>
            <a:bodyPr wrap="none" rtlCol="0">
              <a:spAutoFit/>
            </a:bodyPr>
            <a:lstStyle/>
            <a:p>
              <a:r>
                <a:rPr lang="en-US" dirty="0">
                  <a:solidFill>
                    <a:schemeClr val="accent5"/>
                  </a:solidFill>
                  <a:latin typeface="Arial" panose="020B0604020202020204" pitchFamily="34" charset="0"/>
                  <a:cs typeface="Arial" panose="020B0604020202020204" pitchFamily="34" charset="0"/>
                </a:rPr>
                <a:t>3</a:t>
              </a:r>
            </a:p>
          </p:txBody>
        </p:sp>
        <p:grpSp>
          <p:nvGrpSpPr>
            <p:cNvPr id="9" name="Group 8">
              <a:extLst>
                <a:ext uri="{FF2B5EF4-FFF2-40B4-BE49-F238E27FC236}">
                  <a16:creationId xmlns:a16="http://schemas.microsoft.com/office/drawing/2014/main" id="{2A2497F4-CDC4-7D47-9FA4-519A68FE32B2}"/>
                </a:ext>
              </a:extLst>
            </p:cNvPr>
            <p:cNvGrpSpPr/>
            <p:nvPr/>
          </p:nvGrpSpPr>
          <p:grpSpPr>
            <a:xfrm>
              <a:off x="6133892" y="4442620"/>
              <a:ext cx="1977595" cy="1315034"/>
              <a:chOff x="2959085" y="5037480"/>
              <a:chExt cx="1977595" cy="1315034"/>
            </a:xfrm>
          </p:grpSpPr>
          <p:grpSp>
            <p:nvGrpSpPr>
              <p:cNvPr id="54" name="Group 53">
                <a:extLst>
                  <a:ext uri="{FF2B5EF4-FFF2-40B4-BE49-F238E27FC236}">
                    <a16:creationId xmlns:a16="http://schemas.microsoft.com/office/drawing/2014/main" id="{DBED95C4-09D9-9848-A2E3-FED2D16B1923}"/>
                  </a:ext>
                </a:extLst>
              </p:cNvPr>
              <p:cNvGrpSpPr/>
              <p:nvPr/>
            </p:nvGrpSpPr>
            <p:grpSpPr>
              <a:xfrm>
                <a:off x="4250252" y="5792582"/>
                <a:ext cx="686428" cy="541113"/>
                <a:chOff x="4044968" y="5154326"/>
                <a:chExt cx="686428" cy="541113"/>
              </a:xfrm>
            </p:grpSpPr>
            <p:sp>
              <p:nvSpPr>
                <p:cNvPr id="26" name="TextBox 25">
                  <a:extLst>
                    <a:ext uri="{FF2B5EF4-FFF2-40B4-BE49-F238E27FC236}">
                      <a16:creationId xmlns:a16="http://schemas.microsoft.com/office/drawing/2014/main" id="{06E36F72-4A61-154A-B16F-D1F8329DD90E}"/>
                    </a:ext>
                  </a:extLst>
                </p:cNvPr>
                <p:cNvSpPr txBox="1"/>
                <p:nvPr/>
              </p:nvSpPr>
              <p:spPr>
                <a:xfrm>
                  <a:off x="4044968" y="5154326"/>
                  <a:ext cx="312906" cy="369332"/>
                </a:xfrm>
                <a:prstGeom prst="rect">
                  <a:avLst/>
                </a:prstGeom>
                <a:noFill/>
              </p:spPr>
              <p:txBody>
                <a:bodyPr wrap="none" rtlCol="0">
                  <a:spAutoFit/>
                </a:bodyPr>
                <a:lstStyle/>
                <a:p>
                  <a:r>
                    <a:rPr lang="en-US" dirty="0">
                      <a:solidFill>
                        <a:schemeClr val="accent5"/>
                      </a:solidFill>
                      <a:latin typeface="Arial" panose="020B0604020202020204" pitchFamily="34" charset="0"/>
                      <a:cs typeface="Arial" panose="020B0604020202020204" pitchFamily="34" charset="0"/>
                    </a:rPr>
                    <a:t>2</a:t>
                  </a:r>
                </a:p>
              </p:txBody>
            </p:sp>
            <p:sp>
              <p:nvSpPr>
                <p:cNvPr id="30" name="Oval 29">
                  <a:extLst>
                    <a:ext uri="{FF2B5EF4-FFF2-40B4-BE49-F238E27FC236}">
                      <a16:creationId xmlns:a16="http://schemas.microsoft.com/office/drawing/2014/main" id="{E642B119-1D86-A44C-9577-8EBF060B8425}"/>
                    </a:ext>
                  </a:extLst>
                </p:cNvPr>
                <p:cNvSpPr/>
                <p:nvPr/>
              </p:nvSpPr>
              <p:spPr>
                <a:xfrm>
                  <a:off x="4369997" y="5191149"/>
                  <a:ext cx="318654" cy="332509"/>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rial" panose="020B0604020202020204" pitchFamily="34" charset="0"/>
                      <a:cs typeface="Arial" panose="020B0604020202020204" pitchFamily="34" charset="0"/>
                    </a:rPr>
                    <a:t>B</a:t>
                  </a:r>
                </a:p>
              </p:txBody>
            </p:sp>
            <p:cxnSp>
              <p:nvCxnSpPr>
                <p:cNvPr id="34" name="Straight Connector 33">
                  <a:extLst>
                    <a:ext uri="{FF2B5EF4-FFF2-40B4-BE49-F238E27FC236}">
                      <a16:creationId xmlns:a16="http://schemas.microsoft.com/office/drawing/2014/main" id="{012D269B-7F07-4847-B1D9-B334DA13113F}"/>
                    </a:ext>
                  </a:extLst>
                </p:cNvPr>
                <p:cNvCxnSpPr>
                  <a:cxnSpLocks/>
                  <a:stCxn id="30" idx="5"/>
                </p:cNvCxnSpPr>
                <p:nvPr/>
              </p:nvCxnSpPr>
              <p:spPr>
                <a:xfrm>
                  <a:off x="4641985" y="5474963"/>
                  <a:ext cx="89411"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94616B5-085B-6445-999D-C838831D869B}"/>
                    </a:ext>
                  </a:extLst>
                </p:cNvPr>
                <p:cNvCxnSpPr>
                  <a:cxnSpLocks/>
                  <a:stCxn id="30" idx="3"/>
                </p:cNvCxnSpPr>
                <p:nvPr/>
              </p:nvCxnSpPr>
              <p:spPr>
                <a:xfrm flipH="1">
                  <a:off x="4270290" y="5474963"/>
                  <a:ext cx="146373"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51" name="Group 50">
                <a:extLst>
                  <a:ext uri="{FF2B5EF4-FFF2-40B4-BE49-F238E27FC236}">
                    <a16:creationId xmlns:a16="http://schemas.microsoft.com/office/drawing/2014/main" id="{A24A3F39-4AA7-F740-B458-F22569ED3BAE}"/>
                  </a:ext>
                </a:extLst>
              </p:cNvPr>
              <p:cNvGrpSpPr/>
              <p:nvPr/>
            </p:nvGrpSpPr>
            <p:grpSpPr>
              <a:xfrm>
                <a:off x="2959085" y="5798388"/>
                <a:ext cx="645196" cy="554126"/>
                <a:chOff x="4941987" y="5147244"/>
                <a:chExt cx="645196" cy="554126"/>
              </a:xfrm>
            </p:grpSpPr>
            <p:sp>
              <p:nvSpPr>
                <p:cNvPr id="31" name="Oval 30">
                  <a:extLst>
                    <a:ext uri="{FF2B5EF4-FFF2-40B4-BE49-F238E27FC236}">
                      <a16:creationId xmlns:a16="http://schemas.microsoft.com/office/drawing/2014/main" id="{672AA4AA-B7BD-3A4E-A1FB-38D2C2633F75}"/>
                    </a:ext>
                  </a:extLst>
                </p:cNvPr>
                <p:cNvSpPr/>
                <p:nvPr/>
              </p:nvSpPr>
              <p:spPr>
                <a:xfrm>
                  <a:off x="5203782" y="5169647"/>
                  <a:ext cx="318654" cy="332509"/>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rial" panose="020B0604020202020204" pitchFamily="34" charset="0"/>
                      <a:cs typeface="Arial" panose="020B0604020202020204" pitchFamily="34" charset="0"/>
                    </a:rPr>
                    <a:t>R</a:t>
                  </a:r>
                </a:p>
              </p:txBody>
            </p:sp>
            <p:sp>
              <p:nvSpPr>
                <p:cNvPr id="37" name="TextBox 36">
                  <a:extLst>
                    <a:ext uri="{FF2B5EF4-FFF2-40B4-BE49-F238E27FC236}">
                      <a16:creationId xmlns:a16="http://schemas.microsoft.com/office/drawing/2014/main" id="{A45535CD-8E64-0842-B568-A6F37CAA9314}"/>
                    </a:ext>
                  </a:extLst>
                </p:cNvPr>
                <p:cNvSpPr txBox="1"/>
                <p:nvPr/>
              </p:nvSpPr>
              <p:spPr>
                <a:xfrm>
                  <a:off x="4941987" y="5147244"/>
                  <a:ext cx="312906" cy="369332"/>
                </a:xfrm>
                <a:prstGeom prst="rect">
                  <a:avLst/>
                </a:prstGeom>
                <a:noFill/>
              </p:spPr>
              <p:txBody>
                <a:bodyPr wrap="none" rtlCol="0">
                  <a:spAutoFit/>
                </a:bodyPr>
                <a:lstStyle/>
                <a:p>
                  <a:r>
                    <a:rPr lang="en-US" dirty="0">
                      <a:solidFill>
                        <a:schemeClr val="accent5"/>
                      </a:solidFill>
                      <a:latin typeface="Arial" panose="020B0604020202020204" pitchFamily="34" charset="0"/>
                      <a:cs typeface="Arial" panose="020B0604020202020204" pitchFamily="34" charset="0"/>
                    </a:rPr>
                    <a:t>2</a:t>
                  </a:r>
                </a:p>
              </p:txBody>
            </p:sp>
            <p:cxnSp>
              <p:nvCxnSpPr>
                <p:cNvPr id="48" name="Straight Connector 47">
                  <a:extLst>
                    <a:ext uri="{FF2B5EF4-FFF2-40B4-BE49-F238E27FC236}">
                      <a16:creationId xmlns:a16="http://schemas.microsoft.com/office/drawing/2014/main" id="{C0BA2E99-AC99-E74E-AD6B-FA203D1318A4}"/>
                    </a:ext>
                  </a:extLst>
                </p:cNvPr>
                <p:cNvCxnSpPr>
                  <a:cxnSpLocks/>
                </p:cNvCxnSpPr>
                <p:nvPr/>
              </p:nvCxnSpPr>
              <p:spPr>
                <a:xfrm>
                  <a:off x="5497772" y="5480894"/>
                  <a:ext cx="89411"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2F4F3599-0F9C-6A4C-9C2C-EBFD9B07CD93}"/>
                    </a:ext>
                  </a:extLst>
                </p:cNvPr>
                <p:cNvCxnSpPr>
                  <a:cxnSpLocks/>
                </p:cNvCxnSpPr>
                <p:nvPr/>
              </p:nvCxnSpPr>
              <p:spPr>
                <a:xfrm flipH="1">
                  <a:off x="5126077" y="5480894"/>
                  <a:ext cx="146373"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61" name="Oval 60">
                <a:extLst>
                  <a:ext uri="{FF2B5EF4-FFF2-40B4-BE49-F238E27FC236}">
                    <a16:creationId xmlns:a16="http://schemas.microsoft.com/office/drawing/2014/main" id="{79FF1835-F4E9-B547-9980-63FBD65AAFCC}"/>
                  </a:ext>
                </a:extLst>
              </p:cNvPr>
              <p:cNvSpPr/>
              <p:nvPr/>
            </p:nvSpPr>
            <p:spPr>
              <a:xfrm>
                <a:off x="4039751" y="5080239"/>
                <a:ext cx="318654" cy="332509"/>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latin typeface="Arial" panose="020B0604020202020204" pitchFamily="34" charset="0"/>
                  <a:cs typeface="Arial" panose="020B0604020202020204" pitchFamily="34" charset="0"/>
                </a:endParaRPr>
              </a:p>
            </p:txBody>
          </p:sp>
          <p:cxnSp>
            <p:nvCxnSpPr>
              <p:cNvPr id="62" name="Straight Connector 61">
                <a:extLst>
                  <a:ext uri="{FF2B5EF4-FFF2-40B4-BE49-F238E27FC236}">
                    <a16:creationId xmlns:a16="http://schemas.microsoft.com/office/drawing/2014/main" id="{F7E734FE-AC14-6F40-8C0B-2D110720967F}"/>
                  </a:ext>
                </a:extLst>
              </p:cNvPr>
              <p:cNvCxnSpPr>
                <a:cxnSpLocks/>
                <a:stCxn id="61" idx="3"/>
              </p:cNvCxnSpPr>
              <p:nvPr/>
            </p:nvCxnSpPr>
            <p:spPr>
              <a:xfrm flipH="1">
                <a:off x="3489675" y="5364053"/>
                <a:ext cx="596742" cy="471853"/>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31350534-44B2-1349-8D8C-BA25D7F7495C}"/>
                  </a:ext>
                </a:extLst>
              </p:cNvPr>
              <p:cNvCxnSpPr>
                <a:cxnSpLocks/>
                <a:stCxn id="61" idx="5"/>
              </p:cNvCxnSpPr>
              <p:nvPr/>
            </p:nvCxnSpPr>
            <p:spPr>
              <a:xfrm>
                <a:off x="4311739" y="5364053"/>
                <a:ext cx="401919" cy="448507"/>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6E100199-50D7-824A-A28F-A145E6CD0ADE}"/>
                  </a:ext>
                </a:extLst>
              </p:cNvPr>
              <p:cNvSpPr txBox="1"/>
              <p:nvPr/>
            </p:nvSpPr>
            <p:spPr>
              <a:xfrm>
                <a:off x="3773511" y="5037480"/>
                <a:ext cx="312906" cy="369332"/>
              </a:xfrm>
              <a:prstGeom prst="rect">
                <a:avLst/>
              </a:prstGeom>
              <a:noFill/>
            </p:spPr>
            <p:txBody>
              <a:bodyPr wrap="none" rtlCol="0">
                <a:spAutoFit/>
              </a:bodyPr>
              <a:lstStyle/>
              <a:p>
                <a:r>
                  <a:rPr lang="en-US" dirty="0">
                    <a:solidFill>
                      <a:schemeClr val="accent5"/>
                    </a:solidFill>
                    <a:latin typeface="Arial" panose="020B0604020202020204" pitchFamily="34" charset="0"/>
                    <a:cs typeface="Arial" panose="020B0604020202020204" pitchFamily="34" charset="0"/>
                  </a:rPr>
                  <a:t>4</a:t>
                </a:r>
              </a:p>
            </p:txBody>
          </p:sp>
        </p:grpSp>
        <p:sp>
          <p:nvSpPr>
            <p:cNvPr id="65" name="Oval 64">
              <a:extLst>
                <a:ext uri="{FF2B5EF4-FFF2-40B4-BE49-F238E27FC236}">
                  <a16:creationId xmlns:a16="http://schemas.microsoft.com/office/drawing/2014/main" id="{1E36013D-95AA-B44E-AA04-620C112B243A}"/>
                </a:ext>
              </a:extLst>
            </p:cNvPr>
            <p:cNvSpPr/>
            <p:nvPr/>
          </p:nvSpPr>
          <p:spPr>
            <a:xfrm>
              <a:off x="5493200" y="3637750"/>
              <a:ext cx="318654" cy="332509"/>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latin typeface="Arial" panose="020B0604020202020204" pitchFamily="34" charset="0"/>
                <a:cs typeface="Arial" panose="020B0604020202020204" pitchFamily="34" charset="0"/>
              </a:endParaRPr>
            </a:p>
          </p:txBody>
        </p:sp>
        <p:cxnSp>
          <p:nvCxnSpPr>
            <p:cNvPr id="66" name="Straight Connector 65">
              <a:extLst>
                <a:ext uri="{FF2B5EF4-FFF2-40B4-BE49-F238E27FC236}">
                  <a16:creationId xmlns:a16="http://schemas.microsoft.com/office/drawing/2014/main" id="{CBF112ED-3FE2-4442-8CDC-ABC6235EC7D1}"/>
                </a:ext>
              </a:extLst>
            </p:cNvPr>
            <p:cNvCxnSpPr>
              <a:cxnSpLocks/>
              <a:stCxn id="65" idx="3"/>
              <a:endCxn id="56" idx="7"/>
            </p:cNvCxnSpPr>
            <p:nvPr/>
          </p:nvCxnSpPr>
          <p:spPr>
            <a:xfrm flipH="1">
              <a:off x="4398727" y="3921564"/>
              <a:ext cx="1141139" cy="624992"/>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E994BB58-83BC-6546-BEAA-7BCEAA86940F}"/>
                </a:ext>
              </a:extLst>
            </p:cNvPr>
            <p:cNvCxnSpPr>
              <a:cxnSpLocks/>
              <a:stCxn id="65" idx="5"/>
              <a:endCxn id="61" idx="1"/>
            </p:cNvCxnSpPr>
            <p:nvPr/>
          </p:nvCxnSpPr>
          <p:spPr>
            <a:xfrm>
              <a:off x="5765188" y="3921564"/>
              <a:ext cx="1496036" cy="61251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A7E0A221-0473-C642-A6D3-8ED73C815A34}"/>
                </a:ext>
              </a:extLst>
            </p:cNvPr>
            <p:cNvSpPr txBox="1"/>
            <p:nvPr/>
          </p:nvSpPr>
          <p:spPr>
            <a:xfrm>
              <a:off x="5226960" y="3565117"/>
              <a:ext cx="312906" cy="369332"/>
            </a:xfrm>
            <a:prstGeom prst="rect">
              <a:avLst/>
            </a:prstGeom>
            <a:noFill/>
          </p:spPr>
          <p:txBody>
            <a:bodyPr wrap="square" rtlCol="0">
              <a:spAutoFit/>
            </a:bodyPr>
            <a:lstStyle/>
            <a:p>
              <a:r>
                <a:rPr lang="en-US" dirty="0">
                  <a:solidFill>
                    <a:schemeClr val="accent5"/>
                  </a:solidFill>
                  <a:latin typeface="Arial" panose="020B0604020202020204" pitchFamily="34" charset="0"/>
                  <a:cs typeface="Arial" panose="020B0604020202020204" pitchFamily="34" charset="0"/>
                </a:rPr>
                <a:t>7</a:t>
              </a:r>
            </a:p>
          </p:txBody>
        </p:sp>
      </p:grpSp>
      <p:graphicFrame>
        <p:nvGraphicFramePr>
          <p:cNvPr id="5" name="Table 4">
            <a:extLst>
              <a:ext uri="{FF2B5EF4-FFF2-40B4-BE49-F238E27FC236}">
                <a16:creationId xmlns:a16="http://schemas.microsoft.com/office/drawing/2014/main" id="{0B1EFB9E-5DC7-0748-A23E-E8900A38D3EA}"/>
              </a:ext>
            </a:extLst>
          </p:cNvPr>
          <p:cNvGraphicFramePr>
            <a:graphicFrameLocks noGrp="1"/>
          </p:cNvGraphicFramePr>
          <p:nvPr>
            <p:extLst>
              <p:ext uri="{D42A27DB-BD31-4B8C-83A1-F6EECF244321}">
                <p14:modId xmlns:p14="http://schemas.microsoft.com/office/powerpoint/2010/main" val="2144792107"/>
              </p:ext>
            </p:extLst>
          </p:nvPr>
        </p:nvGraphicFramePr>
        <p:xfrm>
          <a:off x="8232419" y="1480000"/>
          <a:ext cx="3761874" cy="2333023"/>
        </p:xfrm>
        <a:graphic>
          <a:graphicData uri="http://schemas.openxmlformats.org/drawingml/2006/table">
            <a:tbl>
              <a:tblPr firstRow="1" bandRow="1">
                <a:tableStyleId>{5C22544A-7EE6-4342-B048-85BDC9FD1C3A}</a:tableStyleId>
              </a:tblPr>
              <a:tblGrid>
                <a:gridCol w="781539">
                  <a:extLst>
                    <a:ext uri="{9D8B030D-6E8A-4147-A177-3AD203B41FA5}">
                      <a16:colId xmlns:a16="http://schemas.microsoft.com/office/drawing/2014/main" val="3356975359"/>
                    </a:ext>
                  </a:extLst>
                </a:gridCol>
                <a:gridCol w="1041009">
                  <a:extLst>
                    <a:ext uri="{9D8B030D-6E8A-4147-A177-3AD203B41FA5}">
                      <a16:colId xmlns:a16="http://schemas.microsoft.com/office/drawing/2014/main" val="3601674449"/>
                    </a:ext>
                  </a:extLst>
                </a:gridCol>
                <a:gridCol w="1939326">
                  <a:extLst>
                    <a:ext uri="{9D8B030D-6E8A-4147-A177-3AD203B41FA5}">
                      <a16:colId xmlns:a16="http://schemas.microsoft.com/office/drawing/2014/main" val="2286965801"/>
                    </a:ext>
                  </a:extLst>
                </a:gridCol>
              </a:tblGrid>
              <a:tr h="333289">
                <a:tc>
                  <a:txBody>
                    <a:bodyPr/>
                    <a:lstStyle/>
                    <a:p>
                      <a:pPr algn="ctr"/>
                      <a:r>
                        <a:rPr lang="en-US" sz="1400" b="0" dirty="0">
                          <a:solidFill>
                            <a:schemeClr val="tx1"/>
                          </a:solidFill>
                          <a:latin typeface="Arial" panose="020B0604020202020204" pitchFamily="34" charset="0"/>
                          <a:cs typeface="Arial" panose="020B0604020202020204" pitchFamily="34" charset="0"/>
                        </a:rPr>
                        <a:t>char</a:t>
                      </a:r>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0" dirty="0">
                          <a:solidFill>
                            <a:schemeClr val="tx1"/>
                          </a:solidFill>
                          <a:latin typeface="Arial" panose="020B0604020202020204" pitchFamily="34" charset="0"/>
                          <a:cs typeface="Arial" panose="020B0604020202020204" pitchFamily="34" charset="0"/>
                        </a:rPr>
                        <a:t>frequency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0" dirty="0">
                          <a:solidFill>
                            <a:schemeClr val="tx1"/>
                          </a:solidFill>
                          <a:latin typeface="Arial" panose="020B0604020202020204" pitchFamily="34" charset="0"/>
                          <a:cs typeface="Arial" panose="020B0604020202020204" pitchFamily="34" charset="0"/>
                        </a:rPr>
                        <a:t>Huffman encoding</a:t>
                      </a:r>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07920617"/>
                  </a:ext>
                </a:extLst>
              </a:tr>
              <a:tr h="333289">
                <a:tc>
                  <a:txBody>
                    <a:bodyPr/>
                    <a:lstStyle/>
                    <a:p>
                      <a:pPr algn="ctr"/>
                      <a:r>
                        <a:rPr lang="en-US" sz="1400" b="0" dirty="0">
                          <a:solidFill>
                            <a:schemeClr val="tx1"/>
                          </a:solidFill>
                          <a:latin typeface="Arial" panose="020B0604020202020204" pitchFamily="34" charset="0"/>
                          <a:cs typeface="Arial" panose="020B0604020202020204" pitchFamily="34" charset="0"/>
                        </a:rPr>
                        <a:t>A</a:t>
                      </a: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sz="1400" b="0" dirty="0">
                          <a:solidFill>
                            <a:schemeClr val="tx1"/>
                          </a:solidFill>
                          <a:latin typeface="Arial" panose="020B0604020202020204" pitchFamily="34" charset="0"/>
                          <a:cs typeface="Arial" panose="020B0604020202020204" pitchFamily="34"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endParaRPr lang="en-US" sz="1400" b="0" dirty="0">
                        <a:solidFill>
                          <a:schemeClr val="tx1"/>
                        </a:solidFill>
                        <a:latin typeface="Courier" pitchFamily="2"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698704590"/>
                  </a:ext>
                </a:extLst>
              </a:tr>
              <a:tr h="333289">
                <a:tc>
                  <a:txBody>
                    <a:bodyPr/>
                    <a:lstStyle/>
                    <a:p>
                      <a:pPr algn="ctr"/>
                      <a:r>
                        <a:rPr lang="en-US" sz="1400" b="0" dirty="0">
                          <a:solidFill>
                            <a:schemeClr val="tx1"/>
                          </a:solidFill>
                          <a:latin typeface="Arial" panose="020B0604020202020204" pitchFamily="34" charset="0"/>
                          <a:cs typeface="Arial" panose="020B0604020202020204" pitchFamily="34" charset="0"/>
                        </a:rPr>
                        <a:t>B</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400" b="0" dirty="0">
                          <a:solidFill>
                            <a:schemeClr val="tx1"/>
                          </a:solidFill>
                          <a:latin typeface="Arial" panose="020B0604020202020204" pitchFamily="34" charset="0"/>
                          <a:cs typeface="Arial" panose="020B0604020202020204" pitchFamily="34"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endParaRPr lang="en-US" sz="1400" b="0" dirty="0">
                        <a:solidFill>
                          <a:schemeClr val="tx1"/>
                        </a:solidFill>
                        <a:latin typeface="Courier" pitchFamily="2"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97155727"/>
                  </a:ext>
                </a:extLst>
              </a:tr>
              <a:tr h="333289">
                <a:tc>
                  <a:txBody>
                    <a:bodyPr/>
                    <a:lstStyle/>
                    <a:p>
                      <a:pPr algn="ctr"/>
                      <a:r>
                        <a:rPr lang="en-US" sz="1400" b="0" dirty="0">
                          <a:solidFill>
                            <a:schemeClr val="tx1"/>
                          </a:solidFill>
                          <a:latin typeface="Arial" panose="020B0604020202020204" pitchFamily="34" charset="0"/>
                          <a:cs typeface="Arial" panose="020B0604020202020204" pitchFamily="34" charset="0"/>
                        </a:rPr>
                        <a:t>C</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400" b="0" dirty="0">
                          <a:solidFill>
                            <a:schemeClr val="tx1"/>
                          </a:solidFill>
                          <a:latin typeface="Arial" panose="020B0604020202020204" pitchFamily="34" charset="0"/>
                          <a:cs typeface="Arial" panose="020B0604020202020204" pitchFamily="34"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endParaRPr lang="en-US" sz="1400" b="0" dirty="0">
                        <a:solidFill>
                          <a:schemeClr val="tx1"/>
                        </a:solidFill>
                        <a:latin typeface="Courier" pitchFamily="2"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48973282"/>
                  </a:ext>
                </a:extLst>
              </a:tr>
              <a:tr h="333289">
                <a:tc>
                  <a:txBody>
                    <a:bodyPr/>
                    <a:lstStyle/>
                    <a:p>
                      <a:pPr algn="ctr"/>
                      <a:r>
                        <a:rPr lang="en-US" sz="1400" b="0" dirty="0">
                          <a:solidFill>
                            <a:schemeClr val="tx1"/>
                          </a:solidFill>
                          <a:latin typeface="Arial" panose="020B0604020202020204" pitchFamily="34" charset="0"/>
                          <a:cs typeface="Arial" panose="020B0604020202020204" pitchFamily="34" charset="0"/>
                        </a:rPr>
                        <a:t>D</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400" b="0" dirty="0">
                          <a:solidFill>
                            <a:schemeClr val="tx1"/>
                          </a:solidFill>
                          <a:latin typeface="Arial" panose="020B0604020202020204" pitchFamily="34" charset="0"/>
                          <a:cs typeface="Arial" panose="020B0604020202020204" pitchFamily="34"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endParaRPr lang="en-US" sz="1400" b="0" dirty="0">
                        <a:solidFill>
                          <a:schemeClr val="tx1"/>
                        </a:solidFill>
                        <a:latin typeface="Courier" pitchFamily="2"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931113414"/>
                  </a:ext>
                </a:extLst>
              </a:tr>
              <a:tr h="333289">
                <a:tc>
                  <a:txBody>
                    <a:bodyPr/>
                    <a:lstStyle/>
                    <a:p>
                      <a:pPr algn="ctr"/>
                      <a:r>
                        <a:rPr lang="en-US" sz="1400" b="0" dirty="0">
                          <a:solidFill>
                            <a:schemeClr val="tx1"/>
                          </a:solidFill>
                          <a:latin typeface="Arial" panose="020B0604020202020204" pitchFamily="34" charset="0"/>
                          <a:cs typeface="Arial" panose="020B0604020202020204" pitchFamily="34" charset="0"/>
                        </a:rPr>
                        <a:t>R</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400" b="0" dirty="0">
                          <a:solidFill>
                            <a:schemeClr val="tx1"/>
                          </a:solidFill>
                          <a:latin typeface="Arial" panose="020B0604020202020204" pitchFamily="34" charset="0"/>
                          <a:cs typeface="Arial" panose="020B0604020202020204" pitchFamily="34"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endParaRPr lang="en-US" sz="1400" b="0" dirty="0">
                        <a:solidFill>
                          <a:schemeClr val="tx1"/>
                        </a:solidFill>
                        <a:latin typeface="Courier" pitchFamily="2"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620110253"/>
                  </a:ext>
                </a:extLst>
              </a:tr>
              <a:tr h="333289">
                <a:tc>
                  <a:txBody>
                    <a:bodyPr/>
                    <a:lstStyle/>
                    <a:p>
                      <a:pPr algn="ctr"/>
                      <a:r>
                        <a:rPr lang="en-US" sz="1400" b="0" dirty="0">
                          <a:solidFill>
                            <a:schemeClr val="tx1"/>
                          </a:solidFill>
                          <a:latin typeface="Arial" panose="020B0604020202020204" pitchFamily="34" charset="0"/>
                          <a:cs typeface="Arial" panose="020B0604020202020204" pitchFamily="34" charset="0"/>
                        </a:rPr>
                        <a:t>!</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400" b="0" dirty="0">
                          <a:solidFill>
                            <a:schemeClr val="tx1"/>
                          </a:solidFill>
                          <a:latin typeface="Arial" panose="020B0604020202020204" pitchFamily="34" charset="0"/>
                          <a:cs typeface="Arial" panose="020B0604020202020204" pitchFamily="34"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endParaRPr lang="en-US" sz="1400" b="0" dirty="0">
                        <a:solidFill>
                          <a:schemeClr val="tx1"/>
                        </a:solidFill>
                        <a:latin typeface="Courier" pitchFamily="2"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208363806"/>
                  </a:ext>
                </a:extLst>
              </a:tr>
            </a:tbl>
          </a:graphicData>
        </a:graphic>
      </p:graphicFrame>
    </p:spTree>
    <p:extLst>
      <p:ext uri="{BB962C8B-B14F-4D97-AF65-F5344CB8AC3E}">
        <p14:creationId xmlns:p14="http://schemas.microsoft.com/office/powerpoint/2010/main" val="10239983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61A64-88E3-514F-96E5-EB5877D9729F}"/>
              </a:ext>
            </a:extLst>
          </p:cNvPr>
          <p:cNvSpPr>
            <a:spLocks noGrp="1"/>
          </p:cNvSpPr>
          <p:nvPr>
            <p:ph type="title"/>
          </p:nvPr>
        </p:nvSpPr>
        <p:spPr/>
        <p:txBody>
          <a:bodyPr/>
          <a:lstStyle/>
          <a:p>
            <a:r>
              <a:rPr lang="en-US" dirty="0"/>
              <a:t>Huffman compression</a:t>
            </a:r>
          </a:p>
        </p:txBody>
      </p:sp>
      <p:sp>
        <p:nvSpPr>
          <p:cNvPr id="3" name="Content Placeholder 2">
            <a:extLst>
              <a:ext uri="{FF2B5EF4-FFF2-40B4-BE49-F238E27FC236}">
                <a16:creationId xmlns:a16="http://schemas.microsoft.com/office/drawing/2014/main" id="{B9A27260-ED92-1742-90BD-44C0FED54F03}"/>
              </a:ext>
            </a:extLst>
          </p:cNvPr>
          <p:cNvSpPr>
            <a:spLocks noGrp="1"/>
          </p:cNvSpPr>
          <p:nvPr>
            <p:ph idx="1"/>
          </p:nvPr>
        </p:nvSpPr>
        <p:spPr/>
        <p:txBody>
          <a:bodyPr/>
          <a:lstStyle/>
          <a:p>
            <a:r>
              <a:rPr lang="en-US" dirty="0"/>
              <a:t>Demo</a:t>
            </a:r>
          </a:p>
        </p:txBody>
      </p:sp>
      <p:sp>
        <p:nvSpPr>
          <p:cNvPr id="4" name="TextBox 3">
            <a:extLst>
              <a:ext uri="{FF2B5EF4-FFF2-40B4-BE49-F238E27FC236}">
                <a16:creationId xmlns:a16="http://schemas.microsoft.com/office/drawing/2014/main" id="{EE7569D7-7FD6-584A-AE59-2A307297CAC8}"/>
              </a:ext>
            </a:extLst>
          </p:cNvPr>
          <p:cNvSpPr txBox="1"/>
          <p:nvPr/>
        </p:nvSpPr>
        <p:spPr>
          <a:xfrm>
            <a:off x="514866" y="2461846"/>
            <a:ext cx="5279009" cy="369332"/>
          </a:xfrm>
          <a:prstGeom prst="rect">
            <a:avLst/>
          </a:prstGeom>
          <a:noFill/>
        </p:spPr>
        <p:txBody>
          <a:bodyPr wrap="none" rtlCol="0">
            <a:spAutoFit/>
          </a:bodyPr>
          <a:lstStyle/>
          <a:p>
            <a:r>
              <a:rPr lang="en-US" dirty="0">
                <a:solidFill>
                  <a:schemeClr val="accent5"/>
                </a:solidFill>
                <a:latin typeface="Arial" panose="020B0604020202020204" pitchFamily="34" charset="0"/>
                <a:cs typeface="Arial" panose="020B0604020202020204" pitchFamily="34" charset="0"/>
              </a:rPr>
              <a:t>Input message </a:t>
            </a:r>
            <a:r>
              <a:rPr lang="en-US" i="1" dirty="0">
                <a:solidFill>
                  <a:schemeClr val="accent5"/>
                </a:solidFill>
                <a:latin typeface="Arial" panose="020B0604020202020204" pitchFamily="34" charset="0"/>
                <a:cs typeface="Arial" panose="020B0604020202020204" pitchFamily="34" charset="0"/>
              </a:rPr>
              <a:t>B</a:t>
            </a:r>
            <a:r>
              <a:rPr lang="en-US" dirty="0">
                <a:solidFill>
                  <a:schemeClr val="accent5"/>
                </a:solidFill>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 </a:t>
            </a:r>
            <a:r>
              <a:rPr lang="en-US" dirty="0">
                <a:latin typeface="Courier" pitchFamily="2" charset="0"/>
                <a:cs typeface="Arial" panose="020B0604020202020204" pitchFamily="34" charset="0"/>
              </a:rPr>
              <a:t>A B R A C A D A B R A !</a:t>
            </a:r>
          </a:p>
        </p:txBody>
      </p:sp>
      <p:grpSp>
        <p:nvGrpSpPr>
          <p:cNvPr id="10" name="Group 9" descr="simulation of code generation via iterative merging of 2 lest frequent tries">
            <a:extLst>
              <a:ext uri="{FF2B5EF4-FFF2-40B4-BE49-F238E27FC236}">
                <a16:creationId xmlns:a16="http://schemas.microsoft.com/office/drawing/2014/main" id="{6D937D6D-E82A-384C-92D7-51F456BDF2AD}"/>
              </a:ext>
            </a:extLst>
          </p:cNvPr>
          <p:cNvGrpSpPr/>
          <p:nvPr/>
        </p:nvGrpSpPr>
        <p:grpSpPr>
          <a:xfrm>
            <a:off x="1138692" y="2916893"/>
            <a:ext cx="6972795" cy="3514966"/>
            <a:chOff x="1138692" y="2916893"/>
            <a:chExt cx="6972795" cy="3514966"/>
          </a:xfrm>
        </p:grpSpPr>
        <p:grpSp>
          <p:nvGrpSpPr>
            <p:cNvPr id="50" name="Group 49">
              <a:extLst>
                <a:ext uri="{FF2B5EF4-FFF2-40B4-BE49-F238E27FC236}">
                  <a16:creationId xmlns:a16="http://schemas.microsoft.com/office/drawing/2014/main" id="{4BB728EC-684D-C64F-8EEE-D6DA3F27F617}"/>
                </a:ext>
              </a:extLst>
            </p:cNvPr>
            <p:cNvGrpSpPr/>
            <p:nvPr/>
          </p:nvGrpSpPr>
          <p:grpSpPr>
            <a:xfrm>
              <a:off x="1138692" y="3654949"/>
              <a:ext cx="674305" cy="559000"/>
              <a:chOff x="1750163" y="4045010"/>
              <a:chExt cx="674305" cy="559000"/>
            </a:xfrm>
          </p:grpSpPr>
          <p:sp>
            <p:nvSpPr>
              <p:cNvPr id="8" name="Oval 7">
                <a:extLst>
                  <a:ext uri="{FF2B5EF4-FFF2-40B4-BE49-F238E27FC236}">
                    <a16:creationId xmlns:a16="http://schemas.microsoft.com/office/drawing/2014/main" id="{06A05484-6E5A-FF49-A52B-C4D42E7330A8}"/>
                  </a:ext>
                </a:extLst>
              </p:cNvPr>
              <p:cNvSpPr/>
              <p:nvPr/>
            </p:nvSpPr>
            <p:spPr>
              <a:xfrm>
                <a:off x="2063069" y="4099720"/>
                <a:ext cx="318654" cy="332509"/>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rial" panose="020B0604020202020204" pitchFamily="34" charset="0"/>
                    <a:cs typeface="Arial" panose="020B0604020202020204" pitchFamily="34" charset="0"/>
                  </a:rPr>
                  <a:t>A</a:t>
                </a:r>
              </a:p>
            </p:txBody>
          </p:sp>
          <p:cxnSp>
            <p:nvCxnSpPr>
              <p:cNvPr id="11" name="Straight Connector 10">
                <a:extLst>
                  <a:ext uri="{FF2B5EF4-FFF2-40B4-BE49-F238E27FC236}">
                    <a16:creationId xmlns:a16="http://schemas.microsoft.com/office/drawing/2014/main" id="{7F416B39-AF2E-4047-9074-481B3106F0B2}"/>
                  </a:ext>
                </a:extLst>
              </p:cNvPr>
              <p:cNvCxnSpPr>
                <a:cxnSpLocks/>
                <a:stCxn id="8" idx="5"/>
              </p:cNvCxnSpPr>
              <p:nvPr/>
            </p:nvCxnSpPr>
            <p:spPr>
              <a:xfrm>
                <a:off x="2335057" y="4383534"/>
                <a:ext cx="89411"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7F635E89-5D4D-9545-9912-172119E9824E}"/>
                  </a:ext>
                </a:extLst>
              </p:cNvPr>
              <p:cNvSpPr txBox="1"/>
              <p:nvPr/>
            </p:nvSpPr>
            <p:spPr>
              <a:xfrm>
                <a:off x="1750163" y="4045010"/>
                <a:ext cx="312906" cy="369332"/>
              </a:xfrm>
              <a:prstGeom prst="rect">
                <a:avLst/>
              </a:prstGeom>
              <a:noFill/>
            </p:spPr>
            <p:txBody>
              <a:bodyPr wrap="none" rtlCol="0">
                <a:spAutoFit/>
              </a:bodyPr>
              <a:lstStyle/>
              <a:p>
                <a:r>
                  <a:rPr lang="en-US" dirty="0">
                    <a:solidFill>
                      <a:schemeClr val="accent5"/>
                    </a:solidFill>
                    <a:latin typeface="Arial" panose="020B0604020202020204" pitchFamily="34" charset="0"/>
                    <a:cs typeface="Arial" panose="020B0604020202020204" pitchFamily="34" charset="0"/>
                  </a:rPr>
                  <a:t>5</a:t>
                </a:r>
              </a:p>
            </p:txBody>
          </p:sp>
          <p:cxnSp>
            <p:nvCxnSpPr>
              <p:cNvPr id="13" name="Straight Connector 12">
                <a:extLst>
                  <a:ext uri="{FF2B5EF4-FFF2-40B4-BE49-F238E27FC236}">
                    <a16:creationId xmlns:a16="http://schemas.microsoft.com/office/drawing/2014/main" id="{39FE95BA-59D7-454A-AA88-33EC87FE60D8}"/>
                  </a:ext>
                </a:extLst>
              </p:cNvPr>
              <p:cNvCxnSpPr>
                <a:cxnSpLocks/>
                <a:stCxn id="8" idx="3"/>
              </p:cNvCxnSpPr>
              <p:nvPr/>
            </p:nvCxnSpPr>
            <p:spPr>
              <a:xfrm flipH="1">
                <a:off x="1963362" y="4383534"/>
                <a:ext cx="146373"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53" name="Group 52">
              <a:extLst>
                <a:ext uri="{FF2B5EF4-FFF2-40B4-BE49-F238E27FC236}">
                  <a16:creationId xmlns:a16="http://schemas.microsoft.com/office/drawing/2014/main" id="{80C2A224-70B8-644A-A136-753F6D307255}"/>
                </a:ext>
              </a:extLst>
            </p:cNvPr>
            <p:cNvGrpSpPr/>
            <p:nvPr/>
          </p:nvGrpSpPr>
          <p:grpSpPr>
            <a:xfrm>
              <a:off x="3115439" y="5224374"/>
              <a:ext cx="656575" cy="504290"/>
              <a:chOff x="2095516" y="5232762"/>
              <a:chExt cx="656575" cy="504290"/>
            </a:xfrm>
          </p:grpSpPr>
          <p:sp>
            <p:nvSpPr>
              <p:cNvPr id="21" name="Oval 20">
                <a:extLst>
                  <a:ext uri="{FF2B5EF4-FFF2-40B4-BE49-F238E27FC236}">
                    <a16:creationId xmlns:a16="http://schemas.microsoft.com/office/drawing/2014/main" id="{D6672FE3-8CA2-3341-9A1B-C922171C6457}"/>
                  </a:ext>
                </a:extLst>
              </p:cNvPr>
              <p:cNvSpPr/>
              <p:nvPr/>
            </p:nvSpPr>
            <p:spPr>
              <a:xfrm>
                <a:off x="2390910" y="5232762"/>
                <a:ext cx="318654" cy="332509"/>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rial" panose="020B0604020202020204" pitchFamily="34" charset="0"/>
                    <a:cs typeface="Arial" panose="020B0604020202020204" pitchFamily="34" charset="0"/>
                  </a:rPr>
                  <a:t>D</a:t>
                </a:r>
              </a:p>
            </p:txBody>
          </p:sp>
          <p:cxnSp>
            <p:nvCxnSpPr>
              <p:cNvPr id="25" name="Straight Connector 24">
                <a:extLst>
                  <a:ext uri="{FF2B5EF4-FFF2-40B4-BE49-F238E27FC236}">
                    <a16:creationId xmlns:a16="http://schemas.microsoft.com/office/drawing/2014/main" id="{5C2EF432-2414-5B4A-AABD-B24368064650}"/>
                  </a:ext>
                </a:extLst>
              </p:cNvPr>
              <p:cNvCxnSpPr>
                <a:cxnSpLocks/>
              </p:cNvCxnSpPr>
              <p:nvPr/>
            </p:nvCxnSpPr>
            <p:spPr>
              <a:xfrm>
                <a:off x="2662680" y="5516576"/>
                <a:ext cx="89411"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AB6A5AF-60FC-2C47-BE29-25A979C4D2DA}"/>
                  </a:ext>
                </a:extLst>
              </p:cNvPr>
              <p:cNvCxnSpPr>
                <a:cxnSpLocks/>
                <a:stCxn id="21" idx="3"/>
              </p:cNvCxnSpPr>
              <p:nvPr/>
            </p:nvCxnSpPr>
            <p:spPr>
              <a:xfrm flipH="1">
                <a:off x="2291203" y="5516576"/>
                <a:ext cx="146373"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BAB47F5E-531D-EB46-A610-6227428059DA}"/>
                  </a:ext>
                </a:extLst>
              </p:cNvPr>
              <p:cNvSpPr txBox="1"/>
              <p:nvPr/>
            </p:nvSpPr>
            <p:spPr>
              <a:xfrm>
                <a:off x="2095516" y="5239844"/>
                <a:ext cx="312906" cy="369332"/>
              </a:xfrm>
              <a:prstGeom prst="rect">
                <a:avLst/>
              </a:prstGeom>
              <a:noFill/>
            </p:spPr>
            <p:txBody>
              <a:bodyPr wrap="none" rtlCol="0">
                <a:spAutoFit/>
              </a:bodyPr>
              <a:lstStyle/>
              <a:p>
                <a:r>
                  <a:rPr lang="en-US" dirty="0">
                    <a:solidFill>
                      <a:schemeClr val="accent5"/>
                    </a:solidFill>
                    <a:latin typeface="Arial" panose="020B0604020202020204" pitchFamily="34" charset="0"/>
                    <a:cs typeface="Arial" panose="020B0604020202020204" pitchFamily="34" charset="0"/>
                  </a:rPr>
                  <a:t>1</a:t>
                </a:r>
              </a:p>
            </p:txBody>
          </p:sp>
        </p:grpSp>
        <p:grpSp>
          <p:nvGrpSpPr>
            <p:cNvPr id="55" name="Group 54">
              <a:extLst>
                <a:ext uri="{FF2B5EF4-FFF2-40B4-BE49-F238E27FC236}">
                  <a16:creationId xmlns:a16="http://schemas.microsoft.com/office/drawing/2014/main" id="{8BCCA23C-6120-324A-80C0-BB5D4E1070A1}"/>
                </a:ext>
              </a:extLst>
            </p:cNvPr>
            <p:cNvGrpSpPr/>
            <p:nvPr/>
          </p:nvGrpSpPr>
          <p:grpSpPr>
            <a:xfrm>
              <a:off x="3748154" y="5926963"/>
              <a:ext cx="608623" cy="504896"/>
              <a:chOff x="2800118" y="5848814"/>
              <a:chExt cx="608623" cy="504896"/>
            </a:xfrm>
          </p:grpSpPr>
          <p:sp>
            <p:nvSpPr>
              <p:cNvPr id="20" name="TextBox 19">
                <a:extLst>
                  <a:ext uri="{FF2B5EF4-FFF2-40B4-BE49-F238E27FC236}">
                    <a16:creationId xmlns:a16="http://schemas.microsoft.com/office/drawing/2014/main" id="{727DCE5D-8EC6-864B-896F-70EC0B08CD94}"/>
                  </a:ext>
                </a:extLst>
              </p:cNvPr>
              <p:cNvSpPr txBox="1"/>
              <p:nvPr/>
            </p:nvSpPr>
            <p:spPr>
              <a:xfrm>
                <a:off x="2800118" y="5848814"/>
                <a:ext cx="312906" cy="369332"/>
              </a:xfrm>
              <a:prstGeom prst="rect">
                <a:avLst/>
              </a:prstGeom>
              <a:noFill/>
            </p:spPr>
            <p:txBody>
              <a:bodyPr wrap="none" rtlCol="0">
                <a:spAutoFit/>
              </a:bodyPr>
              <a:lstStyle/>
              <a:p>
                <a:r>
                  <a:rPr lang="en-US" dirty="0">
                    <a:solidFill>
                      <a:schemeClr val="accent5"/>
                    </a:solidFill>
                    <a:latin typeface="Arial" panose="020B0604020202020204" pitchFamily="34" charset="0"/>
                    <a:cs typeface="Arial" panose="020B0604020202020204" pitchFamily="34" charset="0"/>
                  </a:rPr>
                  <a:t>1</a:t>
                </a:r>
              </a:p>
            </p:txBody>
          </p:sp>
          <p:sp>
            <p:nvSpPr>
              <p:cNvPr id="38" name="Oval 37">
                <a:extLst>
                  <a:ext uri="{FF2B5EF4-FFF2-40B4-BE49-F238E27FC236}">
                    <a16:creationId xmlns:a16="http://schemas.microsoft.com/office/drawing/2014/main" id="{2127C9C6-2140-6B43-AC01-EBE5FEA76679}"/>
                  </a:ext>
                </a:extLst>
              </p:cNvPr>
              <p:cNvSpPr/>
              <p:nvPr/>
            </p:nvSpPr>
            <p:spPr>
              <a:xfrm>
                <a:off x="3047342" y="5849420"/>
                <a:ext cx="318654" cy="332509"/>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rial" panose="020B0604020202020204" pitchFamily="34" charset="0"/>
                    <a:cs typeface="Arial" panose="020B0604020202020204" pitchFamily="34" charset="0"/>
                  </a:rPr>
                  <a:t>!</a:t>
                </a:r>
              </a:p>
            </p:txBody>
          </p:sp>
          <p:cxnSp>
            <p:nvCxnSpPr>
              <p:cNvPr id="42" name="Straight Connector 41">
                <a:extLst>
                  <a:ext uri="{FF2B5EF4-FFF2-40B4-BE49-F238E27FC236}">
                    <a16:creationId xmlns:a16="http://schemas.microsoft.com/office/drawing/2014/main" id="{6C5036F1-EE6B-E148-93CC-87B22BF6B9CD}"/>
                  </a:ext>
                </a:extLst>
              </p:cNvPr>
              <p:cNvCxnSpPr>
                <a:cxnSpLocks/>
                <a:stCxn id="38" idx="5"/>
              </p:cNvCxnSpPr>
              <p:nvPr/>
            </p:nvCxnSpPr>
            <p:spPr>
              <a:xfrm>
                <a:off x="3319330" y="6133234"/>
                <a:ext cx="89411"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774C459E-FF64-9A4A-BB63-3308E3CB024B}"/>
                  </a:ext>
                </a:extLst>
              </p:cNvPr>
              <p:cNvCxnSpPr>
                <a:cxnSpLocks/>
                <a:stCxn id="38" idx="3"/>
              </p:cNvCxnSpPr>
              <p:nvPr/>
            </p:nvCxnSpPr>
            <p:spPr>
              <a:xfrm flipH="1">
                <a:off x="2947635" y="6133234"/>
                <a:ext cx="146373"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52" name="Group 51">
              <a:extLst>
                <a:ext uri="{FF2B5EF4-FFF2-40B4-BE49-F238E27FC236}">
                  <a16:creationId xmlns:a16="http://schemas.microsoft.com/office/drawing/2014/main" id="{ADA2F9D6-8F0A-7C4A-AD27-26205113B7D8}"/>
                </a:ext>
              </a:extLst>
            </p:cNvPr>
            <p:cNvGrpSpPr/>
            <p:nvPr/>
          </p:nvGrpSpPr>
          <p:grpSpPr>
            <a:xfrm>
              <a:off x="5174787" y="5868006"/>
              <a:ext cx="607269" cy="563853"/>
              <a:chOff x="3659033" y="5849420"/>
              <a:chExt cx="607269" cy="563853"/>
            </a:xfrm>
          </p:grpSpPr>
          <p:sp>
            <p:nvSpPr>
              <p:cNvPr id="39" name="Oval 38">
                <a:extLst>
                  <a:ext uri="{FF2B5EF4-FFF2-40B4-BE49-F238E27FC236}">
                    <a16:creationId xmlns:a16="http://schemas.microsoft.com/office/drawing/2014/main" id="{10689D03-0CF9-0540-888E-D17C352C2EE9}"/>
                  </a:ext>
                </a:extLst>
              </p:cNvPr>
              <p:cNvSpPr/>
              <p:nvPr/>
            </p:nvSpPr>
            <p:spPr>
              <a:xfrm>
                <a:off x="3928929" y="5885637"/>
                <a:ext cx="318654" cy="332509"/>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rial" panose="020B0604020202020204" pitchFamily="34" charset="0"/>
                    <a:cs typeface="Arial" panose="020B0604020202020204" pitchFamily="34" charset="0"/>
                  </a:rPr>
                  <a:t>C</a:t>
                </a:r>
              </a:p>
            </p:txBody>
          </p:sp>
          <p:sp>
            <p:nvSpPr>
              <p:cNvPr id="45" name="TextBox 44">
                <a:extLst>
                  <a:ext uri="{FF2B5EF4-FFF2-40B4-BE49-F238E27FC236}">
                    <a16:creationId xmlns:a16="http://schemas.microsoft.com/office/drawing/2014/main" id="{61BF5F88-CEB7-034F-A6BA-7BEFE722CF65}"/>
                  </a:ext>
                </a:extLst>
              </p:cNvPr>
              <p:cNvSpPr txBox="1"/>
              <p:nvPr/>
            </p:nvSpPr>
            <p:spPr>
              <a:xfrm>
                <a:off x="3659033" y="5849420"/>
                <a:ext cx="312906" cy="369332"/>
              </a:xfrm>
              <a:prstGeom prst="rect">
                <a:avLst/>
              </a:prstGeom>
              <a:noFill/>
            </p:spPr>
            <p:txBody>
              <a:bodyPr wrap="none" rtlCol="0">
                <a:spAutoFit/>
              </a:bodyPr>
              <a:lstStyle/>
              <a:p>
                <a:r>
                  <a:rPr lang="en-US" dirty="0">
                    <a:solidFill>
                      <a:schemeClr val="accent5"/>
                    </a:solidFill>
                    <a:latin typeface="Arial" panose="020B0604020202020204" pitchFamily="34" charset="0"/>
                    <a:cs typeface="Arial" panose="020B0604020202020204" pitchFamily="34" charset="0"/>
                  </a:rPr>
                  <a:t>1</a:t>
                </a:r>
              </a:p>
            </p:txBody>
          </p:sp>
          <p:cxnSp>
            <p:nvCxnSpPr>
              <p:cNvPr id="46" name="Straight Connector 45">
                <a:extLst>
                  <a:ext uri="{FF2B5EF4-FFF2-40B4-BE49-F238E27FC236}">
                    <a16:creationId xmlns:a16="http://schemas.microsoft.com/office/drawing/2014/main" id="{4C200A43-A8D1-994C-849E-661DCD3B99E4}"/>
                  </a:ext>
                </a:extLst>
              </p:cNvPr>
              <p:cNvCxnSpPr>
                <a:cxnSpLocks/>
              </p:cNvCxnSpPr>
              <p:nvPr/>
            </p:nvCxnSpPr>
            <p:spPr>
              <a:xfrm>
                <a:off x="4176891" y="6192797"/>
                <a:ext cx="89411"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BF6B1C4A-4590-F547-9264-0AFB17854521}"/>
                  </a:ext>
                </a:extLst>
              </p:cNvPr>
              <p:cNvCxnSpPr>
                <a:cxnSpLocks/>
              </p:cNvCxnSpPr>
              <p:nvPr/>
            </p:nvCxnSpPr>
            <p:spPr>
              <a:xfrm flipH="1">
                <a:off x="3805414" y="6192797"/>
                <a:ext cx="146373"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40" name="Oval 39">
              <a:extLst>
                <a:ext uri="{FF2B5EF4-FFF2-40B4-BE49-F238E27FC236}">
                  <a16:creationId xmlns:a16="http://schemas.microsoft.com/office/drawing/2014/main" id="{0DC79CBF-4227-4545-BCD5-C596AD831B57}"/>
                </a:ext>
              </a:extLst>
            </p:cNvPr>
            <p:cNvSpPr/>
            <p:nvPr/>
          </p:nvSpPr>
          <p:spPr>
            <a:xfrm>
              <a:off x="4817442" y="5220597"/>
              <a:ext cx="318654" cy="332509"/>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latin typeface="Arial" panose="020B0604020202020204" pitchFamily="34" charset="0"/>
                <a:cs typeface="Arial" panose="020B0604020202020204" pitchFamily="34" charset="0"/>
              </a:endParaRPr>
            </a:p>
          </p:txBody>
        </p:sp>
        <p:cxnSp>
          <p:nvCxnSpPr>
            <p:cNvPr id="41" name="Straight Connector 40">
              <a:extLst>
                <a:ext uri="{FF2B5EF4-FFF2-40B4-BE49-F238E27FC236}">
                  <a16:creationId xmlns:a16="http://schemas.microsoft.com/office/drawing/2014/main" id="{B669C97F-D0A9-AA46-8A16-1A5EBC831B9F}"/>
                </a:ext>
              </a:extLst>
            </p:cNvPr>
            <p:cNvCxnSpPr>
              <a:cxnSpLocks/>
              <a:stCxn id="40" idx="3"/>
              <a:endCxn id="38" idx="7"/>
            </p:cNvCxnSpPr>
            <p:nvPr/>
          </p:nvCxnSpPr>
          <p:spPr>
            <a:xfrm flipH="1">
              <a:off x="4267366" y="5504411"/>
              <a:ext cx="596742" cy="471853"/>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3C9CE3C9-DE7D-1D41-A53A-191CFF549313}"/>
                </a:ext>
              </a:extLst>
            </p:cNvPr>
            <p:cNvCxnSpPr>
              <a:cxnSpLocks/>
              <a:stCxn id="40" idx="5"/>
              <a:endCxn id="39" idx="1"/>
            </p:cNvCxnSpPr>
            <p:nvPr/>
          </p:nvCxnSpPr>
          <p:spPr>
            <a:xfrm>
              <a:off x="5089430" y="5504411"/>
              <a:ext cx="401919" cy="448507"/>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FDCA9A76-CD34-8B42-AF84-DDB8A63ACBF3}"/>
                </a:ext>
              </a:extLst>
            </p:cNvPr>
            <p:cNvSpPr txBox="1"/>
            <p:nvPr/>
          </p:nvSpPr>
          <p:spPr>
            <a:xfrm>
              <a:off x="4551202" y="5107964"/>
              <a:ext cx="312906" cy="369332"/>
            </a:xfrm>
            <a:prstGeom prst="rect">
              <a:avLst/>
            </a:prstGeom>
            <a:noFill/>
          </p:spPr>
          <p:txBody>
            <a:bodyPr wrap="none" rtlCol="0">
              <a:spAutoFit/>
            </a:bodyPr>
            <a:lstStyle/>
            <a:p>
              <a:r>
                <a:rPr lang="en-US" dirty="0">
                  <a:solidFill>
                    <a:schemeClr val="accent5"/>
                  </a:solidFill>
                  <a:latin typeface="Arial" panose="020B0604020202020204" pitchFamily="34" charset="0"/>
                  <a:cs typeface="Arial" panose="020B0604020202020204" pitchFamily="34" charset="0"/>
                </a:rPr>
                <a:t>2</a:t>
              </a:r>
            </a:p>
          </p:txBody>
        </p:sp>
        <p:sp>
          <p:nvSpPr>
            <p:cNvPr id="56" name="Oval 55">
              <a:extLst>
                <a:ext uri="{FF2B5EF4-FFF2-40B4-BE49-F238E27FC236}">
                  <a16:creationId xmlns:a16="http://schemas.microsoft.com/office/drawing/2014/main" id="{DA981DA1-963F-9741-BD63-DD9A72D22BE1}"/>
                </a:ext>
              </a:extLst>
            </p:cNvPr>
            <p:cNvSpPr/>
            <p:nvPr/>
          </p:nvSpPr>
          <p:spPr>
            <a:xfrm>
              <a:off x="4126739" y="4497861"/>
              <a:ext cx="318654" cy="332509"/>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latin typeface="Arial" panose="020B0604020202020204" pitchFamily="34" charset="0"/>
                <a:cs typeface="Arial" panose="020B0604020202020204" pitchFamily="34" charset="0"/>
              </a:endParaRPr>
            </a:p>
          </p:txBody>
        </p:sp>
        <p:cxnSp>
          <p:nvCxnSpPr>
            <p:cNvPr id="58" name="Straight Connector 57">
              <a:extLst>
                <a:ext uri="{FF2B5EF4-FFF2-40B4-BE49-F238E27FC236}">
                  <a16:creationId xmlns:a16="http://schemas.microsoft.com/office/drawing/2014/main" id="{3C8FC2E7-4462-9C48-9065-724350371118}"/>
                </a:ext>
              </a:extLst>
            </p:cNvPr>
            <p:cNvCxnSpPr>
              <a:cxnSpLocks/>
              <a:stCxn id="56" idx="3"/>
              <a:endCxn id="21" idx="7"/>
            </p:cNvCxnSpPr>
            <p:nvPr/>
          </p:nvCxnSpPr>
          <p:spPr>
            <a:xfrm flipH="1">
              <a:off x="3682821" y="4781675"/>
              <a:ext cx="490584" cy="49139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ABCD1712-C837-EA45-9F9D-F1C4F8F391A4}"/>
                </a:ext>
              </a:extLst>
            </p:cNvPr>
            <p:cNvCxnSpPr>
              <a:cxnSpLocks/>
              <a:stCxn id="56" idx="5"/>
              <a:endCxn id="40" idx="0"/>
            </p:cNvCxnSpPr>
            <p:nvPr/>
          </p:nvCxnSpPr>
          <p:spPr>
            <a:xfrm>
              <a:off x="4398727" y="4781675"/>
              <a:ext cx="578042" cy="438922"/>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F311EC65-80E2-E849-9E47-5B2D2F279130}"/>
                </a:ext>
              </a:extLst>
            </p:cNvPr>
            <p:cNvSpPr txBox="1"/>
            <p:nvPr/>
          </p:nvSpPr>
          <p:spPr>
            <a:xfrm>
              <a:off x="3860499" y="4425228"/>
              <a:ext cx="312906" cy="369332"/>
            </a:xfrm>
            <a:prstGeom prst="rect">
              <a:avLst/>
            </a:prstGeom>
            <a:noFill/>
          </p:spPr>
          <p:txBody>
            <a:bodyPr wrap="none" rtlCol="0">
              <a:spAutoFit/>
            </a:bodyPr>
            <a:lstStyle/>
            <a:p>
              <a:r>
                <a:rPr lang="en-US" dirty="0">
                  <a:solidFill>
                    <a:schemeClr val="accent5"/>
                  </a:solidFill>
                  <a:latin typeface="Arial" panose="020B0604020202020204" pitchFamily="34" charset="0"/>
                  <a:cs typeface="Arial" panose="020B0604020202020204" pitchFamily="34" charset="0"/>
                </a:rPr>
                <a:t>3</a:t>
              </a:r>
            </a:p>
          </p:txBody>
        </p:sp>
        <p:grpSp>
          <p:nvGrpSpPr>
            <p:cNvPr id="9" name="Group 8">
              <a:extLst>
                <a:ext uri="{FF2B5EF4-FFF2-40B4-BE49-F238E27FC236}">
                  <a16:creationId xmlns:a16="http://schemas.microsoft.com/office/drawing/2014/main" id="{2A2497F4-CDC4-7D47-9FA4-519A68FE32B2}"/>
                </a:ext>
              </a:extLst>
            </p:cNvPr>
            <p:cNvGrpSpPr/>
            <p:nvPr/>
          </p:nvGrpSpPr>
          <p:grpSpPr>
            <a:xfrm>
              <a:off x="6133892" y="4442620"/>
              <a:ext cx="1977595" cy="1315034"/>
              <a:chOff x="2959085" y="5037480"/>
              <a:chExt cx="1977595" cy="1315034"/>
            </a:xfrm>
          </p:grpSpPr>
          <p:grpSp>
            <p:nvGrpSpPr>
              <p:cNvPr id="54" name="Group 53">
                <a:extLst>
                  <a:ext uri="{FF2B5EF4-FFF2-40B4-BE49-F238E27FC236}">
                    <a16:creationId xmlns:a16="http://schemas.microsoft.com/office/drawing/2014/main" id="{DBED95C4-09D9-9848-A2E3-FED2D16B1923}"/>
                  </a:ext>
                </a:extLst>
              </p:cNvPr>
              <p:cNvGrpSpPr/>
              <p:nvPr/>
            </p:nvGrpSpPr>
            <p:grpSpPr>
              <a:xfrm>
                <a:off x="4250252" y="5792582"/>
                <a:ext cx="686428" cy="541113"/>
                <a:chOff x="4044968" y="5154326"/>
                <a:chExt cx="686428" cy="541113"/>
              </a:xfrm>
            </p:grpSpPr>
            <p:sp>
              <p:nvSpPr>
                <p:cNvPr id="26" name="TextBox 25">
                  <a:extLst>
                    <a:ext uri="{FF2B5EF4-FFF2-40B4-BE49-F238E27FC236}">
                      <a16:creationId xmlns:a16="http://schemas.microsoft.com/office/drawing/2014/main" id="{06E36F72-4A61-154A-B16F-D1F8329DD90E}"/>
                    </a:ext>
                  </a:extLst>
                </p:cNvPr>
                <p:cNvSpPr txBox="1"/>
                <p:nvPr/>
              </p:nvSpPr>
              <p:spPr>
                <a:xfrm>
                  <a:off x="4044968" y="5154326"/>
                  <a:ext cx="312906" cy="369332"/>
                </a:xfrm>
                <a:prstGeom prst="rect">
                  <a:avLst/>
                </a:prstGeom>
                <a:noFill/>
              </p:spPr>
              <p:txBody>
                <a:bodyPr wrap="none" rtlCol="0">
                  <a:spAutoFit/>
                </a:bodyPr>
                <a:lstStyle/>
                <a:p>
                  <a:r>
                    <a:rPr lang="en-US" dirty="0">
                      <a:solidFill>
                        <a:schemeClr val="accent5"/>
                      </a:solidFill>
                      <a:latin typeface="Arial" panose="020B0604020202020204" pitchFamily="34" charset="0"/>
                      <a:cs typeface="Arial" panose="020B0604020202020204" pitchFamily="34" charset="0"/>
                    </a:rPr>
                    <a:t>2</a:t>
                  </a:r>
                </a:p>
              </p:txBody>
            </p:sp>
            <p:sp>
              <p:nvSpPr>
                <p:cNvPr id="30" name="Oval 29">
                  <a:extLst>
                    <a:ext uri="{FF2B5EF4-FFF2-40B4-BE49-F238E27FC236}">
                      <a16:creationId xmlns:a16="http://schemas.microsoft.com/office/drawing/2014/main" id="{E642B119-1D86-A44C-9577-8EBF060B8425}"/>
                    </a:ext>
                  </a:extLst>
                </p:cNvPr>
                <p:cNvSpPr/>
                <p:nvPr/>
              </p:nvSpPr>
              <p:spPr>
                <a:xfrm>
                  <a:off x="4369997" y="5191149"/>
                  <a:ext cx="318654" cy="332509"/>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rial" panose="020B0604020202020204" pitchFamily="34" charset="0"/>
                      <a:cs typeface="Arial" panose="020B0604020202020204" pitchFamily="34" charset="0"/>
                    </a:rPr>
                    <a:t>B</a:t>
                  </a:r>
                </a:p>
              </p:txBody>
            </p:sp>
            <p:cxnSp>
              <p:nvCxnSpPr>
                <p:cNvPr id="34" name="Straight Connector 33">
                  <a:extLst>
                    <a:ext uri="{FF2B5EF4-FFF2-40B4-BE49-F238E27FC236}">
                      <a16:creationId xmlns:a16="http://schemas.microsoft.com/office/drawing/2014/main" id="{012D269B-7F07-4847-B1D9-B334DA13113F}"/>
                    </a:ext>
                  </a:extLst>
                </p:cNvPr>
                <p:cNvCxnSpPr>
                  <a:cxnSpLocks/>
                  <a:stCxn id="30" idx="5"/>
                </p:cNvCxnSpPr>
                <p:nvPr/>
              </p:nvCxnSpPr>
              <p:spPr>
                <a:xfrm>
                  <a:off x="4641985" y="5474963"/>
                  <a:ext cx="89411"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94616B5-085B-6445-999D-C838831D869B}"/>
                    </a:ext>
                  </a:extLst>
                </p:cNvPr>
                <p:cNvCxnSpPr>
                  <a:cxnSpLocks/>
                  <a:stCxn id="30" idx="3"/>
                </p:cNvCxnSpPr>
                <p:nvPr/>
              </p:nvCxnSpPr>
              <p:spPr>
                <a:xfrm flipH="1">
                  <a:off x="4270290" y="5474963"/>
                  <a:ext cx="146373"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51" name="Group 50">
                <a:extLst>
                  <a:ext uri="{FF2B5EF4-FFF2-40B4-BE49-F238E27FC236}">
                    <a16:creationId xmlns:a16="http://schemas.microsoft.com/office/drawing/2014/main" id="{A24A3F39-4AA7-F740-B458-F22569ED3BAE}"/>
                  </a:ext>
                </a:extLst>
              </p:cNvPr>
              <p:cNvGrpSpPr/>
              <p:nvPr/>
            </p:nvGrpSpPr>
            <p:grpSpPr>
              <a:xfrm>
                <a:off x="2959085" y="5798388"/>
                <a:ext cx="645196" cy="554126"/>
                <a:chOff x="4941987" y="5147244"/>
                <a:chExt cx="645196" cy="554126"/>
              </a:xfrm>
            </p:grpSpPr>
            <p:sp>
              <p:nvSpPr>
                <p:cNvPr id="31" name="Oval 30">
                  <a:extLst>
                    <a:ext uri="{FF2B5EF4-FFF2-40B4-BE49-F238E27FC236}">
                      <a16:creationId xmlns:a16="http://schemas.microsoft.com/office/drawing/2014/main" id="{672AA4AA-B7BD-3A4E-A1FB-38D2C2633F75}"/>
                    </a:ext>
                  </a:extLst>
                </p:cNvPr>
                <p:cNvSpPr/>
                <p:nvPr/>
              </p:nvSpPr>
              <p:spPr>
                <a:xfrm>
                  <a:off x="5203782" y="5169647"/>
                  <a:ext cx="318654" cy="332509"/>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rial" panose="020B0604020202020204" pitchFamily="34" charset="0"/>
                      <a:cs typeface="Arial" panose="020B0604020202020204" pitchFamily="34" charset="0"/>
                    </a:rPr>
                    <a:t>R</a:t>
                  </a:r>
                </a:p>
              </p:txBody>
            </p:sp>
            <p:sp>
              <p:nvSpPr>
                <p:cNvPr id="37" name="TextBox 36">
                  <a:extLst>
                    <a:ext uri="{FF2B5EF4-FFF2-40B4-BE49-F238E27FC236}">
                      <a16:creationId xmlns:a16="http://schemas.microsoft.com/office/drawing/2014/main" id="{A45535CD-8E64-0842-B568-A6F37CAA9314}"/>
                    </a:ext>
                  </a:extLst>
                </p:cNvPr>
                <p:cNvSpPr txBox="1"/>
                <p:nvPr/>
              </p:nvSpPr>
              <p:spPr>
                <a:xfrm>
                  <a:off x="4941987" y="5147244"/>
                  <a:ext cx="312906" cy="369332"/>
                </a:xfrm>
                <a:prstGeom prst="rect">
                  <a:avLst/>
                </a:prstGeom>
                <a:noFill/>
              </p:spPr>
              <p:txBody>
                <a:bodyPr wrap="none" rtlCol="0">
                  <a:spAutoFit/>
                </a:bodyPr>
                <a:lstStyle/>
                <a:p>
                  <a:r>
                    <a:rPr lang="en-US" dirty="0">
                      <a:solidFill>
                        <a:schemeClr val="accent5"/>
                      </a:solidFill>
                      <a:latin typeface="Arial" panose="020B0604020202020204" pitchFamily="34" charset="0"/>
                      <a:cs typeface="Arial" panose="020B0604020202020204" pitchFamily="34" charset="0"/>
                    </a:rPr>
                    <a:t>2</a:t>
                  </a:r>
                </a:p>
              </p:txBody>
            </p:sp>
            <p:cxnSp>
              <p:nvCxnSpPr>
                <p:cNvPr id="48" name="Straight Connector 47">
                  <a:extLst>
                    <a:ext uri="{FF2B5EF4-FFF2-40B4-BE49-F238E27FC236}">
                      <a16:creationId xmlns:a16="http://schemas.microsoft.com/office/drawing/2014/main" id="{C0BA2E99-AC99-E74E-AD6B-FA203D1318A4}"/>
                    </a:ext>
                  </a:extLst>
                </p:cNvPr>
                <p:cNvCxnSpPr>
                  <a:cxnSpLocks/>
                </p:cNvCxnSpPr>
                <p:nvPr/>
              </p:nvCxnSpPr>
              <p:spPr>
                <a:xfrm>
                  <a:off x="5497772" y="5480894"/>
                  <a:ext cx="89411"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2F4F3599-0F9C-6A4C-9C2C-EBFD9B07CD93}"/>
                    </a:ext>
                  </a:extLst>
                </p:cNvPr>
                <p:cNvCxnSpPr>
                  <a:cxnSpLocks/>
                </p:cNvCxnSpPr>
                <p:nvPr/>
              </p:nvCxnSpPr>
              <p:spPr>
                <a:xfrm flipH="1">
                  <a:off x="5126077" y="5480894"/>
                  <a:ext cx="146373"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61" name="Oval 60">
                <a:extLst>
                  <a:ext uri="{FF2B5EF4-FFF2-40B4-BE49-F238E27FC236}">
                    <a16:creationId xmlns:a16="http://schemas.microsoft.com/office/drawing/2014/main" id="{79FF1835-F4E9-B547-9980-63FBD65AAFCC}"/>
                  </a:ext>
                </a:extLst>
              </p:cNvPr>
              <p:cNvSpPr/>
              <p:nvPr/>
            </p:nvSpPr>
            <p:spPr>
              <a:xfrm>
                <a:off x="4039751" y="5080239"/>
                <a:ext cx="318654" cy="332509"/>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latin typeface="Arial" panose="020B0604020202020204" pitchFamily="34" charset="0"/>
                  <a:cs typeface="Arial" panose="020B0604020202020204" pitchFamily="34" charset="0"/>
                </a:endParaRPr>
              </a:p>
            </p:txBody>
          </p:sp>
          <p:cxnSp>
            <p:nvCxnSpPr>
              <p:cNvPr id="62" name="Straight Connector 61">
                <a:extLst>
                  <a:ext uri="{FF2B5EF4-FFF2-40B4-BE49-F238E27FC236}">
                    <a16:creationId xmlns:a16="http://schemas.microsoft.com/office/drawing/2014/main" id="{F7E734FE-AC14-6F40-8C0B-2D110720967F}"/>
                  </a:ext>
                </a:extLst>
              </p:cNvPr>
              <p:cNvCxnSpPr>
                <a:cxnSpLocks/>
                <a:stCxn id="61" idx="3"/>
              </p:cNvCxnSpPr>
              <p:nvPr/>
            </p:nvCxnSpPr>
            <p:spPr>
              <a:xfrm flipH="1">
                <a:off x="3489675" y="5364053"/>
                <a:ext cx="596742" cy="471853"/>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31350534-44B2-1349-8D8C-BA25D7F7495C}"/>
                  </a:ext>
                </a:extLst>
              </p:cNvPr>
              <p:cNvCxnSpPr>
                <a:cxnSpLocks/>
                <a:stCxn id="61" idx="5"/>
              </p:cNvCxnSpPr>
              <p:nvPr/>
            </p:nvCxnSpPr>
            <p:spPr>
              <a:xfrm>
                <a:off x="4311739" y="5364053"/>
                <a:ext cx="401919" cy="448507"/>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6E100199-50D7-824A-A28F-A145E6CD0ADE}"/>
                  </a:ext>
                </a:extLst>
              </p:cNvPr>
              <p:cNvSpPr txBox="1"/>
              <p:nvPr/>
            </p:nvSpPr>
            <p:spPr>
              <a:xfrm>
                <a:off x="3773511" y="5037480"/>
                <a:ext cx="312906" cy="369332"/>
              </a:xfrm>
              <a:prstGeom prst="rect">
                <a:avLst/>
              </a:prstGeom>
              <a:noFill/>
            </p:spPr>
            <p:txBody>
              <a:bodyPr wrap="none" rtlCol="0">
                <a:spAutoFit/>
              </a:bodyPr>
              <a:lstStyle/>
              <a:p>
                <a:r>
                  <a:rPr lang="en-US" dirty="0">
                    <a:solidFill>
                      <a:schemeClr val="accent5"/>
                    </a:solidFill>
                    <a:latin typeface="Arial" panose="020B0604020202020204" pitchFamily="34" charset="0"/>
                    <a:cs typeface="Arial" panose="020B0604020202020204" pitchFamily="34" charset="0"/>
                  </a:rPr>
                  <a:t>4</a:t>
                </a:r>
              </a:p>
            </p:txBody>
          </p:sp>
        </p:grpSp>
        <p:sp>
          <p:nvSpPr>
            <p:cNvPr id="65" name="Oval 64">
              <a:extLst>
                <a:ext uri="{FF2B5EF4-FFF2-40B4-BE49-F238E27FC236}">
                  <a16:creationId xmlns:a16="http://schemas.microsoft.com/office/drawing/2014/main" id="{1E36013D-95AA-B44E-AA04-620C112B243A}"/>
                </a:ext>
              </a:extLst>
            </p:cNvPr>
            <p:cNvSpPr/>
            <p:nvPr/>
          </p:nvSpPr>
          <p:spPr>
            <a:xfrm>
              <a:off x="5493200" y="3637750"/>
              <a:ext cx="318654" cy="332509"/>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latin typeface="Arial" panose="020B0604020202020204" pitchFamily="34" charset="0"/>
                <a:cs typeface="Arial" panose="020B0604020202020204" pitchFamily="34" charset="0"/>
              </a:endParaRPr>
            </a:p>
          </p:txBody>
        </p:sp>
        <p:cxnSp>
          <p:nvCxnSpPr>
            <p:cNvPr id="66" name="Straight Connector 65">
              <a:extLst>
                <a:ext uri="{FF2B5EF4-FFF2-40B4-BE49-F238E27FC236}">
                  <a16:creationId xmlns:a16="http://schemas.microsoft.com/office/drawing/2014/main" id="{CBF112ED-3FE2-4442-8CDC-ABC6235EC7D1}"/>
                </a:ext>
              </a:extLst>
            </p:cNvPr>
            <p:cNvCxnSpPr>
              <a:cxnSpLocks/>
              <a:stCxn id="65" idx="3"/>
              <a:endCxn id="56" idx="7"/>
            </p:cNvCxnSpPr>
            <p:nvPr/>
          </p:nvCxnSpPr>
          <p:spPr>
            <a:xfrm flipH="1">
              <a:off x="4398727" y="3921564"/>
              <a:ext cx="1141139" cy="624992"/>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E994BB58-83BC-6546-BEAA-7BCEAA86940F}"/>
                </a:ext>
              </a:extLst>
            </p:cNvPr>
            <p:cNvCxnSpPr>
              <a:cxnSpLocks/>
              <a:stCxn id="65" idx="5"/>
              <a:endCxn id="61" idx="1"/>
            </p:cNvCxnSpPr>
            <p:nvPr/>
          </p:nvCxnSpPr>
          <p:spPr>
            <a:xfrm>
              <a:off x="5765188" y="3921564"/>
              <a:ext cx="1496036" cy="61251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A7E0A221-0473-C642-A6D3-8ED73C815A34}"/>
                </a:ext>
              </a:extLst>
            </p:cNvPr>
            <p:cNvSpPr txBox="1"/>
            <p:nvPr/>
          </p:nvSpPr>
          <p:spPr>
            <a:xfrm>
              <a:off x="5226960" y="3619338"/>
              <a:ext cx="312906" cy="369332"/>
            </a:xfrm>
            <a:prstGeom prst="rect">
              <a:avLst/>
            </a:prstGeom>
            <a:noFill/>
          </p:spPr>
          <p:txBody>
            <a:bodyPr wrap="square" rtlCol="0">
              <a:spAutoFit/>
            </a:bodyPr>
            <a:lstStyle/>
            <a:p>
              <a:r>
                <a:rPr lang="en-US" dirty="0">
                  <a:solidFill>
                    <a:schemeClr val="accent5"/>
                  </a:solidFill>
                  <a:latin typeface="Arial" panose="020B0604020202020204" pitchFamily="34" charset="0"/>
                  <a:cs typeface="Arial" panose="020B0604020202020204" pitchFamily="34" charset="0"/>
                </a:rPr>
                <a:t>7</a:t>
              </a:r>
            </a:p>
          </p:txBody>
        </p:sp>
        <p:sp>
          <p:nvSpPr>
            <p:cNvPr id="73" name="Oval 72">
              <a:extLst>
                <a:ext uri="{FF2B5EF4-FFF2-40B4-BE49-F238E27FC236}">
                  <a16:creationId xmlns:a16="http://schemas.microsoft.com/office/drawing/2014/main" id="{EC1C77E7-F0CD-934B-BA4C-103B7ED3BCEA}"/>
                </a:ext>
              </a:extLst>
            </p:cNvPr>
            <p:cNvSpPr/>
            <p:nvPr/>
          </p:nvSpPr>
          <p:spPr>
            <a:xfrm>
              <a:off x="3410833" y="2989526"/>
              <a:ext cx="318654" cy="332509"/>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latin typeface="Arial" panose="020B0604020202020204" pitchFamily="34" charset="0"/>
                <a:cs typeface="Arial" panose="020B0604020202020204" pitchFamily="34" charset="0"/>
              </a:endParaRPr>
            </a:p>
          </p:txBody>
        </p:sp>
        <p:cxnSp>
          <p:nvCxnSpPr>
            <p:cNvPr id="74" name="Straight Connector 73">
              <a:extLst>
                <a:ext uri="{FF2B5EF4-FFF2-40B4-BE49-F238E27FC236}">
                  <a16:creationId xmlns:a16="http://schemas.microsoft.com/office/drawing/2014/main" id="{16DC7814-61C8-BC4F-8A81-5FA3A9F6168B}"/>
                </a:ext>
              </a:extLst>
            </p:cNvPr>
            <p:cNvCxnSpPr>
              <a:cxnSpLocks/>
              <a:stCxn id="73" idx="3"/>
              <a:endCxn id="8" idx="7"/>
            </p:cNvCxnSpPr>
            <p:nvPr/>
          </p:nvCxnSpPr>
          <p:spPr>
            <a:xfrm flipH="1">
              <a:off x="1723586" y="3273340"/>
              <a:ext cx="1733913" cy="48501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0AEA63B9-E978-AD4A-8442-BF689AAA6CDE}"/>
                </a:ext>
              </a:extLst>
            </p:cNvPr>
            <p:cNvCxnSpPr>
              <a:cxnSpLocks/>
              <a:stCxn id="73" idx="5"/>
              <a:endCxn id="65" idx="0"/>
            </p:cNvCxnSpPr>
            <p:nvPr/>
          </p:nvCxnSpPr>
          <p:spPr>
            <a:xfrm>
              <a:off x="3682821" y="3273340"/>
              <a:ext cx="1969706" cy="36441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6" name="TextBox 75">
              <a:extLst>
                <a:ext uri="{FF2B5EF4-FFF2-40B4-BE49-F238E27FC236}">
                  <a16:creationId xmlns:a16="http://schemas.microsoft.com/office/drawing/2014/main" id="{C09F56C2-BCB7-A74B-A09E-928BCEB51709}"/>
                </a:ext>
              </a:extLst>
            </p:cNvPr>
            <p:cNvSpPr txBox="1"/>
            <p:nvPr/>
          </p:nvSpPr>
          <p:spPr>
            <a:xfrm>
              <a:off x="2968284" y="2916893"/>
              <a:ext cx="517351" cy="369332"/>
            </a:xfrm>
            <a:prstGeom prst="rect">
              <a:avLst/>
            </a:prstGeom>
            <a:noFill/>
          </p:spPr>
          <p:txBody>
            <a:bodyPr wrap="square" rtlCol="0">
              <a:spAutoFit/>
            </a:bodyPr>
            <a:lstStyle/>
            <a:p>
              <a:r>
                <a:rPr lang="en-US" dirty="0">
                  <a:solidFill>
                    <a:schemeClr val="accent5"/>
                  </a:solidFill>
                  <a:latin typeface="Arial" panose="020B0604020202020204" pitchFamily="34" charset="0"/>
                  <a:cs typeface="Arial" panose="020B0604020202020204" pitchFamily="34" charset="0"/>
                </a:rPr>
                <a:t>12</a:t>
              </a:r>
            </a:p>
          </p:txBody>
        </p:sp>
      </p:grpSp>
      <p:graphicFrame>
        <p:nvGraphicFramePr>
          <p:cNvPr id="5" name="Table 4">
            <a:extLst>
              <a:ext uri="{FF2B5EF4-FFF2-40B4-BE49-F238E27FC236}">
                <a16:creationId xmlns:a16="http://schemas.microsoft.com/office/drawing/2014/main" id="{0B1EFB9E-5DC7-0748-A23E-E8900A38D3EA}"/>
              </a:ext>
            </a:extLst>
          </p:cNvPr>
          <p:cNvGraphicFramePr>
            <a:graphicFrameLocks noGrp="1"/>
          </p:cNvGraphicFramePr>
          <p:nvPr/>
        </p:nvGraphicFramePr>
        <p:xfrm>
          <a:off x="8232419" y="1480000"/>
          <a:ext cx="3761874" cy="2333023"/>
        </p:xfrm>
        <a:graphic>
          <a:graphicData uri="http://schemas.openxmlformats.org/drawingml/2006/table">
            <a:tbl>
              <a:tblPr firstRow="1" bandRow="1">
                <a:tableStyleId>{5C22544A-7EE6-4342-B048-85BDC9FD1C3A}</a:tableStyleId>
              </a:tblPr>
              <a:tblGrid>
                <a:gridCol w="781539">
                  <a:extLst>
                    <a:ext uri="{9D8B030D-6E8A-4147-A177-3AD203B41FA5}">
                      <a16:colId xmlns:a16="http://schemas.microsoft.com/office/drawing/2014/main" val="3356975359"/>
                    </a:ext>
                  </a:extLst>
                </a:gridCol>
                <a:gridCol w="1041009">
                  <a:extLst>
                    <a:ext uri="{9D8B030D-6E8A-4147-A177-3AD203B41FA5}">
                      <a16:colId xmlns:a16="http://schemas.microsoft.com/office/drawing/2014/main" val="3601674449"/>
                    </a:ext>
                  </a:extLst>
                </a:gridCol>
                <a:gridCol w="1939326">
                  <a:extLst>
                    <a:ext uri="{9D8B030D-6E8A-4147-A177-3AD203B41FA5}">
                      <a16:colId xmlns:a16="http://schemas.microsoft.com/office/drawing/2014/main" val="2286965801"/>
                    </a:ext>
                  </a:extLst>
                </a:gridCol>
              </a:tblGrid>
              <a:tr h="333289">
                <a:tc>
                  <a:txBody>
                    <a:bodyPr/>
                    <a:lstStyle/>
                    <a:p>
                      <a:pPr algn="ctr"/>
                      <a:r>
                        <a:rPr lang="en-US" sz="1400" b="0" dirty="0">
                          <a:solidFill>
                            <a:schemeClr val="tx1"/>
                          </a:solidFill>
                          <a:latin typeface="Arial" panose="020B0604020202020204" pitchFamily="34" charset="0"/>
                          <a:cs typeface="Arial" panose="020B0604020202020204" pitchFamily="34" charset="0"/>
                        </a:rPr>
                        <a:t>char</a:t>
                      </a:r>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0" dirty="0">
                          <a:solidFill>
                            <a:schemeClr val="tx1"/>
                          </a:solidFill>
                          <a:latin typeface="Arial" panose="020B0604020202020204" pitchFamily="34" charset="0"/>
                          <a:cs typeface="Arial" panose="020B0604020202020204" pitchFamily="34" charset="0"/>
                        </a:rPr>
                        <a:t>frequency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0" dirty="0">
                          <a:solidFill>
                            <a:schemeClr val="tx1"/>
                          </a:solidFill>
                          <a:latin typeface="Arial" panose="020B0604020202020204" pitchFamily="34" charset="0"/>
                          <a:cs typeface="Arial" panose="020B0604020202020204" pitchFamily="34" charset="0"/>
                        </a:rPr>
                        <a:t>Huffman encoding</a:t>
                      </a:r>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07920617"/>
                  </a:ext>
                </a:extLst>
              </a:tr>
              <a:tr h="333289">
                <a:tc>
                  <a:txBody>
                    <a:bodyPr/>
                    <a:lstStyle/>
                    <a:p>
                      <a:pPr algn="ctr"/>
                      <a:r>
                        <a:rPr lang="en-US" sz="1400" b="0" dirty="0">
                          <a:solidFill>
                            <a:schemeClr val="tx1"/>
                          </a:solidFill>
                          <a:latin typeface="Arial" panose="020B0604020202020204" pitchFamily="34" charset="0"/>
                          <a:cs typeface="Arial" panose="020B0604020202020204" pitchFamily="34" charset="0"/>
                        </a:rPr>
                        <a:t>A</a:t>
                      </a: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sz="1400" b="0" dirty="0">
                          <a:solidFill>
                            <a:schemeClr val="tx1"/>
                          </a:solidFill>
                          <a:latin typeface="Arial" panose="020B0604020202020204" pitchFamily="34" charset="0"/>
                          <a:cs typeface="Arial" panose="020B0604020202020204" pitchFamily="34"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endParaRPr lang="en-US" sz="1400" b="0" dirty="0">
                        <a:solidFill>
                          <a:schemeClr val="tx1"/>
                        </a:solidFill>
                        <a:latin typeface="Courier" pitchFamily="2"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698704590"/>
                  </a:ext>
                </a:extLst>
              </a:tr>
              <a:tr h="333289">
                <a:tc>
                  <a:txBody>
                    <a:bodyPr/>
                    <a:lstStyle/>
                    <a:p>
                      <a:pPr algn="ctr"/>
                      <a:r>
                        <a:rPr lang="en-US" sz="1400" b="0" dirty="0">
                          <a:solidFill>
                            <a:schemeClr val="tx1"/>
                          </a:solidFill>
                          <a:latin typeface="Arial" panose="020B0604020202020204" pitchFamily="34" charset="0"/>
                          <a:cs typeface="Arial" panose="020B0604020202020204" pitchFamily="34" charset="0"/>
                        </a:rPr>
                        <a:t>B</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400" b="0" dirty="0">
                          <a:solidFill>
                            <a:schemeClr val="tx1"/>
                          </a:solidFill>
                          <a:latin typeface="Arial" panose="020B0604020202020204" pitchFamily="34" charset="0"/>
                          <a:cs typeface="Arial" panose="020B0604020202020204" pitchFamily="34"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endParaRPr lang="en-US" sz="1400" b="0" dirty="0">
                        <a:solidFill>
                          <a:schemeClr val="tx1"/>
                        </a:solidFill>
                        <a:latin typeface="Courier" pitchFamily="2"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97155727"/>
                  </a:ext>
                </a:extLst>
              </a:tr>
              <a:tr h="333289">
                <a:tc>
                  <a:txBody>
                    <a:bodyPr/>
                    <a:lstStyle/>
                    <a:p>
                      <a:pPr algn="ctr"/>
                      <a:r>
                        <a:rPr lang="en-US" sz="1400" b="0" dirty="0">
                          <a:solidFill>
                            <a:schemeClr val="tx1"/>
                          </a:solidFill>
                          <a:latin typeface="Arial" panose="020B0604020202020204" pitchFamily="34" charset="0"/>
                          <a:cs typeface="Arial" panose="020B0604020202020204" pitchFamily="34" charset="0"/>
                        </a:rPr>
                        <a:t>C</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400" b="0" dirty="0">
                          <a:solidFill>
                            <a:schemeClr val="tx1"/>
                          </a:solidFill>
                          <a:latin typeface="Arial" panose="020B0604020202020204" pitchFamily="34" charset="0"/>
                          <a:cs typeface="Arial" panose="020B0604020202020204" pitchFamily="34"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endParaRPr lang="en-US" sz="1400" b="0" dirty="0">
                        <a:solidFill>
                          <a:schemeClr val="tx1"/>
                        </a:solidFill>
                        <a:latin typeface="Courier" pitchFamily="2"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48973282"/>
                  </a:ext>
                </a:extLst>
              </a:tr>
              <a:tr h="333289">
                <a:tc>
                  <a:txBody>
                    <a:bodyPr/>
                    <a:lstStyle/>
                    <a:p>
                      <a:pPr algn="ctr"/>
                      <a:r>
                        <a:rPr lang="en-US" sz="1400" b="0" dirty="0">
                          <a:solidFill>
                            <a:schemeClr val="tx1"/>
                          </a:solidFill>
                          <a:latin typeface="Arial" panose="020B0604020202020204" pitchFamily="34" charset="0"/>
                          <a:cs typeface="Arial" panose="020B0604020202020204" pitchFamily="34" charset="0"/>
                        </a:rPr>
                        <a:t>D</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400" b="0" dirty="0">
                          <a:solidFill>
                            <a:schemeClr val="tx1"/>
                          </a:solidFill>
                          <a:latin typeface="Arial" panose="020B0604020202020204" pitchFamily="34" charset="0"/>
                          <a:cs typeface="Arial" panose="020B0604020202020204" pitchFamily="34"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endParaRPr lang="en-US" sz="1400" b="0" dirty="0">
                        <a:solidFill>
                          <a:schemeClr val="tx1"/>
                        </a:solidFill>
                        <a:latin typeface="Courier" pitchFamily="2"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931113414"/>
                  </a:ext>
                </a:extLst>
              </a:tr>
              <a:tr h="333289">
                <a:tc>
                  <a:txBody>
                    <a:bodyPr/>
                    <a:lstStyle/>
                    <a:p>
                      <a:pPr algn="ctr"/>
                      <a:r>
                        <a:rPr lang="en-US" sz="1400" b="0" dirty="0">
                          <a:solidFill>
                            <a:schemeClr val="tx1"/>
                          </a:solidFill>
                          <a:latin typeface="Arial" panose="020B0604020202020204" pitchFamily="34" charset="0"/>
                          <a:cs typeface="Arial" panose="020B0604020202020204" pitchFamily="34" charset="0"/>
                        </a:rPr>
                        <a:t>R</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400" b="0" dirty="0">
                          <a:solidFill>
                            <a:schemeClr val="tx1"/>
                          </a:solidFill>
                          <a:latin typeface="Arial" panose="020B0604020202020204" pitchFamily="34" charset="0"/>
                          <a:cs typeface="Arial" panose="020B0604020202020204" pitchFamily="34"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endParaRPr lang="en-US" sz="1400" b="0" dirty="0">
                        <a:solidFill>
                          <a:schemeClr val="tx1"/>
                        </a:solidFill>
                        <a:latin typeface="Courier" pitchFamily="2"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620110253"/>
                  </a:ext>
                </a:extLst>
              </a:tr>
              <a:tr h="333289">
                <a:tc>
                  <a:txBody>
                    <a:bodyPr/>
                    <a:lstStyle/>
                    <a:p>
                      <a:pPr algn="ctr"/>
                      <a:r>
                        <a:rPr lang="en-US" sz="1400" b="0" dirty="0">
                          <a:solidFill>
                            <a:schemeClr val="tx1"/>
                          </a:solidFill>
                          <a:latin typeface="Arial" panose="020B0604020202020204" pitchFamily="34" charset="0"/>
                          <a:cs typeface="Arial" panose="020B0604020202020204" pitchFamily="34" charset="0"/>
                        </a:rPr>
                        <a:t>!</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400" b="0" dirty="0">
                          <a:solidFill>
                            <a:schemeClr val="tx1"/>
                          </a:solidFill>
                          <a:latin typeface="Arial" panose="020B0604020202020204" pitchFamily="34" charset="0"/>
                          <a:cs typeface="Arial" panose="020B0604020202020204" pitchFamily="34"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endParaRPr lang="en-US" sz="1400" b="0" dirty="0">
                        <a:solidFill>
                          <a:schemeClr val="tx1"/>
                        </a:solidFill>
                        <a:latin typeface="Courier" pitchFamily="2"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208363806"/>
                  </a:ext>
                </a:extLst>
              </a:tr>
            </a:tbl>
          </a:graphicData>
        </a:graphic>
      </p:graphicFrame>
    </p:spTree>
    <p:extLst>
      <p:ext uri="{BB962C8B-B14F-4D97-AF65-F5344CB8AC3E}">
        <p14:creationId xmlns:p14="http://schemas.microsoft.com/office/powerpoint/2010/main" val="5256394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61A64-88E3-514F-96E5-EB5877D9729F}"/>
              </a:ext>
            </a:extLst>
          </p:cNvPr>
          <p:cNvSpPr>
            <a:spLocks noGrp="1"/>
          </p:cNvSpPr>
          <p:nvPr>
            <p:ph type="title"/>
          </p:nvPr>
        </p:nvSpPr>
        <p:spPr/>
        <p:txBody>
          <a:bodyPr/>
          <a:lstStyle/>
          <a:p>
            <a:r>
              <a:rPr lang="en-US" dirty="0"/>
              <a:t>Huffman compression</a:t>
            </a:r>
          </a:p>
        </p:txBody>
      </p:sp>
      <p:sp>
        <p:nvSpPr>
          <p:cNvPr id="3" name="Content Placeholder 2">
            <a:extLst>
              <a:ext uri="{FF2B5EF4-FFF2-40B4-BE49-F238E27FC236}">
                <a16:creationId xmlns:a16="http://schemas.microsoft.com/office/drawing/2014/main" id="{B9A27260-ED92-1742-90BD-44C0FED54F03}"/>
              </a:ext>
            </a:extLst>
          </p:cNvPr>
          <p:cNvSpPr>
            <a:spLocks noGrp="1"/>
          </p:cNvSpPr>
          <p:nvPr>
            <p:ph idx="1"/>
          </p:nvPr>
        </p:nvSpPr>
        <p:spPr/>
        <p:txBody>
          <a:bodyPr/>
          <a:lstStyle/>
          <a:p>
            <a:r>
              <a:rPr lang="en-US" dirty="0"/>
              <a:t>Demo</a:t>
            </a:r>
          </a:p>
        </p:txBody>
      </p:sp>
      <p:sp>
        <p:nvSpPr>
          <p:cNvPr id="4" name="TextBox 3">
            <a:extLst>
              <a:ext uri="{FF2B5EF4-FFF2-40B4-BE49-F238E27FC236}">
                <a16:creationId xmlns:a16="http://schemas.microsoft.com/office/drawing/2014/main" id="{EE7569D7-7FD6-584A-AE59-2A307297CAC8}"/>
              </a:ext>
            </a:extLst>
          </p:cNvPr>
          <p:cNvSpPr txBox="1"/>
          <p:nvPr/>
        </p:nvSpPr>
        <p:spPr>
          <a:xfrm>
            <a:off x="514866" y="2461846"/>
            <a:ext cx="5279009" cy="369332"/>
          </a:xfrm>
          <a:prstGeom prst="rect">
            <a:avLst/>
          </a:prstGeom>
          <a:noFill/>
        </p:spPr>
        <p:txBody>
          <a:bodyPr wrap="none" rtlCol="0">
            <a:spAutoFit/>
          </a:bodyPr>
          <a:lstStyle/>
          <a:p>
            <a:r>
              <a:rPr lang="en-US" dirty="0">
                <a:solidFill>
                  <a:schemeClr val="accent5"/>
                </a:solidFill>
                <a:latin typeface="Arial" panose="020B0604020202020204" pitchFamily="34" charset="0"/>
                <a:cs typeface="Arial" panose="020B0604020202020204" pitchFamily="34" charset="0"/>
              </a:rPr>
              <a:t>Input message </a:t>
            </a:r>
            <a:r>
              <a:rPr lang="en-US" i="1" dirty="0">
                <a:solidFill>
                  <a:schemeClr val="accent5"/>
                </a:solidFill>
                <a:latin typeface="Arial" panose="020B0604020202020204" pitchFamily="34" charset="0"/>
                <a:cs typeface="Arial" panose="020B0604020202020204" pitchFamily="34" charset="0"/>
              </a:rPr>
              <a:t>B</a:t>
            </a:r>
            <a:r>
              <a:rPr lang="en-US" dirty="0">
                <a:solidFill>
                  <a:schemeClr val="accent5"/>
                </a:solidFill>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 </a:t>
            </a:r>
            <a:r>
              <a:rPr lang="en-US" dirty="0">
                <a:latin typeface="Courier" pitchFamily="2" charset="0"/>
                <a:cs typeface="Arial" panose="020B0604020202020204" pitchFamily="34" charset="0"/>
              </a:rPr>
              <a:t>A B R A C A D A B R A !</a:t>
            </a:r>
          </a:p>
        </p:txBody>
      </p:sp>
      <p:grpSp>
        <p:nvGrpSpPr>
          <p:cNvPr id="54" name="Group 53" descr="final encoding generation via trie traversal">
            <a:extLst>
              <a:ext uri="{FF2B5EF4-FFF2-40B4-BE49-F238E27FC236}">
                <a16:creationId xmlns:a16="http://schemas.microsoft.com/office/drawing/2014/main" id="{14ABCFDF-A0FF-DF4D-B26F-69333F5F4154}"/>
              </a:ext>
            </a:extLst>
          </p:cNvPr>
          <p:cNvGrpSpPr/>
          <p:nvPr/>
        </p:nvGrpSpPr>
        <p:grpSpPr>
          <a:xfrm>
            <a:off x="1963362" y="3625948"/>
            <a:ext cx="3623821" cy="2787325"/>
            <a:chOff x="1963362" y="3625948"/>
            <a:chExt cx="3623821" cy="2787325"/>
          </a:xfrm>
        </p:grpSpPr>
        <p:sp>
          <p:nvSpPr>
            <p:cNvPr id="7" name="Oval 6">
              <a:extLst>
                <a:ext uri="{FF2B5EF4-FFF2-40B4-BE49-F238E27FC236}">
                  <a16:creationId xmlns:a16="http://schemas.microsoft.com/office/drawing/2014/main" id="{732229D8-454F-BA42-8794-7F1472C4D23B}"/>
                </a:ext>
              </a:extLst>
            </p:cNvPr>
            <p:cNvSpPr/>
            <p:nvPr/>
          </p:nvSpPr>
          <p:spPr>
            <a:xfrm>
              <a:off x="2971233" y="3625948"/>
              <a:ext cx="318654" cy="332509"/>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latin typeface="Arial" panose="020B0604020202020204" pitchFamily="34" charset="0"/>
                <a:cs typeface="Arial" panose="020B0604020202020204" pitchFamily="34" charset="0"/>
              </a:endParaRPr>
            </a:p>
          </p:txBody>
        </p:sp>
        <p:sp>
          <p:nvSpPr>
            <p:cNvPr id="8" name="Oval 7">
              <a:extLst>
                <a:ext uri="{FF2B5EF4-FFF2-40B4-BE49-F238E27FC236}">
                  <a16:creationId xmlns:a16="http://schemas.microsoft.com/office/drawing/2014/main" id="{06A05484-6E5A-FF49-A52B-C4D42E7330A8}"/>
                </a:ext>
              </a:extLst>
            </p:cNvPr>
            <p:cNvSpPr/>
            <p:nvPr/>
          </p:nvSpPr>
          <p:spPr>
            <a:xfrm>
              <a:off x="2063069" y="4099720"/>
              <a:ext cx="318654" cy="332509"/>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rial" panose="020B0604020202020204" pitchFamily="34" charset="0"/>
                  <a:cs typeface="Arial" panose="020B0604020202020204" pitchFamily="34" charset="0"/>
                </a:rPr>
                <a:t>A</a:t>
              </a:r>
            </a:p>
          </p:txBody>
        </p:sp>
        <p:cxnSp>
          <p:nvCxnSpPr>
            <p:cNvPr id="9" name="Straight Connector 8">
              <a:extLst>
                <a:ext uri="{FF2B5EF4-FFF2-40B4-BE49-F238E27FC236}">
                  <a16:creationId xmlns:a16="http://schemas.microsoft.com/office/drawing/2014/main" id="{D9F5F5E1-0924-AA44-9DEE-7BB059939788}"/>
                </a:ext>
              </a:extLst>
            </p:cNvPr>
            <p:cNvCxnSpPr>
              <a:stCxn id="7" idx="2"/>
              <a:endCxn id="8" idx="7"/>
            </p:cNvCxnSpPr>
            <p:nvPr/>
          </p:nvCxnSpPr>
          <p:spPr>
            <a:xfrm flipH="1">
              <a:off x="2335057" y="3792203"/>
              <a:ext cx="636176" cy="356212"/>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AF4951A-2307-B544-B89B-A56A32FEB6AE}"/>
                </a:ext>
              </a:extLst>
            </p:cNvPr>
            <p:cNvCxnSpPr>
              <a:cxnSpLocks/>
              <a:stCxn id="7" idx="6"/>
              <a:endCxn id="15" idx="1"/>
            </p:cNvCxnSpPr>
            <p:nvPr/>
          </p:nvCxnSpPr>
          <p:spPr>
            <a:xfrm>
              <a:off x="3289887" y="3792203"/>
              <a:ext cx="631488" cy="451228"/>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F416B39-AF2E-4047-9074-481B3106F0B2}"/>
                </a:ext>
              </a:extLst>
            </p:cNvPr>
            <p:cNvCxnSpPr>
              <a:cxnSpLocks/>
              <a:stCxn id="8" idx="5"/>
            </p:cNvCxnSpPr>
            <p:nvPr/>
          </p:nvCxnSpPr>
          <p:spPr>
            <a:xfrm>
              <a:off x="2335057" y="4383534"/>
              <a:ext cx="89411"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7F635E89-5D4D-9545-9912-172119E9824E}"/>
                </a:ext>
              </a:extLst>
            </p:cNvPr>
            <p:cNvSpPr txBox="1"/>
            <p:nvPr/>
          </p:nvSpPr>
          <p:spPr>
            <a:xfrm>
              <a:off x="2471262" y="3675739"/>
              <a:ext cx="312906" cy="369332"/>
            </a:xfrm>
            <a:prstGeom prst="rect">
              <a:avLst/>
            </a:prstGeom>
            <a:noFill/>
          </p:spPr>
          <p:txBody>
            <a:bodyPr wrap="none" rtlCol="0">
              <a:spAutoFit/>
            </a:bodyPr>
            <a:lstStyle/>
            <a:p>
              <a:r>
                <a:rPr lang="en-US" dirty="0">
                  <a:solidFill>
                    <a:srgbClr val="C00000"/>
                  </a:solidFill>
                  <a:latin typeface="Arial" panose="020B0604020202020204" pitchFamily="34" charset="0"/>
                  <a:cs typeface="Arial" panose="020B0604020202020204" pitchFamily="34" charset="0"/>
                </a:rPr>
                <a:t>0</a:t>
              </a:r>
            </a:p>
          </p:txBody>
        </p:sp>
        <p:cxnSp>
          <p:nvCxnSpPr>
            <p:cNvPr id="13" name="Straight Connector 12">
              <a:extLst>
                <a:ext uri="{FF2B5EF4-FFF2-40B4-BE49-F238E27FC236}">
                  <a16:creationId xmlns:a16="http://schemas.microsoft.com/office/drawing/2014/main" id="{39FE95BA-59D7-454A-AA88-33EC87FE60D8}"/>
                </a:ext>
              </a:extLst>
            </p:cNvPr>
            <p:cNvCxnSpPr>
              <a:cxnSpLocks/>
              <a:stCxn id="8" idx="3"/>
            </p:cNvCxnSpPr>
            <p:nvPr/>
          </p:nvCxnSpPr>
          <p:spPr>
            <a:xfrm flipH="1">
              <a:off x="1963362" y="4383534"/>
              <a:ext cx="146373"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217AFC0-DD78-7C4D-8298-D85D5B5B2003}"/>
                </a:ext>
              </a:extLst>
            </p:cNvPr>
            <p:cNvSpPr txBox="1"/>
            <p:nvPr/>
          </p:nvSpPr>
          <p:spPr>
            <a:xfrm>
              <a:off x="3449178" y="3715594"/>
              <a:ext cx="312906" cy="369332"/>
            </a:xfrm>
            <a:prstGeom prst="rect">
              <a:avLst/>
            </a:prstGeom>
            <a:noFill/>
          </p:spPr>
          <p:txBody>
            <a:bodyPr wrap="none" rtlCol="0">
              <a:spAutoFit/>
            </a:bodyPr>
            <a:lstStyle/>
            <a:p>
              <a:r>
                <a:rPr lang="en-US" dirty="0">
                  <a:solidFill>
                    <a:srgbClr val="C00000"/>
                  </a:solidFill>
                  <a:latin typeface="Arial" panose="020B0604020202020204" pitchFamily="34" charset="0"/>
                  <a:cs typeface="Arial" panose="020B0604020202020204" pitchFamily="34" charset="0"/>
                </a:rPr>
                <a:t>1</a:t>
              </a:r>
            </a:p>
          </p:txBody>
        </p:sp>
        <p:sp>
          <p:nvSpPr>
            <p:cNvPr id="15" name="Oval 14">
              <a:extLst>
                <a:ext uri="{FF2B5EF4-FFF2-40B4-BE49-F238E27FC236}">
                  <a16:creationId xmlns:a16="http://schemas.microsoft.com/office/drawing/2014/main" id="{83884258-A2B9-C846-9BAA-0AEDBE64D504}"/>
                </a:ext>
              </a:extLst>
            </p:cNvPr>
            <p:cNvSpPr/>
            <p:nvPr/>
          </p:nvSpPr>
          <p:spPr>
            <a:xfrm>
              <a:off x="3874709" y="4194736"/>
              <a:ext cx="318654" cy="332509"/>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latin typeface="Arial" panose="020B0604020202020204" pitchFamily="34" charset="0"/>
                <a:cs typeface="Arial" panose="020B0604020202020204" pitchFamily="34" charset="0"/>
              </a:endParaRPr>
            </a:p>
          </p:txBody>
        </p:sp>
        <p:sp>
          <p:nvSpPr>
            <p:cNvPr id="16" name="Oval 15">
              <a:extLst>
                <a:ext uri="{FF2B5EF4-FFF2-40B4-BE49-F238E27FC236}">
                  <a16:creationId xmlns:a16="http://schemas.microsoft.com/office/drawing/2014/main" id="{4AE2FC13-A8E5-DC4F-95F6-9C797F16150D}"/>
                </a:ext>
              </a:extLst>
            </p:cNvPr>
            <p:cNvSpPr/>
            <p:nvPr/>
          </p:nvSpPr>
          <p:spPr>
            <a:xfrm>
              <a:off x="3052373" y="4599008"/>
              <a:ext cx="318654" cy="332509"/>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latin typeface="Arial" panose="020B0604020202020204" pitchFamily="34" charset="0"/>
                <a:cs typeface="Arial" panose="020B0604020202020204" pitchFamily="34" charset="0"/>
              </a:endParaRPr>
            </a:p>
          </p:txBody>
        </p:sp>
        <p:cxnSp>
          <p:nvCxnSpPr>
            <p:cNvPr id="17" name="Straight Connector 16">
              <a:extLst>
                <a:ext uri="{FF2B5EF4-FFF2-40B4-BE49-F238E27FC236}">
                  <a16:creationId xmlns:a16="http://schemas.microsoft.com/office/drawing/2014/main" id="{67263F43-DD9F-524F-B653-3D8EEBBE3B23}"/>
                </a:ext>
              </a:extLst>
            </p:cNvPr>
            <p:cNvCxnSpPr>
              <a:stCxn id="15" idx="2"/>
              <a:endCxn id="16" idx="7"/>
            </p:cNvCxnSpPr>
            <p:nvPr/>
          </p:nvCxnSpPr>
          <p:spPr>
            <a:xfrm flipH="1">
              <a:off x="3324361" y="4360991"/>
              <a:ext cx="550348" cy="286712"/>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254C076-B810-4348-B9EC-5163BD034004}"/>
                </a:ext>
              </a:extLst>
            </p:cNvPr>
            <p:cNvCxnSpPr>
              <a:cxnSpLocks/>
              <a:stCxn id="15" idx="6"/>
              <a:endCxn id="29" idx="1"/>
            </p:cNvCxnSpPr>
            <p:nvPr/>
          </p:nvCxnSpPr>
          <p:spPr>
            <a:xfrm>
              <a:off x="4193363" y="4360991"/>
              <a:ext cx="563020" cy="269088"/>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8D7EED78-2EAC-F34C-B630-3E54A44DDA37}"/>
                </a:ext>
              </a:extLst>
            </p:cNvPr>
            <p:cNvSpPr txBox="1"/>
            <p:nvPr/>
          </p:nvSpPr>
          <p:spPr>
            <a:xfrm>
              <a:off x="3376058" y="4229676"/>
              <a:ext cx="312906" cy="369332"/>
            </a:xfrm>
            <a:prstGeom prst="rect">
              <a:avLst/>
            </a:prstGeom>
            <a:noFill/>
          </p:spPr>
          <p:txBody>
            <a:bodyPr wrap="none" rtlCol="0">
              <a:spAutoFit/>
            </a:bodyPr>
            <a:lstStyle/>
            <a:p>
              <a:r>
                <a:rPr lang="en-US" dirty="0">
                  <a:solidFill>
                    <a:srgbClr val="C00000"/>
                  </a:solidFill>
                  <a:latin typeface="Arial" panose="020B0604020202020204" pitchFamily="34" charset="0"/>
                  <a:cs typeface="Arial" panose="020B0604020202020204" pitchFamily="34" charset="0"/>
                </a:rPr>
                <a:t>0</a:t>
              </a:r>
            </a:p>
          </p:txBody>
        </p:sp>
        <p:sp>
          <p:nvSpPr>
            <p:cNvPr id="20" name="TextBox 19">
              <a:extLst>
                <a:ext uri="{FF2B5EF4-FFF2-40B4-BE49-F238E27FC236}">
                  <a16:creationId xmlns:a16="http://schemas.microsoft.com/office/drawing/2014/main" id="{727DCE5D-8EC6-864B-896F-70EC0B08CD94}"/>
                </a:ext>
              </a:extLst>
            </p:cNvPr>
            <p:cNvSpPr txBox="1"/>
            <p:nvPr/>
          </p:nvSpPr>
          <p:spPr>
            <a:xfrm>
              <a:off x="4318547" y="4229676"/>
              <a:ext cx="312906" cy="369332"/>
            </a:xfrm>
            <a:prstGeom prst="rect">
              <a:avLst/>
            </a:prstGeom>
            <a:noFill/>
          </p:spPr>
          <p:txBody>
            <a:bodyPr wrap="none" rtlCol="0">
              <a:spAutoFit/>
            </a:bodyPr>
            <a:lstStyle/>
            <a:p>
              <a:r>
                <a:rPr lang="en-US" dirty="0">
                  <a:solidFill>
                    <a:srgbClr val="C00000"/>
                  </a:solidFill>
                  <a:latin typeface="Arial" panose="020B0604020202020204" pitchFamily="34" charset="0"/>
                  <a:cs typeface="Arial" panose="020B0604020202020204" pitchFamily="34" charset="0"/>
                </a:rPr>
                <a:t>1</a:t>
              </a:r>
            </a:p>
          </p:txBody>
        </p:sp>
        <p:sp>
          <p:nvSpPr>
            <p:cNvPr id="21" name="Oval 20">
              <a:extLst>
                <a:ext uri="{FF2B5EF4-FFF2-40B4-BE49-F238E27FC236}">
                  <a16:creationId xmlns:a16="http://schemas.microsoft.com/office/drawing/2014/main" id="{D6672FE3-8CA2-3341-9A1B-C922171C6457}"/>
                </a:ext>
              </a:extLst>
            </p:cNvPr>
            <p:cNvSpPr/>
            <p:nvPr/>
          </p:nvSpPr>
          <p:spPr>
            <a:xfrm>
              <a:off x="2390910" y="5232762"/>
              <a:ext cx="318654" cy="332509"/>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rial" panose="020B0604020202020204" pitchFamily="34" charset="0"/>
                  <a:cs typeface="Arial" panose="020B0604020202020204" pitchFamily="34" charset="0"/>
                </a:rPr>
                <a:t>D</a:t>
              </a:r>
            </a:p>
          </p:txBody>
        </p:sp>
        <p:sp>
          <p:nvSpPr>
            <p:cNvPr id="22" name="Oval 21">
              <a:extLst>
                <a:ext uri="{FF2B5EF4-FFF2-40B4-BE49-F238E27FC236}">
                  <a16:creationId xmlns:a16="http://schemas.microsoft.com/office/drawing/2014/main" id="{DCC38B3D-A710-684C-B53F-3E608C45C927}"/>
                </a:ext>
              </a:extLst>
            </p:cNvPr>
            <p:cNvSpPr/>
            <p:nvPr/>
          </p:nvSpPr>
          <p:spPr>
            <a:xfrm>
              <a:off x="3544434" y="5194767"/>
              <a:ext cx="318654" cy="332509"/>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latin typeface="Arial" panose="020B0604020202020204" pitchFamily="34" charset="0"/>
                <a:cs typeface="Arial" panose="020B0604020202020204" pitchFamily="34" charset="0"/>
              </a:endParaRPr>
            </a:p>
          </p:txBody>
        </p:sp>
        <p:cxnSp>
          <p:nvCxnSpPr>
            <p:cNvPr id="23" name="Straight Connector 22">
              <a:extLst>
                <a:ext uri="{FF2B5EF4-FFF2-40B4-BE49-F238E27FC236}">
                  <a16:creationId xmlns:a16="http://schemas.microsoft.com/office/drawing/2014/main" id="{13115A1A-6EC7-F04D-BD09-708C849E372D}"/>
                </a:ext>
              </a:extLst>
            </p:cNvPr>
            <p:cNvCxnSpPr>
              <a:cxnSpLocks/>
            </p:cNvCxnSpPr>
            <p:nvPr/>
          </p:nvCxnSpPr>
          <p:spPr>
            <a:xfrm flipH="1">
              <a:off x="2594570" y="4823782"/>
              <a:ext cx="452772" cy="402642"/>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559F4C01-1E71-2840-85A9-D2FEB0CD6FEB}"/>
                </a:ext>
              </a:extLst>
            </p:cNvPr>
            <p:cNvCxnSpPr>
              <a:cxnSpLocks/>
              <a:stCxn id="16" idx="5"/>
              <a:endCxn id="22" idx="1"/>
            </p:cNvCxnSpPr>
            <p:nvPr/>
          </p:nvCxnSpPr>
          <p:spPr>
            <a:xfrm>
              <a:off x="3324361" y="4882822"/>
              <a:ext cx="266739" cy="36064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C2EF432-2414-5B4A-AABD-B24368064650}"/>
                </a:ext>
              </a:extLst>
            </p:cNvPr>
            <p:cNvCxnSpPr>
              <a:cxnSpLocks/>
            </p:cNvCxnSpPr>
            <p:nvPr/>
          </p:nvCxnSpPr>
          <p:spPr>
            <a:xfrm>
              <a:off x="2662680" y="5516576"/>
              <a:ext cx="89411"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06E36F72-4A61-154A-B16F-D1F8329DD90E}"/>
                </a:ext>
              </a:extLst>
            </p:cNvPr>
            <p:cNvSpPr txBox="1"/>
            <p:nvPr/>
          </p:nvSpPr>
          <p:spPr>
            <a:xfrm>
              <a:off x="2635461" y="4698156"/>
              <a:ext cx="312906" cy="369332"/>
            </a:xfrm>
            <a:prstGeom prst="rect">
              <a:avLst/>
            </a:prstGeom>
            <a:noFill/>
          </p:spPr>
          <p:txBody>
            <a:bodyPr wrap="none" rtlCol="0">
              <a:spAutoFit/>
            </a:bodyPr>
            <a:lstStyle/>
            <a:p>
              <a:r>
                <a:rPr lang="en-US" dirty="0">
                  <a:solidFill>
                    <a:srgbClr val="C00000"/>
                  </a:solidFill>
                  <a:latin typeface="Arial" panose="020B0604020202020204" pitchFamily="34" charset="0"/>
                  <a:cs typeface="Arial" panose="020B0604020202020204" pitchFamily="34" charset="0"/>
                </a:rPr>
                <a:t>0</a:t>
              </a:r>
            </a:p>
          </p:txBody>
        </p:sp>
        <p:cxnSp>
          <p:nvCxnSpPr>
            <p:cNvPr id="27" name="Straight Connector 26">
              <a:extLst>
                <a:ext uri="{FF2B5EF4-FFF2-40B4-BE49-F238E27FC236}">
                  <a16:creationId xmlns:a16="http://schemas.microsoft.com/office/drawing/2014/main" id="{4AB6A5AF-60FC-2C47-BE29-25A979C4D2DA}"/>
                </a:ext>
              </a:extLst>
            </p:cNvPr>
            <p:cNvCxnSpPr>
              <a:cxnSpLocks/>
              <a:stCxn id="21" idx="3"/>
            </p:cNvCxnSpPr>
            <p:nvPr/>
          </p:nvCxnSpPr>
          <p:spPr>
            <a:xfrm flipH="1">
              <a:off x="2291203" y="5516576"/>
              <a:ext cx="146373"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BAB47F5E-531D-EB46-A610-6227428059DA}"/>
                </a:ext>
              </a:extLst>
            </p:cNvPr>
            <p:cNvSpPr txBox="1"/>
            <p:nvPr/>
          </p:nvSpPr>
          <p:spPr>
            <a:xfrm>
              <a:off x="3418108" y="4719941"/>
              <a:ext cx="312906" cy="369332"/>
            </a:xfrm>
            <a:prstGeom prst="rect">
              <a:avLst/>
            </a:prstGeom>
            <a:noFill/>
          </p:spPr>
          <p:txBody>
            <a:bodyPr wrap="none" rtlCol="0">
              <a:spAutoFit/>
            </a:bodyPr>
            <a:lstStyle/>
            <a:p>
              <a:r>
                <a:rPr lang="en-US" dirty="0">
                  <a:solidFill>
                    <a:srgbClr val="C00000"/>
                  </a:solidFill>
                  <a:latin typeface="Arial" panose="020B0604020202020204" pitchFamily="34" charset="0"/>
                  <a:cs typeface="Arial" panose="020B0604020202020204" pitchFamily="34" charset="0"/>
                </a:rPr>
                <a:t>1</a:t>
              </a:r>
            </a:p>
          </p:txBody>
        </p:sp>
        <p:sp>
          <p:nvSpPr>
            <p:cNvPr id="29" name="Oval 28">
              <a:extLst>
                <a:ext uri="{FF2B5EF4-FFF2-40B4-BE49-F238E27FC236}">
                  <a16:creationId xmlns:a16="http://schemas.microsoft.com/office/drawing/2014/main" id="{EA0124E5-FCEE-0147-AFA4-A8AE0389697F}"/>
                </a:ext>
              </a:extLst>
            </p:cNvPr>
            <p:cNvSpPr/>
            <p:nvPr/>
          </p:nvSpPr>
          <p:spPr>
            <a:xfrm>
              <a:off x="4709717" y="4581384"/>
              <a:ext cx="318654" cy="332509"/>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latin typeface="Arial" panose="020B0604020202020204" pitchFamily="34" charset="0"/>
                <a:cs typeface="Arial" panose="020B0604020202020204" pitchFamily="34" charset="0"/>
              </a:endParaRPr>
            </a:p>
          </p:txBody>
        </p:sp>
        <p:sp>
          <p:nvSpPr>
            <p:cNvPr id="30" name="Oval 29">
              <a:extLst>
                <a:ext uri="{FF2B5EF4-FFF2-40B4-BE49-F238E27FC236}">
                  <a16:creationId xmlns:a16="http://schemas.microsoft.com/office/drawing/2014/main" id="{E642B119-1D86-A44C-9577-8EBF060B8425}"/>
                </a:ext>
              </a:extLst>
            </p:cNvPr>
            <p:cNvSpPr/>
            <p:nvPr/>
          </p:nvSpPr>
          <p:spPr>
            <a:xfrm>
              <a:off x="4369997" y="5191149"/>
              <a:ext cx="318654" cy="332509"/>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rial" panose="020B0604020202020204" pitchFamily="34" charset="0"/>
                  <a:cs typeface="Arial" panose="020B0604020202020204" pitchFamily="34" charset="0"/>
                </a:rPr>
                <a:t>R</a:t>
              </a:r>
            </a:p>
          </p:txBody>
        </p:sp>
        <p:sp>
          <p:nvSpPr>
            <p:cNvPr id="31" name="Oval 30">
              <a:extLst>
                <a:ext uri="{FF2B5EF4-FFF2-40B4-BE49-F238E27FC236}">
                  <a16:creationId xmlns:a16="http://schemas.microsoft.com/office/drawing/2014/main" id="{672AA4AA-B7BD-3A4E-A1FB-38D2C2633F75}"/>
                </a:ext>
              </a:extLst>
            </p:cNvPr>
            <p:cNvSpPr/>
            <p:nvPr/>
          </p:nvSpPr>
          <p:spPr>
            <a:xfrm>
              <a:off x="5203782" y="5169647"/>
              <a:ext cx="318654" cy="332509"/>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rial" panose="020B0604020202020204" pitchFamily="34" charset="0"/>
                  <a:cs typeface="Arial" panose="020B0604020202020204" pitchFamily="34" charset="0"/>
                </a:rPr>
                <a:t>B</a:t>
              </a:r>
            </a:p>
          </p:txBody>
        </p:sp>
        <p:cxnSp>
          <p:nvCxnSpPr>
            <p:cNvPr id="32" name="Straight Connector 31">
              <a:extLst>
                <a:ext uri="{FF2B5EF4-FFF2-40B4-BE49-F238E27FC236}">
                  <a16:creationId xmlns:a16="http://schemas.microsoft.com/office/drawing/2014/main" id="{EEF8F5BF-10B7-4F42-B8CD-AAD09FB1E8EE}"/>
                </a:ext>
              </a:extLst>
            </p:cNvPr>
            <p:cNvCxnSpPr>
              <a:cxnSpLocks/>
              <a:stCxn id="29" idx="3"/>
              <a:endCxn id="30" idx="7"/>
            </p:cNvCxnSpPr>
            <p:nvPr/>
          </p:nvCxnSpPr>
          <p:spPr>
            <a:xfrm flipH="1">
              <a:off x="4641985" y="4865198"/>
              <a:ext cx="114398" cy="37464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3BD825C6-CA83-9E4D-B20C-C4A7ADA2F17F}"/>
                </a:ext>
              </a:extLst>
            </p:cNvPr>
            <p:cNvCxnSpPr>
              <a:cxnSpLocks/>
              <a:stCxn id="29" idx="6"/>
              <a:endCxn id="31" idx="1"/>
            </p:cNvCxnSpPr>
            <p:nvPr/>
          </p:nvCxnSpPr>
          <p:spPr>
            <a:xfrm>
              <a:off x="5028371" y="4747639"/>
              <a:ext cx="222077" cy="470703"/>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012D269B-7F07-4847-B1D9-B334DA13113F}"/>
                </a:ext>
              </a:extLst>
            </p:cNvPr>
            <p:cNvCxnSpPr>
              <a:cxnSpLocks/>
              <a:stCxn id="30" idx="5"/>
            </p:cNvCxnSpPr>
            <p:nvPr/>
          </p:nvCxnSpPr>
          <p:spPr>
            <a:xfrm>
              <a:off x="4641985" y="5474963"/>
              <a:ext cx="89411"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47BDD9E7-21DE-0B42-BEBA-E7431F903628}"/>
                </a:ext>
              </a:extLst>
            </p:cNvPr>
            <p:cNvSpPr txBox="1"/>
            <p:nvPr/>
          </p:nvSpPr>
          <p:spPr>
            <a:xfrm>
              <a:off x="4409569" y="4800315"/>
              <a:ext cx="312906" cy="369332"/>
            </a:xfrm>
            <a:prstGeom prst="rect">
              <a:avLst/>
            </a:prstGeom>
            <a:noFill/>
          </p:spPr>
          <p:txBody>
            <a:bodyPr wrap="none" rtlCol="0">
              <a:spAutoFit/>
            </a:bodyPr>
            <a:lstStyle/>
            <a:p>
              <a:r>
                <a:rPr lang="en-US" dirty="0">
                  <a:solidFill>
                    <a:srgbClr val="C00000"/>
                  </a:solidFill>
                  <a:latin typeface="Arial" panose="020B0604020202020204" pitchFamily="34" charset="0"/>
                  <a:cs typeface="Arial" panose="020B0604020202020204" pitchFamily="34" charset="0"/>
                </a:rPr>
                <a:t>0</a:t>
              </a:r>
            </a:p>
          </p:txBody>
        </p:sp>
        <p:cxnSp>
          <p:nvCxnSpPr>
            <p:cNvPr id="36" name="Straight Connector 35">
              <a:extLst>
                <a:ext uri="{FF2B5EF4-FFF2-40B4-BE49-F238E27FC236}">
                  <a16:creationId xmlns:a16="http://schemas.microsoft.com/office/drawing/2014/main" id="{B94616B5-085B-6445-999D-C838831D869B}"/>
                </a:ext>
              </a:extLst>
            </p:cNvPr>
            <p:cNvCxnSpPr>
              <a:cxnSpLocks/>
              <a:stCxn id="30" idx="3"/>
            </p:cNvCxnSpPr>
            <p:nvPr/>
          </p:nvCxnSpPr>
          <p:spPr>
            <a:xfrm flipH="1">
              <a:off x="4270290" y="5474963"/>
              <a:ext cx="146373"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A45535CD-8E64-0842-B568-A6F37CAA9314}"/>
                </a:ext>
              </a:extLst>
            </p:cNvPr>
            <p:cNvSpPr txBox="1"/>
            <p:nvPr/>
          </p:nvSpPr>
          <p:spPr>
            <a:xfrm>
              <a:off x="5139409" y="4783347"/>
              <a:ext cx="312906" cy="369332"/>
            </a:xfrm>
            <a:prstGeom prst="rect">
              <a:avLst/>
            </a:prstGeom>
            <a:noFill/>
          </p:spPr>
          <p:txBody>
            <a:bodyPr wrap="none" rtlCol="0">
              <a:spAutoFit/>
            </a:bodyPr>
            <a:lstStyle/>
            <a:p>
              <a:r>
                <a:rPr lang="en-US" dirty="0">
                  <a:solidFill>
                    <a:srgbClr val="C00000"/>
                  </a:solidFill>
                  <a:latin typeface="Arial" panose="020B0604020202020204" pitchFamily="34" charset="0"/>
                  <a:cs typeface="Arial" panose="020B0604020202020204" pitchFamily="34" charset="0"/>
                </a:rPr>
                <a:t>1</a:t>
              </a:r>
            </a:p>
          </p:txBody>
        </p:sp>
        <p:sp>
          <p:nvSpPr>
            <p:cNvPr id="38" name="Oval 37">
              <a:extLst>
                <a:ext uri="{FF2B5EF4-FFF2-40B4-BE49-F238E27FC236}">
                  <a16:creationId xmlns:a16="http://schemas.microsoft.com/office/drawing/2014/main" id="{2127C9C6-2140-6B43-AC01-EBE5FEA76679}"/>
                </a:ext>
              </a:extLst>
            </p:cNvPr>
            <p:cNvSpPr/>
            <p:nvPr/>
          </p:nvSpPr>
          <p:spPr>
            <a:xfrm>
              <a:off x="3047342" y="5849420"/>
              <a:ext cx="318654" cy="332509"/>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rial" panose="020B0604020202020204" pitchFamily="34" charset="0"/>
                  <a:cs typeface="Arial" panose="020B0604020202020204" pitchFamily="34" charset="0"/>
                </a:rPr>
                <a:t>!</a:t>
              </a:r>
            </a:p>
          </p:txBody>
        </p:sp>
        <p:sp>
          <p:nvSpPr>
            <p:cNvPr id="39" name="Oval 38">
              <a:extLst>
                <a:ext uri="{FF2B5EF4-FFF2-40B4-BE49-F238E27FC236}">
                  <a16:creationId xmlns:a16="http://schemas.microsoft.com/office/drawing/2014/main" id="{10689D03-0CF9-0540-888E-D17C352C2EE9}"/>
                </a:ext>
              </a:extLst>
            </p:cNvPr>
            <p:cNvSpPr/>
            <p:nvPr/>
          </p:nvSpPr>
          <p:spPr>
            <a:xfrm>
              <a:off x="3928929" y="5885637"/>
              <a:ext cx="318654" cy="332509"/>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rial" panose="020B0604020202020204" pitchFamily="34" charset="0"/>
                  <a:cs typeface="Arial" panose="020B0604020202020204" pitchFamily="34" charset="0"/>
                </a:rPr>
                <a:t>C</a:t>
              </a:r>
            </a:p>
          </p:txBody>
        </p:sp>
        <p:cxnSp>
          <p:nvCxnSpPr>
            <p:cNvPr id="40" name="Straight Connector 39">
              <a:extLst>
                <a:ext uri="{FF2B5EF4-FFF2-40B4-BE49-F238E27FC236}">
                  <a16:creationId xmlns:a16="http://schemas.microsoft.com/office/drawing/2014/main" id="{A63F1FD8-5DA7-5D4F-B673-149525305238}"/>
                </a:ext>
              </a:extLst>
            </p:cNvPr>
            <p:cNvCxnSpPr>
              <a:cxnSpLocks/>
              <a:stCxn id="22" idx="2"/>
              <a:endCxn id="38" idx="7"/>
            </p:cNvCxnSpPr>
            <p:nvPr/>
          </p:nvCxnSpPr>
          <p:spPr>
            <a:xfrm flipH="1">
              <a:off x="3319330" y="5361022"/>
              <a:ext cx="225104" cy="537093"/>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0BC63730-4BDA-C24A-84EB-1E43CFFECCA5}"/>
                </a:ext>
              </a:extLst>
            </p:cNvPr>
            <p:cNvCxnSpPr>
              <a:cxnSpLocks/>
              <a:stCxn id="22" idx="5"/>
              <a:endCxn id="39" idx="1"/>
            </p:cNvCxnSpPr>
            <p:nvPr/>
          </p:nvCxnSpPr>
          <p:spPr>
            <a:xfrm>
              <a:off x="3816422" y="5478581"/>
              <a:ext cx="159173" cy="4557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6C5036F1-EE6B-E148-93CC-87B22BF6B9CD}"/>
                </a:ext>
              </a:extLst>
            </p:cNvPr>
            <p:cNvCxnSpPr>
              <a:cxnSpLocks/>
              <a:stCxn id="38" idx="5"/>
            </p:cNvCxnSpPr>
            <p:nvPr/>
          </p:nvCxnSpPr>
          <p:spPr>
            <a:xfrm>
              <a:off x="3319330" y="6133234"/>
              <a:ext cx="89411"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94300AE3-865C-6648-BEA8-DBEB9A932FC3}"/>
                </a:ext>
              </a:extLst>
            </p:cNvPr>
            <p:cNvSpPr txBox="1"/>
            <p:nvPr/>
          </p:nvSpPr>
          <p:spPr>
            <a:xfrm>
              <a:off x="3081137" y="5459191"/>
              <a:ext cx="312906" cy="369332"/>
            </a:xfrm>
            <a:prstGeom prst="rect">
              <a:avLst/>
            </a:prstGeom>
            <a:noFill/>
          </p:spPr>
          <p:txBody>
            <a:bodyPr wrap="square" rtlCol="0">
              <a:spAutoFit/>
            </a:bodyPr>
            <a:lstStyle/>
            <a:p>
              <a:r>
                <a:rPr lang="en-US" dirty="0">
                  <a:solidFill>
                    <a:srgbClr val="C00000"/>
                  </a:solidFill>
                  <a:latin typeface="Arial" panose="020B0604020202020204" pitchFamily="34" charset="0"/>
                  <a:cs typeface="Arial" panose="020B0604020202020204" pitchFamily="34" charset="0"/>
                </a:rPr>
                <a:t>0</a:t>
              </a:r>
            </a:p>
          </p:txBody>
        </p:sp>
        <p:cxnSp>
          <p:nvCxnSpPr>
            <p:cNvPr id="44" name="Straight Connector 43">
              <a:extLst>
                <a:ext uri="{FF2B5EF4-FFF2-40B4-BE49-F238E27FC236}">
                  <a16:creationId xmlns:a16="http://schemas.microsoft.com/office/drawing/2014/main" id="{774C459E-FF64-9A4A-BB63-3308E3CB024B}"/>
                </a:ext>
              </a:extLst>
            </p:cNvPr>
            <p:cNvCxnSpPr>
              <a:cxnSpLocks/>
              <a:stCxn id="38" idx="3"/>
            </p:cNvCxnSpPr>
            <p:nvPr/>
          </p:nvCxnSpPr>
          <p:spPr>
            <a:xfrm flipH="1">
              <a:off x="2947635" y="6133234"/>
              <a:ext cx="146373"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61BF5F88-CEB7-034F-A6BA-7BEFE722CF65}"/>
                </a:ext>
              </a:extLst>
            </p:cNvPr>
            <p:cNvSpPr txBox="1"/>
            <p:nvPr/>
          </p:nvSpPr>
          <p:spPr>
            <a:xfrm>
              <a:off x="3876748" y="5497443"/>
              <a:ext cx="312906" cy="369332"/>
            </a:xfrm>
            <a:prstGeom prst="rect">
              <a:avLst/>
            </a:prstGeom>
            <a:noFill/>
          </p:spPr>
          <p:txBody>
            <a:bodyPr wrap="none" rtlCol="0">
              <a:spAutoFit/>
            </a:bodyPr>
            <a:lstStyle/>
            <a:p>
              <a:r>
                <a:rPr lang="en-US" dirty="0">
                  <a:solidFill>
                    <a:srgbClr val="C00000"/>
                  </a:solidFill>
                  <a:latin typeface="Arial" panose="020B0604020202020204" pitchFamily="34" charset="0"/>
                  <a:cs typeface="Arial" panose="020B0604020202020204" pitchFamily="34" charset="0"/>
                </a:rPr>
                <a:t>1</a:t>
              </a:r>
            </a:p>
          </p:txBody>
        </p:sp>
        <p:cxnSp>
          <p:nvCxnSpPr>
            <p:cNvPr id="46" name="Straight Connector 45">
              <a:extLst>
                <a:ext uri="{FF2B5EF4-FFF2-40B4-BE49-F238E27FC236}">
                  <a16:creationId xmlns:a16="http://schemas.microsoft.com/office/drawing/2014/main" id="{4C200A43-A8D1-994C-849E-661DCD3B99E4}"/>
                </a:ext>
              </a:extLst>
            </p:cNvPr>
            <p:cNvCxnSpPr>
              <a:cxnSpLocks/>
            </p:cNvCxnSpPr>
            <p:nvPr/>
          </p:nvCxnSpPr>
          <p:spPr>
            <a:xfrm>
              <a:off x="4176891" y="6192797"/>
              <a:ext cx="89411"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BF6B1C4A-4590-F547-9264-0AFB17854521}"/>
                </a:ext>
              </a:extLst>
            </p:cNvPr>
            <p:cNvCxnSpPr>
              <a:cxnSpLocks/>
            </p:cNvCxnSpPr>
            <p:nvPr/>
          </p:nvCxnSpPr>
          <p:spPr>
            <a:xfrm flipH="1">
              <a:off x="3805414" y="6192797"/>
              <a:ext cx="146373"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C0BA2E99-AC99-E74E-AD6B-FA203D1318A4}"/>
                </a:ext>
              </a:extLst>
            </p:cNvPr>
            <p:cNvCxnSpPr>
              <a:cxnSpLocks/>
            </p:cNvCxnSpPr>
            <p:nvPr/>
          </p:nvCxnSpPr>
          <p:spPr>
            <a:xfrm>
              <a:off x="5497772" y="5480894"/>
              <a:ext cx="89411"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2F4F3599-0F9C-6A4C-9C2C-EBFD9B07CD93}"/>
                </a:ext>
              </a:extLst>
            </p:cNvPr>
            <p:cNvCxnSpPr>
              <a:cxnSpLocks/>
            </p:cNvCxnSpPr>
            <p:nvPr/>
          </p:nvCxnSpPr>
          <p:spPr>
            <a:xfrm flipH="1">
              <a:off x="5126077" y="5480894"/>
              <a:ext cx="146373"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aphicFrame>
        <p:nvGraphicFramePr>
          <p:cNvPr id="5" name="Table 4">
            <a:extLst>
              <a:ext uri="{FF2B5EF4-FFF2-40B4-BE49-F238E27FC236}">
                <a16:creationId xmlns:a16="http://schemas.microsoft.com/office/drawing/2014/main" id="{0B1EFB9E-5DC7-0748-A23E-E8900A38D3EA}"/>
              </a:ext>
            </a:extLst>
          </p:cNvPr>
          <p:cNvGraphicFramePr>
            <a:graphicFrameLocks noGrp="1"/>
          </p:cNvGraphicFramePr>
          <p:nvPr>
            <p:extLst>
              <p:ext uri="{D42A27DB-BD31-4B8C-83A1-F6EECF244321}">
                <p14:modId xmlns:p14="http://schemas.microsoft.com/office/powerpoint/2010/main" val="1796919450"/>
              </p:ext>
            </p:extLst>
          </p:nvPr>
        </p:nvGraphicFramePr>
        <p:xfrm>
          <a:off x="8232419" y="1480000"/>
          <a:ext cx="3761874" cy="2333023"/>
        </p:xfrm>
        <a:graphic>
          <a:graphicData uri="http://schemas.openxmlformats.org/drawingml/2006/table">
            <a:tbl>
              <a:tblPr firstRow="1" bandRow="1">
                <a:tableStyleId>{5C22544A-7EE6-4342-B048-85BDC9FD1C3A}</a:tableStyleId>
              </a:tblPr>
              <a:tblGrid>
                <a:gridCol w="781539">
                  <a:extLst>
                    <a:ext uri="{9D8B030D-6E8A-4147-A177-3AD203B41FA5}">
                      <a16:colId xmlns:a16="http://schemas.microsoft.com/office/drawing/2014/main" val="3356975359"/>
                    </a:ext>
                  </a:extLst>
                </a:gridCol>
                <a:gridCol w="1041009">
                  <a:extLst>
                    <a:ext uri="{9D8B030D-6E8A-4147-A177-3AD203B41FA5}">
                      <a16:colId xmlns:a16="http://schemas.microsoft.com/office/drawing/2014/main" val="3601674449"/>
                    </a:ext>
                  </a:extLst>
                </a:gridCol>
                <a:gridCol w="1939326">
                  <a:extLst>
                    <a:ext uri="{9D8B030D-6E8A-4147-A177-3AD203B41FA5}">
                      <a16:colId xmlns:a16="http://schemas.microsoft.com/office/drawing/2014/main" val="2286965801"/>
                    </a:ext>
                  </a:extLst>
                </a:gridCol>
              </a:tblGrid>
              <a:tr h="333289">
                <a:tc>
                  <a:txBody>
                    <a:bodyPr/>
                    <a:lstStyle/>
                    <a:p>
                      <a:pPr algn="ctr"/>
                      <a:r>
                        <a:rPr lang="en-US" sz="1400" b="0" dirty="0">
                          <a:solidFill>
                            <a:schemeClr val="tx1"/>
                          </a:solidFill>
                          <a:latin typeface="Arial" panose="020B0604020202020204" pitchFamily="34" charset="0"/>
                          <a:cs typeface="Arial" panose="020B0604020202020204" pitchFamily="34" charset="0"/>
                        </a:rPr>
                        <a:t>char</a:t>
                      </a:r>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0" dirty="0">
                          <a:solidFill>
                            <a:schemeClr val="tx1"/>
                          </a:solidFill>
                          <a:latin typeface="Arial" panose="020B0604020202020204" pitchFamily="34" charset="0"/>
                          <a:cs typeface="Arial" panose="020B0604020202020204" pitchFamily="34" charset="0"/>
                        </a:rPr>
                        <a:t>frequency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0" dirty="0">
                          <a:solidFill>
                            <a:schemeClr val="tx1"/>
                          </a:solidFill>
                          <a:latin typeface="Arial" panose="020B0604020202020204" pitchFamily="34" charset="0"/>
                          <a:cs typeface="Arial" panose="020B0604020202020204" pitchFamily="34" charset="0"/>
                        </a:rPr>
                        <a:t>Huffman encoding</a:t>
                      </a:r>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07920617"/>
                  </a:ext>
                </a:extLst>
              </a:tr>
              <a:tr h="333289">
                <a:tc>
                  <a:txBody>
                    <a:bodyPr/>
                    <a:lstStyle/>
                    <a:p>
                      <a:pPr algn="ctr"/>
                      <a:r>
                        <a:rPr lang="en-US" sz="1400" b="0" dirty="0">
                          <a:solidFill>
                            <a:schemeClr val="tx1"/>
                          </a:solidFill>
                          <a:latin typeface="Arial" panose="020B0604020202020204" pitchFamily="34" charset="0"/>
                          <a:cs typeface="Arial" panose="020B0604020202020204" pitchFamily="34" charset="0"/>
                        </a:rPr>
                        <a:t>A</a:t>
                      </a: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sz="1400" b="0" dirty="0">
                          <a:solidFill>
                            <a:schemeClr val="tx1"/>
                          </a:solidFill>
                          <a:latin typeface="Arial" panose="020B0604020202020204" pitchFamily="34" charset="0"/>
                          <a:cs typeface="Arial" panose="020B0604020202020204" pitchFamily="34"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sz="1400" b="0" dirty="0">
                          <a:solidFill>
                            <a:srgbClr val="C00000"/>
                          </a:solidFill>
                          <a:latin typeface="Courier" pitchFamily="2" charset="0"/>
                          <a:cs typeface="Arial" panose="020B0604020202020204" pitchFamily="34" charset="0"/>
                        </a:rPr>
                        <a:t>0</a:t>
                      </a: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698704590"/>
                  </a:ext>
                </a:extLst>
              </a:tr>
              <a:tr h="333289">
                <a:tc>
                  <a:txBody>
                    <a:bodyPr/>
                    <a:lstStyle/>
                    <a:p>
                      <a:pPr algn="ctr"/>
                      <a:r>
                        <a:rPr lang="en-US" sz="1400" b="0" dirty="0">
                          <a:solidFill>
                            <a:schemeClr val="tx1"/>
                          </a:solidFill>
                          <a:latin typeface="Arial" panose="020B0604020202020204" pitchFamily="34" charset="0"/>
                          <a:cs typeface="Arial" panose="020B0604020202020204" pitchFamily="34" charset="0"/>
                        </a:rPr>
                        <a:t>B</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400" b="0" dirty="0">
                          <a:solidFill>
                            <a:schemeClr val="tx1"/>
                          </a:solidFill>
                          <a:latin typeface="Arial" panose="020B0604020202020204" pitchFamily="34" charset="0"/>
                          <a:cs typeface="Arial" panose="020B0604020202020204" pitchFamily="34"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400" b="0" dirty="0">
                          <a:solidFill>
                            <a:srgbClr val="C00000"/>
                          </a:solidFill>
                          <a:latin typeface="Courier" pitchFamily="2" charset="0"/>
                          <a:cs typeface="Arial" panose="020B0604020202020204" pitchFamily="34" charset="0"/>
                        </a:rPr>
                        <a:t>111</a:t>
                      </a: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97155727"/>
                  </a:ext>
                </a:extLst>
              </a:tr>
              <a:tr h="333289">
                <a:tc>
                  <a:txBody>
                    <a:bodyPr/>
                    <a:lstStyle/>
                    <a:p>
                      <a:pPr algn="ctr"/>
                      <a:r>
                        <a:rPr lang="en-US" sz="1400" b="0" dirty="0">
                          <a:solidFill>
                            <a:schemeClr val="tx1"/>
                          </a:solidFill>
                          <a:latin typeface="Arial" panose="020B0604020202020204" pitchFamily="34" charset="0"/>
                          <a:cs typeface="Arial" panose="020B0604020202020204" pitchFamily="34" charset="0"/>
                        </a:rPr>
                        <a:t>C</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400" b="0" dirty="0">
                          <a:solidFill>
                            <a:schemeClr val="tx1"/>
                          </a:solidFill>
                          <a:latin typeface="Arial" panose="020B0604020202020204" pitchFamily="34" charset="0"/>
                          <a:cs typeface="Arial" panose="020B0604020202020204" pitchFamily="34"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400" b="0" dirty="0">
                          <a:solidFill>
                            <a:srgbClr val="C00000"/>
                          </a:solidFill>
                          <a:latin typeface="Courier" pitchFamily="2" charset="0"/>
                          <a:cs typeface="Arial" panose="020B0604020202020204" pitchFamily="34" charset="0"/>
                        </a:rPr>
                        <a:t>1011</a:t>
                      </a: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48973282"/>
                  </a:ext>
                </a:extLst>
              </a:tr>
              <a:tr h="333289">
                <a:tc>
                  <a:txBody>
                    <a:bodyPr/>
                    <a:lstStyle/>
                    <a:p>
                      <a:pPr algn="ctr"/>
                      <a:r>
                        <a:rPr lang="en-US" sz="1400" b="0" dirty="0">
                          <a:solidFill>
                            <a:schemeClr val="tx1"/>
                          </a:solidFill>
                          <a:latin typeface="Arial" panose="020B0604020202020204" pitchFamily="34" charset="0"/>
                          <a:cs typeface="Arial" panose="020B0604020202020204" pitchFamily="34" charset="0"/>
                        </a:rPr>
                        <a:t>D</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400" b="0" dirty="0">
                          <a:solidFill>
                            <a:schemeClr val="tx1"/>
                          </a:solidFill>
                          <a:latin typeface="Arial" panose="020B0604020202020204" pitchFamily="34" charset="0"/>
                          <a:cs typeface="Arial" panose="020B0604020202020204" pitchFamily="34"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400" b="0" dirty="0">
                          <a:solidFill>
                            <a:srgbClr val="C00000"/>
                          </a:solidFill>
                          <a:latin typeface="Courier" pitchFamily="2" charset="0"/>
                          <a:cs typeface="Arial" panose="020B0604020202020204" pitchFamily="34" charset="0"/>
                        </a:rPr>
                        <a:t>100</a:t>
                      </a: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931113414"/>
                  </a:ext>
                </a:extLst>
              </a:tr>
              <a:tr h="333289">
                <a:tc>
                  <a:txBody>
                    <a:bodyPr/>
                    <a:lstStyle/>
                    <a:p>
                      <a:pPr algn="ctr"/>
                      <a:r>
                        <a:rPr lang="en-US" sz="1400" b="0" dirty="0">
                          <a:solidFill>
                            <a:schemeClr val="tx1"/>
                          </a:solidFill>
                          <a:latin typeface="Arial" panose="020B0604020202020204" pitchFamily="34" charset="0"/>
                          <a:cs typeface="Arial" panose="020B0604020202020204" pitchFamily="34" charset="0"/>
                        </a:rPr>
                        <a:t>R</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400" b="0" dirty="0">
                          <a:solidFill>
                            <a:schemeClr val="tx1"/>
                          </a:solidFill>
                          <a:latin typeface="Arial" panose="020B0604020202020204" pitchFamily="34" charset="0"/>
                          <a:cs typeface="Arial" panose="020B0604020202020204" pitchFamily="34"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400" b="0" dirty="0">
                          <a:solidFill>
                            <a:srgbClr val="C00000"/>
                          </a:solidFill>
                          <a:latin typeface="Courier" pitchFamily="2" charset="0"/>
                          <a:cs typeface="Arial" panose="020B0604020202020204" pitchFamily="34" charset="0"/>
                        </a:rPr>
                        <a:t>110</a:t>
                      </a: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620110253"/>
                  </a:ext>
                </a:extLst>
              </a:tr>
              <a:tr h="333289">
                <a:tc>
                  <a:txBody>
                    <a:bodyPr/>
                    <a:lstStyle/>
                    <a:p>
                      <a:pPr algn="ctr"/>
                      <a:r>
                        <a:rPr lang="en-US" sz="1400" b="0" dirty="0">
                          <a:solidFill>
                            <a:schemeClr val="tx1"/>
                          </a:solidFill>
                          <a:latin typeface="Arial" panose="020B0604020202020204" pitchFamily="34" charset="0"/>
                          <a:cs typeface="Arial" panose="020B0604020202020204" pitchFamily="34" charset="0"/>
                        </a:rPr>
                        <a:t>!</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400" b="0" dirty="0">
                          <a:solidFill>
                            <a:schemeClr val="tx1"/>
                          </a:solidFill>
                          <a:latin typeface="Arial" panose="020B0604020202020204" pitchFamily="34" charset="0"/>
                          <a:cs typeface="Arial" panose="020B0604020202020204" pitchFamily="34"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400" b="0" dirty="0">
                          <a:solidFill>
                            <a:srgbClr val="C00000"/>
                          </a:solidFill>
                          <a:latin typeface="Courier" pitchFamily="2" charset="0"/>
                          <a:cs typeface="Arial" panose="020B0604020202020204" pitchFamily="34" charset="0"/>
                        </a:rPr>
                        <a:t>1010</a:t>
                      </a: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208363806"/>
                  </a:ext>
                </a:extLst>
              </a:tr>
            </a:tbl>
          </a:graphicData>
        </a:graphic>
      </p:graphicFrame>
    </p:spTree>
    <p:extLst>
      <p:ext uri="{BB962C8B-B14F-4D97-AF65-F5344CB8AC3E}">
        <p14:creationId xmlns:p14="http://schemas.microsoft.com/office/powerpoint/2010/main" val="26014645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61A64-88E3-514F-96E5-EB5877D9729F}"/>
              </a:ext>
            </a:extLst>
          </p:cNvPr>
          <p:cNvSpPr>
            <a:spLocks noGrp="1"/>
          </p:cNvSpPr>
          <p:nvPr>
            <p:ph type="title"/>
          </p:nvPr>
        </p:nvSpPr>
        <p:spPr/>
        <p:txBody>
          <a:bodyPr/>
          <a:lstStyle/>
          <a:p>
            <a:r>
              <a:rPr lang="en-US" dirty="0"/>
              <a:t>Huffman compression</a:t>
            </a:r>
          </a:p>
        </p:txBody>
      </p:sp>
      <p:sp>
        <p:nvSpPr>
          <p:cNvPr id="3" name="Content Placeholder 2">
            <a:extLst>
              <a:ext uri="{FF2B5EF4-FFF2-40B4-BE49-F238E27FC236}">
                <a16:creationId xmlns:a16="http://schemas.microsoft.com/office/drawing/2014/main" id="{B9A27260-ED92-1742-90BD-44C0FED54F03}"/>
              </a:ext>
            </a:extLst>
          </p:cNvPr>
          <p:cNvSpPr>
            <a:spLocks noGrp="1"/>
          </p:cNvSpPr>
          <p:nvPr>
            <p:ph idx="1"/>
          </p:nvPr>
        </p:nvSpPr>
        <p:spPr/>
        <p:txBody>
          <a:bodyPr/>
          <a:lstStyle/>
          <a:p>
            <a:r>
              <a:rPr lang="en-US" dirty="0"/>
              <a:t>Pseudocode for </a:t>
            </a:r>
            <a:r>
              <a:rPr lang="en-US" dirty="0" err="1"/>
              <a:t>trie</a:t>
            </a:r>
            <a:r>
              <a:rPr lang="en-US" dirty="0"/>
              <a:t> construction via priority queue (priority = frequency)</a:t>
            </a:r>
          </a:p>
          <a:p>
            <a:pPr marL="0" indent="0">
              <a:buNone/>
            </a:pPr>
            <a:endParaRPr lang="en-US" dirty="0"/>
          </a:p>
        </p:txBody>
      </p:sp>
      <p:sp>
        <p:nvSpPr>
          <p:cNvPr id="50" name="TextBox 49">
            <a:extLst>
              <a:ext uri="{FF2B5EF4-FFF2-40B4-BE49-F238E27FC236}">
                <a16:creationId xmlns:a16="http://schemas.microsoft.com/office/drawing/2014/main" id="{0210E3E6-3964-EC45-A79F-10DF55CC4E99}"/>
              </a:ext>
            </a:extLst>
          </p:cNvPr>
          <p:cNvSpPr txBox="1"/>
          <p:nvPr/>
        </p:nvSpPr>
        <p:spPr>
          <a:xfrm>
            <a:off x="424846" y="2580038"/>
            <a:ext cx="6356227" cy="3539430"/>
          </a:xfrm>
          <a:prstGeom prst="rect">
            <a:avLst/>
          </a:prstGeom>
          <a:noFill/>
          <a:ln w="28575">
            <a:solidFill>
              <a:schemeClr val="bg1">
                <a:lumMod val="75000"/>
              </a:schemeClr>
            </a:solidFill>
          </a:ln>
        </p:spPr>
        <p:txBody>
          <a:bodyPr wrap="none" rtlCol="0">
            <a:spAutoFit/>
          </a:bodyPr>
          <a:lstStyle/>
          <a:p>
            <a:r>
              <a:rPr lang="en-US" sz="1600" dirty="0">
                <a:latin typeface="Courier" pitchFamily="2" charset="0"/>
              </a:rPr>
              <a:t>def </a:t>
            </a:r>
            <a:r>
              <a:rPr lang="en-US" sz="1600" dirty="0" err="1">
                <a:latin typeface="Courier" pitchFamily="2" charset="0"/>
              </a:rPr>
              <a:t>buildTrie</a:t>
            </a:r>
            <a:r>
              <a:rPr lang="en-US" sz="1600" dirty="0">
                <a:latin typeface="Courier" pitchFamily="2" charset="0"/>
              </a:rPr>
              <a:t>():</a:t>
            </a:r>
          </a:p>
          <a:p>
            <a:r>
              <a:rPr lang="en-US" sz="1600" dirty="0">
                <a:latin typeface="Courier" pitchFamily="2" charset="0"/>
              </a:rPr>
              <a:t>    </a:t>
            </a:r>
            <a:r>
              <a:rPr lang="en-US" sz="1600" dirty="0" err="1">
                <a:latin typeface="Courier" pitchFamily="2" charset="0"/>
              </a:rPr>
              <a:t>pq</a:t>
            </a:r>
            <a:r>
              <a:rPr lang="en-US" sz="1600" dirty="0">
                <a:latin typeface="Courier" pitchFamily="2" charset="0"/>
              </a:rPr>
              <a:t> = new </a:t>
            </a:r>
            <a:r>
              <a:rPr lang="en-US" sz="1600" dirty="0" err="1">
                <a:latin typeface="Courier" pitchFamily="2" charset="0"/>
              </a:rPr>
              <a:t>MinPQ</a:t>
            </a:r>
            <a:r>
              <a:rPr lang="en-US" sz="1600" dirty="0">
                <a:latin typeface="Courier" pitchFamily="2" charset="0"/>
              </a:rPr>
              <a:t>()</a:t>
            </a:r>
          </a:p>
          <a:p>
            <a:r>
              <a:rPr lang="en-US" sz="1600" dirty="0">
                <a:latin typeface="Courier" pitchFamily="2" charset="0"/>
              </a:rPr>
              <a:t>    for </a:t>
            </a:r>
            <a:r>
              <a:rPr lang="en-US" sz="1600" dirty="0" err="1">
                <a:latin typeface="Courier" pitchFamily="2" charset="0"/>
              </a:rPr>
              <a:t>i</a:t>
            </a:r>
            <a:r>
              <a:rPr lang="en-US" sz="1600" dirty="0">
                <a:latin typeface="Courier" pitchFamily="2" charset="0"/>
              </a:rPr>
              <a:t> in range (0, R):</a:t>
            </a:r>
          </a:p>
          <a:p>
            <a:r>
              <a:rPr lang="en-US" sz="1600" dirty="0">
                <a:latin typeface="Courier" pitchFamily="2" charset="0"/>
              </a:rPr>
              <a:t>        if (</a:t>
            </a:r>
            <a:r>
              <a:rPr lang="en-US" sz="1600" dirty="0" err="1">
                <a:latin typeface="Courier" pitchFamily="2" charset="0"/>
              </a:rPr>
              <a:t>freq</a:t>
            </a:r>
            <a:r>
              <a:rPr lang="en-US" sz="1600" dirty="0">
                <a:latin typeface="Courier" pitchFamily="2" charset="0"/>
              </a:rPr>
              <a:t>[</a:t>
            </a:r>
            <a:r>
              <a:rPr lang="en-US" sz="1600" dirty="0" err="1">
                <a:latin typeface="Courier" pitchFamily="2" charset="0"/>
              </a:rPr>
              <a:t>i</a:t>
            </a:r>
            <a:r>
              <a:rPr lang="en-US" sz="1600" dirty="0">
                <a:latin typeface="Courier" pitchFamily="2" charset="0"/>
              </a:rPr>
              <a:t>] &gt; 0):</a:t>
            </a:r>
          </a:p>
          <a:p>
            <a:r>
              <a:rPr lang="en-US" sz="1600" dirty="0">
                <a:latin typeface="Courier" pitchFamily="2" charset="0"/>
              </a:rPr>
              <a:t>            </a:t>
            </a:r>
            <a:r>
              <a:rPr lang="en-US" sz="1600" dirty="0" err="1">
                <a:latin typeface="Courier" pitchFamily="2" charset="0"/>
              </a:rPr>
              <a:t>newNode</a:t>
            </a:r>
            <a:r>
              <a:rPr lang="en-US" sz="1600" dirty="0">
                <a:latin typeface="Courier" pitchFamily="2" charset="0"/>
              </a:rPr>
              <a:t> = Node(</a:t>
            </a:r>
            <a:r>
              <a:rPr lang="en-US" sz="1600" dirty="0" err="1">
                <a:latin typeface="Courier" pitchFamily="2" charset="0"/>
              </a:rPr>
              <a:t>i</a:t>
            </a:r>
            <a:r>
              <a:rPr lang="en-US" sz="1600" dirty="0">
                <a:latin typeface="Courier" pitchFamily="2" charset="0"/>
              </a:rPr>
              <a:t>, </a:t>
            </a:r>
            <a:r>
              <a:rPr lang="en-US" sz="1600" dirty="0" err="1">
                <a:latin typeface="Courier" pitchFamily="2" charset="0"/>
              </a:rPr>
              <a:t>freq</a:t>
            </a:r>
            <a:r>
              <a:rPr lang="en-US" sz="1600" dirty="0">
                <a:latin typeface="Courier" pitchFamily="2" charset="0"/>
              </a:rPr>
              <a:t>[</a:t>
            </a:r>
            <a:r>
              <a:rPr lang="en-US" sz="1600" dirty="0" err="1">
                <a:latin typeface="Courier" pitchFamily="2" charset="0"/>
              </a:rPr>
              <a:t>i</a:t>
            </a:r>
            <a:r>
              <a:rPr lang="en-US" sz="1600" dirty="0">
                <a:latin typeface="Courier" pitchFamily="2" charset="0"/>
              </a:rPr>
              <a:t>], null, null)</a:t>
            </a:r>
          </a:p>
          <a:p>
            <a:r>
              <a:rPr lang="en-US" sz="1600" dirty="0">
                <a:latin typeface="Courier" pitchFamily="2" charset="0"/>
              </a:rPr>
              <a:t>            </a:t>
            </a:r>
            <a:r>
              <a:rPr lang="en-US" sz="1600" dirty="0" err="1">
                <a:latin typeface="Courier" pitchFamily="2" charset="0"/>
              </a:rPr>
              <a:t>pq.insert</a:t>
            </a:r>
            <a:r>
              <a:rPr lang="en-US" sz="1600" dirty="0">
                <a:latin typeface="Courier" pitchFamily="2" charset="0"/>
              </a:rPr>
              <a:t>(</a:t>
            </a:r>
            <a:r>
              <a:rPr lang="en-US" sz="1600" dirty="0" err="1">
                <a:latin typeface="Courier" pitchFamily="2" charset="0"/>
              </a:rPr>
              <a:t>newNode</a:t>
            </a:r>
            <a:r>
              <a:rPr lang="en-US" sz="1600" dirty="0">
                <a:latin typeface="Courier" pitchFamily="2" charset="0"/>
              </a:rPr>
              <a:t>)</a:t>
            </a:r>
          </a:p>
          <a:p>
            <a:endParaRPr lang="en-US" sz="1600" dirty="0">
              <a:latin typeface="Courier" pitchFamily="2" charset="0"/>
            </a:endParaRPr>
          </a:p>
          <a:p>
            <a:r>
              <a:rPr lang="en-US" sz="1600" dirty="0">
                <a:latin typeface="Courier" pitchFamily="2" charset="0"/>
              </a:rPr>
              <a:t>    while (</a:t>
            </a:r>
            <a:r>
              <a:rPr lang="en-US" sz="1600" dirty="0" err="1">
                <a:latin typeface="Courier" pitchFamily="2" charset="0"/>
              </a:rPr>
              <a:t>pq.size</a:t>
            </a:r>
            <a:r>
              <a:rPr lang="en-US" sz="1600" dirty="0">
                <a:latin typeface="Courier" pitchFamily="2" charset="0"/>
              </a:rPr>
              <a:t>() &gt; 1):</a:t>
            </a:r>
          </a:p>
          <a:p>
            <a:r>
              <a:rPr lang="en-US" sz="1600" dirty="0">
                <a:latin typeface="Courier" pitchFamily="2" charset="0"/>
              </a:rPr>
              <a:t>        x = </a:t>
            </a:r>
            <a:r>
              <a:rPr lang="en-US" sz="1600" dirty="0" err="1">
                <a:latin typeface="Courier" pitchFamily="2" charset="0"/>
              </a:rPr>
              <a:t>pq.delMin</a:t>
            </a:r>
            <a:r>
              <a:rPr lang="en-US" sz="1600" dirty="0">
                <a:latin typeface="Courier" pitchFamily="2" charset="0"/>
              </a:rPr>
              <a:t>()</a:t>
            </a:r>
          </a:p>
          <a:p>
            <a:r>
              <a:rPr lang="en-US" sz="1600" dirty="0">
                <a:latin typeface="Courier" pitchFamily="2" charset="0"/>
              </a:rPr>
              <a:t>        y = </a:t>
            </a:r>
            <a:r>
              <a:rPr lang="en-US" sz="1600" dirty="0" err="1">
                <a:latin typeface="Courier" pitchFamily="2" charset="0"/>
              </a:rPr>
              <a:t>pq.delMin</a:t>
            </a:r>
            <a:r>
              <a:rPr lang="en-US" sz="1600" dirty="0">
                <a:latin typeface="Courier" pitchFamily="2" charset="0"/>
              </a:rPr>
              <a:t>()</a:t>
            </a:r>
          </a:p>
          <a:p>
            <a:r>
              <a:rPr lang="en-US" sz="1600" dirty="0">
                <a:latin typeface="Courier" pitchFamily="2" charset="0"/>
              </a:rPr>
              <a:t>        parent = Node('', </a:t>
            </a:r>
            <a:r>
              <a:rPr lang="en-US" sz="1600" dirty="0" err="1">
                <a:latin typeface="Courier" pitchFamily="2" charset="0"/>
              </a:rPr>
              <a:t>x.freq</a:t>
            </a:r>
            <a:r>
              <a:rPr lang="en-US" sz="1600" dirty="0">
                <a:latin typeface="Courier" pitchFamily="2" charset="0"/>
              </a:rPr>
              <a:t> + </a:t>
            </a:r>
            <a:r>
              <a:rPr lang="en-US" sz="1600" dirty="0" err="1">
                <a:latin typeface="Courier" pitchFamily="2" charset="0"/>
              </a:rPr>
              <a:t>y.freq</a:t>
            </a:r>
            <a:r>
              <a:rPr lang="en-US" sz="1600" dirty="0">
                <a:latin typeface="Courier" pitchFamily="2" charset="0"/>
              </a:rPr>
              <a:t>, x, y)</a:t>
            </a:r>
          </a:p>
          <a:p>
            <a:r>
              <a:rPr lang="en-US" sz="1600" dirty="0">
                <a:latin typeface="Courier" pitchFamily="2" charset="0"/>
              </a:rPr>
              <a:t>        </a:t>
            </a:r>
            <a:r>
              <a:rPr lang="en-US" sz="1600" dirty="0" err="1">
                <a:latin typeface="Courier" pitchFamily="2" charset="0"/>
              </a:rPr>
              <a:t>pq.insert</a:t>
            </a:r>
            <a:r>
              <a:rPr lang="en-US" sz="1600" dirty="0">
                <a:latin typeface="Courier" pitchFamily="2" charset="0"/>
              </a:rPr>
              <a:t>(parent)</a:t>
            </a:r>
          </a:p>
          <a:p>
            <a:r>
              <a:rPr lang="en-US" sz="1600" dirty="0">
                <a:latin typeface="Courier" pitchFamily="2" charset="0"/>
              </a:rPr>
              <a:t>    </a:t>
            </a:r>
          </a:p>
          <a:p>
            <a:r>
              <a:rPr lang="en-US" sz="1600" dirty="0">
                <a:latin typeface="Courier" pitchFamily="2" charset="0"/>
              </a:rPr>
              <a:t>    return </a:t>
            </a:r>
            <a:r>
              <a:rPr lang="en-US" sz="1600" dirty="0" err="1">
                <a:latin typeface="Courier" pitchFamily="2" charset="0"/>
              </a:rPr>
              <a:t>pq.delMin</a:t>
            </a:r>
            <a:r>
              <a:rPr lang="en-US" sz="1600" dirty="0">
                <a:latin typeface="Courier" pitchFamily="2" charset="0"/>
              </a:rPr>
              <a:t>()</a:t>
            </a:r>
          </a:p>
        </p:txBody>
      </p:sp>
      <p:sp>
        <p:nvSpPr>
          <p:cNvPr id="6" name="TextBox 5">
            <a:extLst>
              <a:ext uri="{FF2B5EF4-FFF2-40B4-BE49-F238E27FC236}">
                <a16:creationId xmlns:a16="http://schemas.microsoft.com/office/drawing/2014/main" id="{5EBD0B73-0A89-864D-81F1-741F76496E62}"/>
              </a:ext>
            </a:extLst>
          </p:cNvPr>
          <p:cNvSpPr txBox="1"/>
          <p:nvPr/>
        </p:nvSpPr>
        <p:spPr>
          <a:xfrm>
            <a:off x="7183142" y="3497522"/>
            <a:ext cx="4811151" cy="1815882"/>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Initialization step: one singleton </a:t>
            </a:r>
            <a:r>
              <a:rPr lang="en-US" sz="1600" dirty="0" err="1">
                <a:latin typeface="Arial" panose="020B0604020202020204" pitchFamily="34" charset="0"/>
                <a:cs typeface="Arial" panose="020B0604020202020204" pitchFamily="34" charset="0"/>
              </a:rPr>
              <a:t>trie</a:t>
            </a:r>
            <a:r>
              <a:rPr lang="en-US" sz="1600" dirty="0">
                <a:latin typeface="Arial" panose="020B0604020202020204" pitchFamily="34" charset="0"/>
                <a:cs typeface="Arial" panose="020B0604020202020204" pitchFamily="34" charset="0"/>
              </a:rPr>
              <a:t> created for each char that appears in message</a:t>
            </a:r>
          </a:p>
          <a:p>
            <a:endParaRPr lang="en-US" sz="1600" dirty="0">
              <a:latin typeface="Arial" panose="020B0604020202020204" pitchFamily="34" charset="0"/>
              <a:cs typeface="Arial" panose="020B0604020202020204" pitchFamily="34" charset="0"/>
            </a:endParaRPr>
          </a:p>
          <a:p>
            <a:endParaRPr lang="en-US" sz="1600" dirty="0">
              <a:latin typeface="Arial" panose="020B0604020202020204" pitchFamily="34" charset="0"/>
              <a:cs typeface="Arial" panose="020B0604020202020204" pitchFamily="34" charset="0"/>
            </a:endParaRP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Merge two least frequent tries until one </a:t>
            </a:r>
            <a:r>
              <a:rPr lang="en-US" sz="1600" dirty="0" err="1">
                <a:latin typeface="Arial" panose="020B0604020202020204" pitchFamily="34" charset="0"/>
                <a:cs typeface="Arial" panose="020B0604020202020204" pitchFamily="34" charset="0"/>
              </a:rPr>
              <a:t>trie</a:t>
            </a:r>
            <a:r>
              <a:rPr lang="en-US" sz="1600" dirty="0">
                <a:latin typeface="Arial" panose="020B0604020202020204" pitchFamily="34" charset="0"/>
                <a:cs typeface="Arial" panose="020B0604020202020204" pitchFamily="34" charset="0"/>
              </a:rPr>
              <a:t> only remains</a:t>
            </a:r>
          </a:p>
        </p:txBody>
      </p:sp>
      <p:grpSp>
        <p:nvGrpSpPr>
          <p:cNvPr id="53" name="Group 52">
            <a:extLst>
              <a:ext uri="{FF2B5EF4-FFF2-40B4-BE49-F238E27FC236}">
                <a16:creationId xmlns:a16="http://schemas.microsoft.com/office/drawing/2014/main" id="{BD2DDBEB-DEA0-3A4F-8D17-E68AC48D9810}"/>
              </a:ext>
              <a:ext uri="{C183D7F6-B498-43B3-948B-1728B52AA6E4}">
                <adec:decorative xmlns:adec="http://schemas.microsoft.com/office/drawing/2017/decorative" val="1"/>
              </a:ext>
            </a:extLst>
          </p:cNvPr>
          <p:cNvGrpSpPr/>
          <p:nvPr/>
        </p:nvGrpSpPr>
        <p:grpSpPr>
          <a:xfrm>
            <a:off x="6781073" y="3168594"/>
            <a:ext cx="347266" cy="2527337"/>
            <a:chOff x="6890292" y="3610564"/>
            <a:chExt cx="347266" cy="2527337"/>
          </a:xfrm>
        </p:grpSpPr>
        <p:sp>
          <p:nvSpPr>
            <p:cNvPr id="51" name="Right Brace 50">
              <a:extLst>
                <a:ext uri="{FF2B5EF4-FFF2-40B4-BE49-F238E27FC236}">
                  <a16:creationId xmlns:a16="http://schemas.microsoft.com/office/drawing/2014/main" id="{5AD6E0FE-70EA-114B-A0A3-4EC570A0509A}"/>
                </a:ext>
              </a:extLst>
            </p:cNvPr>
            <p:cNvSpPr/>
            <p:nvPr/>
          </p:nvSpPr>
          <p:spPr>
            <a:xfrm>
              <a:off x="6893087" y="3610564"/>
              <a:ext cx="344471" cy="1049925"/>
            </a:xfrm>
            <a:prstGeom prst="rightBrace">
              <a:avLst/>
            </a:prstGeom>
            <a:ln w="28575">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Right Brace 51">
              <a:extLst>
                <a:ext uri="{FF2B5EF4-FFF2-40B4-BE49-F238E27FC236}">
                  <a16:creationId xmlns:a16="http://schemas.microsoft.com/office/drawing/2014/main" id="{4D42D278-7400-704D-93D1-B42CC1F3DEBE}"/>
                </a:ext>
              </a:extLst>
            </p:cNvPr>
            <p:cNvSpPr/>
            <p:nvPr/>
          </p:nvSpPr>
          <p:spPr>
            <a:xfrm>
              <a:off x="6890292" y="4788441"/>
              <a:ext cx="336358" cy="1349460"/>
            </a:xfrm>
            <a:prstGeom prst="rightBrace">
              <a:avLst/>
            </a:prstGeom>
            <a:ln w="28575">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extLst>
      <p:ext uri="{BB962C8B-B14F-4D97-AF65-F5344CB8AC3E}">
        <p14:creationId xmlns:p14="http://schemas.microsoft.com/office/powerpoint/2010/main" val="18499050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61A64-88E3-514F-96E5-EB5877D9729F}"/>
              </a:ext>
            </a:extLst>
          </p:cNvPr>
          <p:cNvSpPr>
            <a:spLocks noGrp="1"/>
          </p:cNvSpPr>
          <p:nvPr>
            <p:ph type="title"/>
          </p:nvPr>
        </p:nvSpPr>
        <p:spPr/>
        <p:txBody>
          <a:bodyPr/>
          <a:lstStyle/>
          <a:p>
            <a:r>
              <a:rPr lang="en-US" dirty="0"/>
              <a:t>Huffman compression</a:t>
            </a:r>
          </a:p>
        </p:txBody>
      </p:sp>
      <p:sp>
        <p:nvSpPr>
          <p:cNvPr id="3" name="Content Placeholder 2">
            <a:extLst>
              <a:ext uri="{FF2B5EF4-FFF2-40B4-BE49-F238E27FC236}">
                <a16:creationId xmlns:a16="http://schemas.microsoft.com/office/drawing/2014/main" id="{B9A27260-ED92-1742-90BD-44C0FED54F03}"/>
              </a:ext>
            </a:extLst>
          </p:cNvPr>
          <p:cNvSpPr>
            <a:spLocks noGrp="1"/>
          </p:cNvSpPr>
          <p:nvPr>
            <p:ph idx="1"/>
          </p:nvPr>
        </p:nvSpPr>
        <p:spPr/>
        <p:txBody>
          <a:bodyPr/>
          <a:lstStyle/>
          <a:p>
            <a:r>
              <a:rPr lang="en-US" dirty="0">
                <a:highlight>
                  <a:srgbClr val="C0C0C0"/>
                </a:highlight>
              </a:rPr>
              <a:t>How-to:</a:t>
            </a:r>
            <a:r>
              <a:rPr lang="en-US" dirty="0">
                <a:solidFill>
                  <a:schemeClr val="accent5"/>
                </a:solidFill>
              </a:rPr>
              <a:t> </a:t>
            </a:r>
            <a:r>
              <a:rPr lang="en-US" dirty="0"/>
              <a:t>compression</a:t>
            </a:r>
          </a:p>
          <a:p>
            <a:pPr lvl="1"/>
            <a:r>
              <a:rPr lang="en-US" dirty="0" err="1">
                <a:solidFill>
                  <a:schemeClr val="bg1">
                    <a:lumMod val="75000"/>
                  </a:schemeClr>
                </a:solidFill>
              </a:rPr>
              <a:t>Trie</a:t>
            </a:r>
            <a:r>
              <a:rPr lang="en-US" dirty="0">
                <a:solidFill>
                  <a:schemeClr val="bg1">
                    <a:lumMod val="75000"/>
                  </a:schemeClr>
                </a:solidFill>
              </a:rPr>
              <a:t> construction </a:t>
            </a:r>
          </a:p>
          <a:p>
            <a:pPr lvl="1"/>
            <a:r>
              <a:rPr lang="en-US" dirty="0" err="1"/>
              <a:t>Trie</a:t>
            </a:r>
            <a:r>
              <a:rPr lang="en-US" dirty="0"/>
              <a:t> transmission</a:t>
            </a:r>
          </a:p>
          <a:p>
            <a:pPr lvl="1"/>
            <a:r>
              <a:rPr lang="en-US" dirty="0">
                <a:solidFill>
                  <a:schemeClr val="bg1">
                    <a:lumMod val="75000"/>
                  </a:schemeClr>
                </a:solidFill>
              </a:rPr>
              <a:t>Build an encoding table and use it (lookup) to compress</a:t>
            </a:r>
          </a:p>
          <a:p>
            <a:pPr lvl="1"/>
            <a:endParaRPr lang="en-US" dirty="0">
              <a:solidFill>
                <a:schemeClr val="bg1">
                  <a:lumMod val="75000"/>
                </a:schemeClr>
              </a:solidFill>
            </a:endParaRPr>
          </a:p>
          <a:p>
            <a:endParaRPr lang="en-US" dirty="0"/>
          </a:p>
        </p:txBody>
      </p:sp>
    </p:spTree>
    <p:extLst>
      <p:ext uri="{BB962C8B-B14F-4D97-AF65-F5344CB8AC3E}">
        <p14:creationId xmlns:p14="http://schemas.microsoft.com/office/powerpoint/2010/main" val="14555478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61A64-88E3-514F-96E5-EB5877D9729F}"/>
              </a:ext>
            </a:extLst>
          </p:cNvPr>
          <p:cNvSpPr>
            <a:spLocks noGrp="1"/>
          </p:cNvSpPr>
          <p:nvPr>
            <p:ph type="title"/>
          </p:nvPr>
        </p:nvSpPr>
        <p:spPr/>
        <p:txBody>
          <a:bodyPr/>
          <a:lstStyle/>
          <a:p>
            <a:r>
              <a:rPr lang="en-US" dirty="0"/>
              <a:t>Huffman compression</a:t>
            </a:r>
          </a:p>
        </p:txBody>
      </p:sp>
      <p:sp>
        <p:nvSpPr>
          <p:cNvPr id="3" name="Content Placeholder 2">
            <a:extLst>
              <a:ext uri="{FF2B5EF4-FFF2-40B4-BE49-F238E27FC236}">
                <a16:creationId xmlns:a16="http://schemas.microsoft.com/office/drawing/2014/main" id="{B9A27260-ED92-1742-90BD-44C0FED54F03}"/>
              </a:ext>
            </a:extLst>
          </p:cNvPr>
          <p:cNvSpPr>
            <a:spLocks noGrp="1"/>
          </p:cNvSpPr>
          <p:nvPr>
            <p:ph idx="1"/>
          </p:nvPr>
        </p:nvSpPr>
        <p:spPr/>
        <p:txBody>
          <a:bodyPr/>
          <a:lstStyle/>
          <a:p>
            <a:r>
              <a:rPr lang="en-US" dirty="0" err="1"/>
              <a:t>Trie</a:t>
            </a:r>
            <a:r>
              <a:rPr lang="en-US" dirty="0"/>
              <a:t> transmission (writing &amp; reading a </a:t>
            </a:r>
            <a:r>
              <a:rPr lang="en-US" dirty="0" err="1"/>
              <a:t>trie</a:t>
            </a:r>
            <a:r>
              <a:rPr lang="en-US" dirty="0"/>
              <a:t>)</a:t>
            </a:r>
          </a:p>
        </p:txBody>
      </p:sp>
    </p:spTree>
    <p:extLst>
      <p:ext uri="{BB962C8B-B14F-4D97-AF65-F5344CB8AC3E}">
        <p14:creationId xmlns:p14="http://schemas.microsoft.com/office/powerpoint/2010/main" val="41577545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61A64-88E3-514F-96E5-EB5877D9729F}"/>
              </a:ext>
            </a:extLst>
          </p:cNvPr>
          <p:cNvSpPr>
            <a:spLocks noGrp="1"/>
          </p:cNvSpPr>
          <p:nvPr>
            <p:ph type="title"/>
          </p:nvPr>
        </p:nvSpPr>
        <p:spPr/>
        <p:txBody>
          <a:bodyPr/>
          <a:lstStyle/>
          <a:p>
            <a:r>
              <a:rPr lang="en-US" dirty="0"/>
              <a:t>Huffman compression</a:t>
            </a:r>
          </a:p>
        </p:txBody>
      </p:sp>
      <p:sp>
        <p:nvSpPr>
          <p:cNvPr id="3" name="Content Placeholder 2">
            <a:extLst>
              <a:ext uri="{FF2B5EF4-FFF2-40B4-BE49-F238E27FC236}">
                <a16:creationId xmlns:a16="http://schemas.microsoft.com/office/drawing/2014/main" id="{B9A27260-ED92-1742-90BD-44C0FED54F03}"/>
              </a:ext>
            </a:extLst>
          </p:cNvPr>
          <p:cNvSpPr>
            <a:spLocks noGrp="1"/>
          </p:cNvSpPr>
          <p:nvPr>
            <p:ph idx="1"/>
          </p:nvPr>
        </p:nvSpPr>
        <p:spPr/>
        <p:txBody>
          <a:bodyPr/>
          <a:lstStyle/>
          <a:p>
            <a:r>
              <a:rPr lang="en-US" dirty="0" err="1"/>
              <a:t>Trie</a:t>
            </a:r>
            <a:r>
              <a:rPr lang="en-US" dirty="0"/>
              <a:t> transmission (writing &amp; reading a </a:t>
            </a:r>
            <a:r>
              <a:rPr lang="en-US" dirty="0" err="1"/>
              <a:t>trie</a:t>
            </a:r>
            <a:r>
              <a:rPr lang="en-US" dirty="0"/>
              <a:t>)</a:t>
            </a:r>
          </a:p>
          <a:p>
            <a:pPr lvl="1"/>
            <a:r>
              <a:rPr lang="en-US" dirty="0"/>
              <a:t>Writing</a:t>
            </a:r>
          </a:p>
          <a:p>
            <a:pPr lvl="2"/>
            <a:r>
              <a:rPr lang="en-US" dirty="0"/>
              <a:t>Pre-order traversal of the </a:t>
            </a:r>
            <a:r>
              <a:rPr lang="en-US" dirty="0" err="1"/>
              <a:t>trie</a:t>
            </a:r>
            <a:endParaRPr lang="en-US" dirty="0"/>
          </a:p>
          <a:p>
            <a:pPr lvl="2"/>
            <a:r>
              <a:rPr lang="en-US" dirty="0"/>
              <a:t>For each internal node, emit 0</a:t>
            </a:r>
          </a:p>
          <a:p>
            <a:pPr lvl="2"/>
            <a:r>
              <a:rPr lang="en-US" dirty="0"/>
              <a:t>For each leaf node, emit 1 followed by the corresponding char</a:t>
            </a:r>
          </a:p>
        </p:txBody>
      </p:sp>
      <p:sp>
        <p:nvSpPr>
          <p:cNvPr id="4" name="TextBox 3">
            <a:extLst>
              <a:ext uri="{FF2B5EF4-FFF2-40B4-BE49-F238E27FC236}">
                <a16:creationId xmlns:a16="http://schemas.microsoft.com/office/drawing/2014/main" id="{F3280EE1-6F98-5742-9E5A-ADC344014F68}"/>
              </a:ext>
            </a:extLst>
          </p:cNvPr>
          <p:cNvSpPr txBox="1"/>
          <p:nvPr/>
        </p:nvSpPr>
        <p:spPr>
          <a:xfrm>
            <a:off x="692774" y="3671419"/>
            <a:ext cx="4875053" cy="2308324"/>
          </a:xfrm>
          <a:prstGeom prst="rect">
            <a:avLst/>
          </a:prstGeom>
          <a:noFill/>
          <a:ln w="28575">
            <a:solidFill>
              <a:schemeClr val="bg1">
                <a:lumMod val="75000"/>
              </a:schemeClr>
            </a:solidFill>
          </a:ln>
        </p:spPr>
        <p:txBody>
          <a:bodyPr wrap="none" rtlCol="0">
            <a:spAutoFit/>
          </a:bodyPr>
          <a:lstStyle/>
          <a:p>
            <a:r>
              <a:rPr lang="en-US" sz="1600" dirty="0">
                <a:latin typeface="Courier" pitchFamily="2" charset="0"/>
              </a:rPr>
              <a:t>def </a:t>
            </a:r>
            <a:r>
              <a:rPr lang="en-US" sz="1600" dirty="0" err="1">
                <a:latin typeface="Courier" pitchFamily="2" charset="0"/>
              </a:rPr>
              <a:t>writeTrie</a:t>
            </a:r>
            <a:r>
              <a:rPr lang="en-US" sz="1600" dirty="0">
                <a:latin typeface="Courier" pitchFamily="2" charset="0"/>
              </a:rPr>
              <a:t>(node):</a:t>
            </a:r>
          </a:p>
          <a:p>
            <a:r>
              <a:rPr lang="en-US" sz="1600" dirty="0">
                <a:latin typeface="Courier" pitchFamily="2" charset="0"/>
              </a:rPr>
              <a:t>    if (</a:t>
            </a:r>
            <a:r>
              <a:rPr lang="en-US" sz="1600" dirty="0" err="1">
                <a:latin typeface="Courier" pitchFamily="2" charset="0"/>
              </a:rPr>
              <a:t>node.isLeaf</a:t>
            </a:r>
            <a:r>
              <a:rPr lang="en-US" sz="1600" dirty="0">
                <a:latin typeface="Courier" pitchFamily="2" charset="0"/>
              </a:rPr>
              <a:t>()):</a:t>
            </a:r>
          </a:p>
          <a:p>
            <a:r>
              <a:rPr lang="en-US" sz="1600" dirty="0">
                <a:latin typeface="Courier" pitchFamily="2" charset="0"/>
              </a:rPr>
              <a:t>        </a:t>
            </a:r>
            <a:r>
              <a:rPr lang="en-US" sz="1600" dirty="0" err="1">
                <a:latin typeface="Courier" pitchFamily="2" charset="0"/>
              </a:rPr>
              <a:t>BinaryStdOut.write</a:t>
            </a:r>
            <a:r>
              <a:rPr lang="en-US" sz="1600" dirty="0">
                <a:latin typeface="Courier" pitchFamily="2" charset="0"/>
              </a:rPr>
              <a:t>(true)</a:t>
            </a:r>
          </a:p>
          <a:p>
            <a:r>
              <a:rPr lang="en-US" sz="1600" dirty="0">
                <a:latin typeface="Courier" pitchFamily="2" charset="0"/>
              </a:rPr>
              <a:t>        </a:t>
            </a:r>
            <a:r>
              <a:rPr lang="en-US" sz="1600" dirty="0" err="1">
                <a:latin typeface="Courier" pitchFamily="2" charset="0"/>
              </a:rPr>
              <a:t>BinaryStdOut.write</a:t>
            </a:r>
            <a:r>
              <a:rPr lang="en-US" sz="1600" dirty="0">
                <a:latin typeface="Courier" pitchFamily="2" charset="0"/>
              </a:rPr>
              <a:t>(</a:t>
            </a:r>
            <a:r>
              <a:rPr lang="en-US" sz="1600" dirty="0" err="1">
                <a:latin typeface="Courier" pitchFamily="2" charset="0"/>
              </a:rPr>
              <a:t>node.ch</a:t>
            </a:r>
            <a:r>
              <a:rPr lang="en-US" sz="1600" dirty="0">
                <a:latin typeface="Courier" pitchFamily="2" charset="0"/>
              </a:rPr>
              <a:t>, 8)</a:t>
            </a:r>
          </a:p>
          <a:p>
            <a:r>
              <a:rPr lang="en-US" sz="1600" dirty="0">
                <a:latin typeface="Courier" pitchFamily="2" charset="0"/>
              </a:rPr>
              <a:t>        return</a:t>
            </a:r>
          </a:p>
          <a:p>
            <a:endParaRPr lang="en-US" sz="1600" dirty="0">
              <a:latin typeface="Courier" pitchFamily="2" charset="0"/>
            </a:endParaRPr>
          </a:p>
          <a:p>
            <a:r>
              <a:rPr lang="en-US" sz="1600" dirty="0">
                <a:latin typeface="Courier" pitchFamily="2" charset="0"/>
              </a:rPr>
              <a:t>    </a:t>
            </a:r>
            <a:r>
              <a:rPr lang="en-US" sz="1600" dirty="0" err="1">
                <a:latin typeface="Courier" pitchFamily="2" charset="0"/>
              </a:rPr>
              <a:t>BinaryStdOut.write</a:t>
            </a:r>
            <a:r>
              <a:rPr lang="en-US" sz="1600" dirty="0">
                <a:latin typeface="Courier" pitchFamily="2" charset="0"/>
              </a:rPr>
              <a:t>(false)</a:t>
            </a:r>
          </a:p>
          <a:p>
            <a:r>
              <a:rPr lang="en-US" sz="1600" dirty="0">
                <a:latin typeface="Courier" pitchFamily="2" charset="0"/>
              </a:rPr>
              <a:t>    </a:t>
            </a:r>
            <a:r>
              <a:rPr lang="en-US" sz="1600" dirty="0" err="1">
                <a:latin typeface="Courier" pitchFamily="2" charset="0"/>
              </a:rPr>
              <a:t>writeTrie</a:t>
            </a:r>
            <a:r>
              <a:rPr lang="en-US" sz="1600" dirty="0">
                <a:latin typeface="Courier" pitchFamily="2" charset="0"/>
              </a:rPr>
              <a:t>(</a:t>
            </a:r>
            <a:r>
              <a:rPr lang="en-US" sz="1600" dirty="0" err="1">
                <a:latin typeface="Courier" pitchFamily="2" charset="0"/>
              </a:rPr>
              <a:t>node.left</a:t>
            </a:r>
            <a:r>
              <a:rPr lang="en-US" sz="1600" dirty="0">
                <a:latin typeface="Courier" pitchFamily="2" charset="0"/>
              </a:rPr>
              <a:t>)</a:t>
            </a:r>
          </a:p>
          <a:p>
            <a:r>
              <a:rPr lang="en-US" sz="1600" dirty="0">
                <a:latin typeface="Courier" pitchFamily="2" charset="0"/>
              </a:rPr>
              <a:t>    </a:t>
            </a:r>
            <a:r>
              <a:rPr lang="en-US" sz="1600" dirty="0" err="1">
                <a:latin typeface="Courier" pitchFamily="2" charset="0"/>
              </a:rPr>
              <a:t>writeTrie</a:t>
            </a:r>
            <a:r>
              <a:rPr lang="en-US" sz="1600" dirty="0">
                <a:latin typeface="Courier" pitchFamily="2" charset="0"/>
              </a:rPr>
              <a:t>(</a:t>
            </a:r>
            <a:r>
              <a:rPr lang="en-US" sz="1600" dirty="0" err="1">
                <a:latin typeface="Courier" pitchFamily="2" charset="0"/>
              </a:rPr>
              <a:t>node.right</a:t>
            </a:r>
            <a:r>
              <a:rPr lang="en-US" sz="1600" dirty="0">
                <a:latin typeface="Courier" pitchFamily="2" charset="0"/>
              </a:rPr>
              <a:t>)</a:t>
            </a:r>
          </a:p>
        </p:txBody>
      </p:sp>
    </p:spTree>
    <p:extLst>
      <p:ext uri="{BB962C8B-B14F-4D97-AF65-F5344CB8AC3E}">
        <p14:creationId xmlns:p14="http://schemas.microsoft.com/office/powerpoint/2010/main" val="30484788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61A64-88E3-514F-96E5-EB5877D9729F}"/>
              </a:ext>
            </a:extLst>
          </p:cNvPr>
          <p:cNvSpPr>
            <a:spLocks noGrp="1"/>
          </p:cNvSpPr>
          <p:nvPr>
            <p:ph type="title"/>
          </p:nvPr>
        </p:nvSpPr>
        <p:spPr/>
        <p:txBody>
          <a:bodyPr/>
          <a:lstStyle/>
          <a:p>
            <a:r>
              <a:rPr lang="en-US" dirty="0"/>
              <a:t>Huffman compression</a:t>
            </a:r>
          </a:p>
        </p:txBody>
      </p:sp>
      <p:sp>
        <p:nvSpPr>
          <p:cNvPr id="3" name="Content Placeholder 2">
            <a:extLst>
              <a:ext uri="{FF2B5EF4-FFF2-40B4-BE49-F238E27FC236}">
                <a16:creationId xmlns:a16="http://schemas.microsoft.com/office/drawing/2014/main" id="{B9A27260-ED92-1742-90BD-44C0FED54F03}"/>
              </a:ext>
            </a:extLst>
          </p:cNvPr>
          <p:cNvSpPr>
            <a:spLocks noGrp="1"/>
          </p:cNvSpPr>
          <p:nvPr>
            <p:ph idx="1"/>
          </p:nvPr>
        </p:nvSpPr>
        <p:spPr/>
        <p:txBody>
          <a:bodyPr/>
          <a:lstStyle/>
          <a:p>
            <a:r>
              <a:rPr lang="en-US" dirty="0" err="1"/>
              <a:t>Trie</a:t>
            </a:r>
            <a:r>
              <a:rPr lang="en-US" dirty="0"/>
              <a:t> transmission (writing &amp; reading a </a:t>
            </a:r>
            <a:r>
              <a:rPr lang="en-US" dirty="0" err="1"/>
              <a:t>trie</a:t>
            </a:r>
            <a:r>
              <a:rPr lang="en-US" dirty="0"/>
              <a:t>)</a:t>
            </a:r>
          </a:p>
          <a:p>
            <a:pPr lvl="1"/>
            <a:r>
              <a:rPr lang="en-US" dirty="0"/>
              <a:t>Writing</a:t>
            </a:r>
          </a:p>
          <a:p>
            <a:pPr lvl="2"/>
            <a:r>
              <a:rPr lang="en-US" dirty="0"/>
              <a:t>Pre-order traversal of the </a:t>
            </a:r>
            <a:r>
              <a:rPr lang="en-US" dirty="0" err="1"/>
              <a:t>trie</a:t>
            </a:r>
            <a:endParaRPr lang="en-US" dirty="0"/>
          </a:p>
          <a:p>
            <a:pPr lvl="2"/>
            <a:r>
              <a:rPr lang="en-US" dirty="0"/>
              <a:t>For each internal node, emit 0</a:t>
            </a:r>
          </a:p>
          <a:p>
            <a:pPr lvl="2"/>
            <a:r>
              <a:rPr lang="en-US" dirty="0"/>
              <a:t>For each leaf node, emit 1 followed by the corresponding char</a:t>
            </a:r>
          </a:p>
        </p:txBody>
      </p:sp>
      <p:sp>
        <p:nvSpPr>
          <p:cNvPr id="4" name="TextBox 3">
            <a:extLst>
              <a:ext uri="{FF2B5EF4-FFF2-40B4-BE49-F238E27FC236}">
                <a16:creationId xmlns:a16="http://schemas.microsoft.com/office/drawing/2014/main" id="{F3280EE1-6F98-5742-9E5A-ADC344014F68}"/>
              </a:ext>
            </a:extLst>
          </p:cNvPr>
          <p:cNvSpPr txBox="1"/>
          <p:nvPr/>
        </p:nvSpPr>
        <p:spPr>
          <a:xfrm>
            <a:off x="692774" y="3671419"/>
            <a:ext cx="4875053" cy="2308324"/>
          </a:xfrm>
          <a:prstGeom prst="rect">
            <a:avLst/>
          </a:prstGeom>
          <a:noFill/>
          <a:ln w="28575">
            <a:solidFill>
              <a:schemeClr val="bg1">
                <a:lumMod val="75000"/>
              </a:schemeClr>
            </a:solidFill>
          </a:ln>
        </p:spPr>
        <p:txBody>
          <a:bodyPr wrap="none" rtlCol="0">
            <a:spAutoFit/>
          </a:bodyPr>
          <a:lstStyle/>
          <a:p>
            <a:r>
              <a:rPr lang="en-US" sz="1600" dirty="0">
                <a:latin typeface="Courier" pitchFamily="2" charset="0"/>
              </a:rPr>
              <a:t>def </a:t>
            </a:r>
            <a:r>
              <a:rPr lang="en-US" sz="1600" dirty="0" err="1">
                <a:latin typeface="Courier" pitchFamily="2" charset="0"/>
              </a:rPr>
              <a:t>writeTrie</a:t>
            </a:r>
            <a:r>
              <a:rPr lang="en-US" sz="1600" dirty="0">
                <a:latin typeface="Courier" pitchFamily="2" charset="0"/>
              </a:rPr>
              <a:t>(node):</a:t>
            </a:r>
          </a:p>
          <a:p>
            <a:r>
              <a:rPr lang="en-US" sz="1600" dirty="0">
                <a:latin typeface="Courier" pitchFamily="2" charset="0"/>
              </a:rPr>
              <a:t>    if (</a:t>
            </a:r>
            <a:r>
              <a:rPr lang="en-US" sz="1600" dirty="0" err="1">
                <a:latin typeface="Courier" pitchFamily="2" charset="0"/>
              </a:rPr>
              <a:t>node.isLeaf</a:t>
            </a:r>
            <a:r>
              <a:rPr lang="en-US" sz="1600" dirty="0">
                <a:latin typeface="Courier" pitchFamily="2" charset="0"/>
              </a:rPr>
              <a:t>()):</a:t>
            </a:r>
          </a:p>
          <a:p>
            <a:r>
              <a:rPr lang="en-US" sz="1600" dirty="0">
                <a:latin typeface="Courier" pitchFamily="2" charset="0"/>
              </a:rPr>
              <a:t>        </a:t>
            </a:r>
            <a:r>
              <a:rPr lang="en-US" sz="1600" b="1" dirty="0" err="1">
                <a:latin typeface="Courier" pitchFamily="2" charset="0"/>
              </a:rPr>
              <a:t>BinaryStdOut.write</a:t>
            </a:r>
            <a:r>
              <a:rPr lang="en-US" sz="1600" b="1" dirty="0">
                <a:latin typeface="Courier" pitchFamily="2" charset="0"/>
              </a:rPr>
              <a:t>(true)</a:t>
            </a:r>
          </a:p>
          <a:p>
            <a:r>
              <a:rPr lang="en-US" sz="1600" dirty="0">
                <a:latin typeface="Courier" pitchFamily="2" charset="0"/>
              </a:rPr>
              <a:t>        </a:t>
            </a:r>
            <a:r>
              <a:rPr lang="en-US" sz="1600" b="1" dirty="0" err="1">
                <a:solidFill>
                  <a:srgbClr val="C00000"/>
                </a:solidFill>
                <a:latin typeface="Courier" pitchFamily="2" charset="0"/>
              </a:rPr>
              <a:t>BinaryStdOut.write</a:t>
            </a:r>
            <a:r>
              <a:rPr lang="en-US" sz="1600" b="1" dirty="0">
                <a:solidFill>
                  <a:srgbClr val="C00000"/>
                </a:solidFill>
                <a:latin typeface="Courier" pitchFamily="2" charset="0"/>
              </a:rPr>
              <a:t>(</a:t>
            </a:r>
            <a:r>
              <a:rPr lang="en-US" sz="1600" b="1" dirty="0" err="1">
                <a:solidFill>
                  <a:srgbClr val="C00000"/>
                </a:solidFill>
                <a:latin typeface="Courier" pitchFamily="2" charset="0"/>
              </a:rPr>
              <a:t>node.ch</a:t>
            </a:r>
            <a:r>
              <a:rPr lang="en-US" sz="1600" b="1" dirty="0">
                <a:solidFill>
                  <a:srgbClr val="C00000"/>
                </a:solidFill>
                <a:latin typeface="Courier" pitchFamily="2" charset="0"/>
              </a:rPr>
              <a:t>, 8)</a:t>
            </a:r>
          </a:p>
          <a:p>
            <a:r>
              <a:rPr lang="en-US" sz="1600" dirty="0">
                <a:latin typeface="Courier" pitchFamily="2" charset="0"/>
              </a:rPr>
              <a:t>        return</a:t>
            </a:r>
          </a:p>
          <a:p>
            <a:endParaRPr lang="en-US" sz="1600" dirty="0">
              <a:latin typeface="Courier" pitchFamily="2" charset="0"/>
            </a:endParaRPr>
          </a:p>
          <a:p>
            <a:r>
              <a:rPr lang="en-US" sz="1600" dirty="0">
                <a:latin typeface="Courier" pitchFamily="2" charset="0"/>
              </a:rPr>
              <a:t>    </a:t>
            </a:r>
            <a:r>
              <a:rPr lang="en-US" sz="1600" b="1" dirty="0" err="1">
                <a:solidFill>
                  <a:schemeClr val="accent5"/>
                </a:solidFill>
                <a:latin typeface="Courier" pitchFamily="2" charset="0"/>
              </a:rPr>
              <a:t>BinaryStdOut.write</a:t>
            </a:r>
            <a:r>
              <a:rPr lang="en-US" sz="1600" b="1" dirty="0">
                <a:solidFill>
                  <a:schemeClr val="accent5"/>
                </a:solidFill>
                <a:latin typeface="Courier" pitchFamily="2" charset="0"/>
              </a:rPr>
              <a:t>(false)</a:t>
            </a:r>
          </a:p>
          <a:p>
            <a:r>
              <a:rPr lang="en-US" sz="1600" dirty="0">
                <a:latin typeface="Courier" pitchFamily="2" charset="0"/>
              </a:rPr>
              <a:t>    </a:t>
            </a:r>
            <a:r>
              <a:rPr lang="en-US" sz="1600" dirty="0" err="1">
                <a:latin typeface="Courier" pitchFamily="2" charset="0"/>
              </a:rPr>
              <a:t>writeTrie</a:t>
            </a:r>
            <a:r>
              <a:rPr lang="en-US" sz="1600" dirty="0">
                <a:latin typeface="Courier" pitchFamily="2" charset="0"/>
              </a:rPr>
              <a:t>(</a:t>
            </a:r>
            <a:r>
              <a:rPr lang="en-US" sz="1600" dirty="0" err="1">
                <a:latin typeface="Courier" pitchFamily="2" charset="0"/>
              </a:rPr>
              <a:t>node.left</a:t>
            </a:r>
            <a:r>
              <a:rPr lang="en-US" sz="1600" dirty="0">
                <a:latin typeface="Courier" pitchFamily="2" charset="0"/>
              </a:rPr>
              <a:t>)</a:t>
            </a:r>
          </a:p>
          <a:p>
            <a:r>
              <a:rPr lang="en-US" sz="1600" dirty="0">
                <a:latin typeface="Courier" pitchFamily="2" charset="0"/>
              </a:rPr>
              <a:t>    </a:t>
            </a:r>
            <a:r>
              <a:rPr lang="en-US" sz="1600" dirty="0" err="1">
                <a:latin typeface="Courier" pitchFamily="2" charset="0"/>
              </a:rPr>
              <a:t>writeTrie</a:t>
            </a:r>
            <a:r>
              <a:rPr lang="en-US" sz="1600" dirty="0">
                <a:latin typeface="Courier" pitchFamily="2" charset="0"/>
              </a:rPr>
              <a:t>(</a:t>
            </a:r>
            <a:r>
              <a:rPr lang="en-US" sz="1600" dirty="0" err="1">
                <a:latin typeface="Courier" pitchFamily="2" charset="0"/>
              </a:rPr>
              <a:t>node.right</a:t>
            </a:r>
            <a:r>
              <a:rPr lang="en-US" sz="1600" dirty="0">
                <a:latin typeface="Courier" pitchFamily="2" charset="0"/>
              </a:rPr>
              <a:t>)</a:t>
            </a:r>
          </a:p>
        </p:txBody>
      </p:sp>
      <p:grpSp>
        <p:nvGrpSpPr>
          <p:cNvPr id="58" name="Group 57" descr="example simulation of trie transmission">
            <a:extLst>
              <a:ext uri="{FF2B5EF4-FFF2-40B4-BE49-F238E27FC236}">
                <a16:creationId xmlns:a16="http://schemas.microsoft.com/office/drawing/2014/main" id="{19FD3380-36D0-8D4A-A634-8238A6CCE0F1}"/>
              </a:ext>
            </a:extLst>
          </p:cNvPr>
          <p:cNvGrpSpPr/>
          <p:nvPr/>
        </p:nvGrpSpPr>
        <p:grpSpPr>
          <a:xfrm>
            <a:off x="5077534" y="3524865"/>
            <a:ext cx="6942093" cy="3137561"/>
            <a:chOff x="5077534" y="3524865"/>
            <a:chExt cx="6942093" cy="3137561"/>
          </a:xfrm>
        </p:grpSpPr>
        <p:grpSp>
          <p:nvGrpSpPr>
            <p:cNvPr id="5" name="Group 4">
              <a:extLst>
                <a:ext uri="{FF2B5EF4-FFF2-40B4-BE49-F238E27FC236}">
                  <a16:creationId xmlns:a16="http://schemas.microsoft.com/office/drawing/2014/main" id="{BF47D7C3-C2EC-484C-BC98-7828206A6C0D}"/>
                </a:ext>
              </a:extLst>
            </p:cNvPr>
            <p:cNvGrpSpPr>
              <a:grpSpLocks noChangeAspect="1"/>
            </p:cNvGrpSpPr>
            <p:nvPr/>
          </p:nvGrpSpPr>
          <p:grpSpPr>
            <a:xfrm>
              <a:off x="6402627" y="3850017"/>
              <a:ext cx="2536675" cy="1951127"/>
              <a:chOff x="1963362" y="3625948"/>
              <a:chExt cx="3623821" cy="2787325"/>
            </a:xfrm>
          </p:grpSpPr>
          <p:sp>
            <p:nvSpPr>
              <p:cNvPr id="6" name="Oval 5">
                <a:extLst>
                  <a:ext uri="{FF2B5EF4-FFF2-40B4-BE49-F238E27FC236}">
                    <a16:creationId xmlns:a16="http://schemas.microsoft.com/office/drawing/2014/main" id="{8F592649-5CD7-DA47-A098-677827578362}"/>
                  </a:ext>
                </a:extLst>
              </p:cNvPr>
              <p:cNvSpPr/>
              <p:nvPr/>
            </p:nvSpPr>
            <p:spPr>
              <a:xfrm>
                <a:off x="2971233" y="3625948"/>
                <a:ext cx="318654" cy="332509"/>
              </a:xfrm>
              <a:prstGeom prst="ellipse">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latin typeface="Arial" panose="020B0604020202020204" pitchFamily="34" charset="0"/>
                  <a:cs typeface="Arial" panose="020B0604020202020204" pitchFamily="34" charset="0"/>
                </a:endParaRPr>
              </a:p>
            </p:txBody>
          </p:sp>
          <p:sp>
            <p:nvSpPr>
              <p:cNvPr id="7" name="Oval 6">
                <a:extLst>
                  <a:ext uri="{FF2B5EF4-FFF2-40B4-BE49-F238E27FC236}">
                    <a16:creationId xmlns:a16="http://schemas.microsoft.com/office/drawing/2014/main" id="{53401E51-D47E-E74B-B47C-32372E24715C}"/>
                  </a:ext>
                </a:extLst>
              </p:cNvPr>
              <p:cNvSpPr/>
              <p:nvPr/>
            </p:nvSpPr>
            <p:spPr>
              <a:xfrm>
                <a:off x="2063069" y="4099720"/>
                <a:ext cx="318654" cy="332509"/>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C00000"/>
                    </a:solidFill>
                    <a:latin typeface="Arial" panose="020B0604020202020204" pitchFamily="34" charset="0"/>
                    <a:cs typeface="Arial" panose="020B0604020202020204" pitchFamily="34" charset="0"/>
                  </a:rPr>
                  <a:t>A</a:t>
                </a:r>
              </a:p>
            </p:txBody>
          </p:sp>
          <p:cxnSp>
            <p:nvCxnSpPr>
              <p:cNvPr id="8" name="Straight Connector 7">
                <a:extLst>
                  <a:ext uri="{FF2B5EF4-FFF2-40B4-BE49-F238E27FC236}">
                    <a16:creationId xmlns:a16="http://schemas.microsoft.com/office/drawing/2014/main" id="{7A4123C7-914C-6F41-B7DD-DE2BDFCE51A4}"/>
                  </a:ext>
                </a:extLst>
              </p:cNvPr>
              <p:cNvCxnSpPr>
                <a:stCxn id="6" idx="2"/>
                <a:endCxn id="7" idx="7"/>
              </p:cNvCxnSpPr>
              <p:nvPr/>
            </p:nvCxnSpPr>
            <p:spPr>
              <a:xfrm flipH="1">
                <a:off x="2335057" y="3792203"/>
                <a:ext cx="636176" cy="356212"/>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2390EBD-61AC-F84F-BE2F-533DC058D152}"/>
                  </a:ext>
                </a:extLst>
              </p:cNvPr>
              <p:cNvCxnSpPr>
                <a:cxnSpLocks/>
                <a:stCxn id="6" idx="6"/>
                <a:endCxn id="14" idx="1"/>
              </p:cNvCxnSpPr>
              <p:nvPr/>
            </p:nvCxnSpPr>
            <p:spPr>
              <a:xfrm>
                <a:off x="3289887" y="3792203"/>
                <a:ext cx="631488" cy="451228"/>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6385BBE-E52C-4843-A50D-08E1C33B525D}"/>
                  </a:ext>
                </a:extLst>
              </p:cNvPr>
              <p:cNvCxnSpPr>
                <a:cxnSpLocks/>
                <a:stCxn id="7" idx="5"/>
              </p:cNvCxnSpPr>
              <p:nvPr/>
            </p:nvCxnSpPr>
            <p:spPr>
              <a:xfrm>
                <a:off x="2335057" y="4383534"/>
                <a:ext cx="89411"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99E05BDB-0DEF-1A4C-AF7D-C97084BEB09D}"/>
                  </a:ext>
                </a:extLst>
              </p:cNvPr>
              <p:cNvCxnSpPr>
                <a:cxnSpLocks/>
                <a:stCxn id="7" idx="3"/>
              </p:cNvCxnSpPr>
              <p:nvPr/>
            </p:nvCxnSpPr>
            <p:spPr>
              <a:xfrm flipH="1">
                <a:off x="1963362" y="4383534"/>
                <a:ext cx="146373"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75D4F6B9-BF83-A04E-B873-149487E5759A}"/>
                  </a:ext>
                </a:extLst>
              </p:cNvPr>
              <p:cNvSpPr/>
              <p:nvPr/>
            </p:nvSpPr>
            <p:spPr>
              <a:xfrm>
                <a:off x="3874709" y="4194736"/>
                <a:ext cx="318654" cy="332509"/>
              </a:xfrm>
              <a:prstGeom prst="ellipse">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latin typeface="Arial" panose="020B0604020202020204" pitchFamily="34" charset="0"/>
                  <a:cs typeface="Arial" panose="020B0604020202020204" pitchFamily="34" charset="0"/>
                </a:endParaRPr>
              </a:p>
            </p:txBody>
          </p:sp>
          <p:sp>
            <p:nvSpPr>
              <p:cNvPr id="15" name="Oval 14">
                <a:extLst>
                  <a:ext uri="{FF2B5EF4-FFF2-40B4-BE49-F238E27FC236}">
                    <a16:creationId xmlns:a16="http://schemas.microsoft.com/office/drawing/2014/main" id="{F4765F58-D776-EC4E-8B7E-BE562F6712C0}"/>
                  </a:ext>
                </a:extLst>
              </p:cNvPr>
              <p:cNvSpPr/>
              <p:nvPr/>
            </p:nvSpPr>
            <p:spPr>
              <a:xfrm>
                <a:off x="3052373" y="4599008"/>
                <a:ext cx="318654" cy="332509"/>
              </a:xfrm>
              <a:prstGeom prst="ellipse">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latin typeface="Arial" panose="020B0604020202020204" pitchFamily="34" charset="0"/>
                  <a:cs typeface="Arial" panose="020B0604020202020204" pitchFamily="34" charset="0"/>
                </a:endParaRPr>
              </a:p>
            </p:txBody>
          </p:sp>
          <p:cxnSp>
            <p:nvCxnSpPr>
              <p:cNvPr id="16" name="Straight Connector 15">
                <a:extLst>
                  <a:ext uri="{FF2B5EF4-FFF2-40B4-BE49-F238E27FC236}">
                    <a16:creationId xmlns:a16="http://schemas.microsoft.com/office/drawing/2014/main" id="{9FE26F44-66F9-6F41-BF9C-17241C8B6CA1}"/>
                  </a:ext>
                </a:extLst>
              </p:cNvPr>
              <p:cNvCxnSpPr>
                <a:stCxn id="14" idx="2"/>
                <a:endCxn id="15" idx="7"/>
              </p:cNvCxnSpPr>
              <p:nvPr/>
            </p:nvCxnSpPr>
            <p:spPr>
              <a:xfrm flipH="1">
                <a:off x="3324361" y="4360991"/>
                <a:ext cx="550348" cy="286712"/>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056239F-87B2-BD44-9752-F4F68F3A1BC1}"/>
                  </a:ext>
                </a:extLst>
              </p:cNvPr>
              <p:cNvCxnSpPr>
                <a:cxnSpLocks/>
                <a:stCxn id="14" idx="6"/>
                <a:endCxn id="28" idx="1"/>
              </p:cNvCxnSpPr>
              <p:nvPr/>
            </p:nvCxnSpPr>
            <p:spPr>
              <a:xfrm>
                <a:off x="4193363" y="4360991"/>
                <a:ext cx="563020" cy="269088"/>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E1C0B7BE-C68A-BB4F-BAA2-F60A6CD5C311}"/>
                  </a:ext>
                </a:extLst>
              </p:cNvPr>
              <p:cNvSpPr/>
              <p:nvPr/>
            </p:nvSpPr>
            <p:spPr>
              <a:xfrm>
                <a:off x="2390910" y="5232762"/>
                <a:ext cx="318654" cy="332509"/>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C00000"/>
                    </a:solidFill>
                    <a:latin typeface="Arial" panose="020B0604020202020204" pitchFamily="34" charset="0"/>
                    <a:cs typeface="Arial" panose="020B0604020202020204" pitchFamily="34" charset="0"/>
                  </a:rPr>
                  <a:t>D</a:t>
                </a:r>
              </a:p>
            </p:txBody>
          </p:sp>
          <p:sp>
            <p:nvSpPr>
              <p:cNvPr id="21" name="Oval 20">
                <a:extLst>
                  <a:ext uri="{FF2B5EF4-FFF2-40B4-BE49-F238E27FC236}">
                    <a16:creationId xmlns:a16="http://schemas.microsoft.com/office/drawing/2014/main" id="{7160FE8D-442A-8844-9A0A-9FD99574D9D5}"/>
                  </a:ext>
                </a:extLst>
              </p:cNvPr>
              <p:cNvSpPr/>
              <p:nvPr/>
            </p:nvSpPr>
            <p:spPr>
              <a:xfrm>
                <a:off x="3544434" y="5194767"/>
                <a:ext cx="318654" cy="332509"/>
              </a:xfrm>
              <a:prstGeom prst="ellipse">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latin typeface="Arial" panose="020B0604020202020204" pitchFamily="34" charset="0"/>
                  <a:cs typeface="Arial" panose="020B0604020202020204" pitchFamily="34" charset="0"/>
                </a:endParaRPr>
              </a:p>
            </p:txBody>
          </p:sp>
          <p:cxnSp>
            <p:nvCxnSpPr>
              <p:cNvPr id="22" name="Straight Connector 21">
                <a:extLst>
                  <a:ext uri="{FF2B5EF4-FFF2-40B4-BE49-F238E27FC236}">
                    <a16:creationId xmlns:a16="http://schemas.microsoft.com/office/drawing/2014/main" id="{5B6BC2AB-44C3-2347-BCD0-10B7447BE588}"/>
                  </a:ext>
                </a:extLst>
              </p:cNvPr>
              <p:cNvCxnSpPr>
                <a:cxnSpLocks/>
              </p:cNvCxnSpPr>
              <p:nvPr/>
            </p:nvCxnSpPr>
            <p:spPr>
              <a:xfrm flipH="1">
                <a:off x="2594570" y="4823782"/>
                <a:ext cx="452772" cy="402642"/>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B465BD8-9ADE-2545-9053-6EE3D64DC222}"/>
                  </a:ext>
                </a:extLst>
              </p:cNvPr>
              <p:cNvCxnSpPr>
                <a:cxnSpLocks/>
                <a:stCxn id="15" idx="5"/>
                <a:endCxn id="21" idx="1"/>
              </p:cNvCxnSpPr>
              <p:nvPr/>
            </p:nvCxnSpPr>
            <p:spPr>
              <a:xfrm>
                <a:off x="3324361" y="4882822"/>
                <a:ext cx="266739" cy="36064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880C8183-49DC-DF44-B71E-21B4D2A2F3C2}"/>
                  </a:ext>
                </a:extLst>
              </p:cNvPr>
              <p:cNvCxnSpPr>
                <a:cxnSpLocks/>
              </p:cNvCxnSpPr>
              <p:nvPr/>
            </p:nvCxnSpPr>
            <p:spPr>
              <a:xfrm>
                <a:off x="2662680" y="5516576"/>
                <a:ext cx="89411"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BEE49CD1-F77C-8F43-BEB9-9C6A01AFF96F}"/>
                  </a:ext>
                </a:extLst>
              </p:cNvPr>
              <p:cNvCxnSpPr>
                <a:cxnSpLocks/>
                <a:stCxn id="20" idx="3"/>
              </p:cNvCxnSpPr>
              <p:nvPr/>
            </p:nvCxnSpPr>
            <p:spPr>
              <a:xfrm flipH="1">
                <a:off x="2291203" y="5516576"/>
                <a:ext cx="146373"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8" name="Oval 27">
                <a:extLst>
                  <a:ext uri="{FF2B5EF4-FFF2-40B4-BE49-F238E27FC236}">
                    <a16:creationId xmlns:a16="http://schemas.microsoft.com/office/drawing/2014/main" id="{F242CE23-5870-1C47-A03C-997CACCB315C}"/>
                  </a:ext>
                </a:extLst>
              </p:cNvPr>
              <p:cNvSpPr/>
              <p:nvPr/>
            </p:nvSpPr>
            <p:spPr>
              <a:xfrm>
                <a:off x="4709717" y="4581384"/>
                <a:ext cx="318654" cy="332509"/>
              </a:xfrm>
              <a:prstGeom prst="ellipse">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latin typeface="Arial" panose="020B0604020202020204" pitchFamily="34" charset="0"/>
                  <a:cs typeface="Arial" panose="020B0604020202020204" pitchFamily="34" charset="0"/>
                </a:endParaRPr>
              </a:p>
            </p:txBody>
          </p:sp>
          <p:sp>
            <p:nvSpPr>
              <p:cNvPr id="29" name="Oval 28">
                <a:extLst>
                  <a:ext uri="{FF2B5EF4-FFF2-40B4-BE49-F238E27FC236}">
                    <a16:creationId xmlns:a16="http://schemas.microsoft.com/office/drawing/2014/main" id="{458A2C77-F374-E644-B956-D1301F69529F}"/>
                  </a:ext>
                </a:extLst>
              </p:cNvPr>
              <p:cNvSpPr/>
              <p:nvPr/>
            </p:nvSpPr>
            <p:spPr>
              <a:xfrm>
                <a:off x="4369997" y="5191149"/>
                <a:ext cx="318654" cy="332509"/>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C00000"/>
                    </a:solidFill>
                    <a:latin typeface="Arial" panose="020B0604020202020204" pitchFamily="34" charset="0"/>
                    <a:cs typeface="Arial" panose="020B0604020202020204" pitchFamily="34" charset="0"/>
                  </a:rPr>
                  <a:t>R</a:t>
                </a:r>
              </a:p>
            </p:txBody>
          </p:sp>
          <p:sp>
            <p:nvSpPr>
              <p:cNvPr id="30" name="Oval 29">
                <a:extLst>
                  <a:ext uri="{FF2B5EF4-FFF2-40B4-BE49-F238E27FC236}">
                    <a16:creationId xmlns:a16="http://schemas.microsoft.com/office/drawing/2014/main" id="{5176725E-29EA-C841-942D-4B298294A660}"/>
                  </a:ext>
                </a:extLst>
              </p:cNvPr>
              <p:cNvSpPr/>
              <p:nvPr/>
            </p:nvSpPr>
            <p:spPr>
              <a:xfrm>
                <a:off x="5203782" y="5169647"/>
                <a:ext cx="318654" cy="332509"/>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C00000"/>
                    </a:solidFill>
                    <a:latin typeface="Arial" panose="020B0604020202020204" pitchFamily="34" charset="0"/>
                    <a:cs typeface="Arial" panose="020B0604020202020204" pitchFamily="34" charset="0"/>
                  </a:rPr>
                  <a:t>B</a:t>
                </a:r>
              </a:p>
            </p:txBody>
          </p:sp>
          <p:cxnSp>
            <p:nvCxnSpPr>
              <p:cNvPr id="31" name="Straight Connector 30">
                <a:extLst>
                  <a:ext uri="{FF2B5EF4-FFF2-40B4-BE49-F238E27FC236}">
                    <a16:creationId xmlns:a16="http://schemas.microsoft.com/office/drawing/2014/main" id="{7ADB9D2E-7CD4-C94C-A3BE-EF8C2C1E088D}"/>
                  </a:ext>
                </a:extLst>
              </p:cNvPr>
              <p:cNvCxnSpPr>
                <a:cxnSpLocks/>
                <a:stCxn id="28" idx="3"/>
                <a:endCxn id="29" idx="7"/>
              </p:cNvCxnSpPr>
              <p:nvPr/>
            </p:nvCxnSpPr>
            <p:spPr>
              <a:xfrm flipH="1">
                <a:off x="4641985" y="4865198"/>
                <a:ext cx="114398" cy="37464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C5327AD3-4052-8842-A15E-5EFD36D3FB59}"/>
                  </a:ext>
                </a:extLst>
              </p:cNvPr>
              <p:cNvCxnSpPr>
                <a:cxnSpLocks/>
                <a:stCxn id="28" idx="6"/>
                <a:endCxn id="30" idx="1"/>
              </p:cNvCxnSpPr>
              <p:nvPr/>
            </p:nvCxnSpPr>
            <p:spPr>
              <a:xfrm>
                <a:off x="5028371" y="4747639"/>
                <a:ext cx="222077" cy="470703"/>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C92E9037-8DC5-E242-9C29-5180D7AE0FCB}"/>
                  </a:ext>
                </a:extLst>
              </p:cNvPr>
              <p:cNvCxnSpPr>
                <a:cxnSpLocks/>
                <a:stCxn id="29" idx="5"/>
              </p:cNvCxnSpPr>
              <p:nvPr/>
            </p:nvCxnSpPr>
            <p:spPr>
              <a:xfrm>
                <a:off x="4641985" y="5474963"/>
                <a:ext cx="89411"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A8507B7E-9C09-F044-A193-189C61EE7AB5}"/>
                  </a:ext>
                </a:extLst>
              </p:cNvPr>
              <p:cNvCxnSpPr>
                <a:cxnSpLocks/>
                <a:stCxn id="29" idx="3"/>
              </p:cNvCxnSpPr>
              <p:nvPr/>
            </p:nvCxnSpPr>
            <p:spPr>
              <a:xfrm flipH="1">
                <a:off x="4270290" y="5474963"/>
                <a:ext cx="146373"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7" name="Oval 36">
                <a:extLst>
                  <a:ext uri="{FF2B5EF4-FFF2-40B4-BE49-F238E27FC236}">
                    <a16:creationId xmlns:a16="http://schemas.microsoft.com/office/drawing/2014/main" id="{75394BC4-5055-2642-98A9-9ED5889DD74C}"/>
                  </a:ext>
                </a:extLst>
              </p:cNvPr>
              <p:cNvSpPr/>
              <p:nvPr/>
            </p:nvSpPr>
            <p:spPr>
              <a:xfrm>
                <a:off x="3047342" y="5849420"/>
                <a:ext cx="318654" cy="332509"/>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C00000"/>
                    </a:solidFill>
                    <a:latin typeface="Arial" panose="020B0604020202020204" pitchFamily="34" charset="0"/>
                    <a:cs typeface="Arial" panose="020B0604020202020204" pitchFamily="34" charset="0"/>
                  </a:rPr>
                  <a:t>!</a:t>
                </a:r>
              </a:p>
            </p:txBody>
          </p:sp>
          <p:sp>
            <p:nvSpPr>
              <p:cNvPr id="38" name="Oval 37">
                <a:extLst>
                  <a:ext uri="{FF2B5EF4-FFF2-40B4-BE49-F238E27FC236}">
                    <a16:creationId xmlns:a16="http://schemas.microsoft.com/office/drawing/2014/main" id="{95A4D177-8341-5C48-980B-66BEE33DF1F9}"/>
                  </a:ext>
                </a:extLst>
              </p:cNvPr>
              <p:cNvSpPr/>
              <p:nvPr/>
            </p:nvSpPr>
            <p:spPr>
              <a:xfrm>
                <a:off x="3928929" y="5885637"/>
                <a:ext cx="318654" cy="332509"/>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C00000"/>
                    </a:solidFill>
                    <a:latin typeface="Arial" panose="020B0604020202020204" pitchFamily="34" charset="0"/>
                    <a:cs typeface="Arial" panose="020B0604020202020204" pitchFamily="34" charset="0"/>
                  </a:rPr>
                  <a:t>C</a:t>
                </a:r>
              </a:p>
            </p:txBody>
          </p:sp>
          <p:cxnSp>
            <p:nvCxnSpPr>
              <p:cNvPr id="39" name="Straight Connector 38">
                <a:extLst>
                  <a:ext uri="{FF2B5EF4-FFF2-40B4-BE49-F238E27FC236}">
                    <a16:creationId xmlns:a16="http://schemas.microsoft.com/office/drawing/2014/main" id="{4EDA5AED-FE32-5044-983F-1B0B4FFB2240}"/>
                  </a:ext>
                </a:extLst>
              </p:cNvPr>
              <p:cNvCxnSpPr>
                <a:cxnSpLocks/>
                <a:stCxn id="21" idx="2"/>
                <a:endCxn id="37" idx="7"/>
              </p:cNvCxnSpPr>
              <p:nvPr/>
            </p:nvCxnSpPr>
            <p:spPr>
              <a:xfrm flipH="1">
                <a:off x="3319330" y="5361022"/>
                <a:ext cx="225104" cy="537093"/>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74DB3D3B-919F-2D46-9AB3-3D0CB30008D6}"/>
                  </a:ext>
                </a:extLst>
              </p:cNvPr>
              <p:cNvCxnSpPr>
                <a:cxnSpLocks/>
                <a:stCxn id="21" idx="5"/>
                <a:endCxn id="38" idx="1"/>
              </p:cNvCxnSpPr>
              <p:nvPr/>
            </p:nvCxnSpPr>
            <p:spPr>
              <a:xfrm>
                <a:off x="3816422" y="5478581"/>
                <a:ext cx="159173" cy="4557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A9030143-6FFA-E640-AF19-7CE1D6C25B9C}"/>
                  </a:ext>
                </a:extLst>
              </p:cNvPr>
              <p:cNvCxnSpPr>
                <a:cxnSpLocks/>
                <a:stCxn id="37" idx="5"/>
              </p:cNvCxnSpPr>
              <p:nvPr/>
            </p:nvCxnSpPr>
            <p:spPr>
              <a:xfrm>
                <a:off x="3319330" y="6133234"/>
                <a:ext cx="89411"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2B8BBE9E-50C9-C940-8BAA-4AA07D411D08}"/>
                  </a:ext>
                </a:extLst>
              </p:cNvPr>
              <p:cNvCxnSpPr>
                <a:cxnSpLocks/>
                <a:stCxn id="37" idx="3"/>
              </p:cNvCxnSpPr>
              <p:nvPr/>
            </p:nvCxnSpPr>
            <p:spPr>
              <a:xfrm flipH="1">
                <a:off x="2947635" y="6133234"/>
                <a:ext cx="146373"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6E298C94-16F5-164A-BDDB-CDF7630E55ED}"/>
                  </a:ext>
                </a:extLst>
              </p:cNvPr>
              <p:cNvCxnSpPr>
                <a:cxnSpLocks/>
              </p:cNvCxnSpPr>
              <p:nvPr/>
            </p:nvCxnSpPr>
            <p:spPr>
              <a:xfrm>
                <a:off x="4176891" y="6192797"/>
                <a:ext cx="89411"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01C393DA-9385-2749-92B6-43216B10E5D8}"/>
                  </a:ext>
                </a:extLst>
              </p:cNvPr>
              <p:cNvCxnSpPr>
                <a:cxnSpLocks/>
              </p:cNvCxnSpPr>
              <p:nvPr/>
            </p:nvCxnSpPr>
            <p:spPr>
              <a:xfrm flipH="1">
                <a:off x="3805414" y="6192797"/>
                <a:ext cx="146373"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040DB1F3-B195-CE4A-AF21-ADEEB2AEA0E5}"/>
                  </a:ext>
                </a:extLst>
              </p:cNvPr>
              <p:cNvCxnSpPr>
                <a:cxnSpLocks/>
              </p:cNvCxnSpPr>
              <p:nvPr/>
            </p:nvCxnSpPr>
            <p:spPr>
              <a:xfrm>
                <a:off x="5497772" y="5480894"/>
                <a:ext cx="89411"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B1E7DAA7-7FE0-7A4B-B7EA-778F9832C2C8}"/>
                  </a:ext>
                </a:extLst>
              </p:cNvPr>
              <p:cNvCxnSpPr>
                <a:cxnSpLocks/>
              </p:cNvCxnSpPr>
              <p:nvPr/>
            </p:nvCxnSpPr>
            <p:spPr>
              <a:xfrm flipH="1">
                <a:off x="5126077" y="5480894"/>
                <a:ext cx="146373"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50" name="Freeform 49">
              <a:extLst>
                <a:ext uri="{FF2B5EF4-FFF2-40B4-BE49-F238E27FC236}">
                  <a16:creationId xmlns:a16="http://schemas.microsoft.com/office/drawing/2014/main" id="{EEF8B3E2-282D-C84C-88C6-49305C99032C}"/>
                </a:ext>
              </a:extLst>
            </p:cNvPr>
            <p:cNvSpPr/>
            <p:nvPr/>
          </p:nvSpPr>
          <p:spPr>
            <a:xfrm>
              <a:off x="6085834" y="3524865"/>
              <a:ext cx="3222012" cy="2481915"/>
            </a:xfrm>
            <a:custGeom>
              <a:avLst/>
              <a:gdLst>
                <a:gd name="connsiteX0" fmla="*/ 1052385 w 3222012"/>
                <a:gd name="connsiteY0" fmla="*/ 0 h 2481915"/>
                <a:gd name="connsiteX1" fmla="*/ 64243 w 3222012"/>
                <a:gd name="connsiteY1" fmla="*/ 530941 h 2481915"/>
                <a:gd name="connsiteX2" fmla="*/ 152734 w 3222012"/>
                <a:gd name="connsiteY2" fmla="*/ 1327354 h 2481915"/>
                <a:gd name="connsiteX3" fmla="*/ 609934 w 3222012"/>
                <a:gd name="connsiteY3" fmla="*/ 1238864 h 2481915"/>
                <a:gd name="connsiteX4" fmla="*/ 860656 w 3222012"/>
                <a:gd name="connsiteY4" fmla="*/ 796412 h 2481915"/>
                <a:gd name="connsiteX5" fmla="*/ 1170372 w 3222012"/>
                <a:gd name="connsiteY5" fmla="*/ 752167 h 2481915"/>
                <a:gd name="connsiteX6" fmla="*/ 255972 w 3222012"/>
                <a:gd name="connsiteY6" fmla="*/ 1710812 h 2481915"/>
                <a:gd name="connsiteX7" fmla="*/ 565689 w 3222012"/>
                <a:gd name="connsiteY7" fmla="*/ 2035277 h 2481915"/>
                <a:gd name="connsiteX8" fmla="*/ 1052385 w 3222012"/>
                <a:gd name="connsiteY8" fmla="*/ 1548580 h 2481915"/>
                <a:gd name="connsiteX9" fmla="*/ 1155624 w 3222012"/>
                <a:gd name="connsiteY9" fmla="*/ 1386348 h 2481915"/>
                <a:gd name="connsiteX10" fmla="*/ 1303108 w 3222012"/>
                <a:gd name="connsiteY10" fmla="*/ 1533832 h 2481915"/>
                <a:gd name="connsiteX11" fmla="*/ 978643 w 3222012"/>
                <a:gd name="connsiteY11" fmla="*/ 2344993 h 2481915"/>
                <a:gd name="connsiteX12" fmla="*/ 2247005 w 3222012"/>
                <a:gd name="connsiteY12" fmla="*/ 2359741 h 2481915"/>
                <a:gd name="connsiteX13" fmla="*/ 1598076 w 3222012"/>
                <a:gd name="connsiteY13" fmla="*/ 1135625 h 2481915"/>
                <a:gd name="connsiteX14" fmla="*/ 2070024 w 3222012"/>
                <a:gd name="connsiteY14" fmla="*/ 1091380 h 2481915"/>
                <a:gd name="connsiteX15" fmla="*/ 1878295 w 3222012"/>
                <a:gd name="connsiteY15" fmla="*/ 1651819 h 2481915"/>
                <a:gd name="connsiteX16" fmla="*/ 3220398 w 3222012"/>
                <a:gd name="connsiteY16" fmla="*/ 1784554 h 2481915"/>
                <a:gd name="connsiteX17" fmla="*/ 1568579 w 3222012"/>
                <a:gd name="connsiteY17" fmla="*/ 0 h 2481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22012" h="2481915">
                  <a:moveTo>
                    <a:pt x="1052385" y="0"/>
                  </a:moveTo>
                  <a:cubicBezTo>
                    <a:pt x="633285" y="154857"/>
                    <a:pt x="214185" y="309715"/>
                    <a:pt x="64243" y="530941"/>
                  </a:cubicBezTo>
                  <a:cubicBezTo>
                    <a:pt x="-85699" y="752167"/>
                    <a:pt x="61785" y="1209367"/>
                    <a:pt x="152734" y="1327354"/>
                  </a:cubicBezTo>
                  <a:cubicBezTo>
                    <a:pt x="243682" y="1445341"/>
                    <a:pt x="491947" y="1327354"/>
                    <a:pt x="609934" y="1238864"/>
                  </a:cubicBezTo>
                  <a:cubicBezTo>
                    <a:pt x="727921" y="1150374"/>
                    <a:pt x="767250" y="877528"/>
                    <a:pt x="860656" y="796412"/>
                  </a:cubicBezTo>
                  <a:cubicBezTo>
                    <a:pt x="954062" y="715296"/>
                    <a:pt x="1271153" y="599767"/>
                    <a:pt x="1170372" y="752167"/>
                  </a:cubicBezTo>
                  <a:cubicBezTo>
                    <a:pt x="1069591" y="904567"/>
                    <a:pt x="356752" y="1496960"/>
                    <a:pt x="255972" y="1710812"/>
                  </a:cubicBezTo>
                  <a:cubicBezTo>
                    <a:pt x="155191" y="1924664"/>
                    <a:pt x="432953" y="2062316"/>
                    <a:pt x="565689" y="2035277"/>
                  </a:cubicBezTo>
                  <a:cubicBezTo>
                    <a:pt x="698424" y="2008238"/>
                    <a:pt x="954063" y="1656735"/>
                    <a:pt x="1052385" y="1548580"/>
                  </a:cubicBezTo>
                  <a:cubicBezTo>
                    <a:pt x="1150707" y="1440425"/>
                    <a:pt x="1113837" y="1388806"/>
                    <a:pt x="1155624" y="1386348"/>
                  </a:cubicBezTo>
                  <a:cubicBezTo>
                    <a:pt x="1197411" y="1383890"/>
                    <a:pt x="1332605" y="1374058"/>
                    <a:pt x="1303108" y="1533832"/>
                  </a:cubicBezTo>
                  <a:cubicBezTo>
                    <a:pt x="1273611" y="1693606"/>
                    <a:pt x="821327" y="2207342"/>
                    <a:pt x="978643" y="2344993"/>
                  </a:cubicBezTo>
                  <a:cubicBezTo>
                    <a:pt x="1135959" y="2482644"/>
                    <a:pt x="2143766" y="2561302"/>
                    <a:pt x="2247005" y="2359741"/>
                  </a:cubicBezTo>
                  <a:cubicBezTo>
                    <a:pt x="2350244" y="2158180"/>
                    <a:pt x="1627573" y="1347018"/>
                    <a:pt x="1598076" y="1135625"/>
                  </a:cubicBezTo>
                  <a:cubicBezTo>
                    <a:pt x="1568579" y="924232"/>
                    <a:pt x="2023321" y="1005348"/>
                    <a:pt x="2070024" y="1091380"/>
                  </a:cubicBezTo>
                  <a:cubicBezTo>
                    <a:pt x="2116727" y="1177412"/>
                    <a:pt x="1686566" y="1536290"/>
                    <a:pt x="1878295" y="1651819"/>
                  </a:cubicBezTo>
                  <a:cubicBezTo>
                    <a:pt x="2070024" y="1767348"/>
                    <a:pt x="3272017" y="2059857"/>
                    <a:pt x="3220398" y="1784554"/>
                  </a:cubicBezTo>
                  <a:cubicBezTo>
                    <a:pt x="3168779" y="1509251"/>
                    <a:pt x="2368679" y="754625"/>
                    <a:pt x="1568579" y="0"/>
                  </a:cubicBezTo>
                </a:path>
              </a:pathLst>
            </a:cu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2" name="Straight Arrow Connector 51">
              <a:extLst>
                <a:ext uri="{FF2B5EF4-FFF2-40B4-BE49-F238E27FC236}">
                  <a16:creationId xmlns:a16="http://schemas.microsoft.com/office/drawing/2014/main" id="{C6FAE5D6-5370-F44E-972F-9C8A16A05F9B}"/>
                </a:ext>
              </a:extLst>
            </p:cNvPr>
            <p:cNvCxnSpPr/>
            <p:nvPr/>
          </p:nvCxnSpPr>
          <p:spPr>
            <a:xfrm flipH="1">
              <a:off x="6096000" y="3524865"/>
              <a:ext cx="536116" cy="325152"/>
            </a:xfrm>
            <a:prstGeom prst="straightConnector1">
              <a:avLst/>
            </a:prstGeom>
            <a:ln w="2857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E0BA7887-F645-754B-AABE-AA5A3E37F2DA}"/>
                </a:ext>
              </a:extLst>
            </p:cNvPr>
            <p:cNvCxnSpPr>
              <a:cxnSpLocks/>
            </p:cNvCxnSpPr>
            <p:nvPr/>
          </p:nvCxnSpPr>
          <p:spPr>
            <a:xfrm flipH="1" flipV="1">
              <a:off x="7961032" y="3524865"/>
              <a:ext cx="396710" cy="348218"/>
            </a:xfrm>
            <a:prstGeom prst="straightConnector1">
              <a:avLst/>
            </a:prstGeom>
            <a:ln w="2857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1528FFF9-1CB8-424E-BCB9-EC356B44AEF4}"/>
                </a:ext>
              </a:extLst>
            </p:cNvPr>
            <p:cNvSpPr txBox="1"/>
            <p:nvPr/>
          </p:nvSpPr>
          <p:spPr>
            <a:xfrm>
              <a:off x="5077534" y="6323872"/>
              <a:ext cx="6942093" cy="338554"/>
            </a:xfrm>
            <a:prstGeom prst="rect">
              <a:avLst/>
            </a:prstGeom>
            <a:noFill/>
          </p:spPr>
          <p:txBody>
            <a:bodyPr wrap="none" rtlCol="0">
              <a:spAutoFit/>
            </a:bodyPr>
            <a:lstStyle/>
            <a:p>
              <a:r>
                <a:rPr lang="en-GB" sz="1600" dirty="0">
                  <a:solidFill>
                    <a:schemeClr val="accent5"/>
                  </a:solidFill>
                  <a:latin typeface="Arial" panose="020B0604020202020204" pitchFamily="34" charset="0"/>
                  <a:cs typeface="Arial" panose="020B0604020202020204" pitchFamily="34" charset="0"/>
                </a:rPr>
                <a:t>0</a:t>
              </a:r>
              <a:r>
                <a:rPr lang="en-GB" sz="1600" dirty="0">
                  <a:latin typeface="Arial" panose="020B0604020202020204" pitchFamily="34" charset="0"/>
                  <a:cs typeface="Arial" panose="020B0604020202020204" pitchFamily="34" charset="0"/>
                </a:rPr>
                <a:t>1</a:t>
              </a:r>
              <a:r>
                <a:rPr lang="en-GB" sz="1600" dirty="0">
                  <a:solidFill>
                    <a:srgbClr val="C00000"/>
                  </a:solidFill>
                  <a:latin typeface="Arial" panose="020B0604020202020204" pitchFamily="34" charset="0"/>
                  <a:cs typeface="Arial" panose="020B0604020202020204" pitchFamily="34" charset="0"/>
                </a:rPr>
                <a:t>01000001</a:t>
              </a:r>
              <a:r>
                <a:rPr lang="en-GB" sz="1600" dirty="0">
                  <a:solidFill>
                    <a:schemeClr val="accent5"/>
                  </a:solidFill>
                  <a:latin typeface="Arial" panose="020B0604020202020204" pitchFamily="34" charset="0"/>
                  <a:cs typeface="Arial" panose="020B0604020202020204" pitchFamily="34" charset="0"/>
                </a:rPr>
                <a:t>00</a:t>
              </a:r>
              <a:r>
                <a:rPr lang="en-GB" sz="1600" dirty="0">
                  <a:latin typeface="Arial" panose="020B0604020202020204" pitchFamily="34" charset="0"/>
                  <a:cs typeface="Arial" panose="020B0604020202020204" pitchFamily="34" charset="0"/>
                </a:rPr>
                <a:t>1</a:t>
              </a:r>
              <a:r>
                <a:rPr lang="en-GB" sz="1600" dirty="0">
                  <a:solidFill>
                    <a:srgbClr val="C00000"/>
                  </a:solidFill>
                  <a:latin typeface="Arial" panose="020B0604020202020204" pitchFamily="34" charset="0"/>
                  <a:cs typeface="Arial" panose="020B0604020202020204" pitchFamily="34" charset="0"/>
                </a:rPr>
                <a:t>01000100</a:t>
              </a:r>
              <a:r>
                <a:rPr lang="en-GB" sz="1600" dirty="0">
                  <a:solidFill>
                    <a:schemeClr val="accent5"/>
                  </a:solidFill>
                  <a:latin typeface="Arial" panose="020B0604020202020204" pitchFamily="34" charset="0"/>
                  <a:cs typeface="Arial" panose="020B0604020202020204" pitchFamily="34" charset="0"/>
                </a:rPr>
                <a:t>0</a:t>
              </a:r>
              <a:r>
                <a:rPr lang="en-GB" sz="1600" dirty="0">
                  <a:latin typeface="Arial" panose="020B0604020202020204" pitchFamily="34" charset="0"/>
                  <a:cs typeface="Arial" panose="020B0604020202020204" pitchFamily="34" charset="0"/>
                </a:rPr>
                <a:t>1</a:t>
              </a:r>
              <a:r>
                <a:rPr lang="en-GB" sz="1600" dirty="0">
                  <a:solidFill>
                    <a:srgbClr val="C00000"/>
                  </a:solidFill>
                  <a:latin typeface="Arial" panose="020B0604020202020204" pitchFamily="34" charset="0"/>
                  <a:cs typeface="Arial" panose="020B0604020202020204" pitchFamily="34" charset="0"/>
                </a:rPr>
                <a:t>00001010</a:t>
              </a:r>
              <a:r>
                <a:rPr lang="en-GB" sz="1600" dirty="0">
                  <a:latin typeface="Arial" panose="020B0604020202020204" pitchFamily="34" charset="0"/>
                  <a:cs typeface="Arial" panose="020B0604020202020204" pitchFamily="34" charset="0"/>
                </a:rPr>
                <a:t>1</a:t>
              </a:r>
              <a:r>
                <a:rPr lang="en-GB" sz="1600" dirty="0">
                  <a:solidFill>
                    <a:srgbClr val="C00000"/>
                  </a:solidFill>
                  <a:latin typeface="Arial" panose="020B0604020202020204" pitchFamily="34" charset="0"/>
                  <a:cs typeface="Arial" panose="020B0604020202020204" pitchFamily="34" charset="0"/>
                </a:rPr>
                <a:t>01000011</a:t>
              </a:r>
              <a:r>
                <a:rPr lang="en-GB" sz="1600" dirty="0">
                  <a:solidFill>
                    <a:schemeClr val="accent5"/>
                  </a:solidFill>
                  <a:latin typeface="Arial" panose="020B0604020202020204" pitchFamily="34" charset="0"/>
                  <a:cs typeface="Arial" panose="020B0604020202020204" pitchFamily="34" charset="0"/>
                </a:rPr>
                <a:t>0</a:t>
              </a:r>
              <a:r>
                <a:rPr lang="en-GB" sz="1600" dirty="0">
                  <a:latin typeface="Arial" panose="020B0604020202020204" pitchFamily="34" charset="0"/>
                  <a:cs typeface="Arial" panose="020B0604020202020204" pitchFamily="34" charset="0"/>
                </a:rPr>
                <a:t>1</a:t>
              </a:r>
              <a:r>
                <a:rPr lang="en-GB" sz="1600" dirty="0">
                  <a:solidFill>
                    <a:srgbClr val="C00000"/>
                  </a:solidFill>
                  <a:latin typeface="Arial" panose="020B0604020202020204" pitchFamily="34" charset="0"/>
                  <a:cs typeface="Arial" panose="020B0604020202020204" pitchFamily="34" charset="0"/>
                </a:rPr>
                <a:t>01010010</a:t>
              </a:r>
              <a:r>
                <a:rPr lang="en-GB" sz="1600" dirty="0">
                  <a:latin typeface="Arial" panose="020B0604020202020204" pitchFamily="34" charset="0"/>
                  <a:cs typeface="Arial" panose="020B0604020202020204" pitchFamily="34" charset="0"/>
                </a:rPr>
                <a:t>1</a:t>
              </a:r>
              <a:r>
                <a:rPr lang="en-GB" sz="1600" dirty="0">
                  <a:solidFill>
                    <a:srgbClr val="C00000"/>
                  </a:solidFill>
                  <a:latin typeface="Arial" panose="020B0604020202020204" pitchFamily="34" charset="0"/>
                  <a:cs typeface="Arial" panose="020B0604020202020204" pitchFamily="34" charset="0"/>
                </a:rPr>
                <a:t>01000010</a:t>
              </a:r>
              <a:r>
                <a:rPr lang="en-GB" sz="1600" dirty="0">
                  <a:latin typeface="Arial" panose="020B0604020202020204" pitchFamily="34" charset="0"/>
                  <a:cs typeface="Arial" panose="020B0604020202020204" pitchFamily="34" charset="0"/>
                </a:rPr>
                <a:t> </a:t>
              </a:r>
            </a:p>
          </p:txBody>
        </p:sp>
      </p:grpSp>
    </p:spTree>
    <p:extLst>
      <p:ext uri="{BB962C8B-B14F-4D97-AF65-F5344CB8AC3E}">
        <p14:creationId xmlns:p14="http://schemas.microsoft.com/office/powerpoint/2010/main" val="23183008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61A64-88E3-514F-96E5-EB5877D9729F}"/>
              </a:ext>
            </a:extLst>
          </p:cNvPr>
          <p:cNvSpPr>
            <a:spLocks noGrp="1"/>
          </p:cNvSpPr>
          <p:nvPr>
            <p:ph type="title"/>
          </p:nvPr>
        </p:nvSpPr>
        <p:spPr/>
        <p:txBody>
          <a:bodyPr/>
          <a:lstStyle/>
          <a:p>
            <a:r>
              <a:rPr lang="en-US" dirty="0"/>
              <a:t>Huffman compression</a:t>
            </a:r>
          </a:p>
        </p:txBody>
      </p:sp>
      <p:sp>
        <p:nvSpPr>
          <p:cNvPr id="3" name="Content Placeholder 2">
            <a:extLst>
              <a:ext uri="{FF2B5EF4-FFF2-40B4-BE49-F238E27FC236}">
                <a16:creationId xmlns:a16="http://schemas.microsoft.com/office/drawing/2014/main" id="{B9A27260-ED92-1742-90BD-44C0FED54F03}"/>
              </a:ext>
            </a:extLst>
          </p:cNvPr>
          <p:cNvSpPr>
            <a:spLocks noGrp="1"/>
          </p:cNvSpPr>
          <p:nvPr>
            <p:ph idx="1"/>
          </p:nvPr>
        </p:nvSpPr>
        <p:spPr/>
        <p:txBody>
          <a:bodyPr/>
          <a:lstStyle/>
          <a:p>
            <a:r>
              <a:rPr lang="en-US" dirty="0" err="1"/>
              <a:t>Trie</a:t>
            </a:r>
            <a:r>
              <a:rPr lang="en-US" dirty="0"/>
              <a:t> transmission (writing &amp; reading a </a:t>
            </a:r>
            <a:r>
              <a:rPr lang="en-US" dirty="0" err="1"/>
              <a:t>trie</a:t>
            </a:r>
            <a:r>
              <a:rPr lang="en-US" dirty="0"/>
              <a:t>)</a:t>
            </a:r>
          </a:p>
          <a:p>
            <a:pPr lvl="1"/>
            <a:r>
              <a:rPr lang="en-US" dirty="0"/>
              <a:t>Reading (upon </a:t>
            </a:r>
            <a:r>
              <a:rPr lang="en-US" dirty="0">
                <a:latin typeface="Courier" pitchFamily="2" charset="0"/>
              </a:rPr>
              <a:t>expand()</a:t>
            </a:r>
            <a:r>
              <a:rPr lang="en-US" dirty="0"/>
              <a:t>)</a:t>
            </a:r>
          </a:p>
          <a:p>
            <a:pPr lvl="2"/>
            <a:r>
              <a:rPr lang="en-US" dirty="0"/>
              <a:t>Reconstruct from pre-order traversal of the </a:t>
            </a:r>
            <a:r>
              <a:rPr lang="en-US" dirty="0" err="1"/>
              <a:t>trie</a:t>
            </a:r>
            <a:endParaRPr lang="en-US" dirty="0"/>
          </a:p>
        </p:txBody>
      </p:sp>
      <p:sp>
        <p:nvSpPr>
          <p:cNvPr id="4" name="TextBox 3">
            <a:extLst>
              <a:ext uri="{FF2B5EF4-FFF2-40B4-BE49-F238E27FC236}">
                <a16:creationId xmlns:a16="http://schemas.microsoft.com/office/drawing/2014/main" id="{F3280EE1-6F98-5742-9E5A-ADC344014F68}"/>
              </a:ext>
            </a:extLst>
          </p:cNvPr>
          <p:cNvSpPr txBox="1"/>
          <p:nvPr/>
        </p:nvSpPr>
        <p:spPr>
          <a:xfrm>
            <a:off x="692774" y="3671419"/>
            <a:ext cx="4751622" cy="2062103"/>
          </a:xfrm>
          <a:prstGeom prst="rect">
            <a:avLst/>
          </a:prstGeom>
          <a:noFill/>
          <a:ln w="28575">
            <a:solidFill>
              <a:schemeClr val="bg1">
                <a:lumMod val="75000"/>
              </a:schemeClr>
            </a:solidFill>
          </a:ln>
        </p:spPr>
        <p:txBody>
          <a:bodyPr wrap="none" rtlCol="0">
            <a:spAutoFit/>
          </a:bodyPr>
          <a:lstStyle/>
          <a:p>
            <a:r>
              <a:rPr lang="en-US" sz="1600" dirty="0">
                <a:latin typeface="Courier" pitchFamily="2" charset="0"/>
              </a:rPr>
              <a:t>def </a:t>
            </a:r>
            <a:r>
              <a:rPr lang="en-US" sz="1600" dirty="0" err="1">
                <a:latin typeface="Courier" pitchFamily="2" charset="0"/>
              </a:rPr>
              <a:t>readTrie</a:t>
            </a:r>
            <a:r>
              <a:rPr lang="en-US" sz="1600" dirty="0">
                <a:latin typeface="Courier" pitchFamily="2" charset="0"/>
              </a:rPr>
              <a:t>():</a:t>
            </a:r>
          </a:p>
          <a:p>
            <a:r>
              <a:rPr lang="en-US" sz="1600" dirty="0">
                <a:latin typeface="Courier" pitchFamily="2" charset="0"/>
              </a:rPr>
              <a:t>    if (</a:t>
            </a:r>
            <a:r>
              <a:rPr lang="en-US" sz="1600" dirty="0" err="1">
                <a:latin typeface="Courier" pitchFamily="2" charset="0"/>
              </a:rPr>
              <a:t>BinaryStdIn.readBoolean</a:t>
            </a:r>
            <a:r>
              <a:rPr lang="en-US" sz="1600" dirty="0">
                <a:latin typeface="Courier" pitchFamily="2" charset="0"/>
              </a:rPr>
              <a:t>()):</a:t>
            </a:r>
          </a:p>
          <a:p>
            <a:r>
              <a:rPr lang="en-US" sz="1600" dirty="0">
                <a:latin typeface="Courier" pitchFamily="2" charset="0"/>
              </a:rPr>
              <a:t>        </a:t>
            </a:r>
            <a:r>
              <a:rPr lang="en-US" sz="1600" b="1" dirty="0">
                <a:solidFill>
                  <a:srgbClr val="C00000"/>
                </a:solidFill>
                <a:latin typeface="Courier" pitchFamily="2" charset="0"/>
              </a:rPr>
              <a:t>c = </a:t>
            </a:r>
            <a:r>
              <a:rPr lang="en-US" sz="1600" b="1" dirty="0" err="1">
                <a:solidFill>
                  <a:srgbClr val="C00000"/>
                </a:solidFill>
                <a:latin typeface="Courier" pitchFamily="2" charset="0"/>
              </a:rPr>
              <a:t>BinaryStdIn.readChar</a:t>
            </a:r>
            <a:r>
              <a:rPr lang="en-US" sz="1600" b="1" dirty="0">
                <a:solidFill>
                  <a:srgbClr val="C00000"/>
                </a:solidFill>
                <a:latin typeface="Courier" pitchFamily="2" charset="0"/>
              </a:rPr>
              <a:t>(8)</a:t>
            </a:r>
          </a:p>
          <a:p>
            <a:r>
              <a:rPr lang="en-US" sz="1600" dirty="0">
                <a:latin typeface="Courier" pitchFamily="2" charset="0"/>
              </a:rPr>
              <a:t>        </a:t>
            </a:r>
            <a:r>
              <a:rPr lang="en-US" sz="1600" b="1" dirty="0">
                <a:latin typeface="Courier" pitchFamily="2" charset="0"/>
              </a:rPr>
              <a:t>return Node(c, 0, null, null)</a:t>
            </a:r>
          </a:p>
          <a:p>
            <a:endParaRPr lang="en-US" sz="1600" dirty="0">
              <a:latin typeface="Courier" pitchFamily="2" charset="0"/>
            </a:endParaRPr>
          </a:p>
          <a:p>
            <a:r>
              <a:rPr lang="en-US" sz="1600" dirty="0">
                <a:latin typeface="Courier" pitchFamily="2" charset="0"/>
              </a:rPr>
              <a:t>    x = </a:t>
            </a:r>
            <a:r>
              <a:rPr lang="en-US" sz="1600" dirty="0" err="1">
                <a:latin typeface="Courier" pitchFamily="2" charset="0"/>
              </a:rPr>
              <a:t>readTrie</a:t>
            </a:r>
            <a:r>
              <a:rPr lang="en-US" sz="1600" dirty="0">
                <a:latin typeface="Courier" pitchFamily="2" charset="0"/>
              </a:rPr>
              <a:t>()</a:t>
            </a:r>
          </a:p>
          <a:p>
            <a:r>
              <a:rPr lang="en-US" sz="1600" dirty="0">
                <a:latin typeface="Courier" pitchFamily="2" charset="0"/>
              </a:rPr>
              <a:t>    y = </a:t>
            </a:r>
            <a:r>
              <a:rPr lang="en-US" sz="1600" dirty="0" err="1">
                <a:latin typeface="Courier" pitchFamily="2" charset="0"/>
              </a:rPr>
              <a:t>readTrie</a:t>
            </a:r>
            <a:r>
              <a:rPr lang="en-US" sz="1600" dirty="0">
                <a:latin typeface="Courier" pitchFamily="2" charset="0"/>
              </a:rPr>
              <a:t>()</a:t>
            </a:r>
          </a:p>
          <a:p>
            <a:r>
              <a:rPr lang="en-US" sz="1600" dirty="0">
                <a:latin typeface="Courier" pitchFamily="2" charset="0"/>
              </a:rPr>
              <a:t>    </a:t>
            </a:r>
            <a:r>
              <a:rPr lang="en-US" sz="1600" b="1" dirty="0">
                <a:solidFill>
                  <a:schemeClr val="accent5"/>
                </a:solidFill>
                <a:latin typeface="Courier" pitchFamily="2" charset="0"/>
              </a:rPr>
              <a:t>return Node('', 0, x, y);</a:t>
            </a:r>
          </a:p>
        </p:txBody>
      </p:sp>
      <p:grpSp>
        <p:nvGrpSpPr>
          <p:cNvPr id="49" name="Group 48" descr="example simulation of trie transmission">
            <a:extLst>
              <a:ext uri="{FF2B5EF4-FFF2-40B4-BE49-F238E27FC236}">
                <a16:creationId xmlns:a16="http://schemas.microsoft.com/office/drawing/2014/main" id="{3C4502D8-298C-D54E-B662-E82FE6E07752}"/>
              </a:ext>
            </a:extLst>
          </p:cNvPr>
          <p:cNvGrpSpPr/>
          <p:nvPr/>
        </p:nvGrpSpPr>
        <p:grpSpPr>
          <a:xfrm>
            <a:off x="5077534" y="3524865"/>
            <a:ext cx="6942093" cy="3137561"/>
            <a:chOff x="5077534" y="3524865"/>
            <a:chExt cx="6942093" cy="3137561"/>
          </a:xfrm>
        </p:grpSpPr>
        <p:grpSp>
          <p:nvGrpSpPr>
            <p:cNvPr id="51" name="Group 50">
              <a:extLst>
                <a:ext uri="{FF2B5EF4-FFF2-40B4-BE49-F238E27FC236}">
                  <a16:creationId xmlns:a16="http://schemas.microsoft.com/office/drawing/2014/main" id="{98B54A0B-9106-F246-824D-50E88FAAAEE4}"/>
                </a:ext>
              </a:extLst>
            </p:cNvPr>
            <p:cNvGrpSpPr>
              <a:grpSpLocks noChangeAspect="1"/>
            </p:cNvGrpSpPr>
            <p:nvPr/>
          </p:nvGrpSpPr>
          <p:grpSpPr>
            <a:xfrm>
              <a:off x="6402627" y="3850017"/>
              <a:ext cx="2536675" cy="1951127"/>
              <a:chOff x="1963362" y="3625948"/>
              <a:chExt cx="3623821" cy="2787325"/>
            </a:xfrm>
          </p:grpSpPr>
          <p:sp>
            <p:nvSpPr>
              <p:cNvPr id="59" name="Oval 58">
                <a:extLst>
                  <a:ext uri="{FF2B5EF4-FFF2-40B4-BE49-F238E27FC236}">
                    <a16:creationId xmlns:a16="http://schemas.microsoft.com/office/drawing/2014/main" id="{3A04891C-5534-3849-B129-64AE4003537E}"/>
                  </a:ext>
                </a:extLst>
              </p:cNvPr>
              <p:cNvSpPr/>
              <p:nvPr/>
            </p:nvSpPr>
            <p:spPr>
              <a:xfrm>
                <a:off x="2971233" y="3625948"/>
                <a:ext cx="318654" cy="332509"/>
              </a:xfrm>
              <a:prstGeom prst="ellipse">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latin typeface="Arial" panose="020B0604020202020204" pitchFamily="34" charset="0"/>
                  <a:cs typeface="Arial" panose="020B0604020202020204" pitchFamily="34" charset="0"/>
                </a:endParaRPr>
              </a:p>
            </p:txBody>
          </p:sp>
          <p:sp>
            <p:nvSpPr>
              <p:cNvPr id="60" name="Oval 59">
                <a:extLst>
                  <a:ext uri="{FF2B5EF4-FFF2-40B4-BE49-F238E27FC236}">
                    <a16:creationId xmlns:a16="http://schemas.microsoft.com/office/drawing/2014/main" id="{1BF9E42D-9A72-0445-A8B6-2CE2841EF0E9}"/>
                  </a:ext>
                </a:extLst>
              </p:cNvPr>
              <p:cNvSpPr/>
              <p:nvPr/>
            </p:nvSpPr>
            <p:spPr>
              <a:xfrm>
                <a:off x="2063069" y="4099720"/>
                <a:ext cx="318654" cy="332509"/>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C00000"/>
                    </a:solidFill>
                    <a:latin typeface="Arial" panose="020B0604020202020204" pitchFamily="34" charset="0"/>
                    <a:cs typeface="Arial" panose="020B0604020202020204" pitchFamily="34" charset="0"/>
                  </a:rPr>
                  <a:t>A</a:t>
                </a:r>
              </a:p>
            </p:txBody>
          </p:sp>
          <p:cxnSp>
            <p:nvCxnSpPr>
              <p:cNvPr id="61" name="Straight Connector 60">
                <a:extLst>
                  <a:ext uri="{FF2B5EF4-FFF2-40B4-BE49-F238E27FC236}">
                    <a16:creationId xmlns:a16="http://schemas.microsoft.com/office/drawing/2014/main" id="{4A1C4DED-D2D2-274B-8621-85B6FC502627}"/>
                  </a:ext>
                </a:extLst>
              </p:cNvPr>
              <p:cNvCxnSpPr>
                <a:stCxn id="59" idx="2"/>
                <a:endCxn id="60" idx="7"/>
              </p:cNvCxnSpPr>
              <p:nvPr/>
            </p:nvCxnSpPr>
            <p:spPr>
              <a:xfrm flipH="1">
                <a:off x="2335057" y="3792203"/>
                <a:ext cx="636176" cy="356212"/>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750A67E-2749-8043-B6DE-0EEAC2A4D73E}"/>
                  </a:ext>
                </a:extLst>
              </p:cNvPr>
              <p:cNvCxnSpPr>
                <a:cxnSpLocks/>
                <a:stCxn id="59" idx="6"/>
                <a:endCxn id="65" idx="1"/>
              </p:cNvCxnSpPr>
              <p:nvPr/>
            </p:nvCxnSpPr>
            <p:spPr>
              <a:xfrm>
                <a:off x="3289887" y="3792203"/>
                <a:ext cx="631488" cy="451228"/>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541BE529-9EFD-514A-B83A-66D1DB6BC298}"/>
                  </a:ext>
                </a:extLst>
              </p:cNvPr>
              <p:cNvCxnSpPr>
                <a:cxnSpLocks/>
                <a:stCxn id="60" idx="5"/>
              </p:cNvCxnSpPr>
              <p:nvPr/>
            </p:nvCxnSpPr>
            <p:spPr>
              <a:xfrm>
                <a:off x="2335057" y="4383534"/>
                <a:ext cx="89411"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73464B22-076D-EE40-8647-251515864F87}"/>
                  </a:ext>
                </a:extLst>
              </p:cNvPr>
              <p:cNvCxnSpPr>
                <a:cxnSpLocks/>
                <a:stCxn id="60" idx="3"/>
              </p:cNvCxnSpPr>
              <p:nvPr/>
            </p:nvCxnSpPr>
            <p:spPr>
              <a:xfrm flipH="1">
                <a:off x="1963362" y="4383534"/>
                <a:ext cx="146373"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65" name="Oval 64">
                <a:extLst>
                  <a:ext uri="{FF2B5EF4-FFF2-40B4-BE49-F238E27FC236}">
                    <a16:creationId xmlns:a16="http://schemas.microsoft.com/office/drawing/2014/main" id="{51094759-D449-094D-BACF-86F6A4E142A5}"/>
                  </a:ext>
                </a:extLst>
              </p:cNvPr>
              <p:cNvSpPr/>
              <p:nvPr/>
            </p:nvSpPr>
            <p:spPr>
              <a:xfrm>
                <a:off x="3874709" y="4194736"/>
                <a:ext cx="318654" cy="332509"/>
              </a:xfrm>
              <a:prstGeom prst="ellipse">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latin typeface="Arial" panose="020B0604020202020204" pitchFamily="34" charset="0"/>
                  <a:cs typeface="Arial" panose="020B0604020202020204" pitchFamily="34" charset="0"/>
                </a:endParaRPr>
              </a:p>
            </p:txBody>
          </p:sp>
          <p:sp>
            <p:nvSpPr>
              <p:cNvPr id="66" name="Oval 65">
                <a:extLst>
                  <a:ext uri="{FF2B5EF4-FFF2-40B4-BE49-F238E27FC236}">
                    <a16:creationId xmlns:a16="http://schemas.microsoft.com/office/drawing/2014/main" id="{521DDCBD-667A-534B-9D62-78D0013BD5E3}"/>
                  </a:ext>
                </a:extLst>
              </p:cNvPr>
              <p:cNvSpPr/>
              <p:nvPr/>
            </p:nvSpPr>
            <p:spPr>
              <a:xfrm>
                <a:off x="3052373" y="4599008"/>
                <a:ext cx="318654" cy="332509"/>
              </a:xfrm>
              <a:prstGeom prst="ellipse">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latin typeface="Arial" panose="020B0604020202020204" pitchFamily="34" charset="0"/>
                  <a:cs typeface="Arial" panose="020B0604020202020204" pitchFamily="34" charset="0"/>
                </a:endParaRPr>
              </a:p>
            </p:txBody>
          </p:sp>
          <p:cxnSp>
            <p:nvCxnSpPr>
              <p:cNvPr id="67" name="Straight Connector 66">
                <a:extLst>
                  <a:ext uri="{FF2B5EF4-FFF2-40B4-BE49-F238E27FC236}">
                    <a16:creationId xmlns:a16="http://schemas.microsoft.com/office/drawing/2014/main" id="{DC850DEC-04EC-DA40-865C-85BC0E761380}"/>
                  </a:ext>
                </a:extLst>
              </p:cNvPr>
              <p:cNvCxnSpPr>
                <a:stCxn id="65" idx="2"/>
                <a:endCxn id="66" idx="7"/>
              </p:cNvCxnSpPr>
              <p:nvPr/>
            </p:nvCxnSpPr>
            <p:spPr>
              <a:xfrm flipH="1">
                <a:off x="3324361" y="4360991"/>
                <a:ext cx="550348" cy="286712"/>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A8C7881A-150C-A046-8A97-24CBEF80F073}"/>
                  </a:ext>
                </a:extLst>
              </p:cNvPr>
              <p:cNvCxnSpPr>
                <a:cxnSpLocks/>
                <a:stCxn id="65" idx="6"/>
                <a:endCxn id="75" idx="1"/>
              </p:cNvCxnSpPr>
              <p:nvPr/>
            </p:nvCxnSpPr>
            <p:spPr>
              <a:xfrm>
                <a:off x="4193363" y="4360991"/>
                <a:ext cx="563020" cy="269088"/>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69" name="Oval 68">
                <a:extLst>
                  <a:ext uri="{FF2B5EF4-FFF2-40B4-BE49-F238E27FC236}">
                    <a16:creationId xmlns:a16="http://schemas.microsoft.com/office/drawing/2014/main" id="{60FD71F0-5312-364F-8B2C-4ACE0D9E7B57}"/>
                  </a:ext>
                </a:extLst>
              </p:cNvPr>
              <p:cNvSpPr/>
              <p:nvPr/>
            </p:nvSpPr>
            <p:spPr>
              <a:xfrm>
                <a:off x="2390910" y="5232762"/>
                <a:ext cx="318654" cy="332509"/>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C00000"/>
                    </a:solidFill>
                    <a:latin typeface="Arial" panose="020B0604020202020204" pitchFamily="34" charset="0"/>
                    <a:cs typeface="Arial" panose="020B0604020202020204" pitchFamily="34" charset="0"/>
                  </a:rPr>
                  <a:t>D</a:t>
                </a:r>
              </a:p>
            </p:txBody>
          </p:sp>
          <p:sp>
            <p:nvSpPr>
              <p:cNvPr id="70" name="Oval 69">
                <a:extLst>
                  <a:ext uri="{FF2B5EF4-FFF2-40B4-BE49-F238E27FC236}">
                    <a16:creationId xmlns:a16="http://schemas.microsoft.com/office/drawing/2014/main" id="{F27C2171-C7A6-634C-94D1-AFC3D2355A49}"/>
                  </a:ext>
                </a:extLst>
              </p:cNvPr>
              <p:cNvSpPr/>
              <p:nvPr/>
            </p:nvSpPr>
            <p:spPr>
              <a:xfrm>
                <a:off x="3544434" y="5194767"/>
                <a:ext cx="318654" cy="332509"/>
              </a:xfrm>
              <a:prstGeom prst="ellipse">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latin typeface="Arial" panose="020B0604020202020204" pitchFamily="34" charset="0"/>
                  <a:cs typeface="Arial" panose="020B0604020202020204" pitchFamily="34" charset="0"/>
                </a:endParaRPr>
              </a:p>
            </p:txBody>
          </p:sp>
          <p:cxnSp>
            <p:nvCxnSpPr>
              <p:cNvPr id="71" name="Straight Connector 70">
                <a:extLst>
                  <a:ext uri="{FF2B5EF4-FFF2-40B4-BE49-F238E27FC236}">
                    <a16:creationId xmlns:a16="http://schemas.microsoft.com/office/drawing/2014/main" id="{CBF040D6-1690-2143-AA91-AEC81CFC3957}"/>
                  </a:ext>
                </a:extLst>
              </p:cNvPr>
              <p:cNvCxnSpPr>
                <a:cxnSpLocks/>
              </p:cNvCxnSpPr>
              <p:nvPr/>
            </p:nvCxnSpPr>
            <p:spPr>
              <a:xfrm flipH="1">
                <a:off x="2594570" y="4823782"/>
                <a:ext cx="452772" cy="402642"/>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4D81C893-CE86-D048-A581-D49AFAC3DBA7}"/>
                  </a:ext>
                </a:extLst>
              </p:cNvPr>
              <p:cNvCxnSpPr>
                <a:cxnSpLocks/>
                <a:stCxn id="66" idx="5"/>
                <a:endCxn id="70" idx="1"/>
              </p:cNvCxnSpPr>
              <p:nvPr/>
            </p:nvCxnSpPr>
            <p:spPr>
              <a:xfrm>
                <a:off x="3324361" y="4882822"/>
                <a:ext cx="266739" cy="36064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C08EE074-ACA8-7A40-B493-09460D688661}"/>
                  </a:ext>
                </a:extLst>
              </p:cNvPr>
              <p:cNvCxnSpPr>
                <a:cxnSpLocks/>
              </p:cNvCxnSpPr>
              <p:nvPr/>
            </p:nvCxnSpPr>
            <p:spPr>
              <a:xfrm>
                <a:off x="2662680" y="5516576"/>
                <a:ext cx="89411"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2ABD8047-A0A8-0A44-9D62-044EA9834539}"/>
                  </a:ext>
                </a:extLst>
              </p:cNvPr>
              <p:cNvCxnSpPr>
                <a:cxnSpLocks/>
                <a:stCxn id="69" idx="3"/>
              </p:cNvCxnSpPr>
              <p:nvPr/>
            </p:nvCxnSpPr>
            <p:spPr>
              <a:xfrm flipH="1">
                <a:off x="2291203" y="5516576"/>
                <a:ext cx="146373"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Oval 74">
                <a:extLst>
                  <a:ext uri="{FF2B5EF4-FFF2-40B4-BE49-F238E27FC236}">
                    <a16:creationId xmlns:a16="http://schemas.microsoft.com/office/drawing/2014/main" id="{9D19D513-556E-F34C-83EE-EB8F585DD4BA}"/>
                  </a:ext>
                </a:extLst>
              </p:cNvPr>
              <p:cNvSpPr/>
              <p:nvPr/>
            </p:nvSpPr>
            <p:spPr>
              <a:xfrm>
                <a:off x="4709717" y="4581384"/>
                <a:ext cx="318654" cy="332509"/>
              </a:xfrm>
              <a:prstGeom prst="ellipse">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latin typeface="Arial" panose="020B0604020202020204" pitchFamily="34" charset="0"/>
                  <a:cs typeface="Arial" panose="020B0604020202020204" pitchFamily="34" charset="0"/>
                </a:endParaRPr>
              </a:p>
            </p:txBody>
          </p:sp>
          <p:sp>
            <p:nvSpPr>
              <p:cNvPr id="76" name="Oval 75">
                <a:extLst>
                  <a:ext uri="{FF2B5EF4-FFF2-40B4-BE49-F238E27FC236}">
                    <a16:creationId xmlns:a16="http://schemas.microsoft.com/office/drawing/2014/main" id="{BFFE4965-53C7-C14F-A6C5-B24257BD68DF}"/>
                  </a:ext>
                </a:extLst>
              </p:cNvPr>
              <p:cNvSpPr/>
              <p:nvPr/>
            </p:nvSpPr>
            <p:spPr>
              <a:xfrm>
                <a:off x="4369997" y="5191149"/>
                <a:ext cx="318654" cy="332509"/>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C00000"/>
                    </a:solidFill>
                    <a:latin typeface="Arial" panose="020B0604020202020204" pitchFamily="34" charset="0"/>
                    <a:cs typeface="Arial" panose="020B0604020202020204" pitchFamily="34" charset="0"/>
                  </a:rPr>
                  <a:t>R</a:t>
                </a:r>
              </a:p>
            </p:txBody>
          </p:sp>
          <p:sp>
            <p:nvSpPr>
              <p:cNvPr id="77" name="Oval 76">
                <a:extLst>
                  <a:ext uri="{FF2B5EF4-FFF2-40B4-BE49-F238E27FC236}">
                    <a16:creationId xmlns:a16="http://schemas.microsoft.com/office/drawing/2014/main" id="{D7E9FA36-99A2-4548-AAED-59EB0316C29D}"/>
                  </a:ext>
                </a:extLst>
              </p:cNvPr>
              <p:cNvSpPr/>
              <p:nvPr/>
            </p:nvSpPr>
            <p:spPr>
              <a:xfrm>
                <a:off x="5203782" y="5169647"/>
                <a:ext cx="318654" cy="332509"/>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C00000"/>
                    </a:solidFill>
                    <a:latin typeface="Arial" panose="020B0604020202020204" pitchFamily="34" charset="0"/>
                    <a:cs typeface="Arial" panose="020B0604020202020204" pitchFamily="34" charset="0"/>
                  </a:rPr>
                  <a:t>B</a:t>
                </a:r>
              </a:p>
            </p:txBody>
          </p:sp>
          <p:cxnSp>
            <p:nvCxnSpPr>
              <p:cNvPr id="78" name="Straight Connector 77">
                <a:extLst>
                  <a:ext uri="{FF2B5EF4-FFF2-40B4-BE49-F238E27FC236}">
                    <a16:creationId xmlns:a16="http://schemas.microsoft.com/office/drawing/2014/main" id="{F2C9BD15-B171-C54B-BAAA-F292D655126D}"/>
                  </a:ext>
                </a:extLst>
              </p:cNvPr>
              <p:cNvCxnSpPr>
                <a:cxnSpLocks/>
                <a:stCxn id="75" idx="3"/>
                <a:endCxn id="76" idx="7"/>
              </p:cNvCxnSpPr>
              <p:nvPr/>
            </p:nvCxnSpPr>
            <p:spPr>
              <a:xfrm flipH="1">
                <a:off x="4641985" y="4865198"/>
                <a:ext cx="114398" cy="37464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9E39A858-E596-E840-8363-95123EF89490}"/>
                  </a:ext>
                </a:extLst>
              </p:cNvPr>
              <p:cNvCxnSpPr>
                <a:cxnSpLocks/>
                <a:stCxn id="75" idx="6"/>
                <a:endCxn id="77" idx="1"/>
              </p:cNvCxnSpPr>
              <p:nvPr/>
            </p:nvCxnSpPr>
            <p:spPr>
              <a:xfrm>
                <a:off x="5028371" y="4747639"/>
                <a:ext cx="222077" cy="470703"/>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AA22569A-8B38-B843-AAAD-8FDDB06565C8}"/>
                  </a:ext>
                </a:extLst>
              </p:cNvPr>
              <p:cNvCxnSpPr>
                <a:cxnSpLocks/>
                <a:stCxn id="76" idx="5"/>
              </p:cNvCxnSpPr>
              <p:nvPr/>
            </p:nvCxnSpPr>
            <p:spPr>
              <a:xfrm>
                <a:off x="4641985" y="5474963"/>
                <a:ext cx="89411"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9A938C92-5C55-3247-A442-C97C4425DAAA}"/>
                  </a:ext>
                </a:extLst>
              </p:cNvPr>
              <p:cNvCxnSpPr>
                <a:cxnSpLocks/>
                <a:stCxn id="76" idx="3"/>
              </p:cNvCxnSpPr>
              <p:nvPr/>
            </p:nvCxnSpPr>
            <p:spPr>
              <a:xfrm flipH="1">
                <a:off x="4270290" y="5474963"/>
                <a:ext cx="146373"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82" name="Oval 81">
                <a:extLst>
                  <a:ext uri="{FF2B5EF4-FFF2-40B4-BE49-F238E27FC236}">
                    <a16:creationId xmlns:a16="http://schemas.microsoft.com/office/drawing/2014/main" id="{65780B6B-39C2-714F-8114-DB0060E8D759}"/>
                  </a:ext>
                </a:extLst>
              </p:cNvPr>
              <p:cNvSpPr/>
              <p:nvPr/>
            </p:nvSpPr>
            <p:spPr>
              <a:xfrm>
                <a:off x="3047342" y="5849420"/>
                <a:ext cx="318654" cy="332509"/>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C00000"/>
                    </a:solidFill>
                    <a:latin typeface="Arial" panose="020B0604020202020204" pitchFamily="34" charset="0"/>
                    <a:cs typeface="Arial" panose="020B0604020202020204" pitchFamily="34" charset="0"/>
                  </a:rPr>
                  <a:t>!</a:t>
                </a:r>
              </a:p>
            </p:txBody>
          </p:sp>
          <p:sp>
            <p:nvSpPr>
              <p:cNvPr id="83" name="Oval 82">
                <a:extLst>
                  <a:ext uri="{FF2B5EF4-FFF2-40B4-BE49-F238E27FC236}">
                    <a16:creationId xmlns:a16="http://schemas.microsoft.com/office/drawing/2014/main" id="{068D80D7-84AB-1440-855F-4C00E46813EF}"/>
                  </a:ext>
                </a:extLst>
              </p:cNvPr>
              <p:cNvSpPr/>
              <p:nvPr/>
            </p:nvSpPr>
            <p:spPr>
              <a:xfrm>
                <a:off x="3928929" y="5885637"/>
                <a:ext cx="318654" cy="332509"/>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C00000"/>
                    </a:solidFill>
                    <a:latin typeface="Arial" panose="020B0604020202020204" pitchFamily="34" charset="0"/>
                    <a:cs typeface="Arial" panose="020B0604020202020204" pitchFamily="34" charset="0"/>
                  </a:rPr>
                  <a:t>C</a:t>
                </a:r>
              </a:p>
            </p:txBody>
          </p:sp>
          <p:cxnSp>
            <p:nvCxnSpPr>
              <p:cNvPr id="84" name="Straight Connector 83">
                <a:extLst>
                  <a:ext uri="{FF2B5EF4-FFF2-40B4-BE49-F238E27FC236}">
                    <a16:creationId xmlns:a16="http://schemas.microsoft.com/office/drawing/2014/main" id="{0D11CFA3-7835-8445-8797-4A2FB4B6BE89}"/>
                  </a:ext>
                </a:extLst>
              </p:cNvPr>
              <p:cNvCxnSpPr>
                <a:cxnSpLocks/>
                <a:stCxn id="70" idx="2"/>
                <a:endCxn id="82" idx="7"/>
              </p:cNvCxnSpPr>
              <p:nvPr/>
            </p:nvCxnSpPr>
            <p:spPr>
              <a:xfrm flipH="1">
                <a:off x="3319330" y="5361022"/>
                <a:ext cx="225104" cy="537093"/>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0B8C0FC0-9C6C-6948-B6C1-BFFD38122CFE}"/>
                  </a:ext>
                </a:extLst>
              </p:cNvPr>
              <p:cNvCxnSpPr>
                <a:cxnSpLocks/>
                <a:stCxn id="70" idx="5"/>
                <a:endCxn id="83" idx="1"/>
              </p:cNvCxnSpPr>
              <p:nvPr/>
            </p:nvCxnSpPr>
            <p:spPr>
              <a:xfrm>
                <a:off x="3816422" y="5478581"/>
                <a:ext cx="159173" cy="4557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5E6FFDDE-606B-AF43-A5AD-0D257C838663}"/>
                  </a:ext>
                </a:extLst>
              </p:cNvPr>
              <p:cNvCxnSpPr>
                <a:cxnSpLocks/>
                <a:stCxn id="82" idx="5"/>
              </p:cNvCxnSpPr>
              <p:nvPr/>
            </p:nvCxnSpPr>
            <p:spPr>
              <a:xfrm>
                <a:off x="3319330" y="6133234"/>
                <a:ext cx="89411"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71FF5EC6-1CA6-4744-851C-CD67D71C960C}"/>
                  </a:ext>
                </a:extLst>
              </p:cNvPr>
              <p:cNvCxnSpPr>
                <a:cxnSpLocks/>
                <a:stCxn id="82" idx="3"/>
              </p:cNvCxnSpPr>
              <p:nvPr/>
            </p:nvCxnSpPr>
            <p:spPr>
              <a:xfrm flipH="1">
                <a:off x="2947635" y="6133234"/>
                <a:ext cx="146373"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1AC28782-2CA5-ED4E-93AC-0880F92B3F2B}"/>
                  </a:ext>
                </a:extLst>
              </p:cNvPr>
              <p:cNvCxnSpPr>
                <a:cxnSpLocks/>
              </p:cNvCxnSpPr>
              <p:nvPr/>
            </p:nvCxnSpPr>
            <p:spPr>
              <a:xfrm>
                <a:off x="4176891" y="6192797"/>
                <a:ext cx="89411"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535E1BF6-DE46-FB42-93C2-DA3A338975ED}"/>
                  </a:ext>
                </a:extLst>
              </p:cNvPr>
              <p:cNvCxnSpPr>
                <a:cxnSpLocks/>
              </p:cNvCxnSpPr>
              <p:nvPr/>
            </p:nvCxnSpPr>
            <p:spPr>
              <a:xfrm flipH="1">
                <a:off x="3805414" y="6192797"/>
                <a:ext cx="146373"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C6243772-DA2C-F443-9375-7B3275D4E645}"/>
                  </a:ext>
                </a:extLst>
              </p:cNvPr>
              <p:cNvCxnSpPr>
                <a:cxnSpLocks/>
              </p:cNvCxnSpPr>
              <p:nvPr/>
            </p:nvCxnSpPr>
            <p:spPr>
              <a:xfrm>
                <a:off x="5497772" y="5480894"/>
                <a:ext cx="89411"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C8BD19CF-538E-0540-8A0F-9395FCE8F402}"/>
                  </a:ext>
                </a:extLst>
              </p:cNvPr>
              <p:cNvCxnSpPr>
                <a:cxnSpLocks/>
              </p:cNvCxnSpPr>
              <p:nvPr/>
            </p:nvCxnSpPr>
            <p:spPr>
              <a:xfrm flipH="1">
                <a:off x="5126077" y="5480894"/>
                <a:ext cx="146373" cy="22047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54" name="Freeform 53">
              <a:extLst>
                <a:ext uri="{FF2B5EF4-FFF2-40B4-BE49-F238E27FC236}">
                  <a16:creationId xmlns:a16="http://schemas.microsoft.com/office/drawing/2014/main" id="{0B1EEAE1-9AAB-EF48-A3B0-D7AD354E0499}"/>
                </a:ext>
              </a:extLst>
            </p:cNvPr>
            <p:cNvSpPr/>
            <p:nvPr/>
          </p:nvSpPr>
          <p:spPr>
            <a:xfrm>
              <a:off x="6085834" y="3524865"/>
              <a:ext cx="3222012" cy="2481915"/>
            </a:xfrm>
            <a:custGeom>
              <a:avLst/>
              <a:gdLst>
                <a:gd name="connsiteX0" fmla="*/ 1052385 w 3222012"/>
                <a:gd name="connsiteY0" fmla="*/ 0 h 2481915"/>
                <a:gd name="connsiteX1" fmla="*/ 64243 w 3222012"/>
                <a:gd name="connsiteY1" fmla="*/ 530941 h 2481915"/>
                <a:gd name="connsiteX2" fmla="*/ 152734 w 3222012"/>
                <a:gd name="connsiteY2" fmla="*/ 1327354 h 2481915"/>
                <a:gd name="connsiteX3" fmla="*/ 609934 w 3222012"/>
                <a:gd name="connsiteY3" fmla="*/ 1238864 h 2481915"/>
                <a:gd name="connsiteX4" fmla="*/ 860656 w 3222012"/>
                <a:gd name="connsiteY4" fmla="*/ 796412 h 2481915"/>
                <a:gd name="connsiteX5" fmla="*/ 1170372 w 3222012"/>
                <a:gd name="connsiteY5" fmla="*/ 752167 h 2481915"/>
                <a:gd name="connsiteX6" fmla="*/ 255972 w 3222012"/>
                <a:gd name="connsiteY6" fmla="*/ 1710812 h 2481915"/>
                <a:gd name="connsiteX7" fmla="*/ 565689 w 3222012"/>
                <a:gd name="connsiteY7" fmla="*/ 2035277 h 2481915"/>
                <a:gd name="connsiteX8" fmla="*/ 1052385 w 3222012"/>
                <a:gd name="connsiteY8" fmla="*/ 1548580 h 2481915"/>
                <a:gd name="connsiteX9" fmla="*/ 1155624 w 3222012"/>
                <a:gd name="connsiteY9" fmla="*/ 1386348 h 2481915"/>
                <a:gd name="connsiteX10" fmla="*/ 1303108 w 3222012"/>
                <a:gd name="connsiteY10" fmla="*/ 1533832 h 2481915"/>
                <a:gd name="connsiteX11" fmla="*/ 978643 w 3222012"/>
                <a:gd name="connsiteY11" fmla="*/ 2344993 h 2481915"/>
                <a:gd name="connsiteX12" fmla="*/ 2247005 w 3222012"/>
                <a:gd name="connsiteY12" fmla="*/ 2359741 h 2481915"/>
                <a:gd name="connsiteX13" fmla="*/ 1598076 w 3222012"/>
                <a:gd name="connsiteY13" fmla="*/ 1135625 h 2481915"/>
                <a:gd name="connsiteX14" fmla="*/ 2070024 w 3222012"/>
                <a:gd name="connsiteY14" fmla="*/ 1091380 h 2481915"/>
                <a:gd name="connsiteX15" fmla="*/ 1878295 w 3222012"/>
                <a:gd name="connsiteY15" fmla="*/ 1651819 h 2481915"/>
                <a:gd name="connsiteX16" fmla="*/ 3220398 w 3222012"/>
                <a:gd name="connsiteY16" fmla="*/ 1784554 h 2481915"/>
                <a:gd name="connsiteX17" fmla="*/ 1568579 w 3222012"/>
                <a:gd name="connsiteY17" fmla="*/ 0 h 2481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22012" h="2481915">
                  <a:moveTo>
                    <a:pt x="1052385" y="0"/>
                  </a:moveTo>
                  <a:cubicBezTo>
                    <a:pt x="633285" y="154857"/>
                    <a:pt x="214185" y="309715"/>
                    <a:pt x="64243" y="530941"/>
                  </a:cubicBezTo>
                  <a:cubicBezTo>
                    <a:pt x="-85699" y="752167"/>
                    <a:pt x="61785" y="1209367"/>
                    <a:pt x="152734" y="1327354"/>
                  </a:cubicBezTo>
                  <a:cubicBezTo>
                    <a:pt x="243682" y="1445341"/>
                    <a:pt x="491947" y="1327354"/>
                    <a:pt x="609934" y="1238864"/>
                  </a:cubicBezTo>
                  <a:cubicBezTo>
                    <a:pt x="727921" y="1150374"/>
                    <a:pt x="767250" y="877528"/>
                    <a:pt x="860656" y="796412"/>
                  </a:cubicBezTo>
                  <a:cubicBezTo>
                    <a:pt x="954062" y="715296"/>
                    <a:pt x="1271153" y="599767"/>
                    <a:pt x="1170372" y="752167"/>
                  </a:cubicBezTo>
                  <a:cubicBezTo>
                    <a:pt x="1069591" y="904567"/>
                    <a:pt x="356752" y="1496960"/>
                    <a:pt x="255972" y="1710812"/>
                  </a:cubicBezTo>
                  <a:cubicBezTo>
                    <a:pt x="155191" y="1924664"/>
                    <a:pt x="432953" y="2062316"/>
                    <a:pt x="565689" y="2035277"/>
                  </a:cubicBezTo>
                  <a:cubicBezTo>
                    <a:pt x="698424" y="2008238"/>
                    <a:pt x="954063" y="1656735"/>
                    <a:pt x="1052385" y="1548580"/>
                  </a:cubicBezTo>
                  <a:cubicBezTo>
                    <a:pt x="1150707" y="1440425"/>
                    <a:pt x="1113837" y="1388806"/>
                    <a:pt x="1155624" y="1386348"/>
                  </a:cubicBezTo>
                  <a:cubicBezTo>
                    <a:pt x="1197411" y="1383890"/>
                    <a:pt x="1332605" y="1374058"/>
                    <a:pt x="1303108" y="1533832"/>
                  </a:cubicBezTo>
                  <a:cubicBezTo>
                    <a:pt x="1273611" y="1693606"/>
                    <a:pt x="821327" y="2207342"/>
                    <a:pt x="978643" y="2344993"/>
                  </a:cubicBezTo>
                  <a:cubicBezTo>
                    <a:pt x="1135959" y="2482644"/>
                    <a:pt x="2143766" y="2561302"/>
                    <a:pt x="2247005" y="2359741"/>
                  </a:cubicBezTo>
                  <a:cubicBezTo>
                    <a:pt x="2350244" y="2158180"/>
                    <a:pt x="1627573" y="1347018"/>
                    <a:pt x="1598076" y="1135625"/>
                  </a:cubicBezTo>
                  <a:cubicBezTo>
                    <a:pt x="1568579" y="924232"/>
                    <a:pt x="2023321" y="1005348"/>
                    <a:pt x="2070024" y="1091380"/>
                  </a:cubicBezTo>
                  <a:cubicBezTo>
                    <a:pt x="2116727" y="1177412"/>
                    <a:pt x="1686566" y="1536290"/>
                    <a:pt x="1878295" y="1651819"/>
                  </a:cubicBezTo>
                  <a:cubicBezTo>
                    <a:pt x="2070024" y="1767348"/>
                    <a:pt x="3272017" y="2059857"/>
                    <a:pt x="3220398" y="1784554"/>
                  </a:cubicBezTo>
                  <a:cubicBezTo>
                    <a:pt x="3168779" y="1509251"/>
                    <a:pt x="2368679" y="754625"/>
                    <a:pt x="1568579" y="0"/>
                  </a:cubicBezTo>
                </a:path>
              </a:pathLst>
            </a:cu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5" name="Straight Arrow Connector 54">
              <a:extLst>
                <a:ext uri="{FF2B5EF4-FFF2-40B4-BE49-F238E27FC236}">
                  <a16:creationId xmlns:a16="http://schemas.microsoft.com/office/drawing/2014/main" id="{F2D9816D-4FA1-0C47-80E1-789281FC37B6}"/>
                </a:ext>
              </a:extLst>
            </p:cNvPr>
            <p:cNvCxnSpPr/>
            <p:nvPr/>
          </p:nvCxnSpPr>
          <p:spPr>
            <a:xfrm flipH="1">
              <a:off x="6096000" y="3524865"/>
              <a:ext cx="536116" cy="325152"/>
            </a:xfrm>
            <a:prstGeom prst="straightConnector1">
              <a:avLst/>
            </a:prstGeom>
            <a:ln w="2857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76124EE6-4A86-AD4E-ADCD-AEAFEA25B22B}"/>
                </a:ext>
              </a:extLst>
            </p:cNvPr>
            <p:cNvCxnSpPr>
              <a:cxnSpLocks/>
            </p:cNvCxnSpPr>
            <p:nvPr/>
          </p:nvCxnSpPr>
          <p:spPr>
            <a:xfrm flipH="1" flipV="1">
              <a:off x="7961032" y="3524865"/>
              <a:ext cx="396710" cy="348218"/>
            </a:xfrm>
            <a:prstGeom prst="straightConnector1">
              <a:avLst/>
            </a:prstGeom>
            <a:ln w="2857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DB7E8EC1-D11F-C143-9484-EAE5FFB2E717}"/>
                </a:ext>
              </a:extLst>
            </p:cNvPr>
            <p:cNvSpPr txBox="1"/>
            <p:nvPr/>
          </p:nvSpPr>
          <p:spPr>
            <a:xfrm>
              <a:off x="5077534" y="6323872"/>
              <a:ext cx="6942093" cy="338554"/>
            </a:xfrm>
            <a:prstGeom prst="rect">
              <a:avLst/>
            </a:prstGeom>
            <a:noFill/>
          </p:spPr>
          <p:txBody>
            <a:bodyPr wrap="none" rtlCol="0">
              <a:spAutoFit/>
            </a:bodyPr>
            <a:lstStyle/>
            <a:p>
              <a:r>
                <a:rPr lang="en-GB" sz="1600" dirty="0">
                  <a:solidFill>
                    <a:schemeClr val="accent5"/>
                  </a:solidFill>
                  <a:latin typeface="Arial" panose="020B0604020202020204" pitchFamily="34" charset="0"/>
                  <a:cs typeface="Arial" panose="020B0604020202020204" pitchFamily="34" charset="0"/>
                </a:rPr>
                <a:t>0</a:t>
              </a:r>
              <a:r>
                <a:rPr lang="en-GB" sz="1600" dirty="0">
                  <a:latin typeface="Arial" panose="020B0604020202020204" pitchFamily="34" charset="0"/>
                  <a:cs typeface="Arial" panose="020B0604020202020204" pitchFamily="34" charset="0"/>
                </a:rPr>
                <a:t>1</a:t>
              </a:r>
              <a:r>
                <a:rPr lang="en-GB" sz="1600" dirty="0">
                  <a:solidFill>
                    <a:srgbClr val="C00000"/>
                  </a:solidFill>
                  <a:latin typeface="Arial" panose="020B0604020202020204" pitchFamily="34" charset="0"/>
                  <a:cs typeface="Arial" panose="020B0604020202020204" pitchFamily="34" charset="0"/>
                </a:rPr>
                <a:t>01000001</a:t>
              </a:r>
              <a:r>
                <a:rPr lang="en-GB" sz="1600" dirty="0">
                  <a:solidFill>
                    <a:schemeClr val="accent5"/>
                  </a:solidFill>
                  <a:latin typeface="Arial" panose="020B0604020202020204" pitchFamily="34" charset="0"/>
                  <a:cs typeface="Arial" panose="020B0604020202020204" pitchFamily="34" charset="0"/>
                </a:rPr>
                <a:t>00</a:t>
              </a:r>
              <a:r>
                <a:rPr lang="en-GB" sz="1600" dirty="0">
                  <a:latin typeface="Arial" panose="020B0604020202020204" pitchFamily="34" charset="0"/>
                  <a:cs typeface="Arial" panose="020B0604020202020204" pitchFamily="34" charset="0"/>
                </a:rPr>
                <a:t>1</a:t>
              </a:r>
              <a:r>
                <a:rPr lang="en-GB" sz="1600" dirty="0">
                  <a:solidFill>
                    <a:srgbClr val="C00000"/>
                  </a:solidFill>
                  <a:latin typeface="Arial" panose="020B0604020202020204" pitchFamily="34" charset="0"/>
                  <a:cs typeface="Arial" panose="020B0604020202020204" pitchFamily="34" charset="0"/>
                </a:rPr>
                <a:t>01000100</a:t>
              </a:r>
              <a:r>
                <a:rPr lang="en-GB" sz="1600" dirty="0">
                  <a:solidFill>
                    <a:schemeClr val="accent5"/>
                  </a:solidFill>
                  <a:latin typeface="Arial" panose="020B0604020202020204" pitchFamily="34" charset="0"/>
                  <a:cs typeface="Arial" panose="020B0604020202020204" pitchFamily="34" charset="0"/>
                </a:rPr>
                <a:t>0</a:t>
              </a:r>
              <a:r>
                <a:rPr lang="en-GB" sz="1600" dirty="0">
                  <a:latin typeface="Arial" panose="020B0604020202020204" pitchFamily="34" charset="0"/>
                  <a:cs typeface="Arial" panose="020B0604020202020204" pitchFamily="34" charset="0"/>
                </a:rPr>
                <a:t>1</a:t>
              </a:r>
              <a:r>
                <a:rPr lang="en-GB" sz="1600" dirty="0">
                  <a:solidFill>
                    <a:srgbClr val="C00000"/>
                  </a:solidFill>
                  <a:latin typeface="Arial" panose="020B0604020202020204" pitchFamily="34" charset="0"/>
                  <a:cs typeface="Arial" panose="020B0604020202020204" pitchFamily="34" charset="0"/>
                </a:rPr>
                <a:t>00001010</a:t>
              </a:r>
              <a:r>
                <a:rPr lang="en-GB" sz="1600" dirty="0">
                  <a:latin typeface="Arial" panose="020B0604020202020204" pitchFamily="34" charset="0"/>
                  <a:cs typeface="Arial" panose="020B0604020202020204" pitchFamily="34" charset="0"/>
                </a:rPr>
                <a:t>1</a:t>
              </a:r>
              <a:r>
                <a:rPr lang="en-GB" sz="1600" dirty="0">
                  <a:solidFill>
                    <a:srgbClr val="C00000"/>
                  </a:solidFill>
                  <a:latin typeface="Arial" panose="020B0604020202020204" pitchFamily="34" charset="0"/>
                  <a:cs typeface="Arial" panose="020B0604020202020204" pitchFamily="34" charset="0"/>
                </a:rPr>
                <a:t>01000011</a:t>
              </a:r>
              <a:r>
                <a:rPr lang="en-GB" sz="1600" dirty="0">
                  <a:solidFill>
                    <a:schemeClr val="accent5"/>
                  </a:solidFill>
                  <a:latin typeface="Arial" panose="020B0604020202020204" pitchFamily="34" charset="0"/>
                  <a:cs typeface="Arial" panose="020B0604020202020204" pitchFamily="34" charset="0"/>
                </a:rPr>
                <a:t>0</a:t>
              </a:r>
              <a:r>
                <a:rPr lang="en-GB" sz="1600" dirty="0">
                  <a:latin typeface="Arial" panose="020B0604020202020204" pitchFamily="34" charset="0"/>
                  <a:cs typeface="Arial" panose="020B0604020202020204" pitchFamily="34" charset="0"/>
                </a:rPr>
                <a:t>1</a:t>
              </a:r>
              <a:r>
                <a:rPr lang="en-GB" sz="1600" dirty="0">
                  <a:solidFill>
                    <a:srgbClr val="C00000"/>
                  </a:solidFill>
                  <a:latin typeface="Arial" panose="020B0604020202020204" pitchFamily="34" charset="0"/>
                  <a:cs typeface="Arial" panose="020B0604020202020204" pitchFamily="34" charset="0"/>
                </a:rPr>
                <a:t>01010010</a:t>
              </a:r>
              <a:r>
                <a:rPr lang="en-GB" sz="1600" dirty="0">
                  <a:latin typeface="Arial" panose="020B0604020202020204" pitchFamily="34" charset="0"/>
                  <a:cs typeface="Arial" panose="020B0604020202020204" pitchFamily="34" charset="0"/>
                </a:rPr>
                <a:t>1</a:t>
              </a:r>
              <a:r>
                <a:rPr lang="en-GB" sz="1600" dirty="0">
                  <a:solidFill>
                    <a:srgbClr val="C00000"/>
                  </a:solidFill>
                  <a:latin typeface="Arial" panose="020B0604020202020204" pitchFamily="34" charset="0"/>
                  <a:cs typeface="Arial" panose="020B0604020202020204" pitchFamily="34" charset="0"/>
                </a:rPr>
                <a:t>01000010</a:t>
              </a:r>
              <a:r>
                <a:rPr lang="en-GB" sz="1600" dirty="0">
                  <a:latin typeface="Arial" panose="020B0604020202020204" pitchFamily="34" charset="0"/>
                  <a:cs typeface="Arial" panose="020B0604020202020204" pitchFamily="34" charset="0"/>
                </a:rPr>
                <a:t> </a:t>
              </a:r>
            </a:p>
          </p:txBody>
        </p:sp>
      </p:grpSp>
    </p:spTree>
    <p:extLst>
      <p:ext uri="{BB962C8B-B14F-4D97-AF65-F5344CB8AC3E}">
        <p14:creationId xmlns:p14="http://schemas.microsoft.com/office/powerpoint/2010/main" val="42647066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61A64-88E3-514F-96E5-EB5877D9729F}"/>
              </a:ext>
            </a:extLst>
          </p:cNvPr>
          <p:cNvSpPr>
            <a:spLocks noGrp="1"/>
          </p:cNvSpPr>
          <p:nvPr>
            <p:ph type="title"/>
          </p:nvPr>
        </p:nvSpPr>
        <p:spPr/>
        <p:txBody>
          <a:bodyPr/>
          <a:lstStyle/>
          <a:p>
            <a:r>
              <a:rPr lang="en-US" dirty="0"/>
              <a:t>Huffman compression</a:t>
            </a:r>
          </a:p>
        </p:txBody>
      </p:sp>
      <p:sp>
        <p:nvSpPr>
          <p:cNvPr id="3" name="Content Placeholder 2">
            <a:extLst>
              <a:ext uri="{FF2B5EF4-FFF2-40B4-BE49-F238E27FC236}">
                <a16:creationId xmlns:a16="http://schemas.microsoft.com/office/drawing/2014/main" id="{B9A27260-ED92-1742-90BD-44C0FED54F03}"/>
              </a:ext>
            </a:extLst>
          </p:cNvPr>
          <p:cNvSpPr>
            <a:spLocks noGrp="1"/>
          </p:cNvSpPr>
          <p:nvPr>
            <p:ph idx="1"/>
          </p:nvPr>
        </p:nvSpPr>
        <p:spPr/>
        <p:txBody>
          <a:bodyPr/>
          <a:lstStyle/>
          <a:p>
            <a:r>
              <a:rPr lang="en-US" dirty="0">
                <a:highlight>
                  <a:srgbClr val="C0C0C0"/>
                </a:highlight>
              </a:rPr>
              <a:t>How-to:</a:t>
            </a:r>
            <a:r>
              <a:rPr lang="en-US" dirty="0">
                <a:solidFill>
                  <a:schemeClr val="accent5"/>
                </a:solidFill>
              </a:rPr>
              <a:t> </a:t>
            </a:r>
            <a:r>
              <a:rPr lang="en-US" dirty="0"/>
              <a:t>compression</a:t>
            </a:r>
          </a:p>
          <a:p>
            <a:pPr lvl="1"/>
            <a:r>
              <a:rPr lang="en-US" dirty="0" err="1">
                <a:solidFill>
                  <a:schemeClr val="bg1">
                    <a:lumMod val="75000"/>
                  </a:schemeClr>
                </a:solidFill>
              </a:rPr>
              <a:t>Trie</a:t>
            </a:r>
            <a:r>
              <a:rPr lang="en-US" dirty="0">
                <a:solidFill>
                  <a:schemeClr val="bg1">
                    <a:lumMod val="75000"/>
                  </a:schemeClr>
                </a:solidFill>
              </a:rPr>
              <a:t> construction </a:t>
            </a:r>
          </a:p>
          <a:p>
            <a:pPr lvl="1"/>
            <a:r>
              <a:rPr lang="en-US" dirty="0" err="1">
                <a:solidFill>
                  <a:schemeClr val="bg1">
                    <a:lumMod val="75000"/>
                  </a:schemeClr>
                </a:solidFill>
              </a:rPr>
              <a:t>Trie</a:t>
            </a:r>
            <a:r>
              <a:rPr lang="en-US" dirty="0">
                <a:solidFill>
                  <a:schemeClr val="bg1">
                    <a:lumMod val="75000"/>
                  </a:schemeClr>
                </a:solidFill>
              </a:rPr>
              <a:t> transmission</a:t>
            </a:r>
          </a:p>
          <a:p>
            <a:pPr lvl="1"/>
            <a:r>
              <a:rPr lang="en-US" dirty="0"/>
              <a:t>Build an encoding table and use it (lookup) to compress</a:t>
            </a:r>
          </a:p>
        </p:txBody>
      </p:sp>
    </p:spTree>
    <p:extLst>
      <p:ext uri="{BB962C8B-B14F-4D97-AF65-F5344CB8AC3E}">
        <p14:creationId xmlns:p14="http://schemas.microsoft.com/office/powerpoint/2010/main" val="16520756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61A64-88E3-514F-96E5-EB5877D9729F}"/>
              </a:ext>
            </a:extLst>
          </p:cNvPr>
          <p:cNvSpPr>
            <a:spLocks noGrp="1"/>
          </p:cNvSpPr>
          <p:nvPr>
            <p:ph type="title"/>
          </p:nvPr>
        </p:nvSpPr>
        <p:spPr/>
        <p:txBody>
          <a:bodyPr/>
          <a:lstStyle/>
          <a:p>
            <a:r>
              <a:rPr lang="en-US" dirty="0"/>
              <a:t>Huffman compression</a:t>
            </a:r>
          </a:p>
        </p:txBody>
      </p:sp>
      <p:sp>
        <p:nvSpPr>
          <p:cNvPr id="3" name="Content Placeholder 2">
            <a:extLst>
              <a:ext uri="{FF2B5EF4-FFF2-40B4-BE49-F238E27FC236}">
                <a16:creationId xmlns:a16="http://schemas.microsoft.com/office/drawing/2014/main" id="{B9A27260-ED92-1742-90BD-44C0FED54F03}"/>
              </a:ext>
            </a:extLst>
          </p:cNvPr>
          <p:cNvSpPr>
            <a:spLocks noGrp="1"/>
          </p:cNvSpPr>
          <p:nvPr>
            <p:ph idx="1"/>
          </p:nvPr>
        </p:nvSpPr>
        <p:spPr/>
        <p:txBody>
          <a:bodyPr/>
          <a:lstStyle/>
          <a:p>
            <a:r>
              <a:rPr lang="en-US" dirty="0"/>
              <a:t>Lookup table construction and compression</a:t>
            </a:r>
          </a:p>
        </p:txBody>
      </p:sp>
      <p:sp>
        <p:nvSpPr>
          <p:cNvPr id="4" name="TextBox 3">
            <a:extLst>
              <a:ext uri="{FF2B5EF4-FFF2-40B4-BE49-F238E27FC236}">
                <a16:creationId xmlns:a16="http://schemas.microsoft.com/office/drawing/2014/main" id="{E26FAF26-4ACA-3B40-B372-AFE503413722}"/>
              </a:ext>
            </a:extLst>
          </p:cNvPr>
          <p:cNvSpPr txBox="1"/>
          <p:nvPr/>
        </p:nvSpPr>
        <p:spPr>
          <a:xfrm>
            <a:off x="145887" y="2156851"/>
            <a:ext cx="6479659" cy="3293209"/>
          </a:xfrm>
          <a:prstGeom prst="rect">
            <a:avLst/>
          </a:prstGeom>
          <a:noFill/>
          <a:ln w="28575">
            <a:solidFill>
              <a:schemeClr val="bg1">
                <a:lumMod val="75000"/>
              </a:schemeClr>
            </a:solidFill>
          </a:ln>
        </p:spPr>
        <p:txBody>
          <a:bodyPr wrap="none" rtlCol="0">
            <a:spAutoFit/>
          </a:bodyPr>
          <a:lstStyle/>
          <a:p>
            <a:r>
              <a:rPr lang="en-US" sz="1600" dirty="0">
                <a:latin typeface="Courier" pitchFamily="2" charset="0"/>
              </a:rPr>
              <a:t>def </a:t>
            </a:r>
            <a:r>
              <a:rPr lang="en-US" sz="1600" dirty="0" err="1">
                <a:latin typeface="Courier" pitchFamily="2" charset="0"/>
              </a:rPr>
              <a:t>buildCodeTable</a:t>
            </a:r>
            <a:r>
              <a:rPr lang="en-US" sz="1600" dirty="0">
                <a:latin typeface="Courier" pitchFamily="2" charset="0"/>
              </a:rPr>
              <a:t>(root):</a:t>
            </a:r>
          </a:p>
          <a:p>
            <a:r>
              <a:rPr lang="en-US" sz="1600" dirty="0">
                <a:latin typeface="Courier" pitchFamily="2" charset="0"/>
              </a:rPr>
              <a:t>    </a:t>
            </a:r>
            <a:r>
              <a:rPr lang="en-US" sz="1600" dirty="0" err="1">
                <a:latin typeface="Courier" pitchFamily="2" charset="0"/>
              </a:rPr>
              <a:t>codeTable</a:t>
            </a:r>
            <a:r>
              <a:rPr lang="en-US" sz="1600" dirty="0">
                <a:latin typeface="Courier" pitchFamily="2" charset="0"/>
              </a:rPr>
              <a:t> = [“” for _ in range(0, R)]</a:t>
            </a:r>
          </a:p>
          <a:p>
            <a:r>
              <a:rPr lang="en-US" sz="1600" dirty="0">
                <a:latin typeface="Courier" pitchFamily="2" charset="0"/>
              </a:rPr>
              <a:t>    </a:t>
            </a:r>
            <a:r>
              <a:rPr lang="en-US" sz="1600" dirty="0" err="1">
                <a:latin typeface="Courier" pitchFamily="2" charset="0"/>
              </a:rPr>
              <a:t>buildCodeTable</a:t>
            </a:r>
            <a:r>
              <a:rPr lang="en-US" sz="1600" dirty="0">
                <a:latin typeface="Courier" pitchFamily="2" charset="0"/>
              </a:rPr>
              <a:t>(</a:t>
            </a:r>
            <a:r>
              <a:rPr lang="en-US" sz="1600" dirty="0" err="1">
                <a:latin typeface="Courier" pitchFamily="2" charset="0"/>
              </a:rPr>
              <a:t>codeTable</a:t>
            </a:r>
            <a:r>
              <a:rPr lang="en-US" sz="1600" dirty="0">
                <a:latin typeface="Courier" pitchFamily="2" charset="0"/>
              </a:rPr>
              <a:t>, root, “”)</a:t>
            </a:r>
          </a:p>
          <a:p>
            <a:r>
              <a:rPr lang="en-US" sz="1600" dirty="0">
                <a:latin typeface="Courier" pitchFamily="2" charset="0"/>
              </a:rPr>
              <a:t>    return </a:t>
            </a:r>
            <a:r>
              <a:rPr lang="en-US" sz="1600" dirty="0" err="1">
                <a:latin typeface="Courier" pitchFamily="2" charset="0"/>
              </a:rPr>
              <a:t>codeTable</a:t>
            </a:r>
            <a:endParaRPr lang="en-US" sz="1600" dirty="0">
              <a:latin typeface="Courier" pitchFamily="2" charset="0"/>
            </a:endParaRPr>
          </a:p>
          <a:p>
            <a:endParaRPr lang="en-US" sz="1600" dirty="0">
              <a:latin typeface="Courier" pitchFamily="2" charset="0"/>
            </a:endParaRPr>
          </a:p>
          <a:p>
            <a:endParaRPr lang="en-US" sz="1600" dirty="0">
              <a:latin typeface="Courier" pitchFamily="2" charset="0"/>
            </a:endParaRPr>
          </a:p>
          <a:p>
            <a:r>
              <a:rPr lang="en-US" sz="1600" dirty="0">
                <a:latin typeface="Courier" pitchFamily="2" charset="0"/>
              </a:rPr>
              <a:t>def </a:t>
            </a:r>
            <a:r>
              <a:rPr lang="en-US" sz="1600" dirty="0" err="1">
                <a:latin typeface="Courier" pitchFamily="2" charset="0"/>
              </a:rPr>
              <a:t>buildCodeTable</a:t>
            </a:r>
            <a:r>
              <a:rPr lang="en-US" sz="1600" dirty="0">
                <a:latin typeface="Courier" pitchFamily="2" charset="0"/>
              </a:rPr>
              <a:t>(table, node, </a:t>
            </a:r>
            <a:r>
              <a:rPr lang="en-US" sz="1600" dirty="0" err="1">
                <a:latin typeface="Courier" pitchFamily="2" charset="0"/>
              </a:rPr>
              <a:t>bitstr</a:t>
            </a:r>
            <a:r>
              <a:rPr lang="en-US" sz="1600" dirty="0">
                <a:latin typeface="Courier" pitchFamily="2" charset="0"/>
              </a:rPr>
              <a:t>):</a:t>
            </a:r>
          </a:p>
          <a:p>
            <a:r>
              <a:rPr lang="en-US" sz="1600" dirty="0">
                <a:latin typeface="Courier" pitchFamily="2" charset="0"/>
              </a:rPr>
              <a:t>    if (</a:t>
            </a:r>
            <a:r>
              <a:rPr lang="en-US" sz="1600" dirty="0" err="1">
                <a:latin typeface="Courier" pitchFamily="2" charset="0"/>
              </a:rPr>
              <a:t>node.isLeaf</a:t>
            </a:r>
            <a:r>
              <a:rPr lang="en-US" sz="1600" dirty="0">
                <a:latin typeface="Courier" pitchFamily="2" charset="0"/>
              </a:rPr>
              <a:t>())</a:t>
            </a:r>
          </a:p>
          <a:p>
            <a:r>
              <a:rPr lang="en-US" sz="1600" dirty="0">
                <a:latin typeface="Courier" pitchFamily="2" charset="0"/>
              </a:rPr>
              <a:t>        </a:t>
            </a:r>
            <a:r>
              <a:rPr lang="en-US" sz="1600" b="1" dirty="0">
                <a:solidFill>
                  <a:schemeClr val="accent5"/>
                </a:solidFill>
                <a:latin typeface="Courier" pitchFamily="2" charset="0"/>
              </a:rPr>
              <a:t>table[</a:t>
            </a:r>
            <a:r>
              <a:rPr lang="en-US" sz="1600" b="1" dirty="0" err="1">
                <a:solidFill>
                  <a:schemeClr val="accent5"/>
                </a:solidFill>
                <a:latin typeface="Courier" pitchFamily="2" charset="0"/>
              </a:rPr>
              <a:t>node.ch</a:t>
            </a:r>
            <a:r>
              <a:rPr lang="en-US" sz="1600" b="1" dirty="0">
                <a:solidFill>
                  <a:schemeClr val="accent5"/>
                </a:solidFill>
                <a:latin typeface="Courier" pitchFamily="2" charset="0"/>
              </a:rPr>
              <a:t>] = </a:t>
            </a:r>
            <a:r>
              <a:rPr lang="en-US" sz="1600" b="1" dirty="0" err="1">
                <a:solidFill>
                  <a:schemeClr val="accent5"/>
                </a:solidFill>
                <a:latin typeface="Courier" pitchFamily="2" charset="0"/>
              </a:rPr>
              <a:t>bitstr</a:t>
            </a:r>
            <a:endParaRPr lang="en-US" sz="1600" b="1" dirty="0">
              <a:solidFill>
                <a:schemeClr val="accent5"/>
              </a:solidFill>
              <a:latin typeface="Courier" pitchFamily="2" charset="0"/>
            </a:endParaRPr>
          </a:p>
          <a:p>
            <a:r>
              <a:rPr lang="en-US" sz="1600" dirty="0">
                <a:latin typeface="Courier" pitchFamily="2" charset="0"/>
              </a:rPr>
              <a:t>        return</a:t>
            </a:r>
          </a:p>
          <a:p>
            <a:endParaRPr lang="en-US" sz="1600" dirty="0">
              <a:latin typeface="Courier" pitchFamily="2" charset="0"/>
            </a:endParaRPr>
          </a:p>
          <a:p>
            <a:r>
              <a:rPr lang="en-US" sz="1600" dirty="0">
                <a:latin typeface="Courier" pitchFamily="2" charset="0"/>
              </a:rPr>
              <a:t>    </a:t>
            </a:r>
            <a:r>
              <a:rPr lang="en-US" sz="1600" dirty="0" err="1">
                <a:latin typeface="Courier" pitchFamily="2" charset="0"/>
              </a:rPr>
              <a:t>buildCodeTable</a:t>
            </a:r>
            <a:r>
              <a:rPr lang="en-US" sz="1600" dirty="0">
                <a:latin typeface="Courier" pitchFamily="2" charset="0"/>
              </a:rPr>
              <a:t>(table, </a:t>
            </a:r>
            <a:r>
              <a:rPr lang="en-US" sz="1600" dirty="0" err="1">
                <a:latin typeface="Courier" pitchFamily="2" charset="0"/>
              </a:rPr>
              <a:t>node.left</a:t>
            </a:r>
            <a:r>
              <a:rPr lang="en-US" sz="1600" dirty="0">
                <a:latin typeface="Courier" pitchFamily="2" charset="0"/>
              </a:rPr>
              <a:t>, </a:t>
            </a:r>
            <a:r>
              <a:rPr lang="en-US" sz="1600" dirty="0" err="1">
                <a:latin typeface="Courier" pitchFamily="2" charset="0"/>
              </a:rPr>
              <a:t>bitstr</a:t>
            </a:r>
            <a:r>
              <a:rPr lang="en-US" sz="1600" dirty="0">
                <a:latin typeface="Courier" pitchFamily="2" charset="0"/>
              </a:rPr>
              <a:t> + ”0”)</a:t>
            </a:r>
          </a:p>
          <a:p>
            <a:r>
              <a:rPr lang="en-US" sz="1600" dirty="0">
                <a:latin typeface="Courier" pitchFamily="2" charset="0"/>
              </a:rPr>
              <a:t>    </a:t>
            </a:r>
            <a:r>
              <a:rPr lang="en-US" sz="1600" dirty="0" err="1">
                <a:latin typeface="Courier" pitchFamily="2" charset="0"/>
              </a:rPr>
              <a:t>buildCodeTable</a:t>
            </a:r>
            <a:r>
              <a:rPr lang="en-US" sz="1600" dirty="0">
                <a:latin typeface="Courier" pitchFamily="2" charset="0"/>
              </a:rPr>
              <a:t>(table, </a:t>
            </a:r>
            <a:r>
              <a:rPr lang="en-US" sz="1600" dirty="0" err="1">
                <a:latin typeface="Courier" pitchFamily="2" charset="0"/>
              </a:rPr>
              <a:t>node.right</a:t>
            </a:r>
            <a:r>
              <a:rPr lang="en-US" sz="1600" dirty="0">
                <a:latin typeface="Courier" pitchFamily="2" charset="0"/>
              </a:rPr>
              <a:t>, </a:t>
            </a:r>
            <a:r>
              <a:rPr lang="en-US" sz="1600" dirty="0" err="1">
                <a:latin typeface="Courier" pitchFamily="2" charset="0"/>
              </a:rPr>
              <a:t>bitstr</a:t>
            </a:r>
            <a:r>
              <a:rPr lang="en-US" sz="1600" dirty="0">
                <a:latin typeface="Courier" pitchFamily="2" charset="0"/>
              </a:rPr>
              <a:t> + ”1”)</a:t>
            </a:r>
          </a:p>
        </p:txBody>
      </p:sp>
      <p:sp>
        <p:nvSpPr>
          <p:cNvPr id="5" name="TextBox 4">
            <a:extLst>
              <a:ext uri="{FF2B5EF4-FFF2-40B4-BE49-F238E27FC236}">
                <a16:creationId xmlns:a16="http://schemas.microsoft.com/office/drawing/2014/main" id="{FF0824C5-3DC2-0F43-B6FF-61B9F228C5B5}"/>
              </a:ext>
            </a:extLst>
          </p:cNvPr>
          <p:cNvSpPr txBox="1"/>
          <p:nvPr/>
        </p:nvSpPr>
        <p:spPr>
          <a:xfrm>
            <a:off x="6800766" y="2175186"/>
            <a:ext cx="5245347" cy="2554545"/>
          </a:xfrm>
          <a:prstGeom prst="rect">
            <a:avLst/>
          </a:prstGeom>
          <a:noFill/>
          <a:ln w="28575">
            <a:solidFill>
              <a:schemeClr val="bg1">
                <a:lumMod val="75000"/>
              </a:schemeClr>
            </a:solidFill>
          </a:ln>
        </p:spPr>
        <p:txBody>
          <a:bodyPr wrap="none" rtlCol="0">
            <a:spAutoFit/>
          </a:bodyPr>
          <a:lstStyle/>
          <a:p>
            <a:r>
              <a:rPr lang="en-US" sz="1600" dirty="0">
                <a:latin typeface="Courier" pitchFamily="2" charset="0"/>
              </a:rPr>
              <a:t>def compress(text):</a:t>
            </a:r>
          </a:p>
          <a:p>
            <a:endParaRPr lang="en-US" sz="1600" dirty="0">
              <a:latin typeface="Courier" pitchFamily="2" charset="0"/>
            </a:endParaRPr>
          </a:p>
          <a:p>
            <a:r>
              <a:rPr lang="en-US" sz="1600" dirty="0">
                <a:latin typeface="Courier" pitchFamily="2" charset="0"/>
              </a:rPr>
              <a:t>    for </a:t>
            </a:r>
            <a:r>
              <a:rPr lang="en-US" sz="1600" dirty="0" err="1">
                <a:latin typeface="Courier" pitchFamily="2" charset="0"/>
              </a:rPr>
              <a:t>i</a:t>
            </a:r>
            <a:r>
              <a:rPr lang="en-US" sz="1600" dirty="0">
                <a:latin typeface="Courier" pitchFamily="2" charset="0"/>
              </a:rPr>
              <a:t> in range(0, </a:t>
            </a:r>
            <a:r>
              <a:rPr lang="en-US" sz="1600" dirty="0" err="1">
                <a:latin typeface="Courier" pitchFamily="2" charset="0"/>
              </a:rPr>
              <a:t>len</a:t>
            </a:r>
            <a:r>
              <a:rPr lang="en-US" sz="1600" dirty="0">
                <a:latin typeface="Courier" pitchFamily="2" charset="0"/>
              </a:rPr>
              <a:t>(text)):</a:t>
            </a:r>
          </a:p>
          <a:p>
            <a:r>
              <a:rPr lang="en-US" sz="1600" dirty="0">
                <a:latin typeface="Courier" pitchFamily="2" charset="0"/>
              </a:rPr>
              <a:t>        codeword = </a:t>
            </a:r>
            <a:r>
              <a:rPr lang="en-US" sz="1600" dirty="0" err="1">
                <a:latin typeface="Courier" pitchFamily="2" charset="0"/>
              </a:rPr>
              <a:t>st</a:t>
            </a:r>
            <a:r>
              <a:rPr lang="en-US" sz="1600" dirty="0">
                <a:latin typeface="Courier" pitchFamily="2" charset="0"/>
              </a:rPr>
              <a:t>[text[</a:t>
            </a:r>
            <a:r>
              <a:rPr lang="en-US" sz="1600" dirty="0" err="1">
                <a:latin typeface="Courier" pitchFamily="2" charset="0"/>
              </a:rPr>
              <a:t>i</a:t>
            </a:r>
            <a:r>
              <a:rPr lang="en-US" sz="1600" dirty="0">
                <a:latin typeface="Courier" pitchFamily="2" charset="0"/>
              </a:rPr>
              <a:t>]]</a:t>
            </a:r>
          </a:p>
          <a:p>
            <a:endParaRPr lang="en-US" sz="1600" dirty="0">
              <a:latin typeface="Courier" pitchFamily="2" charset="0"/>
            </a:endParaRPr>
          </a:p>
          <a:p>
            <a:r>
              <a:rPr lang="en-US" sz="1600" dirty="0">
                <a:latin typeface="Courier" pitchFamily="2" charset="0"/>
              </a:rPr>
              <a:t>        for j in range(0, </a:t>
            </a:r>
            <a:r>
              <a:rPr lang="en-US" sz="1600" dirty="0" err="1">
                <a:latin typeface="Courier" pitchFamily="2" charset="0"/>
              </a:rPr>
              <a:t>len</a:t>
            </a:r>
            <a:r>
              <a:rPr lang="en-US" sz="1600" dirty="0">
                <a:latin typeface="Courier" pitchFamily="2" charset="0"/>
              </a:rPr>
              <a:t>(codeword)):</a:t>
            </a:r>
          </a:p>
          <a:p>
            <a:r>
              <a:rPr lang="en-US" sz="1600" dirty="0">
                <a:latin typeface="Courier" pitchFamily="2" charset="0"/>
              </a:rPr>
              <a:t>            if (code[j]==“1”):</a:t>
            </a:r>
          </a:p>
          <a:p>
            <a:r>
              <a:rPr lang="en-US" sz="1600" dirty="0">
                <a:latin typeface="Courier" pitchFamily="2" charset="0"/>
              </a:rPr>
              <a:t>                </a:t>
            </a:r>
            <a:r>
              <a:rPr lang="en-US" sz="1600" dirty="0" err="1">
                <a:latin typeface="Courier" pitchFamily="2" charset="0"/>
              </a:rPr>
              <a:t>BinaryStdOut.write</a:t>
            </a:r>
            <a:r>
              <a:rPr lang="en-US" sz="1600" dirty="0">
                <a:latin typeface="Courier" pitchFamily="2" charset="0"/>
              </a:rPr>
              <a:t>(true)</a:t>
            </a:r>
          </a:p>
          <a:p>
            <a:r>
              <a:rPr lang="en-US" sz="1600" dirty="0">
                <a:latin typeface="Courier" pitchFamily="2" charset="0"/>
              </a:rPr>
              <a:t>            else:</a:t>
            </a:r>
          </a:p>
          <a:p>
            <a:r>
              <a:rPr lang="en-US" sz="1600" dirty="0">
                <a:latin typeface="Courier" pitchFamily="2" charset="0"/>
              </a:rPr>
              <a:t>                </a:t>
            </a:r>
            <a:r>
              <a:rPr lang="en-US" sz="1600" dirty="0" err="1">
                <a:latin typeface="Courier" pitchFamily="2" charset="0"/>
              </a:rPr>
              <a:t>BinaryStdOut.write</a:t>
            </a:r>
            <a:r>
              <a:rPr lang="en-US" sz="1600" dirty="0">
                <a:latin typeface="Courier" pitchFamily="2" charset="0"/>
              </a:rPr>
              <a:t>(false)</a:t>
            </a:r>
          </a:p>
        </p:txBody>
      </p:sp>
    </p:spTree>
    <p:extLst>
      <p:ext uri="{BB962C8B-B14F-4D97-AF65-F5344CB8AC3E}">
        <p14:creationId xmlns:p14="http://schemas.microsoft.com/office/powerpoint/2010/main" val="35496524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61A64-88E3-514F-96E5-EB5877D9729F}"/>
              </a:ext>
            </a:extLst>
          </p:cNvPr>
          <p:cNvSpPr>
            <a:spLocks noGrp="1"/>
          </p:cNvSpPr>
          <p:nvPr>
            <p:ph type="title"/>
          </p:nvPr>
        </p:nvSpPr>
        <p:spPr/>
        <p:txBody>
          <a:bodyPr/>
          <a:lstStyle/>
          <a:p>
            <a:r>
              <a:rPr lang="en-US" dirty="0"/>
              <a:t>Huffman compression</a:t>
            </a:r>
          </a:p>
        </p:txBody>
      </p:sp>
      <p:sp>
        <p:nvSpPr>
          <p:cNvPr id="3" name="Content Placeholder 2">
            <a:extLst>
              <a:ext uri="{FF2B5EF4-FFF2-40B4-BE49-F238E27FC236}">
                <a16:creationId xmlns:a16="http://schemas.microsoft.com/office/drawing/2014/main" id="{B9A27260-ED92-1742-90BD-44C0FED54F03}"/>
              </a:ext>
            </a:extLst>
          </p:cNvPr>
          <p:cNvSpPr>
            <a:spLocks noGrp="1"/>
          </p:cNvSpPr>
          <p:nvPr>
            <p:ph idx="1"/>
          </p:nvPr>
        </p:nvSpPr>
        <p:spPr/>
        <p:txBody>
          <a:bodyPr/>
          <a:lstStyle/>
          <a:p>
            <a:r>
              <a:rPr lang="en-US" dirty="0">
                <a:highlight>
                  <a:srgbClr val="C0C0C0"/>
                </a:highlight>
              </a:rPr>
              <a:t>How-to</a:t>
            </a:r>
            <a:r>
              <a:rPr lang="en-US" dirty="0"/>
              <a:t>: compression</a:t>
            </a:r>
          </a:p>
          <a:p>
            <a:pPr lvl="1"/>
            <a:r>
              <a:rPr lang="en-US" dirty="0" err="1"/>
              <a:t>Trie</a:t>
            </a:r>
            <a:r>
              <a:rPr lang="en-US" dirty="0"/>
              <a:t> construction </a:t>
            </a:r>
          </a:p>
          <a:p>
            <a:pPr lvl="1"/>
            <a:r>
              <a:rPr lang="en-US" dirty="0" err="1"/>
              <a:t>Trie</a:t>
            </a:r>
            <a:r>
              <a:rPr lang="en-US" dirty="0"/>
              <a:t> transmission</a:t>
            </a:r>
          </a:p>
          <a:p>
            <a:pPr lvl="1"/>
            <a:r>
              <a:rPr lang="en-US" dirty="0"/>
              <a:t>Build an encoding table and use it (lookup) to compress</a:t>
            </a:r>
            <a:r>
              <a:rPr lang="en-US" dirty="0">
                <a:highlight>
                  <a:srgbClr val="C0C0C0"/>
                </a:highlight>
              </a:rPr>
              <a:t> </a:t>
            </a:r>
          </a:p>
          <a:p>
            <a:pPr lvl="1"/>
            <a:endParaRPr lang="en-US" dirty="0">
              <a:highlight>
                <a:srgbClr val="C0C0C0"/>
              </a:highlight>
            </a:endParaRPr>
          </a:p>
          <a:p>
            <a:r>
              <a:rPr lang="en-US" dirty="0" err="1">
                <a:highlight>
                  <a:srgbClr val="C0C0C0"/>
                </a:highlight>
              </a:rPr>
              <a:t>Realisation</a:t>
            </a:r>
            <a:r>
              <a:rPr lang="en-US" dirty="0"/>
              <a:t>: 2 passes</a:t>
            </a:r>
          </a:p>
          <a:p>
            <a:pPr lvl="1"/>
            <a:r>
              <a:rPr lang="en-US" dirty="0"/>
              <a:t>Pass 1: compute char frequencies and build </a:t>
            </a:r>
            <a:r>
              <a:rPr lang="en-US" dirty="0" err="1"/>
              <a:t>trie</a:t>
            </a:r>
            <a:endParaRPr lang="en-US" dirty="0"/>
          </a:p>
          <a:p>
            <a:pPr lvl="1"/>
            <a:r>
              <a:rPr lang="en-US" dirty="0"/>
              <a:t>Pass 2: encode file via table lookup</a:t>
            </a:r>
          </a:p>
          <a:p>
            <a:pPr lvl="1"/>
            <a:endParaRPr lang="en-US" dirty="0"/>
          </a:p>
          <a:p>
            <a:r>
              <a:rPr lang="en-US" dirty="0">
                <a:highlight>
                  <a:srgbClr val="C0C0C0"/>
                </a:highlight>
              </a:rPr>
              <a:t>Cost</a:t>
            </a:r>
            <a:r>
              <a:rPr lang="en-US" dirty="0"/>
              <a:t> ~ </a:t>
            </a:r>
            <a:r>
              <a:rPr lang="en-US" i="1" dirty="0"/>
              <a:t>N + R lg R</a:t>
            </a:r>
          </a:p>
        </p:txBody>
      </p:sp>
    </p:spTree>
    <p:extLst>
      <p:ext uri="{BB962C8B-B14F-4D97-AF65-F5344CB8AC3E}">
        <p14:creationId xmlns:p14="http://schemas.microsoft.com/office/powerpoint/2010/main" val="257392505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E4B2B-42A6-AB40-9BC4-CB4BFBF69C49}"/>
              </a:ext>
            </a:extLst>
          </p:cNvPr>
          <p:cNvSpPr>
            <a:spLocks noGrp="1"/>
          </p:cNvSpPr>
          <p:nvPr>
            <p:ph type="title"/>
          </p:nvPr>
        </p:nvSpPr>
        <p:spPr/>
        <p:txBody>
          <a:bodyPr/>
          <a:lstStyle/>
          <a:p>
            <a:r>
              <a:rPr lang="en-US" dirty="0"/>
              <a:t>Content RECAP</a:t>
            </a:r>
          </a:p>
        </p:txBody>
      </p:sp>
      <p:sp>
        <p:nvSpPr>
          <p:cNvPr id="3" name="Content Placeholder 2">
            <a:extLst>
              <a:ext uri="{FF2B5EF4-FFF2-40B4-BE49-F238E27FC236}">
                <a16:creationId xmlns:a16="http://schemas.microsoft.com/office/drawing/2014/main" id="{636AC683-7CB8-FA4F-BFE8-E3A25C25F8FD}"/>
              </a:ext>
            </a:extLst>
          </p:cNvPr>
          <p:cNvSpPr>
            <a:spLocks noGrp="1"/>
          </p:cNvSpPr>
          <p:nvPr>
            <p:ph idx="1"/>
          </p:nvPr>
        </p:nvSpPr>
        <p:spPr/>
        <p:txBody>
          <a:bodyPr/>
          <a:lstStyle/>
          <a:p>
            <a:r>
              <a:rPr lang="en-US" dirty="0"/>
              <a:t>Lossless compression</a:t>
            </a:r>
          </a:p>
          <a:p>
            <a:pPr lvl="1"/>
            <a:r>
              <a:rPr lang="en-US" dirty="0"/>
              <a:t>Run-length coding</a:t>
            </a:r>
          </a:p>
          <a:p>
            <a:pPr lvl="1"/>
            <a:r>
              <a:rPr lang="en-US" dirty="0"/>
              <a:t>Huffman compression</a:t>
            </a:r>
          </a:p>
        </p:txBody>
      </p:sp>
    </p:spTree>
    <p:extLst>
      <p:ext uri="{BB962C8B-B14F-4D97-AF65-F5344CB8AC3E}">
        <p14:creationId xmlns:p14="http://schemas.microsoft.com/office/powerpoint/2010/main" val="42532897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4_Custom Design">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969</TotalTime>
  <Words>2614</Words>
  <Application>Microsoft Macintosh PowerPoint</Application>
  <PresentationFormat>Widescreen</PresentationFormat>
  <Paragraphs>830</Paragraphs>
  <Slides>41</Slides>
  <Notes>41</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41</vt:i4>
      </vt:variant>
    </vt:vector>
  </HeadingPairs>
  <TitlesOfParts>
    <vt:vector size="48" baseType="lpstr">
      <vt:lpstr>Arial</vt:lpstr>
      <vt:lpstr>Calibri</vt:lpstr>
      <vt:lpstr>Courier</vt:lpstr>
      <vt:lpstr>Courier New</vt:lpstr>
      <vt:lpstr>Wingdings</vt:lpstr>
      <vt:lpstr>Office Theme</vt:lpstr>
      <vt:lpstr>4_Custom Design</vt:lpstr>
      <vt:lpstr>COMP0005 – ALGORITHMS   5.4 Compression</vt:lpstr>
      <vt:lpstr>LOSSLESS COMPRESSION</vt:lpstr>
      <vt:lpstr>LOSSLESS COMPRESSION</vt:lpstr>
      <vt:lpstr>content</vt:lpstr>
      <vt:lpstr>Binary data</vt:lpstr>
      <vt:lpstr>Run-length coding</vt:lpstr>
      <vt:lpstr>Run-length coding</vt:lpstr>
      <vt:lpstr>Run-length coding</vt:lpstr>
      <vt:lpstr>content</vt:lpstr>
      <vt:lpstr>Huffman compression</vt:lpstr>
      <vt:lpstr>Huffman compression</vt:lpstr>
      <vt:lpstr>Huffman compression</vt:lpstr>
      <vt:lpstr>Huffman compression</vt:lpstr>
      <vt:lpstr>Huffman compression</vt:lpstr>
      <vt:lpstr>Huffman compression</vt:lpstr>
      <vt:lpstr>Huffman compression</vt:lpstr>
      <vt:lpstr>Huffman compression</vt:lpstr>
      <vt:lpstr>Huffman compression</vt:lpstr>
      <vt:lpstr>Huffman compression</vt:lpstr>
      <vt:lpstr>Huffman compression</vt:lpstr>
      <vt:lpstr>Huffman compression</vt:lpstr>
      <vt:lpstr>Huffman compression</vt:lpstr>
      <vt:lpstr>Huffman compression</vt:lpstr>
      <vt:lpstr>Huffman compression</vt:lpstr>
      <vt:lpstr>Huffman compression</vt:lpstr>
      <vt:lpstr>Huffman compression</vt:lpstr>
      <vt:lpstr>Huffman compression</vt:lpstr>
      <vt:lpstr>Huffman compression</vt:lpstr>
      <vt:lpstr>Huffman compression</vt:lpstr>
      <vt:lpstr>Huffman compression</vt:lpstr>
      <vt:lpstr>Huffman compression</vt:lpstr>
      <vt:lpstr>Huffman compression</vt:lpstr>
      <vt:lpstr>Huffman compression</vt:lpstr>
      <vt:lpstr>Huffman compression</vt:lpstr>
      <vt:lpstr>Huffman compression</vt:lpstr>
      <vt:lpstr>Huffman compression</vt:lpstr>
      <vt:lpstr>Huffman compression</vt:lpstr>
      <vt:lpstr>Huffman compression</vt:lpstr>
      <vt:lpstr>Huffman compression</vt:lpstr>
      <vt:lpstr>Huffman compression</vt:lpstr>
      <vt:lpstr>Content RECAP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Capra, Licia</dc:creator>
  <cp:lastModifiedBy>Capra, Licia</cp:lastModifiedBy>
  <cp:revision>102</cp:revision>
  <dcterms:created xsi:type="dcterms:W3CDTF">2020-06-23T14:37:29Z</dcterms:created>
  <dcterms:modified xsi:type="dcterms:W3CDTF">2020-11-25T16:36:04Z</dcterms:modified>
</cp:coreProperties>
</file>