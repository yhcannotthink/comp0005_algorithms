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3"/>
  </p:notesMasterIdLst>
  <p:sldIdLst>
    <p:sldId id="266" r:id="rId3"/>
    <p:sldId id="310" r:id="rId4"/>
    <p:sldId id="312" r:id="rId5"/>
    <p:sldId id="313" r:id="rId6"/>
    <p:sldId id="267" r:id="rId7"/>
    <p:sldId id="314" r:id="rId8"/>
    <p:sldId id="315" r:id="rId9"/>
    <p:sldId id="317" r:id="rId10"/>
    <p:sldId id="318" r:id="rId11"/>
    <p:sldId id="319" r:id="rId12"/>
    <p:sldId id="268" r:id="rId13"/>
    <p:sldId id="320" r:id="rId14"/>
    <p:sldId id="321" r:id="rId15"/>
    <p:sldId id="322" r:id="rId16"/>
    <p:sldId id="269" r:id="rId17"/>
    <p:sldId id="323" r:id="rId18"/>
    <p:sldId id="324" r:id="rId19"/>
    <p:sldId id="327" r:id="rId20"/>
    <p:sldId id="326" r:id="rId21"/>
    <p:sldId id="32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29"/>
    <p:restoredTop sz="47317"/>
  </p:normalViewPr>
  <p:slideViewPr>
    <p:cSldViewPr snapToGrid="0" snapToObjects="1">
      <p:cViewPr varScale="1">
        <p:scale>
          <a:sx n="72" d="100"/>
          <a:sy n="72" d="100"/>
        </p:scale>
        <p:origin x="29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3815A-4642-054F-9DCB-06468736115A}" type="datetimeFigureOut">
              <a:rPr lang="en-US" smtClean="0"/>
              <a:t>11/3/20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8918F-5AD9-E04B-8904-1D5B7230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67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55201-7865-8744-8A9B-9F5FC03C5C4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4135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8669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4085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4370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09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736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100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6707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570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0631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222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986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511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065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0875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288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2539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8918F-5AD9-E04B-8904-1D5B7230DE0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4084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343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5104-30DF-C243-B6F5-80F122C43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F9C87-B826-1B49-A847-710502CBD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F453F-4E94-824B-AFA6-EB4E86C0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2B56E-3BBC-654D-8FA9-E1F006DD6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88353-695E-914E-959B-1DE06138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34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7F73-75A7-BF4C-9B87-0E5DAA26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58" y="253106"/>
            <a:ext cx="10132541" cy="720000"/>
          </a:xfrm>
        </p:spPr>
        <p:txBody>
          <a:bodyPr/>
          <a:lstStyle>
            <a:lvl1pPr>
              <a:defRPr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49A81-21ED-634D-B435-4DA1AB93F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01684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1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C7776-6F62-7949-AC29-57711FE6F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DDEED-88CB-854F-A579-2E9F5C88E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43E4C-5521-A646-9E20-EDBF5E089B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4BB6D-FB51-F14E-96DC-CB799402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6CE9B-3262-4946-BA2B-2E15B1284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2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477B-0526-5246-ADF9-A09D32252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9C74B-6A3E-0D41-A414-968897748D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19A30-BEDD-4E4D-A469-75A32DB6A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90622-BD04-2F49-87BF-8F8A56A92F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36CA9-0AF2-6044-B7B9-D370C998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07945-78CB-FD48-A540-3D195554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23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105D-2311-6C4A-AFBA-C73806614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7611F-9F84-EF46-B687-F45096EE5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AFF43-7CB4-D043-A4E6-F7EBD5AD1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0651C7-134F-6D4C-B0C9-F97F16FCB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5B9679-8272-C842-80E7-7C2C35B6B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A03A7-9909-8849-989F-56035CE1F1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11/3/20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FF941C-DA96-0244-A4BD-DDC68807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2B1AB-E8BD-194D-A1B0-84EEEAD5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9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B65D-442A-8843-8F16-7ABEA571F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69297-1F38-2D41-BF9E-9074D73D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11/3/20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F6E31A-1A8B-DA41-96E1-AE81C5DA0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95C91-339E-644D-8D83-3DE22C83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42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3269F9-C47F-5B42-8277-D273C182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11/3/20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79E2E-0F80-CC4C-AC36-AEBFFC9C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C028F-9D1D-4246-9A8D-9B12841F5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14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C425B-9808-AA41-9609-755D86C88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59FAE-9E85-D84D-8A74-ADC02B429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05D49-C024-1643-8B1C-B03459C69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8C301-58C0-8443-A8FD-FE276F98D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AA141-96BB-DB4F-B27D-6F7AF7D75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4CBB8-298F-1246-BC42-25680FD0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39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C04D-5F03-AA4D-8037-39B8E663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0F1385-96F7-A140-AA79-83ACBA263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11CC3-A00C-784B-8C87-ECE428E1D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CC509-EA9D-234D-BD95-51099A8B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28714-646A-7642-ACC7-DBE604260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C2430-0B85-1D4C-B46F-FC7DD6A1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50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43C0C-A609-F342-919D-11DD78C44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19D3E-C74D-5148-A3E6-FF8D596BB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16387-CFBA-0342-A560-13C5D7882A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1E4AB-2F0E-DE42-A638-F24757D1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DB63D-2E4D-4241-83AC-C6A15648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70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4ADECF-14E8-3C41-B869-448FE504D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B74BE-C693-0E44-8F73-00799AB99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273F7-69F8-D743-8DD7-63377B1970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162B8-7B1D-774A-AE0D-C751F2ACC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8F8AB-2631-7F49-804C-2B75DF4D3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79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2617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267" b="1">
                <a:solidFill>
                  <a:srgbClr val="D6D2C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74719"/>
            <a:ext cx="10515600" cy="27022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"/>
            <a:ext cx="12192000" cy="1646767"/>
            <a:chOff x="0" y="-66259"/>
            <a:chExt cx="9144000" cy="1235075"/>
          </a:xfrm>
        </p:grpSpPr>
        <p:sp>
          <p:nvSpPr>
            <p:cNvPr id="10" name="Freeform 24"/>
            <p:cNvSpPr>
              <a:spLocks/>
            </p:cNvSpPr>
            <p:nvPr/>
          </p:nvSpPr>
          <p:spPr bwMode="auto">
            <a:xfrm>
              <a:off x="0" y="-66259"/>
              <a:ext cx="9144000" cy="1235075"/>
            </a:xfrm>
            <a:custGeom>
              <a:avLst/>
              <a:gdLst>
                <a:gd name="T0" fmla="*/ 0 w 1123"/>
                <a:gd name="T1" fmla="*/ 0 h 151"/>
                <a:gd name="T2" fmla="*/ 0 w 1123"/>
                <a:gd name="T3" fmla="*/ 151 h 151"/>
                <a:gd name="T4" fmla="*/ 844 w 1123"/>
                <a:gd name="T5" fmla="*/ 151 h 151"/>
                <a:gd name="T6" fmla="*/ 841 w 1123"/>
                <a:gd name="T7" fmla="*/ 148 h 151"/>
                <a:gd name="T8" fmla="*/ 832 w 1123"/>
                <a:gd name="T9" fmla="*/ 122 h 151"/>
                <a:gd name="T10" fmla="*/ 832 w 1123"/>
                <a:gd name="T11" fmla="*/ 72 h 151"/>
                <a:gd name="T12" fmla="*/ 859 w 1123"/>
                <a:gd name="T13" fmla="*/ 72 h 151"/>
                <a:gd name="T14" fmla="*/ 859 w 1123"/>
                <a:gd name="T15" fmla="*/ 124 h 151"/>
                <a:gd name="T16" fmla="*/ 863 w 1123"/>
                <a:gd name="T17" fmla="*/ 135 h 151"/>
                <a:gd name="T18" fmla="*/ 871 w 1123"/>
                <a:gd name="T19" fmla="*/ 138 h 151"/>
                <a:gd name="T20" fmla="*/ 880 w 1123"/>
                <a:gd name="T21" fmla="*/ 135 h 151"/>
                <a:gd name="T22" fmla="*/ 883 w 1123"/>
                <a:gd name="T23" fmla="*/ 124 h 151"/>
                <a:gd name="T24" fmla="*/ 883 w 1123"/>
                <a:gd name="T25" fmla="*/ 72 h 151"/>
                <a:gd name="T26" fmla="*/ 910 w 1123"/>
                <a:gd name="T27" fmla="*/ 72 h 151"/>
                <a:gd name="T28" fmla="*/ 910 w 1123"/>
                <a:gd name="T29" fmla="*/ 117 h 151"/>
                <a:gd name="T30" fmla="*/ 900 w 1123"/>
                <a:gd name="T31" fmla="*/ 148 h 151"/>
                <a:gd name="T32" fmla="*/ 897 w 1123"/>
                <a:gd name="T33" fmla="*/ 151 h 151"/>
                <a:gd name="T34" fmla="*/ 937 w 1123"/>
                <a:gd name="T35" fmla="*/ 151 h 151"/>
                <a:gd name="T36" fmla="*/ 920 w 1123"/>
                <a:gd name="T37" fmla="*/ 114 h 151"/>
                <a:gd name="T38" fmla="*/ 964 w 1123"/>
                <a:gd name="T39" fmla="*/ 69 h 151"/>
                <a:gd name="T40" fmla="*/ 998 w 1123"/>
                <a:gd name="T41" fmla="*/ 82 h 151"/>
                <a:gd name="T42" fmla="*/ 1005 w 1123"/>
                <a:gd name="T43" fmla="*/ 92 h 151"/>
                <a:gd name="T44" fmla="*/ 982 w 1123"/>
                <a:gd name="T45" fmla="*/ 103 h 151"/>
                <a:gd name="T46" fmla="*/ 965 w 1123"/>
                <a:gd name="T47" fmla="*/ 89 h 151"/>
                <a:gd name="T48" fmla="*/ 953 w 1123"/>
                <a:gd name="T49" fmla="*/ 94 h 151"/>
                <a:gd name="T50" fmla="*/ 947 w 1123"/>
                <a:gd name="T51" fmla="*/ 113 h 151"/>
                <a:gd name="T52" fmla="*/ 965 w 1123"/>
                <a:gd name="T53" fmla="*/ 137 h 151"/>
                <a:gd name="T54" fmla="*/ 982 w 1123"/>
                <a:gd name="T55" fmla="*/ 123 h 151"/>
                <a:gd name="T56" fmla="*/ 1005 w 1123"/>
                <a:gd name="T57" fmla="*/ 134 h 151"/>
                <a:gd name="T58" fmla="*/ 997 w 1123"/>
                <a:gd name="T59" fmla="*/ 146 h 151"/>
                <a:gd name="T60" fmla="*/ 991 w 1123"/>
                <a:gd name="T61" fmla="*/ 151 h 151"/>
                <a:gd name="T62" fmla="*/ 1016 w 1123"/>
                <a:gd name="T63" fmla="*/ 151 h 151"/>
                <a:gd name="T64" fmla="*/ 1016 w 1123"/>
                <a:gd name="T65" fmla="*/ 72 h 151"/>
                <a:gd name="T66" fmla="*/ 1042 w 1123"/>
                <a:gd name="T67" fmla="*/ 72 h 151"/>
                <a:gd name="T68" fmla="*/ 1042 w 1123"/>
                <a:gd name="T69" fmla="*/ 134 h 151"/>
                <a:gd name="T70" fmla="*/ 1077 w 1123"/>
                <a:gd name="T71" fmla="*/ 134 h 151"/>
                <a:gd name="T72" fmla="*/ 1077 w 1123"/>
                <a:gd name="T73" fmla="*/ 151 h 151"/>
                <a:gd name="T74" fmla="*/ 1123 w 1123"/>
                <a:gd name="T75" fmla="*/ 151 h 151"/>
                <a:gd name="T76" fmla="*/ 1123 w 1123"/>
                <a:gd name="T77" fmla="*/ 0 h 151"/>
                <a:gd name="T78" fmla="*/ 0 w 1123"/>
                <a:gd name="T7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151">
                  <a:moveTo>
                    <a:pt x="0" y="0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844" y="151"/>
                    <a:pt x="844" y="151"/>
                    <a:pt x="844" y="151"/>
                  </a:cubicBezTo>
                  <a:cubicBezTo>
                    <a:pt x="843" y="150"/>
                    <a:pt x="842" y="149"/>
                    <a:pt x="841" y="148"/>
                  </a:cubicBezTo>
                  <a:cubicBezTo>
                    <a:pt x="833" y="140"/>
                    <a:pt x="833" y="131"/>
                    <a:pt x="832" y="122"/>
                  </a:cubicBezTo>
                  <a:cubicBezTo>
                    <a:pt x="832" y="72"/>
                    <a:pt x="832" y="72"/>
                    <a:pt x="832" y="72"/>
                  </a:cubicBezTo>
                  <a:cubicBezTo>
                    <a:pt x="859" y="72"/>
                    <a:pt x="859" y="72"/>
                    <a:pt x="859" y="72"/>
                  </a:cubicBezTo>
                  <a:cubicBezTo>
                    <a:pt x="859" y="124"/>
                    <a:pt x="859" y="124"/>
                    <a:pt x="859" y="124"/>
                  </a:cubicBezTo>
                  <a:cubicBezTo>
                    <a:pt x="859" y="128"/>
                    <a:pt x="860" y="132"/>
                    <a:pt x="863" y="135"/>
                  </a:cubicBezTo>
                  <a:cubicBezTo>
                    <a:pt x="865" y="137"/>
                    <a:pt x="868" y="138"/>
                    <a:pt x="871" y="138"/>
                  </a:cubicBezTo>
                  <a:cubicBezTo>
                    <a:pt x="875" y="138"/>
                    <a:pt x="878" y="136"/>
                    <a:pt x="880" y="135"/>
                  </a:cubicBezTo>
                  <a:cubicBezTo>
                    <a:pt x="883" y="132"/>
                    <a:pt x="883" y="128"/>
                    <a:pt x="883" y="124"/>
                  </a:cubicBezTo>
                  <a:cubicBezTo>
                    <a:pt x="883" y="72"/>
                    <a:pt x="883" y="72"/>
                    <a:pt x="883" y="72"/>
                  </a:cubicBezTo>
                  <a:cubicBezTo>
                    <a:pt x="910" y="72"/>
                    <a:pt x="910" y="72"/>
                    <a:pt x="910" y="72"/>
                  </a:cubicBezTo>
                  <a:cubicBezTo>
                    <a:pt x="910" y="117"/>
                    <a:pt x="910" y="117"/>
                    <a:pt x="910" y="117"/>
                  </a:cubicBezTo>
                  <a:cubicBezTo>
                    <a:pt x="910" y="126"/>
                    <a:pt x="910" y="139"/>
                    <a:pt x="900" y="148"/>
                  </a:cubicBezTo>
                  <a:cubicBezTo>
                    <a:pt x="899" y="149"/>
                    <a:pt x="898" y="150"/>
                    <a:pt x="897" y="151"/>
                  </a:cubicBezTo>
                  <a:cubicBezTo>
                    <a:pt x="937" y="151"/>
                    <a:pt x="937" y="151"/>
                    <a:pt x="937" y="151"/>
                  </a:cubicBezTo>
                  <a:cubicBezTo>
                    <a:pt x="925" y="142"/>
                    <a:pt x="920" y="128"/>
                    <a:pt x="920" y="114"/>
                  </a:cubicBezTo>
                  <a:cubicBezTo>
                    <a:pt x="920" y="92"/>
                    <a:pt x="935" y="69"/>
                    <a:pt x="964" y="69"/>
                  </a:cubicBezTo>
                  <a:cubicBezTo>
                    <a:pt x="976" y="69"/>
                    <a:pt x="989" y="73"/>
                    <a:pt x="998" y="82"/>
                  </a:cubicBezTo>
                  <a:cubicBezTo>
                    <a:pt x="1001" y="86"/>
                    <a:pt x="1003" y="89"/>
                    <a:pt x="1005" y="92"/>
                  </a:cubicBezTo>
                  <a:cubicBezTo>
                    <a:pt x="982" y="103"/>
                    <a:pt x="982" y="103"/>
                    <a:pt x="982" y="103"/>
                  </a:cubicBezTo>
                  <a:cubicBezTo>
                    <a:pt x="980" y="98"/>
                    <a:pt x="976" y="89"/>
                    <a:pt x="965" y="89"/>
                  </a:cubicBezTo>
                  <a:cubicBezTo>
                    <a:pt x="959" y="89"/>
                    <a:pt x="955" y="92"/>
                    <a:pt x="953" y="94"/>
                  </a:cubicBezTo>
                  <a:cubicBezTo>
                    <a:pt x="947" y="100"/>
                    <a:pt x="947" y="109"/>
                    <a:pt x="947" y="113"/>
                  </a:cubicBezTo>
                  <a:cubicBezTo>
                    <a:pt x="947" y="125"/>
                    <a:pt x="952" y="137"/>
                    <a:pt x="965" y="137"/>
                  </a:cubicBezTo>
                  <a:cubicBezTo>
                    <a:pt x="977" y="137"/>
                    <a:pt x="981" y="126"/>
                    <a:pt x="982" y="123"/>
                  </a:cubicBezTo>
                  <a:cubicBezTo>
                    <a:pt x="1005" y="134"/>
                    <a:pt x="1005" y="134"/>
                    <a:pt x="1005" y="134"/>
                  </a:cubicBezTo>
                  <a:cubicBezTo>
                    <a:pt x="1003" y="138"/>
                    <a:pt x="1001" y="142"/>
                    <a:pt x="997" y="146"/>
                  </a:cubicBezTo>
                  <a:cubicBezTo>
                    <a:pt x="995" y="148"/>
                    <a:pt x="993" y="150"/>
                    <a:pt x="991" y="151"/>
                  </a:cubicBezTo>
                  <a:cubicBezTo>
                    <a:pt x="1016" y="151"/>
                    <a:pt x="1016" y="151"/>
                    <a:pt x="1016" y="151"/>
                  </a:cubicBezTo>
                  <a:cubicBezTo>
                    <a:pt x="1016" y="72"/>
                    <a:pt x="1016" y="72"/>
                    <a:pt x="1016" y="72"/>
                  </a:cubicBezTo>
                  <a:cubicBezTo>
                    <a:pt x="1042" y="72"/>
                    <a:pt x="1042" y="72"/>
                    <a:pt x="1042" y="72"/>
                  </a:cubicBezTo>
                  <a:cubicBezTo>
                    <a:pt x="1042" y="134"/>
                    <a:pt x="1042" y="134"/>
                    <a:pt x="1042" y="134"/>
                  </a:cubicBezTo>
                  <a:cubicBezTo>
                    <a:pt x="1077" y="134"/>
                    <a:pt x="1077" y="134"/>
                    <a:pt x="1077" y="134"/>
                  </a:cubicBezTo>
                  <a:cubicBezTo>
                    <a:pt x="1077" y="151"/>
                    <a:pt x="1077" y="151"/>
                    <a:pt x="1077" y="151"/>
                  </a:cubicBezTo>
                  <a:cubicBezTo>
                    <a:pt x="1123" y="151"/>
                    <a:pt x="1123" y="151"/>
                    <a:pt x="1123" y="151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420182" y="514785"/>
              <a:ext cx="257986" cy="303133"/>
            </a:xfrm>
            <a:prstGeom prst="rect">
              <a:avLst/>
            </a:prstGeom>
          </p:spPr>
        </p:pic>
      </p:grp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3999" y="384000"/>
            <a:ext cx="7318611" cy="39072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1467" baseline="0">
                <a:solidFill>
                  <a:schemeClr val="tx1"/>
                </a:solidFill>
              </a:defRPr>
            </a:lvl1pPr>
            <a:lvl2pPr marL="0" indent="0">
              <a:lnSpc>
                <a:spcPct val="80000"/>
              </a:lnSpc>
              <a:buNone/>
              <a:defRPr sz="1467">
                <a:solidFill>
                  <a:schemeClr val="tx1"/>
                </a:solidFill>
              </a:defRPr>
            </a:lvl2pPr>
            <a:lvl3pPr marL="0" indent="0">
              <a:buNone/>
              <a:defRPr sz="1467">
                <a:solidFill>
                  <a:schemeClr val="tx1"/>
                </a:solidFill>
              </a:defRPr>
            </a:lvl3pPr>
            <a:lvl4pPr marL="0" indent="0">
              <a:buNone/>
              <a:defRPr sz="1467">
                <a:solidFill>
                  <a:schemeClr val="tx1"/>
                </a:solidFill>
              </a:defRPr>
            </a:lvl4pPr>
            <a:lvl5pPr marL="0" indent="0">
              <a:buNone/>
              <a:defRPr sz="14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FACULTY, SCHOOL, DEPARTMENT OR INSTITUTE NAME HERE</a:t>
            </a:r>
          </a:p>
          <a:p>
            <a:pPr lvl="1"/>
            <a:r>
              <a:rPr lang="en-US" dirty="0"/>
              <a:t>SECOND TIER INFORMATION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13280225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i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999" y="1326291"/>
            <a:ext cx="11146989" cy="4993416"/>
          </a:xfrm>
        </p:spPr>
        <p:txBody>
          <a:bodyPr>
            <a:normAutofit/>
          </a:bodyPr>
          <a:lstStyle>
            <a:lvl1pPr marL="0" indent="0">
              <a:buNone/>
              <a:defRPr sz="3200" b="0">
                <a:solidFill>
                  <a:schemeClr val="tx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-2117"/>
            <a:ext cx="12192000" cy="988484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 dirty="0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08617264-77E5-D84E-B0FF-1EA9D2C44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99" y="190218"/>
            <a:ext cx="9382171" cy="651911"/>
          </a:xfrm>
          <a:prstGeom prst="rect">
            <a:avLst/>
          </a:prstGeom>
        </p:spPr>
        <p:txBody>
          <a:bodyPr/>
          <a:lstStyle>
            <a:lvl1pPr>
              <a:defRPr sz="4267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515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2C065B9-79B2-2E46-992C-E436F6FDC61B}"/>
              </a:ext>
            </a:extLst>
          </p:cNvPr>
          <p:cNvPicPr>
            <a:picLocks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-11262"/>
            <a:ext cx="12192000" cy="132556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D3A9AA-7FD3-E641-8BB9-C7229D097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9347"/>
            <a:ext cx="10515600" cy="904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63258-2D95-1B4C-B09E-444B93AC6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7708" y="1668162"/>
            <a:ext cx="11294076" cy="4893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60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>
            <a:lumMod val="75000"/>
          </a:schemeClr>
        </a:buClr>
        <a:buFont typeface="Wingdings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9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00989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20249" y="220779"/>
            <a:ext cx="4289120" cy="93996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16933"/>
            <a:endParaRPr lang="en-GB" sz="1333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7818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9997" indent="-119997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7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3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.uk/voices-of-science/interviewees/tony-hoare/audio/tony-hoare-inventing-quicksor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838200" y="2462581"/>
            <a:ext cx="10515600" cy="1929476"/>
          </a:xfrm>
        </p:spPr>
        <p:txBody>
          <a:bodyPr/>
          <a:lstStyle/>
          <a:p>
            <a:r>
              <a:rPr lang="en-US" sz="5333" dirty="0">
                <a:solidFill>
                  <a:schemeClr val="tx1"/>
                </a:solidFill>
              </a:rPr>
              <a:t>COMP0005 – ALGORITHMS </a:t>
            </a:r>
            <a:br>
              <a:rPr lang="en-US" sz="5333" dirty="0">
                <a:solidFill>
                  <a:schemeClr val="tx1"/>
                </a:solidFill>
              </a:rPr>
            </a:br>
            <a:br>
              <a:rPr lang="en-US" sz="3733" dirty="0">
                <a:solidFill>
                  <a:schemeClr val="tx1"/>
                </a:solidFill>
              </a:rPr>
            </a:br>
            <a:r>
              <a:rPr lang="en-US" sz="3733" dirty="0">
                <a:solidFill>
                  <a:schemeClr val="tx1"/>
                </a:solidFill>
              </a:rPr>
              <a:t>2.3 Quick Sort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5189251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n-US" sz="2667" dirty="0"/>
              <a:t>Prof </a:t>
            </a:r>
            <a:r>
              <a:rPr lang="en-US" sz="2667" dirty="0" err="1"/>
              <a:t>Licia</a:t>
            </a:r>
            <a:r>
              <a:rPr lang="en-US" sz="2667" dirty="0"/>
              <a:t> Capra</a:t>
            </a:r>
          </a:p>
          <a:p>
            <a:pPr marL="0" indent="0">
              <a:buNone/>
            </a:pPr>
            <a:r>
              <a:rPr lang="en-US" sz="2133" dirty="0"/>
              <a:t>Dept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668610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Elementary Sorts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MergeSort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highlight>
                  <a:srgbClr val="C0C0C0"/>
                </a:highlight>
              </a:rPr>
              <a:t>QuickSort</a:t>
            </a:r>
            <a:endParaRPr lang="en-US" dirty="0">
              <a:highlight>
                <a:srgbClr val="C0C0C0"/>
              </a:highlight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HeapSort</a:t>
            </a:r>
            <a:endParaRPr lang="en-US" dirty="0"/>
          </a:p>
        </p:txBody>
      </p:sp>
      <p:pic>
        <p:nvPicPr>
          <p:cNvPr id="5" name="Picture 4" descr="Tony Hoare, inventor of quicksort">
            <a:hlinkClick r:id="rId3"/>
            <a:extLst>
              <a:ext uri="{FF2B5EF4-FFF2-40B4-BE49-F238E27FC236}">
                <a16:creationId xmlns:a16="http://schemas.microsoft.com/office/drawing/2014/main" id="{0D6348D1-9928-104F-B58D-916562ED6B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7588" y="2658782"/>
            <a:ext cx="5659736" cy="3239994"/>
          </a:xfrm>
          <a:prstGeom prst="rect">
            <a:avLst/>
          </a:prstGeom>
          <a:ln w="38100">
            <a:solidFill>
              <a:schemeClr val="accent3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BDDD00-2014-0F49-AF76-0C5E5468DE41}"/>
              </a:ext>
            </a:extLst>
          </p:cNvPr>
          <p:cNvSpPr txBox="1"/>
          <p:nvPr/>
        </p:nvSpPr>
        <p:spPr>
          <a:xfrm>
            <a:off x="5108068" y="5919935"/>
            <a:ext cx="30187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Tony Hoare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tinyurl.com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/y4vz5twh</a:t>
            </a:r>
          </a:p>
        </p:txBody>
      </p:sp>
    </p:spTree>
    <p:extLst>
      <p:ext uri="{BB962C8B-B14F-4D97-AF65-F5344CB8AC3E}">
        <p14:creationId xmlns:p14="http://schemas.microsoft.com/office/powerpoint/2010/main" val="58393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2D76-6B62-4D4B-87ED-AF5122A5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D71D-FD5E-3D47-82AB-2DCA9781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</a:t>
            </a:r>
            <a:endParaRPr lang="en-US" dirty="0">
              <a:highlight>
                <a:srgbClr val="C0C0C0"/>
              </a:highlight>
            </a:endParaRPr>
          </a:p>
          <a:p>
            <a:pPr lvl="1"/>
            <a:r>
              <a:rPr lang="en-US" dirty="0"/>
              <a:t>Shuffle the array </a:t>
            </a:r>
            <a:r>
              <a:rPr lang="en-US" dirty="0">
                <a:latin typeface="Courier" pitchFamily="2" charset="0"/>
              </a:rPr>
              <a:t>a[]</a:t>
            </a:r>
          </a:p>
          <a:p>
            <a:pPr lvl="1"/>
            <a:r>
              <a:rPr lang="en-US" dirty="0"/>
              <a:t>Partition </a:t>
            </a:r>
            <a:r>
              <a:rPr lang="en-US" dirty="0">
                <a:latin typeface="Courier" pitchFamily="2" charset="0"/>
              </a:rPr>
              <a:t>a[]</a:t>
            </a:r>
            <a:r>
              <a:rPr lang="en-US" dirty="0"/>
              <a:t> so that, for some </a:t>
            </a:r>
            <a:r>
              <a:rPr lang="en-US" dirty="0">
                <a:latin typeface="Courier" pitchFamily="2" charset="0"/>
              </a:rPr>
              <a:t>j</a:t>
            </a:r>
          </a:p>
          <a:p>
            <a:pPr lvl="2"/>
            <a:r>
              <a:rPr lang="en-US" dirty="0"/>
              <a:t>Entry </a:t>
            </a:r>
            <a:r>
              <a:rPr lang="en-US" dirty="0">
                <a:latin typeface="Courier" pitchFamily="2" charset="0"/>
              </a:rPr>
              <a:t>a[j]</a:t>
            </a:r>
            <a:r>
              <a:rPr lang="en-US" dirty="0"/>
              <a:t> is in place</a:t>
            </a:r>
          </a:p>
          <a:p>
            <a:pPr lvl="2"/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]&lt;= a[j]</a:t>
            </a:r>
            <a:r>
              <a:rPr lang="en-US" dirty="0"/>
              <a:t> for any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&lt;j</a:t>
            </a:r>
          </a:p>
          <a:p>
            <a:pPr lvl="2"/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]&gt;=a[j]</a:t>
            </a:r>
            <a:r>
              <a:rPr lang="en-US" dirty="0"/>
              <a:t> for any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&gt;j</a:t>
            </a:r>
          </a:p>
          <a:p>
            <a:pPr lvl="1"/>
            <a:r>
              <a:rPr lang="en-US" dirty="0"/>
              <a:t>Sort each partition recursively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CC09A4-CC38-9D4B-8F1C-9CCE31273A8F}"/>
              </a:ext>
            </a:extLst>
          </p:cNvPr>
          <p:cNvSpPr txBox="1"/>
          <p:nvPr/>
        </p:nvSpPr>
        <p:spPr>
          <a:xfrm>
            <a:off x="1621045" y="4224394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Input array</a:t>
            </a:r>
          </a:p>
        </p:txBody>
      </p:sp>
      <p:graphicFrame>
        <p:nvGraphicFramePr>
          <p:cNvPr id="4" name="Table 3" descr="Example input array ">
            <a:extLst>
              <a:ext uri="{FF2B5EF4-FFF2-40B4-BE49-F238E27FC236}">
                <a16:creationId xmlns:a16="http://schemas.microsoft.com/office/drawing/2014/main" id="{50DB3C44-2D2E-514E-8030-6D03DA4B7A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579871"/>
              </p:ext>
            </p:extLst>
          </p:nvPr>
        </p:nvGraphicFramePr>
        <p:xfrm>
          <a:off x="2901327" y="4222886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C0DCC87-CD7F-B24D-B8DB-EFEEE9BD4996}"/>
              </a:ext>
            </a:extLst>
          </p:cNvPr>
          <p:cNvSpPr txBox="1"/>
          <p:nvPr/>
        </p:nvSpPr>
        <p:spPr>
          <a:xfrm>
            <a:off x="1990263" y="4625271"/>
            <a:ext cx="898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Shuffle</a:t>
            </a:r>
          </a:p>
        </p:txBody>
      </p:sp>
      <p:graphicFrame>
        <p:nvGraphicFramePr>
          <p:cNvPr id="6" name="Table 5" descr="Example input array after shuffling">
            <a:extLst>
              <a:ext uri="{FF2B5EF4-FFF2-40B4-BE49-F238E27FC236}">
                <a16:creationId xmlns:a16="http://schemas.microsoft.com/office/drawing/2014/main" id="{F092ABC0-A451-814F-8FA3-45C04C84CA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088133"/>
              </p:ext>
            </p:extLst>
          </p:nvPr>
        </p:nvGraphicFramePr>
        <p:xfrm>
          <a:off x="2901327" y="4642175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31F18CF-2E74-A14B-A064-390297D71F81}"/>
              </a:ext>
            </a:extLst>
          </p:cNvPr>
          <p:cNvSpPr txBox="1"/>
          <p:nvPr/>
        </p:nvSpPr>
        <p:spPr>
          <a:xfrm>
            <a:off x="1863652" y="5593354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Partition</a:t>
            </a:r>
          </a:p>
        </p:txBody>
      </p:sp>
      <p:graphicFrame>
        <p:nvGraphicFramePr>
          <p:cNvPr id="16" name="Table 15" descr="Example array after partitioning">
            <a:extLst>
              <a:ext uri="{FF2B5EF4-FFF2-40B4-BE49-F238E27FC236}">
                <a16:creationId xmlns:a16="http://schemas.microsoft.com/office/drawing/2014/main" id="{CFF4E818-737F-0044-8FA7-78F8C8A86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469683"/>
              </p:ext>
            </p:extLst>
          </p:nvPr>
        </p:nvGraphicFramePr>
        <p:xfrm>
          <a:off x="2901327" y="5610258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grpSp>
        <p:nvGrpSpPr>
          <p:cNvPr id="27" name="Group 26" descr="highlighing pivoting element a[0] being moved to its final position, so all elements to its left are not bigger and all elemenets to its right are not smaller">
            <a:extLst>
              <a:ext uri="{FF2B5EF4-FFF2-40B4-BE49-F238E27FC236}">
                <a16:creationId xmlns:a16="http://schemas.microsoft.com/office/drawing/2014/main" id="{ECD85111-2A38-804A-AF91-8595BE2AE3E8}"/>
              </a:ext>
            </a:extLst>
          </p:cNvPr>
          <p:cNvGrpSpPr/>
          <p:nvPr/>
        </p:nvGrpSpPr>
        <p:grpSpPr>
          <a:xfrm>
            <a:off x="2856590" y="4561498"/>
            <a:ext cx="7659009" cy="2208556"/>
            <a:chOff x="2856590" y="4561498"/>
            <a:chExt cx="7659009" cy="220855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E62E5AF-2121-984F-B017-CAE35B9A5DB4}"/>
                </a:ext>
              </a:extLst>
            </p:cNvPr>
            <p:cNvSpPr/>
            <p:nvPr/>
          </p:nvSpPr>
          <p:spPr>
            <a:xfrm>
              <a:off x="2856590" y="4561498"/>
              <a:ext cx="522040" cy="49941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Left Brace 17">
              <a:extLst>
                <a:ext uri="{FF2B5EF4-FFF2-40B4-BE49-F238E27FC236}">
                  <a16:creationId xmlns:a16="http://schemas.microsoft.com/office/drawing/2014/main" id="{4A781E46-112C-3247-87F2-7CAF0879F850}"/>
                </a:ext>
              </a:extLst>
            </p:cNvPr>
            <p:cNvSpPr/>
            <p:nvPr/>
          </p:nvSpPr>
          <p:spPr>
            <a:xfrm rot="16200000">
              <a:off x="3968434" y="5068814"/>
              <a:ext cx="222987" cy="2316997"/>
            </a:xfrm>
            <a:prstGeom prst="leftBrac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Left Brace 18">
              <a:extLst>
                <a:ext uri="{FF2B5EF4-FFF2-40B4-BE49-F238E27FC236}">
                  <a16:creationId xmlns:a16="http://schemas.microsoft.com/office/drawing/2014/main" id="{AC022DD2-2750-1B4C-8B7C-2D2F4DCEF6F1}"/>
                </a:ext>
              </a:extLst>
            </p:cNvPr>
            <p:cNvSpPr/>
            <p:nvPr/>
          </p:nvSpPr>
          <p:spPr>
            <a:xfrm rot="16200000">
              <a:off x="8043844" y="3892924"/>
              <a:ext cx="222988" cy="4720522"/>
            </a:xfrm>
            <a:prstGeom prst="leftBrac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E167B90-C87F-F346-9ACB-21F5993F98ED}"/>
                </a:ext>
              </a:extLst>
            </p:cNvPr>
            <p:cNvSpPr txBox="1"/>
            <p:nvPr/>
          </p:nvSpPr>
          <p:spPr>
            <a:xfrm>
              <a:off x="6230318" y="5068353"/>
              <a:ext cx="18133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partitioning item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02615E9-7AD1-DD46-9DB2-256AE635A87E}"/>
                </a:ext>
              </a:extLst>
            </p:cNvPr>
            <p:cNvSpPr txBox="1"/>
            <p:nvPr/>
          </p:nvSpPr>
          <p:spPr>
            <a:xfrm>
              <a:off x="3497099" y="6364679"/>
              <a:ext cx="1172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not grater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E5892EB-5D31-6C4B-B3D8-B54668C9CC0C}"/>
                </a:ext>
              </a:extLst>
            </p:cNvPr>
            <p:cNvSpPr txBox="1"/>
            <p:nvPr/>
          </p:nvSpPr>
          <p:spPr>
            <a:xfrm>
              <a:off x="7569280" y="6400722"/>
              <a:ext cx="13131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not smaller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3077193-DABE-5844-9C3D-2D1731E40AC0}"/>
                </a:ext>
              </a:extLst>
            </p:cNvPr>
            <p:cNvCxnSpPr/>
            <p:nvPr/>
          </p:nvCxnSpPr>
          <p:spPr>
            <a:xfrm flipH="1" flipV="1">
              <a:off x="3117610" y="5060914"/>
              <a:ext cx="2978390" cy="25249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821BBDB-0D21-544B-B79C-A8D9D1B9C7C5}"/>
                </a:ext>
              </a:extLst>
            </p:cNvPr>
            <p:cNvCxnSpPr/>
            <p:nvPr/>
          </p:nvCxnSpPr>
          <p:spPr>
            <a:xfrm flipH="1">
              <a:off x="5457919" y="5313404"/>
              <a:ext cx="638081" cy="29685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479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2D76-6B62-4D4B-87ED-AF5122A5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D71D-FD5E-3D47-82AB-2DCA9781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</a:t>
            </a:r>
            <a:endParaRPr lang="en-US" dirty="0">
              <a:highlight>
                <a:srgbClr val="C0C0C0"/>
              </a:highlight>
            </a:endParaRPr>
          </a:p>
          <a:p>
            <a:pPr lvl="1"/>
            <a:r>
              <a:rPr lang="en-US" dirty="0"/>
              <a:t>Shuffle the array </a:t>
            </a:r>
            <a:r>
              <a:rPr lang="en-US" dirty="0">
                <a:latin typeface="Courier" pitchFamily="2" charset="0"/>
              </a:rPr>
              <a:t>a[]</a:t>
            </a:r>
          </a:p>
          <a:p>
            <a:pPr lvl="1"/>
            <a:r>
              <a:rPr lang="en-US" dirty="0"/>
              <a:t>Partition </a:t>
            </a:r>
            <a:r>
              <a:rPr lang="en-US" dirty="0">
                <a:latin typeface="Courier" pitchFamily="2" charset="0"/>
              </a:rPr>
              <a:t>a[]</a:t>
            </a:r>
            <a:r>
              <a:rPr lang="en-US" dirty="0"/>
              <a:t> so that, for some </a:t>
            </a:r>
            <a:r>
              <a:rPr lang="en-US" dirty="0">
                <a:latin typeface="Courier" pitchFamily="2" charset="0"/>
              </a:rPr>
              <a:t>j</a:t>
            </a:r>
          </a:p>
          <a:p>
            <a:pPr lvl="2"/>
            <a:r>
              <a:rPr lang="en-US" dirty="0"/>
              <a:t>Entry </a:t>
            </a:r>
            <a:r>
              <a:rPr lang="en-US" dirty="0">
                <a:latin typeface="Courier" pitchFamily="2" charset="0"/>
              </a:rPr>
              <a:t>a[j]</a:t>
            </a:r>
            <a:r>
              <a:rPr lang="en-US" dirty="0"/>
              <a:t> is in place</a:t>
            </a:r>
          </a:p>
          <a:p>
            <a:pPr lvl="2"/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]&lt;= a[j]</a:t>
            </a:r>
            <a:r>
              <a:rPr lang="en-US" dirty="0"/>
              <a:t> for any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&lt;j</a:t>
            </a:r>
          </a:p>
          <a:p>
            <a:pPr lvl="2"/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]&gt;=a[j]</a:t>
            </a:r>
            <a:r>
              <a:rPr lang="en-US" dirty="0"/>
              <a:t> for any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&gt;j</a:t>
            </a:r>
          </a:p>
          <a:p>
            <a:pPr lvl="1"/>
            <a:r>
              <a:rPr lang="en-US" dirty="0"/>
              <a:t>Sort each partition recursively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CC09A4-CC38-9D4B-8F1C-9CCE31273A8F}"/>
              </a:ext>
            </a:extLst>
          </p:cNvPr>
          <p:cNvSpPr txBox="1"/>
          <p:nvPr/>
        </p:nvSpPr>
        <p:spPr>
          <a:xfrm>
            <a:off x="1621045" y="4224394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Input array</a:t>
            </a:r>
          </a:p>
        </p:txBody>
      </p:sp>
      <p:graphicFrame>
        <p:nvGraphicFramePr>
          <p:cNvPr id="4" name="Table 3" descr="Example input array not sorted">
            <a:extLst>
              <a:ext uri="{FF2B5EF4-FFF2-40B4-BE49-F238E27FC236}">
                <a16:creationId xmlns:a16="http://schemas.microsoft.com/office/drawing/2014/main" id="{50DB3C44-2D2E-514E-8030-6D03DA4B7A50}"/>
              </a:ext>
            </a:extLst>
          </p:cNvPr>
          <p:cNvGraphicFramePr>
            <a:graphicFrameLocks noGrp="1"/>
          </p:cNvGraphicFramePr>
          <p:nvPr/>
        </p:nvGraphicFramePr>
        <p:xfrm>
          <a:off x="2901327" y="4222886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C0DCC87-CD7F-B24D-B8DB-EFEEE9BD4996}"/>
              </a:ext>
            </a:extLst>
          </p:cNvPr>
          <p:cNvSpPr txBox="1"/>
          <p:nvPr/>
        </p:nvSpPr>
        <p:spPr>
          <a:xfrm>
            <a:off x="1990263" y="4625271"/>
            <a:ext cx="898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Shuffle</a:t>
            </a:r>
          </a:p>
        </p:txBody>
      </p:sp>
      <p:graphicFrame>
        <p:nvGraphicFramePr>
          <p:cNvPr id="6" name="Table 5" descr="Example input array after shuffling">
            <a:extLst>
              <a:ext uri="{FF2B5EF4-FFF2-40B4-BE49-F238E27FC236}">
                <a16:creationId xmlns:a16="http://schemas.microsoft.com/office/drawing/2014/main" id="{F092ABC0-A451-814F-8FA3-45C04C84CA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688543"/>
              </p:ext>
            </p:extLst>
          </p:nvPr>
        </p:nvGraphicFramePr>
        <p:xfrm>
          <a:off x="2901327" y="4642175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31F18CF-2E74-A14B-A064-390297D71F81}"/>
              </a:ext>
            </a:extLst>
          </p:cNvPr>
          <p:cNvSpPr txBox="1"/>
          <p:nvPr/>
        </p:nvSpPr>
        <p:spPr>
          <a:xfrm>
            <a:off x="1861304" y="5073099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Partition</a:t>
            </a:r>
          </a:p>
        </p:txBody>
      </p:sp>
      <p:graphicFrame>
        <p:nvGraphicFramePr>
          <p:cNvPr id="16" name="Table 15" descr="Example array after partitioning">
            <a:extLst>
              <a:ext uri="{FF2B5EF4-FFF2-40B4-BE49-F238E27FC236}">
                <a16:creationId xmlns:a16="http://schemas.microsoft.com/office/drawing/2014/main" id="{CFF4E818-737F-0044-8FA7-78F8C8A86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984930"/>
              </p:ext>
            </p:extLst>
          </p:nvPr>
        </p:nvGraphicFramePr>
        <p:xfrm>
          <a:off x="2898979" y="5090003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7DCE579-3592-6E4B-9B7F-9F7E9AFC8E9C}"/>
              </a:ext>
            </a:extLst>
          </p:cNvPr>
          <p:cNvSpPr txBox="1"/>
          <p:nvPr/>
        </p:nvSpPr>
        <p:spPr>
          <a:xfrm>
            <a:off x="1921572" y="5546342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Sort left</a:t>
            </a:r>
          </a:p>
        </p:txBody>
      </p:sp>
      <p:graphicFrame>
        <p:nvGraphicFramePr>
          <p:cNvPr id="14" name="Table 13" descr="Example left partition sorted">
            <a:extLst>
              <a:ext uri="{FF2B5EF4-FFF2-40B4-BE49-F238E27FC236}">
                <a16:creationId xmlns:a16="http://schemas.microsoft.com/office/drawing/2014/main" id="{851F0E24-9CFB-064B-A692-47340D90D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394288"/>
              </p:ext>
            </p:extLst>
          </p:nvPr>
        </p:nvGraphicFramePr>
        <p:xfrm>
          <a:off x="2901327" y="5558259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7AC6882-54FC-394D-AFFB-EF271C00D572}"/>
              </a:ext>
            </a:extLst>
          </p:cNvPr>
          <p:cNvSpPr txBox="1"/>
          <p:nvPr/>
        </p:nvSpPr>
        <p:spPr>
          <a:xfrm>
            <a:off x="1780507" y="5995188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Sort right</a:t>
            </a:r>
          </a:p>
        </p:txBody>
      </p:sp>
      <p:graphicFrame>
        <p:nvGraphicFramePr>
          <p:cNvPr id="8" name="Table 7" descr="Example right partition sorted">
            <a:extLst>
              <a:ext uri="{FF2B5EF4-FFF2-40B4-BE49-F238E27FC236}">
                <a16:creationId xmlns:a16="http://schemas.microsoft.com/office/drawing/2014/main" id="{D3DE7977-289B-094D-9AB7-DA02EFDB7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271759"/>
              </p:ext>
            </p:extLst>
          </p:nvPr>
        </p:nvGraphicFramePr>
        <p:xfrm>
          <a:off x="2901327" y="5993680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C1B0B40-8690-2340-8789-4522D7CAD08B}"/>
              </a:ext>
            </a:extLst>
          </p:cNvPr>
          <p:cNvSpPr txBox="1"/>
          <p:nvPr/>
        </p:nvSpPr>
        <p:spPr>
          <a:xfrm>
            <a:off x="2062636" y="6386178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10" name="Table 9" descr="Example final result">
            <a:extLst>
              <a:ext uri="{FF2B5EF4-FFF2-40B4-BE49-F238E27FC236}">
                <a16:creationId xmlns:a16="http://schemas.microsoft.com/office/drawing/2014/main" id="{FA4EB900-2487-DB4B-8A73-B28C5EA7AB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240370"/>
              </p:ext>
            </p:extLst>
          </p:nvPr>
        </p:nvGraphicFramePr>
        <p:xfrm>
          <a:off x="2901327" y="6420739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0104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Partitioning step</a:t>
            </a:r>
          </a:p>
          <a:p>
            <a:pPr lvl="1"/>
            <a:r>
              <a:rPr lang="en-US" dirty="0"/>
              <a:t>Pivoting (i.e., partitioning) element: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Repeat until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 and </a:t>
            </a:r>
            <a:r>
              <a:rPr lang="en-US" dirty="0">
                <a:latin typeface="Courier" pitchFamily="2" charset="0"/>
              </a:rPr>
              <a:t>j</a:t>
            </a:r>
            <a:r>
              <a:rPr lang="en-US" dirty="0"/>
              <a:t> cross</a:t>
            </a:r>
          </a:p>
          <a:p>
            <a:pPr lvl="2"/>
            <a:r>
              <a:rPr lang="en-US" dirty="0"/>
              <a:t>Scan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 from left to right so long as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 &lt; a[lo]</a:t>
            </a:r>
            <a:endParaRPr lang="en-US" dirty="0"/>
          </a:p>
          <a:p>
            <a:pPr lvl="2"/>
            <a:r>
              <a:rPr lang="en-US" dirty="0"/>
              <a:t>Scan </a:t>
            </a:r>
            <a:r>
              <a:rPr lang="en-US" dirty="0">
                <a:latin typeface="Courier" pitchFamily="2" charset="0"/>
              </a:rPr>
              <a:t>j</a:t>
            </a:r>
            <a:r>
              <a:rPr lang="en-US" dirty="0"/>
              <a:t> from right to left so long as </a:t>
            </a:r>
            <a:r>
              <a:rPr lang="en-US" dirty="0">
                <a:latin typeface="Courier" pitchFamily="2" charset="0"/>
              </a:rPr>
              <a:t>a[j] &gt; a[lo]</a:t>
            </a:r>
            <a:endParaRPr lang="en-US" dirty="0"/>
          </a:p>
          <a:p>
            <a:pPr lvl="2"/>
            <a:r>
              <a:rPr lang="en-US" dirty="0"/>
              <a:t>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with </a:t>
            </a:r>
            <a:r>
              <a:rPr lang="en-US" dirty="0">
                <a:latin typeface="Courier" pitchFamily="2" charset="0"/>
              </a:rPr>
              <a:t>a[j]</a:t>
            </a:r>
          </a:p>
          <a:p>
            <a:pPr lvl="1"/>
            <a:r>
              <a:rPr lang="en-US" dirty="0"/>
              <a:t>Swap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with </a:t>
            </a:r>
            <a:r>
              <a:rPr lang="en-US" dirty="0">
                <a:latin typeface="Courier" pitchFamily="2" charset="0"/>
              </a:rPr>
              <a:t>a[j]</a:t>
            </a:r>
          </a:p>
          <a:p>
            <a:pPr lvl="2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3D6CE6-1DF5-E848-9A65-3173961242C0}"/>
              </a:ext>
            </a:extLst>
          </p:cNvPr>
          <p:cNvSpPr txBox="1"/>
          <p:nvPr/>
        </p:nvSpPr>
        <p:spPr>
          <a:xfrm>
            <a:off x="514866" y="4614388"/>
            <a:ext cx="1616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Shuffled array</a:t>
            </a:r>
          </a:p>
        </p:txBody>
      </p:sp>
      <p:graphicFrame>
        <p:nvGraphicFramePr>
          <p:cNvPr id="5" name="Table 4" descr="Example of partitioning step">
            <a:extLst>
              <a:ext uri="{FF2B5EF4-FFF2-40B4-BE49-F238E27FC236}">
                <a16:creationId xmlns:a16="http://schemas.microsoft.com/office/drawing/2014/main" id="{42C05E23-942E-2244-8366-8CC75BA2F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86933"/>
              </p:ext>
            </p:extLst>
          </p:nvPr>
        </p:nvGraphicFramePr>
        <p:xfrm>
          <a:off x="2260129" y="4614388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400A3B98-0A54-4041-A445-C7FDD8AAD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443224" y="4998008"/>
            <a:ext cx="322524" cy="671676"/>
            <a:chOff x="9631909" y="4435129"/>
            <a:chExt cx="322524" cy="67167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2D5BBD-1BEE-D84F-A31F-FC4E6ECBAC3E}"/>
                </a:ext>
              </a:extLst>
            </p:cNvPr>
            <p:cNvSpPr txBox="1"/>
            <p:nvPr/>
          </p:nvSpPr>
          <p:spPr>
            <a:xfrm>
              <a:off x="9631909" y="4737473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ourier" pitchFamily="2" charset="0"/>
                </a:rPr>
                <a:t>j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AEB45A6-34C1-1341-9214-1513E944949A}"/>
                </a:ext>
              </a:extLst>
            </p:cNvPr>
            <p:cNvCxnSpPr/>
            <p:nvPr/>
          </p:nvCxnSpPr>
          <p:spPr>
            <a:xfrm flipV="1">
              <a:off x="9793171" y="4435129"/>
              <a:ext cx="0" cy="3429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07018AC-F906-2F4B-98EB-77DCB349A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768529" y="5027644"/>
            <a:ext cx="322524" cy="642040"/>
            <a:chOff x="2957214" y="4464765"/>
            <a:chExt cx="322524" cy="64204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399EE8-AA8B-4945-AC3E-8C10A55916F0}"/>
                </a:ext>
              </a:extLst>
            </p:cNvPr>
            <p:cNvSpPr txBox="1"/>
            <p:nvPr/>
          </p:nvSpPr>
          <p:spPr>
            <a:xfrm>
              <a:off x="2957214" y="4737473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FF0000"/>
                  </a:solidFill>
                  <a:latin typeface="Courier" pitchFamily="2" charset="0"/>
                </a:rPr>
                <a:t>i</a:t>
              </a:r>
              <a:endParaRPr lang="en-US" dirty="0">
                <a:solidFill>
                  <a:srgbClr val="FF0000"/>
                </a:solidFill>
                <a:latin typeface="Courier" pitchFamily="2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7E6AFA7-3108-6047-B313-809D43254014}"/>
                </a:ext>
              </a:extLst>
            </p:cNvPr>
            <p:cNvCxnSpPr/>
            <p:nvPr/>
          </p:nvCxnSpPr>
          <p:spPr>
            <a:xfrm flipV="1">
              <a:off x="3111379" y="4464765"/>
              <a:ext cx="0" cy="3429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39D7D4C-8A9D-F948-A776-E10A32417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506141" y="5012921"/>
            <a:ext cx="954588" cy="968341"/>
            <a:chOff x="1694826" y="4450042"/>
            <a:chExt cx="954588" cy="96834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A9854E6-29A0-B74A-96D3-093B42A25D02}"/>
                </a:ext>
              </a:extLst>
            </p:cNvPr>
            <p:cNvSpPr txBox="1"/>
            <p:nvPr/>
          </p:nvSpPr>
          <p:spPr>
            <a:xfrm>
              <a:off x="1694826" y="4772052"/>
              <a:ext cx="87395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pivot</a:t>
              </a:r>
              <a:r>
                <a:rPr lang="en-US" dirty="0">
                  <a:solidFill>
                    <a:srgbClr val="FF0000"/>
                  </a:solidFill>
                </a:rPr>
                <a:t> 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  <a:latin typeface="Courier" pitchFamily="2" charset="0"/>
                </a:rPr>
                <a:t>a[lo]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71CC1B9-00E9-EA42-843F-002C34210470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2131805" y="4450042"/>
              <a:ext cx="517609" cy="32201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2843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Partitioning step</a:t>
            </a:r>
          </a:p>
          <a:p>
            <a:pPr lvl="1"/>
            <a:r>
              <a:rPr lang="en-US" dirty="0"/>
              <a:t>Pivoting (i.e., partitioning) element: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Repeat until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 and </a:t>
            </a:r>
            <a:r>
              <a:rPr lang="en-US" dirty="0">
                <a:latin typeface="Courier" pitchFamily="2" charset="0"/>
              </a:rPr>
              <a:t>j</a:t>
            </a:r>
            <a:r>
              <a:rPr lang="en-US" dirty="0"/>
              <a:t> cross</a:t>
            </a:r>
          </a:p>
          <a:p>
            <a:pPr lvl="2"/>
            <a:r>
              <a:rPr lang="en-US" dirty="0"/>
              <a:t>Scan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 from left to right so long as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 &lt; a[lo]</a:t>
            </a:r>
            <a:endParaRPr lang="en-US" dirty="0"/>
          </a:p>
          <a:p>
            <a:pPr lvl="2"/>
            <a:r>
              <a:rPr lang="en-US" dirty="0"/>
              <a:t>Scan </a:t>
            </a:r>
            <a:r>
              <a:rPr lang="en-US" dirty="0">
                <a:latin typeface="Courier" pitchFamily="2" charset="0"/>
              </a:rPr>
              <a:t>j</a:t>
            </a:r>
            <a:r>
              <a:rPr lang="en-US" dirty="0"/>
              <a:t> from right to left so long as </a:t>
            </a:r>
            <a:r>
              <a:rPr lang="en-US" dirty="0">
                <a:latin typeface="Courier" pitchFamily="2" charset="0"/>
              </a:rPr>
              <a:t>a[j] &gt; a[lo]</a:t>
            </a:r>
            <a:endParaRPr lang="en-US" dirty="0"/>
          </a:p>
          <a:p>
            <a:pPr lvl="2"/>
            <a:r>
              <a:rPr lang="en-US" dirty="0"/>
              <a:t>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with </a:t>
            </a:r>
            <a:r>
              <a:rPr lang="en-US" dirty="0">
                <a:latin typeface="Courier" pitchFamily="2" charset="0"/>
              </a:rPr>
              <a:t>a[j]</a:t>
            </a:r>
          </a:p>
          <a:p>
            <a:pPr lvl="1"/>
            <a:r>
              <a:rPr lang="en-US" dirty="0"/>
              <a:t>Swap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with </a:t>
            </a:r>
            <a:r>
              <a:rPr lang="en-US" dirty="0">
                <a:latin typeface="Courier" pitchFamily="2" charset="0"/>
              </a:rPr>
              <a:t>a[j]</a:t>
            </a:r>
          </a:p>
          <a:p>
            <a:pPr lvl="1"/>
            <a:endParaRPr lang="en-US" dirty="0">
              <a:latin typeface="Courier" pitchFamily="2" charset="0"/>
            </a:endParaRPr>
          </a:p>
          <a:p>
            <a:pPr lvl="2"/>
            <a:endParaRPr lang="en-US" dirty="0">
              <a:latin typeface="Courier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3D6CE6-1DF5-E848-9A65-3173961242C0}"/>
              </a:ext>
            </a:extLst>
          </p:cNvPr>
          <p:cNvSpPr txBox="1"/>
          <p:nvPr/>
        </p:nvSpPr>
        <p:spPr>
          <a:xfrm>
            <a:off x="514866" y="4608722"/>
            <a:ext cx="1616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Shuffled array</a:t>
            </a:r>
          </a:p>
        </p:txBody>
      </p:sp>
      <p:graphicFrame>
        <p:nvGraphicFramePr>
          <p:cNvPr id="5" name="Table 4" descr="Example of partitioning step">
            <a:extLst>
              <a:ext uri="{FF2B5EF4-FFF2-40B4-BE49-F238E27FC236}">
                <a16:creationId xmlns:a16="http://schemas.microsoft.com/office/drawing/2014/main" id="{42C05E23-942E-2244-8366-8CC75BA2F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668559"/>
              </p:ext>
            </p:extLst>
          </p:nvPr>
        </p:nvGraphicFramePr>
        <p:xfrm>
          <a:off x="2260129" y="4608722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400A3B98-0A54-4041-A445-C7FDD8AAD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985899" y="4992342"/>
            <a:ext cx="322524" cy="671676"/>
            <a:chOff x="9631909" y="4435129"/>
            <a:chExt cx="322524" cy="67167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2D5BBD-1BEE-D84F-A31F-FC4E6ECBAC3E}"/>
                </a:ext>
              </a:extLst>
            </p:cNvPr>
            <p:cNvSpPr txBox="1"/>
            <p:nvPr/>
          </p:nvSpPr>
          <p:spPr>
            <a:xfrm>
              <a:off x="9631909" y="4737473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ourier" pitchFamily="2" charset="0"/>
                </a:rPr>
                <a:t>j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AEB45A6-34C1-1341-9214-1513E944949A}"/>
                </a:ext>
              </a:extLst>
            </p:cNvPr>
            <p:cNvCxnSpPr/>
            <p:nvPr/>
          </p:nvCxnSpPr>
          <p:spPr>
            <a:xfrm flipV="1">
              <a:off x="9793171" y="4435129"/>
              <a:ext cx="0" cy="3429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07018AC-F906-2F4B-98EB-77DCB349A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768529" y="5021978"/>
            <a:ext cx="322524" cy="642040"/>
            <a:chOff x="2957214" y="4464765"/>
            <a:chExt cx="322524" cy="64204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399EE8-AA8B-4945-AC3E-8C10A55916F0}"/>
                </a:ext>
              </a:extLst>
            </p:cNvPr>
            <p:cNvSpPr txBox="1"/>
            <p:nvPr/>
          </p:nvSpPr>
          <p:spPr>
            <a:xfrm>
              <a:off x="2957214" y="4737473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FF0000"/>
                  </a:solidFill>
                  <a:latin typeface="Courier" pitchFamily="2" charset="0"/>
                </a:rPr>
                <a:t>i</a:t>
              </a:r>
              <a:endParaRPr lang="en-US" dirty="0">
                <a:solidFill>
                  <a:srgbClr val="FF0000"/>
                </a:solidFill>
                <a:latin typeface="Courier" pitchFamily="2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7E6AFA7-3108-6047-B313-809D43254014}"/>
                </a:ext>
              </a:extLst>
            </p:cNvPr>
            <p:cNvCxnSpPr/>
            <p:nvPr/>
          </p:nvCxnSpPr>
          <p:spPr>
            <a:xfrm flipV="1">
              <a:off x="3111379" y="4464765"/>
              <a:ext cx="0" cy="3429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39D7D4C-8A9D-F948-A776-E10A32417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506141" y="5007255"/>
            <a:ext cx="954588" cy="968341"/>
            <a:chOff x="1694826" y="4450042"/>
            <a:chExt cx="954588" cy="96834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A9854E6-29A0-B74A-96D3-093B42A25D02}"/>
                </a:ext>
              </a:extLst>
            </p:cNvPr>
            <p:cNvSpPr txBox="1"/>
            <p:nvPr/>
          </p:nvSpPr>
          <p:spPr>
            <a:xfrm>
              <a:off x="1694826" y="4772052"/>
              <a:ext cx="87395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pivot</a:t>
              </a:r>
              <a:r>
                <a:rPr lang="en-US" dirty="0">
                  <a:solidFill>
                    <a:srgbClr val="FF0000"/>
                  </a:solidFill>
                </a:rPr>
                <a:t> 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  <a:latin typeface="Courier" pitchFamily="2" charset="0"/>
                </a:rPr>
                <a:t>a[lo]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71CC1B9-00E9-EA42-843F-002C34210470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2131805" y="4450042"/>
              <a:ext cx="517609" cy="32201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0790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Partitioning step</a:t>
            </a:r>
          </a:p>
          <a:p>
            <a:pPr lvl="1"/>
            <a:r>
              <a:rPr lang="en-US" dirty="0"/>
              <a:t>Pivoting (i.e., partitioning) element: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Repeat until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 and </a:t>
            </a:r>
            <a:r>
              <a:rPr lang="en-US" dirty="0">
                <a:latin typeface="Courier" pitchFamily="2" charset="0"/>
              </a:rPr>
              <a:t>j</a:t>
            </a:r>
            <a:r>
              <a:rPr lang="en-US" dirty="0"/>
              <a:t> cross</a:t>
            </a:r>
          </a:p>
          <a:p>
            <a:pPr lvl="2"/>
            <a:r>
              <a:rPr lang="en-US" dirty="0"/>
              <a:t>Scan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 from left to right so long as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 &lt; a[lo]</a:t>
            </a:r>
            <a:endParaRPr lang="en-US" dirty="0"/>
          </a:p>
          <a:p>
            <a:pPr lvl="2"/>
            <a:r>
              <a:rPr lang="en-US" dirty="0"/>
              <a:t>Scan </a:t>
            </a:r>
            <a:r>
              <a:rPr lang="en-US" dirty="0">
                <a:latin typeface="Courier" pitchFamily="2" charset="0"/>
              </a:rPr>
              <a:t>j</a:t>
            </a:r>
            <a:r>
              <a:rPr lang="en-US" dirty="0"/>
              <a:t> from right to left so long as </a:t>
            </a:r>
            <a:r>
              <a:rPr lang="en-US" dirty="0">
                <a:latin typeface="Courier" pitchFamily="2" charset="0"/>
              </a:rPr>
              <a:t>a[j] &gt; a[lo]</a:t>
            </a:r>
            <a:endParaRPr lang="en-US" dirty="0"/>
          </a:p>
          <a:p>
            <a:pPr lvl="2"/>
            <a:r>
              <a:rPr lang="en-US" dirty="0"/>
              <a:t>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with </a:t>
            </a:r>
            <a:r>
              <a:rPr lang="en-US" dirty="0">
                <a:latin typeface="Courier" pitchFamily="2" charset="0"/>
              </a:rPr>
              <a:t>a[j]</a:t>
            </a:r>
          </a:p>
          <a:p>
            <a:pPr lvl="1"/>
            <a:r>
              <a:rPr lang="en-US" dirty="0"/>
              <a:t>Swap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with </a:t>
            </a:r>
            <a:r>
              <a:rPr lang="en-US" dirty="0">
                <a:latin typeface="Courier" pitchFamily="2" charset="0"/>
              </a:rPr>
              <a:t>a[j]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3D6CE6-1DF5-E848-9A65-3173961242C0}"/>
              </a:ext>
            </a:extLst>
          </p:cNvPr>
          <p:cNvSpPr txBox="1"/>
          <p:nvPr/>
        </p:nvSpPr>
        <p:spPr>
          <a:xfrm>
            <a:off x="514866" y="4608722"/>
            <a:ext cx="1616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Shuffled array</a:t>
            </a:r>
          </a:p>
        </p:txBody>
      </p:sp>
      <p:graphicFrame>
        <p:nvGraphicFramePr>
          <p:cNvPr id="5" name="Table 4" descr="Example of partitioning step">
            <a:extLst>
              <a:ext uri="{FF2B5EF4-FFF2-40B4-BE49-F238E27FC236}">
                <a16:creationId xmlns:a16="http://schemas.microsoft.com/office/drawing/2014/main" id="{42C05E23-942E-2244-8366-8CC75BA2F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286105"/>
              </p:ext>
            </p:extLst>
          </p:nvPr>
        </p:nvGraphicFramePr>
        <p:xfrm>
          <a:off x="2260129" y="4608722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400A3B98-0A54-4041-A445-C7FDD8AAD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556833" y="4978054"/>
            <a:ext cx="322524" cy="671676"/>
            <a:chOff x="9631909" y="4435129"/>
            <a:chExt cx="322524" cy="67167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2D5BBD-1BEE-D84F-A31F-FC4E6ECBAC3E}"/>
                </a:ext>
              </a:extLst>
            </p:cNvPr>
            <p:cNvSpPr txBox="1"/>
            <p:nvPr/>
          </p:nvSpPr>
          <p:spPr>
            <a:xfrm>
              <a:off x="9631909" y="4737473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ourier" pitchFamily="2" charset="0"/>
                </a:rPr>
                <a:t>j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AEB45A6-34C1-1341-9214-1513E944949A}"/>
                </a:ext>
              </a:extLst>
            </p:cNvPr>
            <p:cNvCxnSpPr/>
            <p:nvPr/>
          </p:nvCxnSpPr>
          <p:spPr>
            <a:xfrm flipV="1">
              <a:off x="9793171" y="4435129"/>
              <a:ext cx="0" cy="3429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07018AC-F906-2F4B-98EB-77DCB349A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715955" y="4978081"/>
            <a:ext cx="322524" cy="642040"/>
            <a:chOff x="2957214" y="4464765"/>
            <a:chExt cx="322524" cy="64204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399EE8-AA8B-4945-AC3E-8C10A55916F0}"/>
                </a:ext>
              </a:extLst>
            </p:cNvPr>
            <p:cNvSpPr txBox="1"/>
            <p:nvPr/>
          </p:nvSpPr>
          <p:spPr>
            <a:xfrm>
              <a:off x="2957214" y="4737473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FF0000"/>
                  </a:solidFill>
                  <a:latin typeface="Courier" pitchFamily="2" charset="0"/>
                </a:rPr>
                <a:t>i</a:t>
              </a:r>
              <a:endParaRPr lang="en-US" dirty="0">
                <a:solidFill>
                  <a:srgbClr val="FF0000"/>
                </a:solidFill>
                <a:latin typeface="Courier" pitchFamily="2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7E6AFA7-3108-6047-B313-809D43254014}"/>
                </a:ext>
              </a:extLst>
            </p:cNvPr>
            <p:cNvCxnSpPr/>
            <p:nvPr/>
          </p:nvCxnSpPr>
          <p:spPr>
            <a:xfrm flipV="1">
              <a:off x="3111379" y="4464765"/>
              <a:ext cx="0" cy="3429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39D7D4C-8A9D-F948-A776-E10A32417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506141" y="5007255"/>
            <a:ext cx="954588" cy="968341"/>
            <a:chOff x="1694826" y="4450042"/>
            <a:chExt cx="954588" cy="96834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A9854E6-29A0-B74A-96D3-093B42A25D02}"/>
                </a:ext>
              </a:extLst>
            </p:cNvPr>
            <p:cNvSpPr txBox="1"/>
            <p:nvPr/>
          </p:nvSpPr>
          <p:spPr>
            <a:xfrm>
              <a:off x="1694826" y="4772052"/>
              <a:ext cx="87395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pivot</a:t>
              </a:r>
              <a:r>
                <a:rPr lang="en-US" dirty="0">
                  <a:solidFill>
                    <a:srgbClr val="FF0000"/>
                  </a:solidFill>
                </a:rPr>
                <a:t> 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  <a:latin typeface="Courier" pitchFamily="2" charset="0"/>
                </a:rPr>
                <a:t>a[lo]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71CC1B9-00E9-EA42-843F-002C34210470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2131805" y="4450042"/>
              <a:ext cx="517609" cy="32201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38763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Partitioning step</a:t>
            </a:r>
          </a:p>
          <a:p>
            <a:pPr lvl="1"/>
            <a:r>
              <a:rPr lang="en-US" dirty="0"/>
              <a:t>Pivoting (i.e., partitioning) element: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Repeat until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 and </a:t>
            </a:r>
            <a:r>
              <a:rPr lang="en-US" dirty="0">
                <a:latin typeface="Courier" pitchFamily="2" charset="0"/>
              </a:rPr>
              <a:t>j</a:t>
            </a:r>
            <a:r>
              <a:rPr lang="en-US" dirty="0"/>
              <a:t> cross</a:t>
            </a:r>
          </a:p>
          <a:p>
            <a:pPr lvl="2"/>
            <a:r>
              <a:rPr lang="en-US" dirty="0"/>
              <a:t>Scan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 from left to right so long as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 &lt; a[lo]</a:t>
            </a:r>
            <a:endParaRPr lang="en-US" dirty="0"/>
          </a:p>
          <a:p>
            <a:pPr lvl="2"/>
            <a:r>
              <a:rPr lang="en-US" dirty="0"/>
              <a:t>Scan </a:t>
            </a:r>
            <a:r>
              <a:rPr lang="en-US" dirty="0">
                <a:latin typeface="Courier" pitchFamily="2" charset="0"/>
              </a:rPr>
              <a:t>j</a:t>
            </a:r>
            <a:r>
              <a:rPr lang="en-US" dirty="0"/>
              <a:t> from right to left so long as </a:t>
            </a:r>
            <a:r>
              <a:rPr lang="en-US" dirty="0">
                <a:latin typeface="Courier" pitchFamily="2" charset="0"/>
              </a:rPr>
              <a:t>a[j] &gt; a[lo]</a:t>
            </a:r>
            <a:endParaRPr lang="en-US" dirty="0"/>
          </a:p>
          <a:p>
            <a:pPr lvl="2"/>
            <a:r>
              <a:rPr lang="en-US" dirty="0"/>
              <a:t>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with </a:t>
            </a:r>
            <a:r>
              <a:rPr lang="en-US" dirty="0">
                <a:latin typeface="Courier" pitchFamily="2" charset="0"/>
              </a:rPr>
              <a:t>a[j]</a:t>
            </a:r>
          </a:p>
          <a:p>
            <a:pPr lvl="1"/>
            <a:r>
              <a:rPr lang="en-US" dirty="0"/>
              <a:t>Swap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with </a:t>
            </a:r>
            <a:r>
              <a:rPr lang="en-US" dirty="0">
                <a:latin typeface="Courier" pitchFamily="2" charset="0"/>
              </a:rPr>
              <a:t>a[j]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3D6CE6-1DF5-E848-9A65-3173961242C0}"/>
              </a:ext>
            </a:extLst>
          </p:cNvPr>
          <p:cNvSpPr txBox="1"/>
          <p:nvPr/>
        </p:nvSpPr>
        <p:spPr>
          <a:xfrm>
            <a:off x="514866" y="4608721"/>
            <a:ext cx="1616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Shuffled array</a:t>
            </a:r>
          </a:p>
        </p:txBody>
      </p:sp>
      <p:graphicFrame>
        <p:nvGraphicFramePr>
          <p:cNvPr id="5" name="Table 4" descr="Example of partitioning step">
            <a:extLst>
              <a:ext uri="{FF2B5EF4-FFF2-40B4-BE49-F238E27FC236}">
                <a16:creationId xmlns:a16="http://schemas.microsoft.com/office/drawing/2014/main" id="{42C05E23-942E-2244-8366-8CC75BA2F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36401"/>
              </p:ext>
            </p:extLst>
          </p:nvPr>
        </p:nvGraphicFramePr>
        <p:xfrm>
          <a:off x="2260129" y="4608721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400A3B98-0A54-4041-A445-C7FDD8AAD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123705" y="4978053"/>
            <a:ext cx="322524" cy="671676"/>
            <a:chOff x="9631909" y="4435129"/>
            <a:chExt cx="322524" cy="67167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2D5BBD-1BEE-D84F-A31F-FC4E6ECBAC3E}"/>
                </a:ext>
              </a:extLst>
            </p:cNvPr>
            <p:cNvSpPr txBox="1"/>
            <p:nvPr/>
          </p:nvSpPr>
          <p:spPr>
            <a:xfrm>
              <a:off x="9631909" y="4737473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ourier" pitchFamily="2" charset="0"/>
                </a:rPr>
                <a:t>j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AEB45A6-34C1-1341-9214-1513E944949A}"/>
                </a:ext>
              </a:extLst>
            </p:cNvPr>
            <p:cNvCxnSpPr/>
            <p:nvPr/>
          </p:nvCxnSpPr>
          <p:spPr>
            <a:xfrm flipV="1">
              <a:off x="9793171" y="4435129"/>
              <a:ext cx="0" cy="3429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07018AC-F906-2F4B-98EB-77DCB349A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620261" y="4959377"/>
            <a:ext cx="322524" cy="642040"/>
            <a:chOff x="2957214" y="4464765"/>
            <a:chExt cx="322524" cy="64204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399EE8-AA8B-4945-AC3E-8C10A55916F0}"/>
                </a:ext>
              </a:extLst>
            </p:cNvPr>
            <p:cNvSpPr txBox="1"/>
            <p:nvPr/>
          </p:nvSpPr>
          <p:spPr>
            <a:xfrm>
              <a:off x="2957214" y="4737473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FF0000"/>
                  </a:solidFill>
                  <a:latin typeface="Courier" pitchFamily="2" charset="0"/>
                </a:rPr>
                <a:t>i</a:t>
              </a:r>
              <a:endParaRPr lang="en-US" dirty="0">
                <a:solidFill>
                  <a:srgbClr val="FF0000"/>
                </a:solidFill>
                <a:latin typeface="Courier" pitchFamily="2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7E6AFA7-3108-6047-B313-809D43254014}"/>
                </a:ext>
              </a:extLst>
            </p:cNvPr>
            <p:cNvCxnSpPr/>
            <p:nvPr/>
          </p:nvCxnSpPr>
          <p:spPr>
            <a:xfrm flipV="1">
              <a:off x="3111379" y="4464765"/>
              <a:ext cx="0" cy="3429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39D7D4C-8A9D-F948-A776-E10A32417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506141" y="5007254"/>
            <a:ext cx="954588" cy="968341"/>
            <a:chOff x="1694826" y="4450042"/>
            <a:chExt cx="954588" cy="96834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A9854E6-29A0-B74A-96D3-093B42A25D02}"/>
                </a:ext>
              </a:extLst>
            </p:cNvPr>
            <p:cNvSpPr txBox="1"/>
            <p:nvPr/>
          </p:nvSpPr>
          <p:spPr>
            <a:xfrm>
              <a:off x="1694826" y="4772052"/>
              <a:ext cx="87395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pivot</a:t>
              </a:r>
              <a:r>
                <a:rPr lang="en-US" dirty="0">
                  <a:solidFill>
                    <a:srgbClr val="FF0000"/>
                  </a:solidFill>
                </a:rPr>
                <a:t> 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  <a:latin typeface="Courier" pitchFamily="2" charset="0"/>
                </a:rPr>
                <a:t>a[lo]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71CC1B9-00E9-EA42-843F-002C34210470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2131805" y="4450042"/>
              <a:ext cx="517609" cy="32201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81421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Partitioning step</a:t>
            </a:r>
          </a:p>
          <a:p>
            <a:pPr lvl="1"/>
            <a:r>
              <a:rPr lang="en-US" dirty="0"/>
              <a:t>Pivoting (i.e., partitioning) element: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Repeat until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 and </a:t>
            </a:r>
            <a:r>
              <a:rPr lang="en-US" dirty="0">
                <a:latin typeface="Courier" pitchFamily="2" charset="0"/>
              </a:rPr>
              <a:t>j</a:t>
            </a:r>
            <a:r>
              <a:rPr lang="en-US" dirty="0"/>
              <a:t> cross</a:t>
            </a:r>
          </a:p>
          <a:p>
            <a:pPr lvl="2"/>
            <a:r>
              <a:rPr lang="en-US" dirty="0"/>
              <a:t>Scan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 from left to right so long as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 &lt; a[lo]</a:t>
            </a:r>
            <a:endParaRPr lang="en-US" dirty="0"/>
          </a:p>
          <a:p>
            <a:pPr lvl="2"/>
            <a:r>
              <a:rPr lang="en-US" dirty="0"/>
              <a:t>Scan </a:t>
            </a:r>
            <a:r>
              <a:rPr lang="en-US" dirty="0">
                <a:latin typeface="Courier" pitchFamily="2" charset="0"/>
              </a:rPr>
              <a:t>j</a:t>
            </a:r>
            <a:r>
              <a:rPr lang="en-US" dirty="0"/>
              <a:t> from right to left so long as </a:t>
            </a:r>
            <a:r>
              <a:rPr lang="en-US" dirty="0">
                <a:latin typeface="Courier" pitchFamily="2" charset="0"/>
              </a:rPr>
              <a:t>a[j] &gt; a[lo]</a:t>
            </a:r>
            <a:endParaRPr lang="en-US" dirty="0"/>
          </a:p>
          <a:p>
            <a:pPr lvl="2"/>
            <a:r>
              <a:rPr lang="en-US" dirty="0"/>
              <a:t>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with </a:t>
            </a:r>
            <a:r>
              <a:rPr lang="en-US" dirty="0">
                <a:latin typeface="Courier" pitchFamily="2" charset="0"/>
              </a:rPr>
              <a:t>a[j]</a:t>
            </a:r>
          </a:p>
          <a:p>
            <a:pPr lvl="1"/>
            <a:r>
              <a:rPr lang="en-US" dirty="0"/>
              <a:t>Swap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with </a:t>
            </a:r>
            <a:r>
              <a:rPr lang="en-US" dirty="0">
                <a:latin typeface="Courier" pitchFamily="2" charset="0"/>
              </a:rPr>
              <a:t>a[j]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3D6CE6-1DF5-E848-9A65-3173961242C0}"/>
              </a:ext>
            </a:extLst>
          </p:cNvPr>
          <p:cNvSpPr txBox="1"/>
          <p:nvPr/>
        </p:nvSpPr>
        <p:spPr>
          <a:xfrm>
            <a:off x="514866" y="4608721"/>
            <a:ext cx="1616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Shuffled array</a:t>
            </a:r>
          </a:p>
        </p:txBody>
      </p:sp>
      <p:graphicFrame>
        <p:nvGraphicFramePr>
          <p:cNvPr id="5" name="Table 4" descr="Example of partitioning step">
            <a:extLst>
              <a:ext uri="{FF2B5EF4-FFF2-40B4-BE49-F238E27FC236}">
                <a16:creationId xmlns:a16="http://schemas.microsoft.com/office/drawing/2014/main" id="{42C05E23-942E-2244-8366-8CC75BA2F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40115"/>
              </p:ext>
            </p:extLst>
          </p:nvPr>
        </p:nvGraphicFramePr>
        <p:xfrm>
          <a:off x="2260129" y="4608721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400A3B98-0A54-4041-A445-C7FDD8AAD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637930" y="4993426"/>
            <a:ext cx="322524" cy="671676"/>
            <a:chOff x="9631909" y="4435129"/>
            <a:chExt cx="322524" cy="67167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2D5BBD-1BEE-D84F-A31F-FC4E6ECBAC3E}"/>
                </a:ext>
              </a:extLst>
            </p:cNvPr>
            <p:cNvSpPr txBox="1"/>
            <p:nvPr/>
          </p:nvSpPr>
          <p:spPr>
            <a:xfrm>
              <a:off x="9631909" y="4737473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ourier" pitchFamily="2" charset="0"/>
                </a:rPr>
                <a:t>j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AEB45A6-34C1-1341-9214-1513E944949A}"/>
                </a:ext>
              </a:extLst>
            </p:cNvPr>
            <p:cNvCxnSpPr/>
            <p:nvPr/>
          </p:nvCxnSpPr>
          <p:spPr>
            <a:xfrm flipV="1">
              <a:off x="9793171" y="4435129"/>
              <a:ext cx="0" cy="3429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07018AC-F906-2F4B-98EB-77DCB349A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191143" y="4993426"/>
            <a:ext cx="322524" cy="642040"/>
            <a:chOff x="2957214" y="4464765"/>
            <a:chExt cx="322524" cy="64204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399EE8-AA8B-4945-AC3E-8C10A55916F0}"/>
                </a:ext>
              </a:extLst>
            </p:cNvPr>
            <p:cNvSpPr txBox="1"/>
            <p:nvPr/>
          </p:nvSpPr>
          <p:spPr>
            <a:xfrm>
              <a:off x="2957214" y="4737473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FF0000"/>
                  </a:solidFill>
                  <a:latin typeface="Courier" pitchFamily="2" charset="0"/>
                </a:rPr>
                <a:t>i</a:t>
              </a:r>
              <a:endParaRPr lang="en-US" dirty="0">
                <a:solidFill>
                  <a:srgbClr val="FF0000"/>
                </a:solidFill>
                <a:latin typeface="Courier" pitchFamily="2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7E6AFA7-3108-6047-B313-809D43254014}"/>
                </a:ext>
              </a:extLst>
            </p:cNvPr>
            <p:cNvCxnSpPr/>
            <p:nvPr/>
          </p:nvCxnSpPr>
          <p:spPr>
            <a:xfrm flipV="1">
              <a:off x="3111379" y="4464765"/>
              <a:ext cx="0" cy="3429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39D7D4C-8A9D-F948-A776-E10A32417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506141" y="5007254"/>
            <a:ext cx="954588" cy="968341"/>
            <a:chOff x="1694826" y="4450042"/>
            <a:chExt cx="954588" cy="96834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A9854E6-29A0-B74A-96D3-093B42A25D02}"/>
                </a:ext>
              </a:extLst>
            </p:cNvPr>
            <p:cNvSpPr txBox="1"/>
            <p:nvPr/>
          </p:nvSpPr>
          <p:spPr>
            <a:xfrm>
              <a:off x="1694826" y="4772052"/>
              <a:ext cx="87395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pivot</a:t>
              </a:r>
              <a:r>
                <a:rPr lang="en-US" dirty="0">
                  <a:solidFill>
                    <a:srgbClr val="FF0000"/>
                  </a:solidFill>
                </a:rPr>
                <a:t> 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  <a:latin typeface="Courier" pitchFamily="2" charset="0"/>
                </a:rPr>
                <a:t>a[lo]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71CC1B9-00E9-EA42-843F-002C34210470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2131805" y="4450042"/>
              <a:ext cx="517609" cy="32201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30784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4F06-7EE0-A34E-9BB0-2B832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F87A-2F52-514F-91AE-266531F7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Partitioning step</a:t>
            </a:r>
          </a:p>
          <a:p>
            <a:pPr lvl="1"/>
            <a:r>
              <a:rPr lang="en-US" dirty="0"/>
              <a:t>Pivoting (i.e., partitioning) element: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Repeat until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 and </a:t>
            </a:r>
            <a:r>
              <a:rPr lang="en-US" dirty="0">
                <a:latin typeface="Courier" pitchFamily="2" charset="0"/>
              </a:rPr>
              <a:t>j</a:t>
            </a:r>
            <a:r>
              <a:rPr lang="en-US" dirty="0"/>
              <a:t> cross</a:t>
            </a:r>
          </a:p>
          <a:p>
            <a:pPr lvl="2"/>
            <a:r>
              <a:rPr lang="en-US" dirty="0"/>
              <a:t>Scan 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/>
              <a:t> from left to right so long as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 &lt; a[lo]</a:t>
            </a:r>
            <a:endParaRPr lang="en-US" dirty="0"/>
          </a:p>
          <a:p>
            <a:pPr lvl="2"/>
            <a:r>
              <a:rPr lang="en-US" dirty="0"/>
              <a:t>Scan </a:t>
            </a:r>
            <a:r>
              <a:rPr lang="en-US" dirty="0">
                <a:latin typeface="Courier" pitchFamily="2" charset="0"/>
              </a:rPr>
              <a:t>j</a:t>
            </a:r>
            <a:r>
              <a:rPr lang="en-US" dirty="0"/>
              <a:t> from right to left so long as </a:t>
            </a:r>
            <a:r>
              <a:rPr lang="en-US" dirty="0">
                <a:latin typeface="Courier" pitchFamily="2" charset="0"/>
              </a:rPr>
              <a:t>a[j] &gt; a[lo]</a:t>
            </a:r>
            <a:endParaRPr lang="en-US" dirty="0"/>
          </a:p>
          <a:p>
            <a:pPr lvl="2"/>
            <a:r>
              <a:rPr lang="en-US" dirty="0"/>
              <a:t>Swap </a:t>
            </a:r>
            <a:r>
              <a:rPr lang="en-US" dirty="0">
                <a:latin typeface="Courier" pitchFamily="2" charset="0"/>
              </a:rPr>
              <a:t>a[</a:t>
            </a:r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]</a:t>
            </a:r>
            <a:r>
              <a:rPr lang="en-US" dirty="0"/>
              <a:t> with </a:t>
            </a:r>
            <a:r>
              <a:rPr lang="en-US" dirty="0">
                <a:latin typeface="Courier" pitchFamily="2" charset="0"/>
              </a:rPr>
              <a:t>a[j]</a:t>
            </a:r>
          </a:p>
          <a:p>
            <a:pPr lvl="1"/>
            <a:r>
              <a:rPr lang="en-US" dirty="0"/>
              <a:t>Swap </a:t>
            </a:r>
            <a:r>
              <a:rPr lang="en-US" dirty="0">
                <a:latin typeface="Courier" pitchFamily="2" charset="0"/>
              </a:rPr>
              <a:t>a[lo]</a:t>
            </a:r>
            <a:r>
              <a:rPr lang="en-US" dirty="0"/>
              <a:t> with </a:t>
            </a:r>
            <a:r>
              <a:rPr lang="en-US" dirty="0">
                <a:latin typeface="Courier" pitchFamily="2" charset="0"/>
              </a:rPr>
              <a:t>a[j]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3D6CE6-1DF5-E848-9A65-3173961242C0}"/>
              </a:ext>
            </a:extLst>
          </p:cNvPr>
          <p:cNvSpPr txBox="1"/>
          <p:nvPr/>
        </p:nvSpPr>
        <p:spPr>
          <a:xfrm>
            <a:off x="514866" y="4608721"/>
            <a:ext cx="1616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Shuffled array</a:t>
            </a:r>
          </a:p>
        </p:txBody>
      </p:sp>
      <p:graphicFrame>
        <p:nvGraphicFramePr>
          <p:cNvPr id="5" name="Table 4" descr="Example of partitioning step">
            <a:extLst>
              <a:ext uri="{FF2B5EF4-FFF2-40B4-BE49-F238E27FC236}">
                <a16:creationId xmlns:a16="http://schemas.microsoft.com/office/drawing/2014/main" id="{42C05E23-942E-2244-8366-8CC75BA2F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768821"/>
              </p:ext>
            </p:extLst>
          </p:nvPr>
        </p:nvGraphicFramePr>
        <p:xfrm>
          <a:off x="2260129" y="4608721"/>
          <a:ext cx="76142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892">
                  <a:extLst>
                    <a:ext uri="{9D8B030D-6E8A-4147-A177-3AD203B41FA5}">
                      <a16:colId xmlns:a16="http://schemas.microsoft.com/office/drawing/2014/main" val="65869843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74900649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12073439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964471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89016621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99396144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87853970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99700770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2621522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198078057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51768647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016820933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1820849744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04852319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3126099021"/>
                    </a:ext>
                  </a:extLst>
                </a:gridCol>
                <a:gridCol w="475892">
                  <a:extLst>
                    <a:ext uri="{9D8B030D-6E8A-4147-A177-3AD203B41FA5}">
                      <a16:colId xmlns:a16="http://schemas.microsoft.com/office/drawing/2014/main" val="278048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85902"/>
                  </a:ext>
                </a:extLst>
              </a:tr>
            </a:tbl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400A3B98-0A54-4041-A445-C7FDD8AAD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637930" y="4993426"/>
            <a:ext cx="322524" cy="671676"/>
            <a:chOff x="9631909" y="4435129"/>
            <a:chExt cx="322524" cy="67167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2D5BBD-1BEE-D84F-A31F-FC4E6ECBAC3E}"/>
                </a:ext>
              </a:extLst>
            </p:cNvPr>
            <p:cNvSpPr txBox="1"/>
            <p:nvPr/>
          </p:nvSpPr>
          <p:spPr>
            <a:xfrm>
              <a:off x="9631909" y="4737473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ourier" pitchFamily="2" charset="0"/>
                </a:rPr>
                <a:t>j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AEB45A6-34C1-1341-9214-1513E944949A}"/>
                </a:ext>
              </a:extLst>
            </p:cNvPr>
            <p:cNvCxnSpPr/>
            <p:nvPr/>
          </p:nvCxnSpPr>
          <p:spPr>
            <a:xfrm flipV="1">
              <a:off x="9793171" y="4435129"/>
              <a:ext cx="0" cy="3429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A9854E6-29A0-B74A-96D3-093B42A25D02}"/>
              </a:ext>
            </a:extLst>
          </p:cNvPr>
          <p:cNvSpPr txBox="1"/>
          <p:nvPr/>
        </p:nvSpPr>
        <p:spPr>
          <a:xfrm>
            <a:off x="3727424" y="5665102"/>
            <a:ext cx="2143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a[j]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in position</a:t>
            </a:r>
          </a:p>
        </p:txBody>
      </p:sp>
    </p:spTree>
    <p:extLst>
      <p:ext uri="{BB962C8B-B14F-4D97-AF65-F5344CB8AC3E}">
        <p14:creationId xmlns:p14="http://schemas.microsoft.com/office/powerpoint/2010/main" val="3868523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23CE1-0F60-3442-9247-FE5D8A4D4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5FA2F-1541-8543-A3CD-F636D54EB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016842"/>
          </a:xfrm>
        </p:spPr>
        <p:txBody>
          <a:bodyPr/>
          <a:lstStyle/>
          <a:p>
            <a:r>
              <a:rPr lang="en-US" dirty="0"/>
              <a:t>Pseudocode – partition step</a:t>
            </a:r>
          </a:p>
          <a:p>
            <a:endParaRPr lang="en-US" dirty="0"/>
          </a:p>
        </p:txBody>
      </p:sp>
      <p:sp>
        <p:nvSpPr>
          <p:cNvPr id="4" name="TextBox 3" descr="pseudocode implementing partition()">
            <a:extLst>
              <a:ext uri="{FF2B5EF4-FFF2-40B4-BE49-F238E27FC236}">
                <a16:creationId xmlns:a16="http://schemas.microsoft.com/office/drawing/2014/main" id="{52B7ADF7-6044-3548-879F-E4683FF709FA}"/>
              </a:ext>
            </a:extLst>
          </p:cNvPr>
          <p:cNvSpPr txBox="1"/>
          <p:nvPr/>
        </p:nvSpPr>
        <p:spPr>
          <a:xfrm>
            <a:off x="710724" y="2080579"/>
            <a:ext cx="3946914" cy="4031873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partition(a[], lo, hi):</a:t>
            </a:r>
          </a:p>
          <a:p>
            <a:pPr lvl="1"/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 = lo;</a:t>
            </a:r>
          </a:p>
          <a:p>
            <a:pPr lvl="1"/>
            <a:r>
              <a:rPr lang="en-US" sz="1600" dirty="0">
                <a:latin typeface="Courier" pitchFamily="2" charset="0"/>
              </a:rPr>
              <a:t>j = hi+1;</a:t>
            </a:r>
          </a:p>
          <a:p>
            <a:pPr lvl="1"/>
            <a:r>
              <a:rPr lang="en-US" sz="1600" dirty="0">
                <a:latin typeface="Courier" pitchFamily="2" charset="0"/>
              </a:rPr>
              <a:t>p = a[lo]</a:t>
            </a:r>
          </a:p>
          <a:p>
            <a:pPr lvl="1"/>
            <a:r>
              <a:rPr lang="en-US" sz="1600" dirty="0">
                <a:latin typeface="Courier" pitchFamily="2" charset="0"/>
              </a:rPr>
              <a:t>while (true)</a:t>
            </a:r>
          </a:p>
          <a:p>
            <a:pPr lvl="1"/>
            <a:r>
              <a:rPr lang="en-US" sz="1600" dirty="0">
                <a:latin typeface="Courier" pitchFamily="2" charset="0"/>
              </a:rPr>
              <a:t>	while (a[++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] &lt; p) </a:t>
            </a:r>
          </a:p>
          <a:p>
            <a:pPr lvl="1"/>
            <a:r>
              <a:rPr lang="en-US" sz="1600" dirty="0">
                <a:latin typeface="Courier" pitchFamily="2" charset="0"/>
              </a:rPr>
              <a:t>	    if (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 == hi) break;</a:t>
            </a:r>
          </a:p>
          <a:p>
            <a:pPr lvl="1"/>
            <a:endParaRPr lang="en-US" sz="1600" dirty="0">
              <a:latin typeface="Courier" pitchFamily="2" charset="0"/>
            </a:endParaRPr>
          </a:p>
          <a:p>
            <a:pPr lvl="1"/>
            <a:r>
              <a:rPr lang="en-US" sz="1600" dirty="0">
                <a:latin typeface="Courier" pitchFamily="2" charset="0"/>
              </a:rPr>
              <a:t>	while (p &lt; a[--j]) </a:t>
            </a:r>
          </a:p>
          <a:p>
            <a:pPr lvl="1"/>
            <a:r>
              <a:rPr lang="en-US" sz="1600" dirty="0">
                <a:latin typeface="Courier" pitchFamily="2" charset="0"/>
              </a:rPr>
              <a:t>	    if (j == lo) break;</a:t>
            </a:r>
          </a:p>
          <a:p>
            <a:pPr lvl="1"/>
            <a:endParaRPr lang="en-US" sz="1600" dirty="0">
              <a:latin typeface="Courier" pitchFamily="2" charset="0"/>
            </a:endParaRPr>
          </a:p>
          <a:p>
            <a:pPr lvl="1"/>
            <a:r>
              <a:rPr lang="en-US" sz="1600" dirty="0">
                <a:latin typeface="Courier" pitchFamily="2" charset="0"/>
              </a:rPr>
              <a:t>	if (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 &gt;= j) break;</a:t>
            </a:r>
          </a:p>
          <a:p>
            <a:pPr lvl="1"/>
            <a:r>
              <a:rPr lang="en-US" sz="1600" dirty="0">
                <a:latin typeface="Courier" pitchFamily="2" charset="0"/>
              </a:rPr>
              <a:t>	swap(a[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], a[j]);</a:t>
            </a:r>
          </a:p>
          <a:p>
            <a:pPr lvl="1"/>
            <a:endParaRPr lang="en-US" sz="1600" dirty="0">
              <a:latin typeface="Courier" pitchFamily="2" charset="0"/>
            </a:endParaRPr>
          </a:p>
          <a:p>
            <a:pPr lvl="1"/>
            <a:r>
              <a:rPr lang="en-US" sz="1600" dirty="0">
                <a:latin typeface="Courier" pitchFamily="2" charset="0"/>
              </a:rPr>
              <a:t>swap(a[lo], a[j]);</a:t>
            </a:r>
          </a:p>
          <a:p>
            <a:pPr lvl="1"/>
            <a:r>
              <a:rPr lang="en-US" sz="1600" dirty="0">
                <a:latin typeface="Courier" pitchFamily="2" charset="0"/>
              </a:rPr>
              <a:t>return j;</a:t>
            </a:r>
          </a:p>
        </p:txBody>
      </p:sp>
      <p:grpSp>
        <p:nvGrpSpPr>
          <p:cNvPr id="13" name="Group 12" descr="highglighting second while loop (scanning right to left)">
            <a:extLst>
              <a:ext uri="{FF2B5EF4-FFF2-40B4-BE49-F238E27FC236}">
                <a16:creationId xmlns:a16="http://schemas.microsoft.com/office/drawing/2014/main" id="{13813CE9-5918-E24B-B551-B9530FF403D2}"/>
              </a:ext>
            </a:extLst>
          </p:cNvPr>
          <p:cNvGrpSpPr/>
          <p:nvPr/>
        </p:nvGrpSpPr>
        <p:grpSpPr>
          <a:xfrm>
            <a:off x="1659468" y="4081473"/>
            <a:ext cx="6351867" cy="485693"/>
            <a:chOff x="1659468" y="4081473"/>
            <a:chExt cx="6351867" cy="48569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076A78F-7F71-3548-B4BF-F1C50837D5E9}"/>
                </a:ext>
              </a:extLst>
            </p:cNvPr>
            <p:cNvSpPr/>
            <p:nvPr/>
          </p:nvSpPr>
          <p:spPr>
            <a:xfrm>
              <a:off x="1659468" y="4081473"/>
              <a:ext cx="3200400" cy="48569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3462CE8-2E7D-B649-B319-AABB2BCB5CD9}"/>
                </a:ext>
              </a:extLst>
            </p:cNvPr>
            <p:cNvSpPr txBox="1"/>
            <p:nvPr/>
          </p:nvSpPr>
          <p:spPr>
            <a:xfrm>
              <a:off x="4877144" y="4140174"/>
              <a:ext cx="31341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find item on the right to swap</a:t>
              </a:r>
            </a:p>
          </p:txBody>
        </p:sp>
      </p:grpSp>
      <p:grpSp>
        <p:nvGrpSpPr>
          <p:cNvPr id="12" name="Group 11" descr="highglighting first while loop (scanning left to right)">
            <a:extLst>
              <a:ext uri="{FF2B5EF4-FFF2-40B4-BE49-F238E27FC236}">
                <a16:creationId xmlns:a16="http://schemas.microsoft.com/office/drawing/2014/main" id="{14CAE753-A3A6-7145-A0B8-F3D2E6EEBE73}"/>
              </a:ext>
            </a:extLst>
          </p:cNvPr>
          <p:cNvGrpSpPr/>
          <p:nvPr/>
        </p:nvGrpSpPr>
        <p:grpSpPr>
          <a:xfrm>
            <a:off x="1659468" y="3333779"/>
            <a:ext cx="6188345" cy="541604"/>
            <a:chOff x="1659468" y="3333779"/>
            <a:chExt cx="6188345" cy="54160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434CCD4-B93B-EA44-A8A0-0894C72C13F5}"/>
                </a:ext>
              </a:extLst>
            </p:cNvPr>
            <p:cNvSpPr/>
            <p:nvPr/>
          </p:nvSpPr>
          <p:spPr>
            <a:xfrm>
              <a:off x="1659468" y="3333779"/>
              <a:ext cx="3200400" cy="54160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0674960-7ECF-324C-8928-AE7DA198E85A}"/>
                </a:ext>
              </a:extLst>
            </p:cNvPr>
            <p:cNvSpPr txBox="1"/>
            <p:nvPr/>
          </p:nvSpPr>
          <p:spPr>
            <a:xfrm>
              <a:off x="4854686" y="3417358"/>
              <a:ext cx="2993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find item on the left to swap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4145FA3-6E3A-DF48-972C-29B804B2775D}"/>
              </a:ext>
            </a:extLst>
          </p:cNvPr>
          <p:cNvSpPr txBox="1"/>
          <p:nvPr/>
        </p:nvSpPr>
        <p:spPr>
          <a:xfrm>
            <a:off x="4854686" y="4744692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check if pointers crossed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swap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21E1F3-0362-BE44-86A2-E862FA08B729}"/>
              </a:ext>
            </a:extLst>
          </p:cNvPr>
          <p:cNvSpPr txBox="1"/>
          <p:nvPr/>
        </p:nvSpPr>
        <p:spPr>
          <a:xfrm>
            <a:off x="4877144" y="5445925"/>
            <a:ext cx="49039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put the pivot element in place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return index of item now known to be in place</a:t>
            </a:r>
          </a:p>
        </p:txBody>
      </p:sp>
    </p:spTree>
    <p:extLst>
      <p:ext uri="{BB962C8B-B14F-4D97-AF65-F5344CB8AC3E}">
        <p14:creationId xmlns:p14="http://schemas.microsoft.com/office/powerpoint/2010/main" val="4133452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23CE1-0F60-3442-9247-FE5D8A4D4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5FA2F-1541-8543-A3CD-F636D54EB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Pseudocode – partition step</a:t>
            </a:r>
          </a:p>
          <a:p>
            <a:endParaRPr lang="en-US" dirty="0"/>
          </a:p>
        </p:txBody>
      </p:sp>
      <p:sp>
        <p:nvSpPr>
          <p:cNvPr id="4" name="TextBox 3" descr="pseudocode implementing partition()">
            <a:extLst>
              <a:ext uri="{FF2B5EF4-FFF2-40B4-BE49-F238E27FC236}">
                <a16:creationId xmlns:a16="http://schemas.microsoft.com/office/drawing/2014/main" id="{52B7ADF7-6044-3548-879F-E4683FF709FA}"/>
              </a:ext>
            </a:extLst>
          </p:cNvPr>
          <p:cNvSpPr txBox="1"/>
          <p:nvPr/>
        </p:nvSpPr>
        <p:spPr>
          <a:xfrm>
            <a:off x="710724" y="2080579"/>
            <a:ext cx="4070345" cy="4031873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partition(a[], lo, hi):</a:t>
            </a:r>
          </a:p>
          <a:p>
            <a:pPr lvl="1"/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 = lo;</a:t>
            </a:r>
          </a:p>
          <a:p>
            <a:pPr lvl="1"/>
            <a:r>
              <a:rPr lang="en-US" sz="1600" dirty="0">
                <a:latin typeface="Courier" pitchFamily="2" charset="0"/>
              </a:rPr>
              <a:t>j = hi+1;</a:t>
            </a:r>
          </a:p>
          <a:p>
            <a:pPr lvl="1"/>
            <a:r>
              <a:rPr lang="en-US" sz="1600" dirty="0">
                <a:latin typeface="Courier" pitchFamily="2" charset="0"/>
              </a:rPr>
              <a:t>p = a[lo]</a:t>
            </a:r>
          </a:p>
          <a:p>
            <a:pPr lvl="1"/>
            <a:r>
              <a:rPr lang="en-US" sz="1600" dirty="0">
                <a:latin typeface="Courier" pitchFamily="2" charset="0"/>
              </a:rPr>
              <a:t>while (true)</a:t>
            </a:r>
          </a:p>
          <a:p>
            <a:pPr lvl="1"/>
            <a:r>
              <a:rPr lang="en-US" sz="1600" dirty="0">
                <a:latin typeface="Courier" pitchFamily="2" charset="0"/>
              </a:rPr>
              <a:t>	while (a[++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] &lt; p) </a:t>
            </a:r>
          </a:p>
          <a:p>
            <a:pPr lvl="1"/>
            <a:r>
              <a:rPr lang="en-US" sz="1600" dirty="0">
                <a:latin typeface="Courier" pitchFamily="2" charset="0"/>
              </a:rPr>
              <a:t>	    if (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 == hi) break;</a:t>
            </a:r>
          </a:p>
          <a:p>
            <a:pPr lvl="1"/>
            <a:endParaRPr lang="en-US" sz="1600" dirty="0">
              <a:latin typeface="Courier" pitchFamily="2" charset="0"/>
            </a:endParaRPr>
          </a:p>
          <a:p>
            <a:pPr lvl="1"/>
            <a:r>
              <a:rPr lang="en-US" sz="1600" dirty="0">
                <a:latin typeface="Courier" pitchFamily="2" charset="0"/>
              </a:rPr>
              <a:t>	while (p &lt; a[--j]) </a:t>
            </a:r>
          </a:p>
          <a:p>
            <a:pPr lvl="1"/>
            <a:r>
              <a:rPr lang="en-US" sz="1600" dirty="0">
                <a:latin typeface="Courier" pitchFamily="2" charset="0"/>
              </a:rPr>
              <a:t>	    if (j == lo) break;</a:t>
            </a:r>
          </a:p>
          <a:p>
            <a:pPr lvl="1"/>
            <a:endParaRPr lang="en-US" sz="1600" dirty="0">
              <a:latin typeface="Courier" pitchFamily="2" charset="0"/>
            </a:endParaRPr>
          </a:p>
          <a:p>
            <a:pPr lvl="1"/>
            <a:r>
              <a:rPr lang="en-US" sz="1600" dirty="0">
                <a:latin typeface="Courier" pitchFamily="2" charset="0"/>
              </a:rPr>
              <a:t>	if (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 &gt;= j) break;</a:t>
            </a:r>
          </a:p>
          <a:p>
            <a:pPr lvl="1"/>
            <a:r>
              <a:rPr lang="en-US" sz="1600" dirty="0">
                <a:latin typeface="Courier" pitchFamily="2" charset="0"/>
              </a:rPr>
              <a:t>	swap(a[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], a[j]);</a:t>
            </a:r>
          </a:p>
          <a:p>
            <a:pPr lvl="1"/>
            <a:endParaRPr lang="en-US" sz="1600" dirty="0">
              <a:latin typeface="Courier" pitchFamily="2" charset="0"/>
            </a:endParaRPr>
          </a:p>
          <a:p>
            <a:pPr lvl="1"/>
            <a:r>
              <a:rPr lang="en-US" sz="1600" dirty="0">
                <a:latin typeface="Courier" pitchFamily="2" charset="0"/>
              </a:rPr>
              <a:t>swap(a[lo], a[j]);</a:t>
            </a:r>
          </a:p>
          <a:p>
            <a:pPr lvl="1"/>
            <a:r>
              <a:rPr lang="en-US" sz="1600" dirty="0">
                <a:latin typeface="Courier" pitchFamily="2" charset="0"/>
              </a:rPr>
              <a:t>return j;</a:t>
            </a:r>
          </a:p>
        </p:txBody>
      </p:sp>
      <p:grpSp>
        <p:nvGrpSpPr>
          <p:cNvPr id="34" name="Group 33" descr="state of array before partition">
            <a:extLst>
              <a:ext uri="{FF2B5EF4-FFF2-40B4-BE49-F238E27FC236}">
                <a16:creationId xmlns:a16="http://schemas.microsoft.com/office/drawing/2014/main" id="{CF491404-F9F2-FE40-B172-1197D2612710}"/>
              </a:ext>
            </a:extLst>
          </p:cNvPr>
          <p:cNvGrpSpPr/>
          <p:nvPr/>
        </p:nvGrpSpPr>
        <p:grpSpPr>
          <a:xfrm>
            <a:off x="6887492" y="2215632"/>
            <a:ext cx="4864422" cy="1147925"/>
            <a:chOff x="6882904" y="2523067"/>
            <a:chExt cx="4864422" cy="114792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752E8D0-0FCE-A94E-BD98-612BBD7FA46E}"/>
                </a:ext>
              </a:extLst>
            </p:cNvPr>
            <p:cNvSpPr/>
            <p:nvPr/>
          </p:nvSpPr>
          <p:spPr>
            <a:xfrm>
              <a:off x="7738533" y="2523067"/>
              <a:ext cx="3938601" cy="440266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56C679C-B3E4-174F-9981-EC798CCBC7D8}"/>
                </a:ext>
              </a:extLst>
            </p:cNvPr>
            <p:cNvCxnSpPr/>
            <p:nvPr/>
          </p:nvCxnSpPr>
          <p:spPr>
            <a:xfrm>
              <a:off x="8161868" y="2523067"/>
              <a:ext cx="0" cy="44026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FD66744-CA7B-D549-A9E1-F97E0492711A}"/>
                </a:ext>
              </a:extLst>
            </p:cNvPr>
            <p:cNvSpPr txBox="1"/>
            <p:nvPr/>
          </p:nvSpPr>
          <p:spPr>
            <a:xfrm>
              <a:off x="6882904" y="2560135"/>
              <a:ext cx="838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before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ECE7134-E951-4A40-B9F8-6BE210193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7783146" y="2963333"/>
              <a:ext cx="460382" cy="671676"/>
              <a:chOff x="9631909" y="4435129"/>
              <a:chExt cx="460382" cy="671676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CC3541C-78B9-F440-96E7-A0EE84350121}"/>
                  </a:ext>
                </a:extLst>
              </p:cNvPr>
              <p:cNvSpPr txBox="1"/>
              <p:nvPr/>
            </p:nvSpPr>
            <p:spPr>
              <a:xfrm>
                <a:off x="9631909" y="4737473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Courier" pitchFamily="2" charset="0"/>
                  </a:rPr>
                  <a:t>lo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212D9746-7DA5-2942-A587-5B4440931CF7}"/>
                  </a:ext>
                </a:extLst>
              </p:cNvPr>
              <p:cNvCxnSpPr/>
              <p:nvPr/>
            </p:nvCxnSpPr>
            <p:spPr>
              <a:xfrm flipV="1">
                <a:off x="9793171" y="4435129"/>
                <a:ext cx="0" cy="342900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C536ABF-9EB0-8440-BB7B-8B8E6DB48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11286944" y="2999316"/>
              <a:ext cx="460382" cy="671676"/>
              <a:chOff x="9631909" y="4435129"/>
              <a:chExt cx="460382" cy="671676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55EE117-8FCF-9649-98BA-B04092384C11}"/>
                  </a:ext>
                </a:extLst>
              </p:cNvPr>
              <p:cNvSpPr txBox="1"/>
              <p:nvPr/>
            </p:nvSpPr>
            <p:spPr>
              <a:xfrm>
                <a:off x="9631909" y="4737473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Courier" pitchFamily="2" charset="0"/>
                  </a:rPr>
                  <a:t>hi</a:t>
                </a:r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E4512D4C-7676-384A-A54B-162AF2B3546D}"/>
                  </a:ext>
                </a:extLst>
              </p:cNvPr>
              <p:cNvCxnSpPr/>
              <p:nvPr/>
            </p:nvCxnSpPr>
            <p:spPr>
              <a:xfrm flipV="1">
                <a:off x="9793171" y="4435129"/>
                <a:ext cx="0" cy="342900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EB8FA6D-3799-D94E-B85B-345E73CE2CF5}"/>
                </a:ext>
              </a:extLst>
            </p:cNvPr>
            <p:cNvSpPr txBox="1"/>
            <p:nvPr/>
          </p:nvSpPr>
          <p:spPr>
            <a:xfrm>
              <a:off x="7801118" y="2553271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ourier" pitchFamily="2" charset="0"/>
                </a:rPr>
                <a:t>p</a:t>
              </a:r>
            </a:p>
          </p:txBody>
        </p:sp>
      </p:grpSp>
      <p:grpSp>
        <p:nvGrpSpPr>
          <p:cNvPr id="50" name="Group 49" descr="state of array during partition">
            <a:extLst>
              <a:ext uri="{FF2B5EF4-FFF2-40B4-BE49-F238E27FC236}">
                <a16:creationId xmlns:a16="http://schemas.microsoft.com/office/drawing/2014/main" id="{E1034054-10C5-2741-A96C-C5DE32B507D0}"/>
              </a:ext>
            </a:extLst>
          </p:cNvPr>
          <p:cNvGrpSpPr/>
          <p:nvPr/>
        </p:nvGrpSpPr>
        <p:grpSpPr>
          <a:xfrm>
            <a:off x="6903831" y="3891029"/>
            <a:ext cx="4773303" cy="1172625"/>
            <a:chOff x="6903831" y="3891029"/>
            <a:chExt cx="4773303" cy="117262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0764E32-B4F3-9B43-9F29-4F327AB41C6A}"/>
                </a:ext>
              </a:extLst>
            </p:cNvPr>
            <p:cNvSpPr/>
            <p:nvPr/>
          </p:nvSpPr>
          <p:spPr>
            <a:xfrm>
              <a:off x="7738533" y="3891029"/>
              <a:ext cx="3938601" cy="440266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CF0906B-8090-A248-B107-A47E6115DF96}"/>
                </a:ext>
              </a:extLst>
            </p:cNvPr>
            <p:cNvCxnSpPr/>
            <p:nvPr/>
          </p:nvCxnSpPr>
          <p:spPr>
            <a:xfrm>
              <a:off x="8161868" y="3891029"/>
              <a:ext cx="0" cy="44026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543309C-A54E-D044-A2E1-B466CB8928DF}"/>
                </a:ext>
              </a:extLst>
            </p:cNvPr>
            <p:cNvCxnSpPr/>
            <p:nvPr/>
          </p:nvCxnSpPr>
          <p:spPr>
            <a:xfrm>
              <a:off x="9008533" y="3891029"/>
              <a:ext cx="0" cy="44026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9C77527-CDB1-D348-B0CD-D8C86765B20B}"/>
                </a:ext>
              </a:extLst>
            </p:cNvPr>
            <p:cNvCxnSpPr/>
            <p:nvPr/>
          </p:nvCxnSpPr>
          <p:spPr>
            <a:xfrm>
              <a:off x="10634133" y="3891029"/>
              <a:ext cx="0" cy="44026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7F96579-1A25-1243-B568-D104B7A30666}"/>
                </a:ext>
              </a:extLst>
            </p:cNvPr>
            <p:cNvSpPr txBox="1"/>
            <p:nvPr/>
          </p:nvSpPr>
          <p:spPr>
            <a:xfrm>
              <a:off x="6903831" y="3914826"/>
              <a:ext cx="825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during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20D953A-E605-084E-A91B-E28D597C5D26}"/>
                </a:ext>
              </a:extLst>
            </p:cNvPr>
            <p:cNvSpPr txBox="1"/>
            <p:nvPr/>
          </p:nvSpPr>
          <p:spPr>
            <a:xfrm>
              <a:off x="10403942" y="469432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ourier" pitchFamily="2" charset="0"/>
                </a:rPr>
                <a:t>j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97DD076A-7A87-7145-B5AE-5C19AE317BC0}"/>
                </a:ext>
              </a:extLst>
            </p:cNvPr>
            <p:cNvCxnSpPr/>
            <p:nvPr/>
          </p:nvCxnSpPr>
          <p:spPr>
            <a:xfrm flipV="1">
              <a:off x="10565204" y="4391978"/>
              <a:ext cx="0" cy="3429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E1AC00D-AE6B-FA49-93CB-53D49BC1B0CC}"/>
                </a:ext>
              </a:extLst>
            </p:cNvPr>
            <p:cNvSpPr txBox="1"/>
            <p:nvPr/>
          </p:nvSpPr>
          <p:spPr>
            <a:xfrm>
              <a:off x="8930742" y="466001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FF0000"/>
                  </a:solidFill>
                  <a:latin typeface="Courier" pitchFamily="2" charset="0"/>
                </a:rPr>
                <a:t>i</a:t>
              </a:r>
              <a:endParaRPr lang="en-US" dirty="0">
                <a:solidFill>
                  <a:srgbClr val="FF0000"/>
                </a:solidFill>
                <a:latin typeface="Courier" pitchFamily="2" charset="0"/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79CFB20-01E3-DB4E-9778-553232503790}"/>
                </a:ext>
              </a:extLst>
            </p:cNvPr>
            <p:cNvCxnSpPr/>
            <p:nvPr/>
          </p:nvCxnSpPr>
          <p:spPr>
            <a:xfrm flipV="1">
              <a:off x="9092004" y="4357668"/>
              <a:ext cx="0" cy="3429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FC4EA43-6AEA-1F45-854F-21C50A0CA714}"/>
                </a:ext>
              </a:extLst>
            </p:cNvPr>
            <p:cNvSpPr txBox="1"/>
            <p:nvPr/>
          </p:nvSpPr>
          <p:spPr>
            <a:xfrm>
              <a:off x="7805706" y="3914826"/>
              <a:ext cx="34932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ourier" pitchFamily="2" charset="0"/>
                </a:rPr>
                <a:t>p   &lt;=p              &gt;=p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D6A5B7F-B92F-414C-A263-72D25664B514}"/>
                </a:ext>
              </a:extLst>
            </p:cNvPr>
            <p:cNvSpPr/>
            <p:nvPr/>
          </p:nvSpPr>
          <p:spPr>
            <a:xfrm>
              <a:off x="9008533" y="3914826"/>
              <a:ext cx="1625600" cy="416469"/>
            </a:xfrm>
            <a:prstGeom prst="rect">
              <a:avLst/>
            </a:prstGeom>
            <a:solidFill>
              <a:schemeClr val="bg1">
                <a:lumMod val="50000"/>
                <a:alpha val="5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 descr="state of array after partition">
            <a:extLst>
              <a:ext uri="{FF2B5EF4-FFF2-40B4-BE49-F238E27FC236}">
                <a16:creationId xmlns:a16="http://schemas.microsoft.com/office/drawing/2014/main" id="{290BCDC7-DCD5-F742-A28C-E964F91ACAB6}"/>
              </a:ext>
            </a:extLst>
          </p:cNvPr>
          <p:cNvGrpSpPr/>
          <p:nvPr/>
        </p:nvGrpSpPr>
        <p:grpSpPr>
          <a:xfrm>
            <a:off x="7000484" y="5358759"/>
            <a:ext cx="4751430" cy="1134266"/>
            <a:chOff x="7075264" y="5313404"/>
            <a:chExt cx="4751430" cy="113426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4D0EF79-1713-5045-A9AB-FBFFC833D24B}"/>
                </a:ext>
              </a:extLst>
            </p:cNvPr>
            <p:cNvSpPr/>
            <p:nvPr/>
          </p:nvSpPr>
          <p:spPr>
            <a:xfrm>
              <a:off x="7738533" y="5313404"/>
              <a:ext cx="3938601" cy="440266"/>
            </a:xfrm>
            <a:prstGeom prst="rect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08E5F82-C7A1-B049-A84A-E4CF30AF5678}"/>
                </a:ext>
              </a:extLst>
            </p:cNvPr>
            <p:cNvCxnSpPr/>
            <p:nvPr/>
          </p:nvCxnSpPr>
          <p:spPr>
            <a:xfrm>
              <a:off x="9160933" y="5313404"/>
              <a:ext cx="0" cy="44026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57A03D2-A884-794C-8231-558C9D07C2CD}"/>
                </a:ext>
              </a:extLst>
            </p:cNvPr>
            <p:cNvCxnSpPr/>
            <p:nvPr/>
          </p:nvCxnSpPr>
          <p:spPr>
            <a:xfrm>
              <a:off x="9533468" y="5313404"/>
              <a:ext cx="0" cy="44026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1E12C66-DC58-5F4A-8F17-1D1619709DD8}"/>
                </a:ext>
              </a:extLst>
            </p:cNvPr>
            <p:cNvSpPr txBox="1"/>
            <p:nvPr/>
          </p:nvSpPr>
          <p:spPr>
            <a:xfrm>
              <a:off x="7075264" y="5348871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after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5C8B60E-D6CA-C64C-B553-07BC1BDE7001}"/>
                </a:ext>
              </a:extLst>
            </p:cNvPr>
            <p:cNvSpPr txBox="1"/>
            <p:nvPr/>
          </p:nvSpPr>
          <p:spPr>
            <a:xfrm>
              <a:off x="7763754" y="6037782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ourier" pitchFamily="2" charset="0"/>
                </a:rPr>
                <a:t>lo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DD2538AA-AEBB-DF48-B777-EA7EB94723CA}"/>
                </a:ext>
              </a:extLst>
            </p:cNvPr>
            <p:cNvCxnSpPr/>
            <p:nvPr/>
          </p:nvCxnSpPr>
          <p:spPr>
            <a:xfrm flipV="1">
              <a:off x="7925016" y="5735438"/>
              <a:ext cx="0" cy="3429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4048A0D-7E16-FC4D-8DDC-DEB73297FCF8}"/>
                </a:ext>
              </a:extLst>
            </p:cNvPr>
            <p:cNvSpPr txBox="1"/>
            <p:nvPr/>
          </p:nvSpPr>
          <p:spPr>
            <a:xfrm>
              <a:off x="11366312" y="6078338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ourier" pitchFamily="2" charset="0"/>
                </a:rPr>
                <a:t>hi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DDCAB972-C34E-174F-9E70-AA2B52485BDC}"/>
                </a:ext>
              </a:extLst>
            </p:cNvPr>
            <p:cNvCxnSpPr/>
            <p:nvPr/>
          </p:nvCxnSpPr>
          <p:spPr>
            <a:xfrm flipV="1">
              <a:off x="11527574" y="5775994"/>
              <a:ext cx="0" cy="3429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E8D422D-6082-EA41-8913-9A5A87AD908B}"/>
                </a:ext>
              </a:extLst>
            </p:cNvPr>
            <p:cNvSpPr txBox="1"/>
            <p:nvPr/>
          </p:nvSpPr>
          <p:spPr>
            <a:xfrm>
              <a:off x="9230807" y="603778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ourier" pitchFamily="2" charset="0"/>
                </a:rPr>
                <a:t>j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0FF92024-770D-394C-9AE2-DCFC4AF0628F}"/>
                </a:ext>
              </a:extLst>
            </p:cNvPr>
            <p:cNvCxnSpPr/>
            <p:nvPr/>
          </p:nvCxnSpPr>
          <p:spPr>
            <a:xfrm flipV="1">
              <a:off x="9392069" y="5735438"/>
              <a:ext cx="0" cy="3429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1B56031-9773-9744-BCC3-63118E946E1C}"/>
                </a:ext>
              </a:extLst>
            </p:cNvPr>
            <p:cNvSpPr txBox="1"/>
            <p:nvPr/>
          </p:nvSpPr>
          <p:spPr>
            <a:xfrm>
              <a:off x="7813313" y="5322524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ourier" pitchFamily="2" charset="0"/>
                </a:rPr>
                <a:t>  &lt;=p     p       &gt;=p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8497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23CE1-0F60-3442-9247-FE5D8A4D4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5FA2F-1541-8543-A3CD-F636D54EB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Pseudocode – recursive call</a:t>
            </a:r>
          </a:p>
          <a:p>
            <a:endParaRPr lang="en-US" dirty="0"/>
          </a:p>
        </p:txBody>
      </p:sp>
      <p:sp>
        <p:nvSpPr>
          <p:cNvPr id="48" name="TextBox 47" descr="pseudocode implementing recursive sort()">
            <a:extLst>
              <a:ext uri="{FF2B5EF4-FFF2-40B4-BE49-F238E27FC236}">
                <a16:creationId xmlns:a16="http://schemas.microsoft.com/office/drawing/2014/main" id="{ADC7D64C-0473-234E-92C8-5C2849806BA6}"/>
              </a:ext>
            </a:extLst>
          </p:cNvPr>
          <p:cNvSpPr txBox="1"/>
          <p:nvPr/>
        </p:nvSpPr>
        <p:spPr>
          <a:xfrm>
            <a:off x="514866" y="2099256"/>
            <a:ext cx="3732112" cy="1815882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sort(a[], lo, hi):</a:t>
            </a:r>
          </a:p>
          <a:p>
            <a:pPr lvl="1"/>
            <a:r>
              <a:rPr lang="en-US" sz="1600" dirty="0">
                <a:latin typeface="Courier" pitchFamily="2" charset="0"/>
              </a:rPr>
              <a:t>if (hi &lt;= lo) return;</a:t>
            </a:r>
          </a:p>
          <a:p>
            <a:pPr lvl="1"/>
            <a:endParaRPr lang="en-US" sz="1600" dirty="0">
              <a:latin typeface="Courier" pitchFamily="2" charset="0"/>
            </a:endParaRPr>
          </a:p>
          <a:p>
            <a:pPr lvl="1"/>
            <a:r>
              <a:rPr lang="en-US" sz="1600" dirty="0">
                <a:latin typeface="Courier" pitchFamily="2" charset="0"/>
              </a:rPr>
              <a:t>j = partition(a, lo, hi);</a:t>
            </a:r>
          </a:p>
          <a:p>
            <a:pPr lvl="1"/>
            <a:endParaRPr lang="en-US" sz="1600" dirty="0">
              <a:latin typeface="Courier" pitchFamily="2" charset="0"/>
            </a:endParaRPr>
          </a:p>
          <a:p>
            <a:pPr lvl="1"/>
            <a:r>
              <a:rPr lang="en-US" sz="1600" dirty="0">
                <a:latin typeface="Courier" pitchFamily="2" charset="0"/>
              </a:rPr>
              <a:t>sort(a, </a:t>
            </a:r>
            <a:r>
              <a:rPr lang="en-US" sz="1600" dirty="0">
                <a:solidFill>
                  <a:srgbClr val="FF0000"/>
                </a:solidFill>
                <a:latin typeface="Courier" pitchFamily="2" charset="0"/>
              </a:rPr>
              <a:t>lo, j-1</a:t>
            </a:r>
            <a:r>
              <a:rPr lang="en-US" sz="1600" dirty="0">
                <a:latin typeface="Courier" pitchFamily="2" charset="0"/>
              </a:rPr>
              <a:t>);</a:t>
            </a:r>
          </a:p>
          <a:p>
            <a:pPr lvl="1"/>
            <a:r>
              <a:rPr lang="en-US" sz="1600" dirty="0">
                <a:latin typeface="Courier" pitchFamily="2" charset="0"/>
              </a:rPr>
              <a:t>sort(a, </a:t>
            </a:r>
            <a:r>
              <a:rPr lang="en-US" sz="1600" dirty="0">
                <a:solidFill>
                  <a:srgbClr val="FF0000"/>
                </a:solidFill>
                <a:latin typeface="Courier" pitchFamily="2" charset="0"/>
              </a:rPr>
              <a:t>j+1, hi</a:t>
            </a:r>
            <a:r>
              <a:rPr lang="en-US" sz="1600" dirty="0">
                <a:latin typeface="Courier" pitchFamily="2" charset="0"/>
              </a:rPr>
              <a:t>);</a:t>
            </a:r>
          </a:p>
        </p:txBody>
      </p:sp>
      <p:sp>
        <p:nvSpPr>
          <p:cNvPr id="51" name="TextBox 50" descr="pseudocode calling sort() for the first time, after performing random shuffling">
            <a:extLst>
              <a:ext uri="{FF2B5EF4-FFF2-40B4-BE49-F238E27FC236}">
                <a16:creationId xmlns:a16="http://schemas.microsoft.com/office/drawing/2014/main" id="{B0E68B3A-2F9B-8B43-948B-B1C8342E68D1}"/>
              </a:ext>
            </a:extLst>
          </p:cNvPr>
          <p:cNvSpPr txBox="1"/>
          <p:nvPr/>
        </p:nvSpPr>
        <p:spPr>
          <a:xfrm>
            <a:off x="514866" y="4546742"/>
            <a:ext cx="3978974" cy="58477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" pitchFamily="2" charset="0"/>
              </a:rPr>
              <a:t>randomShuffle</a:t>
            </a:r>
            <a:r>
              <a:rPr lang="en-US" sz="1600" dirty="0">
                <a:latin typeface="Courier" pitchFamily="2" charset="0"/>
              </a:rPr>
              <a:t>(a);</a:t>
            </a:r>
          </a:p>
          <a:p>
            <a:r>
              <a:rPr lang="en-US" sz="1600" dirty="0">
                <a:latin typeface="Courier" pitchFamily="2" charset="0"/>
              </a:rPr>
              <a:t>sort(a, 0, a.length-1);</a:t>
            </a:r>
          </a:p>
        </p:txBody>
      </p:sp>
    </p:spTree>
    <p:extLst>
      <p:ext uri="{BB962C8B-B14F-4D97-AF65-F5344CB8AC3E}">
        <p14:creationId xmlns:p14="http://schemas.microsoft.com/office/powerpoint/2010/main" val="1469200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23CE1-0F60-3442-9247-FE5D8A4D4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5FA2F-1541-8543-A3CD-F636D54EB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Pseudocode – recursive call</a:t>
            </a:r>
          </a:p>
          <a:p>
            <a:endParaRPr lang="en-US" dirty="0"/>
          </a:p>
        </p:txBody>
      </p:sp>
      <p:sp>
        <p:nvSpPr>
          <p:cNvPr id="48" name="TextBox 47" descr="pseudocode implementing recursive sort()">
            <a:extLst>
              <a:ext uri="{FF2B5EF4-FFF2-40B4-BE49-F238E27FC236}">
                <a16:creationId xmlns:a16="http://schemas.microsoft.com/office/drawing/2014/main" id="{ADC7D64C-0473-234E-92C8-5C2849806BA6}"/>
              </a:ext>
            </a:extLst>
          </p:cNvPr>
          <p:cNvSpPr txBox="1"/>
          <p:nvPr/>
        </p:nvSpPr>
        <p:spPr>
          <a:xfrm>
            <a:off x="514866" y="2099256"/>
            <a:ext cx="3732112" cy="1815882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sort(a[], lo, hi):</a:t>
            </a:r>
          </a:p>
          <a:p>
            <a:pPr lvl="1"/>
            <a:r>
              <a:rPr lang="en-US" sz="1600" dirty="0">
                <a:latin typeface="Courier" pitchFamily="2" charset="0"/>
              </a:rPr>
              <a:t>if (hi &lt;= lo) return;</a:t>
            </a:r>
          </a:p>
          <a:p>
            <a:pPr lvl="1"/>
            <a:endParaRPr lang="en-US" sz="1600" dirty="0">
              <a:latin typeface="Courier" pitchFamily="2" charset="0"/>
            </a:endParaRPr>
          </a:p>
          <a:p>
            <a:pPr lvl="1"/>
            <a:r>
              <a:rPr lang="en-US" sz="1600" dirty="0">
                <a:latin typeface="Courier" pitchFamily="2" charset="0"/>
              </a:rPr>
              <a:t>j = partition(a, lo, hi);</a:t>
            </a:r>
          </a:p>
          <a:p>
            <a:pPr lvl="1"/>
            <a:endParaRPr lang="en-US" sz="1600" dirty="0">
              <a:latin typeface="Courier" pitchFamily="2" charset="0"/>
            </a:endParaRPr>
          </a:p>
          <a:p>
            <a:pPr lvl="1"/>
            <a:r>
              <a:rPr lang="en-US" sz="1600" dirty="0">
                <a:latin typeface="Courier" pitchFamily="2" charset="0"/>
              </a:rPr>
              <a:t>sort(a, </a:t>
            </a:r>
            <a:r>
              <a:rPr lang="en-US" sz="1600" dirty="0">
                <a:solidFill>
                  <a:srgbClr val="FF0000"/>
                </a:solidFill>
                <a:latin typeface="Courier" pitchFamily="2" charset="0"/>
              </a:rPr>
              <a:t>lo, j-1</a:t>
            </a:r>
            <a:r>
              <a:rPr lang="en-US" sz="1600" dirty="0">
                <a:latin typeface="Courier" pitchFamily="2" charset="0"/>
              </a:rPr>
              <a:t>);</a:t>
            </a:r>
          </a:p>
          <a:p>
            <a:pPr lvl="1"/>
            <a:r>
              <a:rPr lang="en-US" sz="1600" dirty="0">
                <a:latin typeface="Courier" pitchFamily="2" charset="0"/>
              </a:rPr>
              <a:t>sort(a, </a:t>
            </a:r>
            <a:r>
              <a:rPr lang="en-US" sz="1600" dirty="0">
                <a:solidFill>
                  <a:srgbClr val="FF0000"/>
                </a:solidFill>
                <a:latin typeface="Courier" pitchFamily="2" charset="0"/>
              </a:rPr>
              <a:t>j+1, hi</a:t>
            </a:r>
            <a:r>
              <a:rPr lang="en-US" sz="1600" dirty="0">
                <a:latin typeface="Courier" pitchFamily="2" charset="0"/>
              </a:rPr>
              <a:t>);</a:t>
            </a:r>
          </a:p>
        </p:txBody>
      </p:sp>
      <p:sp>
        <p:nvSpPr>
          <p:cNvPr id="51" name="TextBox 50" descr="pseudocode calling sort() for the first time">
            <a:extLst>
              <a:ext uri="{FF2B5EF4-FFF2-40B4-BE49-F238E27FC236}">
                <a16:creationId xmlns:a16="http://schemas.microsoft.com/office/drawing/2014/main" id="{B0E68B3A-2F9B-8B43-948B-B1C8342E68D1}"/>
              </a:ext>
            </a:extLst>
          </p:cNvPr>
          <p:cNvSpPr txBox="1"/>
          <p:nvPr/>
        </p:nvSpPr>
        <p:spPr>
          <a:xfrm>
            <a:off x="514866" y="4546742"/>
            <a:ext cx="3978974" cy="58477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" pitchFamily="2" charset="0"/>
              </a:rPr>
              <a:t>randomShuffle</a:t>
            </a:r>
            <a:r>
              <a:rPr lang="en-US" sz="1600" dirty="0">
                <a:latin typeface="Courier" pitchFamily="2" charset="0"/>
              </a:rPr>
              <a:t>(a);</a:t>
            </a:r>
          </a:p>
          <a:p>
            <a:r>
              <a:rPr lang="en-US" sz="1600" dirty="0">
                <a:latin typeface="Courier" pitchFamily="2" charset="0"/>
              </a:rPr>
              <a:t>sort(a, 0, a.length-1);</a:t>
            </a:r>
          </a:p>
        </p:txBody>
      </p:sp>
    </p:spTree>
    <p:extLst>
      <p:ext uri="{BB962C8B-B14F-4D97-AF65-F5344CB8AC3E}">
        <p14:creationId xmlns:p14="http://schemas.microsoft.com/office/powerpoint/2010/main" val="3226265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8F411-FA26-F94E-98E8-C1580F3DA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F2CBF-6302-1B47-A9EC-009D5425A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Empirical Analysis</a:t>
            </a:r>
          </a:p>
          <a:p>
            <a:pPr lvl="1"/>
            <a:r>
              <a:rPr lang="en-US" dirty="0"/>
              <a:t>Laptop: 10</a:t>
            </a:r>
            <a:r>
              <a:rPr lang="en-US" baseline="30000" dirty="0"/>
              <a:t>8</a:t>
            </a:r>
            <a:r>
              <a:rPr lang="en-US" dirty="0"/>
              <a:t> compares/second.</a:t>
            </a:r>
          </a:p>
          <a:p>
            <a:pPr lvl="1"/>
            <a:r>
              <a:rPr lang="en-US" dirty="0"/>
              <a:t>Supercomputer: 10</a:t>
            </a:r>
            <a:r>
              <a:rPr lang="en-US" baseline="30000" dirty="0"/>
              <a:t>12</a:t>
            </a:r>
            <a:r>
              <a:rPr lang="en-US" dirty="0"/>
              <a:t> compares/second.</a:t>
            </a:r>
          </a:p>
          <a:p>
            <a:endParaRPr lang="en-US" dirty="0"/>
          </a:p>
        </p:txBody>
      </p:sp>
      <p:graphicFrame>
        <p:nvGraphicFramePr>
          <p:cNvPr id="4" name="Table 3" descr="Table showing execution time of insertion sort merge sort, and quickosrt, on a laptop computer vs a super computer, by size N of the problem (from thousands to billions).">
            <a:extLst>
              <a:ext uri="{FF2B5EF4-FFF2-40B4-BE49-F238E27FC236}">
                <a16:creationId xmlns:a16="http://schemas.microsoft.com/office/drawing/2014/main" id="{8011A414-C606-014B-999A-1AB6691687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603410"/>
              </p:ext>
            </p:extLst>
          </p:nvPr>
        </p:nvGraphicFramePr>
        <p:xfrm>
          <a:off x="197707" y="3311337"/>
          <a:ext cx="1162972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972">
                  <a:extLst>
                    <a:ext uri="{9D8B030D-6E8A-4147-A177-3AD203B41FA5}">
                      <a16:colId xmlns:a16="http://schemas.microsoft.com/office/drawing/2014/main" val="1808230301"/>
                    </a:ext>
                  </a:extLst>
                </a:gridCol>
                <a:gridCol w="987055">
                  <a:extLst>
                    <a:ext uri="{9D8B030D-6E8A-4147-A177-3AD203B41FA5}">
                      <a16:colId xmlns:a16="http://schemas.microsoft.com/office/drawing/2014/main" val="246501498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42304409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17959292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49397961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26750866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417261923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247246947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3579300837"/>
                    </a:ext>
                  </a:extLst>
                </a:gridCol>
                <a:gridCol w="1509173">
                  <a:extLst>
                    <a:ext uri="{9D8B030D-6E8A-4147-A177-3AD203B41FA5}">
                      <a16:colId xmlns:a16="http://schemas.microsoft.com/office/drawing/2014/main" val="597590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Insertion Sort (N</a:t>
                      </a:r>
                      <a:r>
                        <a:rPr lang="en-US" b="1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Merge Sort (N log N)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Quick Sort (N log N)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093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computer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5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5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~M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5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~G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5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5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~M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5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~G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5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5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~M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5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~G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5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715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home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instant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hours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instant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second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 minutes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instant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 seconds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 minutes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566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super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instant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seconds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instant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instant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instant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instant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instant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instant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216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473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8F411-FA26-F94E-98E8-C1580F3DA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F2CBF-6302-1B47-A9EC-009D5425A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  <a:p>
            <a:pPr lvl="1"/>
            <a:r>
              <a:rPr lang="en-US" dirty="0"/>
              <a:t>Average-case: number of compares </a:t>
            </a:r>
            <a:r>
              <a:rPr lang="en-US" dirty="0">
                <a:solidFill>
                  <a:srgbClr val="FF0000"/>
                </a:solidFill>
              </a:rPr>
              <a:t>~ </a:t>
            </a:r>
            <a:r>
              <a:rPr lang="en-US" i="1" dirty="0">
                <a:solidFill>
                  <a:srgbClr val="FF0000"/>
                </a:solidFill>
              </a:rPr>
              <a:t>N</a:t>
            </a:r>
            <a:r>
              <a:rPr lang="en-US" dirty="0">
                <a:solidFill>
                  <a:srgbClr val="FF0000"/>
                </a:solidFill>
              </a:rPr>
              <a:t> lg </a:t>
            </a:r>
            <a:r>
              <a:rPr lang="en-US" i="1" dirty="0">
                <a:solidFill>
                  <a:srgbClr val="FF0000"/>
                </a:solidFill>
              </a:rPr>
              <a:t>N</a:t>
            </a:r>
          </a:p>
          <a:p>
            <a:pPr lvl="1"/>
            <a:r>
              <a:rPr lang="en-US" dirty="0"/>
              <a:t>Worst-case: number of compares </a:t>
            </a:r>
            <a:r>
              <a:rPr lang="en-US" i="1" dirty="0"/>
              <a:t>N+(N-1)+(N-2)+…+1 </a:t>
            </a:r>
            <a:r>
              <a:rPr lang="en-US" i="1" dirty="0">
                <a:solidFill>
                  <a:srgbClr val="FF0000"/>
                </a:solidFill>
              </a:rPr>
              <a:t>~ 1/2  N</a:t>
            </a:r>
            <a:r>
              <a:rPr lang="en-US" i="1" baseline="30000" dirty="0">
                <a:solidFill>
                  <a:srgbClr val="FF0000"/>
                </a:solidFill>
              </a:rPr>
              <a:t>2</a:t>
            </a:r>
          </a:p>
        </p:txBody>
      </p:sp>
      <p:graphicFrame>
        <p:nvGraphicFramePr>
          <p:cNvPr id="8" name="Table 7" descr="table showing that in worst case scenario of input already sorted, quicksort recursive calls are done on an array of size N-1 each time, leading to quadratic time">
            <a:extLst>
              <a:ext uri="{FF2B5EF4-FFF2-40B4-BE49-F238E27FC236}">
                <a16:creationId xmlns:a16="http://schemas.microsoft.com/office/drawing/2014/main" id="{555D929D-C6C0-B44E-8FFC-798F5CF5C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187985"/>
              </p:ext>
            </p:extLst>
          </p:nvPr>
        </p:nvGraphicFramePr>
        <p:xfrm>
          <a:off x="2691093" y="3231602"/>
          <a:ext cx="3033861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287">
                  <a:extLst>
                    <a:ext uri="{9D8B030D-6E8A-4147-A177-3AD203B41FA5}">
                      <a16:colId xmlns:a16="http://schemas.microsoft.com/office/drawing/2014/main" val="975927614"/>
                    </a:ext>
                  </a:extLst>
                </a:gridCol>
                <a:gridCol w="1011287">
                  <a:extLst>
                    <a:ext uri="{9D8B030D-6E8A-4147-A177-3AD203B41FA5}">
                      <a16:colId xmlns:a16="http://schemas.microsoft.com/office/drawing/2014/main" val="74885302"/>
                    </a:ext>
                  </a:extLst>
                </a:gridCol>
                <a:gridCol w="1011287">
                  <a:extLst>
                    <a:ext uri="{9D8B030D-6E8A-4147-A177-3AD203B41FA5}">
                      <a16:colId xmlns:a16="http://schemas.microsoft.com/office/drawing/2014/main" val="2140263121"/>
                    </a:ext>
                  </a:extLst>
                </a:gridCol>
              </a:tblGrid>
              <a:tr h="27167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 (pivot)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1159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794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935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328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63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927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247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9134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57631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940182B-8CB3-B042-A7C3-A69A6D409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920090"/>
              </p:ext>
            </p:extLst>
          </p:nvPr>
        </p:nvGraphicFramePr>
        <p:xfrm>
          <a:off x="6096000" y="3126844"/>
          <a:ext cx="369316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316">
                  <a:extLst>
                    <a:ext uri="{9D8B030D-6E8A-4147-A177-3AD203B41FA5}">
                      <a16:colId xmlns:a16="http://schemas.microsoft.com/office/drawing/2014/main" val="4038250099"/>
                    </a:ext>
                  </a:extLst>
                </a:gridCol>
                <a:gridCol w="369316">
                  <a:extLst>
                    <a:ext uri="{9D8B030D-6E8A-4147-A177-3AD203B41FA5}">
                      <a16:colId xmlns:a16="http://schemas.microsoft.com/office/drawing/2014/main" val="210079880"/>
                    </a:ext>
                  </a:extLst>
                </a:gridCol>
                <a:gridCol w="369316">
                  <a:extLst>
                    <a:ext uri="{9D8B030D-6E8A-4147-A177-3AD203B41FA5}">
                      <a16:colId xmlns:a16="http://schemas.microsoft.com/office/drawing/2014/main" val="3598272699"/>
                    </a:ext>
                  </a:extLst>
                </a:gridCol>
                <a:gridCol w="369316">
                  <a:extLst>
                    <a:ext uri="{9D8B030D-6E8A-4147-A177-3AD203B41FA5}">
                      <a16:colId xmlns:a16="http://schemas.microsoft.com/office/drawing/2014/main" val="2396942685"/>
                    </a:ext>
                  </a:extLst>
                </a:gridCol>
                <a:gridCol w="369316">
                  <a:extLst>
                    <a:ext uri="{9D8B030D-6E8A-4147-A177-3AD203B41FA5}">
                      <a16:colId xmlns:a16="http://schemas.microsoft.com/office/drawing/2014/main" val="1175235809"/>
                    </a:ext>
                  </a:extLst>
                </a:gridCol>
                <a:gridCol w="369316">
                  <a:extLst>
                    <a:ext uri="{9D8B030D-6E8A-4147-A177-3AD203B41FA5}">
                      <a16:colId xmlns:a16="http://schemas.microsoft.com/office/drawing/2014/main" val="1809543998"/>
                    </a:ext>
                  </a:extLst>
                </a:gridCol>
                <a:gridCol w="369316">
                  <a:extLst>
                    <a:ext uri="{9D8B030D-6E8A-4147-A177-3AD203B41FA5}">
                      <a16:colId xmlns:a16="http://schemas.microsoft.com/office/drawing/2014/main" val="4128078083"/>
                    </a:ext>
                  </a:extLst>
                </a:gridCol>
                <a:gridCol w="369316">
                  <a:extLst>
                    <a:ext uri="{9D8B030D-6E8A-4147-A177-3AD203B41FA5}">
                      <a16:colId xmlns:a16="http://schemas.microsoft.com/office/drawing/2014/main" val="2443390834"/>
                    </a:ext>
                  </a:extLst>
                </a:gridCol>
                <a:gridCol w="369316">
                  <a:extLst>
                    <a:ext uri="{9D8B030D-6E8A-4147-A177-3AD203B41FA5}">
                      <a16:colId xmlns:a16="http://schemas.microsoft.com/office/drawing/2014/main" val="1072513758"/>
                    </a:ext>
                  </a:extLst>
                </a:gridCol>
                <a:gridCol w="369316">
                  <a:extLst>
                    <a:ext uri="{9D8B030D-6E8A-4147-A177-3AD203B41FA5}">
                      <a16:colId xmlns:a16="http://schemas.microsoft.com/office/drawing/2014/main" val="642736492"/>
                    </a:ext>
                  </a:extLst>
                </a:gridCol>
              </a:tblGrid>
              <a:tr h="275676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484075"/>
                  </a:ext>
                </a:extLst>
              </a:tr>
            </a:tbl>
          </a:graphicData>
        </a:graphic>
      </p:graphicFrame>
      <p:grpSp>
        <p:nvGrpSpPr>
          <p:cNvPr id="9" name="Group 8" descr="picture showing that in worst case scenario ofinput already sorted, quicksort recursive calls are done on an array of size N-1 each time, leading to quadratic time">
            <a:extLst>
              <a:ext uri="{FF2B5EF4-FFF2-40B4-BE49-F238E27FC236}">
                <a16:creationId xmlns:a16="http://schemas.microsoft.com/office/drawing/2014/main" id="{258CF47E-A8E2-7B4C-83EB-5DD849D4B5F6}"/>
              </a:ext>
            </a:extLst>
          </p:cNvPr>
          <p:cNvGrpSpPr/>
          <p:nvPr/>
        </p:nvGrpSpPr>
        <p:grpSpPr>
          <a:xfrm>
            <a:off x="6096000" y="3534856"/>
            <a:ext cx="3693158" cy="3070039"/>
            <a:chOff x="6096000" y="3534856"/>
            <a:chExt cx="3693158" cy="3070039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FDBF11E1-2804-8C43-8A81-F10750CB813A}"/>
                </a:ext>
              </a:extLst>
            </p:cNvPr>
            <p:cNvSpPr/>
            <p:nvPr/>
          </p:nvSpPr>
          <p:spPr>
            <a:xfrm>
              <a:off x="6096000" y="3534857"/>
              <a:ext cx="3483097" cy="3070038"/>
            </a:xfrm>
            <a:prstGeom prst="rtTriangle">
              <a:avLst/>
            </a:prstGeom>
            <a:solidFill>
              <a:schemeClr val="bg1">
                <a:lumMod val="75000"/>
                <a:alpha val="37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6AAF5B93-2B40-9B4B-B560-9ADDD3580298}"/>
                </a:ext>
              </a:extLst>
            </p:cNvPr>
            <p:cNvSpPr/>
            <p:nvPr/>
          </p:nvSpPr>
          <p:spPr>
            <a:xfrm rot="10800000">
              <a:off x="6306060" y="3534856"/>
              <a:ext cx="3483098" cy="3070038"/>
            </a:xfrm>
            <a:prstGeom prst="rtTriangl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9425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244FC-45DA-2A43-9D3C-9EC43AEF7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39009-ADE5-5D40-90B4-58002E294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Practical Improvements</a:t>
            </a:r>
          </a:p>
          <a:p>
            <a:pPr lvl="1"/>
            <a:r>
              <a:rPr lang="en-US" dirty="0"/>
              <a:t>Use insertion sort on small subarrays (&lt;10 items)</a:t>
            </a:r>
          </a:p>
          <a:p>
            <a:pPr lvl="1"/>
            <a:r>
              <a:rPr lang="en-US" dirty="0"/>
              <a:t>Best choice pivot = median value</a:t>
            </a:r>
          </a:p>
          <a:p>
            <a:pPr lvl="2"/>
            <a:r>
              <a:rPr lang="en-US" dirty="0"/>
              <a:t>Estimate true median by taking median of sample (e.g., median of 3 random items)</a:t>
            </a:r>
          </a:p>
        </p:txBody>
      </p:sp>
    </p:spTree>
    <p:extLst>
      <p:ext uri="{BB962C8B-B14F-4D97-AF65-F5344CB8AC3E}">
        <p14:creationId xmlns:p14="http://schemas.microsoft.com/office/powerpoint/2010/main" val="222339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244FC-45DA-2A43-9D3C-9EC43AEF7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vs </a:t>
            </a:r>
            <a:r>
              <a:rPr lang="en-US" dirty="0" err="1"/>
              <a:t>mergesort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39009-ADE5-5D40-90B4-58002E294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properties</a:t>
            </a:r>
          </a:p>
          <a:p>
            <a:pPr lvl="1"/>
            <a:r>
              <a:rPr lang="en-US" dirty="0"/>
              <a:t>Quick sort is an </a:t>
            </a:r>
            <a:r>
              <a:rPr lang="en-US" dirty="0">
                <a:highlight>
                  <a:srgbClr val="C0C0C0"/>
                </a:highlight>
              </a:rPr>
              <a:t>in-place</a:t>
            </a:r>
            <a:r>
              <a:rPr lang="en-US" dirty="0"/>
              <a:t> algorithm</a:t>
            </a:r>
          </a:p>
          <a:p>
            <a:pPr lvl="1"/>
            <a:r>
              <a:rPr lang="en-US" dirty="0"/>
              <a:t>Quick sort is </a:t>
            </a:r>
            <a:r>
              <a:rPr lang="en-US" dirty="0">
                <a:highlight>
                  <a:srgbClr val="C0C0C0"/>
                </a:highlight>
              </a:rPr>
              <a:t>not stable</a:t>
            </a:r>
          </a:p>
          <a:p>
            <a:pPr lvl="1"/>
            <a:r>
              <a:rPr lang="en-US" dirty="0"/>
              <a:t>Quick sort running time on duplicate keys could be quadratic</a:t>
            </a:r>
          </a:p>
          <a:p>
            <a:pPr lvl="1"/>
            <a:endParaRPr lang="en-US" dirty="0">
              <a:highlight>
                <a:srgbClr val="C0C0C0"/>
              </a:highlight>
            </a:endParaRPr>
          </a:p>
        </p:txBody>
      </p:sp>
      <p:grpSp>
        <p:nvGrpSpPr>
          <p:cNvPr id="10" name="Group 9" descr="snapshot of portico table about modue class list">
            <a:extLst>
              <a:ext uri="{FF2B5EF4-FFF2-40B4-BE49-F238E27FC236}">
                <a16:creationId xmlns:a16="http://schemas.microsoft.com/office/drawing/2014/main" id="{C516CB97-E429-0E45-93C5-AC9F18D7D15D}"/>
              </a:ext>
            </a:extLst>
          </p:cNvPr>
          <p:cNvGrpSpPr/>
          <p:nvPr/>
        </p:nvGrpSpPr>
        <p:grpSpPr>
          <a:xfrm>
            <a:off x="350837" y="3850373"/>
            <a:ext cx="11490325" cy="1746863"/>
            <a:chOff x="350837" y="3850373"/>
            <a:chExt cx="11490325" cy="1746863"/>
          </a:xfrm>
        </p:grpSpPr>
        <p:pic>
          <p:nvPicPr>
            <p:cNvPr id="4" name="Picture 3" descr="A screenshot of ucl portico records of stduents enrolled in a course">
              <a:extLst>
                <a:ext uri="{FF2B5EF4-FFF2-40B4-BE49-F238E27FC236}">
                  <a16:creationId xmlns:a16="http://schemas.microsoft.com/office/drawing/2014/main" id="{FE3C0F02-3319-4047-915E-EA18691321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9259"/>
            <a:stretch/>
          </p:blipFill>
          <p:spPr>
            <a:xfrm>
              <a:off x="350837" y="3850373"/>
              <a:ext cx="11490325" cy="1679968"/>
            </a:xfrm>
            <a:prstGeom prst="rect">
              <a:avLst/>
            </a:prstGeom>
            <a:ln w="25400">
              <a:solidFill>
                <a:schemeClr val="accent3">
                  <a:lumMod val="60000"/>
                  <a:lumOff val="40000"/>
                </a:schemeClr>
              </a:solidFill>
            </a:ln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3DBA563-D73C-B242-B174-78C37B9D8248}"/>
                </a:ext>
              </a:extLst>
            </p:cNvPr>
            <p:cNvGrpSpPr/>
            <p:nvPr/>
          </p:nvGrpSpPr>
          <p:grpSpPr>
            <a:xfrm>
              <a:off x="3659204" y="4933319"/>
              <a:ext cx="3402175" cy="663917"/>
              <a:chOff x="3691288" y="5989320"/>
              <a:chExt cx="3402175" cy="663917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68002D0-9C3A-3B43-8152-F1D1A2F189D2}"/>
                  </a:ext>
                </a:extLst>
              </p:cNvPr>
              <p:cNvSpPr/>
              <p:nvPr/>
            </p:nvSpPr>
            <p:spPr>
              <a:xfrm>
                <a:off x="3691288" y="5989320"/>
                <a:ext cx="853440" cy="615574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091DA0A-C5C0-FA4C-82AE-33CE2150625C}"/>
                  </a:ext>
                </a:extLst>
              </p:cNvPr>
              <p:cNvSpPr/>
              <p:nvPr/>
            </p:nvSpPr>
            <p:spPr>
              <a:xfrm>
                <a:off x="6240023" y="6037663"/>
                <a:ext cx="853440" cy="615574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17124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244FC-45DA-2A43-9D3C-9EC43AEF7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vs </a:t>
            </a:r>
            <a:r>
              <a:rPr lang="en-US" dirty="0" err="1"/>
              <a:t>mergesort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39009-ADE5-5D40-90B4-58002E294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properties</a:t>
            </a:r>
          </a:p>
          <a:p>
            <a:pPr lvl="1"/>
            <a:r>
              <a:rPr lang="en-US" dirty="0"/>
              <a:t>Quick sort is an </a:t>
            </a:r>
            <a:r>
              <a:rPr lang="en-US" dirty="0">
                <a:highlight>
                  <a:srgbClr val="C0C0C0"/>
                </a:highlight>
              </a:rPr>
              <a:t>in-place</a:t>
            </a:r>
            <a:r>
              <a:rPr lang="en-US" dirty="0"/>
              <a:t> algorithm</a:t>
            </a:r>
          </a:p>
          <a:p>
            <a:pPr lvl="1"/>
            <a:r>
              <a:rPr lang="en-US" dirty="0"/>
              <a:t>Quick sort is </a:t>
            </a:r>
            <a:r>
              <a:rPr lang="en-US" dirty="0">
                <a:highlight>
                  <a:srgbClr val="C0C0C0"/>
                </a:highlight>
              </a:rPr>
              <a:t>not stable</a:t>
            </a:r>
          </a:p>
          <a:p>
            <a:pPr lvl="1"/>
            <a:r>
              <a:rPr lang="en-US" dirty="0"/>
              <a:t>Quick sort running time on duplicate keys could be quadratic</a:t>
            </a:r>
          </a:p>
          <a:p>
            <a:pPr lvl="2"/>
            <a:r>
              <a:rPr lang="en-US" dirty="0"/>
              <a:t>MUST: during partitioning, stop scan on items equal to pivot</a:t>
            </a:r>
          </a:p>
          <a:p>
            <a:pPr lvl="2"/>
            <a:r>
              <a:rPr lang="en-US" dirty="0"/>
              <a:t>SHOULD: during partitioning, pull all items equal to pivot in-place</a:t>
            </a:r>
          </a:p>
          <a:p>
            <a:pPr lvl="1"/>
            <a:endParaRPr lang="en-US" dirty="0">
              <a:highlight>
                <a:srgbClr val="C0C0C0"/>
              </a:highlight>
            </a:endParaRPr>
          </a:p>
        </p:txBody>
      </p:sp>
      <p:grpSp>
        <p:nvGrpSpPr>
          <p:cNvPr id="48" name="Group 47" descr="visual representation of 3-way partitioning">
            <a:extLst>
              <a:ext uri="{FF2B5EF4-FFF2-40B4-BE49-F238E27FC236}">
                <a16:creationId xmlns:a16="http://schemas.microsoft.com/office/drawing/2014/main" id="{13C0B04A-DB98-264C-996A-5B0762E76BD3}"/>
              </a:ext>
            </a:extLst>
          </p:cNvPr>
          <p:cNvGrpSpPr/>
          <p:nvPr/>
        </p:nvGrpSpPr>
        <p:grpSpPr>
          <a:xfrm>
            <a:off x="135438" y="4259322"/>
            <a:ext cx="11310570" cy="2598678"/>
            <a:chOff x="135438" y="4259322"/>
            <a:chExt cx="11310570" cy="2598678"/>
          </a:xfrm>
        </p:grpSpPr>
        <p:grpSp>
          <p:nvGrpSpPr>
            <p:cNvPr id="11" name="Group 10" descr="state of array before partition">
              <a:extLst>
                <a:ext uri="{FF2B5EF4-FFF2-40B4-BE49-F238E27FC236}">
                  <a16:creationId xmlns:a16="http://schemas.microsoft.com/office/drawing/2014/main" id="{98842B0D-7F9D-C644-8BB0-CBB1B664665E}"/>
                </a:ext>
              </a:extLst>
            </p:cNvPr>
            <p:cNvGrpSpPr/>
            <p:nvPr/>
          </p:nvGrpSpPr>
          <p:grpSpPr>
            <a:xfrm>
              <a:off x="2781499" y="4259322"/>
              <a:ext cx="4864422" cy="1147925"/>
              <a:chOff x="6882904" y="2523067"/>
              <a:chExt cx="4864422" cy="1147925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52B6147-67EF-184D-AE51-AF3AA563BC2C}"/>
                  </a:ext>
                </a:extLst>
              </p:cNvPr>
              <p:cNvSpPr/>
              <p:nvPr/>
            </p:nvSpPr>
            <p:spPr>
              <a:xfrm>
                <a:off x="7738533" y="2523067"/>
                <a:ext cx="3938601" cy="440266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AE70A1CD-F5C2-A547-9259-B39A3FBB0D25}"/>
                  </a:ext>
                </a:extLst>
              </p:cNvPr>
              <p:cNvCxnSpPr/>
              <p:nvPr/>
            </p:nvCxnSpPr>
            <p:spPr>
              <a:xfrm>
                <a:off x="8161868" y="2523067"/>
                <a:ext cx="0" cy="44026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4F3A37-95CE-B44A-A0DF-4037BF54D446}"/>
                  </a:ext>
                </a:extLst>
              </p:cNvPr>
              <p:cNvSpPr txBox="1"/>
              <p:nvPr/>
            </p:nvSpPr>
            <p:spPr>
              <a:xfrm>
                <a:off x="6882904" y="2560135"/>
                <a:ext cx="8386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before</a:t>
                </a: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5C8241B0-512C-D34F-99B8-E5B1DA749D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7783146" y="2963333"/>
                <a:ext cx="460382" cy="671676"/>
                <a:chOff x="9631909" y="4435129"/>
                <a:chExt cx="460382" cy="671676"/>
              </a:xfrm>
            </p:grpSpPr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05CCB6C-7CF2-8E4E-88C8-13F3E562E819}"/>
                    </a:ext>
                  </a:extLst>
                </p:cNvPr>
                <p:cNvSpPr txBox="1"/>
                <p:nvPr/>
              </p:nvSpPr>
              <p:spPr>
                <a:xfrm>
                  <a:off x="9631909" y="4737473"/>
                  <a:ext cx="46038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FF0000"/>
                      </a:solidFill>
                      <a:latin typeface="Courier" pitchFamily="2" charset="0"/>
                    </a:rPr>
                    <a:t>lo</a:t>
                  </a:r>
                </a:p>
              </p:txBody>
            </p: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C229675E-7C8A-7A45-B9CD-04463B17DB0A}"/>
                    </a:ext>
                  </a:extLst>
                </p:cNvPr>
                <p:cNvCxnSpPr/>
                <p:nvPr/>
              </p:nvCxnSpPr>
              <p:spPr>
                <a:xfrm flipV="1">
                  <a:off x="9793171" y="4435129"/>
                  <a:ext cx="0" cy="342900"/>
                </a:xfrm>
                <a:prstGeom prst="straightConnector1">
                  <a:avLst/>
                </a:prstGeom>
                <a:ln w="254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8E536ABA-23CE-9440-8342-639641F557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11286944" y="2999316"/>
                <a:ext cx="460382" cy="671676"/>
                <a:chOff x="9631909" y="4435129"/>
                <a:chExt cx="460382" cy="671676"/>
              </a:xfrm>
            </p:grpSpPr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C9FDDD6-C99B-0F44-98C2-D377D0C98C66}"/>
                    </a:ext>
                  </a:extLst>
                </p:cNvPr>
                <p:cNvSpPr txBox="1"/>
                <p:nvPr/>
              </p:nvSpPr>
              <p:spPr>
                <a:xfrm>
                  <a:off x="9631909" y="4737473"/>
                  <a:ext cx="46038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FF0000"/>
                      </a:solidFill>
                      <a:latin typeface="Courier" pitchFamily="2" charset="0"/>
                    </a:rPr>
                    <a:t>hi</a:t>
                  </a:r>
                </a:p>
              </p:txBody>
            </p: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4AE4616F-A4A8-E74C-858F-3133E429912D}"/>
                    </a:ext>
                  </a:extLst>
                </p:cNvPr>
                <p:cNvCxnSpPr/>
                <p:nvPr/>
              </p:nvCxnSpPr>
              <p:spPr>
                <a:xfrm flipV="1">
                  <a:off x="9793171" y="4435129"/>
                  <a:ext cx="0" cy="342900"/>
                </a:xfrm>
                <a:prstGeom prst="straightConnector1">
                  <a:avLst/>
                </a:prstGeom>
                <a:ln w="254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2DF3301-ED9C-D54F-A18E-4FE426B87088}"/>
                  </a:ext>
                </a:extLst>
              </p:cNvPr>
              <p:cNvSpPr txBox="1"/>
              <p:nvPr/>
            </p:nvSpPr>
            <p:spPr>
              <a:xfrm>
                <a:off x="7801118" y="2553271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Courier" pitchFamily="2" charset="0"/>
                  </a:rPr>
                  <a:t>p</a:t>
                </a:r>
              </a:p>
            </p:txBody>
          </p:sp>
        </p:grpSp>
        <p:grpSp>
          <p:nvGrpSpPr>
            <p:cNvPr id="22" name="Group 21" descr="state of array after partition">
              <a:extLst>
                <a:ext uri="{FF2B5EF4-FFF2-40B4-BE49-F238E27FC236}">
                  <a16:creationId xmlns:a16="http://schemas.microsoft.com/office/drawing/2014/main" id="{04209754-E220-7F4D-B5A9-040DD017FB9C}"/>
                </a:ext>
              </a:extLst>
            </p:cNvPr>
            <p:cNvGrpSpPr/>
            <p:nvPr/>
          </p:nvGrpSpPr>
          <p:grpSpPr>
            <a:xfrm>
              <a:off x="135438" y="5723734"/>
              <a:ext cx="4751430" cy="1134266"/>
              <a:chOff x="7075264" y="5313404"/>
              <a:chExt cx="4751430" cy="1134266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3D96CE3-7431-9C4E-9044-E8699C6D9EAA}"/>
                  </a:ext>
                </a:extLst>
              </p:cNvPr>
              <p:cNvSpPr/>
              <p:nvPr/>
            </p:nvSpPr>
            <p:spPr>
              <a:xfrm>
                <a:off x="7738533" y="5313404"/>
                <a:ext cx="3938601" cy="440266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3DDD0009-799E-9243-92D5-EC2E36ED6870}"/>
                  </a:ext>
                </a:extLst>
              </p:cNvPr>
              <p:cNvCxnSpPr/>
              <p:nvPr/>
            </p:nvCxnSpPr>
            <p:spPr>
              <a:xfrm>
                <a:off x="9160933" y="5313404"/>
                <a:ext cx="0" cy="44026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71B7B5A6-3A02-C147-A410-23019BB17C38}"/>
                  </a:ext>
                </a:extLst>
              </p:cNvPr>
              <p:cNvCxnSpPr/>
              <p:nvPr/>
            </p:nvCxnSpPr>
            <p:spPr>
              <a:xfrm>
                <a:off x="9533468" y="5313404"/>
                <a:ext cx="0" cy="44026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8C153E8-CD12-6B49-8945-367AB7DC80E2}"/>
                  </a:ext>
                </a:extLst>
              </p:cNvPr>
              <p:cNvSpPr txBox="1"/>
              <p:nvPr/>
            </p:nvSpPr>
            <p:spPr>
              <a:xfrm>
                <a:off x="7075264" y="5348871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after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A335223-3088-5645-92FF-A9395D74B206}"/>
                  </a:ext>
                </a:extLst>
              </p:cNvPr>
              <p:cNvSpPr txBox="1"/>
              <p:nvPr/>
            </p:nvSpPr>
            <p:spPr>
              <a:xfrm>
                <a:off x="7763754" y="6037782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Courier" pitchFamily="2" charset="0"/>
                  </a:rPr>
                  <a:t>lo</a:t>
                </a:r>
              </a:p>
            </p:txBody>
          </p: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57AF5F21-3D2B-804F-9E0B-38357B82D819}"/>
                  </a:ext>
                </a:extLst>
              </p:cNvPr>
              <p:cNvCxnSpPr/>
              <p:nvPr/>
            </p:nvCxnSpPr>
            <p:spPr>
              <a:xfrm flipV="1">
                <a:off x="7925016" y="5735438"/>
                <a:ext cx="0" cy="342900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02F518D-3749-2644-AED4-C6CF80792825}"/>
                  </a:ext>
                </a:extLst>
              </p:cNvPr>
              <p:cNvSpPr txBox="1"/>
              <p:nvPr/>
            </p:nvSpPr>
            <p:spPr>
              <a:xfrm>
                <a:off x="11366312" y="6078338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Courier" pitchFamily="2" charset="0"/>
                  </a:rPr>
                  <a:t>hi</a:t>
                </a:r>
              </a:p>
            </p:txBody>
          </p: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492EF067-627B-1C4A-A99F-CEF8BEE6EF9F}"/>
                  </a:ext>
                </a:extLst>
              </p:cNvPr>
              <p:cNvCxnSpPr/>
              <p:nvPr/>
            </p:nvCxnSpPr>
            <p:spPr>
              <a:xfrm flipV="1">
                <a:off x="11527574" y="5775994"/>
                <a:ext cx="0" cy="342900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C3FD209-8908-5747-BF2C-0F090C397B28}"/>
                  </a:ext>
                </a:extLst>
              </p:cNvPr>
              <p:cNvSpPr txBox="1"/>
              <p:nvPr/>
            </p:nvSpPr>
            <p:spPr>
              <a:xfrm>
                <a:off x="7813313" y="5322524"/>
                <a:ext cx="3079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Courier" pitchFamily="2" charset="0"/>
                  </a:rPr>
                  <a:t>  &lt;=p     p       &gt;=p</a:t>
                </a: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03F3832C-28A4-6E49-9721-6FEB8E00DAFC}"/>
                </a:ext>
              </a:extLst>
            </p:cNvPr>
            <p:cNvGrpSpPr/>
            <p:nvPr/>
          </p:nvGrpSpPr>
          <p:grpSpPr>
            <a:xfrm>
              <a:off x="6694578" y="5689210"/>
              <a:ext cx="4751430" cy="1134266"/>
              <a:chOff x="6708007" y="5419165"/>
              <a:chExt cx="4751430" cy="1134266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6982F5B-4F6A-4945-B4C1-59628D1798B3}"/>
                  </a:ext>
                </a:extLst>
              </p:cNvPr>
              <p:cNvSpPr/>
              <p:nvPr/>
            </p:nvSpPr>
            <p:spPr>
              <a:xfrm>
                <a:off x="7371276" y="5419165"/>
                <a:ext cx="3938601" cy="440266"/>
              </a:xfrm>
              <a:prstGeom prst="rect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974F642-F4AD-004E-96A8-F66E91CB9D76}"/>
                  </a:ext>
                </a:extLst>
              </p:cNvPr>
              <p:cNvCxnSpPr/>
              <p:nvPr/>
            </p:nvCxnSpPr>
            <p:spPr>
              <a:xfrm>
                <a:off x="8793676" y="5419165"/>
                <a:ext cx="0" cy="44026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C26B835A-C3C6-7F41-9EB8-2776766526EE}"/>
                  </a:ext>
                </a:extLst>
              </p:cNvPr>
              <p:cNvCxnSpPr/>
              <p:nvPr/>
            </p:nvCxnSpPr>
            <p:spPr>
              <a:xfrm>
                <a:off x="9888106" y="5432369"/>
                <a:ext cx="0" cy="440266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C0CEC8D-F589-C644-872A-ABF88BA1C279}"/>
                  </a:ext>
                </a:extLst>
              </p:cNvPr>
              <p:cNvSpPr txBox="1"/>
              <p:nvPr/>
            </p:nvSpPr>
            <p:spPr>
              <a:xfrm>
                <a:off x="6708007" y="5454632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after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CEE7176-C9B7-DC4A-B98F-9E6EFD262BDC}"/>
                  </a:ext>
                </a:extLst>
              </p:cNvPr>
              <p:cNvSpPr txBox="1"/>
              <p:nvPr/>
            </p:nvSpPr>
            <p:spPr>
              <a:xfrm>
                <a:off x="7396497" y="6143543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Courier" pitchFamily="2" charset="0"/>
                  </a:rPr>
                  <a:t>lo</a:t>
                </a:r>
              </a:p>
            </p:txBody>
          </p: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A9C20A47-FBE3-7C4C-B3E2-450925150321}"/>
                  </a:ext>
                </a:extLst>
              </p:cNvPr>
              <p:cNvCxnSpPr/>
              <p:nvPr/>
            </p:nvCxnSpPr>
            <p:spPr>
              <a:xfrm flipV="1">
                <a:off x="7557759" y="5841199"/>
                <a:ext cx="0" cy="342900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B7A5863-0936-A84F-847C-5F565AFA26A7}"/>
                  </a:ext>
                </a:extLst>
              </p:cNvPr>
              <p:cNvSpPr txBox="1"/>
              <p:nvPr/>
            </p:nvSpPr>
            <p:spPr>
              <a:xfrm>
                <a:off x="10999055" y="6184099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Courier" pitchFamily="2" charset="0"/>
                  </a:rPr>
                  <a:t>hi</a:t>
                </a:r>
              </a:p>
            </p:txBody>
          </p: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D140833E-60C5-BE49-8B6F-C3306D1EE6C3}"/>
                  </a:ext>
                </a:extLst>
              </p:cNvPr>
              <p:cNvCxnSpPr/>
              <p:nvPr/>
            </p:nvCxnSpPr>
            <p:spPr>
              <a:xfrm flipV="1">
                <a:off x="11160317" y="5881755"/>
                <a:ext cx="0" cy="342900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CFC637B-E912-914C-BACE-C8405960F618}"/>
                  </a:ext>
                </a:extLst>
              </p:cNvPr>
              <p:cNvSpPr txBox="1"/>
              <p:nvPr/>
            </p:nvSpPr>
            <p:spPr>
              <a:xfrm>
                <a:off x="7715158" y="5445512"/>
                <a:ext cx="29418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Courier" pitchFamily="2" charset="0"/>
                  </a:rPr>
                  <a:t>  &lt;p     =p       &gt;p</a:t>
                </a:r>
              </a:p>
            </p:txBody>
          </p:sp>
        </p:grpSp>
        <p:sp>
          <p:nvSpPr>
            <p:cNvPr id="46" name="Right Arrow 45">
              <a:extLst>
                <a:ext uri="{FF2B5EF4-FFF2-40B4-BE49-F238E27FC236}">
                  <a16:creationId xmlns:a16="http://schemas.microsoft.com/office/drawing/2014/main" id="{2097A6BD-68B7-494E-BDA0-451053D18147}"/>
                </a:ext>
              </a:extLst>
            </p:cNvPr>
            <p:cNvSpPr/>
            <p:nvPr/>
          </p:nvSpPr>
          <p:spPr>
            <a:xfrm>
              <a:off x="5231926" y="5708230"/>
              <a:ext cx="978408" cy="484632"/>
            </a:xfrm>
            <a:prstGeom prst="rightArrow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6457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– recap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Elementary Sorts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MergeSort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highlight>
                  <a:srgbClr val="C0C0C0"/>
                </a:highlight>
              </a:rPr>
              <a:t>QuickSort</a:t>
            </a:r>
            <a:endParaRPr lang="en-US" dirty="0">
              <a:highlight>
                <a:srgbClr val="C0C0C0"/>
              </a:highlight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HeapSort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084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1647</Words>
  <Application>Microsoft Macintosh PowerPoint</Application>
  <PresentationFormat>Widescreen</PresentationFormat>
  <Paragraphs>562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Courier</vt:lpstr>
      <vt:lpstr>Courier New</vt:lpstr>
      <vt:lpstr>Wingdings</vt:lpstr>
      <vt:lpstr>Office Theme</vt:lpstr>
      <vt:lpstr>4_Custom Design</vt:lpstr>
      <vt:lpstr>COMP0005 – ALGORITHMS   2.3 Quick Sort</vt:lpstr>
      <vt:lpstr>CONTENT</vt:lpstr>
      <vt:lpstr>QUICK sort</vt:lpstr>
      <vt:lpstr>QUICK sort</vt:lpstr>
      <vt:lpstr>QUICK SORT</vt:lpstr>
      <vt:lpstr>QUICK SORT</vt:lpstr>
      <vt:lpstr>QUICK SORT</vt:lpstr>
      <vt:lpstr>QUICK SORT</vt:lpstr>
      <vt:lpstr>QUICK SORT</vt:lpstr>
      <vt:lpstr>QUICK SORT</vt:lpstr>
      <vt:lpstr>Quick sort</vt:lpstr>
      <vt:lpstr>Quick sort</vt:lpstr>
      <vt:lpstr>Quick sort</vt:lpstr>
      <vt:lpstr>Quick sort</vt:lpstr>
      <vt:lpstr>Quick sort</vt:lpstr>
      <vt:lpstr>Quick sort</vt:lpstr>
      <vt:lpstr>Quick sort</vt:lpstr>
      <vt:lpstr>Quick sort vs mergesort</vt:lpstr>
      <vt:lpstr>Quick sort vs mergesort</vt:lpstr>
      <vt:lpstr>CONTENT – recap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Capra, Licia</dc:creator>
  <cp:lastModifiedBy>Capra, Licia</cp:lastModifiedBy>
  <cp:revision>62</cp:revision>
  <dcterms:created xsi:type="dcterms:W3CDTF">2020-06-23T14:37:29Z</dcterms:created>
  <dcterms:modified xsi:type="dcterms:W3CDTF">2020-11-03T14:49:20Z</dcterms:modified>
</cp:coreProperties>
</file>