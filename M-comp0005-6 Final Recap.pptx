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sldIdLst>
    <p:sldId id="266" r:id="rId3"/>
    <p:sldId id="267" r:id="rId4"/>
    <p:sldId id="269" r:id="rId5"/>
    <p:sldId id="268" r:id="rId6"/>
    <p:sldId id="271" r:id="rId7"/>
    <p:sldId id="270" r:id="rId8"/>
    <p:sldId id="272" r:id="rId9"/>
    <p:sldId id="273" r:id="rId10"/>
    <p:sldId id="276" r:id="rId11"/>
    <p:sldId id="275" r:id="rId12"/>
    <p:sldId id="277" r:id="rId13"/>
    <p:sldId id="278" r:id="rId14"/>
    <p:sldId id="280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25"/>
    <p:restoredTop sz="45356"/>
  </p:normalViewPr>
  <p:slideViewPr>
    <p:cSldViewPr snapToGrid="0" snapToObjects="1">
      <p:cViewPr varScale="1">
        <p:scale>
          <a:sx n="70" d="100"/>
          <a:sy n="70" d="100"/>
        </p:scale>
        <p:origin x="11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794ED-9DCD-E143-A31C-FF459F6B3753}" type="datetimeFigureOut">
              <a:rPr lang="en-US" smtClean="0"/>
              <a:t>12/1/20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7CF15C-D2B2-934B-A539-F97C996A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702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59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87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261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03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94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70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94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85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332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5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14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24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104-30DF-C243-B6F5-80F122C4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C87-B826-1B49-A847-710502CB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453F-4E94-824B-AFA6-EB4E86C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12/1/20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B56E-3BBC-654D-8FA9-E1F006DD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8353-695E-914E-959B-1DE0613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7F73-75A7-BF4C-9B87-0E5DAA26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132541" cy="720000"/>
          </a:xfrm>
        </p:spPr>
        <p:txBody>
          <a:bodyPr/>
          <a:lstStyle>
            <a:lvl1pPr>
              <a:defRPr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9A81-21ED-634D-B435-4DA1AB93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7776-6F62-7949-AC29-57711FE6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DEED-88CB-854F-A579-2E9F5C8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3E4C-5521-A646-9E20-EDBF5E08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12/1/20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B6D-FB51-F14E-96DC-CB7994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CE9B-3262-4946-BA2B-2E15B12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77B-0526-5246-ADF9-A09D322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74B-6A3E-0D41-A414-968897748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9A30-BEDD-4E4D-A469-75A32DB6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90622-BD04-2F49-87BF-8F8A56A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12/1/20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36CA9-0AF2-6044-B7B9-D370C998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07945-78CB-FD48-A540-3D195554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05D-2311-6C4A-AFBA-C7380661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611F-9F84-EF46-B687-F45096EE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FF43-7CB4-D043-A4E6-F7EBD5AD1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51C7-134F-6D4C-B0C9-F97F16FC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B9679-8272-C842-80E7-7C2C35B6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03A7-9909-8849-989F-56035CE1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12/1/20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F941C-DA96-0244-A4BD-DDC6880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B1AB-E8BD-194D-A1B0-84EEEAD5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B65D-442A-8843-8F16-7ABEA571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9297-1F38-2D41-BF9E-9074D73D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12/1/20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6E31A-1A8B-DA41-96E1-AE81C5D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5C91-339E-644D-8D83-3DE22C8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269F9-C47F-5B42-8277-D273C18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12/1/20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9E2E-0F80-CC4C-AC36-AEBFFC9C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C028F-9D1D-4246-9A8D-9B12841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425B-9808-AA41-9609-755D86C8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FAE-9E85-D84D-8A74-ADC02B42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5D49-C024-1643-8B1C-B03459C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C301-58C0-8443-A8FD-FE276F98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12/1/20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AA141-96BB-DB4F-B27D-6F7AF7D7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BB8-298F-1246-BC42-25680FD0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3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C04D-5F03-AA4D-8037-39B8E66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1385-96F7-A140-AA79-83ACBA263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11CC3-A00C-784B-8C87-ECE428E1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C509-EA9D-234D-BD95-51099A8B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12/1/20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8714-646A-7642-ACC7-DBE6042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2430-0B85-1D4C-B46F-FC7DD6A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3C0C-A609-F342-919D-11DD78C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19D3E-C74D-5148-A3E6-FF8D596B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6387-CFBA-0342-A560-13C5D788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12/1/20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E4AB-2F0E-DE42-A638-F24757D1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B63D-2E4D-4241-83AC-C6A15648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DECF-14E8-3C41-B869-448FE50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B74BE-C693-0E44-8F73-00799AB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73F7-69F8-D743-8DD7-63377B19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12/1/20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2B8-7B1D-774A-AE0D-C751F2A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F8AB-2631-7F49-804C-2B75DF4D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61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74719"/>
            <a:ext cx="10515600" cy="27022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"/>
            <a:ext cx="12192000" cy="1646767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999" y="384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467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467">
                <a:solidFill>
                  <a:schemeClr val="tx1"/>
                </a:solidFill>
              </a:defRPr>
            </a:lvl2pPr>
            <a:lvl3pPr marL="0" indent="0">
              <a:buNone/>
              <a:defRPr sz="1467">
                <a:solidFill>
                  <a:schemeClr val="tx1"/>
                </a:solidFill>
              </a:defRPr>
            </a:lvl3pPr>
            <a:lvl4pPr marL="0" indent="0">
              <a:buNone/>
              <a:defRPr sz="1467">
                <a:solidFill>
                  <a:schemeClr val="tx1"/>
                </a:solidFill>
              </a:defRPr>
            </a:lvl4pPr>
            <a:lvl5pPr marL="0" indent="0">
              <a:buNone/>
              <a:defRPr sz="14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2792606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999" y="1326291"/>
            <a:ext cx="11146989" cy="4993416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-2117"/>
            <a:ext cx="12192000" cy="988484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8617264-77E5-D84E-B0FF-1EA9D2C4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99" y="190218"/>
            <a:ext cx="9382171" cy="651911"/>
          </a:xfrm>
          <a:prstGeom prst="rect">
            <a:avLst/>
          </a:prstGeom>
        </p:spPr>
        <p:txBody>
          <a:bodyPr/>
          <a:lstStyle>
            <a:lvl1pPr>
              <a:defRPr sz="4267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17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C065B9-79B2-2E46-992C-E436F6FDC61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1262"/>
            <a:ext cx="12192000" cy="132556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A9AA-7FD3-E641-8BB9-C7229D0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347"/>
            <a:ext cx="10515600" cy="90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3258-2D95-1B4C-B09E-444B93AC6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708" y="1668162"/>
            <a:ext cx="11294076" cy="489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75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9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0098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20249" y="220779"/>
            <a:ext cx="4289120" cy="93996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6933"/>
            <a:endParaRPr lang="en-GB" sz="1333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005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7" indent="-119997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7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2462581"/>
            <a:ext cx="10515600" cy="1929476"/>
          </a:xfrm>
        </p:spPr>
        <p:txBody>
          <a:bodyPr/>
          <a:lstStyle/>
          <a:p>
            <a:r>
              <a:rPr lang="en-US" sz="5333" dirty="0">
                <a:solidFill>
                  <a:schemeClr val="tx1"/>
                </a:solidFill>
              </a:rPr>
              <a:t>COMP0005 – ALGORITHMS </a:t>
            </a:r>
            <a:br>
              <a:rPr lang="en-US" sz="5333" dirty="0">
                <a:solidFill>
                  <a:schemeClr val="tx1"/>
                </a:solidFill>
              </a:rPr>
            </a:br>
            <a:br>
              <a:rPr lang="en-US" sz="3733" dirty="0">
                <a:solidFill>
                  <a:schemeClr val="tx1"/>
                </a:solidFill>
              </a:rPr>
            </a:br>
            <a:r>
              <a:rPr lang="en-US" sz="3733" dirty="0">
                <a:solidFill>
                  <a:schemeClr val="tx1"/>
                </a:solidFill>
              </a:rPr>
              <a:t>6. Final Module Recap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518925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Prof </a:t>
            </a:r>
            <a:r>
              <a:rPr lang="en-US" sz="2667" dirty="0" err="1"/>
              <a:t>Licia</a:t>
            </a:r>
            <a:r>
              <a:rPr lang="en-US" sz="2667" dirty="0"/>
              <a:t> Capra</a:t>
            </a:r>
          </a:p>
          <a:p>
            <a:pPr marL="0" indent="0">
              <a:buNone/>
            </a:pPr>
            <a:r>
              <a:rPr lang="en-US" sz="2133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075016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53F01-D44E-2F41-82B2-AE8980342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COMP0005 – COURSE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A9924-962A-864E-9A9D-D69BE19BB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Fundamentals</a:t>
            </a:r>
          </a:p>
          <a:p>
            <a:r>
              <a:rPr lang="en-US" dirty="0"/>
              <a:t>Sort Algorithms</a:t>
            </a:r>
          </a:p>
          <a:p>
            <a:r>
              <a:rPr lang="en-US" dirty="0"/>
              <a:t>Search Algorithms</a:t>
            </a:r>
          </a:p>
          <a:p>
            <a:r>
              <a:rPr lang="en-US" dirty="0"/>
              <a:t>Graph Algorithms</a:t>
            </a:r>
          </a:p>
          <a:p>
            <a:r>
              <a:rPr lang="en-US" dirty="0"/>
              <a:t>String Algorithms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9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EC13-1A02-8945-8557-A76A6094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58F31-DDA8-1F46-B6BD-6C758DD25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: systematically </a:t>
            </a:r>
            <a:r>
              <a:rPr lang="en-US" dirty="0">
                <a:solidFill>
                  <a:schemeClr val="accent5"/>
                </a:solidFill>
              </a:rPr>
              <a:t>enumerate all possible candidates </a:t>
            </a:r>
            <a:r>
              <a:rPr lang="en-US" dirty="0"/>
              <a:t>for the solution and check whether they satisfy the problem.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Properties</a:t>
            </a:r>
          </a:p>
          <a:p>
            <a:pPr lvl="1"/>
            <a:r>
              <a:rPr lang="en-US" dirty="0"/>
              <a:t>Easy to implement</a:t>
            </a:r>
          </a:p>
          <a:p>
            <a:pPr lvl="1"/>
            <a:r>
              <a:rPr lang="en-US" dirty="0"/>
              <a:t>Always finds a solution (if it exits)</a:t>
            </a:r>
          </a:p>
          <a:p>
            <a:pPr lvl="1"/>
            <a:r>
              <a:rPr lang="en-US" dirty="0"/>
              <a:t>Cost proportional to number of candidate solutions (impractical)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62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24EF5-97E9-D546-A923-7E27D607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Algorithmic paradigms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FE7BC-9704-FA4D-AFD8-6A651BC23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Brute force</a:t>
            </a:r>
          </a:p>
          <a:p>
            <a:r>
              <a:rPr lang="en-US" dirty="0"/>
              <a:t>Backtracking</a:t>
            </a:r>
          </a:p>
          <a:p>
            <a:r>
              <a:rPr lang="en-US" dirty="0"/>
              <a:t>Divide and conquer</a:t>
            </a:r>
          </a:p>
          <a:p>
            <a:r>
              <a:rPr lang="en-US" dirty="0"/>
              <a:t>Dynamic programming</a:t>
            </a:r>
          </a:p>
          <a:p>
            <a:r>
              <a:rPr lang="en-US" dirty="0"/>
              <a:t>Greedy</a:t>
            </a:r>
          </a:p>
        </p:txBody>
      </p:sp>
    </p:spTree>
    <p:extLst>
      <p:ext uri="{BB962C8B-B14F-4D97-AF65-F5344CB8AC3E}">
        <p14:creationId xmlns:p14="http://schemas.microsoft.com/office/powerpoint/2010/main" val="914443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6C828-B8DB-E645-9FB1-6C4362E1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8B9C6-953D-1341-A4EF-9B95DF798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: </a:t>
            </a:r>
            <a:r>
              <a:rPr lang="en-US" dirty="0">
                <a:solidFill>
                  <a:schemeClr val="accent5"/>
                </a:solidFill>
              </a:rPr>
              <a:t>incrementally build candidate solutions </a:t>
            </a:r>
            <a:r>
              <a:rPr lang="en-US" dirty="0"/>
              <a:t>to the overall problem, abandoning (i.e., "backtracking") a candidate as soon as it is determined that candidate will not lead to a valid overall solution.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Properties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Partial candidate solution </a:t>
            </a:r>
          </a:p>
          <a:p>
            <a:pPr lvl="1"/>
            <a:r>
              <a:rPr lang="en-US" dirty="0"/>
              <a:t>Completion done incrementally via expansion steps</a:t>
            </a:r>
          </a:p>
          <a:p>
            <a:pPr lvl="1"/>
            <a:r>
              <a:rPr lang="en-US" dirty="0"/>
              <a:t>Significantly faster than brute force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59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37B6B-E701-8242-9364-06B032547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779FB-5C22-9140-86B5-4B78AD675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: recursively decompose a problem into two or more </a:t>
            </a:r>
            <a:r>
              <a:rPr lang="en-US" i="1" dirty="0">
                <a:solidFill>
                  <a:schemeClr val="accent5"/>
                </a:solidFill>
              </a:rPr>
              <a:t>(non-overlapping)</a:t>
            </a:r>
            <a:r>
              <a:rPr lang="en-US" dirty="0"/>
              <a:t> sub-problems, until these are simple enough to be solved directly. Then combine the solutions to the sub-problems to build a solution to the original problem.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Properties</a:t>
            </a:r>
          </a:p>
          <a:p>
            <a:pPr lvl="1"/>
            <a:r>
              <a:rPr lang="en-US" dirty="0"/>
              <a:t>Efficiency</a:t>
            </a:r>
          </a:p>
          <a:p>
            <a:pPr lvl="1"/>
            <a:r>
              <a:rPr lang="en-US" dirty="0"/>
              <a:t>Parallelism</a:t>
            </a:r>
          </a:p>
          <a:p>
            <a:pPr lvl="1"/>
            <a:r>
              <a:rPr lang="en-US" dirty="0"/>
              <a:t>Recursion vs explicit stack</a:t>
            </a:r>
          </a:p>
        </p:txBody>
      </p:sp>
    </p:spTree>
    <p:extLst>
      <p:ext uri="{BB962C8B-B14F-4D97-AF65-F5344CB8AC3E}">
        <p14:creationId xmlns:p14="http://schemas.microsoft.com/office/powerpoint/2010/main" val="3185772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D352-FB86-5845-93E5-6352417FC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CB11A-4805-D245-A1C9-6C3D5CBE7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: recursively break down a problem into </a:t>
            </a:r>
            <a:r>
              <a:rPr lang="en-US" i="1" dirty="0">
                <a:solidFill>
                  <a:schemeClr val="accent5"/>
                </a:solidFill>
              </a:rPr>
              <a:t>(overlapping)</a:t>
            </a:r>
            <a:r>
              <a:rPr lang="en-US" dirty="0"/>
              <a:t> sub-problems, solve the sub-problems, then combine the sub-solutions to build a solution to the original problem.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Properties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Optimization problems (optimal sub-structure)</a:t>
            </a:r>
          </a:p>
          <a:p>
            <a:pPr lvl="1"/>
            <a:r>
              <a:rPr lang="en-US" dirty="0"/>
              <a:t>Recursion (and </a:t>
            </a:r>
            <a:r>
              <a:rPr lang="en-US" dirty="0" err="1"/>
              <a:t>memorisation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17536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E3431-44D2-334E-915F-97951F3F4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5986D-DFBB-B247-950E-004D608A9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: iteratively build a solution to a problem, by making </a:t>
            </a:r>
            <a:r>
              <a:rPr lang="en-US" dirty="0">
                <a:solidFill>
                  <a:schemeClr val="accent5"/>
                </a:solidFill>
              </a:rPr>
              <a:t>locally optimal</a:t>
            </a:r>
            <a:r>
              <a:rPr lang="en-US" dirty="0"/>
              <a:t> choices at each stage. 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Properties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Often fails to find globally optimal solution</a:t>
            </a:r>
          </a:p>
          <a:p>
            <a:pPr lvl="1"/>
            <a:r>
              <a:rPr lang="en-US" dirty="0"/>
              <a:t>Faster than dynamic programming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12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24EF5-97E9-D546-A923-7E27D607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Algorithmic paradigms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FE7BC-9704-FA4D-AFD8-6A651BC23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Brute force</a:t>
            </a:r>
          </a:p>
          <a:p>
            <a:r>
              <a:rPr lang="en-US" dirty="0"/>
              <a:t>Backtracking</a:t>
            </a:r>
          </a:p>
          <a:p>
            <a:r>
              <a:rPr lang="en-US" dirty="0"/>
              <a:t>Divide and conquer</a:t>
            </a:r>
          </a:p>
          <a:p>
            <a:r>
              <a:rPr lang="en-US" dirty="0"/>
              <a:t>Dynamic programming</a:t>
            </a:r>
          </a:p>
          <a:p>
            <a:r>
              <a:rPr lang="en-US" dirty="0"/>
              <a:t>Greedy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35239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9C3F-352C-554A-BA47-8C6C1AE2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7A261-8E9A-024F-AE77-B0F2C99A4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Definition</a:t>
            </a:r>
            <a:r>
              <a:rPr lang="en-US" dirty="0"/>
              <a:t>. Problem </a:t>
            </a:r>
            <a:r>
              <a:rPr lang="en-US" i="1" dirty="0"/>
              <a:t>X</a:t>
            </a:r>
            <a:r>
              <a:rPr lang="en-US" dirty="0"/>
              <a:t> reduces to problem </a:t>
            </a:r>
            <a:r>
              <a:rPr lang="en-US" i="1" dirty="0"/>
              <a:t>Y</a:t>
            </a:r>
            <a:r>
              <a:rPr lang="en-US" dirty="0"/>
              <a:t> if you can use an algorithm that solves </a:t>
            </a:r>
            <a:r>
              <a:rPr lang="en-US" i="1" dirty="0"/>
              <a:t>Y</a:t>
            </a:r>
            <a:r>
              <a:rPr lang="en-US" dirty="0"/>
              <a:t> to help solve </a:t>
            </a:r>
            <a:r>
              <a:rPr lang="en-US" i="1" dirty="0"/>
              <a:t>X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>
                <a:highlight>
                  <a:srgbClr val="C0C0C0"/>
                </a:highlight>
              </a:rPr>
              <a:t>Cost of solving X </a:t>
            </a:r>
            <a:r>
              <a:rPr lang="en-US" dirty="0"/>
              <a:t>~ cost of solving Y + cost of reduction (pre/post processing)</a:t>
            </a:r>
          </a:p>
        </p:txBody>
      </p:sp>
      <p:grpSp>
        <p:nvGrpSpPr>
          <p:cNvPr id="23" name="Group 22" descr="visual representation of a reduction: from problem X to problem Y">
            <a:extLst>
              <a:ext uri="{FF2B5EF4-FFF2-40B4-BE49-F238E27FC236}">
                <a16:creationId xmlns:a16="http://schemas.microsoft.com/office/drawing/2014/main" id="{2C493110-B75C-2F49-82C5-7D8D3BB6A418}"/>
              </a:ext>
            </a:extLst>
          </p:cNvPr>
          <p:cNvGrpSpPr/>
          <p:nvPr/>
        </p:nvGrpSpPr>
        <p:grpSpPr>
          <a:xfrm>
            <a:off x="514866" y="2791441"/>
            <a:ext cx="10862969" cy="2005769"/>
            <a:chOff x="356434" y="3657605"/>
            <a:chExt cx="10862969" cy="200576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1AB0A71-E21A-8C4E-95D8-9C0787CE5E7A}"/>
                </a:ext>
              </a:extLst>
            </p:cNvPr>
            <p:cNvSpPr/>
            <p:nvPr/>
          </p:nvSpPr>
          <p:spPr>
            <a:xfrm>
              <a:off x="4396012" y="4122172"/>
              <a:ext cx="3082413" cy="95864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Algorithm to solve Y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2C0DAD3-F69E-F641-B357-404F8BC0061D}"/>
                </a:ext>
              </a:extLst>
            </p:cNvPr>
            <p:cNvSpPr/>
            <p:nvPr/>
          </p:nvSpPr>
          <p:spPr>
            <a:xfrm>
              <a:off x="2525960" y="4122173"/>
              <a:ext cx="1351271" cy="95864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Pre-processing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8EEDA1-40D4-E841-8CD0-36900293BEB2}"/>
                </a:ext>
              </a:extLst>
            </p:cNvPr>
            <p:cNvSpPr/>
            <p:nvPr/>
          </p:nvSpPr>
          <p:spPr>
            <a:xfrm>
              <a:off x="7998274" y="4122172"/>
              <a:ext cx="1351271" cy="95864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Post-processing</a:t>
              </a:r>
            </a:p>
          </p:txBody>
        </p:sp>
        <p:sp>
          <p:nvSpPr>
            <p:cNvPr id="7" name="Rectangle 6" descr="visualisation of reducing problem X to known problem Y">
              <a:extLst>
                <a:ext uri="{FF2B5EF4-FFF2-40B4-BE49-F238E27FC236}">
                  <a16:creationId xmlns:a16="http://schemas.microsoft.com/office/drawing/2014/main" id="{7EECB0DB-12D6-3F4F-ACBE-2A3D676C3262}"/>
                </a:ext>
              </a:extLst>
            </p:cNvPr>
            <p:cNvSpPr/>
            <p:nvPr/>
          </p:nvSpPr>
          <p:spPr>
            <a:xfrm>
              <a:off x="2161765" y="3657605"/>
              <a:ext cx="7504275" cy="2005769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Algorithm to solve X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E1ECF4C-7E2B-8343-B86B-972E46693C0F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356434" y="4601496"/>
              <a:ext cx="2169526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778A650-A525-7C4B-9DDC-5088940233F3}"/>
                </a:ext>
              </a:extLst>
            </p:cNvPr>
            <p:cNvCxnSpPr>
              <a:cxnSpLocks/>
            </p:cNvCxnSpPr>
            <p:nvPr/>
          </p:nvCxnSpPr>
          <p:spPr>
            <a:xfrm>
              <a:off x="9379041" y="4584287"/>
              <a:ext cx="1840362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2D997E0-F467-AA44-90B9-2B5866528DFA}"/>
                </a:ext>
              </a:extLst>
            </p:cNvPr>
            <p:cNvCxnSpPr/>
            <p:nvPr/>
          </p:nvCxnSpPr>
          <p:spPr>
            <a:xfrm>
              <a:off x="3877231" y="4350774"/>
              <a:ext cx="518781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C130C5F-C338-6642-B005-F23F4A437389}"/>
                </a:ext>
              </a:extLst>
            </p:cNvPr>
            <p:cNvCxnSpPr/>
            <p:nvPr/>
          </p:nvCxnSpPr>
          <p:spPr>
            <a:xfrm>
              <a:off x="3877231" y="4584287"/>
              <a:ext cx="518781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DEEC555-AA15-574D-ABD6-ADCA0C08B62B}"/>
                </a:ext>
              </a:extLst>
            </p:cNvPr>
            <p:cNvCxnSpPr/>
            <p:nvPr/>
          </p:nvCxnSpPr>
          <p:spPr>
            <a:xfrm>
              <a:off x="3877231" y="4803057"/>
              <a:ext cx="518781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34833FD-D97D-C84C-AA87-AA132EC939B7}"/>
                </a:ext>
              </a:extLst>
            </p:cNvPr>
            <p:cNvCxnSpPr/>
            <p:nvPr/>
          </p:nvCxnSpPr>
          <p:spPr>
            <a:xfrm>
              <a:off x="7478425" y="4350774"/>
              <a:ext cx="518781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75D76ED-9E6D-2442-BF22-52A1766D9356}"/>
                </a:ext>
              </a:extLst>
            </p:cNvPr>
            <p:cNvCxnSpPr/>
            <p:nvPr/>
          </p:nvCxnSpPr>
          <p:spPr>
            <a:xfrm>
              <a:off x="7478425" y="4584287"/>
              <a:ext cx="518781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3153E5D-2F6A-BF45-A942-A95B9A50432E}"/>
                </a:ext>
              </a:extLst>
            </p:cNvPr>
            <p:cNvCxnSpPr/>
            <p:nvPr/>
          </p:nvCxnSpPr>
          <p:spPr>
            <a:xfrm>
              <a:off x="7478425" y="4803057"/>
              <a:ext cx="518781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C0ADE6D-211E-6641-B2FB-0618A5C706DF}"/>
                </a:ext>
              </a:extLst>
            </p:cNvPr>
            <p:cNvSpPr txBox="1"/>
            <p:nvPr/>
          </p:nvSpPr>
          <p:spPr>
            <a:xfrm>
              <a:off x="384898" y="4177169"/>
              <a:ext cx="1646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Instance </a:t>
              </a:r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of X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B0D90A1-76C9-E343-AD90-9741563ACF07}"/>
                </a:ext>
              </a:extLst>
            </p:cNvPr>
            <p:cNvSpPr txBox="1"/>
            <p:nvPr/>
          </p:nvSpPr>
          <p:spPr>
            <a:xfrm>
              <a:off x="9712672" y="4190074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Solution to </a:t>
              </a:r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5286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9C3F-352C-554A-BA47-8C6C1AE2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7A261-8E9A-024F-AE77-B0F2C99A4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Definition</a:t>
            </a:r>
            <a:r>
              <a:rPr lang="en-US" dirty="0"/>
              <a:t>. Problem </a:t>
            </a:r>
            <a:r>
              <a:rPr lang="en-US" i="1" dirty="0"/>
              <a:t>X</a:t>
            </a:r>
            <a:r>
              <a:rPr lang="en-US" dirty="0"/>
              <a:t> reduces to problem </a:t>
            </a:r>
            <a:r>
              <a:rPr lang="en-US" i="1" dirty="0"/>
              <a:t>Y</a:t>
            </a:r>
            <a:r>
              <a:rPr lang="en-US" dirty="0"/>
              <a:t> if you can use an algorithm that solves </a:t>
            </a:r>
            <a:r>
              <a:rPr lang="en-US" i="1" dirty="0"/>
              <a:t>Y</a:t>
            </a:r>
            <a:r>
              <a:rPr lang="en-US" dirty="0"/>
              <a:t> to help solve </a:t>
            </a:r>
            <a:r>
              <a:rPr lang="en-US" i="1" dirty="0"/>
              <a:t>X</a:t>
            </a:r>
          </a:p>
          <a:p>
            <a:endParaRPr lang="en-US" i="1" dirty="0"/>
          </a:p>
          <a:p>
            <a:r>
              <a:rPr lang="en-US" dirty="0"/>
              <a:t>Example problem </a:t>
            </a:r>
            <a:r>
              <a:rPr lang="en-US" i="1" dirty="0"/>
              <a:t>Y </a:t>
            </a:r>
            <a:r>
              <a:rPr lang="en-US" dirty="0"/>
              <a:t>: </a:t>
            </a:r>
            <a:r>
              <a:rPr lang="en-US" dirty="0">
                <a:solidFill>
                  <a:schemeClr val="accent5"/>
                </a:solidFill>
              </a:rPr>
              <a:t>find the median of </a:t>
            </a:r>
            <a:r>
              <a:rPr lang="en-US" i="1" dirty="0">
                <a:solidFill>
                  <a:schemeClr val="accent5"/>
                </a:solidFill>
              </a:rPr>
              <a:t>N</a:t>
            </a:r>
            <a:r>
              <a:rPr lang="en-US" dirty="0">
                <a:solidFill>
                  <a:schemeClr val="accent5"/>
                </a:solidFill>
              </a:rPr>
              <a:t> items</a:t>
            </a:r>
          </a:p>
          <a:p>
            <a:pPr lvl="1"/>
            <a:r>
              <a:rPr lang="en-US" dirty="0"/>
              <a:t>Problem </a:t>
            </a:r>
            <a:r>
              <a:rPr lang="en-US" i="1" dirty="0"/>
              <a:t>X</a:t>
            </a:r>
            <a:r>
              <a:rPr lang="en-US" dirty="0"/>
              <a:t>: sort </a:t>
            </a:r>
            <a:r>
              <a:rPr lang="en-US" i="1" dirty="0"/>
              <a:t>N</a:t>
            </a:r>
            <a:r>
              <a:rPr lang="en-US" dirty="0"/>
              <a:t> items</a:t>
            </a:r>
          </a:p>
          <a:p>
            <a:pPr lvl="1"/>
            <a:r>
              <a:rPr lang="en-US" dirty="0"/>
              <a:t>Post-processing: return item in the middle</a:t>
            </a:r>
          </a:p>
          <a:p>
            <a:pPr lvl="1"/>
            <a:r>
              <a:rPr lang="en-US" dirty="0"/>
              <a:t>Cost: </a:t>
            </a:r>
            <a:r>
              <a:rPr lang="en-US" i="1" dirty="0"/>
              <a:t>N</a:t>
            </a:r>
            <a:r>
              <a:rPr lang="en-US" dirty="0"/>
              <a:t> log </a:t>
            </a:r>
            <a:r>
              <a:rPr lang="en-US" i="1" dirty="0"/>
              <a:t>N</a:t>
            </a:r>
            <a:r>
              <a:rPr lang="en-US" dirty="0"/>
              <a:t> + 1 </a:t>
            </a:r>
          </a:p>
        </p:txBody>
      </p:sp>
    </p:spTree>
    <p:extLst>
      <p:ext uri="{BB962C8B-B14F-4D97-AF65-F5344CB8AC3E}">
        <p14:creationId xmlns:p14="http://schemas.microsoft.com/office/powerpoint/2010/main" val="3245114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9C3F-352C-554A-BA47-8C6C1AE2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7A261-8E9A-024F-AE77-B0F2C99A4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Definition</a:t>
            </a:r>
            <a:r>
              <a:rPr lang="en-US" dirty="0"/>
              <a:t>. Problem </a:t>
            </a:r>
            <a:r>
              <a:rPr lang="en-US" i="1" dirty="0"/>
              <a:t>X</a:t>
            </a:r>
            <a:r>
              <a:rPr lang="en-US" dirty="0"/>
              <a:t> reduces to problem </a:t>
            </a:r>
            <a:r>
              <a:rPr lang="en-US" i="1" dirty="0"/>
              <a:t>Y</a:t>
            </a:r>
            <a:r>
              <a:rPr lang="en-US" dirty="0"/>
              <a:t> if you can use an algorithm that solves </a:t>
            </a:r>
            <a:r>
              <a:rPr lang="en-US" i="1" dirty="0"/>
              <a:t>Y</a:t>
            </a:r>
            <a:r>
              <a:rPr lang="en-US" dirty="0"/>
              <a:t> to help solve </a:t>
            </a:r>
            <a:r>
              <a:rPr lang="en-US" i="1" dirty="0"/>
              <a:t>X</a:t>
            </a:r>
          </a:p>
          <a:p>
            <a:endParaRPr lang="en-US" i="1" dirty="0"/>
          </a:p>
          <a:p>
            <a:r>
              <a:rPr lang="en-US" dirty="0"/>
              <a:t>Example problem </a:t>
            </a:r>
            <a:r>
              <a:rPr lang="en-US" i="1" dirty="0"/>
              <a:t>Y </a:t>
            </a:r>
            <a:r>
              <a:rPr lang="en-US" dirty="0"/>
              <a:t>: </a:t>
            </a:r>
            <a:r>
              <a:rPr lang="en-US" dirty="0">
                <a:solidFill>
                  <a:schemeClr val="accent5"/>
                </a:solidFill>
              </a:rPr>
              <a:t>given </a:t>
            </a:r>
            <a:r>
              <a:rPr lang="en-US" i="1" dirty="0">
                <a:solidFill>
                  <a:schemeClr val="accent5"/>
                </a:solidFill>
              </a:rPr>
              <a:t>N</a:t>
            </a:r>
            <a:r>
              <a:rPr lang="en-US" dirty="0">
                <a:solidFill>
                  <a:schemeClr val="accent5"/>
                </a:solidFill>
              </a:rPr>
              <a:t> items, are they all distinct?</a:t>
            </a:r>
          </a:p>
          <a:p>
            <a:pPr lvl="1"/>
            <a:r>
              <a:rPr lang="en-US" dirty="0"/>
              <a:t>Problem </a:t>
            </a:r>
            <a:r>
              <a:rPr lang="en-US" i="1" dirty="0"/>
              <a:t>X</a:t>
            </a:r>
            <a:r>
              <a:rPr lang="en-US" dirty="0"/>
              <a:t>: sort </a:t>
            </a:r>
            <a:r>
              <a:rPr lang="en-US" i="1" dirty="0"/>
              <a:t>N</a:t>
            </a:r>
            <a:r>
              <a:rPr lang="en-US" dirty="0"/>
              <a:t> items</a:t>
            </a:r>
          </a:p>
          <a:p>
            <a:pPr lvl="1"/>
            <a:r>
              <a:rPr lang="en-US" dirty="0"/>
              <a:t>Post-processing: check adjacent pairs for equality</a:t>
            </a:r>
          </a:p>
          <a:p>
            <a:pPr lvl="1"/>
            <a:r>
              <a:rPr lang="en-US" dirty="0"/>
              <a:t>Cost: </a:t>
            </a:r>
            <a:r>
              <a:rPr lang="en-US" i="1" dirty="0"/>
              <a:t>N</a:t>
            </a:r>
            <a:r>
              <a:rPr lang="en-US" dirty="0"/>
              <a:t> log </a:t>
            </a:r>
            <a:r>
              <a:rPr lang="en-US" i="1" dirty="0"/>
              <a:t>N</a:t>
            </a:r>
            <a:r>
              <a:rPr lang="en-US" dirty="0"/>
              <a:t> + </a:t>
            </a:r>
            <a:r>
              <a:rPr lang="en-US" i="1" dirty="0"/>
              <a:t>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6933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9C3F-352C-554A-BA47-8C6C1AE2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7A261-8E9A-024F-AE77-B0F2C99A4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Definition</a:t>
            </a:r>
            <a:r>
              <a:rPr lang="en-US" dirty="0"/>
              <a:t>. Problem </a:t>
            </a:r>
            <a:r>
              <a:rPr lang="en-US" i="1" dirty="0"/>
              <a:t>X</a:t>
            </a:r>
            <a:r>
              <a:rPr lang="en-US" dirty="0"/>
              <a:t> reduces to problem </a:t>
            </a:r>
            <a:r>
              <a:rPr lang="en-US" i="1" dirty="0"/>
              <a:t>Y</a:t>
            </a:r>
            <a:r>
              <a:rPr lang="en-US" dirty="0"/>
              <a:t> if you can use an algorithm that solves </a:t>
            </a:r>
            <a:r>
              <a:rPr lang="en-US" i="1" dirty="0"/>
              <a:t>Y</a:t>
            </a:r>
            <a:r>
              <a:rPr lang="en-US" dirty="0"/>
              <a:t> to help solve </a:t>
            </a:r>
            <a:r>
              <a:rPr lang="en-US" i="1" dirty="0"/>
              <a:t>X</a:t>
            </a:r>
          </a:p>
          <a:p>
            <a:endParaRPr lang="en-US" i="1" dirty="0"/>
          </a:p>
          <a:p>
            <a:r>
              <a:rPr lang="en-US" dirty="0"/>
              <a:t>Example problem </a:t>
            </a:r>
            <a:r>
              <a:rPr lang="en-US" i="1" dirty="0"/>
              <a:t>Y </a:t>
            </a:r>
            <a:r>
              <a:rPr lang="en-US" dirty="0"/>
              <a:t>: </a:t>
            </a:r>
            <a:r>
              <a:rPr lang="en-US" dirty="0">
                <a:solidFill>
                  <a:schemeClr val="accent5"/>
                </a:solidFill>
              </a:rPr>
              <a:t>shortest path on edge-weighted undirected graph</a:t>
            </a:r>
          </a:p>
          <a:p>
            <a:pPr lvl="1"/>
            <a:r>
              <a:rPr lang="en-US" dirty="0"/>
              <a:t>Problem </a:t>
            </a:r>
            <a:r>
              <a:rPr lang="en-US" i="1" dirty="0"/>
              <a:t>X</a:t>
            </a:r>
            <a:r>
              <a:rPr lang="en-US" dirty="0"/>
              <a:t>: shortest path on digraph</a:t>
            </a:r>
          </a:p>
          <a:p>
            <a:pPr lvl="1"/>
            <a:r>
              <a:rPr lang="en-US" dirty="0"/>
              <a:t>Pre-processing: replace each undirected edge by two directed edges</a:t>
            </a:r>
          </a:p>
          <a:p>
            <a:pPr lvl="1"/>
            <a:r>
              <a:rPr lang="en-US" dirty="0"/>
              <a:t>Cost: E log </a:t>
            </a:r>
            <a:r>
              <a:rPr lang="en-US" i="1" dirty="0"/>
              <a:t>V</a:t>
            </a:r>
            <a:r>
              <a:rPr lang="en-US" dirty="0"/>
              <a:t> + </a:t>
            </a:r>
            <a:r>
              <a:rPr lang="en-US" i="1" dirty="0"/>
              <a:t>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2473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5B81-34BB-DF45-AC4C-4FC72F93D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482" y="3069000"/>
            <a:ext cx="10132541" cy="720000"/>
          </a:xfrm>
        </p:spPr>
        <p:txBody>
          <a:bodyPr>
            <a:normAutofit/>
          </a:bodyPr>
          <a:lstStyle/>
          <a:p>
            <a:r>
              <a:rPr lang="en-US" sz="4000" dirty="0"/>
              <a:t>COMP0005 – THE END</a:t>
            </a:r>
          </a:p>
        </p:txBody>
      </p:sp>
    </p:spTree>
    <p:extLst>
      <p:ext uri="{BB962C8B-B14F-4D97-AF65-F5344CB8AC3E}">
        <p14:creationId xmlns:p14="http://schemas.microsoft.com/office/powerpoint/2010/main" val="591440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525</Words>
  <Application>Microsoft Macintosh PowerPoint</Application>
  <PresentationFormat>Widescreen</PresentationFormat>
  <Paragraphs>106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Wingdings</vt:lpstr>
      <vt:lpstr>Office Theme</vt:lpstr>
      <vt:lpstr>4_Custom Design</vt:lpstr>
      <vt:lpstr>COMP0005 – ALGORITHMS   6. Final Module Recap</vt:lpstr>
      <vt:lpstr>COMP0005 – COURSE RECAP</vt:lpstr>
      <vt:lpstr>Brute force</vt:lpstr>
      <vt:lpstr>Algorithmic paradigms</vt:lpstr>
      <vt:lpstr>backtracking</vt:lpstr>
      <vt:lpstr>Divide and conquer</vt:lpstr>
      <vt:lpstr>Dynamic programming</vt:lpstr>
      <vt:lpstr>greedy</vt:lpstr>
      <vt:lpstr>Algorithmic paradigms</vt:lpstr>
      <vt:lpstr>reductions</vt:lpstr>
      <vt:lpstr>reductions</vt:lpstr>
      <vt:lpstr>reductions</vt:lpstr>
      <vt:lpstr>reductions</vt:lpstr>
      <vt:lpstr>COMP0005 – 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Capra, Licia</dc:creator>
  <cp:lastModifiedBy>Capra, Licia</cp:lastModifiedBy>
  <cp:revision>43</cp:revision>
  <dcterms:created xsi:type="dcterms:W3CDTF">2020-06-23T14:37:29Z</dcterms:created>
  <dcterms:modified xsi:type="dcterms:W3CDTF">2020-12-01T14:23:05Z</dcterms:modified>
</cp:coreProperties>
</file>