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04"/>
  </p:notesMasterIdLst>
  <p:sldIdLst>
    <p:sldId id="266" r:id="rId3"/>
    <p:sldId id="305" r:id="rId4"/>
    <p:sldId id="304" r:id="rId5"/>
    <p:sldId id="311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12" r:id="rId19"/>
    <p:sldId id="325" r:id="rId20"/>
    <p:sldId id="326" r:id="rId21"/>
    <p:sldId id="327" r:id="rId22"/>
    <p:sldId id="328" r:id="rId23"/>
    <p:sldId id="329" r:id="rId24"/>
    <p:sldId id="306" r:id="rId25"/>
    <p:sldId id="330" r:id="rId26"/>
    <p:sldId id="310" r:id="rId27"/>
    <p:sldId id="331" r:id="rId28"/>
    <p:sldId id="332" r:id="rId29"/>
    <p:sldId id="333" r:id="rId30"/>
    <p:sldId id="334" r:id="rId31"/>
    <p:sldId id="335" r:id="rId32"/>
    <p:sldId id="336" r:id="rId33"/>
    <p:sldId id="337" r:id="rId34"/>
    <p:sldId id="338" r:id="rId35"/>
    <p:sldId id="339" r:id="rId36"/>
    <p:sldId id="340" r:id="rId37"/>
    <p:sldId id="341" r:id="rId38"/>
    <p:sldId id="342" r:id="rId39"/>
    <p:sldId id="343" r:id="rId40"/>
    <p:sldId id="344" r:id="rId41"/>
    <p:sldId id="345" r:id="rId42"/>
    <p:sldId id="346" r:id="rId43"/>
    <p:sldId id="348" r:id="rId44"/>
    <p:sldId id="351" r:id="rId45"/>
    <p:sldId id="350" r:id="rId46"/>
    <p:sldId id="352" r:id="rId47"/>
    <p:sldId id="353" r:id="rId48"/>
    <p:sldId id="354" r:id="rId49"/>
    <p:sldId id="355" r:id="rId50"/>
    <p:sldId id="356" r:id="rId51"/>
    <p:sldId id="357" r:id="rId52"/>
    <p:sldId id="358" r:id="rId53"/>
    <p:sldId id="378" r:id="rId54"/>
    <p:sldId id="359" r:id="rId55"/>
    <p:sldId id="379" r:id="rId56"/>
    <p:sldId id="360" r:id="rId57"/>
    <p:sldId id="380" r:id="rId58"/>
    <p:sldId id="361" r:id="rId59"/>
    <p:sldId id="381" r:id="rId60"/>
    <p:sldId id="362" r:id="rId61"/>
    <p:sldId id="363" r:id="rId62"/>
    <p:sldId id="382" r:id="rId63"/>
    <p:sldId id="364" r:id="rId64"/>
    <p:sldId id="365" r:id="rId65"/>
    <p:sldId id="372" r:id="rId66"/>
    <p:sldId id="366" r:id="rId67"/>
    <p:sldId id="373" r:id="rId68"/>
    <p:sldId id="367" r:id="rId69"/>
    <p:sldId id="374" r:id="rId70"/>
    <p:sldId id="368" r:id="rId71"/>
    <p:sldId id="375" r:id="rId72"/>
    <p:sldId id="369" r:id="rId73"/>
    <p:sldId id="370" r:id="rId74"/>
    <p:sldId id="376" r:id="rId75"/>
    <p:sldId id="371" r:id="rId76"/>
    <p:sldId id="377" r:id="rId77"/>
    <p:sldId id="307" r:id="rId78"/>
    <p:sldId id="309" r:id="rId79"/>
    <p:sldId id="385" r:id="rId80"/>
    <p:sldId id="386" r:id="rId81"/>
    <p:sldId id="387" r:id="rId82"/>
    <p:sldId id="388" r:id="rId83"/>
    <p:sldId id="389" r:id="rId84"/>
    <p:sldId id="390" r:id="rId85"/>
    <p:sldId id="392" r:id="rId86"/>
    <p:sldId id="391" r:id="rId87"/>
    <p:sldId id="393" r:id="rId88"/>
    <p:sldId id="394" r:id="rId89"/>
    <p:sldId id="395" r:id="rId90"/>
    <p:sldId id="397" r:id="rId91"/>
    <p:sldId id="399" r:id="rId92"/>
    <p:sldId id="400" r:id="rId93"/>
    <p:sldId id="401" r:id="rId94"/>
    <p:sldId id="402" r:id="rId95"/>
    <p:sldId id="403" r:id="rId96"/>
    <p:sldId id="404" r:id="rId97"/>
    <p:sldId id="405" r:id="rId98"/>
    <p:sldId id="406" r:id="rId99"/>
    <p:sldId id="398" r:id="rId100"/>
    <p:sldId id="407" r:id="rId101"/>
    <p:sldId id="383" r:id="rId102"/>
    <p:sldId id="308" r:id="rId10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1"/>
    <p:restoredTop sz="49657"/>
  </p:normalViewPr>
  <p:slideViewPr>
    <p:cSldViewPr snapToGrid="0" snapToObjects="1">
      <p:cViewPr varScale="1">
        <p:scale>
          <a:sx n="86" d="100"/>
          <a:sy n="86" d="100"/>
        </p:scale>
        <p:origin x="2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theme" Target="theme/theme1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794ED-9DCD-E143-A31C-FF459F6B3753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7CF15C-D2B2-934B-A539-F97C996A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702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49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79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63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19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32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1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97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72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840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05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17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03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8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76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5913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505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617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482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178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995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56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13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102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550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159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213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636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815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186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161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413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941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178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474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026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92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060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9988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1322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318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364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76592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091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829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967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1268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9130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335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6930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2153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952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4158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8641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1097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1413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7178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7824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41704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5932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144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4939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9678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7017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61845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94013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3121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0348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957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9630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8293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94539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8726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8312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8745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345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01939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4020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7664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3068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5456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4651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75995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0697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2597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1617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50696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4662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8550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0096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0387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2639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9765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5435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34005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9900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503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1879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592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884102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15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104-30DF-C243-B6F5-80F122C4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C87-B826-1B49-A847-710502CB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453F-4E94-824B-AFA6-EB4E86C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B56E-3BBC-654D-8FA9-E1F006DD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8353-695E-914E-959B-1DE0613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7F73-75A7-BF4C-9B87-0E5DAA26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132541" cy="720000"/>
          </a:xfrm>
        </p:spPr>
        <p:txBody>
          <a:bodyPr/>
          <a:lstStyle>
            <a:lvl1pPr>
              <a:defRPr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9A81-21ED-634D-B435-4DA1AB93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7776-6F62-7949-AC29-57711FE6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DEED-88CB-854F-A579-2E9F5C8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3E4C-5521-A646-9E20-EDBF5E08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B6D-FB51-F14E-96DC-CB7994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CE9B-3262-4946-BA2B-2E15B12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77B-0526-5246-ADF9-A09D322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74B-6A3E-0D41-A414-968897748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9A30-BEDD-4E4D-A469-75A32DB6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90622-BD04-2F49-87BF-8F8A56A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36CA9-0AF2-6044-B7B9-D370C998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07945-78CB-FD48-A540-3D195554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05D-2311-6C4A-AFBA-C7380661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611F-9F84-EF46-B687-F45096EE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FF43-7CB4-D043-A4E6-F7EBD5AD1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51C7-134F-6D4C-B0C9-F97F16FC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B9679-8272-C842-80E7-7C2C35B6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03A7-9909-8849-989F-56035CE1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F941C-DA96-0244-A4BD-DDC6880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B1AB-E8BD-194D-A1B0-84EEEAD5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B65D-442A-8843-8F16-7ABEA571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9297-1F38-2D41-BF9E-9074D73D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6E31A-1A8B-DA41-96E1-AE81C5D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5C91-339E-644D-8D83-3DE22C8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269F9-C47F-5B42-8277-D273C18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9E2E-0F80-CC4C-AC36-AEBFFC9C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C028F-9D1D-4246-9A8D-9B12841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425B-9808-AA41-9609-755D86C8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FAE-9E85-D84D-8A74-ADC02B42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5D49-C024-1643-8B1C-B03459C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C301-58C0-8443-A8FD-FE276F98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AA141-96BB-DB4F-B27D-6F7AF7D7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BB8-298F-1246-BC42-25680FD0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3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C04D-5F03-AA4D-8037-39B8E66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1385-96F7-A140-AA79-83ACBA263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11CC3-A00C-784B-8C87-ECE428E1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C509-EA9D-234D-BD95-51099A8B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8714-646A-7642-ACC7-DBE6042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2430-0B85-1D4C-B46F-FC7DD6A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3C0C-A609-F342-919D-11DD78C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19D3E-C74D-5148-A3E6-FF8D596B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6387-CFBA-0342-A560-13C5D788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E4AB-2F0E-DE42-A638-F24757D1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B63D-2E4D-4241-83AC-C6A15648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DECF-14E8-3C41-B869-448FE50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B74BE-C693-0E44-8F73-00799AB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73F7-69F8-D743-8DD7-63377B19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2B8-7B1D-774A-AE0D-C751F2A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F8AB-2631-7F49-804C-2B75DF4D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61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74719"/>
            <a:ext cx="10515600" cy="27022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"/>
            <a:ext cx="12192000" cy="1646767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999" y="384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467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467">
                <a:solidFill>
                  <a:schemeClr val="tx1"/>
                </a:solidFill>
              </a:defRPr>
            </a:lvl2pPr>
            <a:lvl3pPr marL="0" indent="0">
              <a:buNone/>
              <a:defRPr sz="1467">
                <a:solidFill>
                  <a:schemeClr val="tx1"/>
                </a:solidFill>
              </a:defRPr>
            </a:lvl3pPr>
            <a:lvl4pPr marL="0" indent="0">
              <a:buNone/>
              <a:defRPr sz="1467">
                <a:solidFill>
                  <a:schemeClr val="tx1"/>
                </a:solidFill>
              </a:defRPr>
            </a:lvl4pPr>
            <a:lvl5pPr marL="0" indent="0">
              <a:buNone/>
              <a:defRPr sz="14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2792606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999" y="1326291"/>
            <a:ext cx="11146989" cy="4993416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-2117"/>
            <a:ext cx="12192000" cy="988484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8617264-77E5-D84E-B0FF-1EA9D2C4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99" y="190218"/>
            <a:ext cx="9382171" cy="651911"/>
          </a:xfrm>
          <a:prstGeom prst="rect">
            <a:avLst/>
          </a:prstGeom>
        </p:spPr>
        <p:txBody>
          <a:bodyPr/>
          <a:lstStyle>
            <a:lvl1pPr>
              <a:defRPr sz="4267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17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C065B9-79B2-2E46-992C-E436F6FDC61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1262"/>
            <a:ext cx="12192000" cy="132556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A9AA-7FD3-E641-8BB9-C7229D0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347"/>
            <a:ext cx="10515600" cy="90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3258-2D95-1B4C-B09E-444B93AC6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708" y="1668162"/>
            <a:ext cx="11294076" cy="489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75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9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0098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20249" y="220779"/>
            <a:ext cx="4289120" cy="93996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6933"/>
            <a:endParaRPr lang="en-GB" sz="1333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005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7" indent="-119997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7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2462581"/>
            <a:ext cx="10515600" cy="1929476"/>
          </a:xfrm>
        </p:spPr>
        <p:txBody>
          <a:bodyPr/>
          <a:lstStyle/>
          <a:p>
            <a:r>
              <a:rPr lang="en-US" sz="5333" dirty="0">
                <a:solidFill>
                  <a:schemeClr val="tx1"/>
                </a:solidFill>
              </a:rPr>
              <a:t>COMP0005 – ALGORITHMS </a:t>
            </a:r>
            <a:br>
              <a:rPr lang="en-US" sz="5333" dirty="0">
                <a:solidFill>
                  <a:schemeClr val="tx1"/>
                </a:solidFill>
              </a:rPr>
            </a:br>
            <a:br>
              <a:rPr lang="en-US" sz="3733" dirty="0">
                <a:solidFill>
                  <a:schemeClr val="tx1"/>
                </a:solidFill>
              </a:rPr>
            </a:br>
            <a:r>
              <a:rPr lang="en-US" sz="3733" dirty="0">
                <a:solidFill>
                  <a:schemeClr val="tx1"/>
                </a:solidFill>
              </a:rPr>
              <a:t>5.3 </a:t>
            </a:r>
            <a:r>
              <a:rPr lang="en-US" sz="3733">
                <a:solidFill>
                  <a:schemeClr val="tx1"/>
                </a:solidFill>
              </a:rPr>
              <a:t>Substring Search</a:t>
            </a:r>
            <a:endParaRPr lang="en-US" sz="3733" dirty="0">
              <a:solidFill>
                <a:schemeClr val="tx1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518925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Prof </a:t>
            </a:r>
            <a:r>
              <a:rPr lang="en-US" sz="2667" dirty="0" err="1"/>
              <a:t>Licia</a:t>
            </a:r>
            <a:r>
              <a:rPr lang="en-US" sz="2667" dirty="0"/>
              <a:t> Capra</a:t>
            </a:r>
          </a:p>
          <a:p>
            <a:pPr marL="0" indent="0">
              <a:buNone/>
            </a:pPr>
            <a:r>
              <a:rPr lang="en-US" sz="2133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075016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8393-BC2A-954E-8C5F-8020F06C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SUBSTRING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464F2-6FF0-934D-8F2B-9E7B716D3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Goal</a:t>
            </a:r>
            <a:r>
              <a:rPr lang="en-US" dirty="0"/>
              <a:t>. Find a pattern of length M in a text of length N (usually M&lt;&lt;N).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 applications</a:t>
            </a:r>
          </a:p>
          <a:p>
            <a:pPr lvl="1"/>
            <a:r>
              <a:rPr lang="en-US" dirty="0"/>
              <a:t>Document processing</a:t>
            </a:r>
          </a:p>
          <a:p>
            <a:pPr lvl="1"/>
            <a:r>
              <a:rPr lang="en-US" dirty="0"/>
              <a:t>Spam filtering</a:t>
            </a:r>
          </a:p>
          <a:p>
            <a:pPr lvl="1"/>
            <a:r>
              <a:rPr lang="en-US" dirty="0"/>
              <a:t>Electronic surveillance</a:t>
            </a:r>
          </a:p>
          <a:p>
            <a:pPr lvl="1"/>
            <a:r>
              <a:rPr lang="en-US" dirty="0"/>
              <a:t>Web scraping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D3FD52-5838-9341-A4EF-0689E3C8B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766411"/>
              </p:ext>
            </p:extLst>
          </p:nvPr>
        </p:nvGraphicFramePr>
        <p:xfrm>
          <a:off x="2275993" y="2564795"/>
          <a:ext cx="73228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</a:tbl>
          </a:graphicData>
        </a:graphic>
      </p:graphicFrame>
      <p:grpSp>
        <p:nvGrpSpPr>
          <p:cNvPr id="26" name="Group 25" descr="highlighting text, patern and match in example">
            <a:extLst>
              <a:ext uri="{FF2B5EF4-FFF2-40B4-BE49-F238E27FC236}">
                <a16:creationId xmlns:a16="http://schemas.microsoft.com/office/drawing/2014/main" id="{0F5F4059-4D21-5248-B22B-C7655033F517}"/>
              </a:ext>
            </a:extLst>
          </p:cNvPr>
          <p:cNvGrpSpPr/>
          <p:nvPr/>
        </p:nvGrpSpPr>
        <p:grpSpPr>
          <a:xfrm>
            <a:off x="468204" y="2566303"/>
            <a:ext cx="5469216" cy="1125436"/>
            <a:chOff x="468204" y="2566303"/>
            <a:chExt cx="5469216" cy="112543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EF0708C-3F53-3749-BA02-7FA1A2DC79B1}"/>
                </a:ext>
              </a:extLst>
            </p:cNvPr>
            <p:cNvSpPr txBox="1"/>
            <p:nvPr/>
          </p:nvSpPr>
          <p:spPr>
            <a:xfrm>
              <a:off x="468204" y="2566303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4B9B75-CDE8-F649-A61E-3E266F669B68}"/>
                </a:ext>
              </a:extLst>
            </p:cNvPr>
            <p:cNvSpPr txBox="1"/>
            <p:nvPr/>
          </p:nvSpPr>
          <p:spPr>
            <a:xfrm>
              <a:off x="785445" y="293714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1FFFF46-341B-1243-BC48-6218450E212A}"/>
                </a:ext>
              </a:extLst>
            </p:cNvPr>
            <p:cNvCxnSpPr>
              <a:stCxn id="5" idx="3"/>
            </p:cNvCxnSpPr>
            <p:nvPr/>
          </p:nvCxnSpPr>
          <p:spPr>
            <a:xfrm flipV="1">
              <a:off x="1371015" y="2743200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866578C-9BD2-7843-9521-1A7C93BB305F}"/>
                </a:ext>
              </a:extLst>
            </p:cNvPr>
            <p:cNvCxnSpPr/>
            <p:nvPr/>
          </p:nvCxnSpPr>
          <p:spPr>
            <a:xfrm flipV="1">
              <a:off x="1356511" y="312180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E0045EA-0C77-B749-974B-B2901A4CBE52}"/>
                </a:ext>
              </a:extLst>
            </p:cNvPr>
            <p:cNvGrpSpPr/>
            <p:nvPr/>
          </p:nvGrpSpPr>
          <p:grpSpPr>
            <a:xfrm>
              <a:off x="3967843" y="3107751"/>
              <a:ext cx="1969577" cy="583988"/>
              <a:chOff x="3967843" y="3107751"/>
              <a:chExt cx="1969577" cy="583988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64B5A7-498D-C946-96CF-AF19907F80EC}"/>
                  </a:ext>
                </a:extLst>
              </p:cNvPr>
              <p:cNvSpPr txBox="1"/>
              <p:nvPr/>
            </p:nvSpPr>
            <p:spPr>
              <a:xfrm>
                <a:off x="4546109" y="3322407"/>
                <a:ext cx="8130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match</a:t>
                </a: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F7E6330A-3607-4C4C-93EB-645BE936D7BB}"/>
                  </a:ext>
                </a:extLst>
              </p:cNvPr>
              <p:cNvGrpSpPr/>
              <p:nvPr/>
            </p:nvGrpSpPr>
            <p:grpSpPr>
              <a:xfrm>
                <a:off x="3967843" y="3107751"/>
                <a:ext cx="1969577" cy="247711"/>
                <a:chOff x="3967843" y="3075093"/>
                <a:chExt cx="1969577" cy="247711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66272950-AB18-F441-952A-572D0894316B}"/>
                    </a:ext>
                  </a:extLst>
                </p:cNvPr>
                <p:cNvCxnSpPr>
                  <a:cxnSpLocks/>
                  <a:endCxn id="4" idx="2"/>
                </p:cNvCxnSpPr>
                <p:nvPr/>
              </p:nvCxnSpPr>
              <p:spPr>
                <a:xfrm>
                  <a:off x="3967843" y="3306475"/>
                  <a:ext cx="1969577" cy="0"/>
                </a:xfrm>
                <a:prstGeom prst="line">
                  <a:avLst/>
                </a:prstGeom>
                <a:ln w="28575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7C90899E-1D18-9D4F-B6D9-B6E7CBCD7C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67843" y="3075093"/>
                  <a:ext cx="0" cy="247711"/>
                </a:xfrm>
                <a:prstGeom prst="line">
                  <a:avLst/>
                </a:prstGeom>
                <a:ln w="28575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A07A413B-1666-8246-8E49-C2C652AE7915}"/>
                    </a:ext>
                  </a:extLst>
                </p:cNvPr>
                <p:cNvCxnSpPr>
                  <a:cxnSpLocks/>
                  <a:stCxn id="4" idx="2"/>
                </p:cNvCxnSpPr>
                <p:nvPr/>
              </p:nvCxnSpPr>
              <p:spPr>
                <a:xfrm flipV="1">
                  <a:off x="5937420" y="3075093"/>
                  <a:ext cx="0" cy="231382"/>
                </a:xfrm>
                <a:prstGeom prst="line">
                  <a:avLst/>
                </a:prstGeom>
                <a:ln w="28575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157066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4B2B-42A6-AB40-9BC4-CB4BFBF6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AC683-7CB8-FA4F-BFE8-E3A25C25F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  <a:p>
            <a:r>
              <a:rPr lang="en-US" dirty="0"/>
              <a:t>Knuth-Morris-Pratt algorithm</a:t>
            </a:r>
          </a:p>
          <a:p>
            <a:r>
              <a:rPr lang="en-US" dirty="0"/>
              <a:t>Boyer-Moore algorithm</a:t>
            </a:r>
          </a:p>
        </p:txBody>
      </p:sp>
    </p:spTree>
    <p:extLst>
      <p:ext uri="{BB962C8B-B14F-4D97-AF65-F5344CB8AC3E}">
        <p14:creationId xmlns:p14="http://schemas.microsoft.com/office/powerpoint/2010/main" val="3595947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. Use two indices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 to scan the text and the pattern respectively. Compare the </a:t>
            </a:r>
            <a:r>
              <a:rPr lang="en-US" i="1" dirty="0" err="1"/>
              <a:t>j</a:t>
            </a:r>
            <a:r>
              <a:rPr lang="en-US" i="1" baseline="30000" dirty="0" err="1"/>
              <a:t>th</a:t>
            </a:r>
            <a:r>
              <a:rPr lang="en-US" dirty="0"/>
              <a:t> character in the pattern with the </a:t>
            </a:r>
            <a:r>
              <a:rPr lang="en-US" i="1" dirty="0"/>
              <a:t>(</a:t>
            </a:r>
            <a:r>
              <a:rPr lang="en-US" i="1" dirty="0" err="1"/>
              <a:t>i+j</a:t>
            </a:r>
            <a:r>
              <a:rPr lang="en-US" i="1" dirty="0"/>
              <a:t>)</a:t>
            </a:r>
            <a:r>
              <a:rPr lang="en-US" i="1" baseline="30000" dirty="0" err="1"/>
              <a:t>th</a:t>
            </a:r>
            <a:r>
              <a:rPr lang="en-US" dirty="0"/>
              <a:t> character in the text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match</a:t>
            </a:r>
            <a:r>
              <a:rPr lang="en-US" dirty="0"/>
              <a:t>, move the index </a:t>
            </a:r>
            <a:r>
              <a:rPr lang="en-US" i="1" dirty="0"/>
              <a:t>j</a:t>
            </a:r>
            <a:r>
              <a:rPr lang="en-US" dirty="0"/>
              <a:t> in the pattern of 1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mismatch</a:t>
            </a:r>
            <a:r>
              <a:rPr lang="en-US" dirty="0"/>
              <a:t>, move the search index </a:t>
            </a:r>
            <a:r>
              <a:rPr lang="en-US" i="1" dirty="0" err="1"/>
              <a:t>i</a:t>
            </a:r>
            <a:r>
              <a:rPr lang="en-US" dirty="0"/>
              <a:t> in the text of 1 and restart the index </a:t>
            </a:r>
            <a:r>
              <a:rPr lang="en-US" i="1" dirty="0"/>
              <a:t>j</a:t>
            </a:r>
            <a:r>
              <a:rPr lang="en-US" dirty="0"/>
              <a:t> in the pattern from the beginning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905911"/>
              </p:ext>
            </p:extLst>
          </p:nvPr>
        </p:nvGraphicFramePr>
        <p:xfrm>
          <a:off x="2586237" y="4567345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2622336" y="3922383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2621128" y="6050705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626784" y="4916698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 descr="index i+j">
            <a:extLst>
              <a:ext uri="{FF2B5EF4-FFF2-40B4-BE49-F238E27FC236}">
                <a16:creationId xmlns:a16="http://schemas.microsoft.com/office/drawing/2014/main" id="{8DBAE141-9D3D-7C47-BA31-C2A4B70E1411}"/>
              </a:ext>
            </a:extLst>
          </p:cNvPr>
          <p:cNvSpPr txBox="1"/>
          <p:nvPr/>
        </p:nvSpPr>
        <p:spPr>
          <a:xfrm>
            <a:off x="2529840" y="6463013"/>
            <a:ext cx="625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i+j</a:t>
            </a:r>
            <a:endParaRPr lang="en-US" i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7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. Use two indices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 to scan the text and the pattern respectively. Compare the </a:t>
            </a:r>
            <a:r>
              <a:rPr lang="en-US" i="1" dirty="0" err="1"/>
              <a:t>j</a:t>
            </a:r>
            <a:r>
              <a:rPr lang="en-US" i="1" baseline="30000" dirty="0" err="1"/>
              <a:t>th</a:t>
            </a:r>
            <a:r>
              <a:rPr lang="en-US" dirty="0"/>
              <a:t> character in the pattern with the </a:t>
            </a:r>
            <a:r>
              <a:rPr lang="en-US" i="1" dirty="0"/>
              <a:t>(</a:t>
            </a:r>
            <a:r>
              <a:rPr lang="en-US" i="1" dirty="0" err="1"/>
              <a:t>i+j</a:t>
            </a:r>
            <a:r>
              <a:rPr lang="en-US" i="1" dirty="0"/>
              <a:t>)</a:t>
            </a:r>
            <a:r>
              <a:rPr lang="en-US" i="1" baseline="30000" dirty="0" err="1"/>
              <a:t>th</a:t>
            </a:r>
            <a:r>
              <a:rPr lang="en-US" dirty="0"/>
              <a:t> character in the text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match</a:t>
            </a:r>
            <a:r>
              <a:rPr lang="en-US" dirty="0"/>
              <a:t>, move the index </a:t>
            </a:r>
            <a:r>
              <a:rPr lang="en-US" i="1" dirty="0"/>
              <a:t>j</a:t>
            </a:r>
            <a:r>
              <a:rPr lang="en-US" dirty="0"/>
              <a:t> in the pattern of 1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mismatch</a:t>
            </a:r>
            <a:r>
              <a:rPr lang="en-US" dirty="0"/>
              <a:t>, move the search index </a:t>
            </a:r>
            <a:r>
              <a:rPr lang="en-US" i="1" dirty="0" err="1"/>
              <a:t>i</a:t>
            </a:r>
            <a:r>
              <a:rPr lang="en-US" dirty="0"/>
              <a:t> in the text of 1 and restart the index </a:t>
            </a:r>
            <a:r>
              <a:rPr lang="en-US" i="1" dirty="0"/>
              <a:t>j</a:t>
            </a:r>
            <a:r>
              <a:rPr lang="en-US" dirty="0"/>
              <a:t> in the pattern from the beginning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626784" y="4916698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86237" y="4567345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2622336" y="3922383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2988119" y="6106353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 descr="index i+j">
            <a:extLst>
              <a:ext uri="{FF2B5EF4-FFF2-40B4-BE49-F238E27FC236}">
                <a16:creationId xmlns:a16="http://schemas.microsoft.com/office/drawing/2014/main" id="{8DBAE141-9D3D-7C47-BA31-C2A4B70E1411}"/>
              </a:ext>
            </a:extLst>
          </p:cNvPr>
          <p:cNvSpPr txBox="1"/>
          <p:nvPr/>
        </p:nvSpPr>
        <p:spPr>
          <a:xfrm>
            <a:off x="2896831" y="6518661"/>
            <a:ext cx="625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i+j</a:t>
            </a:r>
            <a:endParaRPr lang="en-US" i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52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. Use two indices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 to scan the text and the pattern respectively. Compare the </a:t>
            </a:r>
            <a:r>
              <a:rPr lang="en-US" i="1" dirty="0" err="1"/>
              <a:t>j</a:t>
            </a:r>
            <a:r>
              <a:rPr lang="en-US" i="1" baseline="30000" dirty="0" err="1"/>
              <a:t>th</a:t>
            </a:r>
            <a:r>
              <a:rPr lang="en-US" dirty="0"/>
              <a:t> character in the pattern with the </a:t>
            </a:r>
            <a:r>
              <a:rPr lang="en-US" i="1" dirty="0"/>
              <a:t>(</a:t>
            </a:r>
            <a:r>
              <a:rPr lang="en-US" i="1" dirty="0" err="1"/>
              <a:t>i+j</a:t>
            </a:r>
            <a:r>
              <a:rPr lang="en-US" i="1" dirty="0"/>
              <a:t>)</a:t>
            </a:r>
            <a:r>
              <a:rPr lang="en-US" i="1" baseline="30000" dirty="0" err="1"/>
              <a:t>th</a:t>
            </a:r>
            <a:r>
              <a:rPr lang="en-US" dirty="0"/>
              <a:t> character in the text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match</a:t>
            </a:r>
            <a:r>
              <a:rPr lang="en-US" dirty="0"/>
              <a:t>, move the index </a:t>
            </a:r>
            <a:r>
              <a:rPr lang="en-US" i="1" dirty="0"/>
              <a:t>j</a:t>
            </a:r>
            <a:r>
              <a:rPr lang="en-US" dirty="0"/>
              <a:t> in the pattern of 1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mismatch</a:t>
            </a:r>
            <a:r>
              <a:rPr lang="en-US" dirty="0"/>
              <a:t>, move the search index </a:t>
            </a:r>
            <a:r>
              <a:rPr lang="en-US" i="1" dirty="0" err="1"/>
              <a:t>i</a:t>
            </a:r>
            <a:r>
              <a:rPr lang="en-US" dirty="0"/>
              <a:t> in the text of 1 and restart the index </a:t>
            </a:r>
            <a:r>
              <a:rPr lang="en-US" i="1" dirty="0"/>
              <a:t>j</a:t>
            </a:r>
            <a:r>
              <a:rPr lang="en-US" dirty="0"/>
              <a:t> in the pattern from the beginning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626784" y="4916698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86237" y="4567345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2622336" y="3922383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3282033" y="6076360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 descr="index i+j">
            <a:extLst>
              <a:ext uri="{FF2B5EF4-FFF2-40B4-BE49-F238E27FC236}">
                <a16:creationId xmlns:a16="http://schemas.microsoft.com/office/drawing/2014/main" id="{8DBAE141-9D3D-7C47-BA31-C2A4B70E1411}"/>
              </a:ext>
            </a:extLst>
          </p:cNvPr>
          <p:cNvSpPr txBox="1"/>
          <p:nvPr/>
        </p:nvSpPr>
        <p:spPr>
          <a:xfrm>
            <a:off x="3190745" y="6488668"/>
            <a:ext cx="625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i+j</a:t>
            </a:r>
            <a:endParaRPr lang="en-US" i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607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. Use two indices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 to scan the text and the pattern respectively. Compare the </a:t>
            </a:r>
            <a:r>
              <a:rPr lang="en-US" i="1" dirty="0" err="1"/>
              <a:t>j</a:t>
            </a:r>
            <a:r>
              <a:rPr lang="en-US" i="1" baseline="30000" dirty="0" err="1"/>
              <a:t>th</a:t>
            </a:r>
            <a:r>
              <a:rPr lang="en-US" dirty="0"/>
              <a:t> character in the pattern with the </a:t>
            </a:r>
            <a:r>
              <a:rPr lang="en-US" i="1" dirty="0"/>
              <a:t>(</a:t>
            </a:r>
            <a:r>
              <a:rPr lang="en-US" i="1" dirty="0" err="1"/>
              <a:t>i+j</a:t>
            </a:r>
            <a:r>
              <a:rPr lang="en-US" i="1" dirty="0"/>
              <a:t>)</a:t>
            </a:r>
            <a:r>
              <a:rPr lang="en-US" i="1" baseline="30000" dirty="0" err="1"/>
              <a:t>th</a:t>
            </a:r>
            <a:r>
              <a:rPr lang="en-US" dirty="0"/>
              <a:t> character in the text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match</a:t>
            </a:r>
            <a:r>
              <a:rPr lang="en-US" dirty="0"/>
              <a:t>, move the index </a:t>
            </a:r>
            <a:r>
              <a:rPr lang="en-US" i="1" dirty="0"/>
              <a:t>j</a:t>
            </a:r>
            <a:r>
              <a:rPr lang="en-US" dirty="0"/>
              <a:t> in the pattern of 1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mismatch</a:t>
            </a:r>
            <a:r>
              <a:rPr lang="en-US" dirty="0"/>
              <a:t>, move the search index </a:t>
            </a:r>
            <a:r>
              <a:rPr lang="en-US" i="1" dirty="0" err="1"/>
              <a:t>i</a:t>
            </a:r>
            <a:r>
              <a:rPr lang="en-US" dirty="0"/>
              <a:t> in the text of 1 and restart the index </a:t>
            </a:r>
            <a:r>
              <a:rPr lang="en-US" i="1" dirty="0"/>
              <a:t>j</a:t>
            </a:r>
            <a:r>
              <a:rPr lang="en-US" dirty="0"/>
              <a:t> in the pattern from the beginning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626784" y="4916698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86237" y="4567345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2981566" y="3924138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3282033" y="6076360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 descr="index i+j comparing with pattern j">
            <a:extLst>
              <a:ext uri="{FF2B5EF4-FFF2-40B4-BE49-F238E27FC236}">
                <a16:creationId xmlns:a16="http://schemas.microsoft.com/office/drawing/2014/main" id="{E5E80A05-63C5-864D-BBBB-B32045F4BD08}"/>
              </a:ext>
            </a:extLst>
          </p:cNvPr>
          <p:cNvGrpSpPr/>
          <p:nvPr/>
        </p:nvGrpSpPr>
        <p:grpSpPr>
          <a:xfrm>
            <a:off x="3519599" y="6082899"/>
            <a:ext cx="625049" cy="781326"/>
            <a:chOff x="3519599" y="6082899"/>
            <a:chExt cx="625049" cy="781326"/>
          </a:xfrm>
        </p:grpSpPr>
        <p:sp>
          <p:nvSpPr>
            <p:cNvPr id="30" name="TextBox 29" descr="index i+j">
              <a:extLst>
                <a:ext uri="{FF2B5EF4-FFF2-40B4-BE49-F238E27FC236}">
                  <a16:creationId xmlns:a16="http://schemas.microsoft.com/office/drawing/2014/main" id="{8DBAE141-9D3D-7C47-BA31-C2A4B70E1411}"/>
                </a:ext>
              </a:extLst>
            </p:cNvPr>
            <p:cNvSpPr txBox="1"/>
            <p:nvPr/>
          </p:nvSpPr>
          <p:spPr>
            <a:xfrm>
              <a:off x="3519599" y="6494893"/>
              <a:ext cx="625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DCA3D41-B4C7-E942-BD29-1F6510CCF3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28360" y="6082899"/>
              <a:ext cx="0" cy="373111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43784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. Use two indices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 to scan the text and the pattern respectively. Compare the </a:t>
            </a:r>
            <a:r>
              <a:rPr lang="en-US" i="1" dirty="0" err="1"/>
              <a:t>j</a:t>
            </a:r>
            <a:r>
              <a:rPr lang="en-US" i="1" baseline="30000" dirty="0" err="1"/>
              <a:t>th</a:t>
            </a:r>
            <a:r>
              <a:rPr lang="en-US" dirty="0"/>
              <a:t> character in the pattern with the </a:t>
            </a:r>
            <a:r>
              <a:rPr lang="en-US" i="1" dirty="0"/>
              <a:t>(</a:t>
            </a:r>
            <a:r>
              <a:rPr lang="en-US" i="1" dirty="0" err="1"/>
              <a:t>i+j</a:t>
            </a:r>
            <a:r>
              <a:rPr lang="en-US" i="1" dirty="0"/>
              <a:t>)</a:t>
            </a:r>
            <a:r>
              <a:rPr lang="en-US" i="1" baseline="30000" dirty="0" err="1"/>
              <a:t>th</a:t>
            </a:r>
            <a:r>
              <a:rPr lang="en-US" dirty="0"/>
              <a:t> character in the text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match</a:t>
            </a:r>
            <a:r>
              <a:rPr lang="en-US" dirty="0"/>
              <a:t>, move the index </a:t>
            </a:r>
            <a:r>
              <a:rPr lang="en-US" i="1" dirty="0"/>
              <a:t>j</a:t>
            </a:r>
            <a:r>
              <a:rPr lang="en-US" dirty="0"/>
              <a:t> in the pattern of 1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mismatch</a:t>
            </a:r>
            <a:r>
              <a:rPr lang="en-US" dirty="0"/>
              <a:t>, move the search index </a:t>
            </a:r>
            <a:r>
              <a:rPr lang="en-US" i="1" dirty="0" err="1"/>
              <a:t>i</a:t>
            </a:r>
            <a:r>
              <a:rPr lang="en-US" dirty="0"/>
              <a:t> in the text of 1 and restart the index </a:t>
            </a:r>
            <a:r>
              <a:rPr lang="en-US" i="1" dirty="0"/>
              <a:t>j</a:t>
            </a:r>
            <a:r>
              <a:rPr lang="en-US" dirty="0"/>
              <a:t> in the pattern from the beginning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626784" y="4916698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86237" y="4567345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2638665" y="3924138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3624934" y="6076360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 descr="index i+j">
            <a:extLst>
              <a:ext uri="{FF2B5EF4-FFF2-40B4-BE49-F238E27FC236}">
                <a16:creationId xmlns:a16="http://schemas.microsoft.com/office/drawing/2014/main" id="{8DBAE141-9D3D-7C47-BA31-C2A4B70E1411}"/>
              </a:ext>
            </a:extLst>
          </p:cNvPr>
          <p:cNvSpPr txBox="1"/>
          <p:nvPr/>
        </p:nvSpPr>
        <p:spPr>
          <a:xfrm>
            <a:off x="3519599" y="6494893"/>
            <a:ext cx="625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i+j</a:t>
            </a:r>
            <a:endParaRPr lang="en-US" i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418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. Use two indices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 to scan the text and the pattern respectively. Compare the </a:t>
            </a:r>
            <a:r>
              <a:rPr lang="en-US" i="1" dirty="0" err="1"/>
              <a:t>j</a:t>
            </a:r>
            <a:r>
              <a:rPr lang="en-US" i="1" baseline="30000" dirty="0" err="1"/>
              <a:t>th</a:t>
            </a:r>
            <a:r>
              <a:rPr lang="en-US" dirty="0"/>
              <a:t> character in the pattern with the </a:t>
            </a:r>
            <a:r>
              <a:rPr lang="en-US" i="1" dirty="0"/>
              <a:t>(</a:t>
            </a:r>
            <a:r>
              <a:rPr lang="en-US" i="1" dirty="0" err="1"/>
              <a:t>i+j</a:t>
            </a:r>
            <a:r>
              <a:rPr lang="en-US" i="1" dirty="0"/>
              <a:t>)</a:t>
            </a:r>
            <a:r>
              <a:rPr lang="en-US" i="1" baseline="30000" dirty="0" err="1"/>
              <a:t>th</a:t>
            </a:r>
            <a:r>
              <a:rPr lang="en-US" dirty="0"/>
              <a:t> character in the text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match</a:t>
            </a:r>
            <a:r>
              <a:rPr lang="en-US" dirty="0"/>
              <a:t>, move the index </a:t>
            </a:r>
            <a:r>
              <a:rPr lang="en-US" i="1" dirty="0"/>
              <a:t>j</a:t>
            </a:r>
            <a:r>
              <a:rPr lang="en-US" dirty="0"/>
              <a:t> in the pattern of 1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mismatch</a:t>
            </a:r>
            <a:r>
              <a:rPr lang="en-US" dirty="0"/>
              <a:t>, move the search index </a:t>
            </a:r>
            <a:r>
              <a:rPr lang="en-US" i="1" dirty="0" err="1"/>
              <a:t>i</a:t>
            </a:r>
            <a:r>
              <a:rPr lang="en-US" dirty="0"/>
              <a:t> in the text of 1 and restart the index </a:t>
            </a:r>
            <a:r>
              <a:rPr lang="en-US" i="1" dirty="0"/>
              <a:t>j</a:t>
            </a:r>
            <a:r>
              <a:rPr lang="en-US" dirty="0"/>
              <a:t> in the pattern from the beginning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626784" y="4916698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86237" y="4567345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2638665" y="3924138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3935180" y="6011044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 descr="index i+j">
            <a:extLst>
              <a:ext uri="{FF2B5EF4-FFF2-40B4-BE49-F238E27FC236}">
                <a16:creationId xmlns:a16="http://schemas.microsoft.com/office/drawing/2014/main" id="{8DBAE141-9D3D-7C47-BA31-C2A4B70E1411}"/>
              </a:ext>
            </a:extLst>
          </p:cNvPr>
          <p:cNvSpPr txBox="1"/>
          <p:nvPr/>
        </p:nvSpPr>
        <p:spPr>
          <a:xfrm>
            <a:off x="3829845" y="6429577"/>
            <a:ext cx="625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i+j</a:t>
            </a:r>
            <a:endParaRPr lang="en-US" i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656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. Use two indices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 to scan the text and the pattern respectively. Compare the </a:t>
            </a:r>
            <a:r>
              <a:rPr lang="en-US" i="1" dirty="0" err="1"/>
              <a:t>j</a:t>
            </a:r>
            <a:r>
              <a:rPr lang="en-US" i="1" baseline="30000" dirty="0" err="1"/>
              <a:t>th</a:t>
            </a:r>
            <a:r>
              <a:rPr lang="en-US" dirty="0"/>
              <a:t> character in the pattern with the </a:t>
            </a:r>
            <a:r>
              <a:rPr lang="en-US" i="1" dirty="0"/>
              <a:t>(</a:t>
            </a:r>
            <a:r>
              <a:rPr lang="en-US" i="1" dirty="0" err="1"/>
              <a:t>i+j</a:t>
            </a:r>
            <a:r>
              <a:rPr lang="en-US" i="1" dirty="0"/>
              <a:t>)</a:t>
            </a:r>
            <a:r>
              <a:rPr lang="en-US" i="1" baseline="30000" dirty="0" err="1"/>
              <a:t>th</a:t>
            </a:r>
            <a:r>
              <a:rPr lang="en-US" dirty="0"/>
              <a:t> character in the text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match</a:t>
            </a:r>
            <a:r>
              <a:rPr lang="en-US" dirty="0"/>
              <a:t>, move the index </a:t>
            </a:r>
            <a:r>
              <a:rPr lang="en-US" i="1" dirty="0"/>
              <a:t>j</a:t>
            </a:r>
            <a:r>
              <a:rPr lang="en-US" dirty="0"/>
              <a:t> in the pattern of 1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mismatch</a:t>
            </a:r>
            <a:r>
              <a:rPr lang="en-US" dirty="0"/>
              <a:t>, move the search index </a:t>
            </a:r>
            <a:r>
              <a:rPr lang="en-US" i="1" dirty="0" err="1"/>
              <a:t>i</a:t>
            </a:r>
            <a:r>
              <a:rPr lang="en-US" dirty="0"/>
              <a:t> in the text of 1 and restart the index </a:t>
            </a:r>
            <a:r>
              <a:rPr lang="en-US" i="1" dirty="0"/>
              <a:t>j</a:t>
            </a:r>
            <a:r>
              <a:rPr lang="en-US" dirty="0"/>
              <a:t> in the pattern from the beginning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626784" y="4916698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86237" y="4567345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2638665" y="3924138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4261754" y="6011044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 descr="index i+j">
            <a:extLst>
              <a:ext uri="{FF2B5EF4-FFF2-40B4-BE49-F238E27FC236}">
                <a16:creationId xmlns:a16="http://schemas.microsoft.com/office/drawing/2014/main" id="{8DBAE141-9D3D-7C47-BA31-C2A4B70E1411}"/>
              </a:ext>
            </a:extLst>
          </p:cNvPr>
          <p:cNvSpPr txBox="1"/>
          <p:nvPr/>
        </p:nvSpPr>
        <p:spPr>
          <a:xfrm>
            <a:off x="4156419" y="6429577"/>
            <a:ext cx="625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i+j</a:t>
            </a:r>
            <a:endParaRPr lang="en-US" i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421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. Use two indices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 to scan the text and the pattern respectively. Compare the </a:t>
            </a:r>
            <a:r>
              <a:rPr lang="en-US" i="1" dirty="0" err="1"/>
              <a:t>j</a:t>
            </a:r>
            <a:r>
              <a:rPr lang="en-US" i="1" baseline="30000" dirty="0" err="1"/>
              <a:t>th</a:t>
            </a:r>
            <a:r>
              <a:rPr lang="en-US" dirty="0"/>
              <a:t> character in the pattern with the </a:t>
            </a:r>
            <a:r>
              <a:rPr lang="en-US" i="1" dirty="0"/>
              <a:t>(</a:t>
            </a:r>
            <a:r>
              <a:rPr lang="en-US" i="1" dirty="0" err="1"/>
              <a:t>i+j</a:t>
            </a:r>
            <a:r>
              <a:rPr lang="en-US" i="1" dirty="0"/>
              <a:t>)</a:t>
            </a:r>
            <a:r>
              <a:rPr lang="en-US" i="1" baseline="30000" dirty="0" err="1"/>
              <a:t>th</a:t>
            </a:r>
            <a:r>
              <a:rPr lang="en-US" dirty="0"/>
              <a:t> character in the text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match</a:t>
            </a:r>
            <a:r>
              <a:rPr lang="en-US" dirty="0"/>
              <a:t>, move the index </a:t>
            </a:r>
            <a:r>
              <a:rPr lang="en-US" i="1" dirty="0"/>
              <a:t>j</a:t>
            </a:r>
            <a:r>
              <a:rPr lang="en-US" dirty="0"/>
              <a:t> in the pattern of 1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mismatch</a:t>
            </a:r>
            <a:r>
              <a:rPr lang="en-US" dirty="0"/>
              <a:t>, move the search index </a:t>
            </a:r>
            <a:r>
              <a:rPr lang="en-US" i="1" dirty="0" err="1"/>
              <a:t>i</a:t>
            </a:r>
            <a:r>
              <a:rPr lang="en-US" dirty="0"/>
              <a:t> in the text of 1 and restart the index </a:t>
            </a:r>
            <a:r>
              <a:rPr lang="en-US" i="1" dirty="0"/>
              <a:t>j</a:t>
            </a:r>
            <a:r>
              <a:rPr lang="en-US" dirty="0"/>
              <a:t> in the pattern from the beginning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626784" y="4916698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86237" y="4567345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2965239" y="3924138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4261754" y="6011044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 descr="index i+j">
            <a:extLst>
              <a:ext uri="{FF2B5EF4-FFF2-40B4-BE49-F238E27FC236}">
                <a16:creationId xmlns:a16="http://schemas.microsoft.com/office/drawing/2014/main" id="{088DF762-B343-BE4E-A36B-5451A287ADEB}"/>
              </a:ext>
            </a:extLst>
          </p:cNvPr>
          <p:cNvGrpSpPr/>
          <p:nvPr/>
        </p:nvGrpSpPr>
        <p:grpSpPr>
          <a:xfrm>
            <a:off x="4548307" y="6065470"/>
            <a:ext cx="625049" cy="733439"/>
            <a:chOff x="4548307" y="6065470"/>
            <a:chExt cx="625049" cy="733439"/>
          </a:xfrm>
        </p:grpSpPr>
        <p:sp>
          <p:nvSpPr>
            <p:cNvPr id="30" name="TextBox 29" descr="index i+j">
              <a:extLst>
                <a:ext uri="{FF2B5EF4-FFF2-40B4-BE49-F238E27FC236}">
                  <a16:creationId xmlns:a16="http://schemas.microsoft.com/office/drawing/2014/main" id="{8DBAE141-9D3D-7C47-BA31-C2A4B70E1411}"/>
                </a:ext>
              </a:extLst>
            </p:cNvPr>
            <p:cNvSpPr txBox="1"/>
            <p:nvPr/>
          </p:nvSpPr>
          <p:spPr>
            <a:xfrm>
              <a:off x="4548307" y="6429577"/>
              <a:ext cx="625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6C2FF0F-BB8C-A749-805E-29EA851AA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3395" y="6065470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4408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. Use two indices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 to scan the text and the pattern respectively. Compare the </a:t>
            </a:r>
            <a:r>
              <a:rPr lang="en-US" i="1" dirty="0" err="1"/>
              <a:t>j</a:t>
            </a:r>
            <a:r>
              <a:rPr lang="en-US" i="1" baseline="30000" dirty="0" err="1"/>
              <a:t>th</a:t>
            </a:r>
            <a:r>
              <a:rPr lang="en-US" dirty="0"/>
              <a:t> character in the pattern with the </a:t>
            </a:r>
            <a:r>
              <a:rPr lang="en-US" i="1" dirty="0"/>
              <a:t>(</a:t>
            </a:r>
            <a:r>
              <a:rPr lang="en-US" i="1" dirty="0" err="1"/>
              <a:t>i+j</a:t>
            </a:r>
            <a:r>
              <a:rPr lang="en-US" i="1" dirty="0"/>
              <a:t>)</a:t>
            </a:r>
            <a:r>
              <a:rPr lang="en-US" i="1" baseline="30000" dirty="0" err="1"/>
              <a:t>th</a:t>
            </a:r>
            <a:r>
              <a:rPr lang="en-US" dirty="0"/>
              <a:t> character in the text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match</a:t>
            </a:r>
            <a:r>
              <a:rPr lang="en-US" dirty="0"/>
              <a:t>, move the index </a:t>
            </a:r>
            <a:r>
              <a:rPr lang="en-US" i="1" dirty="0"/>
              <a:t>j</a:t>
            </a:r>
            <a:r>
              <a:rPr lang="en-US" dirty="0"/>
              <a:t> in the pattern of 1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mismatch</a:t>
            </a:r>
            <a:r>
              <a:rPr lang="en-US" dirty="0"/>
              <a:t>, move the search index </a:t>
            </a:r>
            <a:r>
              <a:rPr lang="en-US" i="1" dirty="0" err="1"/>
              <a:t>i</a:t>
            </a:r>
            <a:r>
              <a:rPr lang="en-US" dirty="0"/>
              <a:t> in the text of 1 and restart the index </a:t>
            </a:r>
            <a:r>
              <a:rPr lang="en-US" i="1" dirty="0"/>
              <a:t>j</a:t>
            </a:r>
            <a:r>
              <a:rPr lang="en-US" dirty="0"/>
              <a:t> in the pattern from the beginning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626784" y="4916698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86237" y="4567345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3291814" y="3924138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4261754" y="6011044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 descr="i+j index">
            <a:extLst>
              <a:ext uri="{FF2B5EF4-FFF2-40B4-BE49-F238E27FC236}">
                <a16:creationId xmlns:a16="http://schemas.microsoft.com/office/drawing/2014/main" id="{0D553347-2A37-AC40-BF84-29A743BF953E}"/>
              </a:ext>
            </a:extLst>
          </p:cNvPr>
          <p:cNvGrpSpPr/>
          <p:nvPr/>
        </p:nvGrpSpPr>
        <p:grpSpPr>
          <a:xfrm>
            <a:off x="4874882" y="6016483"/>
            <a:ext cx="625049" cy="733439"/>
            <a:chOff x="4548307" y="6065470"/>
            <a:chExt cx="625049" cy="733439"/>
          </a:xfrm>
        </p:grpSpPr>
        <p:sp>
          <p:nvSpPr>
            <p:cNvPr id="30" name="TextBox 29" descr="index i+j">
              <a:extLst>
                <a:ext uri="{FF2B5EF4-FFF2-40B4-BE49-F238E27FC236}">
                  <a16:creationId xmlns:a16="http://schemas.microsoft.com/office/drawing/2014/main" id="{8DBAE141-9D3D-7C47-BA31-C2A4B70E1411}"/>
                </a:ext>
              </a:extLst>
            </p:cNvPr>
            <p:cNvSpPr txBox="1"/>
            <p:nvPr/>
          </p:nvSpPr>
          <p:spPr>
            <a:xfrm>
              <a:off x="4548307" y="6429577"/>
              <a:ext cx="625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6C2FF0F-BB8C-A749-805E-29EA851AA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3395" y="6065470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6953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. Use two indices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 to scan the text and the pattern respectively. Compare the </a:t>
            </a:r>
            <a:r>
              <a:rPr lang="en-US" i="1" dirty="0" err="1"/>
              <a:t>j</a:t>
            </a:r>
            <a:r>
              <a:rPr lang="en-US" i="1" baseline="30000" dirty="0" err="1"/>
              <a:t>th</a:t>
            </a:r>
            <a:r>
              <a:rPr lang="en-US" dirty="0"/>
              <a:t> character in the pattern with the </a:t>
            </a:r>
            <a:r>
              <a:rPr lang="en-US" i="1" dirty="0"/>
              <a:t>(</a:t>
            </a:r>
            <a:r>
              <a:rPr lang="en-US" i="1" dirty="0" err="1"/>
              <a:t>i+j</a:t>
            </a:r>
            <a:r>
              <a:rPr lang="en-US" i="1" dirty="0"/>
              <a:t>)</a:t>
            </a:r>
            <a:r>
              <a:rPr lang="en-US" i="1" baseline="30000" dirty="0" err="1"/>
              <a:t>th</a:t>
            </a:r>
            <a:r>
              <a:rPr lang="en-US" dirty="0"/>
              <a:t> character in the text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match</a:t>
            </a:r>
            <a:r>
              <a:rPr lang="en-US" dirty="0"/>
              <a:t>, move the index </a:t>
            </a:r>
            <a:r>
              <a:rPr lang="en-US" i="1" dirty="0"/>
              <a:t>j</a:t>
            </a:r>
            <a:r>
              <a:rPr lang="en-US" dirty="0"/>
              <a:t> in the pattern of 1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mismatch</a:t>
            </a:r>
            <a:r>
              <a:rPr lang="en-US" dirty="0"/>
              <a:t>, move the search index </a:t>
            </a:r>
            <a:r>
              <a:rPr lang="en-US" i="1" dirty="0" err="1"/>
              <a:t>i</a:t>
            </a:r>
            <a:r>
              <a:rPr lang="en-US" dirty="0"/>
              <a:t> in the text of 1 and restart the index </a:t>
            </a:r>
            <a:r>
              <a:rPr lang="en-US" i="1" dirty="0"/>
              <a:t>j</a:t>
            </a:r>
            <a:r>
              <a:rPr lang="en-US" dirty="0"/>
              <a:t> in the pattern from the beginning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626784" y="4916698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86237" y="4567345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3634717" y="3924138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4261754" y="6011044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 descr="i+j index">
            <a:extLst>
              <a:ext uri="{FF2B5EF4-FFF2-40B4-BE49-F238E27FC236}">
                <a16:creationId xmlns:a16="http://schemas.microsoft.com/office/drawing/2014/main" id="{0D553347-2A37-AC40-BF84-29A743BF953E}"/>
              </a:ext>
            </a:extLst>
          </p:cNvPr>
          <p:cNvGrpSpPr/>
          <p:nvPr/>
        </p:nvGrpSpPr>
        <p:grpSpPr>
          <a:xfrm>
            <a:off x="5217785" y="6016483"/>
            <a:ext cx="625049" cy="733439"/>
            <a:chOff x="4548307" y="6065470"/>
            <a:chExt cx="625049" cy="733439"/>
          </a:xfrm>
        </p:grpSpPr>
        <p:sp>
          <p:nvSpPr>
            <p:cNvPr id="30" name="TextBox 29" descr="index i+j">
              <a:extLst>
                <a:ext uri="{FF2B5EF4-FFF2-40B4-BE49-F238E27FC236}">
                  <a16:creationId xmlns:a16="http://schemas.microsoft.com/office/drawing/2014/main" id="{8DBAE141-9D3D-7C47-BA31-C2A4B70E1411}"/>
                </a:ext>
              </a:extLst>
            </p:cNvPr>
            <p:cNvSpPr txBox="1"/>
            <p:nvPr/>
          </p:nvSpPr>
          <p:spPr>
            <a:xfrm>
              <a:off x="4548307" y="6429577"/>
              <a:ext cx="625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6C2FF0F-BB8C-A749-805E-29EA851AA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3395" y="6065470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5332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. Use two indices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 to scan the text and the pattern respectively. Compare the </a:t>
            </a:r>
            <a:r>
              <a:rPr lang="en-US" i="1" dirty="0" err="1"/>
              <a:t>j</a:t>
            </a:r>
            <a:r>
              <a:rPr lang="en-US" i="1" baseline="30000" dirty="0" err="1"/>
              <a:t>th</a:t>
            </a:r>
            <a:r>
              <a:rPr lang="en-US" dirty="0"/>
              <a:t> character in the pattern with the </a:t>
            </a:r>
            <a:r>
              <a:rPr lang="en-US" i="1" dirty="0"/>
              <a:t>(</a:t>
            </a:r>
            <a:r>
              <a:rPr lang="en-US" i="1" dirty="0" err="1"/>
              <a:t>i+j</a:t>
            </a:r>
            <a:r>
              <a:rPr lang="en-US" i="1" dirty="0"/>
              <a:t>)</a:t>
            </a:r>
            <a:r>
              <a:rPr lang="en-US" i="1" baseline="30000" dirty="0" err="1"/>
              <a:t>th</a:t>
            </a:r>
            <a:r>
              <a:rPr lang="en-US" dirty="0"/>
              <a:t> character in the text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match</a:t>
            </a:r>
            <a:r>
              <a:rPr lang="en-US" dirty="0"/>
              <a:t>, move the index </a:t>
            </a:r>
            <a:r>
              <a:rPr lang="en-US" i="1" dirty="0"/>
              <a:t>j</a:t>
            </a:r>
            <a:r>
              <a:rPr lang="en-US" dirty="0"/>
              <a:t> in the pattern of 1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mismatch</a:t>
            </a:r>
            <a:r>
              <a:rPr lang="en-US" dirty="0"/>
              <a:t>, move the search index </a:t>
            </a:r>
            <a:r>
              <a:rPr lang="en-US" i="1" dirty="0" err="1"/>
              <a:t>i</a:t>
            </a:r>
            <a:r>
              <a:rPr lang="en-US" dirty="0"/>
              <a:t> in the text of 1 and restart the index </a:t>
            </a:r>
            <a:r>
              <a:rPr lang="en-US" i="1" dirty="0"/>
              <a:t>j</a:t>
            </a:r>
            <a:r>
              <a:rPr lang="en-US" dirty="0"/>
              <a:t> in the pattern from the beginning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626784" y="4916698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86237" y="4567345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3977618" y="3924138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4261754" y="6011044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 descr="i+j index">
            <a:extLst>
              <a:ext uri="{FF2B5EF4-FFF2-40B4-BE49-F238E27FC236}">
                <a16:creationId xmlns:a16="http://schemas.microsoft.com/office/drawing/2014/main" id="{0D553347-2A37-AC40-BF84-29A743BF953E}"/>
              </a:ext>
            </a:extLst>
          </p:cNvPr>
          <p:cNvGrpSpPr/>
          <p:nvPr/>
        </p:nvGrpSpPr>
        <p:grpSpPr>
          <a:xfrm>
            <a:off x="5560686" y="6016483"/>
            <a:ext cx="625049" cy="733439"/>
            <a:chOff x="4548307" y="6065470"/>
            <a:chExt cx="625049" cy="733439"/>
          </a:xfrm>
        </p:grpSpPr>
        <p:sp>
          <p:nvSpPr>
            <p:cNvPr id="30" name="TextBox 29" descr="index i+j">
              <a:extLst>
                <a:ext uri="{FF2B5EF4-FFF2-40B4-BE49-F238E27FC236}">
                  <a16:creationId xmlns:a16="http://schemas.microsoft.com/office/drawing/2014/main" id="{8DBAE141-9D3D-7C47-BA31-C2A4B70E1411}"/>
                </a:ext>
              </a:extLst>
            </p:cNvPr>
            <p:cNvSpPr txBox="1"/>
            <p:nvPr/>
          </p:nvSpPr>
          <p:spPr>
            <a:xfrm>
              <a:off x="4548307" y="6429577"/>
              <a:ext cx="625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6C2FF0F-BB8C-A749-805E-29EA851AA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3395" y="6065470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584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. Use two indices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 to scan the text and the pattern respectively. Compare the </a:t>
            </a:r>
            <a:r>
              <a:rPr lang="en-US" i="1" dirty="0" err="1"/>
              <a:t>j</a:t>
            </a:r>
            <a:r>
              <a:rPr lang="en-US" i="1" baseline="30000" dirty="0" err="1"/>
              <a:t>th</a:t>
            </a:r>
            <a:r>
              <a:rPr lang="en-US" dirty="0"/>
              <a:t> character in the pattern with the </a:t>
            </a:r>
            <a:r>
              <a:rPr lang="en-US" i="1" dirty="0"/>
              <a:t>(</a:t>
            </a:r>
            <a:r>
              <a:rPr lang="en-US" i="1" dirty="0" err="1"/>
              <a:t>i+j</a:t>
            </a:r>
            <a:r>
              <a:rPr lang="en-US" i="1" dirty="0"/>
              <a:t>)</a:t>
            </a:r>
            <a:r>
              <a:rPr lang="en-US" i="1" baseline="30000" dirty="0" err="1"/>
              <a:t>th</a:t>
            </a:r>
            <a:r>
              <a:rPr lang="en-US" dirty="0"/>
              <a:t> character in the text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match</a:t>
            </a:r>
            <a:r>
              <a:rPr lang="en-US" dirty="0"/>
              <a:t>, move the index </a:t>
            </a:r>
            <a:r>
              <a:rPr lang="en-US" i="1" dirty="0"/>
              <a:t>j</a:t>
            </a:r>
            <a:r>
              <a:rPr lang="en-US" dirty="0"/>
              <a:t> in the pattern of 1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mismatch</a:t>
            </a:r>
            <a:r>
              <a:rPr lang="en-US" dirty="0"/>
              <a:t>, move the search index </a:t>
            </a:r>
            <a:r>
              <a:rPr lang="en-US" i="1" dirty="0" err="1"/>
              <a:t>i</a:t>
            </a:r>
            <a:r>
              <a:rPr lang="en-US" dirty="0"/>
              <a:t> in the text of 1 and restart the index </a:t>
            </a:r>
            <a:r>
              <a:rPr lang="en-US" i="1" dirty="0"/>
              <a:t>j</a:t>
            </a:r>
            <a:r>
              <a:rPr lang="en-US" dirty="0"/>
              <a:t> in the pattern from the beginning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626784" y="4916698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86237" y="4567345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4304190" y="3924138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4261754" y="6011044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 descr="i+j index">
            <a:extLst>
              <a:ext uri="{FF2B5EF4-FFF2-40B4-BE49-F238E27FC236}">
                <a16:creationId xmlns:a16="http://schemas.microsoft.com/office/drawing/2014/main" id="{0D553347-2A37-AC40-BF84-29A743BF953E}"/>
              </a:ext>
            </a:extLst>
          </p:cNvPr>
          <p:cNvGrpSpPr/>
          <p:nvPr/>
        </p:nvGrpSpPr>
        <p:grpSpPr>
          <a:xfrm>
            <a:off x="5887258" y="6016483"/>
            <a:ext cx="625049" cy="733439"/>
            <a:chOff x="4548307" y="6065470"/>
            <a:chExt cx="625049" cy="733439"/>
          </a:xfrm>
        </p:grpSpPr>
        <p:sp>
          <p:nvSpPr>
            <p:cNvPr id="30" name="TextBox 29" descr="index i+j">
              <a:extLst>
                <a:ext uri="{FF2B5EF4-FFF2-40B4-BE49-F238E27FC236}">
                  <a16:creationId xmlns:a16="http://schemas.microsoft.com/office/drawing/2014/main" id="{8DBAE141-9D3D-7C47-BA31-C2A4B70E1411}"/>
                </a:ext>
              </a:extLst>
            </p:cNvPr>
            <p:cNvSpPr txBox="1"/>
            <p:nvPr/>
          </p:nvSpPr>
          <p:spPr>
            <a:xfrm>
              <a:off x="4548307" y="6429577"/>
              <a:ext cx="625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6C2FF0F-BB8C-A749-805E-29EA851AA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3395" y="6065470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4262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. Use two indices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 to scan the text and the pattern respectively. Compare the </a:t>
            </a:r>
            <a:r>
              <a:rPr lang="en-US" i="1" dirty="0" err="1"/>
              <a:t>j</a:t>
            </a:r>
            <a:r>
              <a:rPr lang="en-US" i="1" baseline="30000" dirty="0" err="1"/>
              <a:t>th</a:t>
            </a:r>
            <a:r>
              <a:rPr lang="en-US" dirty="0"/>
              <a:t> character in the pattern with the </a:t>
            </a:r>
            <a:r>
              <a:rPr lang="en-US" i="1" dirty="0"/>
              <a:t>(</a:t>
            </a:r>
            <a:r>
              <a:rPr lang="en-US" i="1" dirty="0" err="1"/>
              <a:t>i+j</a:t>
            </a:r>
            <a:r>
              <a:rPr lang="en-US" i="1" dirty="0"/>
              <a:t>)</a:t>
            </a:r>
            <a:r>
              <a:rPr lang="en-US" i="1" baseline="30000" dirty="0" err="1"/>
              <a:t>th</a:t>
            </a:r>
            <a:r>
              <a:rPr lang="en-US" dirty="0"/>
              <a:t> character in the text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match</a:t>
            </a:r>
            <a:r>
              <a:rPr lang="en-US" dirty="0"/>
              <a:t>, move the index </a:t>
            </a:r>
            <a:r>
              <a:rPr lang="en-US" i="1" dirty="0"/>
              <a:t>j</a:t>
            </a:r>
            <a:r>
              <a:rPr lang="en-US" dirty="0"/>
              <a:t> in the pattern of 1</a:t>
            </a:r>
          </a:p>
          <a:p>
            <a:pPr lvl="1" algn="just"/>
            <a:r>
              <a:rPr lang="en-US" dirty="0"/>
              <a:t>In case of character </a:t>
            </a:r>
            <a:r>
              <a:rPr lang="en-US" dirty="0">
                <a:solidFill>
                  <a:schemeClr val="accent5"/>
                </a:solidFill>
              </a:rPr>
              <a:t>mismatch</a:t>
            </a:r>
            <a:r>
              <a:rPr lang="en-US" dirty="0"/>
              <a:t>, move the search index </a:t>
            </a:r>
            <a:r>
              <a:rPr lang="en-US" i="1" dirty="0" err="1"/>
              <a:t>i</a:t>
            </a:r>
            <a:r>
              <a:rPr lang="en-US" dirty="0"/>
              <a:t> in the text of 1 and restart the index </a:t>
            </a:r>
            <a:r>
              <a:rPr lang="en-US" i="1" dirty="0"/>
              <a:t>j</a:t>
            </a:r>
            <a:r>
              <a:rPr lang="en-US" dirty="0"/>
              <a:t> in the pattern from the beginning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626784" y="4916698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86237" y="4567345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4261754" y="6011044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 descr="i+j index">
            <a:extLst>
              <a:ext uri="{FF2B5EF4-FFF2-40B4-BE49-F238E27FC236}">
                <a16:creationId xmlns:a16="http://schemas.microsoft.com/office/drawing/2014/main" id="{0D553347-2A37-AC40-BF84-29A743BF953E}"/>
              </a:ext>
            </a:extLst>
          </p:cNvPr>
          <p:cNvGrpSpPr/>
          <p:nvPr/>
        </p:nvGrpSpPr>
        <p:grpSpPr>
          <a:xfrm>
            <a:off x="6181174" y="6016483"/>
            <a:ext cx="625049" cy="733439"/>
            <a:chOff x="4548307" y="6065470"/>
            <a:chExt cx="625049" cy="733439"/>
          </a:xfrm>
        </p:grpSpPr>
        <p:sp>
          <p:nvSpPr>
            <p:cNvPr id="30" name="TextBox 29" descr="index i+j">
              <a:extLst>
                <a:ext uri="{FF2B5EF4-FFF2-40B4-BE49-F238E27FC236}">
                  <a16:creationId xmlns:a16="http://schemas.microsoft.com/office/drawing/2014/main" id="{8DBAE141-9D3D-7C47-BA31-C2A4B70E1411}"/>
                </a:ext>
              </a:extLst>
            </p:cNvPr>
            <p:cNvSpPr txBox="1"/>
            <p:nvPr/>
          </p:nvSpPr>
          <p:spPr>
            <a:xfrm>
              <a:off x="4548307" y="6429577"/>
              <a:ext cx="625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6C2FF0F-BB8C-A749-805E-29EA851AA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3395" y="6065470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 descr="index j = M (pattern matched)">
            <a:extLst>
              <a:ext uri="{FF2B5EF4-FFF2-40B4-BE49-F238E27FC236}">
                <a16:creationId xmlns:a16="http://schemas.microsoft.com/office/drawing/2014/main" id="{9EA4A764-C742-C54A-B952-CBCE7F94DDAD}"/>
              </a:ext>
            </a:extLst>
          </p:cNvPr>
          <p:cNvGrpSpPr/>
          <p:nvPr/>
        </p:nvGrpSpPr>
        <p:grpSpPr>
          <a:xfrm>
            <a:off x="4609061" y="3944202"/>
            <a:ext cx="5873724" cy="694861"/>
            <a:chOff x="4609061" y="3944202"/>
            <a:chExt cx="5873724" cy="694861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4707035" y="4345149"/>
              <a:ext cx="0" cy="293914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89D70D-D242-ED49-8FDC-3505A98A11EA}"/>
                </a:ext>
              </a:extLst>
            </p:cNvPr>
            <p:cNvSpPr txBox="1"/>
            <p:nvPr/>
          </p:nvSpPr>
          <p:spPr>
            <a:xfrm>
              <a:off x="4609061" y="3944202"/>
              <a:ext cx="5873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j==M </a:t>
              </a:r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(pattern length) </a:t>
              </a:r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 </a:t>
              </a:r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i</a:t>
              </a:r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points to beginning of a match</a:t>
              </a:r>
              <a:endPara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22" descr="highlighing matched pattern">
            <a:extLst>
              <a:ext uri="{FF2B5EF4-FFF2-40B4-BE49-F238E27FC236}">
                <a16:creationId xmlns:a16="http://schemas.microsoft.com/office/drawing/2014/main" id="{8DF895E7-55AC-F540-82D7-41B10FD376E5}"/>
              </a:ext>
            </a:extLst>
          </p:cNvPr>
          <p:cNvGrpSpPr/>
          <p:nvPr/>
        </p:nvGrpSpPr>
        <p:grpSpPr>
          <a:xfrm>
            <a:off x="4331550" y="5771379"/>
            <a:ext cx="1969577" cy="583988"/>
            <a:chOff x="3951514" y="3107751"/>
            <a:chExt cx="1969577" cy="5839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E66EB72-A99D-8546-8886-313DFA3E786E}"/>
                </a:ext>
              </a:extLst>
            </p:cNvPr>
            <p:cNvSpPr txBox="1"/>
            <p:nvPr/>
          </p:nvSpPr>
          <p:spPr>
            <a:xfrm>
              <a:off x="4546109" y="3322407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match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E8988F7-5EC9-814A-BDC7-F6795CA45665}"/>
                </a:ext>
              </a:extLst>
            </p:cNvPr>
            <p:cNvGrpSpPr/>
            <p:nvPr/>
          </p:nvGrpSpPr>
          <p:grpSpPr>
            <a:xfrm>
              <a:off x="3951514" y="3107751"/>
              <a:ext cx="1969577" cy="247711"/>
              <a:chOff x="3951514" y="3075093"/>
              <a:chExt cx="1969577" cy="247711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444B4C1-1801-BF41-B360-3525057FB5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1514" y="3306475"/>
                <a:ext cx="1969577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45E6B4E8-C1C0-694B-828D-786FA33AAF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7843" y="3075093"/>
                <a:ext cx="0" cy="247711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5147877-4BA4-454B-B926-1FE4E91D72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04762" y="3091422"/>
                <a:ext cx="0" cy="231382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49007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Cost (worst case) ~ </a:t>
            </a:r>
            <a:r>
              <a:rPr lang="en-US" i="1" dirty="0"/>
              <a:t>N*M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64A680-0866-E841-BEAB-0BC05ED69C46}"/>
              </a:ext>
            </a:extLst>
          </p:cNvPr>
          <p:cNvSpPr txBox="1"/>
          <p:nvPr/>
        </p:nvSpPr>
        <p:spPr>
          <a:xfrm>
            <a:off x="850653" y="2227082"/>
            <a:ext cx="4998484" cy="280076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</a:t>
            </a:r>
            <a:r>
              <a:rPr lang="en-GB" sz="1600" dirty="0" err="1">
                <a:highlight>
                  <a:srgbClr val="C0C0C0"/>
                </a:highlight>
                <a:latin typeface="Courier" pitchFamily="2" charset="0"/>
              </a:rPr>
              <a:t>subStringSearch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(pattern, text): </a:t>
            </a:r>
          </a:p>
          <a:p>
            <a:r>
              <a:rPr lang="en-GB" sz="1600" dirty="0">
                <a:latin typeface="Courier" pitchFamily="2" charset="0"/>
              </a:rPr>
              <a:t>    M = </a:t>
            </a:r>
            <a:r>
              <a:rPr lang="en-GB" sz="1600" dirty="0" err="1">
                <a:latin typeface="Courier" pitchFamily="2" charset="0"/>
              </a:rPr>
              <a:t>len</a:t>
            </a:r>
            <a:r>
              <a:rPr lang="en-GB" sz="1600" dirty="0">
                <a:latin typeface="Courier" pitchFamily="2" charset="0"/>
              </a:rPr>
              <a:t>(pattern)</a:t>
            </a:r>
          </a:p>
          <a:p>
            <a:r>
              <a:rPr lang="en-GB" sz="1600" dirty="0">
                <a:latin typeface="Courier" pitchFamily="2" charset="0"/>
              </a:rPr>
              <a:t>    N = </a:t>
            </a:r>
            <a:r>
              <a:rPr lang="en-GB" sz="1600" dirty="0" err="1">
                <a:latin typeface="Courier" pitchFamily="2" charset="0"/>
              </a:rPr>
              <a:t>len</a:t>
            </a:r>
            <a:r>
              <a:rPr lang="en-GB" sz="1600" dirty="0">
                <a:latin typeface="Courier" pitchFamily="2" charset="0"/>
              </a:rPr>
              <a:t>(text)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for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 in range(0, N-M):</a:t>
            </a:r>
          </a:p>
          <a:p>
            <a:r>
              <a:rPr lang="en-GB" sz="1600" dirty="0">
                <a:latin typeface="Courier" pitchFamily="2" charset="0"/>
              </a:rPr>
              <a:t>        for j in range(0, M):</a:t>
            </a:r>
          </a:p>
          <a:p>
            <a:r>
              <a:rPr lang="en-GB" sz="1600" dirty="0">
                <a:latin typeface="Courier" pitchFamily="2" charset="0"/>
              </a:rPr>
              <a:t>            if text[</a:t>
            </a:r>
            <a:r>
              <a:rPr lang="en-GB" sz="1600" dirty="0" err="1">
                <a:latin typeface="Courier" pitchFamily="2" charset="0"/>
              </a:rPr>
              <a:t>i+j</a:t>
            </a:r>
            <a:r>
              <a:rPr lang="en-GB" sz="1600" dirty="0">
                <a:latin typeface="Courier" pitchFamily="2" charset="0"/>
              </a:rPr>
              <a:t>] != pattern[j]:</a:t>
            </a:r>
          </a:p>
          <a:p>
            <a:r>
              <a:rPr lang="en-GB" sz="1600" dirty="0">
                <a:latin typeface="Courier" pitchFamily="2" charset="0"/>
              </a:rPr>
              <a:t>                break</a:t>
            </a:r>
          </a:p>
          <a:p>
            <a:r>
              <a:rPr lang="en-GB" sz="1600" dirty="0">
                <a:latin typeface="Courier" pitchFamily="2" charset="0"/>
              </a:rPr>
              <a:t>        if j == M:</a:t>
            </a:r>
          </a:p>
          <a:p>
            <a:r>
              <a:rPr lang="en-GB" sz="1600" dirty="0">
                <a:latin typeface="Courier" pitchFamily="2" charset="0"/>
              </a:rPr>
              <a:t>            return </a:t>
            </a:r>
            <a:r>
              <a:rPr lang="en-GB" sz="1600" dirty="0" err="1">
                <a:latin typeface="Courier" pitchFamily="2" charset="0"/>
              </a:rPr>
              <a:t>i</a:t>
            </a:r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return N</a:t>
            </a:r>
          </a:p>
        </p:txBody>
      </p:sp>
      <p:grpSp>
        <p:nvGrpSpPr>
          <p:cNvPr id="13" name="Group 12" descr="highlighting fragment of code with pattern found and not found">
            <a:extLst>
              <a:ext uri="{FF2B5EF4-FFF2-40B4-BE49-F238E27FC236}">
                <a16:creationId xmlns:a16="http://schemas.microsoft.com/office/drawing/2014/main" id="{0351D9AC-D6CB-2A41-BC26-C73EB167FE46}"/>
              </a:ext>
            </a:extLst>
          </p:cNvPr>
          <p:cNvGrpSpPr/>
          <p:nvPr/>
        </p:nvGrpSpPr>
        <p:grpSpPr>
          <a:xfrm>
            <a:off x="2647978" y="4403551"/>
            <a:ext cx="7672274" cy="624298"/>
            <a:chOff x="2647978" y="4403551"/>
            <a:chExt cx="7672274" cy="62429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C685469-B969-5141-B225-083231503A7F}"/>
                </a:ext>
              </a:extLst>
            </p:cNvPr>
            <p:cNvSpPr txBox="1"/>
            <p:nvPr/>
          </p:nvSpPr>
          <p:spPr>
            <a:xfrm>
              <a:off x="7142472" y="4689295"/>
              <a:ext cx="17604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 not found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204EA53-1E96-DD46-8319-15B008D384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7978" y="4858572"/>
              <a:ext cx="4389636" cy="1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743E3DE-761E-3F42-B6EC-2877B4D687CB}"/>
                </a:ext>
              </a:extLst>
            </p:cNvPr>
            <p:cNvSpPr txBox="1"/>
            <p:nvPr/>
          </p:nvSpPr>
          <p:spPr>
            <a:xfrm>
              <a:off x="7154001" y="4403551"/>
              <a:ext cx="31662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 in text where pattern starts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FCAA5F7-95BF-864F-AF8F-030551A763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91780" y="4572828"/>
              <a:ext cx="3545834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5159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stream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564855" y="2692639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37701"/>
              </p:ext>
            </p:extLst>
          </p:nvPr>
        </p:nvGraphicFramePr>
        <p:xfrm>
          <a:off x="2524308" y="2343286"/>
          <a:ext cx="532571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2589688" y="1700079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3902448" y="3822293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 descr="index i+j">
            <a:extLst>
              <a:ext uri="{FF2B5EF4-FFF2-40B4-BE49-F238E27FC236}">
                <a16:creationId xmlns:a16="http://schemas.microsoft.com/office/drawing/2014/main" id="{F7679551-AC72-F348-84AB-180496403795}"/>
              </a:ext>
            </a:extLst>
          </p:cNvPr>
          <p:cNvSpPr txBox="1"/>
          <p:nvPr/>
        </p:nvSpPr>
        <p:spPr>
          <a:xfrm>
            <a:off x="3827489" y="4352655"/>
            <a:ext cx="625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i+j</a:t>
            </a:r>
            <a:endParaRPr lang="en-US" i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43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stream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564855" y="2692639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24308" y="2343286"/>
          <a:ext cx="532571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2916263" y="1700079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3902448" y="3822293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 descr="i+j index">
            <a:extLst>
              <a:ext uri="{FF2B5EF4-FFF2-40B4-BE49-F238E27FC236}">
                <a16:creationId xmlns:a16="http://schemas.microsoft.com/office/drawing/2014/main" id="{0D553347-2A37-AC40-BF84-29A743BF953E}"/>
              </a:ext>
            </a:extLst>
          </p:cNvPr>
          <p:cNvGrpSpPr/>
          <p:nvPr/>
        </p:nvGrpSpPr>
        <p:grpSpPr>
          <a:xfrm>
            <a:off x="4163727" y="3822293"/>
            <a:ext cx="625049" cy="733439"/>
            <a:chOff x="4548307" y="6065470"/>
            <a:chExt cx="625049" cy="733439"/>
          </a:xfrm>
        </p:grpSpPr>
        <p:sp>
          <p:nvSpPr>
            <p:cNvPr id="30" name="TextBox 29" descr="index i+j">
              <a:extLst>
                <a:ext uri="{FF2B5EF4-FFF2-40B4-BE49-F238E27FC236}">
                  <a16:creationId xmlns:a16="http://schemas.microsoft.com/office/drawing/2014/main" id="{8DBAE141-9D3D-7C47-BA31-C2A4B70E1411}"/>
                </a:ext>
              </a:extLst>
            </p:cNvPr>
            <p:cNvSpPr txBox="1"/>
            <p:nvPr/>
          </p:nvSpPr>
          <p:spPr>
            <a:xfrm>
              <a:off x="4548307" y="6429577"/>
              <a:ext cx="625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6C2FF0F-BB8C-A749-805E-29EA851AA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3395" y="6065470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0455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stream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564855" y="2692639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24308" y="2343286"/>
          <a:ext cx="532571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3226508" y="1700079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3902448" y="3822293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 descr="i+j index">
            <a:extLst>
              <a:ext uri="{FF2B5EF4-FFF2-40B4-BE49-F238E27FC236}">
                <a16:creationId xmlns:a16="http://schemas.microsoft.com/office/drawing/2014/main" id="{0D553347-2A37-AC40-BF84-29A743BF953E}"/>
              </a:ext>
            </a:extLst>
          </p:cNvPr>
          <p:cNvGrpSpPr/>
          <p:nvPr/>
        </p:nvGrpSpPr>
        <p:grpSpPr>
          <a:xfrm>
            <a:off x="4457645" y="3822293"/>
            <a:ext cx="625049" cy="733439"/>
            <a:chOff x="4548307" y="6065470"/>
            <a:chExt cx="625049" cy="733439"/>
          </a:xfrm>
        </p:grpSpPr>
        <p:sp>
          <p:nvSpPr>
            <p:cNvPr id="30" name="TextBox 29" descr="index i+j">
              <a:extLst>
                <a:ext uri="{FF2B5EF4-FFF2-40B4-BE49-F238E27FC236}">
                  <a16:creationId xmlns:a16="http://schemas.microsoft.com/office/drawing/2014/main" id="{8DBAE141-9D3D-7C47-BA31-C2A4B70E1411}"/>
                </a:ext>
              </a:extLst>
            </p:cNvPr>
            <p:cNvSpPr txBox="1"/>
            <p:nvPr/>
          </p:nvSpPr>
          <p:spPr>
            <a:xfrm>
              <a:off x="4548307" y="6429577"/>
              <a:ext cx="625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6C2FF0F-BB8C-A749-805E-29EA851AA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3395" y="6065470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4072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stream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564855" y="2692639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24308" y="2343286"/>
          <a:ext cx="532571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3569411" y="1700079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3902448" y="3822293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 descr="i+j index">
            <a:extLst>
              <a:ext uri="{FF2B5EF4-FFF2-40B4-BE49-F238E27FC236}">
                <a16:creationId xmlns:a16="http://schemas.microsoft.com/office/drawing/2014/main" id="{0D553347-2A37-AC40-BF84-29A743BF953E}"/>
              </a:ext>
            </a:extLst>
          </p:cNvPr>
          <p:cNvGrpSpPr/>
          <p:nvPr/>
        </p:nvGrpSpPr>
        <p:grpSpPr>
          <a:xfrm>
            <a:off x="4784219" y="3822293"/>
            <a:ext cx="625049" cy="733439"/>
            <a:chOff x="4548307" y="6065470"/>
            <a:chExt cx="625049" cy="733439"/>
          </a:xfrm>
        </p:grpSpPr>
        <p:sp>
          <p:nvSpPr>
            <p:cNvPr id="30" name="TextBox 29" descr="index i+j">
              <a:extLst>
                <a:ext uri="{FF2B5EF4-FFF2-40B4-BE49-F238E27FC236}">
                  <a16:creationId xmlns:a16="http://schemas.microsoft.com/office/drawing/2014/main" id="{8DBAE141-9D3D-7C47-BA31-C2A4B70E1411}"/>
                </a:ext>
              </a:extLst>
            </p:cNvPr>
            <p:cNvSpPr txBox="1"/>
            <p:nvPr/>
          </p:nvSpPr>
          <p:spPr>
            <a:xfrm>
              <a:off x="4548307" y="6429577"/>
              <a:ext cx="625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6C2FF0F-BB8C-A749-805E-29EA851AA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3395" y="6065470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 descr="problem with input stream: brute foce would need to back up">
            <a:extLst>
              <a:ext uri="{FF2B5EF4-FFF2-40B4-BE49-F238E27FC236}">
                <a16:creationId xmlns:a16="http://schemas.microsoft.com/office/drawing/2014/main" id="{CB09AC96-F2CD-A34B-8C77-751B814EC8D9}"/>
              </a:ext>
            </a:extLst>
          </p:cNvPr>
          <p:cNvGrpSpPr/>
          <p:nvPr/>
        </p:nvGrpSpPr>
        <p:grpSpPr>
          <a:xfrm>
            <a:off x="2575886" y="1708389"/>
            <a:ext cx="2660399" cy="2959308"/>
            <a:chOff x="2575886" y="1708389"/>
            <a:chExt cx="2660399" cy="295930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F736934-791F-A04E-88ED-8E0FE4FBDD95}"/>
                </a:ext>
              </a:extLst>
            </p:cNvPr>
            <p:cNvGrpSpPr/>
            <p:nvPr/>
          </p:nvGrpSpPr>
          <p:grpSpPr>
            <a:xfrm>
              <a:off x="4226181" y="2671164"/>
              <a:ext cx="1010104" cy="849175"/>
              <a:chOff x="4226181" y="2671164"/>
              <a:chExt cx="1010104" cy="849175"/>
            </a:xfrm>
          </p:grpSpPr>
          <p:sp>
            <p:nvSpPr>
              <p:cNvPr id="8" name="Left Arrow 7">
                <a:extLst>
                  <a:ext uri="{FF2B5EF4-FFF2-40B4-BE49-F238E27FC236}">
                    <a16:creationId xmlns:a16="http://schemas.microsoft.com/office/drawing/2014/main" id="{DFAE9E15-2218-B847-8361-B711C236A4D2}"/>
                  </a:ext>
                </a:extLst>
              </p:cNvPr>
              <p:cNvSpPr/>
              <p:nvPr/>
            </p:nvSpPr>
            <p:spPr>
              <a:xfrm>
                <a:off x="4226181" y="3035707"/>
                <a:ext cx="928458" cy="484632"/>
              </a:xfrm>
              <a:prstGeom prst="leftArrow">
                <a:avLst>
                  <a:gd name="adj1" fmla="val 63477"/>
                  <a:gd name="adj2" fmla="val 36523"/>
                </a:avLst>
              </a:prstGeom>
              <a:solidFill>
                <a:srgbClr val="C00000">
                  <a:alpha val="20000"/>
                </a:srgbClr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438A85-FAC1-724D-BEE4-6DF83579405A}"/>
                  </a:ext>
                </a:extLst>
              </p:cNvPr>
              <p:cNvSpPr txBox="1"/>
              <p:nvPr/>
            </p:nvSpPr>
            <p:spPr>
              <a:xfrm>
                <a:off x="4307826" y="2671164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backup</a:t>
                </a:r>
              </a:p>
            </p:txBody>
          </p:sp>
        </p:grpSp>
        <p:grpSp>
          <p:nvGrpSpPr>
            <p:cNvPr id="23" name="Group 22" descr="index j scanning the pattern">
              <a:extLst>
                <a:ext uri="{FF2B5EF4-FFF2-40B4-BE49-F238E27FC236}">
                  <a16:creationId xmlns:a16="http://schemas.microsoft.com/office/drawing/2014/main" id="{51EE8FEC-7764-844B-A0CB-D847FF1D8181}"/>
                </a:ext>
              </a:extLst>
            </p:cNvPr>
            <p:cNvGrpSpPr/>
            <p:nvPr/>
          </p:nvGrpSpPr>
          <p:grpSpPr>
            <a:xfrm>
              <a:off x="2575886" y="1708389"/>
              <a:ext cx="300467" cy="714925"/>
              <a:chOff x="953380" y="3653894"/>
              <a:chExt cx="237566" cy="859643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EB7E041-3AFB-6F4E-9A7D-2C92141A069A}"/>
                  </a:ext>
                </a:extLst>
              </p:cNvPr>
              <p:cNvSpPr txBox="1"/>
              <p:nvPr/>
            </p:nvSpPr>
            <p:spPr>
              <a:xfrm>
                <a:off x="953380" y="3653894"/>
                <a:ext cx="237566" cy="444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E9B36115-36FA-D245-B3F9-0A8E001D52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9505" y="4160128"/>
                <a:ext cx="0" cy="353409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 descr="index i scanning the text">
              <a:extLst>
                <a:ext uri="{FF2B5EF4-FFF2-40B4-BE49-F238E27FC236}">
                  <a16:creationId xmlns:a16="http://schemas.microsoft.com/office/drawing/2014/main" id="{7A4857AA-DA43-894D-AC2F-FA4A6818B685}"/>
                </a:ext>
              </a:extLst>
            </p:cNvPr>
            <p:cNvGrpSpPr/>
            <p:nvPr/>
          </p:nvGrpSpPr>
          <p:grpSpPr>
            <a:xfrm>
              <a:off x="4166357" y="3826382"/>
              <a:ext cx="421910" cy="841315"/>
              <a:chOff x="832664" y="5706855"/>
              <a:chExt cx="421910" cy="84131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355C045-D7D4-4C48-A1BD-DDC88270CA93}"/>
                  </a:ext>
                </a:extLst>
              </p:cNvPr>
              <p:cNvSpPr txBox="1"/>
              <p:nvPr/>
            </p:nvSpPr>
            <p:spPr>
              <a:xfrm>
                <a:off x="832664" y="5901839"/>
                <a:ext cx="42191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  <a:p>
                <a:pPr algn="ctr"/>
                <a:r>
                  <a:rPr lang="en-US" i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i+j</a:t>
                </a:r>
                <a:endParaRPr lang="en-US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1CFC1665-EEE3-3F48-8EFA-DEBCFBB992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4948" y="5706855"/>
                <a:ext cx="0" cy="259188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3191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70-2C1E-814B-A261-E0FFCA27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D53-98C7-F243-88F9-F358FE7C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stream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Buffer of last M characters?</a:t>
            </a:r>
          </a:p>
        </p:txBody>
      </p:sp>
      <p:grpSp>
        <p:nvGrpSpPr>
          <p:cNvPr id="29" name="Group 28" descr="example pattern and text">
            <a:extLst>
              <a:ext uri="{FF2B5EF4-FFF2-40B4-BE49-F238E27FC236}">
                <a16:creationId xmlns:a16="http://schemas.microsoft.com/office/drawing/2014/main" id="{6B9536D6-0A1F-9147-9D16-4C01E880B3D1}"/>
              </a:ext>
            </a:extLst>
          </p:cNvPr>
          <p:cNvGrpSpPr/>
          <p:nvPr/>
        </p:nvGrpSpPr>
        <p:grpSpPr>
          <a:xfrm>
            <a:off x="564855" y="2692639"/>
            <a:ext cx="1807789" cy="740172"/>
            <a:chOff x="626784" y="5014672"/>
            <a:chExt cx="1807789" cy="7401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BB13D5-AD59-9A4F-8A34-AA3075DB5210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4A59EE-C815-ED4D-8A12-72DC9B2ED40C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05DFB2-2709-D04A-A1CB-BCF3EA1E211C}"/>
                </a:ext>
              </a:extLst>
            </p:cNvPr>
            <p:cNvCxnSpPr>
              <a:stCxn id="19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252D16-9FCF-8442-B5F6-EC051EFFAA45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4EAAD-8312-CE43-A19D-E37EA6F6E394}"/>
              </a:ext>
            </a:extLst>
          </p:cNvPr>
          <p:cNvGraphicFramePr>
            <a:graphicFrameLocks noGrp="1"/>
          </p:cNvGraphicFramePr>
          <p:nvPr/>
        </p:nvGraphicFramePr>
        <p:xfrm>
          <a:off x="2524308" y="2343286"/>
          <a:ext cx="532571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6" name="Group 15" descr="index j scanning the pattern">
            <a:extLst>
              <a:ext uri="{FF2B5EF4-FFF2-40B4-BE49-F238E27FC236}">
                <a16:creationId xmlns:a16="http://schemas.microsoft.com/office/drawing/2014/main" id="{0ACD4F93-49A4-0648-AEA7-728A13A42590}"/>
              </a:ext>
            </a:extLst>
          </p:cNvPr>
          <p:cNvGrpSpPr/>
          <p:nvPr/>
        </p:nvGrpSpPr>
        <p:grpSpPr>
          <a:xfrm>
            <a:off x="3569411" y="1700079"/>
            <a:ext cx="300467" cy="714925"/>
            <a:chOff x="953380" y="3653894"/>
            <a:chExt cx="237566" cy="8596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BE875E-708C-BF41-AEBD-9392717D8CB1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B94E9B-FED7-D24E-A448-F1E5342F04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 descr="index i scanning the text">
            <a:extLst>
              <a:ext uri="{FF2B5EF4-FFF2-40B4-BE49-F238E27FC236}">
                <a16:creationId xmlns:a16="http://schemas.microsoft.com/office/drawing/2014/main" id="{981B3DF0-C85C-AC4F-8C3A-07CCD29B598D}"/>
              </a:ext>
            </a:extLst>
          </p:cNvPr>
          <p:cNvGrpSpPr/>
          <p:nvPr/>
        </p:nvGrpSpPr>
        <p:grpSpPr>
          <a:xfrm>
            <a:off x="3902448" y="3822293"/>
            <a:ext cx="237566" cy="564316"/>
            <a:chOff x="914309" y="5706855"/>
            <a:chExt cx="237566" cy="56431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86FDED-29DC-6043-B5C3-DA86FB59C38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BD6E0D-E4C1-214C-A3C0-C446A03CF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 descr="i+j index">
            <a:extLst>
              <a:ext uri="{FF2B5EF4-FFF2-40B4-BE49-F238E27FC236}">
                <a16:creationId xmlns:a16="http://schemas.microsoft.com/office/drawing/2014/main" id="{0D553347-2A37-AC40-BF84-29A743BF953E}"/>
              </a:ext>
            </a:extLst>
          </p:cNvPr>
          <p:cNvGrpSpPr/>
          <p:nvPr/>
        </p:nvGrpSpPr>
        <p:grpSpPr>
          <a:xfrm>
            <a:off x="4784219" y="3822293"/>
            <a:ext cx="625049" cy="733439"/>
            <a:chOff x="4548307" y="6065470"/>
            <a:chExt cx="625049" cy="733439"/>
          </a:xfrm>
        </p:grpSpPr>
        <p:sp>
          <p:nvSpPr>
            <p:cNvPr id="30" name="TextBox 29" descr="index i+j">
              <a:extLst>
                <a:ext uri="{FF2B5EF4-FFF2-40B4-BE49-F238E27FC236}">
                  <a16:creationId xmlns:a16="http://schemas.microsoft.com/office/drawing/2014/main" id="{8DBAE141-9D3D-7C47-BA31-C2A4B70E1411}"/>
                </a:ext>
              </a:extLst>
            </p:cNvPr>
            <p:cNvSpPr txBox="1"/>
            <p:nvPr/>
          </p:nvSpPr>
          <p:spPr>
            <a:xfrm>
              <a:off x="4548307" y="6429577"/>
              <a:ext cx="625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6C2FF0F-BB8C-A749-805E-29EA851AA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3395" y="6065470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 descr="problem with input stream: brute foce would need to back up">
            <a:extLst>
              <a:ext uri="{FF2B5EF4-FFF2-40B4-BE49-F238E27FC236}">
                <a16:creationId xmlns:a16="http://schemas.microsoft.com/office/drawing/2014/main" id="{CB09AC96-F2CD-A34B-8C77-751B814EC8D9}"/>
              </a:ext>
            </a:extLst>
          </p:cNvPr>
          <p:cNvGrpSpPr/>
          <p:nvPr/>
        </p:nvGrpSpPr>
        <p:grpSpPr>
          <a:xfrm>
            <a:off x="2575886" y="1708389"/>
            <a:ext cx="2660399" cy="2959308"/>
            <a:chOff x="2575886" y="1708389"/>
            <a:chExt cx="2660399" cy="295930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F736934-791F-A04E-88ED-8E0FE4FBDD95}"/>
                </a:ext>
              </a:extLst>
            </p:cNvPr>
            <p:cNvGrpSpPr/>
            <p:nvPr/>
          </p:nvGrpSpPr>
          <p:grpSpPr>
            <a:xfrm>
              <a:off x="4226181" y="2671164"/>
              <a:ext cx="1010104" cy="849175"/>
              <a:chOff x="4226181" y="2671164"/>
              <a:chExt cx="1010104" cy="849175"/>
            </a:xfrm>
          </p:grpSpPr>
          <p:sp>
            <p:nvSpPr>
              <p:cNvPr id="8" name="Left Arrow 7">
                <a:extLst>
                  <a:ext uri="{FF2B5EF4-FFF2-40B4-BE49-F238E27FC236}">
                    <a16:creationId xmlns:a16="http://schemas.microsoft.com/office/drawing/2014/main" id="{DFAE9E15-2218-B847-8361-B711C236A4D2}"/>
                  </a:ext>
                </a:extLst>
              </p:cNvPr>
              <p:cNvSpPr/>
              <p:nvPr/>
            </p:nvSpPr>
            <p:spPr>
              <a:xfrm>
                <a:off x="4226181" y="3035707"/>
                <a:ext cx="928458" cy="484632"/>
              </a:xfrm>
              <a:prstGeom prst="leftArrow">
                <a:avLst>
                  <a:gd name="adj1" fmla="val 63477"/>
                  <a:gd name="adj2" fmla="val 36523"/>
                </a:avLst>
              </a:prstGeom>
              <a:solidFill>
                <a:srgbClr val="C00000">
                  <a:alpha val="20000"/>
                </a:srgbClr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438A85-FAC1-724D-BEE4-6DF83579405A}"/>
                  </a:ext>
                </a:extLst>
              </p:cNvPr>
              <p:cNvSpPr txBox="1"/>
              <p:nvPr/>
            </p:nvSpPr>
            <p:spPr>
              <a:xfrm>
                <a:off x="4307826" y="2671164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backup</a:t>
                </a:r>
              </a:p>
            </p:txBody>
          </p:sp>
        </p:grpSp>
        <p:grpSp>
          <p:nvGrpSpPr>
            <p:cNvPr id="23" name="Group 22" descr="index j scanning the pattern">
              <a:extLst>
                <a:ext uri="{FF2B5EF4-FFF2-40B4-BE49-F238E27FC236}">
                  <a16:creationId xmlns:a16="http://schemas.microsoft.com/office/drawing/2014/main" id="{51EE8FEC-7764-844B-A0CB-D847FF1D8181}"/>
                </a:ext>
              </a:extLst>
            </p:cNvPr>
            <p:cNvGrpSpPr/>
            <p:nvPr/>
          </p:nvGrpSpPr>
          <p:grpSpPr>
            <a:xfrm>
              <a:off x="2575886" y="1708389"/>
              <a:ext cx="300467" cy="714925"/>
              <a:chOff x="953380" y="3653894"/>
              <a:chExt cx="237566" cy="859643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EB7E041-3AFB-6F4E-9A7D-2C92141A069A}"/>
                  </a:ext>
                </a:extLst>
              </p:cNvPr>
              <p:cNvSpPr txBox="1"/>
              <p:nvPr/>
            </p:nvSpPr>
            <p:spPr>
              <a:xfrm>
                <a:off x="953380" y="3653894"/>
                <a:ext cx="237566" cy="444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E9B36115-36FA-D245-B3F9-0A8E001D52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9505" y="4160128"/>
                <a:ext cx="0" cy="353409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 descr="index i scanning the text">
              <a:extLst>
                <a:ext uri="{FF2B5EF4-FFF2-40B4-BE49-F238E27FC236}">
                  <a16:creationId xmlns:a16="http://schemas.microsoft.com/office/drawing/2014/main" id="{7A4857AA-DA43-894D-AC2F-FA4A6818B685}"/>
                </a:ext>
              </a:extLst>
            </p:cNvPr>
            <p:cNvGrpSpPr/>
            <p:nvPr/>
          </p:nvGrpSpPr>
          <p:grpSpPr>
            <a:xfrm>
              <a:off x="4166357" y="3826382"/>
              <a:ext cx="421910" cy="841315"/>
              <a:chOff x="832664" y="5706855"/>
              <a:chExt cx="421910" cy="84131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355C045-D7D4-4C48-A1BD-DDC88270CA93}"/>
                  </a:ext>
                </a:extLst>
              </p:cNvPr>
              <p:cNvSpPr txBox="1"/>
              <p:nvPr/>
            </p:nvSpPr>
            <p:spPr>
              <a:xfrm>
                <a:off x="832664" y="5901839"/>
                <a:ext cx="42191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</a:p>
              <a:p>
                <a:pPr algn="ctr"/>
                <a:r>
                  <a:rPr lang="en-US" i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i+j</a:t>
                </a:r>
                <a:endParaRPr lang="en-US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1CFC1665-EEE3-3F48-8EFA-DEBCFBB992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4948" y="5706855"/>
                <a:ext cx="0" cy="259188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137949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4B2B-42A6-AB40-9BC4-CB4BFBF6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AC683-7CB8-FA4F-BFE8-E3A25C25F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  <a:p>
            <a:r>
              <a:rPr lang="en-US" dirty="0">
                <a:highlight>
                  <a:srgbClr val="C0C0C0"/>
                </a:highlight>
              </a:rPr>
              <a:t>Knuth-Morris-Pratt algorithm</a:t>
            </a:r>
          </a:p>
          <a:p>
            <a:r>
              <a:rPr lang="en-US" dirty="0"/>
              <a:t>Boyer-Moore algorithm</a:t>
            </a:r>
          </a:p>
        </p:txBody>
      </p:sp>
    </p:spTree>
    <p:extLst>
      <p:ext uri="{BB962C8B-B14F-4D97-AF65-F5344CB8AC3E}">
        <p14:creationId xmlns:p14="http://schemas.microsoft.com/office/powerpoint/2010/main" val="916910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E9C88-3792-4740-AA49-38F5A8567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3A73-AD6D-6B43-A4CC-3C080E803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Brute force</a:t>
            </a:r>
            <a:r>
              <a:rPr lang="en-US" dirty="0"/>
              <a:t>: does not take advantage of characters already seen from the input stream</a:t>
            </a:r>
          </a:p>
        </p:txBody>
      </p:sp>
      <p:grpSp>
        <p:nvGrpSpPr>
          <p:cNvPr id="5" name="Group 4" descr="example pattern and text">
            <a:extLst>
              <a:ext uri="{FF2B5EF4-FFF2-40B4-BE49-F238E27FC236}">
                <a16:creationId xmlns:a16="http://schemas.microsoft.com/office/drawing/2014/main" id="{4C038E66-9706-734F-AC4D-84066B319A8F}"/>
              </a:ext>
            </a:extLst>
          </p:cNvPr>
          <p:cNvGrpSpPr/>
          <p:nvPr/>
        </p:nvGrpSpPr>
        <p:grpSpPr>
          <a:xfrm>
            <a:off x="514866" y="3296797"/>
            <a:ext cx="1807789" cy="740172"/>
            <a:chOff x="626784" y="5014672"/>
            <a:chExt cx="1807789" cy="740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C91C68-069B-0D42-8CE0-EFAC329660CD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A75780-487E-074E-AC60-CA2D68A5E645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BC7A001-93F5-6047-B224-DCAA3FB92275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B7C6C6A-86E0-9C4E-A5AD-C956A5592767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A8C080-C765-2848-A8A0-65C1CA08114E}"/>
              </a:ext>
            </a:extLst>
          </p:cNvPr>
          <p:cNvGraphicFramePr>
            <a:graphicFrameLocks noGrp="1"/>
          </p:cNvGraphicFramePr>
          <p:nvPr/>
        </p:nvGraphicFramePr>
        <p:xfrm>
          <a:off x="2474319" y="2947444"/>
          <a:ext cx="532571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0" name="Group 9" descr="index j scanning the pattern">
            <a:extLst>
              <a:ext uri="{FF2B5EF4-FFF2-40B4-BE49-F238E27FC236}">
                <a16:creationId xmlns:a16="http://schemas.microsoft.com/office/drawing/2014/main" id="{60FD66B5-F05F-034E-9A07-00CEF0C09025}"/>
              </a:ext>
            </a:extLst>
          </p:cNvPr>
          <p:cNvGrpSpPr/>
          <p:nvPr/>
        </p:nvGrpSpPr>
        <p:grpSpPr>
          <a:xfrm>
            <a:off x="3870997" y="2232519"/>
            <a:ext cx="300467" cy="714925"/>
            <a:chOff x="953380" y="3653894"/>
            <a:chExt cx="237566" cy="85964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86899D-FBB4-5148-B1F5-C7D286E1F710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300F381-489B-814C-944C-1304D6DB0ED4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 descr="index i scanning the text">
            <a:extLst>
              <a:ext uri="{FF2B5EF4-FFF2-40B4-BE49-F238E27FC236}">
                <a16:creationId xmlns:a16="http://schemas.microsoft.com/office/drawing/2014/main" id="{CBC75B7E-CEEE-324D-8C23-6B2DB8F6481C}"/>
              </a:ext>
            </a:extLst>
          </p:cNvPr>
          <p:cNvGrpSpPr/>
          <p:nvPr/>
        </p:nvGrpSpPr>
        <p:grpSpPr>
          <a:xfrm>
            <a:off x="3854598" y="4442560"/>
            <a:ext cx="237566" cy="564316"/>
            <a:chOff x="914309" y="5706855"/>
            <a:chExt cx="237566" cy="56431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54DAB02-D623-BB40-A4EB-45067ACCF86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F1BF674-390A-334B-A939-BB33D96A2A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 descr="i+j index">
            <a:extLst>
              <a:ext uri="{FF2B5EF4-FFF2-40B4-BE49-F238E27FC236}">
                <a16:creationId xmlns:a16="http://schemas.microsoft.com/office/drawing/2014/main" id="{F666A1A7-9658-F746-B714-1D9B55E1EF97}"/>
              </a:ext>
            </a:extLst>
          </p:cNvPr>
          <p:cNvGrpSpPr/>
          <p:nvPr/>
        </p:nvGrpSpPr>
        <p:grpSpPr>
          <a:xfrm>
            <a:off x="5068295" y="4377244"/>
            <a:ext cx="625049" cy="733439"/>
            <a:chOff x="4548307" y="6065470"/>
            <a:chExt cx="625049" cy="733439"/>
          </a:xfrm>
        </p:grpSpPr>
        <p:sp>
          <p:nvSpPr>
            <p:cNvPr id="17" name="TextBox 16" descr="index i+j">
              <a:extLst>
                <a:ext uri="{FF2B5EF4-FFF2-40B4-BE49-F238E27FC236}">
                  <a16:creationId xmlns:a16="http://schemas.microsoft.com/office/drawing/2014/main" id="{D87A7A0D-9920-5148-ADC7-275CBE507B3E}"/>
                </a:ext>
              </a:extLst>
            </p:cNvPr>
            <p:cNvSpPr txBox="1"/>
            <p:nvPr/>
          </p:nvSpPr>
          <p:spPr>
            <a:xfrm>
              <a:off x="4548307" y="6429577"/>
              <a:ext cx="625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5D72B41-AF4A-E546-A21E-E1E4081D14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3395" y="6065470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 descr="problem with input stream: brute foce would need to back up">
            <a:extLst>
              <a:ext uri="{FF2B5EF4-FFF2-40B4-BE49-F238E27FC236}">
                <a16:creationId xmlns:a16="http://schemas.microsoft.com/office/drawing/2014/main" id="{430520B6-1B84-0F4A-A221-06DC977434F4}"/>
              </a:ext>
            </a:extLst>
          </p:cNvPr>
          <p:cNvGrpSpPr/>
          <p:nvPr/>
        </p:nvGrpSpPr>
        <p:grpSpPr>
          <a:xfrm>
            <a:off x="4092164" y="3693789"/>
            <a:ext cx="1288655" cy="1629767"/>
            <a:chOff x="4092164" y="3693789"/>
            <a:chExt cx="1288655" cy="1629767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5E205602-4B93-3848-B9B6-C5D945B7E4DC}"/>
                </a:ext>
              </a:extLst>
            </p:cNvPr>
            <p:cNvSpPr/>
            <p:nvPr/>
          </p:nvSpPr>
          <p:spPr>
            <a:xfrm>
              <a:off x="4171464" y="3693789"/>
              <a:ext cx="1209355" cy="377787"/>
            </a:xfrm>
            <a:prstGeom prst="roundRect">
              <a:avLst/>
            </a:prstGeom>
            <a:solidFill>
              <a:srgbClr val="C00000">
                <a:alpha val="2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FC378D-689C-204B-814F-07E9DFC85788}"/>
                </a:ext>
              </a:extLst>
            </p:cNvPr>
            <p:cNvSpPr txBox="1"/>
            <p:nvPr/>
          </p:nvSpPr>
          <p:spPr>
            <a:xfrm>
              <a:off x="4092164" y="4677225"/>
              <a:ext cx="42191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  <a:p>
              <a:pPr algn="ctr"/>
              <a:r>
                <a:rPr lang="en-US" i="1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25A537B-E094-1E43-8A25-8E1546531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4448" y="4482241"/>
              <a:ext cx="0" cy="25918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95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E9C88-3792-4740-AA49-38F5A8567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3A73-AD6D-6B43-A4CC-3C080E803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Brute force</a:t>
            </a:r>
            <a:r>
              <a:rPr lang="en-US" dirty="0"/>
              <a:t>: does not take advantage of characters already seen from the input stream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Knuth-Morris-Pratt algorithm.</a:t>
            </a:r>
            <a:r>
              <a:rPr lang="en-US" dirty="0"/>
              <a:t> Avoids backing up by means of a deterministic finite state automaton (DFA)</a:t>
            </a:r>
          </a:p>
        </p:txBody>
      </p:sp>
      <p:grpSp>
        <p:nvGrpSpPr>
          <p:cNvPr id="5" name="Group 4" descr="example pattern and text">
            <a:extLst>
              <a:ext uri="{FF2B5EF4-FFF2-40B4-BE49-F238E27FC236}">
                <a16:creationId xmlns:a16="http://schemas.microsoft.com/office/drawing/2014/main" id="{4C038E66-9706-734F-AC4D-84066B319A8F}"/>
              </a:ext>
            </a:extLst>
          </p:cNvPr>
          <p:cNvGrpSpPr/>
          <p:nvPr/>
        </p:nvGrpSpPr>
        <p:grpSpPr>
          <a:xfrm>
            <a:off x="514866" y="3296797"/>
            <a:ext cx="1807789" cy="740172"/>
            <a:chOff x="626784" y="5014672"/>
            <a:chExt cx="1807789" cy="740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C91C68-069B-0D42-8CE0-EFAC329660CD}"/>
                </a:ext>
              </a:extLst>
            </p:cNvPr>
            <p:cNvSpPr txBox="1"/>
            <p:nvPr/>
          </p:nvSpPr>
          <p:spPr>
            <a:xfrm>
              <a:off x="626784" y="5014672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A75780-487E-074E-AC60-CA2D68A5E645}"/>
                </a:ext>
              </a:extLst>
            </p:cNvPr>
            <p:cNvSpPr txBox="1"/>
            <p:nvPr/>
          </p:nvSpPr>
          <p:spPr>
            <a:xfrm>
              <a:off x="944025" y="5385512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BC7A001-93F5-6047-B224-DCAA3FB92275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529595" y="519156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B7C6C6A-86E0-9C4E-A5AD-C956A5592767}"/>
                </a:ext>
              </a:extLst>
            </p:cNvPr>
            <p:cNvCxnSpPr/>
            <p:nvPr/>
          </p:nvCxnSpPr>
          <p:spPr>
            <a:xfrm flipV="1">
              <a:off x="1515091" y="5570178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A8C080-C765-2848-A8A0-65C1CA081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973534"/>
              </p:ext>
            </p:extLst>
          </p:nvPr>
        </p:nvGraphicFramePr>
        <p:xfrm>
          <a:off x="2474319" y="2947444"/>
          <a:ext cx="532571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10" name="Group 9" descr="index j scanning the pattern">
            <a:extLst>
              <a:ext uri="{FF2B5EF4-FFF2-40B4-BE49-F238E27FC236}">
                <a16:creationId xmlns:a16="http://schemas.microsoft.com/office/drawing/2014/main" id="{60FD66B5-F05F-034E-9A07-00CEF0C09025}"/>
              </a:ext>
            </a:extLst>
          </p:cNvPr>
          <p:cNvGrpSpPr/>
          <p:nvPr/>
        </p:nvGrpSpPr>
        <p:grpSpPr>
          <a:xfrm>
            <a:off x="3870997" y="2232519"/>
            <a:ext cx="300467" cy="714925"/>
            <a:chOff x="953380" y="3653894"/>
            <a:chExt cx="237566" cy="85964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86899D-FBB4-5148-B1F5-C7D286E1F710}"/>
                </a:ext>
              </a:extLst>
            </p:cNvPr>
            <p:cNvSpPr txBox="1"/>
            <p:nvPr/>
          </p:nvSpPr>
          <p:spPr>
            <a:xfrm>
              <a:off x="953380" y="3653894"/>
              <a:ext cx="237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300F381-489B-814C-944C-1304D6DB0ED4}"/>
                </a:ext>
              </a:extLst>
            </p:cNvPr>
            <p:cNvCxnSpPr>
              <a:cxnSpLocks/>
            </p:cNvCxnSpPr>
            <p:nvPr/>
          </p:nvCxnSpPr>
          <p:spPr>
            <a:xfrm>
              <a:off x="1039505" y="4160128"/>
              <a:ext cx="0" cy="3534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 descr="index i scanning the text">
            <a:extLst>
              <a:ext uri="{FF2B5EF4-FFF2-40B4-BE49-F238E27FC236}">
                <a16:creationId xmlns:a16="http://schemas.microsoft.com/office/drawing/2014/main" id="{CBC75B7E-CEEE-324D-8C23-6B2DB8F6481C}"/>
              </a:ext>
            </a:extLst>
          </p:cNvPr>
          <p:cNvGrpSpPr/>
          <p:nvPr/>
        </p:nvGrpSpPr>
        <p:grpSpPr>
          <a:xfrm>
            <a:off x="3854598" y="4442560"/>
            <a:ext cx="237566" cy="564316"/>
            <a:chOff x="914309" y="5706855"/>
            <a:chExt cx="237566" cy="56431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54DAB02-D623-BB40-A4EB-45067ACCF86B}"/>
                </a:ext>
              </a:extLst>
            </p:cNvPr>
            <p:cNvSpPr txBox="1"/>
            <p:nvPr/>
          </p:nvSpPr>
          <p:spPr>
            <a:xfrm>
              <a:off x="914309" y="5901839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F1BF674-390A-334B-A939-BB33D96A2A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948" y="5706855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 descr="i+j index">
            <a:extLst>
              <a:ext uri="{FF2B5EF4-FFF2-40B4-BE49-F238E27FC236}">
                <a16:creationId xmlns:a16="http://schemas.microsoft.com/office/drawing/2014/main" id="{F666A1A7-9658-F746-B714-1D9B55E1EF97}"/>
              </a:ext>
            </a:extLst>
          </p:cNvPr>
          <p:cNvGrpSpPr/>
          <p:nvPr/>
        </p:nvGrpSpPr>
        <p:grpSpPr>
          <a:xfrm>
            <a:off x="5068295" y="4377244"/>
            <a:ext cx="625049" cy="733439"/>
            <a:chOff x="4548307" y="6065470"/>
            <a:chExt cx="625049" cy="733439"/>
          </a:xfrm>
        </p:grpSpPr>
        <p:sp>
          <p:nvSpPr>
            <p:cNvPr id="17" name="TextBox 16" descr="index i+j">
              <a:extLst>
                <a:ext uri="{FF2B5EF4-FFF2-40B4-BE49-F238E27FC236}">
                  <a16:creationId xmlns:a16="http://schemas.microsoft.com/office/drawing/2014/main" id="{D87A7A0D-9920-5148-ADC7-275CBE507B3E}"/>
                </a:ext>
              </a:extLst>
            </p:cNvPr>
            <p:cNvSpPr txBox="1"/>
            <p:nvPr/>
          </p:nvSpPr>
          <p:spPr>
            <a:xfrm>
              <a:off x="4548307" y="6429577"/>
              <a:ext cx="625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5D72B41-AF4A-E546-A21E-E1E4081D14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3395" y="6065470"/>
              <a:ext cx="0" cy="25918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 descr="problem with input stream: brute foce would need to back up">
            <a:extLst>
              <a:ext uri="{FF2B5EF4-FFF2-40B4-BE49-F238E27FC236}">
                <a16:creationId xmlns:a16="http://schemas.microsoft.com/office/drawing/2014/main" id="{430520B6-1B84-0F4A-A221-06DC977434F4}"/>
              </a:ext>
            </a:extLst>
          </p:cNvPr>
          <p:cNvGrpSpPr/>
          <p:nvPr/>
        </p:nvGrpSpPr>
        <p:grpSpPr>
          <a:xfrm>
            <a:off x="4092164" y="3693789"/>
            <a:ext cx="1288655" cy="1629767"/>
            <a:chOff x="4092164" y="3693789"/>
            <a:chExt cx="1288655" cy="1629767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5E205602-4B93-3848-B9B6-C5D945B7E4DC}"/>
                </a:ext>
              </a:extLst>
            </p:cNvPr>
            <p:cNvSpPr/>
            <p:nvPr/>
          </p:nvSpPr>
          <p:spPr>
            <a:xfrm>
              <a:off x="4171464" y="3693789"/>
              <a:ext cx="1209355" cy="377787"/>
            </a:xfrm>
            <a:prstGeom prst="roundRect">
              <a:avLst/>
            </a:prstGeom>
            <a:solidFill>
              <a:srgbClr val="C00000">
                <a:alpha val="2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FC378D-689C-204B-814F-07E9DFC85788}"/>
                </a:ext>
              </a:extLst>
            </p:cNvPr>
            <p:cNvSpPr txBox="1"/>
            <p:nvPr/>
          </p:nvSpPr>
          <p:spPr>
            <a:xfrm>
              <a:off x="4092164" y="4677225"/>
              <a:ext cx="42191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  <a:p>
              <a:pPr algn="ctr"/>
              <a:r>
                <a:rPr lang="en-US" i="1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25A537B-E094-1E43-8A25-8E1546531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4448" y="4482241"/>
              <a:ext cx="0" cy="25918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3651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. Use a </a:t>
            </a:r>
            <a:r>
              <a:rPr lang="en-US" dirty="0">
                <a:solidFill>
                  <a:schemeClr val="accent5"/>
                </a:solidFill>
              </a:rPr>
              <a:t>DFA as a string-searching machine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Start in the initial state</a:t>
            </a:r>
          </a:p>
          <a:p>
            <a:pPr lvl="1"/>
            <a:r>
              <a:rPr lang="en-US" dirty="0"/>
              <a:t>Read one character at a time from the input stream</a:t>
            </a:r>
          </a:p>
          <a:p>
            <a:pPr lvl="1"/>
            <a:r>
              <a:rPr lang="en-US" dirty="0"/>
              <a:t>Consult the DFA transition table to know what state to go next (there is exactly one transition for each character in the alphabet)</a:t>
            </a:r>
          </a:p>
          <a:p>
            <a:pPr lvl="1"/>
            <a:r>
              <a:rPr lang="en-US" dirty="0"/>
              <a:t>Pattern found if transition leads to final state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392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R=3, alphabet: {A, B, C}, pattern=ABABAC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DA5-9C5B-8C47-AD05-FC3E71F532F6}"/>
              </a:ext>
            </a:extLst>
          </p:cNvPr>
          <p:cNvSpPr txBox="1"/>
          <p:nvPr/>
        </p:nvSpPr>
        <p:spPr>
          <a:xfrm>
            <a:off x="3202389" y="217347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states 0=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6=final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F5A6-1E9F-E240-B2A0-DE05AA33B433}"/>
              </a:ext>
            </a:extLst>
          </p:cNvPr>
          <p:cNvSpPr txBox="1"/>
          <p:nvPr/>
        </p:nvSpPr>
        <p:spPr>
          <a:xfrm>
            <a:off x="480141" y="332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characters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A6F40-B81A-984F-BAC2-B64EB3C5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065512"/>
              </p:ext>
            </p:extLst>
          </p:nvPr>
        </p:nvGraphicFramePr>
        <p:xfrm>
          <a:off x="2305223" y="2591789"/>
          <a:ext cx="38130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84" name="Group 83" descr="graphical represenation of DFA">
            <a:extLst>
              <a:ext uri="{FF2B5EF4-FFF2-40B4-BE49-F238E27FC236}">
                <a16:creationId xmlns:a16="http://schemas.microsoft.com/office/drawing/2014/main" id="{1C61A2E3-256C-0F41-83DA-B0AA862F0494}"/>
              </a:ext>
            </a:extLst>
          </p:cNvPr>
          <p:cNvGrpSpPr/>
          <p:nvPr/>
        </p:nvGrpSpPr>
        <p:grpSpPr>
          <a:xfrm>
            <a:off x="376866" y="4321515"/>
            <a:ext cx="8520640" cy="2056849"/>
            <a:chOff x="260898" y="4449612"/>
            <a:chExt cx="8520640" cy="2056849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71040BD-D238-2947-B373-55C3365B0B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4866" y="5476354"/>
              <a:ext cx="457200" cy="457200"/>
            </a:xfrm>
            <a:prstGeom prst="ellipse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1A25E29-3812-6844-9F0F-33EF85053D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18146" y="5476354"/>
              <a:ext cx="457200" cy="457200"/>
            </a:xfrm>
            <a:prstGeom prst="ellipse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67E165D-B6C1-D94C-8584-E94503262B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21426" y="5476354"/>
              <a:ext cx="457200" cy="457200"/>
            </a:xfrm>
            <a:prstGeom prst="ellipse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C844D4-CAC3-C64C-A55A-8C74BB3A2A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4706" y="5476354"/>
              <a:ext cx="457200" cy="457200"/>
            </a:xfrm>
            <a:prstGeom prst="ellipse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4C57C1A-F03E-CD42-B662-2088BC41B6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27986" y="5482636"/>
              <a:ext cx="457200" cy="457200"/>
            </a:xfrm>
            <a:prstGeom prst="ellipse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1928E77-0E5B-E64C-81F6-E010E4D1D2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6162" y="5476354"/>
              <a:ext cx="457200" cy="457200"/>
            </a:xfrm>
            <a:prstGeom prst="ellipse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FACE729-AC3D-3948-856C-D1655E87A581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972066" y="5704954"/>
              <a:ext cx="846080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2B8D32B-3CC1-5A48-8514-58CEB92850AE}"/>
                </a:ext>
              </a:extLst>
            </p:cNvPr>
            <p:cNvCxnSpPr>
              <a:cxnSpLocks/>
              <a:stCxn id="8" idx="6"/>
              <a:endCxn id="9" idx="2"/>
            </p:cNvCxnSpPr>
            <p:nvPr/>
          </p:nvCxnSpPr>
          <p:spPr>
            <a:xfrm>
              <a:off x="2275346" y="5704954"/>
              <a:ext cx="846080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A8B017D-FB25-5648-B3B3-0B674BAD654C}"/>
                </a:ext>
              </a:extLst>
            </p:cNvPr>
            <p:cNvCxnSpPr>
              <a:cxnSpLocks/>
            </p:cNvCxnSpPr>
            <p:nvPr/>
          </p:nvCxnSpPr>
          <p:spPr>
            <a:xfrm>
              <a:off x="3578626" y="5704954"/>
              <a:ext cx="846080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76E6916-25BE-6044-9A0E-25D24A7874FF}"/>
                </a:ext>
              </a:extLst>
            </p:cNvPr>
            <p:cNvCxnSpPr>
              <a:cxnSpLocks/>
            </p:cNvCxnSpPr>
            <p:nvPr/>
          </p:nvCxnSpPr>
          <p:spPr>
            <a:xfrm>
              <a:off x="4881906" y="5704954"/>
              <a:ext cx="846080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BC46241-FA47-214B-8401-A17D2594C0C4}"/>
                </a:ext>
              </a:extLst>
            </p:cNvPr>
            <p:cNvCxnSpPr>
              <a:cxnSpLocks/>
            </p:cNvCxnSpPr>
            <p:nvPr/>
          </p:nvCxnSpPr>
          <p:spPr>
            <a:xfrm>
              <a:off x="6185186" y="5704954"/>
              <a:ext cx="846080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6282EA-FA32-C848-A057-9781C9B2F0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24338" y="5498964"/>
              <a:ext cx="457200" cy="457200"/>
            </a:xfrm>
            <a:prstGeom prst="ellipse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D2BC4EA-094B-D14F-89DD-F421AF02B9AA}"/>
                </a:ext>
              </a:extLst>
            </p:cNvPr>
            <p:cNvCxnSpPr>
              <a:cxnSpLocks/>
            </p:cNvCxnSpPr>
            <p:nvPr/>
          </p:nvCxnSpPr>
          <p:spPr>
            <a:xfrm>
              <a:off x="7483362" y="5712075"/>
              <a:ext cx="846080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CF7B994-FF32-374E-89EC-886F080CA8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09637" y="5581711"/>
              <a:ext cx="291705" cy="291705"/>
            </a:xfrm>
            <a:prstGeom prst="ellipse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668C059F-AD7E-0A4C-9011-A84348D2002F}"/>
                </a:ext>
              </a:extLst>
            </p:cNvPr>
            <p:cNvCxnSpPr>
              <a:cxnSpLocks/>
              <a:stCxn id="7" idx="2"/>
              <a:endCxn id="7" idx="4"/>
            </p:cNvCxnSpPr>
            <p:nvPr/>
          </p:nvCxnSpPr>
          <p:spPr>
            <a:xfrm rot="10800000" flipH="1" flipV="1">
              <a:off x="514866" y="5704954"/>
              <a:ext cx="228600" cy="228600"/>
            </a:xfrm>
            <a:prstGeom prst="curvedConnector4">
              <a:avLst>
                <a:gd name="adj1" fmla="val -100000"/>
                <a:gd name="adj2" fmla="val 200000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9EFF83BD-AC9B-5A4F-B2B1-205C791B4B19}"/>
                </a:ext>
              </a:extLst>
            </p:cNvPr>
            <p:cNvCxnSpPr>
              <a:cxnSpLocks/>
              <a:stCxn id="8" idx="2"/>
              <a:endCxn id="8" idx="4"/>
            </p:cNvCxnSpPr>
            <p:nvPr/>
          </p:nvCxnSpPr>
          <p:spPr>
            <a:xfrm rot="10800000" flipH="1" flipV="1">
              <a:off x="1818146" y="5704954"/>
              <a:ext cx="228600" cy="228600"/>
            </a:xfrm>
            <a:prstGeom prst="curvedConnector4">
              <a:avLst>
                <a:gd name="adj1" fmla="val -100000"/>
                <a:gd name="adj2" fmla="val 200000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urved Connector 34">
              <a:extLst>
                <a:ext uri="{FF2B5EF4-FFF2-40B4-BE49-F238E27FC236}">
                  <a16:creationId xmlns:a16="http://schemas.microsoft.com/office/drawing/2014/main" id="{E82B9D59-CF1B-664F-A9DB-812EE04550EB}"/>
                </a:ext>
              </a:extLst>
            </p:cNvPr>
            <p:cNvCxnSpPr>
              <a:cxnSpLocks/>
              <a:stCxn id="8" idx="0"/>
              <a:endCxn id="7" idx="0"/>
            </p:cNvCxnSpPr>
            <p:nvPr/>
          </p:nvCxnSpPr>
          <p:spPr>
            <a:xfrm rot="16200000" flipV="1">
              <a:off x="1395106" y="4824714"/>
              <a:ext cx="12700" cy="1303280"/>
            </a:xfrm>
            <a:prstGeom prst="curvedConnector3">
              <a:avLst>
                <a:gd name="adj1" fmla="val 1800000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urved Connector 37">
              <a:extLst>
                <a:ext uri="{FF2B5EF4-FFF2-40B4-BE49-F238E27FC236}">
                  <a16:creationId xmlns:a16="http://schemas.microsoft.com/office/drawing/2014/main" id="{7A968FD2-99C5-6744-8323-30FD3A73DAD1}"/>
                </a:ext>
              </a:extLst>
            </p:cNvPr>
            <p:cNvCxnSpPr>
              <a:cxnSpLocks/>
              <a:stCxn id="9" idx="0"/>
              <a:endCxn id="7" idx="1"/>
            </p:cNvCxnSpPr>
            <p:nvPr/>
          </p:nvCxnSpPr>
          <p:spPr>
            <a:xfrm rot="16200000" flipH="1" flipV="1">
              <a:off x="1932446" y="4125728"/>
              <a:ext cx="66955" cy="2768205"/>
            </a:xfrm>
            <a:prstGeom prst="curvedConnector3">
              <a:avLst>
                <a:gd name="adj1" fmla="val -658459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urved Connector 41">
              <a:extLst>
                <a:ext uri="{FF2B5EF4-FFF2-40B4-BE49-F238E27FC236}">
                  <a16:creationId xmlns:a16="http://schemas.microsoft.com/office/drawing/2014/main" id="{022D6753-5D3E-DB48-A480-A87280A0BEAA}"/>
                </a:ext>
              </a:extLst>
            </p:cNvPr>
            <p:cNvCxnSpPr>
              <a:cxnSpLocks/>
              <a:stCxn id="10" idx="0"/>
              <a:endCxn id="7" idx="1"/>
            </p:cNvCxnSpPr>
            <p:nvPr/>
          </p:nvCxnSpPr>
          <p:spPr>
            <a:xfrm rot="16200000" flipH="1" flipV="1">
              <a:off x="2584086" y="3474088"/>
              <a:ext cx="66955" cy="4071485"/>
            </a:xfrm>
            <a:prstGeom prst="curvedConnector3">
              <a:avLst>
                <a:gd name="adj1" fmla="val -1097431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urved Connector 45">
              <a:extLst>
                <a:ext uri="{FF2B5EF4-FFF2-40B4-BE49-F238E27FC236}">
                  <a16:creationId xmlns:a16="http://schemas.microsoft.com/office/drawing/2014/main" id="{986DF451-696B-7A44-AB4E-269F02033886}"/>
                </a:ext>
              </a:extLst>
            </p:cNvPr>
            <p:cNvCxnSpPr>
              <a:cxnSpLocks/>
              <a:stCxn id="10" idx="4"/>
              <a:endCxn id="8" idx="5"/>
            </p:cNvCxnSpPr>
            <p:nvPr/>
          </p:nvCxnSpPr>
          <p:spPr>
            <a:xfrm rot="5400000" flipH="1">
              <a:off x="3397371" y="4677620"/>
              <a:ext cx="66955" cy="2444915"/>
            </a:xfrm>
            <a:prstGeom prst="curvedConnector3">
              <a:avLst>
                <a:gd name="adj1" fmla="val -438972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urved Connector 48">
              <a:extLst>
                <a:ext uri="{FF2B5EF4-FFF2-40B4-BE49-F238E27FC236}">
                  <a16:creationId xmlns:a16="http://schemas.microsoft.com/office/drawing/2014/main" id="{63A3BCBF-4F43-4A40-91FF-0D70A7F2B041}"/>
                </a:ext>
              </a:extLst>
            </p:cNvPr>
            <p:cNvCxnSpPr>
              <a:cxnSpLocks/>
              <a:stCxn id="11" idx="0"/>
              <a:endCxn id="7" idx="2"/>
            </p:cNvCxnSpPr>
            <p:nvPr/>
          </p:nvCxnSpPr>
          <p:spPr>
            <a:xfrm rot="16200000" flipH="1" flipV="1">
              <a:off x="3124567" y="2872935"/>
              <a:ext cx="222318" cy="5441720"/>
            </a:xfrm>
            <a:prstGeom prst="curvedConnector4">
              <a:avLst>
                <a:gd name="adj1" fmla="val -392094"/>
                <a:gd name="adj2" fmla="val 104201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urved Connector 54">
              <a:extLst>
                <a:ext uri="{FF2B5EF4-FFF2-40B4-BE49-F238E27FC236}">
                  <a16:creationId xmlns:a16="http://schemas.microsoft.com/office/drawing/2014/main" id="{075222EF-D6BC-7A49-9FD3-F03AEA8FF415}"/>
                </a:ext>
              </a:extLst>
            </p:cNvPr>
            <p:cNvCxnSpPr>
              <a:cxnSpLocks/>
              <a:stCxn id="12" idx="3"/>
              <a:endCxn id="11" idx="5"/>
            </p:cNvCxnSpPr>
            <p:nvPr/>
          </p:nvCxnSpPr>
          <p:spPr>
            <a:xfrm rot="5400000">
              <a:off x="6602533" y="5382297"/>
              <a:ext cx="6282" cy="974886"/>
            </a:xfrm>
            <a:prstGeom prst="curvedConnector3">
              <a:avLst>
                <a:gd name="adj1" fmla="val 4804791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urved Connector 57">
              <a:extLst>
                <a:ext uri="{FF2B5EF4-FFF2-40B4-BE49-F238E27FC236}">
                  <a16:creationId xmlns:a16="http://schemas.microsoft.com/office/drawing/2014/main" id="{2B8F3F67-CF65-B543-A8A0-B48FC7472F82}"/>
                </a:ext>
              </a:extLst>
            </p:cNvPr>
            <p:cNvCxnSpPr>
              <a:cxnSpLocks/>
              <a:stCxn id="12" idx="4"/>
              <a:endCxn id="8" idx="5"/>
            </p:cNvCxnSpPr>
            <p:nvPr/>
          </p:nvCxnSpPr>
          <p:spPr>
            <a:xfrm rot="5400000" flipH="1">
              <a:off x="4698099" y="3376892"/>
              <a:ext cx="66955" cy="5046371"/>
            </a:xfrm>
            <a:prstGeom prst="curvedConnector3">
              <a:avLst>
                <a:gd name="adj1" fmla="val -877946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DBDF27C-C17F-4C49-AC90-9FEA3C975484}"/>
                </a:ext>
              </a:extLst>
            </p:cNvPr>
            <p:cNvSpPr txBox="1"/>
            <p:nvPr/>
          </p:nvSpPr>
          <p:spPr>
            <a:xfrm>
              <a:off x="1188731" y="5376378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205C1FF-16BF-9140-A6EE-C031F9B64CF4}"/>
                </a:ext>
              </a:extLst>
            </p:cNvPr>
            <p:cNvSpPr txBox="1"/>
            <p:nvPr/>
          </p:nvSpPr>
          <p:spPr>
            <a:xfrm>
              <a:off x="3809644" y="5368162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F69565E-7A34-3743-98D2-E88B1C301AE6}"/>
                </a:ext>
              </a:extLst>
            </p:cNvPr>
            <p:cNvSpPr txBox="1"/>
            <p:nvPr/>
          </p:nvSpPr>
          <p:spPr>
            <a:xfrm>
              <a:off x="1509653" y="6054194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A4D613F-FF63-2645-890C-EEB7AFAEDA84}"/>
                </a:ext>
              </a:extLst>
            </p:cNvPr>
            <p:cNvSpPr txBox="1"/>
            <p:nvPr/>
          </p:nvSpPr>
          <p:spPr>
            <a:xfrm>
              <a:off x="6433097" y="5412434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213D956-34A3-E647-AB0E-E2EE61DA89A3}"/>
                </a:ext>
              </a:extLst>
            </p:cNvPr>
            <p:cNvSpPr txBox="1"/>
            <p:nvPr/>
          </p:nvSpPr>
          <p:spPr>
            <a:xfrm>
              <a:off x="4092279" y="5828101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EB8C4BD-6BD2-F741-BD1F-04775E96FB8B}"/>
                </a:ext>
              </a:extLst>
            </p:cNvPr>
            <p:cNvSpPr txBox="1"/>
            <p:nvPr/>
          </p:nvSpPr>
          <p:spPr>
            <a:xfrm>
              <a:off x="5542891" y="6160805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89F8297-67EA-614F-97E8-C0994FDF7D93}"/>
                </a:ext>
              </a:extLst>
            </p:cNvPr>
            <p:cNvSpPr txBox="1"/>
            <p:nvPr/>
          </p:nvSpPr>
          <p:spPr>
            <a:xfrm>
              <a:off x="260898" y="6167907"/>
              <a:ext cx="5261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B,C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6AA9BD1-A8B1-EF49-98DA-22D319BF6258}"/>
                </a:ext>
              </a:extLst>
            </p:cNvPr>
            <p:cNvSpPr txBox="1"/>
            <p:nvPr/>
          </p:nvSpPr>
          <p:spPr>
            <a:xfrm>
              <a:off x="7745169" y="5376378"/>
              <a:ext cx="3321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3D7996E-9682-C94D-8613-F40F36C0CB54}"/>
                </a:ext>
              </a:extLst>
            </p:cNvPr>
            <p:cNvSpPr txBox="1"/>
            <p:nvPr/>
          </p:nvSpPr>
          <p:spPr>
            <a:xfrm>
              <a:off x="2698386" y="4852254"/>
              <a:ext cx="5261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B,C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1264FE6-E99E-884C-9745-0B618F9FCF0C}"/>
                </a:ext>
              </a:extLst>
            </p:cNvPr>
            <p:cNvSpPr txBox="1"/>
            <p:nvPr/>
          </p:nvSpPr>
          <p:spPr>
            <a:xfrm>
              <a:off x="2492011" y="5363259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58DBC7B-A5E8-3940-9E12-E9FDB94CE773}"/>
                </a:ext>
              </a:extLst>
            </p:cNvPr>
            <p:cNvSpPr txBox="1"/>
            <p:nvPr/>
          </p:nvSpPr>
          <p:spPr>
            <a:xfrm>
              <a:off x="5095748" y="5336064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31FD110-C1C8-5C41-B833-6E8877C2605F}"/>
                </a:ext>
              </a:extLst>
            </p:cNvPr>
            <p:cNvSpPr txBox="1"/>
            <p:nvPr/>
          </p:nvSpPr>
          <p:spPr>
            <a:xfrm>
              <a:off x="6454318" y="5849816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89D0DD-424E-D04E-84C4-D649B6960929}"/>
                </a:ext>
              </a:extLst>
            </p:cNvPr>
            <p:cNvSpPr txBox="1"/>
            <p:nvPr/>
          </p:nvSpPr>
          <p:spPr>
            <a:xfrm>
              <a:off x="4502719" y="4449612"/>
              <a:ext cx="5261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B,C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FEAAF6-981F-2943-85FF-613708C9D06A}"/>
                </a:ext>
              </a:extLst>
            </p:cNvPr>
            <p:cNvSpPr txBox="1"/>
            <p:nvPr/>
          </p:nvSpPr>
          <p:spPr>
            <a:xfrm>
              <a:off x="1742725" y="5027306"/>
              <a:ext cx="3321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3CAFE6A-CC9C-C542-961A-0D6B4FA62475}"/>
                </a:ext>
              </a:extLst>
            </p:cNvPr>
            <p:cNvSpPr txBox="1"/>
            <p:nvPr/>
          </p:nvSpPr>
          <p:spPr>
            <a:xfrm>
              <a:off x="4200383" y="4817701"/>
              <a:ext cx="3321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49363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R=3, alphabet: {A, B, C}, pattern=ABABAC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DA5-9C5B-8C47-AD05-FC3E71F532F6}"/>
              </a:ext>
            </a:extLst>
          </p:cNvPr>
          <p:cNvSpPr txBox="1"/>
          <p:nvPr/>
        </p:nvSpPr>
        <p:spPr>
          <a:xfrm>
            <a:off x="3202389" y="217347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states 0=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6=final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F5A6-1E9F-E240-B2A0-DE05AA33B433}"/>
              </a:ext>
            </a:extLst>
          </p:cNvPr>
          <p:cNvSpPr txBox="1"/>
          <p:nvPr/>
        </p:nvSpPr>
        <p:spPr>
          <a:xfrm>
            <a:off x="480141" y="332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characters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A6F40-B81A-984F-BAC2-B64EB3C5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745954"/>
              </p:ext>
            </p:extLst>
          </p:nvPr>
        </p:nvGraphicFramePr>
        <p:xfrm>
          <a:off x="2305223" y="2591789"/>
          <a:ext cx="38130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F496013D-7E42-5847-9B52-B0D0DC85FA5B}"/>
              </a:ext>
            </a:extLst>
          </p:cNvPr>
          <p:cNvSpPr txBox="1"/>
          <p:nvPr/>
        </p:nvSpPr>
        <p:spPr>
          <a:xfrm>
            <a:off x="434354" y="507687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stream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5CDDC-E66B-7545-8491-94BBEE17FCBD}"/>
              </a:ext>
            </a:extLst>
          </p:cNvPr>
          <p:cNvSpPr txBox="1"/>
          <p:nvPr/>
        </p:nvSpPr>
        <p:spPr>
          <a:xfrm>
            <a:off x="383058" y="549807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state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4158DB9-6F84-394A-BCA2-825A256A4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983615"/>
              </p:ext>
            </p:extLst>
          </p:nvPr>
        </p:nvGraphicFramePr>
        <p:xfrm>
          <a:off x="2138068" y="5102022"/>
          <a:ext cx="5699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6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8157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R=3, alphabet: {A, B, C}, pattern=ABABAC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DA5-9C5B-8C47-AD05-FC3E71F532F6}"/>
              </a:ext>
            </a:extLst>
          </p:cNvPr>
          <p:cNvSpPr txBox="1"/>
          <p:nvPr/>
        </p:nvSpPr>
        <p:spPr>
          <a:xfrm>
            <a:off x="3202389" y="217347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states 0=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6=final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F5A6-1E9F-E240-B2A0-DE05AA33B433}"/>
              </a:ext>
            </a:extLst>
          </p:cNvPr>
          <p:cNvSpPr txBox="1"/>
          <p:nvPr/>
        </p:nvSpPr>
        <p:spPr>
          <a:xfrm>
            <a:off x="480141" y="332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characters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A6F40-B81A-984F-BAC2-B64EB3C5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166686"/>
              </p:ext>
            </p:extLst>
          </p:nvPr>
        </p:nvGraphicFramePr>
        <p:xfrm>
          <a:off x="2305223" y="2591789"/>
          <a:ext cx="38130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F496013D-7E42-5847-9B52-B0D0DC85FA5B}"/>
              </a:ext>
            </a:extLst>
          </p:cNvPr>
          <p:cNvSpPr txBox="1"/>
          <p:nvPr/>
        </p:nvSpPr>
        <p:spPr>
          <a:xfrm>
            <a:off x="434354" y="507687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stream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5CDDC-E66B-7545-8491-94BBEE17FCBD}"/>
              </a:ext>
            </a:extLst>
          </p:cNvPr>
          <p:cNvSpPr txBox="1"/>
          <p:nvPr/>
        </p:nvSpPr>
        <p:spPr>
          <a:xfrm>
            <a:off x="383058" y="549807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state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4158DB9-6F84-394A-BCA2-825A256A4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291291"/>
              </p:ext>
            </p:extLst>
          </p:nvPr>
        </p:nvGraphicFramePr>
        <p:xfrm>
          <a:off x="2138068" y="5102022"/>
          <a:ext cx="5699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6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756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R=3, alphabet: {A, B, C}, pattern=ABABAC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DA5-9C5B-8C47-AD05-FC3E71F532F6}"/>
              </a:ext>
            </a:extLst>
          </p:cNvPr>
          <p:cNvSpPr txBox="1"/>
          <p:nvPr/>
        </p:nvSpPr>
        <p:spPr>
          <a:xfrm>
            <a:off x="3202389" y="217347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states 0=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6=final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F5A6-1E9F-E240-B2A0-DE05AA33B433}"/>
              </a:ext>
            </a:extLst>
          </p:cNvPr>
          <p:cNvSpPr txBox="1"/>
          <p:nvPr/>
        </p:nvSpPr>
        <p:spPr>
          <a:xfrm>
            <a:off x="480141" y="332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characters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A6F40-B81A-984F-BAC2-B64EB3C5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324528"/>
              </p:ext>
            </p:extLst>
          </p:nvPr>
        </p:nvGraphicFramePr>
        <p:xfrm>
          <a:off x="2305223" y="2591789"/>
          <a:ext cx="38130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F496013D-7E42-5847-9B52-B0D0DC85FA5B}"/>
              </a:ext>
            </a:extLst>
          </p:cNvPr>
          <p:cNvSpPr txBox="1"/>
          <p:nvPr/>
        </p:nvSpPr>
        <p:spPr>
          <a:xfrm>
            <a:off x="434354" y="507687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stream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5CDDC-E66B-7545-8491-94BBEE17FCBD}"/>
              </a:ext>
            </a:extLst>
          </p:cNvPr>
          <p:cNvSpPr txBox="1"/>
          <p:nvPr/>
        </p:nvSpPr>
        <p:spPr>
          <a:xfrm>
            <a:off x="383058" y="549807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state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4158DB9-6F84-394A-BCA2-825A256A4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244298"/>
              </p:ext>
            </p:extLst>
          </p:nvPr>
        </p:nvGraphicFramePr>
        <p:xfrm>
          <a:off x="2138068" y="5102022"/>
          <a:ext cx="5699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6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739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R=3, alphabet: {A, B, C}, pattern=ABABAC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DA5-9C5B-8C47-AD05-FC3E71F532F6}"/>
              </a:ext>
            </a:extLst>
          </p:cNvPr>
          <p:cNvSpPr txBox="1"/>
          <p:nvPr/>
        </p:nvSpPr>
        <p:spPr>
          <a:xfrm>
            <a:off x="3202389" y="217347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states 0=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6=final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F5A6-1E9F-E240-B2A0-DE05AA33B433}"/>
              </a:ext>
            </a:extLst>
          </p:cNvPr>
          <p:cNvSpPr txBox="1"/>
          <p:nvPr/>
        </p:nvSpPr>
        <p:spPr>
          <a:xfrm>
            <a:off x="480141" y="332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characters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A6F40-B81A-984F-BAC2-B64EB3C5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667955"/>
              </p:ext>
            </p:extLst>
          </p:nvPr>
        </p:nvGraphicFramePr>
        <p:xfrm>
          <a:off x="2305223" y="2591789"/>
          <a:ext cx="38130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F496013D-7E42-5847-9B52-B0D0DC85FA5B}"/>
              </a:ext>
            </a:extLst>
          </p:cNvPr>
          <p:cNvSpPr txBox="1"/>
          <p:nvPr/>
        </p:nvSpPr>
        <p:spPr>
          <a:xfrm>
            <a:off x="434354" y="507687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stream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5CDDC-E66B-7545-8491-94BBEE17FCBD}"/>
              </a:ext>
            </a:extLst>
          </p:cNvPr>
          <p:cNvSpPr txBox="1"/>
          <p:nvPr/>
        </p:nvSpPr>
        <p:spPr>
          <a:xfrm>
            <a:off x="383058" y="549807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state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4158DB9-6F84-394A-BCA2-825A256A4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441780"/>
              </p:ext>
            </p:extLst>
          </p:nvPr>
        </p:nvGraphicFramePr>
        <p:xfrm>
          <a:off x="2138068" y="5102022"/>
          <a:ext cx="5699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6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8228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R=3, alphabet: {A, B, C}, pattern=ABABAC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DA5-9C5B-8C47-AD05-FC3E71F532F6}"/>
              </a:ext>
            </a:extLst>
          </p:cNvPr>
          <p:cNvSpPr txBox="1"/>
          <p:nvPr/>
        </p:nvSpPr>
        <p:spPr>
          <a:xfrm>
            <a:off x="3202389" y="217347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states 0=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6=final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F5A6-1E9F-E240-B2A0-DE05AA33B433}"/>
              </a:ext>
            </a:extLst>
          </p:cNvPr>
          <p:cNvSpPr txBox="1"/>
          <p:nvPr/>
        </p:nvSpPr>
        <p:spPr>
          <a:xfrm>
            <a:off x="480141" y="332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characters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A6F40-B81A-984F-BAC2-B64EB3C5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363278"/>
              </p:ext>
            </p:extLst>
          </p:nvPr>
        </p:nvGraphicFramePr>
        <p:xfrm>
          <a:off x="2305223" y="2591789"/>
          <a:ext cx="38130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F496013D-7E42-5847-9B52-B0D0DC85FA5B}"/>
              </a:ext>
            </a:extLst>
          </p:cNvPr>
          <p:cNvSpPr txBox="1"/>
          <p:nvPr/>
        </p:nvSpPr>
        <p:spPr>
          <a:xfrm>
            <a:off x="434354" y="507687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stream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5CDDC-E66B-7545-8491-94BBEE17FCBD}"/>
              </a:ext>
            </a:extLst>
          </p:cNvPr>
          <p:cNvSpPr txBox="1"/>
          <p:nvPr/>
        </p:nvSpPr>
        <p:spPr>
          <a:xfrm>
            <a:off x="383058" y="549807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state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4158DB9-6F84-394A-BCA2-825A256A4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706440"/>
              </p:ext>
            </p:extLst>
          </p:nvPr>
        </p:nvGraphicFramePr>
        <p:xfrm>
          <a:off x="2138068" y="5102022"/>
          <a:ext cx="5699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6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589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R=3, alphabet: {A, B, C}, pattern=ABABAC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DA5-9C5B-8C47-AD05-FC3E71F532F6}"/>
              </a:ext>
            </a:extLst>
          </p:cNvPr>
          <p:cNvSpPr txBox="1"/>
          <p:nvPr/>
        </p:nvSpPr>
        <p:spPr>
          <a:xfrm>
            <a:off x="3202389" y="217347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states 0=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6=final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F5A6-1E9F-E240-B2A0-DE05AA33B433}"/>
              </a:ext>
            </a:extLst>
          </p:cNvPr>
          <p:cNvSpPr txBox="1"/>
          <p:nvPr/>
        </p:nvSpPr>
        <p:spPr>
          <a:xfrm>
            <a:off x="480141" y="332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characters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A6F40-B81A-984F-BAC2-B64EB3C5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7183"/>
              </p:ext>
            </p:extLst>
          </p:nvPr>
        </p:nvGraphicFramePr>
        <p:xfrm>
          <a:off x="2305223" y="2591789"/>
          <a:ext cx="38130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F496013D-7E42-5847-9B52-B0D0DC85FA5B}"/>
              </a:ext>
            </a:extLst>
          </p:cNvPr>
          <p:cNvSpPr txBox="1"/>
          <p:nvPr/>
        </p:nvSpPr>
        <p:spPr>
          <a:xfrm>
            <a:off x="434354" y="507687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stream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5CDDC-E66B-7545-8491-94BBEE17FCBD}"/>
              </a:ext>
            </a:extLst>
          </p:cNvPr>
          <p:cNvSpPr txBox="1"/>
          <p:nvPr/>
        </p:nvSpPr>
        <p:spPr>
          <a:xfrm>
            <a:off x="383058" y="549807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state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4158DB9-6F84-394A-BCA2-825A256A4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680878"/>
              </p:ext>
            </p:extLst>
          </p:nvPr>
        </p:nvGraphicFramePr>
        <p:xfrm>
          <a:off x="2138068" y="5102022"/>
          <a:ext cx="5699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6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22803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R=3, alphabet: {A, B, C}, pattern=ABABAC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DA5-9C5B-8C47-AD05-FC3E71F532F6}"/>
              </a:ext>
            </a:extLst>
          </p:cNvPr>
          <p:cNvSpPr txBox="1"/>
          <p:nvPr/>
        </p:nvSpPr>
        <p:spPr>
          <a:xfrm>
            <a:off x="3202389" y="217347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states 0=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6=final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F5A6-1E9F-E240-B2A0-DE05AA33B433}"/>
              </a:ext>
            </a:extLst>
          </p:cNvPr>
          <p:cNvSpPr txBox="1"/>
          <p:nvPr/>
        </p:nvSpPr>
        <p:spPr>
          <a:xfrm>
            <a:off x="480141" y="332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characters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A6F40-B81A-984F-BAC2-B64EB3C5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034119"/>
              </p:ext>
            </p:extLst>
          </p:nvPr>
        </p:nvGraphicFramePr>
        <p:xfrm>
          <a:off x="2305223" y="2591789"/>
          <a:ext cx="38130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F496013D-7E42-5847-9B52-B0D0DC85FA5B}"/>
              </a:ext>
            </a:extLst>
          </p:cNvPr>
          <p:cNvSpPr txBox="1"/>
          <p:nvPr/>
        </p:nvSpPr>
        <p:spPr>
          <a:xfrm>
            <a:off x="434354" y="507687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stream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5CDDC-E66B-7545-8491-94BBEE17FCBD}"/>
              </a:ext>
            </a:extLst>
          </p:cNvPr>
          <p:cNvSpPr txBox="1"/>
          <p:nvPr/>
        </p:nvSpPr>
        <p:spPr>
          <a:xfrm>
            <a:off x="383058" y="549807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state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4158DB9-6F84-394A-BCA2-825A256A4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489968"/>
              </p:ext>
            </p:extLst>
          </p:nvPr>
        </p:nvGraphicFramePr>
        <p:xfrm>
          <a:off x="2138068" y="5102022"/>
          <a:ext cx="5699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6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818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R=3, alphabet: {A, B, C}, pattern=ABABAC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DA5-9C5B-8C47-AD05-FC3E71F532F6}"/>
              </a:ext>
            </a:extLst>
          </p:cNvPr>
          <p:cNvSpPr txBox="1"/>
          <p:nvPr/>
        </p:nvSpPr>
        <p:spPr>
          <a:xfrm>
            <a:off x="3202389" y="217347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states 0=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6=final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F5A6-1E9F-E240-B2A0-DE05AA33B433}"/>
              </a:ext>
            </a:extLst>
          </p:cNvPr>
          <p:cNvSpPr txBox="1"/>
          <p:nvPr/>
        </p:nvSpPr>
        <p:spPr>
          <a:xfrm>
            <a:off x="480141" y="332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characters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A6F40-B81A-984F-BAC2-B64EB3C5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993145"/>
              </p:ext>
            </p:extLst>
          </p:nvPr>
        </p:nvGraphicFramePr>
        <p:xfrm>
          <a:off x="2305223" y="2591789"/>
          <a:ext cx="38130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F496013D-7E42-5847-9B52-B0D0DC85FA5B}"/>
              </a:ext>
            </a:extLst>
          </p:cNvPr>
          <p:cNvSpPr txBox="1"/>
          <p:nvPr/>
        </p:nvSpPr>
        <p:spPr>
          <a:xfrm>
            <a:off x="434354" y="507687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stream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5CDDC-E66B-7545-8491-94BBEE17FCBD}"/>
              </a:ext>
            </a:extLst>
          </p:cNvPr>
          <p:cNvSpPr txBox="1"/>
          <p:nvPr/>
        </p:nvSpPr>
        <p:spPr>
          <a:xfrm>
            <a:off x="383058" y="549807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state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4158DB9-6F84-394A-BCA2-825A256A4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8026"/>
              </p:ext>
            </p:extLst>
          </p:nvPr>
        </p:nvGraphicFramePr>
        <p:xfrm>
          <a:off x="2138068" y="5102022"/>
          <a:ext cx="5699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6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6366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R=3, alphabet: {A, B, C}, pattern=ABABAC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DA5-9C5B-8C47-AD05-FC3E71F532F6}"/>
              </a:ext>
            </a:extLst>
          </p:cNvPr>
          <p:cNvSpPr txBox="1"/>
          <p:nvPr/>
        </p:nvSpPr>
        <p:spPr>
          <a:xfrm>
            <a:off x="3202389" y="217347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states 0=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6=final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F5A6-1E9F-E240-B2A0-DE05AA33B433}"/>
              </a:ext>
            </a:extLst>
          </p:cNvPr>
          <p:cNvSpPr txBox="1"/>
          <p:nvPr/>
        </p:nvSpPr>
        <p:spPr>
          <a:xfrm>
            <a:off x="480141" y="332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characters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A6F40-B81A-984F-BAC2-B64EB3C5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950634"/>
              </p:ext>
            </p:extLst>
          </p:nvPr>
        </p:nvGraphicFramePr>
        <p:xfrm>
          <a:off x="2305223" y="2591789"/>
          <a:ext cx="38130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F496013D-7E42-5847-9B52-B0D0DC85FA5B}"/>
              </a:ext>
            </a:extLst>
          </p:cNvPr>
          <p:cNvSpPr txBox="1"/>
          <p:nvPr/>
        </p:nvSpPr>
        <p:spPr>
          <a:xfrm>
            <a:off x="434354" y="507687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stream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5CDDC-E66B-7545-8491-94BBEE17FCBD}"/>
              </a:ext>
            </a:extLst>
          </p:cNvPr>
          <p:cNvSpPr txBox="1"/>
          <p:nvPr/>
        </p:nvSpPr>
        <p:spPr>
          <a:xfrm>
            <a:off x="383058" y="549807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state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4158DB9-6F84-394A-BCA2-825A256A4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353251"/>
              </p:ext>
            </p:extLst>
          </p:nvPr>
        </p:nvGraphicFramePr>
        <p:xfrm>
          <a:off x="2138068" y="5102022"/>
          <a:ext cx="5699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6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2561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R=3, alphabet: {A, B, C}, pattern=ABABAC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DA5-9C5B-8C47-AD05-FC3E71F532F6}"/>
              </a:ext>
            </a:extLst>
          </p:cNvPr>
          <p:cNvSpPr txBox="1"/>
          <p:nvPr/>
        </p:nvSpPr>
        <p:spPr>
          <a:xfrm>
            <a:off x="3202389" y="217347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states 0=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6=final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F5A6-1E9F-E240-B2A0-DE05AA33B433}"/>
              </a:ext>
            </a:extLst>
          </p:cNvPr>
          <p:cNvSpPr txBox="1"/>
          <p:nvPr/>
        </p:nvSpPr>
        <p:spPr>
          <a:xfrm>
            <a:off x="480141" y="332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characters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A6F40-B81A-984F-BAC2-B64EB3C5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471581"/>
              </p:ext>
            </p:extLst>
          </p:nvPr>
        </p:nvGraphicFramePr>
        <p:xfrm>
          <a:off x="2305223" y="2591789"/>
          <a:ext cx="38130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F496013D-7E42-5847-9B52-B0D0DC85FA5B}"/>
              </a:ext>
            </a:extLst>
          </p:cNvPr>
          <p:cNvSpPr txBox="1"/>
          <p:nvPr/>
        </p:nvSpPr>
        <p:spPr>
          <a:xfrm>
            <a:off x="434354" y="507687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stream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5CDDC-E66B-7545-8491-94BBEE17FCBD}"/>
              </a:ext>
            </a:extLst>
          </p:cNvPr>
          <p:cNvSpPr txBox="1"/>
          <p:nvPr/>
        </p:nvSpPr>
        <p:spPr>
          <a:xfrm>
            <a:off x="383058" y="549807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state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4158DB9-6F84-394A-BCA2-825A256A4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80353"/>
              </p:ext>
            </p:extLst>
          </p:nvPr>
        </p:nvGraphicFramePr>
        <p:xfrm>
          <a:off x="2138068" y="5102022"/>
          <a:ext cx="5699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6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7840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R=3, alphabet: {A, B, C}, pattern=ABABAC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DA5-9C5B-8C47-AD05-FC3E71F532F6}"/>
              </a:ext>
            </a:extLst>
          </p:cNvPr>
          <p:cNvSpPr txBox="1"/>
          <p:nvPr/>
        </p:nvSpPr>
        <p:spPr>
          <a:xfrm>
            <a:off x="3202389" y="217347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states 0=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6=final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F5A6-1E9F-E240-B2A0-DE05AA33B433}"/>
              </a:ext>
            </a:extLst>
          </p:cNvPr>
          <p:cNvSpPr txBox="1"/>
          <p:nvPr/>
        </p:nvSpPr>
        <p:spPr>
          <a:xfrm>
            <a:off x="480141" y="332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characters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A6F40-B81A-984F-BAC2-B64EB3C5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873579"/>
              </p:ext>
            </p:extLst>
          </p:nvPr>
        </p:nvGraphicFramePr>
        <p:xfrm>
          <a:off x="2305223" y="2591789"/>
          <a:ext cx="38130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F496013D-7E42-5847-9B52-B0D0DC85FA5B}"/>
              </a:ext>
            </a:extLst>
          </p:cNvPr>
          <p:cNvSpPr txBox="1"/>
          <p:nvPr/>
        </p:nvSpPr>
        <p:spPr>
          <a:xfrm>
            <a:off x="434354" y="507687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stream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5CDDC-E66B-7545-8491-94BBEE17FCBD}"/>
              </a:ext>
            </a:extLst>
          </p:cNvPr>
          <p:cNvSpPr txBox="1"/>
          <p:nvPr/>
        </p:nvSpPr>
        <p:spPr>
          <a:xfrm>
            <a:off x="383058" y="549807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state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4158DB9-6F84-394A-BCA2-825A256A4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95426"/>
              </p:ext>
            </p:extLst>
          </p:nvPr>
        </p:nvGraphicFramePr>
        <p:xfrm>
          <a:off x="2138068" y="5102022"/>
          <a:ext cx="5699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6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1889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R=3, alphabet: {A, B, C}, pattern=ABABAC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DA5-9C5B-8C47-AD05-FC3E71F532F6}"/>
              </a:ext>
            </a:extLst>
          </p:cNvPr>
          <p:cNvSpPr txBox="1"/>
          <p:nvPr/>
        </p:nvSpPr>
        <p:spPr>
          <a:xfrm>
            <a:off x="3202389" y="217347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states 0=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6=final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F5A6-1E9F-E240-B2A0-DE05AA33B433}"/>
              </a:ext>
            </a:extLst>
          </p:cNvPr>
          <p:cNvSpPr txBox="1"/>
          <p:nvPr/>
        </p:nvSpPr>
        <p:spPr>
          <a:xfrm>
            <a:off x="480141" y="332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characters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A6F40-B81A-984F-BAC2-B64EB3C5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590148"/>
              </p:ext>
            </p:extLst>
          </p:nvPr>
        </p:nvGraphicFramePr>
        <p:xfrm>
          <a:off x="2305223" y="2591789"/>
          <a:ext cx="38130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F496013D-7E42-5847-9B52-B0D0DC85FA5B}"/>
              </a:ext>
            </a:extLst>
          </p:cNvPr>
          <p:cNvSpPr txBox="1"/>
          <p:nvPr/>
        </p:nvSpPr>
        <p:spPr>
          <a:xfrm>
            <a:off x="434354" y="507687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stream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5CDDC-E66B-7545-8491-94BBEE17FCBD}"/>
              </a:ext>
            </a:extLst>
          </p:cNvPr>
          <p:cNvSpPr txBox="1"/>
          <p:nvPr/>
        </p:nvSpPr>
        <p:spPr>
          <a:xfrm>
            <a:off x="383058" y="549807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state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4158DB9-6F84-394A-BCA2-825A256A4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44572"/>
              </p:ext>
            </p:extLst>
          </p:nvPr>
        </p:nvGraphicFramePr>
        <p:xfrm>
          <a:off x="2138068" y="5102022"/>
          <a:ext cx="5699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6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8975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R=3, alphabet: {A, B, C}, pattern=ABABAC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DA5-9C5B-8C47-AD05-FC3E71F532F6}"/>
              </a:ext>
            </a:extLst>
          </p:cNvPr>
          <p:cNvSpPr txBox="1"/>
          <p:nvPr/>
        </p:nvSpPr>
        <p:spPr>
          <a:xfrm>
            <a:off x="3202389" y="217347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states 0=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6=final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F5A6-1E9F-E240-B2A0-DE05AA33B433}"/>
              </a:ext>
            </a:extLst>
          </p:cNvPr>
          <p:cNvSpPr txBox="1"/>
          <p:nvPr/>
        </p:nvSpPr>
        <p:spPr>
          <a:xfrm>
            <a:off x="480141" y="332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characters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A6F40-B81A-984F-BAC2-B64EB3C5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359347"/>
              </p:ext>
            </p:extLst>
          </p:nvPr>
        </p:nvGraphicFramePr>
        <p:xfrm>
          <a:off x="2305223" y="2591789"/>
          <a:ext cx="38130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F496013D-7E42-5847-9B52-B0D0DC85FA5B}"/>
              </a:ext>
            </a:extLst>
          </p:cNvPr>
          <p:cNvSpPr txBox="1"/>
          <p:nvPr/>
        </p:nvSpPr>
        <p:spPr>
          <a:xfrm>
            <a:off x="434354" y="507687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stream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5CDDC-E66B-7545-8491-94BBEE17FCBD}"/>
              </a:ext>
            </a:extLst>
          </p:cNvPr>
          <p:cNvSpPr txBox="1"/>
          <p:nvPr/>
        </p:nvSpPr>
        <p:spPr>
          <a:xfrm>
            <a:off x="383058" y="549807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state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4158DB9-6F84-394A-BCA2-825A256A4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335710"/>
              </p:ext>
            </p:extLst>
          </p:nvPr>
        </p:nvGraphicFramePr>
        <p:xfrm>
          <a:off x="2138068" y="5102022"/>
          <a:ext cx="5699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6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3825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Example</a:t>
            </a:r>
            <a:r>
              <a:rPr lang="en-US" dirty="0"/>
              <a:t>. R=3, alphabet: {A, B, C}, pattern=ABABAC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DA5-9C5B-8C47-AD05-FC3E71F532F6}"/>
              </a:ext>
            </a:extLst>
          </p:cNvPr>
          <p:cNvSpPr txBox="1"/>
          <p:nvPr/>
        </p:nvSpPr>
        <p:spPr>
          <a:xfrm>
            <a:off x="3202389" y="217347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states 0=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6=final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F5A6-1E9F-E240-B2A0-DE05AA33B433}"/>
              </a:ext>
            </a:extLst>
          </p:cNvPr>
          <p:cNvSpPr txBox="1"/>
          <p:nvPr/>
        </p:nvSpPr>
        <p:spPr>
          <a:xfrm>
            <a:off x="480141" y="3323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characters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A6F40-B81A-984F-BAC2-B64EB3C5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706645"/>
              </p:ext>
            </p:extLst>
          </p:nvPr>
        </p:nvGraphicFramePr>
        <p:xfrm>
          <a:off x="2305223" y="2591789"/>
          <a:ext cx="381300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F496013D-7E42-5847-9B52-B0D0DC85FA5B}"/>
              </a:ext>
            </a:extLst>
          </p:cNvPr>
          <p:cNvSpPr txBox="1"/>
          <p:nvPr/>
        </p:nvSpPr>
        <p:spPr>
          <a:xfrm>
            <a:off x="434354" y="507687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stream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5CDDC-E66B-7545-8491-94BBEE17FCBD}"/>
              </a:ext>
            </a:extLst>
          </p:cNvPr>
          <p:cNvSpPr txBox="1"/>
          <p:nvPr/>
        </p:nvSpPr>
        <p:spPr>
          <a:xfrm>
            <a:off x="383058" y="549807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state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4158DB9-6F84-394A-BCA2-825A256A4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225447"/>
              </p:ext>
            </p:extLst>
          </p:nvPr>
        </p:nvGraphicFramePr>
        <p:xfrm>
          <a:off x="2138068" y="5102022"/>
          <a:ext cx="5699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6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79976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8D16C0D-C509-594D-9C3A-3E2D88A3B71B}"/>
              </a:ext>
            </a:extLst>
          </p:cNvPr>
          <p:cNvSpPr txBox="1"/>
          <p:nvPr/>
        </p:nvSpPr>
        <p:spPr>
          <a:xfrm>
            <a:off x="7943313" y="2861644"/>
            <a:ext cx="3244054" cy="923330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Interpretation.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 number is length of longest prefix of pattern matched so far.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48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Cost (worst case) ~ </a:t>
            </a:r>
            <a:r>
              <a:rPr lang="en-US" i="1" dirty="0"/>
              <a:t>N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A8C07-CB7E-E847-97DC-6F21DECC1F27}"/>
              </a:ext>
            </a:extLst>
          </p:cNvPr>
          <p:cNvSpPr txBox="1"/>
          <p:nvPr/>
        </p:nvSpPr>
        <p:spPr>
          <a:xfrm>
            <a:off x="850653" y="2227082"/>
            <a:ext cx="3517310" cy="280076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</a:t>
            </a:r>
            <a:r>
              <a:rPr lang="en-GB" sz="1600" dirty="0" err="1">
                <a:highlight>
                  <a:srgbClr val="C0C0C0"/>
                </a:highlight>
                <a:latin typeface="Courier" pitchFamily="2" charset="0"/>
              </a:rPr>
              <a:t>subStringSearch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(text): </a:t>
            </a:r>
          </a:p>
          <a:p>
            <a:r>
              <a:rPr lang="en-GB" sz="1600" dirty="0">
                <a:latin typeface="Courier" pitchFamily="2" charset="0"/>
              </a:rPr>
              <a:t>    N = </a:t>
            </a:r>
            <a:r>
              <a:rPr lang="en-GB" sz="1600" dirty="0" err="1">
                <a:latin typeface="Courier" pitchFamily="2" charset="0"/>
              </a:rPr>
              <a:t>len</a:t>
            </a:r>
            <a:r>
              <a:rPr lang="en-GB" sz="1600" dirty="0">
                <a:latin typeface="Courier" pitchFamily="2" charset="0"/>
              </a:rPr>
              <a:t>(text)</a:t>
            </a:r>
          </a:p>
          <a:p>
            <a:r>
              <a:rPr lang="en-GB" sz="1600" dirty="0">
                <a:latin typeface="Courier" pitchFamily="2" charset="0"/>
              </a:rPr>
              <a:t>    j=0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=0</a:t>
            </a:r>
          </a:p>
          <a:p>
            <a:r>
              <a:rPr lang="en-GB" sz="1600" dirty="0">
                <a:latin typeface="Courier" pitchFamily="2" charset="0"/>
              </a:rPr>
              <a:t>    while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&lt;N and j&lt;M:</a:t>
            </a:r>
          </a:p>
          <a:p>
            <a:r>
              <a:rPr lang="en-GB" sz="1600" dirty="0">
                <a:latin typeface="Courier" pitchFamily="2" charset="0"/>
              </a:rPr>
              <a:t>        j = DFA[text[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]][j]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=i+1</a:t>
            </a:r>
          </a:p>
          <a:p>
            <a:r>
              <a:rPr lang="en-GB" sz="1600" dirty="0">
                <a:latin typeface="Courier" pitchFamily="2" charset="0"/>
              </a:rPr>
              <a:t>    if (j == M):</a:t>
            </a:r>
          </a:p>
          <a:p>
            <a:r>
              <a:rPr lang="en-GB" sz="1600" dirty="0">
                <a:latin typeface="Courier" pitchFamily="2" charset="0"/>
              </a:rPr>
              <a:t>            return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 - M</a:t>
            </a:r>
          </a:p>
          <a:p>
            <a:r>
              <a:rPr lang="en-GB" sz="1600" dirty="0">
                <a:latin typeface="Courier" pitchFamily="2" charset="0"/>
              </a:rPr>
              <a:t>    else:</a:t>
            </a:r>
          </a:p>
          <a:p>
            <a:r>
              <a:rPr lang="en-GB" sz="1600" dirty="0">
                <a:latin typeface="Courier" pitchFamily="2" charset="0"/>
              </a:rPr>
              <a:t>            return N</a:t>
            </a:r>
          </a:p>
        </p:txBody>
      </p:sp>
      <p:grpSp>
        <p:nvGrpSpPr>
          <p:cNvPr id="15" name="Group 14" descr="highlighting code fragmeents of knuth morris pratt algorithm&#10;&#10;j represents current automaton state (i.e., what portion of the pattern has been matched so far)&#13;&#10;">
            <a:extLst>
              <a:ext uri="{FF2B5EF4-FFF2-40B4-BE49-F238E27FC236}">
                <a16:creationId xmlns:a16="http://schemas.microsoft.com/office/drawing/2014/main" id="{79288A65-C6B0-F04D-9923-F020D23BB6B9}"/>
              </a:ext>
            </a:extLst>
          </p:cNvPr>
          <p:cNvGrpSpPr/>
          <p:nvPr/>
        </p:nvGrpSpPr>
        <p:grpSpPr>
          <a:xfrm>
            <a:off x="1948542" y="2580719"/>
            <a:ext cx="8678568" cy="2403147"/>
            <a:chOff x="1948542" y="2580719"/>
            <a:chExt cx="8678568" cy="2403147"/>
          </a:xfrm>
        </p:grpSpPr>
        <p:grpSp>
          <p:nvGrpSpPr>
            <p:cNvPr id="5" name="Group 4" descr="highlighting fragment of code with pattern found and not found">
              <a:extLst>
                <a:ext uri="{FF2B5EF4-FFF2-40B4-BE49-F238E27FC236}">
                  <a16:creationId xmlns:a16="http://schemas.microsoft.com/office/drawing/2014/main" id="{1A413D87-F32A-8D4E-A8B1-0D2399F76116}"/>
                </a:ext>
              </a:extLst>
            </p:cNvPr>
            <p:cNvGrpSpPr/>
            <p:nvPr/>
          </p:nvGrpSpPr>
          <p:grpSpPr>
            <a:xfrm>
              <a:off x="3440669" y="4166040"/>
              <a:ext cx="5361069" cy="817826"/>
              <a:chOff x="2647978" y="4184950"/>
              <a:chExt cx="5361069" cy="817826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598A80-FCDF-AF4C-8C70-4E39EFD863BB}"/>
                  </a:ext>
                </a:extLst>
              </p:cNvPr>
              <p:cNvSpPr txBox="1"/>
              <p:nvPr/>
            </p:nvSpPr>
            <p:spPr>
              <a:xfrm>
                <a:off x="4842796" y="4664222"/>
                <a:ext cx="17604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Pattern not found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663FA98A-E423-B841-9CD6-F09E073744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47978" y="4858572"/>
                <a:ext cx="2194818" cy="1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827B5E-1BF7-254F-B8CC-500B6EB9BAC6}"/>
                  </a:ext>
                </a:extLst>
              </p:cNvPr>
              <p:cNvSpPr txBox="1"/>
              <p:nvPr/>
            </p:nvSpPr>
            <p:spPr>
              <a:xfrm>
                <a:off x="4842796" y="4184950"/>
                <a:ext cx="31662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Index in text where pattern starts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60C36079-BA1D-C54F-BCC2-EFFF69F0FD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73123" y="4370893"/>
                <a:ext cx="1569673" cy="0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F66087-D9D0-8C40-94B2-CBA17DB55053}"/>
                </a:ext>
              </a:extLst>
            </p:cNvPr>
            <p:cNvSpPr txBox="1"/>
            <p:nvPr/>
          </p:nvSpPr>
          <p:spPr>
            <a:xfrm>
              <a:off x="5668144" y="2580719"/>
              <a:ext cx="49589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 represents current automaton state (i.e., what portion of the pattern has been matched so far)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820FE54-7504-3647-A702-5EA7F09251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8542" y="2873106"/>
              <a:ext cx="3720948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04346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Cost (worst case) ~ </a:t>
            </a:r>
            <a:r>
              <a:rPr lang="en-US" i="1" dirty="0"/>
              <a:t>N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A8C07-CB7E-E847-97DC-6F21DECC1F27}"/>
              </a:ext>
            </a:extLst>
          </p:cNvPr>
          <p:cNvSpPr txBox="1"/>
          <p:nvPr/>
        </p:nvSpPr>
        <p:spPr>
          <a:xfrm>
            <a:off x="850653" y="2227082"/>
            <a:ext cx="4381328" cy="280076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</a:t>
            </a:r>
            <a:r>
              <a:rPr lang="en-GB" sz="1600" dirty="0" err="1">
                <a:highlight>
                  <a:srgbClr val="C0C0C0"/>
                </a:highlight>
                <a:latin typeface="Courier" pitchFamily="2" charset="0"/>
              </a:rPr>
              <a:t>subStringSearch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(</a:t>
            </a:r>
            <a:r>
              <a:rPr lang="en-GB" sz="1600" b="1" dirty="0">
                <a:solidFill>
                  <a:srgbClr val="C00000"/>
                </a:solidFill>
                <a:highlight>
                  <a:srgbClr val="C0C0C0"/>
                </a:highlight>
                <a:latin typeface="Courier" pitchFamily="2" charset="0"/>
              </a:rPr>
              <a:t>in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): </a:t>
            </a:r>
          </a:p>
          <a:p>
            <a:r>
              <a:rPr lang="en-GB" sz="1600" dirty="0">
                <a:latin typeface="Courier" pitchFamily="2" charset="0"/>
              </a:rPr>
              <a:t> </a:t>
            </a:r>
          </a:p>
          <a:p>
            <a:r>
              <a:rPr lang="en-GB" sz="1600" dirty="0">
                <a:latin typeface="Courier" pitchFamily="2" charset="0"/>
              </a:rPr>
              <a:t>    j=0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=0</a:t>
            </a:r>
          </a:p>
          <a:p>
            <a:r>
              <a:rPr lang="en-GB" sz="1600" dirty="0">
                <a:latin typeface="Courier" pitchFamily="2" charset="0"/>
              </a:rPr>
              <a:t>    while (</a:t>
            </a:r>
            <a:r>
              <a:rPr lang="en-GB" sz="1600" b="1" dirty="0">
                <a:solidFill>
                  <a:srgbClr val="C00000"/>
                </a:solidFill>
                <a:latin typeface="Courier" pitchFamily="2" charset="0"/>
              </a:rPr>
              <a:t>!</a:t>
            </a:r>
            <a:r>
              <a:rPr lang="en-GB" sz="1600" b="1" dirty="0" err="1">
                <a:solidFill>
                  <a:srgbClr val="C00000"/>
                </a:solidFill>
                <a:latin typeface="Courier" pitchFamily="2" charset="0"/>
              </a:rPr>
              <a:t>in.isEmpty</a:t>
            </a:r>
            <a:r>
              <a:rPr lang="en-GB" sz="1600" b="1" dirty="0">
                <a:solidFill>
                  <a:srgbClr val="C00000"/>
                </a:solidFill>
                <a:latin typeface="Courier" pitchFamily="2" charset="0"/>
              </a:rPr>
              <a:t>()</a:t>
            </a:r>
            <a:r>
              <a:rPr lang="en-GB" sz="1600" dirty="0">
                <a:latin typeface="Courier" pitchFamily="2" charset="0"/>
              </a:rPr>
              <a:t> and j&lt;M):</a:t>
            </a:r>
          </a:p>
          <a:p>
            <a:r>
              <a:rPr lang="en-GB" sz="1600" dirty="0">
                <a:latin typeface="Courier" pitchFamily="2" charset="0"/>
              </a:rPr>
              <a:t>        j = DFA[</a:t>
            </a:r>
            <a:r>
              <a:rPr lang="en-GB" sz="1600" b="1" dirty="0" err="1">
                <a:solidFill>
                  <a:srgbClr val="C00000"/>
                </a:solidFill>
                <a:latin typeface="Courier" pitchFamily="2" charset="0"/>
              </a:rPr>
              <a:t>in.readChar</a:t>
            </a:r>
            <a:r>
              <a:rPr lang="en-GB" sz="1600" b="1" dirty="0">
                <a:solidFill>
                  <a:srgbClr val="C00000"/>
                </a:solidFill>
                <a:latin typeface="Courier" pitchFamily="2" charset="0"/>
              </a:rPr>
              <a:t>()</a:t>
            </a:r>
            <a:r>
              <a:rPr lang="en-GB" sz="1600" dirty="0">
                <a:latin typeface="Courier" pitchFamily="2" charset="0"/>
              </a:rPr>
              <a:t>][j]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=i+1</a:t>
            </a:r>
          </a:p>
          <a:p>
            <a:r>
              <a:rPr lang="en-GB" sz="1600" dirty="0">
                <a:latin typeface="Courier" pitchFamily="2" charset="0"/>
              </a:rPr>
              <a:t>    if (j == M):</a:t>
            </a:r>
          </a:p>
          <a:p>
            <a:r>
              <a:rPr lang="en-GB" sz="1600" dirty="0">
                <a:latin typeface="Courier" pitchFamily="2" charset="0"/>
              </a:rPr>
              <a:t>            return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 - M</a:t>
            </a:r>
          </a:p>
          <a:p>
            <a:r>
              <a:rPr lang="en-GB" sz="1600" dirty="0">
                <a:latin typeface="Courier" pitchFamily="2" charset="0"/>
              </a:rPr>
              <a:t>    else:</a:t>
            </a:r>
          </a:p>
          <a:p>
            <a:r>
              <a:rPr lang="en-GB" sz="1600" dirty="0">
                <a:latin typeface="Courier" pitchFamily="2" charset="0"/>
              </a:rPr>
              <a:t>            return </a:t>
            </a:r>
            <a:r>
              <a:rPr lang="en-GB" sz="1600" b="1" dirty="0">
                <a:solidFill>
                  <a:srgbClr val="C00000"/>
                </a:solidFill>
                <a:latin typeface="Courier" pitchFamily="2" charset="0"/>
              </a:rPr>
              <a:t>-1</a:t>
            </a:r>
          </a:p>
        </p:txBody>
      </p:sp>
      <p:grpSp>
        <p:nvGrpSpPr>
          <p:cNvPr id="15" name="Group 14" descr="highlighting code fragmeents of knuth morris pratt algorithm&#10;&#10;j represents current automaton state (i.e., what portion of the pattern has been matched so far)">
            <a:extLst>
              <a:ext uri="{FF2B5EF4-FFF2-40B4-BE49-F238E27FC236}">
                <a16:creationId xmlns:a16="http://schemas.microsoft.com/office/drawing/2014/main" id="{79288A65-C6B0-F04D-9923-F020D23BB6B9}"/>
              </a:ext>
            </a:extLst>
          </p:cNvPr>
          <p:cNvGrpSpPr/>
          <p:nvPr/>
        </p:nvGrpSpPr>
        <p:grpSpPr>
          <a:xfrm>
            <a:off x="1948542" y="2580719"/>
            <a:ext cx="8678568" cy="2403147"/>
            <a:chOff x="1948542" y="2580719"/>
            <a:chExt cx="8678568" cy="2403147"/>
          </a:xfrm>
        </p:grpSpPr>
        <p:grpSp>
          <p:nvGrpSpPr>
            <p:cNvPr id="5" name="Group 4" descr="highlighting fragment of code with pattern found and not found">
              <a:extLst>
                <a:ext uri="{FF2B5EF4-FFF2-40B4-BE49-F238E27FC236}">
                  <a16:creationId xmlns:a16="http://schemas.microsoft.com/office/drawing/2014/main" id="{1A413D87-F32A-8D4E-A8B1-0D2399F76116}"/>
                </a:ext>
              </a:extLst>
            </p:cNvPr>
            <p:cNvGrpSpPr/>
            <p:nvPr/>
          </p:nvGrpSpPr>
          <p:grpSpPr>
            <a:xfrm>
              <a:off x="3750916" y="4166040"/>
              <a:ext cx="6302768" cy="817826"/>
              <a:chOff x="2958225" y="4184950"/>
              <a:chExt cx="6302768" cy="817826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598A80-FCDF-AF4C-8C70-4E39EFD863BB}"/>
                  </a:ext>
                </a:extLst>
              </p:cNvPr>
              <p:cNvSpPr txBox="1"/>
              <p:nvPr/>
            </p:nvSpPr>
            <p:spPr>
              <a:xfrm>
                <a:off x="4842796" y="4664222"/>
                <a:ext cx="17604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Pattern not found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663FA98A-E423-B841-9CD6-F09E073744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58225" y="4858573"/>
                <a:ext cx="1866115" cy="0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827B5E-1BF7-254F-B8CC-500B6EB9BAC6}"/>
                  </a:ext>
                </a:extLst>
              </p:cNvPr>
              <p:cNvSpPr txBox="1"/>
              <p:nvPr/>
            </p:nvSpPr>
            <p:spPr>
              <a:xfrm>
                <a:off x="4842796" y="4184950"/>
                <a:ext cx="44181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Position in input stream where pattern started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60C36079-BA1D-C54F-BCC2-EFFF69F0FD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73123" y="4370893"/>
                <a:ext cx="1569673" cy="0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F66087-D9D0-8C40-94B2-CBA17DB55053}"/>
                </a:ext>
              </a:extLst>
            </p:cNvPr>
            <p:cNvSpPr txBox="1"/>
            <p:nvPr/>
          </p:nvSpPr>
          <p:spPr>
            <a:xfrm>
              <a:off x="5668144" y="2580719"/>
              <a:ext cx="49589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 represents current automaton state (i.e., what portion of the pattern has been matched so far)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820FE54-7504-3647-A702-5EA7F09251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8542" y="2873106"/>
              <a:ext cx="3720948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34317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Cost (worst case) ~ </a:t>
            </a:r>
            <a:r>
              <a:rPr lang="en-US" i="1" dirty="0"/>
              <a:t>N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A8C07-CB7E-E847-97DC-6F21DECC1F27}"/>
              </a:ext>
            </a:extLst>
          </p:cNvPr>
          <p:cNvSpPr txBox="1"/>
          <p:nvPr/>
        </p:nvSpPr>
        <p:spPr>
          <a:xfrm>
            <a:off x="850653" y="2227082"/>
            <a:ext cx="3517310" cy="280076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</a:t>
            </a:r>
            <a:r>
              <a:rPr lang="en-GB" sz="1600" dirty="0" err="1">
                <a:highlight>
                  <a:srgbClr val="C0C0C0"/>
                </a:highlight>
                <a:latin typeface="Courier" pitchFamily="2" charset="0"/>
              </a:rPr>
              <a:t>subStringSearch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(text): </a:t>
            </a:r>
          </a:p>
          <a:p>
            <a:r>
              <a:rPr lang="en-GB" sz="1600" dirty="0">
                <a:latin typeface="Courier" pitchFamily="2" charset="0"/>
              </a:rPr>
              <a:t>    N = </a:t>
            </a:r>
            <a:r>
              <a:rPr lang="en-GB" sz="1600" dirty="0" err="1">
                <a:latin typeface="Courier" pitchFamily="2" charset="0"/>
              </a:rPr>
              <a:t>len</a:t>
            </a:r>
            <a:r>
              <a:rPr lang="en-GB" sz="1600" dirty="0">
                <a:latin typeface="Courier" pitchFamily="2" charset="0"/>
              </a:rPr>
              <a:t>(text)</a:t>
            </a:r>
          </a:p>
          <a:p>
            <a:r>
              <a:rPr lang="en-GB" sz="1600" dirty="0">
                <a:latin typeface="Courier" pitchFamily="2" charset="0"/>
              </a:rPr>
              <a:t>    j=0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=0</a:t>
            </a:r>
          </a:p>
          <a:p>
            <a:r>
              <a:rPr lang="en-GB" sz="1600" dirty="0">
                <a:latin typeface="Courier" pitchFamily="2" charset="0"/>
              </a:rPr>
              <a:t>    while (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&lt;N and j&lt;M):</a:t>
            </a:r>
          </a:p>
          <a:p>
            <a:r>
              <a:rPr lang="en-GB" sz="1600" dirty="0">
                <a:latin typeface="Courier" pitchFamily="2" charset="0"/>
              </a:rPr>
              <a:t>        j = </a:t>
            </a:r>
            <a:r>
              <a:rPr lang="en-GB" sz="1600" b="1" dirty="0">
                <a:solidFill>
                  <a:srgbClr val="C00000"/>
                </a:solidFill>
                <a:latin typeface="Courier" pitchFamily="2" charset="0"/>
              </a:rPr>
              <a:t>DFA[text[</a:t>
            </a:r>
            <a:r>
              <a:rPr lang="en-GB" sz="1600" b="1" dirty="0" err="1">
                <a:solidFill>
                  <a:srgbClr val="C00000"/>
                </a:solidFill>
                <a:latin typeface="Courier" pitchFamily="2" charset="0"/>
              </a:rPr>
              <a:t>i</a:t>
            </a:r>
            <a:r>
              <a:rPr lang="en-GB" sz="1600" b="1" dirty="0">
                <a:solidFill>
                  <a:srgbClr val="C00000"/>
                </a:solidFill>
                <a:latin typeface="Courier" pitchFamily="2" charset="0"/>
              </a:rPr>
              <a:t>]][j]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=i+1</a:t>
            </a:r>
          </a:p>
          <a:p>
            <a:r>
              <a:rPr lang="en-GB" sz="1600" dirty="0">
                <a:latin typeface="Courier" pitchFamily="2" charset="0"/>
              </a:rPr>
              <a:t>    if (j == M):</a:t>
            </a:r>
          </a:p>
          <a:p>
            <a:r>
              <a:rPr lang="en-GB" sz="1600" dirty="0">
                <a:latin typeface="Courier" pitchFamily="2" charset="0"/>
              </a:rPr>
              <a:t>            return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 - M</a:t>
            </a:r>
          </a:p>
          <a:p>
            <a:r>
              <a:rPr lang="en-GB" sz="1600" dirty="0">
                <a:latin typeface="Courier" pitchFamily="2" charset="0"/>
              </a:rPr>
              <a:t>    else:</a:t>
            </a:r>
          </a:p>
          <a:p>
            <a:r>
              <a:rPr lang="en-GB" sz="1600" dirty="0">
                <a:latin typeface="Courier" pitchFamily="2" charset="0"/>
              </a:rPr>
              <a:t>            return N</a:t>
            </a:r>
          </a:p>
        </p:txBody>
      </p:sp>
      <p:grpSp>
        <p:nvGrpSpPr>
          <p:cNvPr id="15" name="Group 14" descr="highlighting code fragmeents of knuth morris pratt algorithm&#10;&#10;j represents current automaton state (i.e., what portion of the pattern has been matched so far)&#10;&#10;">
            <a:extLst>
              <a:ext uri="{FF2B5EF4-FFF2-40B4-BE49-F238E27FC236}">
                <a16:creationId xmlns:a16="http://schemas.microsoft.com/office/drawing/2014/main" id="{79288A65-C6B0-F04D-9923-F020D23BB6B9}"/>
              </a:ext>
            </a:extLst>
          </p:cNvPr>
          <p:cNvGrpSpPr/>
          <p:nvPr/>
        </p:nvGrpSpPr>
        <p:grpSpPr>
          <a:xfrm>
            <a:off x="1948542" y="2580719"/>
            <a:ext cx="8678568" cy="2403147"/>
            <a:chOff x="1948542" y="2580719"/>
            <a:chExt cx="8678568" cy="2403147"/>
          </a:xfrm>
        </p:grpSpPr>
        <p:grpSp>
          <p:nvGrpSpPr>
            <p:cNvPr id="5" name="Group 4" descr="highlighting fragment of code with pattern found and not found">
              <a:extLst>
                <a:ext uri="{FF2B5EF4-FFF2-40B4-BE49-F238E27FC236}">
                  <a16:creationId xmlns:a16="http://schemas.microsoft.com/office/drawing/2014/main" id="{1A413D87-F32A-8D4E-A8B1-0D2399F76116}"/>
                </a:ext>
              </a:extLst>
            </p:cNvPr>
            <p:cNvGrpSpPr/>
            <p:nvPr/>
          </p:nvGrpSpPr>
          <p:grpSpPr>
            <a:xfrm>
              <a:off x="3440669" y="4166040"/>
              <a:ext cx="5361069" cy="817826"/>
              <a:chOff x="2647978" y="4184950"/>
              <a:chExt cx="5361069" cy="817826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598A80-FCDF-AF4C-8C70-4E39EFD863BB}"/>
                  </a:ext>
                </a:extLst>
              </p:cNvPr>
              <p:cNvSpPr txBox="1"/>
              <p:nvPr/>
            </p:nvSpPr>
            <p:spPr>
              <a:xfrm>
                <a:off x="4842796" y="4664222"/>
                <a:ext cx="17604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Pattern not found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663FA98A-E423-B841-9CD6-F09E073744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47978" y="4858572"/>
                <a:ext cx="2194818" cy="1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827B5E-1BF7-254F-B8CC-500B6EB9BAC6}"/>
                  </a:ext>
                </a:extLst>
              </p:cNvPr>
              <p:cNvSpPr txBox="1"/>
              <p:nvPr/>
            </p:nvSpPr>
            <p:spPr>
              <a:xfrm>
                <a:off x="4842796" y="4184950"/>
                <a:ext cx="31662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Index in text where pattern starts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60C36079-BA1D-C54F-BCC2-EFFF69F0FD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73123" y="4370893"/>
                <a:ext cx="1569673" cy="0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F66087-D9D0-8C40-94B2-CBA17DB55053}"/>
                </a:ext>
              </a:extLst>
            </p:cNvPr>
            <p:cNvSpPr txBox="1"/>
            <p:nvPr/>
          </p:nvSpPr>
          <p:spPr>
            <a:xfrm>
              <a:off x="5668144" y="2580719"/>
              <a:ext cx="49589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 represents current automaton state (i.e., what portion of the pattern has been matched so far)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820FE54-7504-3647-A702-5EA7F09251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8542" y="2873106"/>
              <a:ext cx="3720948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 descr="DFA pre-computation from pattern">
            <a:extLst>
              <a:ext uri="{FF2B5EF4-FFF2-40B4-BE49-F238E27FC236}">
                <a16:creationId xmlns:a16="http://schemas.microsoft.com/office/drawing/2014/main" id="{923DB936-2D01-F842-8BA5-3B5CDEDC04E4}"/>
              </a:ext>
            </a:extLst>
          </p:cNvPr>
          <p:cNvGrpSpPr/>
          <p:nvPr/>
        </p:nvGrpSpPr>
        <p:grpSpPr>
          <a:xfrm>
            <a:off x="4274735" y="3458811"/>
            <a:ext cx="5129476" cy="338554"/>
            <a:chOff x="4323722" y="3458811"/>
            <a:chExt cx="5129476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C8BD0E-6ADB-CA4A-B883-9DD1AE98FD44}"/>
                </a:ext>
              </a:extLst>
            </p:cNvPr>
            <p:cNvSpPr txBox="1"/>
            <p:nvPr/>
          </p:nvSpPr>
          <p:spPr>
            <a:xfrm>
              <a:off x="5684474" y="3458811"/>
              <a:ext cx="37687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Need to pre-compute DFA from pattern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3F6EEE5-BFE7-FF43-B085-827E5F1796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3722" y="3644446"/>
              <a:ext cx="1311765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342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8528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lvl="1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E3344-2FD0-0644-B603-5F29A6D3A5E6}"/>
              </a:ext>
            </a:extLst>
          </p:cNvPr>
          <p:cNvSpPr txBox="1"/>
          <p:nvPr/>
        </p:nvSpPr>
        <p:spPr>
          <a:xfrm>
            <a:off x="1166829" y="4157576"/>
            <a:ext cx="506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Alphabet: {A, B, C}. Pattern=ABABAC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7F4C51-32FA-8D4B-9D08-ED09DC56E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876171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8366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</a:p>
          <a:p>
            <a:pPr lvl="1"/>
            <a:endParaRPr lang="en-US" dirty="0"/>
          </a:p>
        </p:txBody>
      </p:sp>
      <p:grpSp>
        <p:nvGrpSpPr>
          <p:cNvPr id="13" name="Group 12" descr="state j = first j characters of pattern already matched&#10;&#10;char c = pattern[j] next char in input matches next char in pattern&#13;&#10;&#13;&#10;state j+1 : now first j+1 characters of pattern have been matched&#13;&#10;">
            <a:extLst>
              <a:ext uri="{FF2B5EF4-FFF2-40B4-BE49-F238E27FC236}">
                <a16:creationId xmlns:a16="http://schemas.microsoft.com/office/drawing/2014/main" id="{4E8BAE3B-871F-254E-A87D-F68EE1270234}"/>
              </a:ext>
            </a:extLst>
          </p:cNvPr>
          <p:cNvGrpSpPr/>
          <p:nvPr/>
        </p:nvGrpSpPr>
        <p:grpSpPr>
          <a:xfrm>
            <a:off x="4031559" y="2733290"/>
            <a:ext cx="8217794" cy="1224087"/>
            <a:chOff x="4031559" y="2733290"/>
            <a:chExt cx="8217794" cy="122408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1D676E-875E-AB4D-A324-F77E84ABEB3B}"/>
                </a:ext>
              </a:extLst>
            </p:cNvPr>
            <p:cNvSpPr txBox="1"/>
            <p:nvPr/>
          </p:nvSpPr>
          <p:spPr>
            <a:xfrm>
              <a:off x="4031559" y="3126380"/>
              <a:ext cx="18965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first j characters of pattern already matched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FBDAC9-E0D2-8549-9625-4A4BE9E73661}"/>
                </a:ext>
              </a:extLst>
            </p:cNvPr>
            <p:cNvSpPr txBox="1"/>
            <p:nvPr/>
          </p:nvSpPr>
          <p:spPr>
            <a:xfrm>
              <a:off x="6263887" y="3126380"/>
              <a:ext cx="28535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 char in input matches next char in pattern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347AC3-A5F4-2B4B-94E1-6544FEBDF6C6}"/>
                </a:ext>
              </a:extLst>
            </p:cNvPr>
            <p:cNvSpPr txBox="1"/>
            <p:nvPr/>
          </p:nvSpPr>
          <p:spPr>
            <a:xfrm>
              <a:off x="10081853" y="3126380"/>
              <a:ext cx="21675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now first j+1 characters of pattern have been matched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8A1B177-F9F5-E442-9B3B-B85483533C23}"/>
                </a:ext>
              </a:extLst>
            </p:cNvPr>
            <p:cNvCxnSpPr/>
            <p:nvPr/>
          </p:nvCxnSpPr>
          <p:spPr>
            <a:xfrm flipV="1">
              <a:off x="5012494" y="2799908"/>
              <a:ext cx="0" cy="39308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95F6AB8-1D8D-AC4E-9C19-79D156BDD78B}"/>
                </a:ext>
              </a:extLst>
            </p:cNvPr>
            <p:cNvCxnSpPr/>
            <p:nvPr/>
          </p:nvCxnSpPr>
          <p:spPr>
            <a:xfrm flipV="1">
              <a:off x="7434565" y="2733291"/>
              <a:ext cx="0" cy="39308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8C40523-E246-4D41-ADD1-A02EE1230165}"/>
                </a:ext>
              </a:extLst>
            </p:cNvPr>
            <p:cNvCxnSpPr/>
            <p:nvPr/>
          </p:nvCxnSpPr>
          <p:spPr>
            <a:xfrm flipV="1">
              <a:off x="11304812" y="2733290"/>
              <a:ext cx="0" cy="39308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9AE3344-2FD0-0644-B603-5F29A6D3A5E6}"/>
              </a:ext>
            </a:extLst>
          </p:cNvPr>
          <p:cNvSpPr txBox="1"/>
          <p:nvPr/>
        </p:nvSpPr>
        <p:spPr>
          <a:xfrm>
            <a:off x="1166829" y="4157576"/>
            <a:ext cx="506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Alphabet: {A, B, C}. Pattern=ABABAC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7F4C51-32FA-8D4B-9D08-ED09DC56E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789348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705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</a:p>
          <a:p>
            <a:pPr lvl="1"/>
            <a:endParaRPr lang="en-US" dirty="0"/>
          </a:p>
        </p:txBody>
      </p:sp>
      <p:grpSp>
        <p:nvGrpSpPr>
          <p:cNvPr id="13" name="Group 12" descr="state j = first j characters of pattern already matched&#10;&#10;char c = pattern[j] next char in input matches next char in pattern&#13;&#10;&#13;&#10;state j+1 : now first j+1 characters of pattern have been matched&#13;&#10;">
            <a:extLst>
              <a:ext uri="{FF2B5EF4-FFF2-40B4-BE49-F238E27FC236}">
                <a16:creationId xmlns:a16="http://schemas.microsoft.com/office/drawing/2014/main" id="{4E8BAE3B-871F-254E-A87D-F68EE1270234}"/>
              </a:ext>
            </a:extLst>
          </p:cNvPr>
          <p:cNvGrpSpPr/>
          <p:nvPr/>
        </p:nvGrpSpPr>
        <p:grpSpPr>
          <a:xfrm>
            <a:off x="4031559" y="2733290"/>
            <a:ext cx="8217794" cy="1224087"/>
            <a:chOff x="4031559" y="2733290"/>
            <a:chExt cx="8217794" cy="122408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1D676E-875E-AB4D-A324-F77E84ABEB3B}"/>
                </a:ext>
              </a:extLst>
            </p:cNvPr>
            <p:cNvSpPr txBox="1"/>
            <p:nvPr/>
          </p:nvSpPr>
          <p:spPr>
            <a:xfrm>
              <a:off x="4031559" y="3126380"/>
              <a:ext cx="18965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first j characters of pattern already matched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FBDAC9-E0D2-8549-9625-4A4BE9E73661}"/>
                </a:ext>
              </a:extLst>
            </p:cNvPr>
            <p:cNvSpPr txBox="1"/>
            <p:nvPr/>
          </p:nvSpPr>
          <p:spPr>
            <a:xfrm>
              <a:off x="6263887" y="3126380"/>
              <a:ext cx="28535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 char in input matches next char in pattern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347AC3-A5F4-2B4B-94E1-6544FEBDF6C6}"/>
                </a:ext>
              </a:extLst>
            </p:cNvPr>
            <p:cNvSpPr txBox="1"/>
            <p:nvPr/>
          </p:nvSpPr>
          <p:spPr>
            <a:xfrm>
              <a:off x="10081853" y="3126380"/>
              <a:ext cx="21675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now first j+1 characters of pattern have been matched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8A1B177-F9F5-E442-9B3B-B85483533C23}"/>
                </a:ext>
              </a:extLst>
            </p:cNvPr>
            <p:cNvCxnSpPr/>
            <p:nvPr/>
          </p:nvCxnSpPr>
          <p:spPr>
            <a:xfrm flipV="1">
              <a:off x="5012494" y="2799908"/>
              <a:ext cx="0" cy="39308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95F6AB8-1D8D-AC4E-9C19-79D156BDD78B}"/>
                </a:ext>
              </a:extLst>
            </p:cNvPr>
            <p:cNvCxnSpPr/>
            <p:nvPr/>
          </p:nvCxnSpPr>
          <p:spPr>
            <a:xfrm flipV="1">
              <a:off x="7434565" y="2733291"/>
              <a:ext cx="0" cy="39308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8C40523-E246-4D41-ADD1-A02EE1230165}"/>
                </a:ext>
              </a:extLst>
            </p:cNvPr>
            <p:cNvCxnSpPr/>
            <p:nvPr/>
          </p:nvCxnSpPr>
          <p:spPr>
            <a:xfrm flipV="1">
              <a:off x="11304812" y="2733290"/>
              <a:ext cx="0" cy="39308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9AE3344-2FD0-0644-B603-5F29A6D3A5E6}"/>
              </a:ext>
            </a:extLst>
          </p:cNvPr>
          <p:cNvSpPr txBox="1"/>
          <p:nvPr/>
        </p:nvSpPr>
        <p:spPr>
          <a:xfrm>
            <a:off x="1166829" y="4157576"/>
            <a:ext cx="506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Alphabet: {A, B, C}. Pattern=ABABAC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7F4C51-32FA-8D4B-9D08-ED09DC56E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268460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8636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pSp>
        <p:nvGrpSpPr>
          <p:cNvPr id="14" name="Group 13" descr="further explanation of mismatch transitions.&#10;- simulate pattern from 1 as if moving forward one position in the input stream (i.e., i+1). until j-1 as if re-processing the already seen portion of the input&#13;&#10;&#13;&#10;">
            <a:extLst>
              <a:ext uri="{FF2B5EF4-FFF2-40B4-BE49-F238E27FC236}">
                <a16:creationId xmlns:a16="http://schemas.microsoft.com/office/drawing/2014/main" id="{60ECBE04-064A-0543-98BD-12A28A4FDE00}"/>
              </a:ext>
            </a:extLst>
          </p:cNvPr>
          <p:cNvGrpSpPr/>
          <p:nvPr/>
        </p:nvGrpSpPr>
        <p:grpSpPr>
          <a:xfrm>
            <a:off x="1750118" y="4053017"/>
            <a:ext cx="7923750" cy="1337475"/>
            <a:chOff x="3794574" y="2084947"/>
            <a:chExt cx="7923750" cy="13374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6C52ED8-BABC-EE4F-AD52-1BCF5D299B10}"/>
                </a:ext>
              </a:extLst>
            </p:cNvPr>
            <p:cNvSpPr txBox="1"/>
            <p:nvPr/>
          </p:nvSpPr>
          <p:spPr>
            <a:xfrm>
              <a:off x="3794574" y="2837647"/>
              <a:ext cx="18965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Move forward one (unseen) character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7338159-6189-0340-ACB3-D51DBD0A1C61}"/>
                </a:ext>
              </a:extLst>
            </p:cNvPr>
            <p:cNvSpPr txBox="1"/>
            <p:nvPr/>
          </p:nvSpPr>
          <p:spPr>
            <a:xfrm>
              <a:off x="6312706" y="2462466"/>
              <a:ext cx="285352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 1, as if moving forward one position in the input stream (i.e., i+1)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EF4FBAC-22DC-EF4D-84F9-5588B9DDAEBD}"/>
                </a:ext>
              </a:extLst>
            </p:cNvPr>
            <p:cNvSpPr txBox="1"/>
            <p:nvPr/>
          </p:nvSpPr>
          <p:spPr>
            <a:xfrm>
              <a:off x="9550824" y="2457843"/>
              <a:ext cx="21675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 if re-processing the already seen portion of the input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A3EB87D-78C7-2144-9D20-045F9989BE05}"/>
                </a:ext>
              </a:extLst>
            </p:cNvPr>
            <p:cNvCxnSpPr/>
            <p:nvPr/>
          </p:nvCxnSpPr>
          <p:spPr>
            <a:xfrm flipV="1">
              <a:off x="4681507" y="2457843"/>
              <a:ext cx="0" cy="39308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4AB2C98-A58A-ED43-AA0B-4FCAE6BC1BB5}"/>
                </a:ext>
              </a:extLst>
            </p:cNvPr>
            <p:cNvCxnSpPr/>
            <p:nvPr/>
          </p:nvCxnSpPr>
          <p:spPr>
            <a:xfrm flipV="1">
              <a:off x="9034765" y="2084947"/>
              <a:ext cx="0" cy="39308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90E5378-937E-C84A-BAE7-16565123375F}"/>
                </a:ext>
              </a:extLst>
            </p:cNvPr>
            <p:cNvCxnSpPr/>
            <p:nvPr/>
          </p:nvCxnSpPr>
          <p:spPr>
            <a:xfrm flipV="1">
              <a:off x="9704612" y="2084947"/>
              <a:ext cx="0" cy="39308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50976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342160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0999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164321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4" name="Group 3" descr="j=1, c=“A” (mismatch)&#13;&#10;Simulate DFA from the beginning (j=0) with input: pattern[1,j-1]=pattern[1,0]=∅, followed by c=“A”&#13;&#10;&#10;j=1, c=“C” (mismatch)&#13;&#10;Simulate DFA from the beginning (j=0) with input: pattern[1,j-1]=pattern[1,0]=∅, followed by c=“C”&#13;&#10;">
            <a:extLst>
              <a:ext uri="{FF2B5EF4-FFF2-40B4-BE49-F238E27FC236}">
                <a16:creationId xmlns:a16="http://schemas.microsoft.com/office/drawing/2014/main" id="{025FFA5E-05DF-3345-9B4A-33DBE6B445F7}"/>
              </a:ext>
            </a:extLst>
          </p:cNvPr>
          <p:cNvGrpSpPr/>
          <p:nvPr/>
        </p:nvGrpSpPr>
        <p:grpSpPr>
          <a:xfrm>
            <a:off x="6348691" y="4613276"/>
            <a:ext cx="4820051" cy="1805078"/>
            <a:chOff x="6348691" y="4613276"/>
            <a:chExt cx="4820051" cy="180507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8CF1395-96C3-124E-B9A5-003B92B97BA1}"/>
                </a:ext>
              </a:extLst>
            </p:cNvPr>
            <p:cNvSpPr txBox="1"/>
            <p:nvPr/>
          </p:nvSpPr>
          <p:spPr>
            <a:xfrm>
              <a:off x="6348691" y="4613276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=1,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=“A”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pattern[1,j-1]=pattern[1,0]=∅,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“A”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05AF51D-3BB1-8643-97A1-48875A2C971C}"/>
                </a:ext>
              </a:extLst>
            </p:cNvPr>
            <p:cNvSpPr txBox="1"/>
            <p:nvPr/>
          </p:nvSpPr>
          <p:spPr>
            <a:xfrm>
              <a:off x="6348691" y="5587357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=1,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pattern[1,j-1]=pattern[1,0]=∅,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073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/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9" name="Group 8" descr="j=1, c=“A” (mismatch)&#13;&#10;Simulate DFA from the beginning (j=0) with input: pattern[1,j-1]=pattern[1,0]=∅, followed by c=“A”&#13;&#10;&#10;j=1, c=“C” (mismatch)&#13;&#10;Simulate DFA from the beginning (j=0) with input: pattern[1,j-1]=pattern[1,0]=∅, followed by c=“C”&#13;&#10;">
            <a:extLst>
              <a:ext uri="{FF2B5EF4-FFF2-40B4-BE49-F238E27FC236}">
                <a16:creationId xmlns:a16="http://schemas.microsoft.com/office/drawing/2014/main" id="{F7D3D993-13CE-C64C-A4BA-D6944FB43E1F}"/>
              </a:ext>
            </a:extLst>
          </p:cNvPr>
          <p:cNvGrpSpPr/>
          <p:nvPr/>
        </p:nvGrpSpPr>
        <p:grpSpPr>
          <a:xfrm>
            <a:off x="6348691" y="4613276"/>
            <a:ext cx="4820051" cy="1805078"/>
            <a:chOff x="6348691" y="4613276"/>
            <a:chExt cx="4820051" cy="180507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0426CD-A159-9F40-B79F-4B593D5BFAD7}"/>
                </a:ext>
              </a:extLst>
            </p:cNvPr>
            <p:cNvSpPr txBox="1"/>
            <p:nvPr/>
          </p:nvSpPr>
          <p:spPr>
            <a:xfrm>
              <a:off x="6348691" y="4613276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=1,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=“A”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pattern[1,j-1]=pattern[1,0]=∅,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“A”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BDA1098-6ACB-C14F-9195-CB018B3BF149}"/>
                </a:ext>
              </a:extLst>
            </p:cNvPr>
            <p:cNvSpPr txBox="1"/>
            <p:nvPr/>
          </p:nvSpPr>
          <p:spPr>
            <a:xfrm>
              <a:off x="6348691" y="5587357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=1,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pattern[1,j-1]=pattern[1,0]=∅,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11083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400330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6" name="Group 5" descr="j=2, c=“B” (mismatch)&#13;&#10;Simulate DFA from the beginning (j=0) with input: pattern[1,j-1]=pattern[1,1]=“B”, followed by c=“A”&#13;&#10;&#10;j=2, c=“C” (mismatch)&#13;&#10;Simulate DFA from the beginning (j=0) with input: pattern[1,j-1]=pattern[1,1]=“B”, followed by c=“C”&#13;&#10;">
            <a:extLst>
              <a:ext uri="{FF2B5EF4-FFF2-40B4-BE49-F238E27FC236}">
                <a16:creationId xmlns:a16="http://schemas.microsoft.com/office/drawing/2014/main" id="{D09ECAC2-6B7D-C844-995F-6B33EA88CC74}"/>
              </a:ext>
            </a:extLst>
          </p:cNvPr>
          <p:cNvGrpSpPr/>
          <p:nvPr/>
        </p:nvGrpSpPr>
        <p:grpSpPr>
          <a:xfrm>
            <a:off x="6348691" y="4613276"/>
            <a:ext cx="4820051" cy="1805078"/>
            <a:chOff x="6348691" y="4613276"/>
            <a:chExt cx="4820051" cy="18050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ED75C4-4133-E442-A31C-846C7BF16B42}"/>
                </a:ext>
              </a:extLst>
            </p:cNvPr>
            <p:cNvSpPr txBox="1"/>
            <p:nvPr/>
          </p:nvSpPr>
          <p:spPr>
            <a:xfrm>
              <a:off x="6348691" y="4613276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=2,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=“B”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pattern[1,j-1]=pattern[1,1]=“B”,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“B”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04CD04-9DB8-1C4D-BC48-E4ABD338723F}"/>
                </a:ext>
              </a:extLst>
            </p:cNvPr>
            <p:cNvSpPr txBox="1"/>
            <p:nvPr/>
          </p:nvSpPr>
          <p:spPr>
            <a:xfrm>
              <a:off x="6348691" y="5587357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=2,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pattern[1,j-1]=pattern[1,1]=“B”,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77009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/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9" name="Group 8" descr="j=2, c=“B” (mismatch)&#13;&#10;Simulate DFA from the beginning (j=0) with input: pattern[1,j-1]=pattern[1,1]=“B”, followed by c=“A”&#13;&#10;&#10;j=2, c=“C” (mismatch)&#13;&#10;Simulate DFA from the beginning (j=0) with input: pattern[1,j-1]=pattern[1,1]=“B”, followed by c=“C”&#13;&#10;">
            <a:extLst>
              <a:ext uri="{FF2B5EF4-FFF2-40B4-BE49-F238E27FC236}">
                <a16:creationId xmlns:a16="http://schemas.microsoft.com/office/drawing/2014/main" id="{BC6EE01B-60B2-E544-AFC4-80FF59C5EDE6}"/>
              </a:ext>
            </a:extLst>
          </p:cNvPr>
          <p:cNvGrpSpPr/>
          <p:nvPr/>
        </p:nvGrpSpPr>
        <p:grpSpPr>
          <a:xfrm>
            <a:off x="6348691" y="4613276"/>
            <a:ext cx="4820051" cy="1805078"/>
            <a:chOff x="6348691" y="4613276"/>
            <a:chExt cx="4820051" cy="180507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0CD8CA-1EC1-E64C-89A1-0EBF021D9C23}"/>
                </a:ext>
              </a:extLst>
            </p:cNvPr>
            <p:cNvSpPr txBox="1"/>
            <p:nvPr/>
          </p:nvSpPr>
          <p:spPr>
            <a:xfrm>
              <a:off x="6348691" y="4613276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=2,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=“B”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pattern[1,j-1]=pattern[1,1]=“B”,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“B”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B32CA87-0D6C-E44C-B3A2-17D94DD29CC5}"/>
                </a:ext>
              </a:extLst>
            </p:cNvPr>
            <p:cNvSpPr txBox="1"/>
            <p:nvPr/>
          </p:nvSpPr>
          <p:spPr>
            <a:xfrm>
              <a:off x="6348691" y="5587357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=2,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pattern[1,j-1]=pattern[1,1]=“B”,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46285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112894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6" name="Group 5" descr="j=3, c=“A” (mismatch)&#13;&#10;Simulate DFA from the beginning (j=0) with input: pattern[1,j-1]=pattern[1,2]=“BA”, followed by c=“A”&#13;&#10;&#10;j=3, c=“C” (mismatch)&#13;&#10;Simulate DFA from the beginning (j=0) with input: pattern[1,j-1]=pattern[1,2]=“BA”, followed by c=“C”&#13;&#10;">
            <a:extLst>
              <a:ext uri="{FF2B5EF4-FFF2-40B4-BE49-F238E27FC236}">
                <a16:creationId xmlns:a16="http://schemas.microsoft.com/office/drawing/2014/main" id="{D09ECAC2-6B7D-C844-995F-6B33EA88CC74}"/>
              </a:ext>
            </a:extLst>
          </p:cNvPr>
          <p:cNvGrpSpPr/>
          <p:nvPr/>
        </p:nvGrpSpPr>
        <p:grpSpPr>
          <a:xfrm>
            <a:off x="6348691" y="4613276"/>
            <a:ext cx="4820051" cy="1805078"/>
            <a:chOff x="6348691" y="4613276"/>
            <a:chExt cx="4820051" cy="18050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ED75C4-4133-E442-A31C-846C7BF16B42}"/>
                </a:ext>
              </a:extLst>
            </p:cNvPr>
            <p:cNvSpPr txBox="1"/>
            <p:nvPr/>
          </p:nvSpPr>
          <p:spPr>
            <a:xfrm>
              <a:off x="6348691" y="4613276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=3,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=“A”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pattern[1,j-1]=pattern[1,2]=“BA”,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“A”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04CD04-9DB8-1C4D-BC48-E4ABD338723F}"/>
                </a:ext>
              </a:extLst>
            </p:cNvPr>
            <p:cNvSpPr txBox="1"/>
            <p:nvPr/>
          </p:nvSpPr>
          <p:spPr>
            <a:xfrm>
              <a:off x="6348691" y="5587357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=3,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pattern[1,j-1]=pattern[1,2]=“BA”,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86577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/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9" name="Group 8" descr="j=3, c=“A” (mismatch)&#13;&#10;Simulate DFA from the beginning (j=0) with input: pattern[1,j-1]=pattern[1,2]=“BA”, followed by c=“A”&#13;&#10;&#10;j=3, c=“C” (mismatch)&#13;&#10;Simulate DFA from the beginning (j=0) with input: pattern[1,j-1]=pattern[1,2]=“BA”, followed by c=“C”&#13;&#10;">
            <a:extLst>
              <a:ext uri="{FF2B5EF4-FFF2-40B4-BE49-F238E27FC236}">
                <a16:creationId xmlns:a16="http://schemas.microsoft.com/office/drawing/2014/main" id="{8607EB2A-AE5F-7548-B79D-C523DD10B463}"/>
              </a:ext>
            </a:extLst>
          </p:cNvPr>
          <p:cNvGrpSpPr/>
          <p:nvPr/>
        </p:nvGrpSpPr>
        <p:grpSpPr>
          <a:xfrm>
            <a:off x="6348691" y="4613276"/>
            <a:ext cx="4820051" cy="1805078"/>
            <a:chOff x="6348691" y="4613276"/>
            <a:chExt cx="4820051" cy="180507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20925A-78CD-FE4C-B73D-4CE8600CA88E}"/>
                </a:ext>
              </a:extLst>
            </p:cNvPr>
            <p:cNvSpPr txBox="1"/>
            <p:nvPr/>
          </p:nvSpPr>
          <p:spPr>
            <a:xfrm>
              <a:off x="6348691" y="4613276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=3,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=“A”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pattern[1,j-1]=pattern[1,2]=“BA”,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“A”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927E49-FF10-634C-97FD-75955DE25822}"/>
                </a:ext>
              </a:extLst>
            </p:cNvPr>
            <p:cNvSpPr txBox="1"/>
            <p:nvPr/>
          </p:nvSpPr>
          <p:spPr>
            <a:xfrm>
              <a:off x="6348691" y="5587357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=3,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pattern[1,j-1]=pattern[1,2]=“BA”,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40591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223065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6" name="Group 5" descr="j=4, c=“B” (mismatch)&#13;&#10;Simulate DFA from the beginning (j=0) with input: pattern[1,j-1]=pattern[1,3]=“BAB”, followed by c=“B”&#13;&#10;&#10;j=4, c=“C” (mismatch)&#13;&#10;Simulate DFA from the beginning (j=0) with input: pattern[1,j-1]=pattern[1,3]=“BAB”, followed by c=“C”&#13;&#10;">
            <a:extLst>
              <a:ext uri="{FF2B5EF4-FFF2-40B4-BE49-F238E27FC236}">
                <a16:creationId xmlns:a16="http://schemas.microsoft.com/office/drawing/2014/main" id="{D09ECAC2-6B7D-C844-995F-6B33EA88CC74}"/>
              </a:ext>
            </a:extLst>
          </p:cNvPr>
          <p:cNvGrpSpPr/>
          <p:nvPr/>
        </p:nvGrpSpPr>
        <p:grpSpPr>
          <a:xfrm>
            <a:off x="6348691" y="4613276"/>
            <a:ext cx="4950680" cy="1805078"/>
            <a:chOff x="6348691" y="4613276"/>
            <a:chExt cx="4950680" cy="18050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ED75C4-4133-E442-A31C-846C7BF16B42}"/>
                </a:ext>
              </a:extLst>
            </p:cNvPr>
            <p:cNvSpPr txBox="1"/>
            <p:nvPr/>
          </p:nvSpPr>
          <p:spPr>
            <a:xfrm>
              <a:off x="6348691" y="4613276"/>
              <a:ext cx="4950680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=4,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=“B”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pattern[1,j-1]=pattern[1,3]=“BAB”,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“B”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04CD04-9DB8-1C4D-BC48-E4ABD338723F}"/>
                </a:ext>
              </a:extLst>
            </p:cNvPr>
            <p:cNvSpPr txBox="1"/>
            <p:nvPr/>
          </p:nvSpPr>
          <p:spPr>
            <a:xfrm>
              <a:off x="6348691" y="5587357"/>
              <a:ext cx="4950680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=4,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pattern[1,j-1]=pattern[1,3]=“BAB”,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70785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/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9" name="Group 8" descr="j=4, c=“B” (mismatch)&#13;&#10;Simulate DFA from the beginning (j=0) with input: pattern[1,j-1]=pattern[1,3]=“BAB”, followed by c=“B”&#13;&#10;&#10;j=4, c=“C” (mismatch)&#13;&#10;Simulate DFA from the beginning (j=0) with input: pattern[1,j-1]=pattern[1,3]=“BAB”, followed by c=“C”&#13;&#10;">
            <a:extLst>
              <a:ext uri="{FF2B5EF4-FFF2-40B4-BE49-F238E27FC236}">
                <a16:creationId xmlns:a16="http://schemas.microsoft.com/office/drawing/2014/main" id="{70CAF9E3-0F01-9D45-87B8-B2673C6A9F74}"/>
              </a:ext>
            </a:extLst>
          </p:cNvPr>
          <p:cNvGrpSpPr/>
          <p:nvPr/>
        </p:nvGrpSpPr>
        <p:grpSpPr>
          <a:xfrm>
            <a:off x="6348691" y="4613276"/>
            <a:ext cx="4950680" cy="1805078"/>
            <a:chOff x="6348691" y="4613276"/>
            <a:chExt cx="4950680" cy="1805078"/>
          </a:xfrm>
        </p:grpSpPr>
        <p:sp>
          <p:nvSpPr>
            <p:cNvPr id="10" name="TextBox 9" descr="j=4, c=“B” (mismatch)&#13;&#10;Simulate DFA from the beginning (j=0) with input: pattern[1,j-1]=pattern[1,3]=“BAB”, followed by c=“B”&#13;&#10;">
              <a:extLst>
                <a:ext uri="{FF2B5EF4-FFF2-40B4-BE49-F238E27FC236}">
                  <a16:creationId xmlns:a16="http://schemas.microsoft.com/office/drawing/2014/main" id="{BF240E41-C149-FC4A-9CAD-CD11E06096D5}"/>
                </a:ext>
              </a:extLst>
            </p:cNvPr>
            <p:cNvSpPr txBox="1"/>
            <p:nvPr/>
          </p:nvSpPr>
          <p:spPr>
            <a:xfrm>
              <a:off x="6348691" y="4613276"/>
              <a:ext cx="4950680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=4,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=“B”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pattern[1,j-1]=pattern[1,3]=“BAB”,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“B”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368E9D2-ADA6-8D43-9B19-1122C2133DA4}"/>
                </a:ext>
              </a:extLst>
            </p:cNvPr>
            <p:cNvSpPr txBox="1"/>
            <p:nvPr/>
          </p:nvSpPr>
          <p:spPr>
            <a:xfrm>
              <a:off x="6348691" y="5587357"/>
              <a:ext cx="4950680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=4,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pattern[1,j-1]=pattern[1,3]=“BAB”,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18358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935305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6" name="Group 5" descr="j=5, c=“A” (mismatch)&#13;&#10;Simulate DFA from the beginning (j=0) with input: pattern[1,j-1]=pattern[1,4]=“BABA”, followed by c=“A”&#13;&#10;&#10;j=5, c=“B” (mismatch)&#13;&#10;Simulate DFA from the beginning (j=0) with input: pattern[1,j-1]=pattern[1,4]=“BABA”, followed by c=“B”&#13;&#10;">
            <a:extLst>
              <a:ext uri="{FF2B5EF4-FFF2-40B4-BE49-F238E27FC236}">
                <a16:creationId xmlns:a16="http://schemas.microsoft.com/office/drawing/2014/main" id="{D09ECAC2-6B7D-C844-995F-6B33EA88CC74}"/>
              </a:ext>
            </a:extLst>
          </p:cNvPr>
          <p:cNvGrpSpPr/>
          <p:nvPr/>
        </p:nvGrpSpPr>
        <p:grpSpPr>
          <a:xfrm>
            <a:off x="6348691" y="4613276"/>
            <a:ext cx="4950680" cy="1805078"/>
            <a:chOff x="6348691" y="4613276"/>
            <a:chExt cx="4950680" cy="18050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ED75C4-4133-E442-A31C-846C7BF16B42}"/>
                </a:ext>
              </a:extLst>
            </p:cNvPr>
            <p:cNvSpPr txBox="1"/>
            <p:nvPr/>
          </p:nvSpPr>
          <p:spPr>
            <a:xfrm>
              <a:off x="6348691" y="4613276"/>
              <a:ext cx="4950680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=5,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=“A”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pattern[1,j-1]=pattern[1,4]=“BABA”,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“A”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04CD04-9DB8-1C4D-BC48-E4ABD338723F}"/>
                </a:ext>
              </a:extLst>
            </p:cNvPr>
            <p:cNvSpPr txBox="1"/>
            <p:nvPr/>
          </p:nvSpPr>
          <p:spPr>
            <a:xfrm>
              <a:off x="6348691" y="5587357"/>
              <a:ext cx="4950680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=5,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=“B”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pattern[1,j-1]=pattern[1,4]=“BABA”,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“B”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13273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04521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18" name="Group 17" descr="j=5, c=“A” (mismatch)&#13;&#10;Simulate DFA from the beginning (j=0) with input: pattern[1,j-1]=pattern[1,4]=“BABA”, followed by c=“A”&#13;&#10;&#10;j=5, c=“B” (mismatch)&#13;&#10;Simulate DFA from the beginning (j=0) with input: pattern[1,j-1]=pattern[1,4]=“BABA”, followed by c=“B”&#13;&#10;">
            <a:extLst>
              <a:ext uri="{FF2B5EF4-FFF2-40B4-BE49-F238E27FC236}">
                <a16:creationId xmlns:a16="http://schemas.microsoft.com/office/drawing/2014/main" id="{B897CACE-A291-D04E-8C1B-D7B988A648A7}"/>
              </a:ext>
            </a:extLst>
          </p:cNvPr>
          <p:cNvGrpSpPr/>
          <p:nvPr/>
        </p:nvGrpSpPr>
        <p:grpSpPr>
          <a:xfrm>
            <a:off x="6348691" y="4613276"/>
            <a:ext cx="4950680" cy="1805078"/>
            <a:chOff x="6348691" y="4613276"/>
            <a:chExt cx="4950680" cy="180507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F49F727-538A-E54A-94CA-1FAD94A54539}"/>
                </a:ext>
              </a:extLst>
            </p:cNvPr>
            <p:cNvSpPr txBox="1"/>
            <p:nvPr/>
          </p:nvSpPr>
          <p:spPr>
            <a:xfrm>
              <a:off x="6348691" y="4613276"/>
              <a:ext cx="4950680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=5,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=“A”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pattern[1,j-1]=pattern[1,4]=“BABA”,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“A”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E6D7AB1-06A6-C24A-A30F-6C287E4AE2E8}"/>
                </a:ext>
              </a:extLst>
            </p:cNvPr>
            <p:cNvSpPr txBox="1"/>
            <p:nvPr/>
          </p:nvSpPr>
          <p:spPr>
            <a:xfrm>
              <a:off x="6348691" y="5587357"/>
              <a:ext cx="4950680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=5,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=“B”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the beginning (j=0) with input: pattern[1,j-1]=pattern[1,4]=“BABA”, followed by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“B”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21868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pSp>
        <p:nvGrpSpPr>
          <p:cNvPr id="13" name="Group 12" descr="keep track of state X – i.e., where DFA would be if it had processed the pattern shifted over of 1 position&#13;&#10;">
            <a:extLst>
              <a:ext uri="{FF2B5EF4-FFF2-40B4-BE49-F238E27FC236}">
                <a16:creationId xmlns:a16="http://schemas.microsoft.com/office/drawing/2014/main" id="{34662DFC-C76E-1948-8F60-672A71057097}"/>
              </a:ext>
            </a:extLst>
          </p:cNvPr>
          <p:cNvGrpSpPr/>
          <p:nvPr/>
        </p:nvGrpSpPr>
        <p:grpSpPr>
          <a:xfrm>
            <a:off x="3788229" y="3722914"/>
            <a:ext cx="7070272" cy="2349948"/>
            <a:chOff x="3788229" y="3722914"/>
            <a:chExt cx="7070272" cy="2349948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39731398-CBA5-A642-A7B4-DE14F90D7428}"/>
                </a:ext>
              </a:extLst>
            </p:cNvPr>
            <p:cNvSpPr/>
            <p:nvPr/>
          </p:nvSpPr>
          <p:spPr>
            <a:xfrm>
              <a:off x="3788229" y="3722914"/>
              <a:ext cx="6384471" cy="489857"/>
            </a:xfrm>
            <a:prstGeom prst="roundRect">
              <a:avLst/>
            </a:prstGeom>
            <a:solidFill>
              <a:srgbClr val="C00000">
                <a:alpha val="2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 descr="keep track of state X – i.e., where DFA would be if it had processed the pattern shifted over of 1 position&#13;&#10;">
              <a:extLst>
                <a:ext uri="{FF2B5EF4-FFF2-40B4-BE49-F238E27FC236}">
                  <a16:creationId xmlns:a16="http://schemas.microsoft.com/office/drawing/2014/main" id="{5D562717-6E01-5A4B-BFA5-54FA1A995208}"/>
                </a:ext>
              </a:extLst>
            </p:cNvPr>
            <p:cNvSpPr txBox="1"/>
            <p:nvPr/>
          </p:nvSpPr>
          <p:spPr>
            <a:xfrm>
              <a:off x="7315201" y="4872533"/>
              <a:ext cx="35433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keep track of state X – i.e., where DFA would be if it had processed the pattern shifted over of 1 position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7B87BDC-F473-A445-984C-F1307C7A4310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9086851" y="4212771"/>
              <a:ext cx="0" cy="65976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254701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42927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/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4895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712263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4" name="Group 3" descr="highlight input char either A or C">
            <a:extLst>
              <a:ext uri="{FF2B5EF4-FFF2-40B4-BE49-F238E27FC236}">
                <a16:creationId xmlns:a16="http://schemas.microsoft.com/office/drawing/2014/main" id="{025FFA5E-05DF-3345-9B4A-33DBE6B445F7}"/>
              </a:ext>
            </a:extLst>
          </p:cNvPr>
          <p:cNvGrpSpPr/>
          <p:nvPr/>
        </p:nvGrpSpPr>
        <p:grpSpPr>
          <a:xfrm>
            <a:off x="6348691" y="4613276"/>
            <a:ext cx="4820051" cy="1805078"/>
            <a:chOff x="6348691" y="4613276"/>
            <a:chExt cx="4820051" cy="180507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8CF1395-96C3-124E-B9A5-003B92B97BA1}"/>
                </a:ext>
              </a:extLst>
            </p:cNvPr>
            <p:cNvSpPr txBox="1"/>
            <p:nvPr/>
          </p:nvSpPr>
          <p:spPr>
            <a:xfrm>
              <a:off x="6348691" y="4613276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=1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=“A”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pattern[1,0]=∅.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simulation needed, stay in j=0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“A”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05AF51D-3BB1-8643-97A1-48875A2C971C}"/>
                </a:ext>
              </a:extLst>
            </p:cNvPr>
            <p:cNvSpPr txBox="1"/>
            <p:nvPr/>
          </p:nvSpPr>
          <p:spPr>
            <a:xfrm>
              <a:off x="6348691" y="5587357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=1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pattern[1,0]=∅.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simulation needed, stay in j=0. 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  <p:sp>
        <p:nvSpPr>
          <p:cNvPr id="7" name="Rounded Rectangle 6" descr="highlight state 0 ">
            <a:extLst>
              <a:ext uri="{FF2B5EF4-FFF2-40B4-BE49-F238E27FC236}">
                <a16:creationId xmlns:a16="http://schemas.microsoft.com/office/drawing/2014/main" id="{61F1CAC6-2A64-604D-AD01-3F043C725253}"/>
              </a:ext>
            </a:extLst>
          </p:cNvPr>
          <p:cNvSpPr/>
          <p:nvPr/>
        </p:nvSpPr>
        <p:spPr>
          <a:xfrm>
            <a:off x="1747156" y="4613276"/>
            <a:ext cx="293913" cy="97408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1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/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9" name="Rounded Rectangle 8" descr="state 0 highlight">
            <a:extLst>
              <a:ext uri="{FF2B5EF4-FFF2-40B4-BE49-F238E27FC236}">
                <a16:creationId xmlns:a16="http://schemas.microsoft.com/office/drawing/2014/main" id="{A49EFBB6-9543-FD4E-A7CB-C5CCFBFC6398}"/>
              </a:ext>
            </a:extLst>
          </p:cNvPr>
          <p:cNvSpPr/>
          <p:nvPr/>
        </p:nvSpPr>
        <p:spPr>
          <a:xfrm>
            <a:off x="1730828" y="4613276"/>
            <a:ext cx="310241" cy="97408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 descr="highlighting copy over">
            <a:extLst>
              <a:ext uri="{FF2B5EF4-FFF2-40B4-BE49-F238E27FC236}">
                <a16:creationId xmlns:a16="http://schemas.microsoft.com/office/drawing/2014/main" id="{D4FF559F-48F4-CC45-A307-8CD212AA5208}"/>
              </a:ext>
            </a:extLst>
          </p:cNvPr>
          <p:cNvSpPr/>
          <p:nvPr/>
        </p:nvSpPr>
        <p:spPr>
          <a:xfrm rot="5400000">
            <a:off x="2096896" y="5221288"/>
            <a:ext cx="241943" cy="97408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 descr="copy over">
            <a:extLst>
              <a:ext uri="{FF2B5EF4-FFF2-40B4-BE49-F238E27FC236}">
                <a16:creationId xmlns:a16="http://schemas.microsoft.com/office/drawing/2014/main" id="{E3A7ABAC-55C1-1246-8FAB-0138548120B4}"/>
              </a:ext>
            </a:extLst>
          </p:cNvPr>
          <p:cNvSpPr/>
          <p:nvPr/>
        </p:nvSpPr>
        <p:spPr>
          <a:xfrm rot="5400000">
            <a:off x="2096896" y="5931313"/>
            <a:ext cx="241943" cy="97408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 descr="description of DFA behaviour">
            <a:extLst>
              <a:ext uri="{FF2B5EF4-FFF2-40B4-BE49-F238E27FC236}">
                <a16:creationId xmlns:a16="http://schemas.microsoft.com/office/drawing/2014/main" id="{FF1099CF-1E1C-6047-A062-B60188C04C5E}"/>
              </a:ext>
            </a:extLst>
          </p:cNvPr>
          <p:cNvGrpSpPr/>
          <p:nvPr/>
        </p:nvGrpSpPr>
        <p:grpSpPr>
          <a:xfrm>
            <a:off x="6348691" y="4613276"/>
            <a:ext cx="4820051" cy="1805078"/>
            <a:chOff x="6348691" y="4613276"/>
            <a:chExt cx="4820051" cy="180507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6E301B9-1288-B24A-B089-39DD10FDFA0F}"/>
                </a:ext>
              </a:extLst>
            </p:cNvPr>
            <p:cNvSpPr txBox="1"/>
            <p:nvPr/>
          </p:nvSpPr>
          <p:spPr>
            <a:xfrm>
              <a:off x="6348691" y="4613276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=1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=“A”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pattern[1,0]=∅.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simulation needed, stay in j=0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“A”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13614F5-075D-E247-A374-C1247C0632C8}"/>
                </a:ext>
              </a:extLst>
            </p:cNvPr>
            <p:cNvSpPr txBox="1"/>
            <p:nvPr/>
          </p:nvSpPr>
          <p:spPr>
            <a:xfrm>
              <a:off x="6348691" y="5587357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=1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pattern[1,0]=∅.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simulation needed, stay in j=0. 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49970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65880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6" name="Group 5" descr="description of DFA behaviour">
            <a:extLst>
              <a:ext uri="{FF2B5EF4-FFF2-40B4-BE49-F238E27FC236}">
                <a16:creationId xmlns:a16="http://schemas.microsoft.com/office/drawing/2014/main" id="{D09ECAC2-6B7D-C844-995F-6B33EA88CC74}"/>
              </a:ext>
            </a:extLst>
          </p:cNvPr>
          <p:cNvGrpSpPr/>
          <p:nvPr/>
        </p:nvGrpSpPr>
        <p:grpSpPr>
          <a:xfrm>
            <a:off x="6348691" y="4613276"/>
            <a:ext cx="4820051" cy="1805078"/>
            <a:chOff x="6348691" y="4613276"/>
            <a:chExt cx="4820051" cy="18050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ED75C4-4133-E442-A31C-846C7BF16B42}"/>
                </a:ext>
              </a:extLst>
            </p:cNvPr>
            <p:cNvSpPr txBox="1"/>
            <p:nvPr/>
          </p:nvSpPr>
          <p:spPr>
            <a:xfrm>
              <a:off x="6348691" y="4613276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=2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=“B”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pattern[1,1]=“B”.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“B”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04CD04-9DB8-1C4D-BC48-E4ABD338723F}"/>
                </a:ext>
              </a:extLst>
            </p:cNvPr>
            <p:cNvSpPr txBox="1"/>
            <p:nvPr/>
          </p:nvSpPr>
          <p:spPr>
            <a:xfrm>
              <a:off x="6348691" y="5587357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=2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pattern[1,1]=“B”.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  <p:sp>
        <p:nvSpPr>
          <p:cNvPr id="9" name="Rounded Rectangle 8" descr="state 0 highlight">
            <a:extLst>
              <a:ext uri="{FF2B5EF4-FFF2-40B4-BE49-F238E27FC236}">
                <a16:creationId xmlns:a16="http://schemas.microsoft.com/office/drawing/2014/main" id="{A49EFBB6-9543-FD4E-A7CB-C5CCFBFC6398}"/>
              </a:ext>
            </a:extLst>
          </p:cNvPr>
          <p:cNvSpPr/>
          <p:nvPr/>
        </p:nvSpPr>
        <p:spPr>
          <a:xfrm>
            <a:off x="1730828" y="4613276"/>
            <a:ext cx="310241" cy="97408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607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/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10" name="Rounded Rectangle 9" descr="copy over">
            <a:extLst>
              <a:ext uri="{FF2B5EF4-FFF2-40B4-BE49-F238E27FC236}">
                <a16:creationId xmlns:a16="http://schemas.microsoft.com/office/drawing/2014/main" id="{1B947D2A-D85B-B249-9204-BF69ADE8A8F7}"/>
              </a:ext>
            </a:extLst>
          </p:cNvPr>
          <p:cNvSpPr/>
          <p:nvPr/>
        </p:nvSpPr>
        <p:spPr>
          <a:xfrm rot="5400000">
            <a:off x="2222176" y="5433981"/>
            <a:ext cx="241943" cy="122464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 descr="copy over">
            <a:extLst>
              <a:ext uri="{FF2B5EF4-FFF2-40B4-BE49-F238E27FC236}">
                <a16:creationId xmlns:a16="http://schemas.microsoft.com/office/drawing/2014/main" id="{31DD0E20-0FE9-504F-980F-6D68E3C30F97}"/>
              </a:ext>
            </a:extLst>
          </p:cNvPr>
          <p:cNvSpPr/>
          <p:nvPr/>
        </p:nvSpPr>
        <p:spPr>
          <a:xfrm rot="5400000">
            <a:off x="2222176" y="5806032"/>
            <a:ext cx="241944" cy="122464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 descr="description of DFA behaviour">
            <a:extLst>
              <a:ext uri="{FF2B5EF4-FFF2-40B4-BE49-F238E27FC236}">
                <a16:creationId xmlns:a16="http://schemas.microsoft.com/office/drawing/2014/main" id="{6EF5B853-4182-754F-8860-36E6F9CECF16}"/>
              </a:ext>
            </a:extLst>
          </p:cNvPr>
          <p:cNvGrpSpPr/>
          <p:nvPr/>
        </p:nvGrpSpPr>
        <p:grpSpPr>
          <a:xfrm>
            <a:off x="6348691" y="4613276"/>
            <a:ext cx="4820051" cy="1805078"/>
            <a:chOff x="6348691" y="4613276"/>
            <a:chExt cx="4820051" cy="180507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4C3DA05-6750-7749-942C-DD767509F2ED}"/>
                </a:ext>
              </a:extLst>
            </p:cNvPr>
            <p:cNvSpPr txBox="1"/>
            <p:nvPr/>
          </p:nvSpPr>
          <p:spPr>
            <a:xfrm>
              <a:off x="6348691" y="4613276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=2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=“B”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pattern[1,1]=“B”.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“B”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B06A469-DC7C-214B-9AF8-1605FD3CEA9F}"/>
                </a:ext>
              </a:extLst>
            </p:cNvPr>
            <p:cNvSpPr txBox="1"/>
            <p:nvPr/>
          </p:nvSpPr>
          <p:spPr>
            <a:xfrm>
              <a:off x="6348691" y="5587357"/>
              <a:ext cx="4820051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=2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pattern[1,1]=“B”.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  <p:sp>
        <p:nvSpPr>
          <p:cNvPr id="16" name="Rounded Rectangle 15" descr="state 0">
            <a:extLst>
              <a:ext uri="{FF2B5EF4-FFF2-40B4-BE49-F238E27FC236}">
                <a16:creationId xmlns:a16="http://schemas.microsoft.com/office/drawing/2014/main" id="{8958FB55-7967-D94C-A720-5983DFAADF41}"/>
              </a:ext>
            </a:extLst>
          </p:cNvPr>
          <p:cNvSpPr/>
          <p:nvPr/>
        </p:nvSpPr>
        <p:spPr>
          <a:xfrm>
            <a:off x="1730828" y="4613276"/>
            <a:ext cx="310241" cy="97408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784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201588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6" name="Group 5" descr="description of DFA behaviour">
            <a:extLst>
              <a:ext uri="{FF2B5EF4-FFF2-40B4-BE49-F238E27FC236}">
                <a16:creationId xmlns:a16="http://schemas.microsoft.com/office/drawing/2014/main" id="{D09ECAC2-6B7D-C844-995F-6B33EA88CC74}"/>
              </a:ext>
            </a:extLst>
          </p:cNvPr>
          <p:cNvGrpSpPr/>
          <p:nvPr/>
        </p:nvGrpSpPr>
        <p:grpSpPr>
          <a:xfrm>
            <a:off x="6348691" y="4613276"/>
            <a:ext cx="5113966" cy="1805078"/>
            <a:chOff x="6348691" y="4613276"/>
            <a:chExt cx="5113966" cy="18050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ED75C4-4133-E442-A31C-846C7BF16B42}"/>
                </a:ext>
              </a:extLst>
            </p:cNvPr>
            <p:cNvSpPr txBox="1"/>
            <p:nvPr/>
          </p:nvSpPr>
          <p:spPr>
            <a:xfrm>
              <a:off x="6348691" y="4613276"/>
              <a:ext cx="5113966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=3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=“A”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pattern[1,2]=“BA”.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“A”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04CD04-9DB8-1C4D-BC48-E4ABD338723F}"/>
                </a:ext>
              </a:extLst>
            </p:cNvPr>
            <p:cNvSpPr txBox="1"/>
            <p:nvPr/>
          </p:nvSpPr>
          <p:spPr>
            <a:xfrm>
              <a:off x="6348691" y="5587357"/>
              <a:ext cx="5113966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=3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pattern[1,2]=“BA”.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  <p:sp>
        <p:nvSpPr>
          <p:cNvPr id="9" name="Rounded Rectangle 8" descr="state 1">
            <a:extLst>
              <a:ext uri="{FF2B5EF4-FFF2-40B4-BE49-F238E27FC236}">
                <a16:creationId xmlns:a16="http://schemas.microsoft.com/office/drawing/2014/main" id="{41F522DA-24B9-454A-9D2C-A16579A86FDC}"/>
              </a:ext>
            </a:extLst>
          </p:cNvPr>
          <p:cNvSpPr/>
          <p:nvPr/>
        </p:nvSpPr>
        <p:spPr>
          <a:xfrm>
            <a:off x="2188026" y="4619894"/>
            <a:ext cx="326573" cy="96746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263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/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10" name="Rounded Rectangle 9" descr="copy over">
            <a:extLst>
              <a:ext uri="{FF2B5EF4-FFF2-40B4-BE49-F238E27FC236}">
                <a16:creationId xmlns:a16="http://schemas.microsoft.com/office/drawing/2014/main" id="{219A7730-D3A2-CB43-AE79-4A1F0E4EFA70}"/>
              </a:ext>
            </a:extLst>
          </p:cNvPr>
          <p:cNvSpPr/>
          <p:nvPr/>
        </p:nvSpPr>
        <p:spPr>
          <a:xfrm rot="5400000">
            <a:off x="2712033" y="5091331"/>
            <a:ext cx="241943" cy="122464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 descr="copy over">
            <a:extLst>
              <a:ext uri="{FF2B5EF4-FFF2-40B4-BE49-F238E27FC236}">
                <a16:creationId xmlns:a16="http://schemas.microsoft.com/office/drawing/2014/main" id="{E71B3981-4317-5747-8A7B-01CF72A0F740}"/>
              </a:ext>
            </a:extLst>
          </p:cNvPr>
          <p:cNvSpPr/>
          <p:nvPr/>
        </p:nvSpPr>
        <p:spPr>
          <a:xfrm rot="5400000">
            <a:off x="2712033" y="5822614"/>
            <a:ext cx="241944" cy="122464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 descr="description of DFA behaviour">
            <a:extLst>
              <a:ext uri="{FF2B5EF4-FFF2-40B4-BE49-F238E27FC236}">
                <a16:creationId xmlns:a16="http://schemas.microsoft.com/office/drawing/2014/main" id="{870F708B-80FC-4C42-AD14-ED9B9655C815}"/>
              </a:ext>
            </a:extLst>
          </p:cNvPr>
          <p:cNvGrpSpPr/>
          <p:nvPr/>
        </p:nvGrpSpPr>
        <p:grpSpPr>
          <a:xfrm>
            <a:off x="6348691" y="4613276"/>
            <a:ext cx="5113966" cy="1805078"/>
            <a:chOff x="6348691" y="4613276"/>
            <a:chExt cx="5113966" cy="180507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D68F5D2-8E89-844E-BDA1-3CFB4B66739A}"/>
                </a:ext>
              </a:extLst>
            </p:cNvPr>
            <p:cNvSpPr txBox="1"/>
            <p:nvPr/>
          </p:nvSpPr>
          <p:spPr>
            <a:xfrm>
              <a:off x="6348691" y="4613276"/>
              <a:ext cx="5113966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=3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=“A”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pattern[1,2]=“BA”.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“A”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389366D-581E-5E4E-9AFF-D6728E219D8D}"/>
                </a:ext>
              </a:extLst>
            </p:cNvPr>
            <p:cNvSpPr txBox="1"/>
            <p:nvPr/>
          </p:nvSpPr>
          <p:spPr>
            <a:xfrm>
              <a:off x="6348691" y="5587357"/>
              <a:ext cx="5113966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=3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pattern[1,2]=“BA”.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  <p:sp>
        <p:nvSpPr>
          <p:cNvPr id="16" name="Rounded Rectangle 15" descr="state 1">
            <a:extLst>
              <a:ext uri="{FF2B5EF4-FFF2-40B4-BE49-F238E27FC236}">
                <a16:creationId xmlns:a16="http://schemas.microsoft.com/office/drawing/2014/main" id="{BB7D0CBF-CF3E-4347-B0CA-A580B92F62DA}"/>
              </a:ext>
            </a:extLst>
          </p:cNvPr>
          <p:cNvSpPr/>
          <p:nvPr/>
        </p:nvSpPr>
        <p:spPr>
          <a:xfrm>
            <a:off x="2188026" y="4619894"/>
            <a:ext cx="326573" cy="96746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255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079341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6" name="Group 5" descr="description of DFA behaviour">
            <a:extLst>
              <a:ext uri="{FF2B5EF4-FFF2-40B4-BE49-F238E27FC236}">
                <a16:creationId xmlns:a16="http://schemas.microsoft.com/office/drawing/2014/main" id="{D09ECAC2-6B7D-C844-995F-6B33EA88CC74}"/>
              </a:ext>
            </a:extLst>
          </p:cNvPr>
          <p:cNvGrpSpPr/>
          <p:nvPr/>
        </p:nvGrpSpPr>
        <p:grpSpPr>
          <a:xfrm>
            <a:off x="6348691" y="4613276"/>
            <a:ext cx="5228266" cy="1805078"/>
            <a:chOff x="6348691" y="4613276"/>
            <a:chExt cx="5228266" cy="18050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ED75C4-4133-E442-A31C-846C7BF16B42}"/>
                </a:ext>
              </a:extLst>
            </p:cNvPr>
            <p:cNvSpPr txBox="1"/>
            <p:nvPr/>
          </p:nvSpPr>
          <p:spPr>
            <a:xfrm>
              <a:off x="6348691" y="4613276"/>
              <a:ext cx="5228266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=4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=“B”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pattern[1,3]=“BAB”.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“B”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04CD04-9DB8-1C4D-BC48-E4ABD338723F}"/>
                </a:ext>
              </a:extLst>
            </p:cNvPr>
            <p:cNvSpPr txBox="1"/>
            <p:nvPr/>
          </p:nvSpPr>
          <p:spPr>
            <a:xfrm>
              <a:off x="6348691" y="5587357"/>
              <a:ext cx="5228266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=4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pattern[1,3]=“BAB”.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  <p:sp>
        <p:nvSpPr>
          <p:cNvPr id="9" name="Rounded Rectangle 8" descr="state 2">
            <a:extLst>
              <a:ext uri="{FF2B5EF4-FFF2-40B4-BE49-F238E27FC236}">
                <a16:creationId xmlns:a16="http://schemas.microsoft.com/office/drawing/2014/main" id="{BBC51AA2-1D6F-4A42-904A-FC9F88035C2B}"/>
              </a:ext>
            </a:extLst>
          </p:cNvPr>
          <p:cNvSpPr/>
          <p:nvPr/>
        </p:nvSpPr>
        <p:spPr>
          <a:xfrm>
            <a:off x="2694213" y="4613276"/>
            <a:ext cx="293915" cy="97408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947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/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12" name="Rounded Rectangle 11" descr="copy over">
            <a:extLst>
              <a:ext uri="{FF2B5EF4-FFF2-40B4-BE49-F238E27FC236}">
                <a16:creationId xmlns:a16="http://schemas.microsoft.com/office/drawing/2014/main" id="{8EFD19BE-F015-184D-A0AC-924EFD906360}"/>
              </a:ext>
            </a:extLst>
          </p:cNvPr>
          <p:cNvSpPr/>
          <p:nvPr/>
        </p:nvSpPr>
        <p:spPr>
          <a:xfrm rot="5400000">
            <a:off x="3201890" y="5441884"/>
            <a:ext cx="241943" cy="122464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 descr="copy over">
            <a:extLst>
              <a:ext uri="{FF2B5EF4-FFF2-40B4-BE49-F238E27FC236}">
                <a16:creationId xmlns:a16="http://schemas.microsoft.com/office/drawing/2014/main" id="{763E95C9-FAF1-5C44-9A43-F72E0630F8DB}"/>
              </a:ext>
            </a:extLst>
          </p:cNvPr>
          <p:cNvSpPr/>
          <p:nvPr/>
        </p:nvSpPr>
        <p:spPr>
          <a:xfrm rot="5400000">
            <a:off x="3201890" y="5827290"/>
            <a:ext cx="241944" cy="122464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 descr="state 2">
            <a:extLst>
              <a:ext uri="{FF2B5EF4-FFF2-40B4-BE49-F238E27FC236}">
                <a16:creationId xmlns:a16="http://schemas.microsoft.com/office/drawing/2014/main" id="{56499C04-0D84-2148-AA32-1AD9900E5E6D}"/>
              </a:ext>
            </a:extLst>
          </p:cNvPr>
          <p:cNvSpPr/>
          <p:nvPr/>
        </p:nvSpPr>
        <p:spPr>
          <a:xfrm>
            <a:off x="2694213" y="4613276"/>
            <a:ext cx="293915" cy="97408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 descr="description of DFA behaviour">
            <a:extLst>
              <a:ext uri="{FF2B5EF4-FFF2-40B4-BE49-F238E27FC236}">
                <a16:creationId xmlns:a16="http://schemas.microsoft.com/office/drawing/2014/main" id="{26CFD8C1-44B5-F241-9213-3C08CD9A3C01}"/>
              </a:ext>
            </a:extLst>
          </p:cNvPr>
          <p:cNvGrpSpPr/>
          <p:nvPr/>
        </p:nvGrpSpPr>
        <p:grpSpPr>
          <a:xfrm>
            <a:off x="6348691" y="4613276"/>
            <a:ext cx="5228266" cy="1805078"/>
            <a:chOff x="6348691" y="4613276"/>
            <a:chExt cx="5228266" cy="180507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F47DB5-810B-B548-A063-94B3F41C974D}"/>
                </a:ext>
              </a:extLst>
            </p:cNvPr>
            <p:cNvSpPr txBox="1"/>
            <p:nvPr/>
          </p:nvSpPr>
          <p:spPr>
            <a:xfrm>
              <a:off x="6348691" y="4613276"/>
              <a:ext cx="5228266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=4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=“B”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pattern[1,3]=“BAB”.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“B”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306ED12-8E50-F34F-B108-4D4E7B289D62}"/>
                </a:ext>
              </a:extLst>
            </p:cNvPr>
            <p:cNvSpPr txBox="1"/>
            <p:nvPr/>
          </p:nvSpPr>
          <p:spPr>
            <a:xfrm>
              <a:off x="6348691" y="5587357"/>
              <a:ext cx="5228266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=4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=“C”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pattern[1,3]=“BAB”.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“C”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04844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046924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grpSp>
        <p:nvGrpSpPr>
          <p:cNvPr id="6" name="Group 5" descr="description of DFA behaviour">
            <a:extLst>
              <a:ext uri="{FF2B5EF4-FFF2-40B4-BE49-F238E27FC236}">
                <a16:creationId xmlns:a16="http://schemas.microsoft.com/office/drawing/2014/main" id="{D09ECAC2-6B7D-C844-995F-6B33EA88CC74}"/>
              </a:ext>
            </a:extLst>
          </p:cNvPr>
          <p:cNvGrpSpPr/>
          <p:nvPr/>
        </p:nvGrpSpPr>
        <p:grpSpPr>
          <a:xfrm>
            <a:off x="6348690" y="4613276"/>
            <a:ext cx="5260923" cy="1805078"/>
            <a:chOff x="6348690" y="4613276"/>
            <a:chExt cx="5260923" cy="18050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ED75C4-4133-E442-A31C-846C7BF16B42}"/>
                </a:ext>
              </a:extLst>
            </p:cNvPr>
            <p:cNvSpPr txBox="1"/>
            <p:nvPr/>
          </p:nvSpPr>
          <p:spPr>
            <a:xfrm>
              <a:off x="6348690" y="4613276"/>
              <a:ext cx="5260923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=5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=“A”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pattern[1,4]=“BABA”.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“A”.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04CD04-9DB8-1C4D-BC48-E4ABD338723F}"/>
                </a:ext>
              </a:extLst>
            </p:cNvPr>
            <p:cNvSpPr txBox="1"/>
            <p:nvPr/>
          </p:nvSpPr>
          <p:spPr>
            <a:xfrm>
              <a:off x="6348691" y="5587357"/>
              <a:ext cx="5260922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=5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=“B”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pattern[1,4]=“BABA”.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“B”</a:t>
              </a:r>
            </a:p>
          </p:txBody>
        </p:sp>
      </p:grpSp>
      <p:sp>
        <p:nvSpPr>
          <p:cNvPr id="9" name="Rounded Rectangle 8" descr="state 3">
            <a:extLst>
              <a:ext uri="{FF2B5EF4-FFF2-40B4-BE49-F238E27FC236}">
                <a16:creationId xmlns:a16="http://schemas.microsoft.com/office/drawing/2014/main" id="{C02B8ACC-1E7D-EC47-AC87-17AD34B52344}"/>
              </a:ext>
            </a:extLst>
          </p:cNvPr>
          <p:cNvSpPr/>
          <p:nvPr/>
        </p:nvSpPr>
        <p:spPr>
          <a:xfrm>
            <a:off x="3158899" y="4613276"/>
            <a:ext cx="293915" cy="97408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677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011371"/>
              </p:ext>
            </p:extLst>
          </p:nvPr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  <p:sp>
        <p:nvSpPr>
          <p:cNvPr id="14" name="Rounded Rectangle 13" descr="copy over">
            <a:extLst>
              <a:ext uri="{FF2B5EF4-FFF2-40B4-BE49-F238E27FC236}">
                <a16:creationId xmlns:a16="http://schemas.microsoft.com/office/drawing/2014/main" id="{FFB74C00-9EDA-A64D-95F1-4D2A13FAA0DA}"/>
              </a:ext>
            </a:extLst>
          </p:cNvPr>
          <p:cNvSpPr/>
          <p:nvPr/>
        </p:nvSpPr>
        <p:spPr>
          <a:xfrm rot="5400000">
            <a:off x="3675418" y="5085477"/>
            <a:ext cx="241943" cy="122464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 descr="copy over">
            <a:extLst>
              <a:ext uri="{FF2B5EF4-FFF2-40B4-BE49-F238E27FC236}">
                <a16:creationId xmlns:a16="http://schemas.microsoft.com/office/drawing/2014/main" id="{08ACED43-1800-724A-959B-886D6641A002}"/>
              </a:ext>
            </a:extLst>
          </p:cNvPr>
          <p:cNvSpPr/>
          <p:nvPr/>
        </p:nvSpPr>
        <p:spPr>
          <a:xfrm rot="5400000">
            <a:off x="3675418" y="5438225"/>
            <a:ext cx="241944" cy="122464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 descr="state 3">
            <a:extLst>
              <a:ext uri="{FF2B5EF4-FFF2-40B4-BE49-F238E27FC236}">
                <a16:creationId xmlns:a16="http://schemas.microsoft.com/office/drawing/2014/main" id="{BDCFDCA6-FBA1-1847-8D2A-BF277DD263A6}"/>
              </a:ext>
            </a:extLst>
          </p:cNvPr>
          <p:cNvSpPr/>
          <p:nvPr/>
        </p:nvSpPr>
        <p:spPr>
          <a:xfrm>
            <a:off x="3158899" y="4613276"/>
            <a:ext cx="293915" cy="97408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 descr="description of DFA behaviour">
            <a:extLst>
              <a:ext uri="{FF2B5EF4-FFF2-40B4-BE49-F238E27FC236}">
                <a16:creationId xmlns:a16="http://schemas.microsoft.com/office/drawing/2014/main" id="{5486D130-6DEA-9842-9B3E-C682C5FD0E84}"/>
              </a:ext>
            </a:extLst>
          </p:cNvPr>
          <p:cNvGrpSpPr/>
          <p:nvPr/>
        </p:nvGrpSpPr>
        <p:grpSpPr>
          <a:xfrm>
            <a:off x="6348690" y="4613276"/>
            <a:ext cx="5260923" cy="1805078"/>
            <a:chOff x="6348690" y="4613276"/>
            <a:chExt cx="5260923" cy="180507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ACC78B-33D2-3544-9E32-A118E8C038BA}"/>
                </a:ext>
              </a:extLst>
            </p:cNvPr>
            <p:cNvSpPr txBox="1"/>
            <p:nvPr/>
          </p:nvSpPr>
          <p:spPr>
            <a:xfrm>
              <a:off x="6348690" y="4613276"/>
              <a:ext cx="5260923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=5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=“A”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pattern[1,4]=“BABA”.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“A”.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BCCC0E-F340-5F49-9679-1016D944C2DF}"/>
                </a:ext>
              </a:extLst>
            </p:cNvPr>
            <p:cNvSpPr txBox="1"/>
            <p:nvPr/>
          </p:nvSpPr>
          <p:spPr>
            <a:xfrm>
              <a:off x="6348691" y="5587357"/>
              <a:ext cx="5260922" cy="830997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=5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=“B” (mismatch)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Simulate DFA from j=0 with input: pattern[1,4]=“BABA”. </a:t>
              </a:r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state X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. Then read </a:t>
              </a:r>
              <a:r>
                <a:rPr lang="en-US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c=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“B”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30710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994293" cy="5016842"/>
          </a:xfrm>
        </p:spPr>
        <p:txBody>
          <a:bodyPr/>
          <a:lstStyle/>
          <a:p>
            <a:r>
              <a:rPr lang="en-US" dirty="0"/>
              <a:t>How to build the DFA from pattern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err="1">
                <a:solidFill>
                  <a:schemeClr val="accent5"/>
                </a:solidFill>
              </a:rPr>
              <a:t>Init.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Create one state per character in the pattern, plus a final state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Match transitions. </a:t>
            </a: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c==pattern[j]</a:t>
            </a:r>
            <a:r>
              <a:rPr lang="en-US" dirty="0"/>
              <a:t>, go to state </a:t>
            </a:r>
            <a:r>
              <a:rPr lang="en-US" i="1" dirty="0"/>
              <a:t>j+1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</a:rPr>
              <a:t>Mismatch transitions.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in state </a:t>
            </a:r>
            <a:r>
              <a:rPr lang="en-US" i="1" dirty="0"/>
              <a:t>j</a:t>
            </a:r>
            <a:r>
              <a:rPr lang="en-US" dirty="0"/>
              <a:t> and next char </a:t>
            </a:r>
            <a:r>
              <a:rPr lang="en-US" dirty="0">
                <a:latin typeface="Courier" pitchFamily="2" charset="0"/>
              </a:rPr>
              <a:t>c != pattern[j]</a:t>
            </a:r>
            <a:r>
              <a:rPr lang="en-US" dirty="0"/>
              <a:t>, then the last </a:t>
            </a:r>
            <a:r>
              <a:rPr lang="en-US" i="1" dirty="0"/>
              <a:t>j-1</a:t>
            </a:r>
            <a:r>
              <a:rPr lang="en-US" dirty="0"/>
              <a:t> characters in input are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, followed by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fill in </a:t>
            </a:r>
            <a:r>
              <a:rPr lang="en-US" dirty="0">
                <a:latin typeface="Courier" pitchFamily="2" charset="0"/>
              </a:rPr>
              <a:t>DFA[c][j]</a:t>
            </a:r>
            <a:r>
              <a:rPr lang="en-US" dirty="0"/>
              <a:t>, simulate having </a:t>
            </a:r>
            <a:r>
              <a:rPr lang="en-US" dirty="0">
                <a:latin typeface="Courier" pitchFamily="2" charset="0"/>
              </a:rPr>
              <a:t>pattern[1..j-1]</a:t>
            </a:r>
            <a:r>
              <a:rPr lang="en-US" dirty="0"/>
              <a:t> in input to the DFA, then take transition </a:t>
            </a:r>
            <a:r>
              <a:rPr lang="en-US" dirty="0">
                <a:latin typeface="Courier" pitchFamily="2" charset="0"/>
              </a:rPr>
              <a:t>c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18C158-A17E-8B43-8335-C16082D848E3}"/>
              </a:ext>
            </a:extLst>
          </p:cNvPr>
          <p:cNvGraphicFramePr>
            <a:graphicFrameLocks noGrp="1"/>
          </p:cNvGraphicFramePr>
          <p:nvPr/>
        </p:nvGraphicFramePr>
        <p:xfrm>
          <a:off x="1166829" y="4776094"/>
          <a:ext cx="38130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26">
                  <a:extLst>
                    <a:ext uri="{9D8B030D-6E8A-4147-A177-3AD203B41FA5}">
                      <a16:colId xmlns:a16="http://schemas.microsoft.com/office/drawing/2014/main" val="774007394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115310823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830739832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34979760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62734743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248361089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3985827178"/>
                    </a:ext>
                  </a:extLst>
                </a:gridCol>
                <a:gridCol w="476626">
                  <a:extLst>
                    <a:ext uri="{9D8B030D-6E8A-4147-A177-3AD203B41FA5}">
                      <a16:colId xmlns:a16="http://schemas.microsoft.com/office/drawing/2014/main" val="14384946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041347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7255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1543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85213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92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8082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7493-1C0F-4C42-AF20-E6BE301B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B14A-076F-3A4A-A240-C8B3F8133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 for DFA construction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A8C07-CB7E-E847-97DC-6F21DECC1F27}"/>
              </a:ext>
            </a:extLst>
          </p:cNvPr>
          <p:cNvSpPr txBox="1"/>
          <p:nvPr/>
        </p:nvSpPr>
        <p:spPr>
          <a:xfrm>
            <a:off x="850653" y="2227082"/>
            <a:ext cx="7343677" cy="3539430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def KMP(pattern):</a:t>
            </a:r>
          </a:p>
          <a:p>
            <a:r>
              <a:rPr lang="en-GB" sz="1600" dirty="0">
                <a:latin typeface="Courier" pitchFamily="2" charset="0"/>
              </a:rPr>
              <a:t>    M = </a:t>
            </a:r>
            <a:r>
              <a:rPr lang="en-GB" sz="1600" dirty="0" err="1">
                <a:latin typeface="Courier" pitchFamily="2" charset="0"/>
              </a:rPr>
              <a:t>len</a:t>
            </a:r>
            <a:r>
              <a:rPr lang="en-GB" sz="1600" dirty="0">
                <a:latin typeface="Courier" pitchFamily="2" charset="0"/>
              </a:rPr>
              <a:t>(pattern)</a:t>
            </a:r>
          </a:p>
          <a:p>
            <a:r>
              <a:rPr lang="en-GB" sz="1600" dirty="0">
                <a:latin typeface="Courier" pitchFamily="2" charset="0"/>
              </a:rPr>
              <a:t>    DFA = [[-1 for j in range [0,M]] for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 in range [0,R]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DFA[pattern[0]][0] = 1</a:t>
            </a:r>
          </a:p>
          <a:p>
            <a:r>
              <a:rPr lang="en-GB" sz="1600" dirty="0">
                <a:latin typeface="Courier" pitchFamily="2" charset="0"/>
              </a:rPr>
              <a:t>    X = 0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for j in range(1, M):</a:t>
            </a:r>
          </a:p>
          <a:p>
            <a:r>
              <a:rPr lang="en-GB" sz="1600" dirty="0">
                <a:latin typeface="Courier" pitchFamily="2" charset="0"/>
              </a:rPr>
              <a:t>        for c in range(0, R):</a:t>
            </a:r>
          </a:p>
          <a:p>
            <a:r>
              <a:rPr lang="en-GB" sz="1600" dirty="0">
                <a:latin typeface="Courier" pitchFamily="2" charset="0"/>
              </a:rPr>
              <a:t>            DFA[c][j] = DFA[c][X]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</a:p>
          <a:p>
            <a:r>
              <a:rPr lang="en-GB" sz="1600" dirty="0">
                <a:latin typeface="Courier" pitchFamily="2" charset="0"/>
              </a:rPr>
              <a:t>        DFA[pattern[j]][j] = j+1 </a:t>
            </a:r>
          </a:p>
          <a:p>
            <a:r>
              <a:rPr lang="en-GB" sz="1600" dirty="0">
                <a:latin typeface="Courier" pitchFamily="2" charset="0"/>
              </a:rPr>
              <a:t>       </a:t>
            </a:r>
          </a:p>
          <a:p>
            <a:r>
              <a:rPr lang="en-GB" sz="1600" dirty="0">
                <a:latin typeface="Courier" pitchFamily="2" charset="0"/>
              </a:rPr>
              <a:t>        X = DFA[pattern[j]][X]</a:t>
            </a:r>
          </a:p>
        </p:txBody>
      </p:sp>
      <p:grpSp>
        <p:nvGrpSpPr>
          <p:cNvPr id="22" name="Group 21" descr="highlight code fragments">
            <a:extLst>
              <a:ext uri="{FF2B5EF4-FFF2-40B4-BE49-F238E27FC236}">
                <a16:creationId xmlns:a16="http://schemas.microsoft.com/office/drawing/2014/main" id="{AB534028-D135-5C48-B97C-D3EF0A7973A9}"/>
              </a:ext>
            </a:extLst>
          </p:cNvPr>
          <p:cNvGrpSpPr/>
          <p:nvPr/>
        </p:nvGrpSpPr>
        <p:grpSpPr>
          <a:xfrm>
            <a:off x="4951390" y="4319332"/>
            <a:ext cx="6780093" cy="1450811"/>
            <a:chOff x="4951390" y="4319332"/>
            <a:chExt cx="6780093" cy="145081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9288A65-C6B0-F04D-9923-F020D23BB6B9}"/>
                </a:ext>
              </a:extLst>
            </p:cNvPr>
            <p:cNvGrpSpPr/>
            <p:nvPr/>
          </p:nvGrpSpPr>
          <p:grpSpPr>
            <a:xfrm>
              <a:off x="5296243" y="4399973"/>
              <a:ext cx="6435240" cy="1370170"/>
              <a:chOff x="1837798" y="3368379"/>
              <a:chExt cx="6435240" cy="1370170"/>
            </a:xfrm>
          </p:grpSpPr>
          <p:grpSp>
            <p:nvGrpSpPr>
              <p:cNvPr id="5" name="Group 4" descr="highlighting fragment of code with pattern found and not found">
                <a:extLst>
                  <a:ext uri="{FF2B5EF4-FFF2-40B4-BE49-F238E27FC236}">
                    <a16:creationId xmlns:a16="http://schemas.microsoft.com/office/drawing/2014/main" id="{1A413D87-F32A-8D4E-A8B1-0D2399F76116}"/>
                  </a:ext>
                </a:extLst>
              </p:cNvPr>
              <p:cNvGrpSpPr/>
              <p:nvPr/>
            </p:nvGrpSpPr>
            <p:grpSpPr>
              <a:xfrm>
                <a:off x="1837798" y="3882261"/>
                <a:ext cx="6220210" cy="856288"/>
                <a:chOff x="1045107" y="3901171"/>
                <a:chExt cx="6220210" cy="856288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4598A80-FCDF-AF4C-8C70-4E39EFD863BB}"/>
                    </a:ext>
                  </a:extLst>
                </p:cNvPr>
                <p:cNvSpPr txBox="1"/>
                <p:nvPr/>
              </p:nvSpPr>
              <p:spPr>
                <a:xfrm>
                  <a:off x="2523529" y="4418905"/>
                  <a:ext cx="218361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Update restart state X</a:t>
                  </a:r>
                </a:p>
              </p:txBody>
            </p:sp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663FA98A-E423-B841-9CD6-F09E073744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45107" y="4608196"/>
                  <a:ext cx="1489822" cy="0"/>
                </a:xfrm>
                <a:prstGeom prst="straightConnector1">
                  <a:avLst/>
                </a:prstGeom>
                <a:ln w="28575">
                  <a:solidFill>
                    <a:schemeClr val="accent5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827B5E-1BF7-254F-B8CC-500B6EB9BAC6}"/>
                    </a:ext>
                  </a:extLst>
                </p:cNvPr>
                <p:cNvSpPr txBox="1"/>
                <p:nvPr/>
              </p:nvSpPr>
              <p:spPr>
                <a:xfrm>
                  <a:off x="2521711" y="3901171"/>
                  <a:ext cx="474360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Set </a:t>
                  </a:r>
                  <a:r>
                    <a:rPr lang="en-US" sz="1600" dirty="0">
                      <a:solidFill>
                        <a:schemeClr val="accent5"/>
                      </a:solidFill>
                      <a:latin typeface="Courier" pitchFamily="2" charset="0"/>
                      <a:cs typeface="Arial" panose="020B0604020202020204" pitchFamily="34" charset="0"/>
                    </a:rPr>
                    <a:t>DFA[pattern[j]][j]</a:t>
                  </a:r>
                  <a:r>
                    <a:rPr lang="en-US" sz="1600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to j+1 for match case</a:t>
                  </a:r>
                </a:p>
              </p:txBody>
            </p: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60C36079-BA1D-C54F-BCC2-EFFF69F0FD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66342" y="4079470"/>
                  <a:ext cx="1468587" cy="0"/>
                </a:xfrm>
                <a:prstGeom prst="straightConnector1">
                  <a:avLst/>
                </a:prstGeom>
                <a:ln w="28575">
                  <a:solidFill>
                    <a:schemeClr val="accent5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F66087-D9D0-8C40-94B2-CBA17DB55053}"/>
                  </a:ext>
                </a:extLst>
              </p:cNvPr>
              <p:cNvSpPr txBox="1"/>
              <p:nvPr/>
            </p:nvSpPr>
            <p:spPr>
              <a:xfrm>
                <a:off x="3314072" y="3368379"/>
                <a:ext cx="49589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Copy </a:t>
                </a:r>
                <a:r>
                  <a:rPr lang="en-US" sz="1600" dirty="0">
                    <a:solidFill>
                      <a:schemeClr val="accent5"/>
                    </a:solidFill>
                    <a:latin typeface="Courier" pitchFamily="2" charset="0"/>
                    <a:cs typeface="Arial" panose="020B0604020202020204" pitchFamily="34" charset="0"/>
                  </a:rPr>
                  <a:t>DFA[][X] </a:t>
                </a:r>
                <a:r>
                  <a:rPr lang="en-US" sz="16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 </a:t>
                </a:r>
                <a:r>
                  <a:rPr lang="en-US" sz="1600" dirty="0">
                    <a:solidFill>
                      <a:schemeClr val="accent5"/>
                    </a:solidFill>
                    <a:latin typeface="Courier" pitchFamily="2" charset="0"/>
                    <a:cs typeface="Arial" panose="020B0604020202020204" pitchFamily="34" charset="0"/>
                  </a:rPr>
                  <a:t>DFA[][j]</a:t>
                </a:r>
                <a:r>
                  <a:rPr lang="en-US" sz="16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for mismatch cases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1820FE54-7504-3647-A702-5EA7F09251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59032" y="3520258"/>
                <a:ext cx="1468588" cy="0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Left Brace 17">
              <a:extLst>
                <a:ext uri="{FF2B5EF4-FFF2-40B4-BE49-F238E27FC236}">
                  <a16:creationId xmlns:a16="http://schemas.microsoft.com/office/drawing/2014/main" id="{D5145BDB-4138-AA47-88C5-9F0B439D4D6F}"/>
                </a:ext>
              </a:extLst>
            </p:cNvPr>
            <p:cNvSpPr/>
            <p:nvPr/>
          </p:nvSpPr>
          <p:spPr>
            <a:xfrm rot="10800000">
              <a:off x="4951390" y="4319332"/>
              <a:ext cx="314319" cy="465039"/>
            </a:xfrm>
            <a:prstGeom prst="lef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46223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1FA38-5C9D-E74C-92AE-D12B046E7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Knuth-Morris-Pratt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767E6-DAD5-B74C-897C-24E49A78F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Cost</a:t>
            </a:r>
            <a:r>
              <a:rPr lang="en-US" dirty="0"/>
              <a:t>. Given a pattern of length M, a text of length N, and an alphabet of radix R:</a:t>
            </a:r>
          </a:p>
          <a:p>
            <a:pPr lvl="1"/>
            <a:r>
              <a:rPr lang="en-US" dirty="0"/>
              <a:t>Construction of </a:t>
            </a:r>
            <a:r>
              <a:rPr lang="en-US" dirty="0">
                <a:latin typeface="Courier" pitchFamily="2" charset="0"/>
              </a:rPr>
              <a:t>DFA[][]</a:t>
            </a:r>
            <a:r>
              <a:rPr lang="en-US" dirty="0"/>
              <a:t> ~ </a:t>
            </a:r>
            <a:r>
              <a:rPr lang="en-US" i="1" dirty="0"/>
              <a:t>R*M</a:t>
            </a:r>
            <a:r>
              <a:rPr lang="en-US" dirty="0"/>
              <a:t> (both in time and space)</a:t>
            </a:r>
          </a:p>
          <a:p>
            <a:pPr lvl="1"/>
            <a:r>
              <a:rPr lang="en-US" dirty="0"/>
              <a:t>Substring search ~ </a:t>
            </a:r>
            <a:r>
              <a:rPr lang="en-US" i="1" dirty="0"/>
              <a:t>M+N</a:t>
            </a:r>
          </a:p>
        </p:txBody>
      </p:sp>
    </p:spTree>
    <p:extLst>
      <p:ext uri="{BB962C8B-B14F-4D97-AF65-F5344CB8AC3E}">
        <p14:creationId xmlns:p14="http://schemas.microsoft.com/office/powerpoint/2010/main" val="15487084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4B2B-42A6-AB40-9BC4-CB4BFBF6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AC683-7CB8-FA4F-BFE8-E3A25C25F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  <a:p>
            <a:r>
              <a:rPr lang="en-US" dirty="0"/>
              <a:t>Knuth-Morris-Pratt algorithm</a:t>
            </a:r>
          </a:p>
          <a:p>
            <a:r>
              <a:rPr lang="en-US" dirty="0">
                <a:highlight>
                  <a:srgbClr val="C0C0C0"/>
                </a:highlight>
              </a:rPr>
              <a:t>Boyer-Moore algorithm</a:t>
            </a:r>
          </a:p>
        </p:txBody>
      </p:sp>
    </p:spTree>
    <p:extLst>
      <p:ext uri="{BB962C8B-B14F-4D97-AF65-F5344CB8AC3E}">
        <p14:creationId xmlns:p14="http://schemas.microsoft.com/office/powerpoint/2010/main" val="6902722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</a:p>
          <a:p>
            <a:pPr lvl="1"/>
            <a:r>
              <a:rPr lang="en-US" dirty="0"/>
              <a:t>Scan pattern </a:t>
            </a:r>
            <a:r>
              <a:rPr lang="en-US" b="1" dirty="0">
                <a:solidFill>
                  <a:schemeClr val="accent5"/>
                </a:solidFill>
              </a:rPr>
              <a:t>from right to left</a:t>
            </a:r>
          </a:p>
          <a:p>
            <a:pPr lvl="1"/>
            <a:r>
              <a:rPr lang="en-US" dirty="0"/>
              <a:t>Upon character mismatch, skip as many as M text characters</a:t>
            </a:r>
          </a:p>
          <a:p>
            <a:pPr lvl="1"/>
            <a:endParaRPr lang="en-US" dirty="0"/>
          </a:p>
          <a:p>
            <a:r>
              <a:rPr lang="en-US" dirty="0"/>
              <a:t>Example</a:t>
            </a:r>
          </a:p>
        </p:txBody>
      </p:sp>
      <p:grpSp>
        <p:nvGrpSpPr>
          <p:cNvPr id="5" name="Group 4" descr="highlighting pattern and text">
            <a:extLst>
              <a:ext uri="{FF2B5EF4-FFF2-40B4-BE49-F238E27FC236}">
                <a16:creationId xmlns:a16="http://schemas.microsoft.com/office/drawing/2014/main" id="{8D8A8DF1-39F4-C44E-8092-A0FFF8171F0E}"/>
              </a:ext>
            </a:extLst>
          </p:cNvPr>
          <p:cNvGrpSpPr/>
          <p:nvPr/>
        </p:nvGrpSpPr>
        <p:grpSpPr>
          <a:xfrm>
            <a:off x="347082" y="4356147"/>
            <a:ext cx="1807789" cy="740172"/>
            <a:chOff x="468204" y="2566303"/>
            <a:chExt cx="1807789" cy="740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CAC7E5-09F9-4249-BD80-9A8D30C634E9}"/>
                </a:ext>
              </a:extLst>
            </p:cNvPr>
            <p:cNvSpPr txBox="1"/>
            <p:nvPr/>
          </p:nvSpPr>
          <p:spPr>
            <a:xfrm>
              <a:off x="468204" y="2566303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A82017-B78B-3C4A-BF0E-88A574F0C196}"/>
                </a:ext>
              </a:extLst>
            </p:cNvPr>
            <p:cNvSpPr txBox="1"/>
            <p:nvPr/>
          </p:nvSpPr>
          <p:spPr>
            <a:xfrm>
              <a:off x="785445" y="293714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F542EA-E021-3D47-9EE7-2D30E5E386F5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371015" y="2743200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279ECB-3004-AA4A-AF33-6D68D078D3B8}"/>
                </a:ext>
              </a:extLst>
            </p:cNvPr>
            <p:cNvCxnSpPr/>
            <p:nvPr/>
          </p:nvCxnSpPr>
          <p:spPr>
            <a:xfrm flipV="1">
              <a:off x="1356511" y="312180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Table 25" descr="example of pattern and text">
            <a:extLst>
              <a:ext uri="{FF2B5EF4-FFF2-40B4-BE49-F238E27FC236}">
                <a16:creationId xmlns:a16="http://schemas.microsoft.com/office/drawing/2014/main" id="{5E6E1482-225E-654B-88B0-045A00ABB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418185"/>
              </p:ext>
            </p:extLst>
          </p:nvPr>
        </p:nvGraphicFramePr>
        <p:xfrm>
          <a:off x="2123697" y="3968738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31" name="Group 30" descr="index i scanning text left to right">
            <a:extLst>
              <a:ext uri="{FF2B5EF4-FFF2-40B4-BE49-F238E27FC236}">
                <a16:creationId xmlns:a16="http://schemas.microsoft.com/office/drawing/2014/main" id="{19F2E5D9-1348-4440-B0C9-2663F4C9F0CB}"/>
              </a:ext>
            </a:extLst>
          </p:cNvPr>
          <p:cNvGrpSpPr/>
          <p:nvPr/>
        </p:nvGrpSpPr>
        <p:grpSpPr>
          <a:xfrm>
            <a:off x="2174786" y="5419834"/>
            <a:ext cx="235962" cy="579733"/>
            <a:chOff x="2174786" y="5419834"/>
            <a:chExt cx="235962" cy="57973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8E2380-16AF-4A47-AFCD-47A99B001FD6}"/>
                </a:ext>
              </a:extLst>
            </p:cNvPr>
            <p:cNvSpPr txBox="1"/>
            <p:nvPr/>
          </p:nvSpPr>
          <p:spPr>
            <a:xfrm>
              <a:off x="2174786" y="5630235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8FE51A6-338E-3344-9175-20384C8862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276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 descr="index j scanning input right to left">
            <a:extLst>
              <a:ext uri="{FF2B5EF4-FFF2-40B4-BE49-F238E27FC236}">
                <a16:creationId xmlns:a16="http://schemas.microsoft.com/office/drawing/2014/main" id="{EE5FE0B4-A544-BC4B-96D4-66507FCC31FE}"/>
              </a:ext>
            </a:extLst>
          </p:cNvPr>
          <p:cNvGrpSpPr/>
          <p:nvPr/>
        </p:nvGrpSpPr>
        <p:grpSpPr>
          <a:xfrm>
            <a:off x="3843816" y="3342837"/>
            <a:ext cx="235962" cy="675476"/>
            <a:chOff x="3843816" y="3342837"/>
            <a:chExt cx="235962" cy="67547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5C4365-83A2-A742-9AF2-A3368A3EEE75}"/>
                </a:ext>
              </a:extLst>
            </p:cNvPr>
            <p:cNvSpPr txBox="1"/>
            <p:nvPr/>
          </p:nvSpPr>
          <p:spPr>
            <a:xfrm>
              <a:off x="3843816" y="3342837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F038CC-CC13-0A4F-9BD2-CC310AD76C16}"/>
                </a:ext>
              </a:extLst>
            </p:cNvPr>
            <p:cNvCxnSpPr>
              <a:cxnSpLocks/>
            </p:cNvCxnSpPr>
            <p:nvPr/>
          </p:nvCxnSpPr>
          <p:spPr>
            <a:xfrm>
              <a:off x="3961797" y="3712169"/>
              <a:ext cx="0" cy="30614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75179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</a:p>
          <a:p>
            <a:pPr lvl="1"/>
            <a:r>
              <a:rPr lang="en-US" dirty="0"/>
              <a:t>Scan pattern </a:t>
            </a:r>
            <a:r>
              <a:rPr lang="en-US" b="1" dirty="0">
                <a:solidFill>
                  <a:schemeClr val="accent5"/>
                </a:solidFill>
              </a:rPr>
              <a:t>from right to left</a:t>
            </a:r>
          </a:p>
          <a:p>
            <a:pPr lvl="1"/>
            <a:r>
              <a:rPr lang="en-US" dirty="0"/>
              <a:t>Upon character mismatch, skip as many as M text characters</a:t>
            </a:r>
          </a:p>
          <a:p>
            <a:pPr lvl="1"/>
            <a:endParaRPr lang="en-US" dirty="0"/>
          </a:p>
          <a:p>
            <a:r>
              <a:rPr lang="en-US" dirty="0"/>
              <a:t>Example</a:t>
            </a:r>
          </a:p>
        </p:txBody>
      </p:sp>
      <p:grpSp>
        <p:nvGrpSpPr>
          <p:cNvPr id="5" name="Group 4" descr="highlighting pattern and text">
            <a:extLst>
              <a:ext uri="{FF2B5EF4-FFF2-40B4-BE49-F238E27FC236}">
                <a16:creationId xmlns:a16="http://schemas.microsoft.com/office/drawing/2014/main" id="{8D8A8DF1-39F4-C44E-8092-A0FFF8171F0E}"/>
              </a:ext>
            </a:extLst>
          </p:cNvPr>
          <p:cNvGrpSpPr/>
          <p:nvPr/>
        </p:nvGrpSpPr>
        <p:grpSpPr>
          <a:xfrm>
            <a:off x="347082" y="4356147"/>
            <a:ext cx="1807789" cy="740172"/>
            <a:chOff x="468204" y="2566303"/>
            <a:chExt cx="1807789" cy="740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CAC7E5-09F9-4249-BD80-9A8D30C634E9}"/>
                </a:ext>
              </a:extLst>
            </p:cNvPr>
            <p:cNvSpPr txBox="1"/>
            <p:nvPr/>
          </p:nvSpPr>
          <p:spPr>
            <a:xfrm>
              <a:off x="468204" y="2566303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A82017-B78B-3C4A-BF0E-88A574F0C196}"/>
                </a:ext>
              </a:extLst>
            </p:cNvPr>
            <p:cNvSpPr txBox="1"/>
            <p:nvPr/>
          </p:nvSpPr>
          <p:spPr>
            <a:xfrm>
              <a:off x="785445" y="293714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F542EA-E021-3D47-9EE7-2D30E5E386F5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371015" y="2743200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279ECB-3004-AA4A-AF33-6D68D078D3B8}"/>
                </a:ext>
              </a:extLst>
            </p:cNvPr>
            <p:cNvCxnSpPr/>
            <p:nvPr/>
          </p:nvCxnSpPr>
          <p:spPr>
            <a:xfrm flipV="1">
              <a:off x="1356511" y="312180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Table 25" descr="example of pattern and text">
            <a:extLst>
              <a:ext uri="{FF2B5EF4-FFF2-40B4-BE49-F238E27FC236}">
                <a16:creationId xmlns:a16="http://schemas.microsoft.com/office/drawing/2014/main" id="{5E6E1482-225E-654B-88B0-045A00ABB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372076"/>
              </p:ext>
            </p:extLst>
          </p:nvPr>
        </p:nvGraphicFramePr>
        <p:xfrm>
          <a:off x="2123697" y="3968738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31" name="Group 30" descr="index i scanning text left to right">
            <a:extLst>
              <a:ext uri="{FF2B5EF4-FFF2-40B4-BE49-F238E27FC236}">
                <a16:creationId xmlns:a16="http://schemas.microsoft.com/office/drawing/2014/main" id="{19F2E5D9-1348-4440-B0C9-2663F4C9F0CB}"/>
              </a:ext>
            </a:extLst>
          </p:cNvPr>
          <p:cNvGrpSpPr/>
          <p:nvPr/>
        </p:nvGrpSpPr>
        <p:grpSpPr>
          <a:xfrm>
            <a:off x="2174786" y="5419834"/>
            <a:ext cx="235962" cy="579733"/>
            <a:chOff x="2174786" y="5419834"/>
            <a:chExt cx="235962" cy="57973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8E2380-16AF-4A47-AFCD-47A99B001FD6}"/>
                </a:ext>
              </a:extLst>
            </p:cNvPr>
            <p:cNvSpPr txBox="1"/>
            <p:nvPr/>
          </p:nvSpPr>
          <p:spPr>
            <a:xfrm>
              <a:off x="2174786" y="5630235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8FE51A6-338E-3344-9175-20384C8862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276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 descr="index j scanning input right to left">
            <a:extLst>
              <a:ext uri="{FF2B5EF4-FFF2-40B4-BE49-F238E27FC236}">
                <a16:creationId xmlns:a16="http://schemas.microsoft.com/office/drawing/2014/main" id="{EE5FE0B4-A544-BC4B-96D4-66507FCC31FE}"/>
              </a:ext>
            </a:extLst>
          </p:cNvPr>
          <p:cNvGrpSpPr/>
          <p:nvPr/>
        </p:nvGrpSpPr>
        <p:grpSpPr>
          <a:xfrm>
            <a:off x="3843816" y="3342837"/>
            <a:ext cx="235962" cy="675476"/>
            <a:chOff x="3843816" y="3342837"/>
            <a:chExt cx="235962" cy="67547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5C4365-83A2-A742-9AF2-A3368A3EEE75}"/>
                </a:ext>
              </a:extLst>
            </p:cNvPr>
            <p:cNvSpPr txBox="1"/>
            <p:nvPr/>
          </p:nvSpPr>
          <p:spPr>
            <a:xfrm>
              <a:off x="3843816" y="3342837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F038CC-CC13-0A4F-9BD2-CC310AD76C16}"/>
                </a:ext>
              </a:extLst>
            </p:cNvPr>
            <p:cNvCxnSpPr>
              <a:cxnSpLocks/>
            </p:cNvCxnSpPr>
            <p:nvPr/>
          </p:nvCxnSpPr>
          <p:spPr>
            <a:xfrm>
              <a:off x="3961797" y="3712169"/>
              <a:ext cx="0" cy="30614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 descr="i+j=5">
            <a:extLst>
              <a:ext uri="{FF2B5EF4-FFF2-40B4-BE49-F238E27FC236}">
                <a16:creationId xmlns:a16="http://schemas.microsoft.com/office/drawing/2014/main" id="{256A472E-9049-564F-90B5-4FF6E2C11EB0}"/>
              </a:ext>
            </a:extLst>
          </p:cNvPr>
          <p:cNvGrpSpPr/>
          <p:nvPr/>
        </p:nvGrpSpPr>
        <p:grpSpPr>
          <a:xfrm>
            <a:off x="3778500" y="5419834"/>
            <a:ext cx="421910" cy="579733"/>
            <a:chOff x="3778500" y="5419834"/>
            <a:chExt cx="421910" cy="57973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F6EA4B-8078-3446-B3D6-67C1053275E5}"/>
                </a:ext>
              </a:extLst>
            </p:cNvPr>
            <p:cNvSpPr txBox="1"/>
            <p:nvPr/>
          </p:nvSpPr>
          <p:spPr>
            <a:xfrm>
              <a:off x="3778500" y="563023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AD4438F-4BE9-2547-B509-B856321C4E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179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5E76B5D-B8A0-124D-AAC2-C58A16631A79}"/>
              </a:ext>
            </a:extLst>
          </p:cNvPr>
          <p:cNvGraphicFramePr>
            <a:graphicFrameLocks noGrp="1"/>
          </p:cNvGraphicFramePr>
          <p:nvPr/>
        </p:nvGraphicFramePr>
        <p:xfrm>
          <a:off x="10780133" y="3712169"/>
          <a:ext cx="897000" cy="2390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00">
                  <a:extLst>
                    <a:ext uri="{9D8B030D-6E8A-4147-A177-3AD203B41FA5}">
                      <a16:colId xmlns:a16="http://schemas.microsoft.com/office/drawing/2014/main" val="2254664865"/>
                    </a:ext>
                  </a:extLst>
                </a:gridCol>
                <a:gridCol w="448500">
                  <a:extLst>
                    <a:ext uri="{9D8B030D-6E8A-4147-A177-3AD203B41FA5}">
                      <a16:colId xmlns:a16="http://schemas.microsoft.com/office/drawing/2014/main" val="1230043088"/>
                    </a:ext>
                  </a:extLst>
                </a:gridCol>
              </a:tblGrid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45976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1442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17712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9453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509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90016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</a:p>
          <a:p>
            <a:pPr lvl="1"/>
            <a:r>
              <a:rPr lang="en-US" dirty="0"/>
              <a:t>Scan pattern </a:t>
            </a:r>
            <a:r>
              <a:rPr lang="en-US" b="1" dirty="0">
                <a:solidFill>
                  <a:schemeClr val="accent5"/>
                </a:solidFill>
              </a:rPr>
              <a:t>from right to left</a:t>
            </a:r>
          </a:p>
          <a:p>
            <a:pPr lvl="1"/>
            <a:r>
              <a:rPr lang="en-US" dirty="0"/>
              <a:t>Upon character mismatch, skip as many as M text characters</a:t>
            </a:r>
          </a:p>
          <a:p>
            <a:pPr lvl="1"/>
            <a:endParaRPr lang="en-US" dirty="0"/>
          </a:p>
          <a:p>
            <a:r>
              <a:rPr lang="en-US" dirty="0"/>
              <a:t>Example</a:t>
            </a:r>
          </a:p>
        </p:txBody>
      </p:sp>
      <p:grpSp>
        <p:nvGrpSpPr>
          <p:cNvPr id="5" name="Group 4" descr="highlighting pattern and text">
            <a:extLst>
              <a:ext uri="{FF2B5EF4-FFF2-40B4-BE49-F238E27FC236}">
                <a16:creationId xmlns:a16="http://schemas.microsoft.com/office/drawing/2014/main" id="{8D8A8DF1-39F4-C44E-8092-A0FFF8171F0E}"/>
              </a:ext>
            </a:extLst>
          </p:cNvPr>
          <p:cNvGrpSpPr/>
          <p:nvPr/>
        </p:nvGrpSpPr>
        <p:grpSpPr>
          <a:xfrm>
            <a:off x="347082" y="4356147"/>
            <a:ext cx="1807789" cy="740172"/>
            <a:chOff x="468204" y="2566303"/>
            <a:chExt cx="1807789" cy="740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CAC7E5-09F9-4249-BD80-9A8D30C634E9}"/>
                </a:ext>
              </a:extLst>
            </p:cNvPr>
            <p:cNvSpPr txBox="1"/>
            <p:nvPr/>
          </p:nvSpPr>
          <p:spPr>
            <a:xfrm>
              <a:off x="468204" y="2566303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A82017-B78B-3C4A-BF0E-88A574F0C196}"/>
                </a:ext>
              </a:extLst>
            </p:cNvPr>
            <p:cNvSpPr txBox="1"/>
            <p:nvPr/>
          </p:nvSpPr>
          <p:spPr>
            <a:xfrm>
              <a:off x="785445" y="293714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F542EA-E021-3D47-9EE7-2D30E5E386F5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371015" y="2743200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279ECB-3004-AA4A-AF33-6D68D078D3B8}"/>
                </a:ext>
              </a:extLst>
            </p:cNvPr>
            <p:cNvCxnSpPr/>
            <p:nvPr/>
          </p:nvCxnSpPr>
          <p:spPr>
            <a:xfrm flipV="1">
              <a:off x="1356511" y="312180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Table 25" descr="example of pattern and text">
            <a:extLst>
              <a:ext uri="{FF2B5EF4-FFF2-40B4-BE49-F238E27FC236}">
                <a16:creationId xmlns:a16="http://schemas.microsoft.com/office/drawing/2014/main" id="{5E6E1482-225E-654B-88B0-045A00ABB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587076"/>
              </p:ext>
            </p:extLst>
          </p:nvPr>
        </p:nvGraphicFramePr>
        <p:xfrm>
          <a:off x="2123697" y="3968738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31" name="Group 30" descr="index i scanning text left to right">
            <a:extLst>
              <a:ext uri="{FF2B5EF4-FFF2-40B4-BE49-F238E27FC236}">
                <a16:creationId xmlns:a16="http://schemas.microsoft.com/office/drawing/2014/main" id="{19F2E5D9-1348-4440-B0C9-2663F4C9F0CB}"/>
              </a:ext>
            </a:extLst>
          </p:cNvPr>
          <p:cNvGrpSpPr/>
          <p:nvPr/>
        </p:nvGrpSpPr>
        <p:grpSpPr>
          <a:xfrm>
            <a:off x="3843816" y="5402471"/>
            <a:ext cx="235962" cy="579733"/>
            <a:chOff x="2174786" y="5419834"/>
            <a:chExt cx="235962" cy="57973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8E2380-16AF-4A47-AFCD-47A99B001FD6}"/>
                </a:ext>
              </a:extLst>
            </p:cNvPr>
            <p:cNvSpPr txBox="1"/>
            <p:nvPr/>
          </p:nvSpPr>
          <p:spPr>
            <a:xfrm>
              <a:off x="2174786" y="5630235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8FE51A6-338E-3344-9175-20384C8862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276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 descr="index j scanning input right to left">
            <a:extLst>
              <a:ext uri="{FF2B5EF4-FFF2-40B4-BE49-F238E27FC236}">
                <a16:creationId xmlns:a16="http://schemas.microsoft.com/office/drawing/2014/main" id="{EE5FE0B4-A544-BC4B-96D4-66507FCC31FE}"/>
              </a:ext>
            </a:extLst>
          </p:cNvPr>
          <p:cNvGrpSpPr/>
          <p:nvPr/>
        </p:nvGrpSpPr>
        <p:grpSpPr>
          <a:xfrm>
            <a:off x="3843816" y="3342837"/>
            <a:ext cx="235962" cy="675476"/>
            <a:chOff x="3843816" y="3342837"/>
            <a:chExt cx="235962" cy="67547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5C4365-83A2-A742-9AF2-A3368A3EEE75}"/>
                </a:ext>
              </a:extLst>
            </p:cNvPr>
            <p:cNvSpPr txBox="1"/>
            <p:nvPr/>
          </p:nvSpPr>
          <p:spPr>
            <a:xfrm>
              <a:off x="3843816" y="3342837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F038CC-CC13-0A4F-9BD2-CC310AD76C16}"/>
                </a:ext>
              </a:extLst>
            </p:cNvPr>
            <p:cNvCxnSpPr>
              <a:cxnSpLocks/>
            </p:cNvCxnSpPr>
            <p:nvPr/>
          </p:nvCxnSpPr>
          <p:spPr>
            <a:xfrm>
              <a:off x="3961797" y="3712169"/>
              <a:ext cx="0" cy="30614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5E76B5D-B8A0-124D-AAC2-C58A16631A79}"/>
              </a:ext>
            </a:extLst>
          </p:cNvPr>
          <p:cNvGraphicFramePr>
            <a:graphicFrameLocks noGrp="1"/>
          </p:cNvGraphicFramePr>
          <p:nvPr/>
        </p:nvGraphicFramePr>
        <p:xfrm>
          <a:off x="10780133" y="3712169"/>
          <a:ext cx="897000" cy="2390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00">
                  <a:extLst>
                    <a:ext uri="{9D8B030D-6E8A-4147-A177-3AD203B41FA5}">
                      <a16:colId xmlns:a16="http://schemas.microsoft.com/office/drawing/2014/main" val="2254664865"/>
                    </a:ext>
                  </a:extLst>
                </a:gridCol>
                <a:gridCol w="448500">
                  <a:extLst>
                    <a:ext uri="{9D8B030D-6E8A-4147-A177-3AD203B41FA5}">
                      <a16:colId xmlns:a16="http://schemas.microsoft.com/office/drawing/2014/main" val="1230043088"/>
                    </a:ext>
                  </a:extLst>
                </a:gridCol>
              </a:tblGrid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45976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1442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17712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9453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509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45017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</a:p>
          <a:p>
            <a:pPr lvl="1"/>
            <a:r>
              <a:rPr lang="en-US" dirty="0"/>
              <a:t>Scan pattern </a:t>
            </a:r>
            <a:r>
              <a:rPr lang="en-US" b="1" dirty="0">
                <a:solidFill>
                  <a:schemeClr val="accent5"/>
                </a:solidFill>
              </a:rPr>
              <a:t>from right to left</a:t>
            </a:r>
          </a:p>
          <a:p>
            <a:pPr lvl="1"/>
            <a:r>
              <a:rPr lang="en-US" dirty="0"/>
              <a:t>Upon character mismatch, skip as many as M text characters</a:t>
            </a:r>
          </a:p>
          <a:p>
            <a:pPr lvl="1"/>
            <a:endParaRPr lang="en-US" dirty="0"/>
          </a:p>
          <a:p>
            <a:r>
              <a:rPr lang="en-US" dirty="0"/>
              <a:t>Example</a:t>
            </a:r>
          </a:p>
        </p:txBody>
      </p:sp>
      <p:grpSp>
        <p:nvGrpSpPr>
          <p:cNvPr id="5" name="Group 4" descr="highlighting pattern and text">
            <a:extLst>
              <a:ext uri="{FF2B5EF4-FFF2-40B4-BE49-F238E27FC236}">
                <a16:creationId xmlns:a16="http://schemas.microsoft.com/office/drawing/2014/main" id="{8D8A8DF1-39F4-C44E-8092-A0FFF8171F0E}"/>
              </a:ext>
            </a:extLst>
          </p:cNvPr>
          <p:cNvGrpSpPr/>
          <p:nvPr/>
        </p:nvGrpSpPr>
        <p:grpSpPr>
          <a:xfrm>
            <a:off x="347082" y="4356147"/>
            <a:ext cx="1807789" cy="740172"/>
            <a:chOff x="468204" y="2566303"/>
            <a:chExt cx="1807789" cy="740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CAC7E5-09F9-4249-BD80-9A8D30C634E9}"/>
                </a:ext>
              </a:extLst>
            </p:cNvPr>
            <p:cNvSpPr txBox="1"/>
            <p:nvPr/>
          </p:nvSpPr>
          <p:spPr>
            <a:xfrm>
              <a:off x="468204" y="2566303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A82017-B78B-3C4A-BF0E-88A574F0C196}"/>
                </a:ext>
              </a:extLst>
            </p:cNvPr>
            <p:cNvSpPr txBox="1"/>
            <p:nvPr/>
          </p:nvSpPr>
          <p:spPr>
            <a:xfrm>
              <a:off x="785445" y="293714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F542EA-E021-3D47-9EE7-2D30E5E386F5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371015" y="2743200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279ECB-3004-AA4A-AF33-6D68D078D3B8}"/>
                </a:ext>
              </a:extLst>
            </p:cNvPr>
            <p:cNvCxnSpPr/>
            <p:nvPr/>
          </p:nvCxnSpPr>
          <p:spPr>
            <a:xfrm flipV="1">
              <a:off x="1356511" y="312180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Table 25" descr="example of pattern and text">
            <a:extLst>
              <a:ext uri="{FF2B5EF4-FFF2-40B4-BE49-F238E27FC236}">
                <a16:creationId xmlns:a16="http://schemas.microsoft.com/office/drawing/2014/main" id="{5E6E1482-225E-654B-88B0-045A00ABB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116759"/>
              </p:ext>
            </p:extLst>
          </p:nvPr>
        </p:nvGraphicFramePr>
        <p:xfrm>
          <a:off x="2123697" y="3968738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31" name="Group 30" descr="index i scanning text left to right">
            <a:extLst>
              <a:ext uri="{FF2B5EF4-FFF2-40B4-BE49-F238E27FC236}">
                <a16:creationId xmlns:a16="http://schemas.microsoft.com/office/drawing/2014/main" id="{19F2E5D9-1348-4440-B0C9-2663F4C9F0CB}"/>
              </a:ext>
            </a:extLst>
          </p:cNvPr>
          <p:cNvGrpSpPr/>
          <p:nvPr/>
        </p:nvGrpSpPr>
        <p:grpSpPr>
          <a:xfrm>
            <a:off x="3843816" y="5402471"/>
            <a:ext cx="235962" cy="579733"/>
            <a:chOff x="2174786" y="5419834"/>
            <a:chExt cx="235962" cy="57973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8E2380-16AF-4A47-AFCD-47A99B001FD6}"/>
                </a:ext>
              </a:extLst>
            </p:cNvPr>
            <p:cNvSpPr txBox="1"/>
            <p:nvPr/>
          </p:nvSpPr>
          <p:spPr>
            <a:xfrm>
              <a:off x="2174786" y="5630235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8FE51A6-338E-3344-9175-20384C8862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276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 descr="index j scanning input right to left">
            <a:extLst>
              <a:ext uri="{FF2B5EF4-FFF2-40B4-BE49-F238E27FC236}">
                <a16:creationId xmlns:a16="http://schemas.microsoft.com/office/drawing/2014/main" id="{EE5FE0B4-A544-BC4B-96D4-66507FCC31FE}"/>
              </a:ext>
            </a:extLst>
          </p:cNvPr>
          <p:cNvGrpSpPr/>
          <p:nvPr/>
        </p:nvGrpSpPr>
        <p:grpSpPr>
          <a:xfrm>
            <a:off x="3843816" y="3342837"/>
            <a:ext cx="235962" cy="675476"/>
            <a:chOff x="3843816" y="3342837"/>
            <a:chExt cx="235962" cy="67547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5C4365-83A2-A742-9AF2-A3368A3EEE75}"/>
                </a:ext>
              </a:extLst>
            </p:cNvPr>
            <p:cNvSpPr txBox="1"/>
            <p:nvPr/>
          </p:nvSpPr>
          <p:spPr>
            <a:xfrm>
              <a:off x="3843816" y="3342837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F038CC-CC13-0A4F-9BD2-CC310AD76C16}"/>
                </a:ext>
              </a:extLst>
            </p:cNvPr>
            <p:cNvCxnSpPr>
              <a:cxnSpLocks/>
            </p:cNvCxnSpPr>
            <p:nvPr/>
          </p:nvCxnSpPr>
          <p:spPr>
            <a:xfrm>
              <a:off x="3961797" y="3712169"/>
              <a:ext cx="0" cy="30614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 descr="i+j=10">
            <a:extLst>
              <a:ext uri="{FF2B5EF4-FFF2-40B4-BE49-F238E27FC236}">
                <a16:creationId xmlns:a16="http://schemas.microsoft.com/office/drawing/2014/main" id="{B12180A1-4F9E-BD46-82F0-7D4D50684EBC}"/>
              </a:ext>
            </a:extLst>
          </p:cNvPr>
          <p:cNvGrpSpPr/>
          <p:nvPr/>
        </p:nvGrpSpPr>
        <p:grpSpPr>
          <a:xfrm>
            <a:off x="5445135" y="5402471"/>
            <a:ext cx="421910" cy="579733"/>
            <a:chOff x="3778500" y="5419834"/>
            <a:chExt cx="421910" cy="57973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35F040-937C-6D42-9F0A-342E9111B5C8}"/>
                </a:ext>
              </a:extLst>
            </p:cNvPr>
            <p:cNvSpPr txBox="1"/>
            <p:nvPr/>
          </p:nvSpPr>
          <p:spPr>
            <a:xfrm>
              <a:off x="3778500" y="563023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E0A7F5D-77E2-6F4A-BCAB-407A1998F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179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5E76B5D-B8A0-124D-AAC2-C58A1663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841375"/>
              </p:ext>
            </p:extLst>
          </p:nvPr>
        </p:nvGraphicFramePr>
        <p:xfrm>
          <a:off x="10780133" y="3712169"/>
          <a:ext cx="897000" cy="2390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00">
                  <a:extLst>
                    <a:ext uri="{9D8B030D-6E8A-4147-A177-3AD203B41FA5}">
                      <a16:colId xmlns:a16="http://schemas.microsoft.com/office/drawing/2014/main" val="2254664865"/>
                    </a:ext>
                  </a:extLst>
                </a:gridCol>
                <a:gridCol w="448500">
                  <a:extLst>
                    <a:ext uri="{9D8B030D-6E8A-4147-A177-3AD203B41FA5}">
                      <a16:colId xmlns:a16="http://schemas.microsoft.com/office/drawing/2014/main" val="1230043088"/>
                    </a:ext>
                  </a:extLst>
                </a:gridCol>
              </a:tblGrid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45976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1442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17712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9453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509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75598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</a:p>
          <a:p>
            <a:pPr lvl="1"/>
            <a:r>
              <a:rPr lang="en-US" dirty="0"/>
              <a:t>Scan pattern </a:t>
            </a:r>
            <a:r>
              <a:rPr lang="en-US" b="1" dirty="0">
                <a:solidFill>
                  <a:schemeClr val="accent5"/>
                </a:solidFill>
              </a:rPr>
              <a:t>from right to left</a:t>
            </a:r>
          </a:p>
          <a:p>
            <a:pPr lvl="1"/>
            <a:r>
              <a:rPr lang="en-US" dirty="0"/>
              <a:t>Upon character mismatch, skip as many as M text characters</a:t>
            </a:r>
          </a:p>
          <a:p>
            <a:pPr lvl="1"/>
            <a:endParaRPr lang="en-US" dirty="0"/>
          </a:p>
          <a:p>
            <a:r>
              <a:rPr lang="en-US" dirty="0"/>
              <a:t>Example</a:t>
            </a:r>
          </a:p>
        </p:txBody>
      </p:sp>
      <p:grpSp>
        <p:nvGrpSpPr>
          <p:cNvPr id="5" name="Group 4" descr="highlighting pattern and text">
            <a:extLst>
              <a:ext uri="{FF2B5EF4-FFF2-40B4-BE49-F238E27FC236}">
                <a16:creationId xmlns:a16="http://schemas.microsoft.com/office/drawing/2014/main" id="{8D8A8DF1-39F4-C44E-8092-A0FFF8171F0E}"/>
              </a:ext>
            </a:extLst>
          </p:cNvPr>
          <p:cNvGrpSpPr/>
          <p:nvPr/>
        </p:nvGrpSpPr>
        <p:grpSpPr>
          <a:xfrm>
            <a:off x="347082" y="4356147"/>
            <a:ext cx="1807789" cy="740172"/>
            <a:chOff x="468204" y="2566303"/>
            <a:chExt cx="1807789" cy="740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CAC7E5-09F9-4249-BD80-9A8D30C634E9}"/>
                </a:ext>
              </a:extLst>
            </p:cNvPr>
            <p:cNvSpPr txBox="1"/>
            <p:nvPr/>
          </p:nvSpPr>
          <p:spPr>
            <a:xfrm>
              <a:off x="468204" y="2566303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A82017-B78B-3C4A-BF0E-88A574F0C196}"/>
                </a:ext>
              </a:extLst>
            </p:cNvPr>
            <p:cNvSpPr txBox="1"/>
            <p:nvPr/>
          </p:nvSpPr>
          <p:spPr>
            <a:xfrm>
              <a:off x="785445" y="293714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F542EA-E021-3D47-9EE7-2D30E5E386F5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371015" y="2743200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279ECB-3004-AA4A-AF33-6D68D078D3B8}"/>
                </a:ext>
              </a:extLst>
            </p:cNvPr>
            <p:cNvCxnSpPr/>
            <p:nvPr/>
          </p:nvCxnSpPr>
          <p:spPr>
            <a:xfrm flipV="1">
              <a:off x="1356511" y="312180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Table 25" descr="example of pattern and text">
            <a:extLst>
              <a:ext uri="{FF2B5EF4-FFF2-40B4-BE49-F238E27FC236}">
                <a16:creationId xmlns:a16="http://schemas.microsoft.com/office/drawing/2014/main" id="{5E6E1482-225E-654B-88B0-045A00ABB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959078"/>
              </p:ext>
            </p:extLst>
          </p:nvPr>
        </p:nvGraphicFramePr>
        <p:xfrm>
          <a:off x="2123697" y="3968738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31" name="Group 30" descr="index i scanning text left to right">
            <a:extLst>
              <a:ext uri="{FF2B5EF4-FFF2-40B4-BE49-F238E27FC236}">
                <a16:creationId xmlns:a16="http://schemas.microsoft.com/office/drawing/2014/main" id="{19F2E5D9-1348-4440-B0C9-2663F4C9F0CB}"/>
              </a:ext>
            </a:extLst>
          </p:cNvPr>
          <p:cNvGrpSpPr/>
          <p:nvPr/>
        </p:nvGrpSpPr>
        <p:grpSpPr>
          <a:xfrm>
            <a:off x="3843816" y="5402471"/>
            <a:ext cx="235962" cy="579733"/>
            <a:chOff x="2174786" y="5419834"/>
            <a:chExt cx="235962" cy="57973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8E2380-16AF-4A47-AFCD-47A99B001FD6}"/>
                </a:ext>
              </a:extLst>
            </p:cNvPr>
            <p:cNvSpPr txBox="1"/>
            <p:nvPr/>
          </p:nvSpPr>
          <p:spPr>
            <a:xfrm>
              <a:off x="2174786" y="5630235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8FE51A6-338E-3344-9175-20384C8862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276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 descr="index j scanning input right to left">
            <a:extLst>
              <a:ext uri="{FF2B5EF4-FFF2-40B4-BE49-F238E27FC236}">
                <a16:creationId xmlns:a16="http://schemas.microsoft.com/office/drawing/2014/main" id="{EE5FE0B4-A544-BC4B-96D4-66507FCC31FE}"/>
              </a:ext>
            </a:extLst>
          </p:cNvPr>
          <p:cNvGrpSpPr/>
          <p:nvPr/>
        </p:nvGrpSpPr>
        <p:grpSpPr>
          <a:xfrm>
            <a:off x="3500907" y="3342837"/>
            <a:ext cx="235962" cy="675476"/>
            <a:chOff x="3843816" y="3342837"/>
            <a:chExt cx="235962" cy="67547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5C4365-83A2-A742-9AF2-A3368A3EEE75}"/>
                </a:ext>
              </a:extLst>
            </p:cNvPr>
            <p:cNvSpPr txBox="1"/>
            <p:nvPr/>
          </p:nvSpPr>
          <p:spPr>
            <a:xfrm>
              <a:off x="3843816" y="3342837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F038CC-CC13-0A4F-9BD2-CC310AD76C16}"/>
                </a:ext>
              </a:extLst>
            </p:cNvPr>
            <p:cNvCxnSpPr>
              <a:cxnSpLocks/>
            </p:cNvCxnSpPr>
            <p:nvPr/>
          </p:nvCxnSpPr>
          <p:spPr>
            <a:xfrm>
              <a:off x="3961797" y="3712169"/>
              <a:ext cx="0" cy="30614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 descr="i+j=9">
            <a:extLst>
              <a:ext uri="{FF2B5EF4-FFF2-40B4-BE49-F238E27FC236}">
                <a16:creationId xmlns:a16="http://schemas.microsoft.com/office/drawing/2014/main" id="{B12180A1-4F9E-BD46-82F0-7D4D50684EBC}"/>
              </a:ext>
            </a:extLst>
          </p:cNvPr>
          <p:cNvGrpSpPr/>
          <p:nvPr/>
        </p:nvGrpSpPr>
        <p:grpSpPr>
          <a:xfrm>
            <a:off x="5102232" y="5402471"/>
            <a:ext cx="421910" cy="579733"/>
            <a:chOff x="3778500" y="5419834"/>
            <a:chExt cx="421910" cy="57973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35F040-937C-6D42-9F0A-342E9111B5C8}"/>
                </a:ext>
              </a:extLst>
            </p:cNvPr>
            <p:cNvSpPr txBox="1"/>
            <p:nvPr/>
          </p:nvSpPr>
          <p:spPr>
            <a:xfrm>
              <a:off x="3778500" y="563023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E0A7F5D-77E2-6F4A-BCAB-407A1998F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179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5E76B5D-B8A0-124D-AAC2-C58A1663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375234"/>
              </p:ext>
            </p:extLst>
          </p:nvPr>
        </p:nvGraphicFramePr>
        <p:xfrm>
          <a:off x="10780133" y="3712169"/>
          <a:ext cx="897000" cy="2390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00">
                  <a:extLst>
                    <a:ext uri="{9D8B030D-6E8A-4147-A177-3AD203B41FA5}">
                      <a16:colId xmlns:a16="http://schemas.microsoft.com/office/drawing/2014/main" val="2254664865"/>
                    </a:ext>
                  </a:extLst>
                </a:gridCol>
                <a:gridCol w="448500">
                  <a:extLst>
                    <a:ext uri="{9D8B030D-6E8A-4147-A177-3AD203B41FA5}">
                      <a16:colId xmlns:a16="http://schemas.microsoft.com/office/drawing/2014/main" val="1230043088"/>
                    </a:ext>
                  </a:extLst>
                </a:gridCol>
              </a:tblGrid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45976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1442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17712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9453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509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86278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</a:p>
          <a:p>
            <a:pPr lvl="1"/>
            <a:r>
              <a:rPr lang="en-US" dirty="0"/>
              <a:t>Scan pattern </a:t>
            </a:r>
            <a:r>
              <a:rPr lang="en-US" b="1" dirty="0">
                <a:solidFill>
                  <a:schemeClr val="accent5"/>
                </a:solidFill>
              </a:rPr>
              <a:t>from right to left</a:t>
            </a:r>
          </a:p>
          <a:p>
            <a:pPr lvl="1"/>
            <a:r>
              <a:rPr lang="en-US" dirty="0"/>
              <a:t>Upon character mismatch, skip as many as M text characters</a:t>
            </a:r>
          </a:p>
          <a:p>
            <a:pPr lvl="1"/>
            <a:endParaRPr lang="en-US" dirty="0"/>
          </a:p>
          <a:p>
            <a:r>
              <a:rPr lang="en-US" dirty="0"/>
              <a:t>Example</a:t>
            </a:r>
          </a:p>
        </p:txBody>
      </p:sp>
      <p:grpSp>
        <p:nvGrpSpPr>
          <p:cNvPr id="5" name="Group 4" descr="highlighting pattern and text">
            <a:extLst>
              <a:ext uri="{FF2B5EF4-FFF2-40B4-BE49-F238E27FC236}">
                <a16:creationId xmlns:a16="http://schemas.microsoft.com/office/drawing/2014/main" id="{8D8A8DF1-39F4-C44E-8092-A0FFF8171F0E}"/>
              </a:ext>
            </a:extLst>
          </p:cNvPr>
          <p:cNvGrpSpPr/>
          <p:nvPr/>
        </p:nvGrpSpPr>
        <p:grpSpPr>
          <a:xfrm>
            <a:off x="347082" y="4356147"/>
            <a:ext cx="1807789" cy="740172"/>
            <a:chOff x="468204" y="2566303"/>
            <a:chExt cx="1807789" cy="740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CAC7E5-09F9-4249-BD80-9A8D30C634E9}"/>
                </a:ext>
              </a:extLst>
            </p:cNvPr>
            <p:cNvSpPr txBox="1"/>
            <p:nvPr/>
          </p:nvSpPr>
          <p:spPr>
            <a:xfrm>
              <a:off x="468204" y="2566303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A82017-B78B-3C4A-BF0E-88A574F0C196}"/>
                </a:ext>
              </a:extLst>
            </p:cNvPr>
            <p:cNvSpPr txBox="1"/>
            <p:nvPr/>
          </p:nvSpPr>
          <p:spPr>
            <a:xfrm>
              <a:off x="785445" y="293714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F542EA-E021-3D47-9EE7-2D30E5E386F5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371015" y="2743200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279ECB-3004-AA4A-AF33-6D68D078D3B8}"/>
                </a:ext>
              </a:extLst>
            </p:cNvPr>
            <p:cNvCxnSpPr/>
            <p:nvPr/>
          </p:nvCxnSpPr>
          <p:spPr>
            <a:xfrm flipV="1">
              <a:off x="1356511" y="312180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Table 25" descr="example of pattern and text">
            <a:extLst>
              <a:ext uri="{FF2B5EF4-FFF2-40B4-BE49-F238E27FC236}">
                <a16:creationId xmlns:a16="http://schemas.microsoft.com/office/drawing/2014/main" id="{5E6E1482-225E-654B-88B0-045A00ABB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142579"/>
              </p:ext>
            </p:extLst>
          </p:nvPr>
        </p:nvGraphicFramePr>
        <p:xfrm>
          <a:off x="2123697" y="3968738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31" name="Group 30" descr="index i scanning text left to right">
            <a:extLst>
              <a:ext uri="{FF2B5EF4-FFF2-40B4-BE49-F238E27FC236}">
                <a16:creationId xmlns:a16="http://schemas.microsoft.com/office/drawing/2014/main" id="{19F2E5D9-1348-4440-B0C9-2663F4C9F0CB}"/>
              </a:ext>
            </a:extLst>
          </p:cNvPr>
          <p:cNvGrpSpPr/>
          <p:nvPr/>
        </p:nvGrpSpPr>
        <p:grpSpPr>
          <a:xfrm>
            <a:off x="3843816" y="5402471"/>
            <a:ext cx="235962" cy="579733"/>
            <a:chOff x="2174786" y="5419834"/>
            <a:chExt cx="235962" cy="57973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8E2380-16AF-4A47-AFCD-47A99B001FD6}"/>
                </a:ext>
              </a:extLst>
            </p:cNvPr>
            <p:cNvSpPr txBox="1"/>
            <p:nvPr/>
          </p:nvSpPr>
          <p:spPr>
            <a:xfrm>
              <a:off x="2174786" y="5630235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8FE51A6-338E-3344-9175-20384C8862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276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 descr="index j scanning input right to left">
            <a:extLst>
              <a:ext uri="{FF2B5EF4-FFF2-40B4-BE49-F238E27FC236}">
                <a16:creationId xmlns:a16="http://schemas.microsoft.com/office/drawing/2014/main" id="{EE5FE0B4-A544-BC4B-96D4-66507FCC31FE}"/>
              </a:ext>
            </a:extLst>
          </p:cNvPr>
          <p:cNvGrpSpPr/>
          <p:nvPr/>
        </p:nvGrpSpPr>
        <p:grpSpPr>
          <a:xfrm>
            <a:off x="3174327" y="3342837"/>
            <a:ext cx="235962" cy="675476"/>
            <a:chOff x="3843816" y="3342837"/>
            <a:chExt cx="235962" cy="67547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5C4365-83A2-A742-9AF2-A3368A3EEE75}"/>
                </a:ext>
              </a:extLst>
            </p:cNvPr>
            <p:cNvSpPr txBox="1"/>
            <p:nvPr/>
          </p:nvSpPr>
          <p:spPr>
            <a:xfrm>
              <a:off x="3843816" y="3342837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F038CC-CC13-0A4F-9BD2-CC310AD76C16}"/>
                </a:ext>
              </a:extLst>
            </p:cNvPr>
            <p:cNvCxnSpPr>
              <a:cxnSpLocks/>
            </p:cNvCxnSpPr>
            <p:nvPr/>
          </p:nvCxnSpPr>
          <p:spPr>
            <a:xfrm>
              <a:off x="3961797" y="3712169"/>
              <a:ext cx="0" cy="30614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5E76B5D-B8A0-124D-AAC2-C58A1663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982651"/>
              </p:ext>
            </p:extLst>
          </p:nvPr>
        </p:nvGraphicFramePr>
        <p:xfrm>
          <a:off x="10780133" y="3712169"/>
          <a:ext cx="897000" cy="2390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00">
                  <a:extLst>
                    <a:ext uri="{9D8B030D-6E8A-4147-A177-3AD203B41FA5}">
                      <a16:colId xmlns:a16="http://schemas.microsoft.com/office/drawing/2014/main" val="2254664865"/>
                    </a:ext>
                  </a:extLst>
                </a:gridCol>
                <a:gridCol w="448500">
                  <a:extLst>
                    <a:ext uri="{9D8B030D-6E8A-4147-A177-3AD203B41FA5}">
                      <a16:colId xmlns:a16="http://schemas.microsoft.com/office/drawing/2014/main" val="1230043088"/>
                    </a:ext>
                  </a:extLst>
                </a:gridCol>
              </a:tblGrid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45976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1442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17712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9453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509379"/>
                  </a:ext>
                </a:extLst>
              </a:tr>
            </a:tbl>
          </a:graphicData>
        </a:graphic>
      </p:graphicFrame>
      <p:grpSp>
        <p:nvGrpSpPr>
          <p:cNvPr id="20" name="Group 19" descr="i+j=8">
            <a:extLst>
              <a:ext uri="{FF2B5EF4-FFF2-40B4-BE49-F238E27FC236}">
                <a16:creationId xmlns:a16="http://schemas.microsoft.com/office/drawing/2014/main" id="{B12180A1-4F9E-BD46-82F0-7D4D50684EBC}"/>
              </a:ext>
            </a:extLst>
          </p:cNvPr>
          <p:cNvGrpSpPr/>
          <p:nvPr/>
        </p:nvGrpSpPr>
        <p:grpSpPr>
          <a:xfrm>
            <a:off x="4775658" y="5402471"/>
            <a:ext cx="421910" cy="579733"/>
            <a:chOff x="3778500" y="5419834"/>
            <a:chExt cx="421910" cy="57973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35F040-937C-6D42-9F0A-342E9111B5C8}"/>
                </a:ext>
              </a:extLst>
            </p:cNvPr>
            <p:cNvSpPr txBox="1"/>
            <p:nvPr/>
          </p:nvSpPr>
          <p:spPr>
            <a:xfrm>
              <a:off x="3778500" y="563023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E0A7F5D-77E2-6F4A-BCAB-407A1998F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179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19635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</a:p>
          <a:p>
            <a:pPr lvl="1"/>
            <a:r>
              <a:rPr lang="en-US" dirty="0"/>
              <a:t>Scan pattern </a:t>
            </a:r>
            <a:r>
              <a:rPr lang="en-US" b="1" dirty="0">
                <a:solidFill>
                  <a:schemeClr val="accent5"/>
                </a:solidFill>
              </a:rPr>
              <a:t>from right to left</a:t>
            </a:r>
          </a:p>
          <a:p>
            <a:pPr lvl="1"/>
            <a:r>
              <a:rPr lang="en-US" dirty="0"/>
              <a:t>Upon character mismatch, skip as many as M text characters</a:t>
            </a:r>
          </a:p>
          <a:p>
            <a:pPr lvl="1"/>
            <a:endParaRPr lang="en-US" dirty="0"/>
          </a:p>
          <a:p>
            <a:r>
              <a:rPr lang="en-US" dirty="0"/>
              <a:t>Example</a:t>
            </a:r>
          </a:p>
        </p:txBody>
      </p:sp>
      <p:grpSp>
        <p:nvGrpSpPr>
          <p:cNvPr id="5" name="Group 4" descr="highlighting pattern and text">
            <a:extLst>
              <a:ext uri="{FF2B5EF4-FFF2-40B4-BE49-F238E27FC236}">
                <a16:creationId xmlns:a16="http://schemas.microsoft.com/office/drawing/2014/main" id="{8D8A8DF1-39F4-C44E-8092-A0FFF8171F0E}"/>
              </a:ext>
            </a:extLst>
          </p:cNvPr>
          <p:cNvGrpSpPr/>
          <p:nvPr/>
        </p:nvGrpSpPr>
        <p:grpSpPr>
          <a:xfrm>
            <a:off x="347082" y="4356147"/>
            <a:ext cx="1807789" cy="740172"/>
            <a:chOff x="468204" y="2566303"/>
            <a:chExt cx="1807789" cy="740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CAC7E5-09F9-4249-BD80-9A8D30C634E9}"/>
                </a:ext>
              </a:extLst>
            </p:cNvPr>
            <p:cNvSpPr txBox="1"/>
            <p:nvPr/>
          </p:nvSpPr>
          <p:spPr>
            <a:xfrm>
              <a:off x="468204" y="2566303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A82017-B78B-3C4A-BF0E-88A574F0C196}"/>
                </a:ext>
              </a:extLst>
            </p:cNvPr>
            <p:cNvSpPr txBox="1"/>
            <p:nvPr/>
          </p:nvSpPr>
          <p:spPr>
            <a:xfrm>
              <a:off x="785445" y="293714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F542EA-E021-3D47-9EE7-2D30E5E386F5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371015" y="2743200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279ECB-3004-AA4A-AF33-6D68D078D3B8}"/>
                </a:ext>
              </a:extLst>
            </p:cNvPr>
            <p:cNvCxnSpPr/>
            <p:nvPr/>
          </p:nvCxnSpPr>
          <p:spPr>
            <a:xfrm flipV="1">
              <a:off x="1356511" y="312180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Table 25" descr="example of pattern and text">
            <a:extLst>
              <a:ext uri="{FF2B5EF4-FFF2-40B4-BE49-F238E27FC236}">
                <a16:creationId xmlns:a16="http://schemas.microsoft.com/office/drawing/2014/main" id="{5E6E1482-225E-654B-88B0-045A00ABB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820497"/>
              </p:ext>
            </p:extLst>
          </p:nvPr>
        </p:nvGraphicFramePr>
        <p:xfrm>
          <a:off x="2123697" y="3968738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31" name="Group 30" descr="index i scanning text left to right">
            <a:extLst>
              <a:ext uri="{FF2B5EF4-FFF2-40B4-BE49-F238E27FC236}">
                <a16:creationId xmlns:a16="http://schemas.microsoft.com/office/drawing/2014/main" id="{19F2E5D9-1348-4440-B0C9-2663F4C9F0CB}"/>
              </a:ext>
            </a:extLst>
          </p:cNvPr>
          <p:cNvGrpSpPr/>
          <p:nvPr/>
        </p:nvGrpSpPr>
        <p:grpSpPr>
          <a:xfrm>
            <a:off x="3843816" y="5402471"/>
            <a:ext cx="235962" cy="579733"/>
            <a:chOff x="2174786" y="5419834"/>
            <a:chExt cx="235962" cy="57973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8E2380-16AF-4A47-AFCD-47A99B001FD6}"/>
                </a:ext>
              </a:extLst>
            </p:cNvPr>
            <p:cNvSpPr txBox="1"/>
            <p:nvPr/>
          </p:nvSpPr>
          <p:spPr>
            <a:xfrm>
              <a:off x="2174786" y="5630235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8FE51A6-338E-3344-9175-20384C8862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276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 descr="index j scanning input right to left">
            <a:extLst>
              <a:ext uri="{FF2B5EF4-FFF2-40B4-BE49-F238E27FC236}">
                <a16:creationId xmlns:a16="http://schemas.microsoft.com/office/drawing/2014/main" id="{EE5FE0B4-A544-BC4B-96D4-66507FCC31FE}"/>
              </a:ext>
            </a:extLst>
          </p:cNvPr>
          <p:cNvGrpSpPr/>
          <p:nvPr/>
        </p:nvGrpSpPr>
        <p:grpSpPr>
          <a:xfrm>
            <a:off x="2161946" y="3342837"/>
            <a:ext cx="235962" cy="675476"/>
            <a:chOff x="3843816" y="3342837"/>
            <a:chExt cx="235962" cy="67547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5C4365-83A2-A742-9AF2-A3368A3EEE75}"/>
                </a:ext>
              </a:extLst>
            </p:cNvPr>
            <p:cNvSpPr txBox="1"/>
            <p:nvPr/>
          </p:nvSpPr>
          <p:spPr>
            <a:xfrm>
              <a:off x="3843816" y="3342837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F038CC-CC13-0A4F-9BD2-CC310AD76C16}"/>
                </a:ext>
              </a:extLst>
            </p:cNvPr>
            <p:cNvCxnSpPr>
              <a:cxnSpLocks/>
            </p:cNvCxnSpPr>
            <p:nvPr/>
          </p:nvCxnSpPr>
          <p:spPr>
            <a:xfrm>
              <a:off x="3961797" y="3712169"/>
              <a:ext cx="0" cy="30614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5E76B5D-B8A0-124D-AAC2-C58A1663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023679"/>
              </p:ext>
            </p:extLst>
          </p:nvPr>
        </p:nvGraphicFramePr>
        <p:xfrm>
          <a:off x="10780133" y="3712169"/>
          <a:ext cx="897000" cy="2868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00">
                  <a:extLst>
                    <a:ext uri="{9D8B030D-6E8A-4147-A177-3AD203B41FA5}">
                      <a16:colId xmlns:a16="http://schemas.microsoft.com/office/drawing/2014/main" val="2254664865"/>
                    </a:ext>
                  </a:extLst>
                </a:gridCol>
                <a:gridCol w="448500">
                  <a:extLst>
                    <a:ext uri="{9D8B030D-6E8A-4147-A177-3AD203B41FA5}">
                      <a16:colId xmlns:a16="http://schemas.microsoft.com/office/drawing/2014/main" val="1230043088"/>
                    </a:ext>
                  </a:extLst>
                </a:gridCol>
              </a:tblGrid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45976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1442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17712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9453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509379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47620"/>
                  </a:ext>
                </a:extLst>
              </a:tr>
            </a:tbl>
          </a:graphicData>
        </a:graphic>
      </p:graphicFrame>
      <p:grpSp>
        <p:nvGrpSpPr>
          <p:cNvPr id="20" name="Group 19" descr="i+j=5">
            <a:extLst>
              <a:ext uri="{FF2B5EF4-FFF2-40B4-BE49-F238E27FC236}">
                <a16:creationId xmlns:a16="http://schemas.microsoft.com/office/drawing/2014/main" id="{B12180A1-4F9E-BD46-82F0-7D4D50684EBC}"/>
              </a:ext>
            </a:extLst>
          </p:cNvPr>
          <p:cNvGrpSpPr/>
          <p:nvPr/>
        </p:nvGrpSpPr>
        <p:grpSpPr>
          <a:xfrm>
            <a:off x="3799829" y="6060834"/>
            <a:ext cx="421910" cy="579733"/>
            <a:chOff x="3778500" y="5419834"/>
            <a:chExt cx="421910" cy="57973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35F040-937C-6D42-9F0A-342E9111B5C8}"/>
                </a:ext>
              </a:extLst>
            </p:cNvPr>
            <p:cNvSpPr txBox="1"/>
            <p:nvPr/>
          </p:nvSpPr>
          <p:spPr>
            <a:xfrm>
              <a:off x="3778500" y="563023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E0A7F5D-77E2-6F4A-BCAB-407A1998F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179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64483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</a:p>
          <a:p>
            <a:pPr lvl="1"/>
            <a:r>
              <a:rPr lang="en-US" dirty="0"/>
              <a:t>Scan pattern </a:t>
            </a:r>
            <a:r>
              <a:rPr lang="en-US" b="1" dirty="0">
                <a:solidFill>
                  <a:schemeClr val="accent5"/>
                </a:solidFill>
              </a:rPr>
              <a:t>from right to left</a:t>
            </a:r>
          </a:p>
          <a:p>
            <a:pPr lvl="1"/>
            <a:r>
              <a:rPr lang="en-US" dirty="0"/>
              <a:t>Upon character mismatch, skip </a:t>
            </a:r>
            <a:r>
              <a:rPr lang="en-US" i="1" dirty="0">
                <a:solidFill>
                  <a:srgbClr val="C00000"/>
                </a:solidFill>
              </a:rPr>
              <a:t>as many as M </a:t>
            </a:r>
            <a:r>
              <a:rPr lang="en-US" dirty="0"/>
              <a:t>text characters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6382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 much to skip?</a:t>
            </a:r>
          </a:p>
          <a:p>
            <a:pPr lvl="1"/>
            <a:r>
              <a:rPr lang="en-US" dirty="0"/>
              <a:t>Case 1: mismatched character (</a:t>
            </a:r>
            <a:r>
              <a:rPr lang="en-US" dirty="0">
                <a:latin typeface="Courier" pitchFamily="2" charset="0"/>
              </a:rPr>
              <a:t>text[</a:t>
            </a:r>
            <a:r>
              <a:rPr lang="en-US" dirty="0" err="1">
                <a:latin typeface="Courier" pitchFamily="2" charset="0"/>
              </a:rPr>
              <a:t>i+j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) not present in pattern. Move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beyond the mismatched position (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>
                <a:latin typeface="Courier" pitchFamily="2" charset="0"/>
                <a:sym typeface="Wingdings" pitchFamily="2" charset="2"/>
              </a:rPr>
              <a:t>i+j+1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</p:txBody>
      </p:sp>
      <p:grpSp>
        <p:nvGrpSpPr>
          <p:cNvPr id="5" name="Group 4" descr="highlighting pattern and text">
            <a:extLst>
              <a:ext uri="{FF2B5EF4-FFF2-40B4-BE49-F238E27FC236}">
                <a16:creationId xmlns:a16="http://schemas.microsoft.com/office/drawing/2014/main" id="{8D8A8DF1-39F4-C44E-8092-A0FFF8171F0E}"/>
              </a:ext>
            </a:extLst>
          </p:cNvPr>
          <p:cNvGrpSpPr/>
          <p:nvPr/>
        </p:nvGrpSpPr>
        <p:grpSpPr>
          <a:xfrm>
            <a:off x="347082" y="4356147"/>
            <a:ext cx="1807789" cy="740172"/>
            <a:chOff x="468204" y="2566303"/>
            <a:chExt cx="1807789" cy="740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CAC7E5-09F9-4249-BD80-9A8D30C634E9}"/>
                </a:ext>
              </a:extLst>
            </p:cNvPr>
            <p:cNvSpPr txBox="1"/>
            <p:nvPr/>
          </p:nvSpPr>
          <p:spPr>
            <a:xfrm>
              <a:off x="468204" y="2566303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A82017-B78B-3C4A-BF0E-88A574F0C196}"/>
                </a:ext>
              </a:extLst>
            </p:cNvPr>
            <p:cNvSpPr txBox="1"/>
            <p:nvPr/>
          </p:nvSpPr>
          <p:spPr>
            <a:xfrm>
              <a:off x="785445" y="293714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F542EA-E021-3D47-9EE7-2D30E5E386F5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371015" y="2743200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279ECB-3004-AA4A-AF33-6D68D078D3B8}"/>
                </a:ext>
              </a:extLst>
            </p:cNvPr>
            <p:cNvCxnSpPr/>
            <p:nvPr/>
          </p:nvCxnSpPr>
          <p:spPr>
            <a:xfrm flipV="1">
              <a:off x="1356511" y="312180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Table 25" descr="example of pattern and text">
            <a:extLst>
              <a:ext uri="{FF2B5EF4-FFF2-40B4-BE49-F238E27FC236}">
                <a16:creationId xmlns:a16="http://schemas.microsoft.com/office/drawing/2014/main" id="{5E6E1482-225E-654B-88B0-045A00ABB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190102"/>
              </p:ext>
            </p:extLst>
          </p:nvPr>
        </p:nvGraphicFramePr>
        <p:xfrm>
          <a:off x="2123697" y="3968738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31" name="Group 30" descr="index i scanning text left to right">
            <a:extLst>
              <a:ext uri="{FF2B5EF4-FFF2-40B4-BE49-F238E27FC236}">
                <a16:creationId xmlns:a16="http://schemas.microsoft.com/office/drawing/2014/main" id="{19F2E5D9-1348-4440-B0C9-2663F4C9F0CB}"/>
              </a:ext>
            </a:extLst>
          </p:cNvPr>
          <p:cNvGrpSpPr/>
          <p:nvPr/>
        </p:nvGrpSpPr>
        <p:grpSpPr>
          <a:xfrm>
            <a:off x="2154871" y="5452098"/>
            <a:ext cx="235962" cy="579733"/>
            <a:chOff x="2174786" y="5419834"/>
            <a:chExt cx="235962" cy="57973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8E2380-16AF-4A47-AFCD-47A99B001FD6}"/>
                </a:ext>
              </a:extLst>
            </p:cNvPr>
            <p:cNvSpPr txBox="1"/>
            <p:nvPr/>
          </p:nvSpPr>
          <p:spPr>
            <a:xfrm>
              <a:off x="2174786" y="5630235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8FE51A6-338E-3344-9175-20384C8862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276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 descr="index j scanning input right to left">
            <a:extLst>
              <a:ext uri="{FF2B5EF4-FFF2-40B4-BE49-F238E27FC236}">
                <a16:creationId xmlns:a16="http://schemas.microsoft.com/office/drawing/2014/main" id="{EE5FE0B4-A544-BC4B-96D4-66507FCC31FE}"/>
              </a:ext>
            </a:extLst>
          </p:cNvPr>
          <p:cNvGrpSpPr/>
          <p:nvPr/>
        </p:nvGrpSpPr>
        <p:grpSpPr>
          <a:xfrm>
            <a:off x="3843816" y="3293262"/>
            <a:ext cx="235962" cy="675476"/>
            <a:chOff x="3843816" y="3342837"/>
            <a:chExt cx="235962" cy="67547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5C4365-83A2-A742-9AF2-A3368A3EEE75}"/>
                </a:ext>
              </a:extLst>
            </p:cNvPr>
            <p:cNvSpPr txBox="1"/>
            <p:nvPr/>
          </p:nvSpPr>
          <p:spPr>
            <a:xfrm>
              <a:off x="3843816" y="3342837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F038CC-CC13-0A4F-9BD2-CC310AD76C16}"/>
                </a:ext>
              </a:extLst>
            </p:cNvPr>
            <p:cNvCxnSpPr>
              <a:cxnSpLocks/>
            </p:cNvCxnSpPr>
            <p:nvPr/>
          </p:nvCxnSpPr>
          <p:spPr>
            <a:xfrm>
              <a:off x="3961797" y="3712169"/>
              <a:ext cx="0" cy="30614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 descr="i+j=5">
            <a:extLst>
              <a:ext uri="{FF2B5EF4-FFF2-40B4-BE49-F238E27FC236}">
                <a16:creationId xmlns:a16="http://schemas.microsoft.com/office/drawing/2014/main" id="{B12180A1-4F9E-BD46-82F0-7D4D50684EBC}"/>
              </a:ext>
            </a:extLst>
          </p:cNvPr>
          <p:cNvGrpSpPr/>
          <p:nvPr/>
        </p:nvGrpSpPr>
        <p:grpSpPr>
          <a:xfrm>
            <a:off x="3750842" y="5507003"/>
            <a:ext cx="421910" cy="579733"/>
            <a:chOff x="3778500" y="5419834"/>
            <a:chExt cx="421910" cy="57973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35F040-937C-6D42-9F0A-342E9111B5C8}"/>
                </a:ext>
              </a:extLst>
            </p:cNvPr>
            <p:cNvSpPr txBox="1"/>
            <p:nvPr/>
          </p:nvSpPr>
          <p:spPr>
            <a:xfrm>
              <a:off x="3778500" y="563023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E0A7F5D-77E2-6F4A-BCAB-407A1998F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179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5E76B5D-B8A0-124D-AAC2-C58A1663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43383"/>
              </p:ext>
            </p:extLst>
          </p:nvPr>
        </p:nvGraphicFramePr>
        <p:xfrm>
          <a:off x="10780133" y="3712169"/>
          <a:ext cx="897000" cy="2868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00">
                  <a:extLst>
                    <a:ext uri="{9D8B030D-6E8A-4147-A177-3AD203B41FA5}">
                      <a16:colId xmlns:a16="http://schemas.microsoft.com/office/drawing/2014/main" val="2254664865"/>
                    </a:ext>
                  </a:extLst>
                </a:gridCol>
                <a:gridCol w="448500">
                  <a:extLst>
                    <a:ext uri="{9D8B030D-6E8A-4147-A177-3AD203B41FA5}">
                      <a16:colId xmlns:a16="http://schemas.microsoft.com/office/drawing/2014/main" val="1230043088"/>
                    </a:ext>
                  </a:extLst>
                </a:gridCol>
              </a:tblGrid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45976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1442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17712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9453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509379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47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620359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 much to skip?</a:t>
            </a:r>
          </a:p>
          <a:p>
            <a:pPr lvl="1"/>
            <a:r>
              <a:rPr lang="en-US" dirty="0"/>
              <a:t>Case 1: mismatched character (</a:t>
            </a:r>
            <a:r>
              <a:rPr lang="en-US" dirty="0">
                <a:latin typeface="Courier" pitchFamily="2" charset="0"/>
              </a:rPr>
              <a:t>text[</a:t>
            </a:r>
            <a:r>
              <a:rPr lang="en-US" dirty="0" err="1">
                <a:latin typeface="Courier" pitchFamily="2" charset="0"/>
              </a:rPr>
              <a:t>i+j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) not present in pattern. Move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beyond the mismatched position (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>
                <a:latin typeface="Courier" pitchFamily="2" charset="0"/>
                <a:sym typeface="Wingdings" pitchFamily="2" charset="2"/>
              </a:rPr>
              <a:t>i+j+1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</p:txBody>
      </p:sp>
      <p:grpSp>
        <p:nvGrpSpPr>
          <p:cNvPr id="5" name="Group 4" descr="highlighting pattern and text">
            <a:extLst>
              <a:ext uri="{FF2B5EF4-FFF2-40B4-BE49-F238E27FC236}">
                <a16:creationId xmlns:a16="http://schemas.microsoft.com/office/drawing/2014/main" id="{8D8A8DF1-39F4-C44E-8092-A0FFF8171F0E}"/>
              </a:ext>
            </a:extLst>
          </p:cNvPr>
          <p:cNvGrpSpPr/>
          <p:nvPr/>
        </p:nvGrpSpPr>
        <p:grpSpPr>
          <a:xfrm>
            <a:off x="347082" y="4356147"/>
            <a:ext cx="1807789" cy="740172"/>
            <a:chOff x="468204" y="2566303"/>
            <a:chExt cx="1807789" cy="740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CAC7E5-09F9-4249-BD80-9A8D30C634E9}"/>
                </a:ext>
              </a:extLst>
            </p:cNvPr>
            <p:cNvSpPr txBox="1"/>
            <p:nvPr/>
          </p:nvSpPr>
          <p:spPr>
            <a:xfrm>
              <a:off x="468204" y="2566303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A82017-B78B-3C4A-BF0E-88A574F0C196}"/>
                </a:ext>
              </a:extLst>
            </p:cNvPr>
            <p:cNvSpPr txBox="1"/>
            <p:nvPr/>
          </p:nvSpPr>
          <p:spPr>
            <a:xfrm>
              <a:off x="785445" y="293714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F542EA-E021-3D47-9EE7-2D30E5E386F5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371015" y="2743200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279ECB-3004-AA4A-AF33-6D68D078D3B8}"/>
                </a:ext>
              </a:extLst>
            </p:cNvPr>
            <p:cNvCxnSpPr/>
            <p:nvPr/>
          </p:nvCxnSpPr>
          <p:spPr>
            <a:xfrm flipV="1">
              <a:off x="1356511" y="312180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Table 25" descr="example of pattern and text">
            <a:extLst>
              <a:ext uri="{FF2B5EF4-FFF2-40B4-BE49-F238E27FC236}">
                <a16:creationId xmlns:a16="http://schemas.microsoft.com/office/drawing/2014/main" id="{5E6E1482-225E-654B-88B0-045A00ABB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760667"/>
              </p:ext>
            </p:extLst>
          </p:nvPr>
        </p:nvGraphicFramePr>
        <p:xfrm>
          <a:off x="2123697" y="3968738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31" name="Group 30" descr="index i scanning text left to right">
            <a:extLst>
              <a:ext uri="{FF2B5EF4-FFF2-40B4-BE49-F238E27FC236}">
                <a16:creationId xmlns:a16="http://schemas.microsoft.com/office/drawing/2014/main" id="{19F2E5D9-1348-4440-B0C9-2663F4C9F0CB}"/>
              </a:ext>
            </a:extLst>
          </p:cNvPr>
          <p:cNvGrpSpPr/>
          <p:nvPr/>
        </p:nvGrpSpPr>
        <p:grpSpPr>
          <a:xfrm>
            <a:off x="4179612" y="5427034"/>
            <a:ext cx="235962" cy="579733"/>
            <a:chOff x="2174786" y="5419834"/>
            <a:chExt cx="235962" cy="57973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8E2380-16AF-4A47-AFCD-47A99B001FD6}"/>
                </a:ext>
              </a:extLst>
            </p:cNvPr>
            <p:cNvSpPr txBox="1"/>
            <p:nvPr/>
          </p:nvSpPr>
          <p:spPr>
            <a:xfrm>
              <a:off x="2174786" y="5630235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8FE51A6-338E-3344-9175-20384C8862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276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 descr="index j scanning input right to left">
            <a:extLst>
              <a:ext uri="{FF2B5EF4-FFF2-40B4-BE49-F238E27FC236}">
                <a16:creationId xmlns:a16="http://schemas.microsoft.com/office/drawing/2014/main" id="{EE5FE0B4-A544-BC4B-96D4-66507FCC31FE}"/>
              </a:ext>
            </a:extLst>
          </p:cNvPr>
          <p:cNvGrpSpPr/>
          <p:nvPr/>
        </p:nvGrpSpPr>
        <p:grpSpPr>
          <a:xfrm>
            <a:off x="3843816" y="3293262"/>
            <a:ext cx="235962" cy="675476"/>
            <a:chOff x="3843816" y="3342837"/>
            <a:chExt cx="235962" cy="67547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5C4365-83A2-A742-9AF2-A3368A3EEE75}"/>
                </a:ext>
              </a:extLst>
            </p:cNvPr>
            <p:cNvSpPr txBox="1"/>
            <p:nvPr/>
          </p:nvSpPr>
          <p:spPr>
            <a:xfrm>
              <a:off x="3843816" y="3342837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F038CC-CC13-0A4F-9BD2-CC310AD76C16}"/>
                </a:ext>
              </a:extLst>
            </p:cNvPr>
            <p:cNvCxnSpPr>
              <a:cxnSpLocks/>
            </p:cNvCxnSpPr>
            <p:nvPr/>
          </p:nvCxnSpPr>
          <p:spPr>
            <a:xfrm>
              <a:off x="3961797" y="3712169"/>
              <a:ext cx="0" cy="30614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Left Brace 23">
            <a:extLst>
              <a:ext uri="{FF2B5EF4-FFF2-40B4-BE49-F238E27FC236}">
                <a16:creationId xmlns:a16="http://schemas.microsoft.com/office/drawing/2014/main" id="{1423C7D0-D103-4548-8702-60A66C213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973520" y="4615942"/>
            <a:ext cx="290555" cy="1921961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79B248-7AC9-0E4A-B379-264C21B067B3}"/>
              </a:ext>
            </a:extLst>
          </p:cNvPr>
          <p:cNvSpPr txBox="1"/>
          <p:nvPr/>
        </p:nvSpPr>
        <p:spPr>
          <a:xfrm>
            <a:off x="2935500" y="573375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5E76B5D-B8A0-124D-AAC2-C58A1663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788250"/>
              </p:ext>
            </p:extLst>
          </p:nvPr>
        </p:nvGraphicFramePr>
        <p:xfrm>
          <a:off x="10780133" y="3712169"/>
          <a:ext cx="897000" cy="2868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00">
                  <a:extLst>
                    <a:ext uri="{9D8B030D-6E8A-4147-A177-3AD203B41FA5}">
                      <a16:colId xmlns:a16="http://schemas.microsoft.com/office/drawing/2014/main" val="2254664865"/>
                    </a:ext>
                  </a:extLst>
                </a:gridCol>
                <a:gridCol w="448500">
                  <a:extLst>
                    <a:ext uri="{9D8B030D-6E8A-4147-A177-3AD203B41FA5}">
                      <a16:colId xmlns:a16="http://schemas.microsoft.com/office/drawing/2014/main" val="1230043088"/>
                    </a:ext>
                  </a:extLst>
                </a:gridCol>
              </a:tblGrid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45976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1442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17712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9453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509379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47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25281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 much to skip?</a:t>
            </a:r>
          </a:p>
          <a:p>
            <a:pPr lvl="1"/>
            <a:r>
              <a:rPr lang="en-US" dirty="0"/>
              <a:t>Case 2: mismatched character in pattern. </a:t>
            </a:r>
          </a:p>
        </p:txBody>
      </p:sp>
      <p:grpSp>
        <p:nvGrpSpPr>
          <p:cNvPr id="5" name="Group 4" descr="highlighting pattern and text">
            <a:extLst>
              <a:ext uri="{FF2B5EF4-FFF2-40B4-BE49-F238E27FC236}">
                <a16:creationId xmlns:a16="http://schemas.microsoft.com/office/drawing/2014/main" id="{8D8A8DF1-39F4-C44E-8092-A0FFF8171F0E}"/>
              </a:ext>
            </a:extLst>
          </p:cNvPr>
          <p:cNvGrpSpPr/>
          <p:nvPr/>
        </p:nvGrpSpPr>
        <p:grpSpPr>
          <a:xfrm>
            <a:off x="347082" y="4356147"/>
            <a:ext cx="1807789" cy="740172"/>
            <a:chOff x="468204" y="2566303"/>
            <a:chExt cx="1807789" cy="740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CAC7E5-09F9-4249-BD80-9A8D30C634E9}"/>
                </a:ext>
              </a:extLst>
            </p:cNvPr>
            <p:cNvSpPr txBox="1"/>
            <p:nvPr/>
          </p:nvSpPr>
          <p:spPr>
            <a:xfrm>
              <a:off x="468204" y="2566303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A82017-B78B-3C4A-BF0E-88A574F0C196}"/>
                </a:ext>
              </a:extLst>
            </p:cNvPr>
            <p:cNvSpPr txBox="1"/>
            <p:nvPr/>
          </p:nvSpPr>
          <p:spPr>
            <a:xfrm>
              <a:off x="785445" y="293714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F542EA-E021-3D47-9EE7-2D30E5E386F5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371015" y="2743200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279ECB-3004-AA4A-AF33-6D68D078D3B8}"/>
                </a:ext>
              </a:extLst>
            </p:cNvPr>
            <p:cNvCxnSpPr/>
            <p:nvPr/>
          </p:nvCxnSpPr>
          <p:spPr>
            <a:xfrm flipV="1">
              <a:off x="1356511" y="312180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Table 25" descr="example of pattern and text">
            <a:extLst>
              <a:ext uri="{FF2B5EF4-FFF2-40B4-BE49-F238E27FC236}">
                <a16:creationId xmlns:a16="http://schemas.microsoft.com/office/drawing/2014/main" id="{5E6E1482-225E-654B-88B0-045A00ABB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893888"/>
              </p:ext>
            </p:extLst>
          </p:nvPr>
        </p:nvGraphicFramePr>
        <p:xfrm>
          <a:off x="2123697" y="3968738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31" name="Group 30" descr="index i scanning text left to right">
            <a:extLst>
              <a:ext uri="{FF2B5EF4-FFF2-40B4-BE49-F238E27FC236}">
                <a16:creationId xmlns:a16="http://schemas.microsoft.com/office/drawing/2014/main" id="{19F2E5D9-1348-4440-B0C9-2663F4C9F0CB}"/>
              </a:ext>
            </a:extLst>
          </p:cNvPr>
          <p:cNvGrpSpPr/>
          <p:nvPr/>
        </p:nvGrpSpPr>
        <p:grpSpPr>
          <a:xfrm>
            <a:off x="4184774" y="5479252"/>
            <a:ext cx="235962" cy="612391"/>
            <a:chOff x="2191115" y="5419834"/>
            <a:chExt cx="235962" cy="61239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8E2380-16AF-4A47-AFCD-47A99B001FD6}"/>
                </a:ext>
              </a:extLst>
            </p:cNvPr>
            <p:cNvSpPr txBox="1"/>
            <p:nvPr/>
          </p:nvSpPr>
          <p:spPr>
            <a:xfrm>
              <a:off x="2191115" y="5662893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8FE51A6-338E-3344-9175-20384C8862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276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 descr="index j scanning input right to left">
            <a:extLst>
              <a:ext uri="{FF2B5EF4-FFF2-40B4-BE49-F238E27FC236}">
                <a16:creationId xmlns:a16="http://schemas.microsoft.com/office/drawing/2014/main" id="{EE5FE0B4-A544-BC4B-96D4-66507FCC31FE}"/>
              </a:ext>
            </a:extLst>
          </p:cNvPr>
          <p:cNvGrpSpPr/>
          <p:nvPr/>
        </p:nvGrpSpPr>
        <p:grpSpPr>
          <a:xfrm>
            <a:off x="3843816" y="3293262"/>
            <a:ext cx="235962" cy="675476"/>
            <a:chOff x="3843816" y="3342837"/>
            <a:chExt cx="235962" cy="67547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5C4365-83A2-A742-9AF2-A3368A3EEE75}"/>
                </a:ext>
              </a:extLst>
            </p:cNvPr>
            <p:cNvSpPr txBox="1"/>
            <p:nvPr/>
          </p:nvSpPr>
          <p:spPr>
            <a:xfrm>
              <a:off x="3843816" y="3342837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F038CC-CC13-0A4F-9BD2-CC310AD76C16}"/>
                </a:ext>
              </a:extLst>
            </p:cNvPr>
            <p:cNvCxnSpPr>
              <a:cxnSpLocks/>
            </p:cNvCxnSpPr>
            <p:nvPr/>
          </p:nvCxnSpPr>
          <p:spPr>
            <a:xfrm>
              <a:off x="3961797" y="3712169"/>
              <a:ext cx="0" cy="30614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 descr="i+j=11">
            <a:extLst>
              <a:ext uri="{FF2B5EF4-FFF2-40B4-BE49-F238E27FC236}">
                <a16:creationId xmlns:a16="http://schemas.microsoft.com/office/drawing/2014/main" id="{B12180A1-4F9E-BD46-82F0-7D4D50684EBC}"/>
              </a:ext>
            </a:extLst>
          </p:cNvPr>
          <p:cNvGrpSpPr/>
          <p:nvPr/>
        </p:nvGrpSpPr>
        <p:grpSpPr>
          <a:xfrm>
            <a:off x="5785124" y="5515767"/>
            <a:ext cx="421910" cy="579733"/>
            <a:chOff x="3778500" y="5419834"/>
            <a:chExt cx="421910" cy="57973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35F040-937C-6D42-9F0A-342E9111B5C8}"/>
                </a:ext>
              </a:extLst>
            </p:cNvPr>
            <p:cNvSpPr txBox="1"/>
            <p:nvPr/>
          </p:nvSpPr>
          <p:spPr>
            <a:xfrm>
              <a:off x="3778500" y="563023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E0A7F5D-77E2-6F4A-BCAB-407A1998F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179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5E76B5D-B8A0-124D-AAC2-C58A1663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866011"/>
              </p:ext>
            </p:extLst>
          </p:nvPr>
        </p:nvGraphicFramePr>
        <p:xfrm>
          <a:off x="10780133" y="3712169"/>
          <a:ext cx="897000" cy="2868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00">
                  <a:extLst>
                    <a:ext uri="{9D8B030D-6E8A-4147-A177-3AD203B41FA5}">
                      <a16:colId xmlns:a16="http://schemas.microsoft.com/office/drawing/2014/main" val="2254664865"/>
                    </a:ext>
                  </a:extLst>
                </a:gridCol>
                <a:gridCol w="448500">
                  <a:extLst>
                    <a:ext uri="{9D8B030D-6E8A-4147-A177-3AD203B41FA5}">
                      <a16:colId xmlns:a16="http://schemas.microsoft.com/office/drawing/2014/main" val="1230043088"/>
                    </a:ext>
                  </a:extLst>
                </a:gridCol>
              </a:tblGrid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45976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1442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17712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9453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509379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47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47416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 much to skip?</a:t>
            </a:r>
          </a:p>
          <a:p>
            <a:pPr lvl="1"/>
            <a:r>
              <a:rPr lang="en-US" dirty="0"/>
              <a:t>Case 2: mismatched character in pattern. </a:t>
            </a:r>
          </a:p>
        </p:txBody>
      </p:sp>
      <p:grpSp>
        <p:nvGrpSpPr>
          <p:cNvPr id="5" name="Group 4" descr="highlighting pattern and text">
            <a:extLst>
              <a:ext uri="{FF2B5EF4-FFF2-40B4-BE49-F238E27FC236}">
                <a16:creationId xmlns:a16="http://schemas.microsoft.com/office/drawing/2014/main" id="{8D8A8DF1-39F4-C44E-8092-A0FFF8171F0E}"/>
              </a:ext>
            </a:extLst>
          </p:cNvPr>
          <p:cNvGrpSpPr/>
          <p:nvPr/>
        </p:nvGrpSpPr>
        <p:grpSpPr>
          <a:xfrm>
            <a:off x="347082" y="4356147"/>
            <a:ext cx="1807789" cy="740172"/>
            <a:chOff x="468204" y="2566303"/>
            <a:chExt cx="1807789" cy="740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CAC7E5-09F9-4249-BD80-9A8D30C634E9}"/>
                </a:ext>
              </a:extLst>
            </p:cNvPr>
            <p:cNvSpPr txBox="1"/>
            <p:nvPr/>
          </p:nvSpPr>
          <p:spPr>
            <a:xfrm>
              <a:off x="468204" y="2566303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A82017-B78B-3C4A-BF0E-88A574F0C196}"/>
                </a:ext>
              </a:extLst>
            </p:cNvPr>
            <p:cNvSpPr txBox="1"/>
            <p:nvPr/>
          </p:nvSpPr>
          <p:spPr>
            <a:xfrm>
              <a:off x="785445" y="293714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F542EA-E021-3D47-9EE7-2D30E5E386F5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371015" y="2743200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279ECB-3004-AA4A-AF33-6D68D078D3B8}"/>
                </a:ext>
              </a:extLst>
            </p:cNvPr>
            <p:cNvCxnSpPr/>
            <p:nvPr/>
          </p:nvCxnSpPr>
          <p:spPr>
            <a:xfrm flipV="1">
              <a:off x="1356511" y="312180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Table 25" descr="example of pattern and text">
            <a:extLst>
              <a:ext uri="{FF2B5EF4-FFF2-40B4-BE49-F238E27FC236}">
                <a16:creationId xmlns:a16="http://schemas.microsoft.com/office/drawing/2014/main" id="{5E6E1482-225E-654B-88B0-045A00ABB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665475"/>
              </p:ext>
            </p:extLst>
          </p:nvPr>
        </p:nvGraphicFramePr>
        <p:xfrm>
          <a:off x="2123697" y="3968738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sp>
        <p:nvSpPr>
          <p:cNvPr id="4" name="Left Brace 3">
            <a:extLst>
              <a:ext uri="{FF2B5EF4-FFF2-40B4-BE49-F238E27FC236}">
                <a16:creationId xmlns:a16="http://schemas.microsoft.com/office/drawing/2014/main" id="{EA838F47-0C7A-9744-B862-E8AFF5B94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5686426" y="4616052"/>
            <a:ext cx="290555" cy="1921961"/>
          </a:xfrm>
          <a:prstGeom prst="leftBrac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697AA5-3461-8A4E-BA29-64650C266C3E}"/>
              </a:ext>
            </a:extLst>
          </p:cNvPr>
          <p:cNvSpPr txBox="1"/>
          <p:nvPr/>
        </p:nvSpPr>
        <p:spPr>
          <a:xfrm>
            <a:off x="5629388" y="5713291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5E76B5D-B8A0-124D-AAC2-C58A1663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713846"/>
              </p:ext>
            </p:extLst>
          </p:nvPr>
        </p:nvGraphicFramePr>
        <p:xfrm>
          <a:off x="10780133" y="3712169"/>
          <a:ext cx="897000" cy="2868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00">
                  <a:extLst>
                    <a:ext uri="{9D8B030D-6E8A-4147-A177-3AD203B41FA5}">
                      <a16:colId xmlns:a16="http://schemas.microsoft.com/office/drawing/2014/main" val="2254664865"/>
                    </a:ext>
                  </a:extLst>
                </a:gridCol>
                <a:gridCol w="448500">
                  <a:extLst>
                    <a:ext uri="{9D8B030D-6E8A-4147-A177-3AD203B41FA5}">
                      <a16:colId xmlns:a16="http://schemas.microsoft.com/office/drawing/2014/main" val="1230043088"/>
                    </a:ext>
                  </a:extLst>
                </a:gridCol>
              </a:tblGrid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45976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1442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17712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9453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509379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47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37396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 much to skip?</a:t>
            </a:r>
          </a:p>
          <a:p>
            <a:pPr lvl="1"/>
            <a:r>
              <a:rPr lang="en-US" dirty="0"/>
              <a:t>Case 2: mismatched character in pattern. </a:t>
            </a:r>
          </a:p>
        </p:txBody>
      </p:sp>
      <p:grpSp>
        <p:nvGrpSpPr>
          <p:cNvPr id="5" name="Group 4" descr="highlighting pattern and text">
            <a:extLst>
              <a:ext uri="{FF2B5EF4-FFF2-40B4-BE49-F238E27FC236}">
                <a16:creationId xmlns:a16="http://schemas.microsoft.com/office/drawing/2014/main" id="{8D8A8DF1-39F4-C44E-8092-A0FFF8171F0E}"/>
              </a:ext>
            </a:extLst>
          </p:cNvPr>
          <p:cNvGrpSpPr/>
          <p:nvPr/>
        </p:nvGrpSpPr>
        <p:grpSpPr>
          <a:xfrm>
            <a:off x="347082" y="4356147"/>
            <a:ext cx="1807789" cy="740172"/>
            <a:chOff x="468204" y="2566303"/>
            <a:chExt cx="1807789" cy="740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CAC7E5-09F9-4249-BD80-9A8D30C634E9}"/>
                </a:ext>
              </a:extLst>
            </p:cNvPr>
            <p:cNvSpPr txBox="1"/>
            <p:nvPr/>
          </p:nvSpPr>
          <p:spPr>
            <a:xfrm>
              <a:off x="468204" y="2566303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A82017-B78B-3C4A-BF0E-88A574F0C196}"/>
                </a:ext>
              </a:extLst>
            </p:cNvPr>
            <p:cNvSpPr txBox="1"/>
            <p:nvPr/>
          </p:nvSpPr>
          <p:spPr>
            <a:xfrm>
              <a:off x="785445" y="293714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F542EA-E021-3D47-9EE7-2D30E5E386F5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371015" y="2743200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279ECB-3004-AA4A-AF33-6D68D078D3B8}"/>
                </a:ext>
              </a:extLst>
            </p:cNvPr>
            <p:cNvCxnSpPr/>
            <p:nvPr/>
          </p:nvCxnSpPr>
          <p:spPr>
            <a:xfrm flipV="1">
              <a:off x="1356511" y="312180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Table 25" descr="example of pattern and text">
            <a:extLst>
              <a:ext uri="{FF2B5EF4-FFF2-40B4-BE49-F238E27FC236}">
                <a16:creationId xmlns:a16="http://schemas.microsoft.com/office/drawing/2014/main" id="{5E6E1482-225E-654B-88B0-045A00ABB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063119"/>
              </p:ext>
            </p:extLst>
          </p:nvPr>
        </p:nvGraphicFramePr>
        <p:xfrm>
          <a:off x="2123697" y="3968738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grpSp>
        <p:nvGrpSpPr>
          <p:cNvPr id="32" name="Group 31" descr="index j scanning input right to left">
            <a:extLst>
              <a:ext uri="{FF2B5EF4-FFF2-40B4-BE49-F238E27FC236}">
                <a16:creationId xmlns:a16="http://schemas.microsoft.com/office/drawing/2014/main" id="{EE5FE0B4-A544-BC4B-96D4-66507FCC31FE}"/>
              </a:ext>
            </a:extLst>
          </p:cNvPr>
          <p:cNvGrpSpPr/>
          <p:nvPr/>
        </p:nvGrpSpPr>
        <p:grpSpPr>
          <a:xfrm>
            <a:off x="6488914" y="3229593"/>
            <a:ext cx="235962" cy="675476"/>
            <a:chOff x="3843816" y="3342837"/>
            <a:chExt cx="235962" cy="67547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5C4365-83A2-A742-9AF2-A3368A3EEE75}"/>
                </a:ext>
              </a:extLst>
            </p:cNvPr>
            <p:cNvSpPr txBox="1"/>
            <p:nvPr/>
          </p:nvSpPr>
          <p:spPr>
            <a:xfrm>
              <a:off x="3843816" y="3342837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F038CC-CC13-0A4F-9BD2-CC310AD76C16}"/>
                </a:ext>
              </a:extLst>
            </p:cNvPr>
            <p:cNvCxnSpPr>
              <a:cxnSpLocks/>
            </p:cNvCxnSpPr>
            <p:nvPr/>
          </p:nvCxnSpPr>
          <p:spPr>
            <a:xfrm>
              <a:off x="3961797" y="3712169"/>
              <a:ext cx="0" cy="30614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Left Brace 3">
            <a:extLst>
              <a:ext uri="{FF2B5EF4-FFF2-40B4-BE49-F238E27FC236}">
                <a16:creationId xmlns:a16="http://schemas.microsoft.com/office/drawing/2014/main" id="{EA838F47-0C7A-9744-B862-E8AFF5B94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5686426" y="4616052"/>
            <a:ext cx="290555" cy="1921961"/>
          </a:xfrm>
          <a:prstGeom prst="leftBrac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 descr="index i scanning text left to right">
            <a:extLst>
              <a:ext uri="{FF2B5EF4-FFF2-40B4-BE49-F238E27FC236}">
                <a16:creationId xmlns:a16="http://schemas.microsoft.com/office/drawing/2014/main" id="{682C8017-23BB-344E-BF5A-03F6CD4454A4}"/>
              </a:ext>
            </a:extLst>
          </p:cNvPr>
          <p:cNvGrpSpPr/>
          <p:nvPr/>
        </p:nvGrpSpPr>
        <p:grpSpPr>
          <a:xfrm>
            <a:off x="4850717" y="5700572"/>
            <a:ext cx="235962" cy="612391"/>
            <a:chOff x="2191115" y="5419834"/>
            <a:chExt cx="235962" cy="61239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8550625-E87E-2249-B2B2-34B81F489F70}"/>
                </a:ext>
              </a:extLst>
            </p:cNvPr>
            <p:cNvSpPr txBox="1"/>
            <p:nvPr/>
          </p:nvSpPr>
          <p:spPr>
            <a:xfrm>
              <a:off x="2191115" y="5662893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A9921C2-0AC7-2D4B-8DBD-8D11CA06D9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276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 descr="i+j=13">
            <a:extLst>
              <a:ext uri="{FF2B5EF4-FFF2-40B4-BE49-F238E27FC236}">
                <a16:creationId xmlns:a16="http://schemas.microsoft.com/office/drawing/2014/main" id="{16A992A6-44D1-C745-B495-A7AB06FA9EAB}"/>
              </a:ext>
            </a:extLst>
          </p:cNvPr>
          <p:cNvGrpSpPr/>
          <p:nvPr/>
        </p:nvGrpSpPr>
        <p:grpSpPr>
          <a:xfrm>
            <a:off x="6451067" y="5733230"/>
            <a:ext cx="421910" cy="579733"/>
            <a:chOff x="3778500" y="5419834"/>
            <a:chExt cx="421910" cy="57973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53F2803-1009-1045-9274-253F69BC29C3}"/>
                </a:ext>
              </a:extLst>
            </p:cNvPr>
            <p:cNvSpPr txBox="1"/>
            <p:nvPr/>
          </p:nvSpPr>
          <p:spPr>
            <a:xfrm>
              <a:off x="3778500" y="563023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4D05FC9-A33E-E148-A6CD-60F96045EC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179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5E76B5D-B8A0-124D-AAC2-C58A1663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169699"/>
              </p:ext>
            </p:extLst>
          </p:nvPr>
        </p:nvGraphicFramePr>
        <p:xfrm>
          <a:off x="10780133" y="3712169"/>
          <a:ext cx="897000" cy="2868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00">
                  <a:extLst>
                    <a:ext uri="{9D8B030D-6E8A-4147-A177-3AD203B41FA5}">
                      <a16:colId xmlns:a16="http://schemas.microsoft.com/office/drawing/2014/main" val="2254664865"/>
                    </a:ext>
                  </a:extLst>
                </a:gridCol>
                <a:gridCol w="448500">
                  <a:extLst>
                    <a:ext uri="{9D8B030D-6E8A-4147-A177-3AD203B41FA5}">
                      <a16:colId xmlns:a16="http://schemas.microsoft.com/office/drawing/2014/main" val="1230043088"/>
                    </a:ext>
                  </a:extLst>
                </a:gridCol>
              </a:tblGrid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45976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1442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17712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94535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509379"/>
                  </a:ext>
                </a:extLst>
              </a:tr>
              <a:tr h="478003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47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84233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 much to skip?</a:t>
            </a:r>
          </a:p>
          <a:p>
            <a:pPr lvl="1"/>
            <a:r>
              <a:rPr lang="en-US" dirty="0"/>
              <a:t>Case 2: mismatched character in pattern. Precompute index of rightmost occurrence of mismatched character in pattern. Skip </a:t>
            </a:r>
            <a:r>
              <a:rPr lang="en-US" dirty="0" err="1"/>
              <a:t>i</a:t>
            </a:r>
            <a:r>
              <a:rPr lang="en-US" dirty="0"/>
              <a:t> forward of (j – rightmost index)</a:t>
            </a:r>
          </a:p>
        </p:txBody>
      </p:sp>
      <p:grpSp>
        <p:nvGrpSpPr>
          <p:cNvPr id="5" name="Group 4" descr="highlighting pattern and text">
            <a:extLst>
              <a:ext uri="{FF2B5EF4-FFF2-40B4-BE49-F238E27FC236}">
                <a16:creationId xmlns:a16="http://schemas.microsoft.com/office/drawing/2014/main" id="{8D8A8DF1-39F4-C44E-8092-A0FFF8171F0E}"/>
              </a:ext>
            </a:extLst>
          </p:cNvPr>
          <p:cNvGrpSpPr/>
          <p:nvPr/>
        </p:nvGrpSpPr>
        <p:grpSpPr>
          <a:xfrm>
            <a:off x="347082" y="4682727"/>
            <a:ext cx="1807789" cy="740172"/>
            <a:chOff x="468204" y="2566303"/>
            <a:chExt cx="1807789" cy="7401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CAC7E5-09F9-4249-BD80-9A8D30C634E9}"/>
                </a:ext>
              </a:extLst>
            </p:cNvPr>
            <p:cNvSpPr txBox="1"/>
            <p:nvPr/>
          </p:nvSpPr>
          <p:spPr>
            <a:xfrm>
              <a:off x="468204" y="2566303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A82017-B78B-3C4A-BF0E-88A574F0C196}"/>
                </a:ext>
              </a:extLst>
            </p:cNvPr>
            <p:cNvSpPr txBox="1"/>
            <p:nvPr/>
          </p:nvSpPr>
          <p:spPr>
            <a:xfrm>
              <a:off x="785445" y="293714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F542EA-E021-3D47-9EE7-2D30E5E386F5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371015" y="2743200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279ECB-3004-AA4A-AF33-6D68D078D3B8}"/>
                </a:ext>
              </a:extLst>
            </p:cNvPr>
            <p:cNvCxnSpPr/>
            <p:nvPr/>
          </p:nvCxnSpPr>
          <p:spPr>
            <a:xfrm flipV="1">
              <a:off x="1356511" y="3121809"/>
              <a:ext cx="904978" cy="77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 descr="index j scanning input right to left">
            <a:extLst>
              <a:ext uri="{FF2B5EF4-FFF2-40B4-BE49-F238E27FC236}">
                <a16:creationId xmlns:a16="http://schemas.microsoft.com/office/drawing/2014/main" id="{EE5FE0B4-A544-BC4B-96D4-66507FCC31FE}"/>
              </a:ext>
            </a:extLst>
          </p:cNvPr>
          <p:cNvGrpSpPr/>
          <p:nvPr/>
        </p:nvGrpSpPr>
        <p:grpSpPr>
          <a:xfrm>
            <a:off x="3827357" y="3619842"/>
            <a:ext cx="235962" cy="675476"/>
            <a:chOff x="3843816" y="3342837"/>
            <a:chExt cx="235962" cy="67547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5C4365-83A2-A742-9AF2-A3368A3EEE75}"/>
                </a:ext>
              </a:extLst>
            </p:cNvPr>
            <p:cNvSpPr txBox="1"/>
            <p:nvPr/>
          </p:nvSpPr>
          <p:spPr>
            <a:xfrm>
              <a:off x="3843816" y="3342837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F038CC-CC13-0A4F-9BD2-CC310AD76C16}"/>
                </a:ext>
              </a:extLst>
            </p:cNvPr>
            <p:cNvCxnSpPr>
              <a:cxnSpLocks/>
            </p:cNvCxnSpPr>
            <p:nvPr/>
          </p:nvCxnSpPr>
          <p:spPr>
            <a:xfrm>
              <a:off x="3961797" y="3712169"/>
              <a:ext cx="0" cy="30614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 descr="index i scanning text left to right">
            <a:extLst>
              <a:ext uri="{FF2B5EF4-FFF2-40B4-BE49-F238E27FC236}">
                <a16:creationId xmlns:a16="http://schemas.microsoft.com/office/drawing/2014/main" id="{682C8017-23BB-344E-BF5A-03F6CD4454A4}"/>
              </a:ext>
            </a:extLst>
          </p:cNvPr>
          <p:cNvGrpSpPr/>
          <p:nvPr/>
        </p:nvGrpSpPr>
        <p:grpSpPr>
          <a:xfrm>
            <a:off x="4213903" y="5842486"/>
            <a:ext cx="235962" cy="612391"/>
            <a:chOff x="2191115" y="5419834"/>
            <a:chExt cx="235962" cy="61239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8550625-E87E-2249-B2B2-34B81F489F70}"/>
                </a:ext>
              </a:extLst>
            </p:cNvPr>
            <p:cNvSpPr txBox="1"/>
            <p:nvPr/>
          </p:nvSpPr>
          <p:spPr>
            <a:xfrm>
              <a:off x="2191115" y="5662893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A9921C2-0AC7-2D4B-8DBD-8D11CA06D9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276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 descr="i+j=11">
            <a:extLst>
              <a:ext uri="{FF2B5EF4-FFF2-40B4-BE49-F238E27FC236}">
                <a16:creationId xmlns:a16="http://schemas.microsoft.com/office/drawing/2014/main" id="{16A992A6-44D1-C745-B495-A7AB06FA9EAB}"/>
              </a:ext>
            </a:extLst>
          </p:cNvPr>
          <p:cNvGrpSpPr/>
          <p:nvPr/>
        </p:nvGrpSpPr>
        <p:grpSpPr>
          <a:xfrm>
            <a:off x="5726465" y="5875144"/>
            <a:ext cx="421910" cy="579733"/>
            <a:chOff x="3778500" y="5419834"/>
            <a:chExt cx="421910" cy="57973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53F2803-1009-1045-9274-253F69BC29C3}"/>
                </a:ext>
              </a:extLst>
            </p:cNvPr>
            <p:cNvSpPr txBox="1"/>
            <p:nvPr/>
          </p:nvSpPr>
          <p:spPr>
            <a:xfrm>
              <a:off x="3778500" y="563023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i+j</a:t>
              </a: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4D05FC9-A33E-E148-A6CD-60F96045EC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1797" y="5419834"/>
              <a:ext cx="0" cy="2951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4" name="Table 23" descr="example of pattern and text">
            <a:extLst>
              <a:ext uri="{FF2B5EF4-FFF2-40B4-BE49-F238E27FC236}">
                <a16:creationId xmlns:a16="http://schemas.microsoft.com/office/drawing/2014/main" id="{BAE73245-0993-9D4E-B7DA-B26055E24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145096"/>
              </p:ext>
            </p:extLst>
          </p:nvPr>
        </p:nvGraphicFramePr>
        <p:xfrm>
          <a:off x="2123697" y="4295318"/>
          <a:ext cx="73228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57">
                  <a:extLst>
                    <a:ext uri="{9D8B030D-6E8A-4147-A177-3AD203B41FA5}">
                      <a16:colId xmlns:a16="http://schemas.microsoft.com/office/drawing/2014/main" val="1522191700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405425145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37349527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77797708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718732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92921461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05459317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86876972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2636349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611317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8485916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00169395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5493939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153115423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767442848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558238939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367033481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1879218226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32707233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60669467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558848605"/>
                    </a:ext>
                  </a:extLst>
                </a:gridCol>
                <a:gridCol w="332857">
                  <a:extLst>
                    <a:ext uri="{9D8B030D-6E8A-4147-A177-3AD203B41FA5}">
                      <a16:colId xmlns:a16="http://schemas.microsoft.com/office/drawing/2014/main" val="2976311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62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07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873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10F253DA-604C-FB4A-99F7-0A5CD8F259F3}"/>
              </a:ext>
            </a:extLst>
          </p:cNvPr>
          <p:cNvSpPr txBox="1"/>
          <p:nvPr/>
        </p:nvSpPr>
        <p:spPr>
          <a:xfrm>
            <a:off x="5070152" y="3271391"/>
            <a:ext cx="63530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Mismatch char: D (</a:t>
            </a:r>
            <a:r>
              <a:rPr lang="en-US" dirty="0">
                <a:solidFill>
                  <a:schemeClr val="accent5"/>
                </a:solidFill>
                <a:latin typeface="Courier" pitchFamily="2" charset="0"/>
                <a:cs typeface="Arial" panose="020B0604020202020204" pitchFamily="34" charset="0"/>
              </a:rPr>
              <a:t>text[</a:t>
            </a:r>
            <a:r>
              <a:rPr lang="en-US" dirty="0" err="1">
                <a:solidFill>
                  <a:schemeClr val="accent5"/>
                </a:solidFill>
                <a:latin typeface="Courier" pitchFamily="2" charset="0"/>
                <a:cs typeface="Arial" panose="020B0604020202020204" pitchFamily="34" charset="0"/>
              </a:rPr>
              <a:t>i+j</a:t>
            </a:r>
            <a:r>
              <a:rPr lang="en-US" dirty="0">
                <a:solidFill>
                  <a:schemeClr val="accent5"/>
                </a:solidFill>
                <a:latin typeface="Courier" pitchFamily="2" charset="0"/>
                <a:cs typeface="Arial" panose="020B0604020202020204" pitchFamily="34" charset="0"/>
              </a:rPr>
              <a:t>]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Rightmost index of D in pattern: </a:t>
            </a:r>
            <a:r>
              <a:rPr lang="en-US" dirty="0">
                <a:solidFill>
                  <a:schemeClr val="accent5"/>
                </a:solidFill>
                <a:latin typeface="Courier" pitchFamily="2" charset="0"/>
                <a:cs typeface="Arial" panose="020B0604020202020204" pitchFamily="34" charset="0"/>
              </a:rPr>
              <a:t>pattern[text[</a:t>
            </a:r>
            <a:r>
              <a:rPr lang="en-US" dirty="0" err="1">
                <a:solidFill>
                  <a:schemeClr val="accent5"/>
                </a:solidFill>
                <a:latin typeface="Courier" pitchFamily="2" charset="0"/>
                <a:cs typeface="Arial" panose="020B0604020202020204" pitchFamily="34" charset="0"/>
              </a:rPr>
              <a:t>i+j</a:t>
            </a:r>
            <a:r>
              <a:rPr lang="en-US" dirty="0">
                <a:solidFill>
                  <a:schemeClr val="accent5"/>
                </a:solidFill>
                <a:latin typeface="Courier" pitchFamily="2" charset="0"/>
                <a:cs typeface="Arial" panose="020B0604020202020204" pitchFamily="34" charset="0"/>
              </a:rPr>
              <a:t>]]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3</a:t>
            </a:r>
          </a:p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Skip amount: </a:t>
            </a:r>
            <a:r>
              <a:rPr lang="en-US" dirty="0">
                <a:solidFill>
                  <a:schemeClr val="accent5"/>
                </a:solidFill>
                <a:latin typeface="Courier" pitchFamily="2" charset="0"/>
                <a:cs typeface="Arial" panose="020B0604020202020204" pitchFamily="34" charset="0"/>
              </a:rPr>
              <a:t>(j-index) 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5-3 = 2</a:t>
            </a:r>
          </a:p>
          <a:p>
            <a:endParaRPr lang="en-US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solidFill>
                  <a:schemeClr val="accent5"/>
                </a:solidFill>
                <a:latin typeface="Courier" pitchFamily="2" charset="0"/>
                <a:cs typeface="Arial" panose="020B0604020202020204" pitchFamily="34" charset="0"/>
              </a:rPr>
              <a:t>i</a:t>
            </a:r>
            <a:r>
              <a:rPr lang="en-US" dirty="0">
                <a:solidFill>
                  <a:schemeClr val="accent5"/>
                </a:solidFill>
                <a:latin typeface="Courier" pitchFamily="2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accent5"/>
                </a:solidFill>
                <a:latin typeface="Courier" pitchFamily="2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dirty="0" err="1">
                <a:solidFill>
                  <a:schemeClr val="accent5"/>
                </a:solidFill>
                <a:latin typeface="Courier" pitchFamily="2" charset="0"/>
                <a:cs typeface="Arial" panose="020B0604020202020204" pitchFamily="34" charset="0"/>
                <a:sym typeface="Wingdings" pitchFamily="2" charset="2"/>
              </a:rPr>
              <a:t>i+skip</a:t>
            </a:r>
            <a:endParaRPr lang="en-US" dirty="0">
              <a:solidFill>
                <a:schemeClr val="accent5"/>
              </a:solidFill>
              <a:latin typeface="Courier" pitchFamily="2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dirty="0">
                <a:solidFill>
                  <a:schemeClr val="accent5"/>
                </a:solidFill>
                <a:latin typeface="Courier" pitchFamily="2" charset="0"/>
                <a:cs typeface="Arial" panose="020B0604020202020204" pitchFamily="34" charset="0"/>
                <a:sym typeface="Wingdings" pitchFamily="2" charset="2"/>
              </a:rPr>
              <a:t>j  (M-1)</a:t>
            </a:r>
            <a:endParaRPr lang="en-US" dirty="0">
              <a:solidFill>
                <a:schemeClr val="accent5"/>
              </a:solidFill>
              <a:latin typeface="Courier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88862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 much to skip?</a:t>
            </a:r>
          </a:p>
          <a:p>
            <a:pPr lvl="1"/>
            <a:r>
              <a:rPr lang="en-US" dirty="0"/>
              <a:t>Case 2: mismatched character in pattern. </a:t>
            </a:r>
            <a:r>
              <a:rPr lang="en-US" dirty="0">
                <a:solidFill>
                  <a:schemeClr val="accent5"/>
                </a:solidFill>
              </a:rPr>
              <a:t>Precompute index of rightmost occurrence of mismatched character in pattern</a:t>
            </a:r>
            <a:r>
              <a:rPr lang="en-US" dirty="0"/>
              <a:t>. Skip </a:t>
            </a:r>
            <a:r>
              <a:rPr lang="en-US" dirty="0" err="1"/>
              <a:t>i</a:t>
            </a:r>
            <a:r>
              <a:rPr lang="en-US" dirty="0"/>
              <a:t> forward of (j – rightmost index)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3B48AF-B7E7-A040-8B55-DDE5B6642D65}"/>
              </a:ext>
            </a:extLst>
          </p:cNvPr>
          <p:cNvSpPr txBox="1"/>
          <p:nvPr/>
        </p:nvSpPr>
        <p:spPr>
          <a:xfrm>
            <a:off x="898071" y="3429000"/>
            <a:ext cx="3768980" cy="1477328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for c in range(0,R):</a:t>
            </a:r>
          </a:p>
          <a:p>
            <a:r>
              <a:rPr lang="en-US" dirty="0">
                <a:latin typeface="Courier" pitchFamily="2" charset="0"/>
              </a:rPr>
              <a:t>    index[c] = -1: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for j in range(0,M):</a:t>
            </a:r>
          </a:p>
          <a:p>
            <a:r>
              <a:rPr lang="en-US" dirty="0">
                <a:latin typeface="Courier" pitchFamily="2" charset="0"/>
              </a:rPr>
              <a:t>    index[pattern[j]] = j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073B48-6A16-BE40-B21E-79F58C83F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016145"/>
              </p:ext>
            </p:extLst>
          </p:nvPr>
        </p:nvGraphicFramePr>
        <p:xfrm>
          <a:off x="5711814" y="3145447"/>
          <a:ext cx="5696415" cy="3415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375">
                  <a:extLst>
                    <a:ext uri="{9D8B030D-6E8A-4147-A177-3AD203B41FA5}">
                      <a16:colId xmlns:a16="http://schemas.microsoft.com/office/drawing/2014/main" val="4237307768"/>
                    </a:ext>
                  </a:extLst>
                </a:gridCol>
                <a:gridCol w="398021">
                  <a:extLst>
                    <a:ext uri="{9D8B030D-6E8A-4147-A177-3AD203B41FA5}">
                      <a16:colId xmlns:a16="http://schemas.microsoft.com/office/drawing/2014/main" val="4140185521"/>
                    </a:ext>
                  </a:extLst>
                </a:gridCol>
                <a:gridCol w="619143">
                  <a:extLst>
                    <a:ext uri="{9D8B030D-6E8A-4147-A177-3AD203B41FA5}">
                      <a16:colId xmlns:a16="http://schemas.microsoft.com/office/drawing/2014/main" val="3166792031"/>
                    </a:ext>
                  </a:extLst>
                </a:gridCol>
                <a:gridCol w="487931">
                  <a:extLst>
                    <a:ext uri="{9D8B030D-6E8A-4147-A177-3AD203B41FA5}">
                      <a16:colId xmlns:a16="http://schemas.microsoft.com/office/drawing/2014/main" val="2121341688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3644426280"/>
                    </a:ext>
                  </a:extLst>
                </a:gridCol>
                <a:gridCol w="440872">
                  <a:extLst>
                    <a:ext uri="{9D8B030D-6E8A-4147-A177-3AD203B41FA5}">
                      <a16:colId xmlns:a16="http://schemas.microsoft.com/office/drawing/2014/main" val="648415584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660908591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3907727732"/>
                    </a:ext>
                  </a:extLst>
                </a:gridCol>
                <a:gridCol w="1404259">
                  <a:extLst>
                    <a:ext uri="{9D8B030D-6E8A-4147-A177-3AD203B41FA5}">
                      <a16:colId xmlns:a16="http://schemas.microsoft.com/office/drawing/2014/main" val="1613871206"/>
                    </a:ext>
                  </a:extLst>
                </a:gridCol>
              </a:tblGrid>
              <a:tr h="23086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880364"/>
                  </a:ext>
                </a:extLst>
              </a:tr>
              <a:tr h="39847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index[c]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19446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88143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27492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73730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758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452458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43240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012064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34158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32836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597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67789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 much to skip?</a:t>
            </a:r>
          </a:p>
          <a:p>
            <a:pPr lvl="1"/>
            <a:r>
              <a:rPr lang="en-US" dirty="0"/>
              <a:t>Case 2: mismatched character in pattern. </a:t>
            </a:r>
            <a:r>
              <a:rPr lang="en-US" dirty="0">
                <a:solidFill>
                  <a:schemeClr val="accent5"/>
                </a:solidFill>
              </a:rPr>
              <a:t>Precompute index of rightmost occurrence of mismatched character in pattern</a:t>
            </a:r>
            <a:r>
              <a:rPr lang="en-US" dirty="0"/>
              <a:t>. Skip </a:t>
            </a:r>
            <a:r>
              <a:rPr lang="en-US" dirty="0" err="1"/>
              <a:t>i</a:t>
            </a:r>
            <a:r>
              <a:rPr lang="en-US" dirty="0"/>
              <a:t> forward of (j – rightmost index)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419F44-9A64-AD41-83AC-742DA294233F}"/>
              </a:ext>
            </a:extLst>
          </p:cNvPr>
          <p:cNvSpPr txBox="1"/>
          <p:nvPr/>
        </p:nvSpPr>
        <p:spPr>
          <a:xfrm>
            <a:off x="898071" y="3429000"/>
            <a:ext cx="3768980" cy="1477328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for c in range(0,R):</a:t>
            </a:r>
          </a:p>
          <a:p>
            <a:r>
              <a:rPr lang="en-US" dirty="0">
                <a:latin typeface="Courier" pitchFamily="2" charset="0"/>
              </a:rPr>
              <a:t>    index[c] = -1: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for j in range(0,M):</a:t>
            </a:r>
          </a:p>
          <a:p>
            <a:r>
              <a:rPr lang="en-US" dirty="0">
                <a:latin typeface="Courier" pitchFamily="2" charset="0"/>
              </a:rPr>
              <a:t>    index[pattern[j]] = j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073B48-6A16-BE40-B21E-79F58C83F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544943"/>
              </p:ext>
            </p:extLst>
          </p:nvPr>
        </p:nvGraphicFramePr>
        <p:xfrm>
          <a:off x="5711814" y="3145447"/>
          <a:ext cx="5696415" cy="3415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375">
                  <a:extLst>
                    <a:ext uri="{9D8B030D-6E8A-4147-A177-3AD203B41FA5}">
                      <a16:colId xmlns:a16="http://schemas.microsoft.com/office/drawing/2014/main" val="4237307768"/>
                    </a:ext>
                  </a:extLst>
                </a:gridCol>
                <a:gridCol w="398021">
                  <a:extLst>
                    <a:ext uri="{9D8B030D-6E8A-4147-A177-3AD203B41FA5}">
                      <a16:colId xmlns:a16="http://schemas.microsoft.com/office/drawing/2014/main" val="4140185521"/>
                    </a:ext>
                  </a:extLst>
                </a:gridCol>
                <a:gridCol w="619143">
                  <a:extLst>
                    <a:ext uri="{9D8B030D-6E8A-4147-A177-3AD203B41FA5}">
                      <a16:colId xmlns:a16="http://schemas.microsoft.com/office/drawing/2014/main" val="3166792031"/>
                    </a:ext>
                  </a:extLst>
                </a:gridCol>
                <a:gridCol w="487931">
                  <a:extLst>
                    <a:ext uri="{9D8B030D-6E8A-4147-A177-3AD203B41FA5}">
                      <a16:colId xmlns:a16="http://schemas.microsoft.com/office/drawing/2014/main" val="2121341688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3644426280"/>
                    </a:ext>
                  </a:extLst>
                </a:gridCol>
                <a:gridCol w="440872">
                  <a:extLst>
                    <a:ext uri="{9D8B030D-6E8A-4147-A177-3AD203B41FA5}">
                      <a16:colId xmlns:a16="http://schemas.microsoft.com/office/drawing/2014/main" val="648415584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660908591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3907727732"/>
                    </a:ext>
                  </a:extLst>
                </a:gridCol>
                <a:gridCol w="1404259">
                  <a:extLst>
                    <a:ext uri="{9D8B030D-6E8A-4147-A177-3AD203B41FA5}">
                      <a16:colId xmlns:a16="http://schemas.microsoft.com/office/drawing/2014/main" val="1613871206"/>
                    </a:ext>
                  </a:extLst>
                </a:gridCol>
              </a:tblGrid>
              <a:tr h="23086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880364"/>
                  </a:ext>
                </a:extLst>
              </a:tr>
              <a:tr h="39847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index[c]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19446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88143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27492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73730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758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452458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43240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012064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34158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32836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597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728501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 much to skip?</a:t>
            </a:r>
          </a:p>
          <a:p>
            <a:pPr lvl="1"/>
            <a:r>
              <a:rPr lang="en-US" dirty="0"/>
              <a:t>Case 2: mismatched character in pattern. </a:t>
            </a:r>
            <a:r>
              <a:rPr lang="en-US" dirty="0">
                <a:solidFill>
                  <a:schemeClr val="accent5"/>
                </a:solidFill>
              </a:rPr>
              <a:t>Precompute index of rightmost occurrence of mismatched character in pattern</a:t>
            </a:r>
            <a:r>
              <a:rPr lang="en-US" dirty="0"/>
              <a:t>. Skip </a:t>
            </a:r>
            <a:r>
              <a:rPr lang="en-US" dirty="0" err="1"/>
              <a:t>i</a:t>
            </a:r>
            <a:r>
              <a:rPr lang="en-US" dirty="0"/>
              <a:t> forward of (j – rightmost index)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87C1EA-7AEC-6841-8E36-D93BC290261D}"/>
              </a:ext>
            </a:extLst>
          </p:cNvPr>
          <p:cNvSpPr txBox="1"/>
          <p:nvPr/>
        </p:nvSpPr>
        <p:spPr>
          <a:xfrm>
            <a:off x="898071" y="3429000"/>
            <a:ext cx="3768980" cy="1477328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for c in range(0,R):</a:t>
            </a:r>
          </a:p>
          <a:p>
            <a:r>
              <a:rPr lang="en-US" dirty="0">
                <a:latin typeface="Courier" pitchFamily="2" charset="0"/>
              </a:rPr>
              <a:t>    index[c] = -1: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for j in range(0,M):</a:t>
            </a:r>
          </a:p>
          <a:p>
            <a:r>
              <a:rPr lang="en-US" dirty="0">
                <a:latin typeface="Courier" pitchFamily="2" charset="0"/>
              </a:rPr>
              <a:t>    index[pattern[j]] = j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073B48-6A16-BE40-B21E-79F58C83F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19263"/>
              </p:ext>
            </p:extLst>
          </p:nvPr>
        </p:nvGraphicFramePr>
        <p:xfrm>
          <a:off x="5711814" y="3145447"/>
          <a:ext cx="5696415" cy="3415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375">
                  <a:extLst>
                    <a:ext uri="{9D8B030D-6E8A-4147-A177-3AD203B41FA5}">
                      <a16:colId xmlns:a16="http://schemas.microsoft.com/office/drawing/2014/main" val="4237307768"/>
                    </a:ext>
                  </a:extLst>
                </a:gridCol>
                <a:gridCol w="398021">
                  <a:extLst>
                    <a:ext uri="{9D8B030D-6E8A-4147-A177-3AD203B41FA5}">
                      <a16:colId xmlns:a16="http://schemas.microsoft.com/office/drawing/2014/main" val="4140185521"/>
                    </a:ext>
                  </a:extLst>
                </a:gridCol>
                <a:gridCol w="619143">
                  <a:extLst>
                    <a:ext uri="{9D8B030D-6E8A-4147-A177-3AD203B41FA5}">
                      <a16:colId xmlns:a16="http://schemas.microsoft.com/office/drawing/2014/main" val="3166792031"/>
                    </a:ext>
                  </a:extLst>
                </a:gridCol>
                <a:gridCol w="487931">
                  <a:extLst>
                    <a:ext uri="{9D8B030D-6E8A-4147-A177-3AD203B41FA5}">
                      <a16:colId xmlns:a16="http://schemas.microsoft.com/office/drawing/2014/main" val="2121341688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3644426280"/>
                    </a:ext>
                  </a:extLst>
                </a:gridCol>
                <a:gridCol w="440872">
                  <a:extLst>
                    <a:ext uri="{9D8B030D-6E8A-4147-A177-3AD203B41FA5}">
                      <a16:colId xmlns:a16="http://schemas.microsoft.com/office/drawing/2014/main" val="648415584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660908591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3907727732"/>
                    </a:ext>
                  </a:extLst>
                </a:gridCol>
                <a:gridCol w="1404259">
                  <a:extLst>
                    <a:ext uri="{9D8B030D-6E8A-4147-A177-3AD203B41FA5}">
                      <a16:colId xmlns:a16="http://schemas.microsoft.com/office/drawing/2014/main" val="1613871206"/>
                    </a:ext>
                  </a:extLst>
                </a:gridCol>
              </a:tblGrid>
              <a:tr h="23086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880364"/>
                  </a:ext>
                </a:extLst>
              </a:tr>
              <a:tr h="39847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index[c]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19446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88143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27492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73730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758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452458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43240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012064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34158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32836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597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240928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 much to skip?</a:t>
            </a:r>
          </a:p>
          <a:p>
            <a:pPr lvl="1"/>
            <a:r>
              <a:rPr lang="en-US" dirty="0"/>
              <a:t>Case 2: mismatched character in pattern. </a:t>
            </a:r>
            <a:r>
              <a:rPr lang="en-US" dirty="0">
                <a:solidFill>
                  <a:schemeClr val="accent5"/>
                </a:solidFill>
              </a:rPr>
              <a:t>Precompute index of rightmost occurrence of mismatched character in pattern</a:t>
            </a:r>
            <a:r>
              <a:rPr lang="en-US" dirty="0"/>
              <a:t>. Skip </a:t>
            </a:r>
            <a:r>
              <a:rPr lang="en-US" dirty="0" err="1"/>
              <a:t>i</a:t>
            </a:r>
            <a:r>
              <a:rPr lang="en-US" dirty="0"/>
              <a:t> forward of (j – rightmost index)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73FE06-4111-7C4F-B6A2-75DE3BB5E729}"/>
              </a:ext>
            </a:extLst>
          </p:cNvPr>
          <p:cNvSpPr txBox="1"/>
          <p:nvPr/>
        </p:nvSpPr>
        <p:spPr>
          <a:xfrm>
            <a:off x="898071" y="3429000"/>
            <a:ext cx="3768980" cy="1477328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for c in range(0,R):</a:t>
            </a:r>
          </a:p>
          <a:p>
            <a:r>
              <a:rPr lang="en-US" dirty="0">
                <a:latin typeface="Courier" pitchFamily="2" charset="0"/>
              </a:rPr>
              <a:t>    index[c] = -1: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for j in range(0,M):</a:t>
            </a:r>
          </a:p>
          <a:p>
            <a:r>
              <a:rPr lang="en-US" dirty="0">
                <a:latin typeface="Courier" pitchFamily="2" charset="0"/>
              </a:rPr>
              <a:t>    index[pattern[j]] = j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073B48-6A16-BE40-B21E-79F58C83F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618506"/>
              </p:ext>
            </p:extLst>
          </p:nvPr>
        </p:nvGraphicFramePr>
        <p:xfrm>
          <a:off x="5711814" y="3145447"/>
          <a:ext cx="5696415" cy="3415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375">
                  <a:extLst>
                    <a:ext uri="{9D8B030D-6E8A-4147-A177-3AD203B41FA5}">
                      <a16:colId xmlns:a16="http://schemas.microsoft.com/office/drawing/2014/main" val="4237307768"/>
                    </a:ext>
                  </a:extLst>
                </a:gridCol>
                <a:gridCol w="398021">
                  <a:extLst>
                    <a:ext uri="{9D8B030D-6E8A-4147-A177-3AD203B41FA5}">
                      <a16:colId xmlns:a16="http://schemas.microsoft.com/office/drawing/2014/main" val="4140185521"/>
                    </a:ext>
                  </a:extLst>
                </a:gridCol>
                <a:gridCol w="619143">
                  <a:extLst>
                    <a:ext uri="{9D8B030D-6E8A-4147-A177-3AD203B41FA5}">
                      <a16:colId xmlns:a16="http://schemas.microsoft.com/office/drawing/2014/main" val="3166792031"/>
                    </a:ext>
                  </a:extLst>
                </a:gridCol>
                <a:gridCol w="487931">
                  <a:extLst>
                    <a:ext uri="{9D8B030D-6E8A-4147-A177-3AD203B41FA5}">
                      <a16:colId xmlns:a16="http://schemas.microsoft.com/office/drawing/2014/main" val="2121341688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3644426280"/>
                    </a:ext>
                  </a:extLst>
                </a:gridCol>
                <a:gridCol w="440872">
                  <a:extLst>
                    <a:ext uri="{9D8B030D-6E8A-4147-A177-3AD203B41FA5}">
                      <a16:colId xmlns:a16="http://schemas.microsoft.com/office/drawing/2014/main" val="648415584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660908591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3907727732"/>
                    </a:ext>
                  </a:extLst>
                </a:gridCol>
                <a:gridCol w="1404259">
                  <a:extLst>
                    <a:ext uri="{9D8B030D-6E8A-4147-A177-3AD203B41FA5}">
                      <a16:colId xmlns:a16="http://schemas.microsoft.com/office/drawing/2014/main" val="1613871206"/>
                    </a:ext>
                  </a:extLst>
                </a:gridCol>
              </a:tblGrid>
              <a:tr h="23086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880364"/>
                  </a:ext>
                </a:extLst>
              </a:tr>
              <a:tr h="39847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index[c]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19446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88143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27492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73730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758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452458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43240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012064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34158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32836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597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964654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 much to skip?</a:t>
            </a:r>
          </a:p>
          <a:p>
            <a:pPr lvl="1"/>
            <a:r>
              <a:rPr lang="en-US" dirty="0"/>
              <a:t>Case 2: mismatched character in pattern. </a:t>
            </a:r>
            <a:r>
              <a:rPr lang="en-US" dirty="0">
                <a:solidFill>
                  <a:schemeClr val="accent5"/>
                </a:solidFill>
              </a:rPr>
              <a:t>Precompute index of rightmost occurrence of mismatched character in pattern</a:t>
            </a:r>
            <a:r>
              <a:rPr lang="en-US" dirty="0"/>
              <a:t>. Skip </a:t>
            </a:r>
            <a:r>
              <a:rPr lang="en-US" dirty="0" err="1"/>
              <a:t>i</a:t>
            </a:r>
            <a:r>
              <a:rPr lang="en-US" dirty="0"/>
              <a:t> forward of (j – rightmost index)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79665F-2700-B04C-B092-A10AE46B2FC1}"/>
              </a:ext>
            </a:extLst>
          </p:cNvPr>
          <p:cNvSpPr txBox="1"/>
          <p:nvPr/>
        </p:nvSpPr>
        <p:spPr>
          <a:xfrm>
            <a:off x="898071" y="3429000"/>
            <a:ext cx="3768980" cy="1477328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for c in range(0,R):</a:t>
            </a:r>
          </a:p>
          <a:p>
            <a:r>
              <a:rPr lang="en-US" dirty="0">
                <a:latin typeface="Courier" pitchFamily="2" charset="0"/>
              </a:rPr>
              <a:t>    index[c] = -1: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for j in range(0,M):</a:t>
            </a:r>
          </a:p>
          <a:p>
            <a:r>
              <a:rPr lang="en-US" dirty="0">
                <a:latin typeface="Courier" pitchFamily="2" charset="0"/>
              </a:rPr>
              <a:t>    index[pattern[j]] = j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073B48-6A16-BE40-B21E-79F58C83F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645381"/>
              </p:ext>
            </p:extLst>
          </p:nvPr>
        </p:nvGraphicFramePr>
        <p:xfrm>
          <a:off x="5711814" y="3145447"/>
          <a:ext cx="5696415" cy="3415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375">
                  <a:extLst>
                    <a:ext uri="{9D8B030D-6E8A-4147-A177-3AD203B41FA5}">
                      <a16:colId xmlns:a16="http://schemas.microsoft.com/office/drawing/2014/main" val="4237307768"/>
                    </a:ext>
                  </a:extLst>
                </a:gridCol>
                <a:gridCol w="398021">
                  <a:extLst>
                    <a:ext uri="{9D8B030D-6E8A-4147-A177-3AD203B41FA5}">
                      <a16:colId xmlns:a16="http://schemas.microsoft.com/office/drawing/2014/main" val="4140185521"/>
                    </a:ext>
                  </a:extLst>
                </a:gridCol>
                <a:gridCol w="619143">
                  <a:extLst>
                    <a:ext uri="{9D8B030D-6E8A-4147-A177-3AD203B41FA5}">
                      <a16:colId xmlns:a16="http://schemas.microsoft.com/office/drawing/2014/main" val="3166792031"/>
                    </a:ext>
                  </a:extLst>
                </a:gridCol>
                <a:gridCol w="487931">
                  <a:extLst>
                    <a:ext uri="{9D8B030D-6E8A-4147-A177-3AD203B41FA5}">
                      <a16:colId xmlns:a16="http://schemas.microsoft.com/office/drawing/2014/main" val="2121341688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3644426280"/>
                    </a:ext>
                  </a:extLst>
                </a:gridCol>
                <a:gridCol w="440872">
                  <a:extLst>
                    <a:ext uri="{9D8B030D-6E8A-4147-A177-3AD203B41FA5}">
                      <a16:colId xmlns:a16="http://schemas.microsoft.com/office/drawing/2014/main" val="648415584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660908591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3907727732"/>
                    </a:ext>
                  </a:extLst>
                </a:gridCol>
                <a:gridCol w="1404259">
                  <a:extLst>
                    <a:ext uri="{9D8B030D-6E8A-4147-A177-3AD203B41FA5}">
                      <a16:colId xmlns:a16="http://schemas.microsoft.com/office/drawing/2014/main" val="1613871206"/>
                    </a:ext>
                  </a:extLst>
                </a:gridCol>
              </a:tblGrid>
              <a:tr h="23086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880364"/>
                  </a:ext>
                </a:extLst>
              </a:tr>
              <a:tr h="39847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index[c]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19446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88143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27492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73730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758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452458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43240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012064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34158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32836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597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230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 much to skip?</a:t>
            </a:r>
          </a:p>
          <a:p>
            <a:pPr lvl="1"/>
            <a:r>
              <a:rPr lang="en-US" dirty="0"/>
              <a:t>Case 2: mismatched character in pattern. </a:t>
            </a:r>
            <a:r>
              <a:rPr lang="en-US" dirty="0">
                <a:solidFill>
                  <a:schemeClr val="accent5"/>
                </a:solidFill>
              </a:rPr>
              <a:t>Precompute index of rightmost occurrence of mismatched character in pattern</a:t>
            </a:r>
            <a:r>
              <a:rPr lang="en-US" dirty="0"/>
              <a:t>. Skip </a:t>
            </a:r>
            <a:r>
              <a:rPr lang="en-US" dirty="0" err="1"/>
              <a:t>i</a:t>
            </a:r>
            <a:r>
              <a:rPr lang="en-US" dirty="0"/>
              <a:t> forward of (j – rightmost index)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89A478-FF89-E84E-8265-C65AD9F1EF7B}"/>
              </a:ext>
            </a:extLst>
          </p:cNvPr>
          <p:cNvSpPr txBox="1"/>
          <p:nvPr/>
        </p:nvSpPr>
        <p:spPr>
          <a:xfrm>
            <a:off x="898071" y="3429000"/>
            <a:ext cx="3768980" cy="1477328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for c in range(0,R):</a:t>
            </a:r>
          </a:p>
          <a:p>
            <a:r>
              <a:rPr lang="en-US" dirty="0">
                <a:latin typeface="Courier" pitchFamily="2" charset="0"/>
              </a:rPr>
              <a:t>    index[c] = -1: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for j in range(0,M):</a:t>
            </a:r>
          </a:p>
          <a:p>
            <a:r>
              <a:rPr lang="en-US" dirty="0">
                <a:latin typeface="Courier" pitchFamily="2" charset="0"/>
              </a:rPr>
              <a:t>    index[pattern[j]] = j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073B48-6A16-BE40-B21E-79F58C83F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28294"/>
              </p:ext>
            </p:extLst>
          </p:nvPr>
        </p:nvGraphicFramePr>
        <p:xfrm>
          <a:off x="5711814" y="3145447"/>
          <a:ext cx="5696415" cy="3415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375">
                  <a:extLst>
                    <a:ext uri="{9D8B030D-6E8A-4147-A177-3AD203B41FA5}">
                      <a16:colId xmlns:a16="http://schemas.microsoft.com/office/drawing/2014/main" val="4237307768"/>
                    </a:ext>
                  </a:extLst>
                </a:gridCol>
                <a:gridCol w="398021">
                  <a:extLst>
                    <a:ext uri="{9D8B030D-6E8A-4147-A177-3AD203B41FA5}">
                      <a16:colId xmlns:a16="http://schemas.microsoft.com/office/drawing/2014/main" val="4140185521"/>
                    </a:ext>
                  </a:extLst>
                </a:gridCol>
                <a:gridCol w="619143">
                  <a:extLst>
                    <a:ext uri="{9D8B030D-6E8A-4147-A177-3AD203B41FA5}">
                      <a16:colId xmlns:a16="http://schemas.microsoft.com/office/drawing/2014/main" val="3166792031"/>
                    </a:ext>
                  </a:extLst>
                </a:gridCol>
                <a:gridCol w="487931">
                  <a:extLst>
                    <a:ext uri="{9D8B030D-6E8A-4147-A177-3AD203B41FA5}">
                      <a16:colId xmlns:a16="http://schemas.microsoft.com/office/drawing/2014/main" val="2121341688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3644426280"/>
                    </a:ext>
                  </a:extLst>
                </a:gridCol>
                <a:gridCol w="440872">
                  <a:extLst>
                    <a:ext uri="{9D8B030D-6E8A-4147-A177-3AD203B41FA5}">
                      <a16:colId xmlns:a16="http://schemas.microsoft.com/office/drawing/2014/main" val="648415584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660908591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3907727732"/>
                    </a:ext>
                  </a:extLst>
                </a:gridCol>
                <a:gridCol w="1404259">
                  <a:extLst>
                    <a:ext uri="{9D8B030D-6E8A-4147-A177-3AD203B41FA5}">
                      <a16:colId xmlns:a16="http://schemas.microsoft.com/office/drawing/2014/main" val="1613871206"/>
                    </a:ext>
                  </a:extLst>
                </a:gridCol>
              </a:tblGrid>
              <a:tr h="23086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880364"/>
                  </a:ext>
                </a:extLst>
              </a:tr>
              <a:tr h="39847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index[c]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19446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88143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27492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73730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758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452458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43240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012064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34158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32836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597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901483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 much to skip?</a:t>
            </a:r>
          </a:p>
          <a:p>
            <a:pPr lvl="1"/>
            <a:r>
              <a:rPr lang="en-US" dirty="0"/>
              <a:t>Case 2: mismatched character in pattern. </a:t>
            </a:r>
            <a:r>
              <a:rPr lang="en-US" dirty="0">
                <a:solidFill>
                  <a:schemeClr val="accent5"/>
                </a:solidFill>
              </a:rPr>
              <a:t>Precompute index of rightmost occurrence of mismatched character in pattern</a:t>
            </a:r>
            <a:r>
              <a:rPr lang="en-US" dirty="0"/>
              <a:t>. Skip </a:t>
            </a:r>
            <a:r>
              <a:rPr lang="en-US" dirty="0" err="1"/>
              <a:t>i</a:t>
            </a:r>
            <a:r>
              <a:rPr lang="en-US" dirty="0"/>
              <a:t> forward of (j – rightmost index)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90C4A-4A0A-9D48-A1FA-6FC6FF49B387}"/>
              </a:ext>
            </a:extLst>
          </p:cNvPr>
          <p:cNvSpPr txBox="1"/>
          <p:nvPr/>
        </p:nvSpPr>
        <p:spPr>
          <a:xfrm>
            <a:off x="898071" y="3429000"/>
            <a:ext cx="3768980" cy="1477328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for c in range(0,R):</a:t>
            </a:r>
          </a:p>
          <a:p>
            <a:r>
              <a:rPr lang="en-US" dirty="0">
                <a:latin typeface="Courier" pitchFamily="2" charset="0"/>
              </a:rPr>
              <a:t>    index[c] = -1: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for j in range(0,M):</a:t>
            </a:r>
          </a:p>
          <a:p>
            <a:r>
              <a:rPr lang="en-US" dirty="0">
                <a:latin typeface="Courier" pitchFamily="2" charset="0"/>
              </a:rPr>
              <a:t>    index[pattern[j]] = j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073B48-6A16-BE40-B21E-79F58C83F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054835"/>
              </p:ext>
            </p:extLst>
          </p:nvPr>
        </p:nvGraphicFramePr>
        <p:xfrm>
          <a:off x="5711814" y="3145447"/>
          <a:ext cx="5696415" cy="3415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375">
                  <a:extLst>
                    <a:ext uri="{9D8B030D-6E8A-4147-A177-3AD203B41FA5}">
                      <a16:colId xmlns:a16="http://schemas.microsoft.com/office/drawing/2014/main" val="4237307768"/>
                    </a:ext>
                  </a:extLst>
                </a:gridCol>
                <a:gridCol w="398021">
                  <a:extLst>
                    <a:ext uri="{9D8B030D-6E8A-4147-A177-3AD203B41FA5}">
                      <a16:colId xmlns:a16="http://schemas.microsoft.com/office/drawing/2014/main" val="4140185521"/>
                    </a:ext>
                  </a:extLst>
                </a:gridCol>
                <a:gridCol w="619143">
                  <a:extLst>
                    <a:ext uri="{9D8B030D-6E8A-4147-A177-3AD203B41FA5}">
                      <a16:colId xmlns:a16="http://schemas.microsoft.com/office/drawing/2014/main" val="3166792031"/>
                    </a:ext>
                  </a:extLst>
                </a:gridCol>
                <a:gridCol w="487931">
                  <a:extLst>
                    <a:ext uri="{9D8B030D-6E8A-4147-A177-3AD203B41FA5}">
                      <a16:colId xmlns:a16="http://schemas.microsoft.com/office/drawing/2014/main" val="2121341688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3644426280"/>
                    </a:ext>
                  </a:extLst>
                </a:gridCol>
                <a:gridCol w="440872">
                  <a:extLst>
                    <a:ext uri="{9D8B030D-6E8A-4147-A177-3AD203B41FA5}">
                      <a16:colId xmlns:a16="http://schemas.microsoft.com/office/drawing/2014/main" val="648415584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660908591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3907727732"/>
                    </a:ext>
                  </a:extLst>
                </a:gridCol>
                <a:gridCol w="1404259">
                  <a:extLst>
                    <a:ext uri="{9D8B030D-6E8A-4147-A177-3AD203B41FA5}">
                      <a16:colId xmlns:a16="http://schemas.microsoft.com/office/drawing/2014/main" val="1613871206"/>
                    </a:ext>
                  </a:extLst>
                </a:gridCol>
              </a:tblGrid>
              <a:tr h="23086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880364"/>
                  </a:ext>
                </a:extLst>
              </a:tr>
              <a:tr h="39847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index[c]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19446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88143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27492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73730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758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452458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43240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012064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34158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32836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597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520776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 much to skip?</a:t>
            </a:r>
          </a:p>
          <a:p>
            <a:pPr lvl="1"/>
            <a:r>
              <a:rPr lang="en-US" dirty="0"/>
              <a:t>Case 2: mismatched character in pattern. </a:t>
            </a:r>
            <a:r>
              <a:rPr lang="en-US" dirty="0">
                <a:solidFill>
                  <a:schemeClr val="accent5"/>
                </a:solidFill>
              </a:rPr>
              <a:t>Precompute index of rightmost occurrence of mismatched character in pattern</a:t>
            </a:r>
            <a:r>
              <a:rPr lang="en-US" dirty="0"/>
              <a:t>. Skip </a:t>
            </a:r>
            <a:r>
              <a:rPr lang="en-US" dirty="0" err="1"/>
              <a:t>i</a:t>
            </a:r>
            <a:r>
              <a:rPr lang="en-US" dirty="0"/>
              <a:t> forward of (j – rightmost index)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007473-2CE5-9C49-822E-984D277D953F}"/>
              </a:ext>
            </a:extLst>
          </p:cNvPr>
          <p:cNvSpPr txBox="1"/>
          <p:nvPr/>
        </p:nvSpPr>
        <p:spPr>
          <a:xfrm>
            <a:off x="898071" y="3429000"/>
            <a:ext cx="3768980" cy="1477328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for c in range(0,R):</a:t>
            </a:r>
          </a:p>
          <a:p>
            <a:r>
              <a:rPr lang="en-US" dirty="0">
                <a:latin typeface="Courier" pitchFamily="2" charset="0"/>
              </a:rPr>
              <a:t>    index[c] = -1: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for j in range(0,M):</a:t>
            </a:r>
          </a:p>
          <a:p>
            <a:r>
              <a:rPr lang="en-US" dirty="0">
                <a:latin typeface="Courier" pitchFamily="2" charset="0"/>
              </a:rPr>
              <a:t>    index[pattern[j]] = j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073B48-6A16-BE40-B21E-79F58C83F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070365"/>
              </p:ext>
            </p:extLst>
          </p:nvPr>
        </p:nvGraphicFramePr>
        <p:xfrm>
          <a:off x="5711814" y="3145447"/>
          <a:ext cx="5696415" cy="3415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375">
                  <a:extLst>
                    <a:ext uri="{9D8B030D-6E8A-4147-A177-3AD203B41FA5}">
                      <a16:colId xmlns:a16="http://schemas.microsoft.com/office/drawing/2014/main" val="4237307768"/>
                    </a:ext>
                  </a:extLst>
                </a:gridCol>
                <a:gridCol w="398021">
                  <a:extLst>
                    <a:ext uri="{9D8B030D-6E8A-4147-A177-3AD203B41FA5}">
                      <a16:colId xmlns:a16="http://schemas.microsoft.com/office/drawing/2014/main" val="4140185521"/>
                    </a:ext>
                  </a:extLst>
                </a:gridCol>
                <a:gridCol w="619143">
                  <a:extLst>
                    <a:ext uri="{9D8B030D-6E8A-4147-A177-3AD203B41FA5}">
                      <a16:colId xmlns:a16="http://schemas.microsoft.com/office/drawing/2014/main" val="3166792031"/>
                    </a:ext>
                  </a:extLst>
                </a:gridCol>
                <a:gridCol w="487931">
                  <a:extLst>
                    <a:ext uri="{9D8B030D-6E8A-4147-A177-3AD203B41FA5}">
                      <a16:colId xmlns:a16="http://schemas.microsoft.com/office/drawing/2014/main" val="2121341688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3644426280"/>
                    </a:ext>
                  </a:extLst>
                </a:gridCol>
                <a:gridCol w="440872">
                  <a:extLst>
                    <a:ext uri="{9D8B030D-6E8A-4147-A177-3AD203B41FA5}">
                      <a16:colId xmlns:a16="http://schemas.microsoft.com/office/drawing/2014/main" val="648415584"/>
                    </a:ext>
                  </a:extLst>
                </a:gridCol>
                <a:gridCol w="734785">
                  <a:extLst>
                    <a:ext uri="{9D8B030D-6E8A-4147-A177-3AD203B41FA5}">
                      <a16:colId xmlns:a16="http://schemas.microsoft.com/office/drawing/2014/main" val="660908591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3907727732"/>
                    </a:ext>
                  </a:extLst>
                </a:gridCol>
                <a:gridCol w="1404259">
                  <a:extLst>
                    <a:ext uri="{9D8B030D-6E8A-4147-A177-3AD203B41FA5}">
                      <a16:colId xmlns:a16="http://schemas.microsoft.com/office/drawing/2014/main" val="1613871206"/>
                    </a:ext>
                  </a:extLst>
                </a:gridCol>
              </a:tblGrid>
              <a:tr h="23086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880364"/>
                  </a:ext>
                </a:extLst>
              </a:tr>
              <a:tr h="39847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index[c]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19446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88143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27492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73730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627587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452458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432402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012064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341586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328365"/>
                  </a:ext>
                </a:extLst>
              </a:tr>
              <a:tr h="2308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597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36223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007473-2CE5-9C49-822E-984D277D953F}"/>
              </a:ext>
            </a:extLst>
          </p:cNvPr>
          <p:cNvSpPr txBox="1"/>
          <p:nvPr/>
        </p:nvSpPr>
        <p:spPr>
          <a:xfrm>
            <a:off x="565600" y="2262469"/>
            <a:ext cx="6479659" cy="4278094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def </a:t>
            </a:r>
            <a:r>
              <a:rPr lang="en-US" sz="1600" dirty="0" err="1">
                <a:latin typeface="Courier" pitchFamily="2" charset="0"/>
              </a:rPr>
              <a:t>subStringSearch</a:t>
            </a:r>
            <a:r>
              <a:rPr lang="en-US" sz="1600" dirty="0">
                <a:latin typeface="Courier" pitchFamily="2" charset="0"/>
              </a:rPr>
              <a:t>(text):  </a:t>
            </a:r>
          </a:p>
          <a:p>
            <a:r>
              <a:rPr lang="en-US" sz="1600" dirty="0">
                <a:latin typeface="Courier" pitchFamily="2" charset="0"/>
              </a:rPr>
              <a:t>    N = </a:t>
            </a:r>
            <a:r>
              <a:rPr lang="en-US" sz="1600" dirty="0" err="1">
                <a:latin typeface="Courier" pitchFamily="2" charset="0"/>
              </a:rPr>
              <a:t>len</a:t>
            </a:r>
            <a:r>
              <a:rPr lang="en-US" sz="1600" dirty="0">
                <a:latin typeface="Courier" pitchFamily="2" charset="0"/>
              </a:rPr>
              <a:t>(text)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= 0</a:t>
            </a:r>
          </a:p>
          <a:p>
            <a:r>
              <a:rPr lang="en-US" sz="1600" dirty="0">
                <a:latin typeface="Courier" pitchFamily="2" charset="0"/>
              </a:rPr>
              <a:t>    while (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&lt;= N-M):</a:t>
            </a:r>
          </a:p>
          <a:p>
            <a:r>
              <a:rPr lang="en-US" sz="1600" dirty="0">
                <a:latin typeface="Courier" pitchFamily="2" charset="0"/>
              </a:rPr>
              <a:t>        skip = 0</a:t>
            </a:r>
          </a:p>
          <a:p>
            <a:r>
              <a:rPr lang="en-US" sz="1600" dirty="0">
                <a:latin typeface="Courier" pitchFamily="2" charset="0"/>
              </a:rPr>
              <a:t>        j = M-1</a:t>
            </a:r>
          </a:p>
          <a:p>
            <a:r>
              <a:rPr lang="en-US" sz="1600" dirty="0">
                <a:latin typeface="Courier" pitchFamily="2" charset="0"/>
              </a:rPr>
              <a:t>        while (j &gt;=0) :</a:t>
            </a:r>
          </a:p>
          <a:p>
            <a:r>
              <a:rPr lang="en-US" sz="1600" dirty="0">
                <a:latin typeface="Courier" pitchFamily="2" charset="0"/>
              </a:rPr>
              <a:t>            if (pattern[j] != text[</a:t>
            </a:r>
            <a:r>
              <a:rPr lang="en-US" sz="1600" dirty="0" err="1">
                <a:latin typeface="Courier" pitchFamily="2" charset="0"/>
              </a:rPr>
              <a:t>i+j</a:t>
            </a:r>
            <a:r>
              <a:rPr lang="en-US" sz="1600" dirty="0">
                <a:latin typeface="Courier" pitchFamily="2" charset="0"/>
              </a:rPr>
              <a:t>]):</a:t>
            </a:r>
          </a:p>
          <a:p>
            <a:r>
              <a:rPr lang="en-US" sz="1600" dirty="0">
                <a:latin typeface="Courier" pitchFamily="2" charset="0"/>
              </a:rPr>
              <a:t>                </a:t>
            </a:r>
            <a:r>
              <a:rPr lang="en-US" sz="1600" b="1" dirty="0">
                <a:solidFill>
                  <a:schemeClr val="accent5"/>
                </a:solidFill>
                <a:latin typeface="Courier" pitchFamily="2" charset="0"/>
              </a:rPr>
              <a:t>skip = max(1, j - index[text[</a:t>
            </a:r>
            <a:r>
              <a:rPr lang="en-US" sz="1600" b="1" dirty="0" err="1">
                <a:solidFill>
                  <a:schemeClr val="accent5"/>
                </a:solidFill>
                <a:latin typeface="Courier" pitchFamily="2" charset="0"/>
              </a:rPr>
              <a:t>i+j</a:t>
            </a:r>
            <a:r>
              <a:rPr lang="en-US" sz="1600" b="1" dirty="0">
                <a:solidFill>
                  <a:schemeClr val="accent5"/>
                </a:solidFill>
                <a:latin typeface="Courier" pitchFamily="2" charset="0"/>
              </a:rPr>
              <a:t>]) 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" pitchFamily="2" charset="0"/>
              </a:rPr>
              <a:t>                break</a:t>
            </a:r>
          </a:p>
          <a:p>
            <a:r>
              <a:rPr lang="en-US" sz="1600" dirty="0">
                <a:latin typeface="Courier" pitchFamily="2" charset="0"/>
              </a:rPr>
              <a:t>            else: </a:t>
            </a:r>
          </a:p>
          <a:p>
            <a:r>
              <a:rPr lang="en-US" sz="1600" dirty="0">
                <a:latin typeface="Courier" pitchFamily="2" charset="0"/>
              </a:rPr>
              <a:t>                j = j-1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b="1" dirty="0" err="1">
                <a:solidFill>
                  <a:schemeClr val="accent5"/>
                </a:solidFill>
                <a:latin typeface="Courier" pitchFamily="2" charset="0"/>
              </a:rPr>
              <a:t>i</a:t>
            </a:r>
            <a:r>
              <a:rPr lang="en-US" sz="1600" b="1" dirty="0">
                <a:solidFill>
                  <a:schemeClr val="accent5"/>
                </a:solidFill>
                <a:latin typeface="Courier" pitchFamily="2" charset="0"/>
              </a:rPr>
              <a:t> = </a:t>
            </a:r>
            <a:r>
              <a:rPr lang="en-US" sz="1600" b="1" dirty="0" err="1">
                <a:solidFill>
                  <a:schemeClr val="accent5"/>
                </a:solidFill>
                <a:latin typeface="Courier" pitchFamily="2" charset="0"/>
              </a:rPr>
              <a:t>i</a:t>
            </a:r>
            <a:r>
              <a:rPr lang="en-US" sz="1600" b="1" dirty="0">
                <a:solidFill>
                  <a:schemeClr val="accent5"/>
                </a:solidFill>
                <a:latin typeface="Courier" pitchFamily="2" charset="0"/>
              </a:rPr>
              <a:t> + skip</a:t>
            </a:r>
          </a:p>
          <a:p>
            <a:r>
              <a:rPr lang="en-US" sz="1600" dirty="0">
                <a:latin typeface="Courier" pitchFamily="2" charset="0"/>
              </a:rPr>
              <a:t>        if (skip == 0):</a:t>
            </a:r>
          </a:p>
          <a:p>
            <a:r>
              <a:rPr lang="en-US" sz="1600" dirty="0">
                <a:latin typeface="Courier" pitchFamily="2" charset="0"/>
              </a:rPr>
              <a:t>            return </a:t>
            </a:r>
            <a:r>
              <a:rPr lang="en-US" sz="1600" dirty="0" err="1">
                <a:latin typeface="Courier" pitchFamily="2" charset="0"/>
              </a:rPr>
              <a:t>i</a:t>
            </a:r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return N</a:t>
            </a:r>
          </a:p>
        </p:txBody>
      </p:sp>
      <p:grpSp>
        <p:nvGrpSpPr>
          <p:cNvPr id="50" name="Group 49" descr="highlight code for pattern  not found">
            <a:extLst>
              <a:ext uri="{FF2B5EF4-FFF2-40B4-BE49-F238E27FC236}">
                <a16:creationId xmlns:a16="http://schemas.microsoft.com/office/drawing/2014/main" id="{6BC6D182-A78A-6F43-A56B-795759DDAD01}"/>
              </a:ext>
            </a:extLst>
          </p:cNvPr>
          <p:cNvGrpSpPr/>
          <p:nvPr/>
        </p:nvGrpSpPr>
        <p:grpSpPr>
          <a:xfrm>
            <a:off x="2281358" y="6136914"/>
            <a:ext cx="8524069" cy="338554"/>
            <a:chOff x="2281358" y="6136914"/>
            <a:chExt cx="8524069" cy="33855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18E0E36-9A4B-EE43-86E4-D68EF6A20653}"/>
                </a:ext>
              </a:extLst>
            </p:cNvPr>
            <p:cNvSpPr txBox="1"/>
            <p:nvPr/>
          </p:nvSpPr>
          <p:spPr>
            <a:xfrm>
              <a:off x="7413152" y="6136914"/>
              <a:ext cx="33922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 not found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C730474-ECBF-1F47-8B28-9462E59C1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1358" y="6352288"/>
              <a:ext cx="5067533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 descr="highlight code for scanning input and pattern">
            <a:extLst>
              <a:ext uri="{FF2B5EF4-FFF2-40B4-BE49-F238E27FC236}">
                <a16:creationId xmlns:a16="http://schemas.microsoft.com/office/drawing/2014/main" id="{474D610E-CBF9-BC4E-ADC2-2DA182110A4E}"/>
              </a:ext>
            </a:extLst>
          </p:cNvPr>
          <p:cNvGrpSpPr/>
          <p:nvPr/>
        </p:nvGrpSpPr>
        <p:grpSpPr>
          <a:xfrm>
            <a:off x="3281818" y="2978717"/>
            <a:ext cx="7082872" cy="1029223"/>
            <a:chOff x="3281818" y="2978717"/>
            <a:chExt cx="7082872" cy="102922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20C52F-1946-0B4D-9EC3-B35A880813BD}"/>
                </a:ext>
              </a:extLst>
            </p:cNvPr>
            <p:cNvSpPr txBox="1"/>
            <p:nvPr/>
          </p:nvSpPr>
          <p:spPr>
            <a:xfrm>
              <a:off x="7413152" y="2978717"/>
              <a:ext cx="26754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text left to right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3781D08-D87B-8C48-A685-7FF8C1DB8641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3281818" y="3147994"/>
              <a:ext cx="4131334" cy="3000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BD5D094-C630-FF4C-9D2D-66558FC8133F}"/>
                </a:ext>
              </a:extLst>
            </p:cNvPr>
            <p:cNvSpPr txBox="1"/>
            <p:nvPr/>
          </p:nvSpPr>
          <p:spPr>
            <a:xfrm>
              <a:off x="7413152" y="3669386"/>
              <a:ext cx="29515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pattern right to left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86CFAE7-CE60-EE43-94CF-54B64A8AF2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7940" y="3893457"/>
              <a:ext cx="3797306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 descr="highlight code for patern found">
            <a:extLst>
              <a:ext uri="{FF2B5EF4-FFF2-40B4-BE49-F238E27FC236}">
                <a16:creationId xmlns:a16="http://schemas.microsoft.com/office/drawing/2014/main" id="{C27F4E3C-E48C-9241-B99D-8C9FE4AE8107}"/>
              </a:ext>
            </a:extLst>
          </p:cNvPr>
          <p:cNvGrpSpPr/>
          <p:nvPr/>
        </p:nvGrpSpPr>
        <p:grpSpPr>
          <a:xfrm>
            <a:off x="3561353" y="5679488"/>
            <a:ext cx="7244074" cy="338554"/>
            <a:chOff x="3561353" y="5679488"/>
            <a:chExt cx="7244074" cy="33855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26C0E1D-3E95-8241-95C6-3928004C359E}"/>
                </a:ext>
              </a:extLst>
            </p:cNvPr>
            <p:cNvSpPr txBox="1"/>
            <p:nvPr/>
          </p:nvSpPr>
          <p:spPr>
            <a:xfrm>
              <a:off x="7413152" y="5679488"/>
              <a:ext cx="33922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 found starting at position </a:t>
              </a:r>
              <a:r>
                <a:rPr lang="en-US" sz="1600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sz="16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AD92B42-9661-344F-8653-482B018D95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61353" y="5877234"/>
              <a:ext cx="3787538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 descr="highlight code for char match">
            <a:extLst>
              <a:ext uri="{FF2B5EF4-FFF2-40B4-BE49-F238E27FC236}">
                <a16:creationId xmlns:a16="http://schemas.microsoft.com/office/drawing/2014/main" id="{D2ACFA80-BC6E-DA40-8111-D00704FED5B3}"/>
              </a:ext>
            </a:extLst>
          </p:cNvPr>
          <p:cNvGrpSpPr/>
          <p:nvPr/>
        </p:nvGrpSpPr>
        <p:grpSpPr>
          <a:xfrm>
            <a:off x="3557940" y="4945803"/>
            <a:ext cx="8468976" cy="338554"/>
            <a:chOff x="3557940" y="4945803"/>
            <a:chExt cx="8468976" cy="33855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4C993AB-E08F-8948-8DD7-40B1977829BE}"/>
                </a:ext>
              </a:extLst>
            </p:cNvPr>
            <p:cNvSpPr txBox="1"/>
            <p:nvPr/>
          </p:nvSpPr>
          <p:spPr>
            <a:xfrm>
              <a:off x="7413152" y="4945803"/>
              <a:ext cx="46137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char match. keep moving left in pattern matching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25936ED-119C-6342-9F4A-791AC9143C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7940" y="5115080"/>
              <a:ext cx="3797306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 descr="highlight code for char mismatch">
            <a:extLst>
              <a:ext uri="{FF2B5EF4-FFF2-40B4-BE49-F238E27FC236}">
                <a16:creationId xmlns:a16="http://schemas.microsoft.com/office/drawing/2014/main" id="{BBF32C5A-CE58-D94A-AB43-631D980D0667}"/>
              </a:ext>
            </a:extLst>
          </p:cNvPr>
          <p:cNvGrpSpPr/>
          <p:nvPr/>
        </p:nvGrpSpPr>
        <p:grpSpPr>
          <a:xfrm>
            <a:off x="3281818" y="4069873"/>
            <a:ext cx="8570592" cy="1465513"/>
            <a:chOff x="3281818" y="4069873"/>
            <a:chExt cx="8570592" cy="146551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DA73C97-0760-B746-9E23-DD6060EF1DA3}"/>
                </a:ext>
              </a:extLst>
            </p:cNvPr>
            <p:cNvSpPr txBox="1"/>
            <p:nvPr/>
          </p:nvSpPr>
          <p:spPr>
            <a:xfrm>
              <a:off x="7397344" y="4174554"/>
              <a:ext cx="44550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char mismatch. compute how much to skip text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68F07F9-EA7A-8F45-9A5E-C670A9595D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49648" y="4346785"/>
              <a:ext cx="405598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Left Brace 27">
              <a:extLst>
                <a:ext uri="{FF2B5EF4-FFF2-40B4-BE49-F238E27FC236}">
                  <a16:creationId xmlns:a16="http://schemas.microsoft.com/office/drawing/2014/main" id="{5C70EB1E-53D3-2B47-8E44-A407A18073C4}"/>
                </a:ext>
              </a:extLst>
            </p:cNvPr>
            <p:cNvSpPr/>
            <p:nvPr/>
          </p:nvSpPr>
          <p:spPr>
            <a:xfrm rot="10800000">
              <a:off x="6769422" y="4069873"/>
              <a:ext cx="171423" cy="553823"/>
            </a:xfrm>
            <a:prstGeom prst="lef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745407B-FDED-6440-88F7-963EE5879B5D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flipH="1">
              <a:off x="3281818" y="4343831"/>
              <a:ext cx="4115526" cy="1191555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0670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D9AF-B696-7740-A2A0-419CD66C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Boyer-Moore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ECC3-CF9C-B34F-ABB0-3031855A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Cost</a:t>
            </a:r>
          </a:p>
          <a:p>
            <a:pPr lvl="1"/>
            <a:r>
              <a:rPr lang="en-US" dirty="0"/>
              <a:t>Pre-processing ~ </a:t>
            </a:r>
            <a:r>
              <a:rPr lang="en-US" i="1" dirty="0"/>
              <a:t>M</a:t>
            </a:r>
          </a:p>
          <a:p>
            <a:pPr lvl="1"/>
            <a:r>
              <a:rPr lang="en-US" dirty="0"/>
              <a:t>Substring matching</a:t>
            </a:r>
          </a:p>
          <a:p>
            <a:pPr lvl="2"/>
            <a:r>
              <a:rPr lang="en-US" dirty="0"/>
              <a:t>Average case ~ </a:t>
            </a:r>
            <a:r>
              <a:rPr lang="en-US" i="1" dirty="0"/>
              <a:t>N / M</a:t>
            </a:r>
          </a:p>
          <a:p>
            <a:pPr lvl="2"/>
            <a:r>
              <a:rPr lang="en-US" dirty="0"/>
              <a:t>Worst case ~ </a:t>
            </a:r>
            <a:r>
              <a:rPr lang="en-US" i="1" dirty="0"/>
              <a:t>M * 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09092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4B2B-42A6-AB40-9BC4-CB4BFBF6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AC683-7CB8-FA4F-BFE8-E3A25C25F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Brute force algorithm</a:t>
            </a:r>
          </a:p>
          <a:p>
            <a:pPr lvl="1"/>
            <a:r>
              <a:rPr lang="en-US" dirty="0"/>
              <a:t>Cost guarantee ~ </a:t>
            </a:r>
            <a:r>
              <a:rPr lang="en-US" i="1" dirty="0"/>
              <a:t>N * M</a:t>
            </a:r>
          </a:p>
          <a:p>
            <a:r>
              <a:rPr lang="en-US" dirty="0"/>
              <a:t>Knuth-Morris-Pratt algorithm</a:t>
            </a:r>
          </a:p>
          <a:p>
            <a:pPr lvl="1"/>
            <a:r>
              <a:rPr lang="en-US" dirty="0"/>
              <a:t>Cost guarantee ~ </a:t>
            </a:r>
            <a:r>
              <a:rPr lang="en-US" i="1" dirty="0"/>
              <a:t>N</a:t>
            </a:r>
          </a:p>
          <a:p>
            <a:r>
              <a:rPr lang="en-US" dirty="0"/>
              <a:t>Boyer-Moore algorithm</a:t>
            </a:r>
          </a:p>
          <a:p>
            <a:pPr lvl="1"/>
            <a:r>
              <a:rPr lang="en-US" dirty="0"/>
              <a:t>Average cost ~ </a:t>
            </a:r>
            <a:r>
              <a:rPr lang="en-US" i="1" dirty="0"/>
              <a:t>N / M</a:t>
            </a:r>
            <a:r>
              <a:rPr lang="en-US" dirty="0"/>
              <a:t> (but worst case ~ </a:t>
            </a:r>
            <a:r>
              <a:rPr lang="en-US" i="1" dirty="0"/>
              <a:t>N * M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8084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9151</TotalTime>
  <Words>12580</Words>
  <Application>Microsoft Macintosh PowerPoint</Application>
  <PresentationFormat>Widescreen</PresentationFormat>
  <Paragraphs>4875</Paragraphs>
  <Slides>101</Slides>
  <Notes>101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101</vt:i4>
      </vt:variant>
    </vt:vector>
  </HeadingPairs>
  <TitlesOfParts>
    <vt:vector size="108" baseType="lpstr">
      <vt:lpstr>Arial</vt:lpstr>
      <vt:lpstr>Calibri</vt:lpstr>
      <vt:lpstr>Courier</vt:lpstr>
      <vt:lpstr>Courier New</vt:lpstr>
      <vt:lpstr>Wingdings</vt:lpstr>
      <vt:lpstr>Office Theme</vt:lpstr>
      <vt:lpstr>4_Custom Design</vt:lpstr>
      <vt:lpstr>COMP0005 – ALGORITHMS   5.3 Substring Search</vt:lpstr>
      <vt:lpstr>SUBSTRING SEARCH</vt:lpstr>
      <vt:lpstr>content</vt:lpstr>
      <vt:lpstr>Brute force algorithm</vt:lpstr>
      <vt:lpstr>Brute force algorithm</vt:lpstr>
      <vt:lpstr>Brute force algorithm</vt:lpstr>
      <vt:lpstr>Brute force algorithm</vt:lpstr>
      <vt:lpstr>Brute force algorithm</vt:lpstr>
      <vt:lpstr>Brute force algorithm</vt:lpstr>
      <vt:lpstr>Brute force algorithm</vt:lpstr>
      <vt:lpstr>Brute force algorithm</vt:lpstr>
      <vt:lpstr>Brute force algorithm</vt:lpstr>
      <vt:lpstr>Brute force algorithm</vt:lpstr>
      <vt:lpstr>Brute force algorithm</vt:lpstr>
      <vt:lpstr>Brute force algorithm</vt:lpstr>
      <vt:lpstr>Brute force algorithm</vt:lpstr>
      <vt:lpstr>Brute force algorithm</vt:lpstr>
      <vt:lpstr>Brute force algorithm</vt:lpstr>
      <vt:lpstr>Brute force algorithm</vt:lpstr>
      <vt:lpstr>Brute force algorithm</vt:lpstr>
      <vt:lpstr>Brute force algorithm</vt:lpstr>
      <vt:lpstr>Brute force algorithm</vt:lpstr>
      <vt:lpstr>content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Knuth-Morris-Pratt algorithm</vt:lpstr>
      <vt:lpstr>content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Boyer-Moore algorithm</vt:lpstr>
      <vt:lpstr>Content 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Capra, Licia</dc:creator>
  <cp:lastModifiedBy>Capra, Licia</cp:lastModifiedBy>
  <cp:revision>98</cp:revision>
  <dcterms:created xsi:type="dcterms:W3CDTF">2020-06-23T14:37:29Z</dcterms:created>
  <dcterms:modified xsi:type="dcterms:W3CDTF">2020-11-24T16:28:15Z</dcterms:modified>
</cp:coreProperties>
</file>