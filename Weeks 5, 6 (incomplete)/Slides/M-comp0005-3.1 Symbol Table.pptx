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66" r:id="rId3"/>
    <p:sldId id="267" r:id="rId4"/>
    <p:sldId id="268" r:id="rId5"/>
    <p:sldId id="281" r:id="rId6"/>
    <p:sldId id="282" r:id="rId7"/>
    <p:sldId id="270" r:id="rId8"/>
    <p:sldId id="269" r:id="rId9"/>
    <p:sldId id="284" r:id="rId10"/>
    <p:sldId id="283" r:id="rId11"/>
    <p:sldId id="285" r:id="rId12"/>
    <p:sldId id="287" r:id="rId13"/>
    <p:sldId id="286" r:id="rId14"/>
    <p:sldId id="288" r:id="rId15"/>
    <p:sldId id="28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/>
    <p:restoredTop sz="53061"/>
  </p:normalViewPr>
  <p:slideViewPr>
    <p:cSldViewPr snapToGrid="0" snapToObjects="1">
      <p:cViewPr varScale="1">
        <p:scale>
          <a:sx n="64" d="100"/>
          <a:sy n="64" d="100"/>
        </p:scale>
        <p:origin x="2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5A67-8926-CB42-854C-A7DAE0AE325F}" type="datetimeFigureOut">
              <a:rPr lang="en-US" smtClean="0"/>
              <a:t>2/8/21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E9652-8391-5B4D-BBDF-BC776AB7E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1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04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387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14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11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98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692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00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46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26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31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4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51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01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87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94251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5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54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l.ac.uk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inceton.ed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3. Search Algorithms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15036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236720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5345-EDFE-6F4F-995B-E9955C07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BE7C93-6718-4F48-B67E-7C5C199131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390800"/>
              </p:ext>
            </p:extLst>
          </p:nvPr>
        </p:nvGraphicFramePr>
        <p:xfrm>
          <a:off x="383058" y="2096430"/>
          <a:ext cx="11479212" cy="337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803">
                  <a:extLst>
                    <a:ext uri="{9D8B030D-6E8A-4147-A177-3AD203B41FA5}">
                      <a16:colId xmlns:a16="http://schemas.microsoft.com/office/drawing/2014/main" val="4066939185"/>
                    </a:ext>
                  </a:extLst>
                </a:gridCol>
                <a:gridCol w="2869803">
                  <a:extLst>
                    <a:ext uri="{9D8B030D-6E8A-4147-A177-3AD203B41FA5}">
                      <a16:colId xmlns:a16="http://schemas.microsoft.com/office/drawing/2014/main" val="592031675"/>
                    </a:ext>
                  </a:extLst>
                </a:gridCol>
                <a:gridCol w="2869803">
                  <a:extLst>
                    <a:ext uri="{9D8B030D-6E8A-4147-A177-3AD203B41FA5}">
                      <a16:colId xmlns:a16="http://schemas.microsoft.com/office/drawing/2014/main" val="1317037510"/>
                    </a:ext>
                  </a:extLst>
                </a:gridCol>
                <a:gridCol w="2869803">
                  <a:extLst>
                    <a:ext uri="{9D8B030D-6E8A-4147-A177-3AD203B41FA5}">
                      <a16:colId xmlns:a16="http://schemas.microsoft.com/office/drawing/2014/main" val="568150080"/>
                    </a:ext>
                  </a:extLst>
                </a:gridCol>
              </a:tblGrid>
              <a:tr h="42177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 of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97521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Dictionary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a 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663560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Book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relevant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 of page numbers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451210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relevant web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 of URLs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20975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file on disk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 on disk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30876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Share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song to download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song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232114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 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796278"/>
                  </a:ext>
                </a:extLst>
              </a:tr>
              <a:tr h="42177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252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5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9CC5-BC7A-264E-9186-F3D112A7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</a:t>
            </a:r>
          </a:p>
        </p:txBody>
      </p:sp>
      <p:pic>
        <p:nvPicPr>
          <p:cNvPr id="5" name="Picture 4" descr="A screenshot of portico, showing you can search by student number">
            <a:extLst>
              <a:ext uri="{FF2B5EF4-FFF2-40B4-BE49-F238E27FC236}">
                <a16:creationId xmlns:a16="http://schemas.microsoft.com/office/drawing/2014/main" id="{95FCED90-88F6-1646-97CB-0CD70D7E4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536" y="2204344"/>
            <a:ext cx="7085330" cy="4400550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97A7E1-48A0-FF40-96E2-4B81ABDC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Example: search student’s records in Portico</a:t>
            </a:r>
          </a:p>
        </p:txBody>
      </p:sp>
      <p:grpSp>
        <p:nvGrpSpPr>
          <p:cNvPr id="10" name="Group 9" descr="search by key=student number">
            <a:extLst>
              <a:ext uri="{FF2B5EF4-FFF2-40B4-BE49-F238E27FC236}">
                <a16:creationId xmlns:a16="http://schemas.microsoft.com/office/drawing/2014/main" id="{72CC2FB7-AA3C-0C4A-AFD4-7709FC413925}"/>
              </a:ext>
            </a:extLst>
          </p:cNvPr>
          <p:cNvGrpSpPr/>
          <p:nvPr/>
        </p:nvGrpSpPr>
        <p:grpSpPr>
          <a:xfrm>
            <a:off x="5596759" y="3429000"/>
            <a:ext cx="4775900" cy="748862"/>
            <a:chOff x="5596759" y="3429000"/>
            <a:chExt cx="4775900" cy="74886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97F6E4-8797-884A-88C8-E93AC2AC6D73}"/>
                </a:ext>
              </a:extLst>
            </p:cNvPr>
            <p:cNvSpPr txBox="1"/>
            <p:nvPr/>
          </p:nvSpPr>
          <p:spPr>
            <a:xfrm>
              <a:off x="9708695" y="3429000"/>
              <a:ext cx="66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key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9F4F68-448B-774B-BAC5-4581BEE6E83B}"/>
                </a:ext>
              </a:extLst>
            </p:cNvPr>
            <p:cNvCxnSpPr/>
            <p:nvPr/>
          </p:nvCxnSpPr>
          <p:spPr>
            <a:xfrm flipH="1">
              <a:off x="5596759" y="3626069"/>
              <a:ext cx="4111936" cy="55179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547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9CC5-BC7A-264E-9186-F3D112A7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97A7E1-48A0-FF40-96E2-4B81ABDC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Example: search student’s records in Portico</a:t>
            </a:r>
          </a:p>
        </p:txBody>
      </p:sp>
      <p:grpSp>
        <p:nvGrpSpPr>
          <p:cNvPr id="11" name="Group 10" descr="Screenshot of portico showing result of search by student number">
            <a:extLst>
              <a:ext uri="{FF2B5EF4-FFF2-40B4-BE49-F238E27FC236}">
                <a16:creationId xmlns:a16="http://schemas.microsoft.com/office/drawing/2014/main" id="{3A5B3F1B-1AE0-1041-84E3-8A8B62D5B37C}"/>
              </a:ext>
            </a:extLst>
          </p:cNvPr>
          <p:cNvGrpSpPr/>
          <p:nvPr/>
        </p:nvGrpSpPr>
        <p:grpSpPr>
          <a:xfrm>
            <a:off x="674483" y="2217281"/>
            <a:ext cx="8077367" cy="4400550"/>
            <a:chOff x="674483" y="2217281"/>
            <a:chExt cx="8077367" cy="44005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FCED90-88F6-1646-97CB-0CD70D7E4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4483" y="2217281"/>
              <a:ext cx="5152084" cy="4400550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97F6E4-8797-884A-88C8-E93AC2AC6D73}"/>
                </a:ext>
              </a:extLst>
            </p:cNvPr>
            <p:cNvSpPr txBox="1"/>
            <p:nvPr/>
          </p:nvSpPr>
          <p:spPr>
            <a:xfrm>
              <a:off x="7829803" y="4186723"/>
              <a:ext cx="9220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value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9F4F68-448B-774B-BAC5-4581BEE6E83B}"/>
                </a:ext>
              </a:extLst>
            </p:cNvPr>
            <p:cNvCxnSpPr>
              <a:cxnSpLocks/>
              <a:stCxn id="7" idx="1"/>
              <a:endCxn id="5" idx="3"/>
            </p:cNvCxnSpPr>
            <p:nvPr/>
          </p:nvCxnSpPr>
          <p:spPr>
            <a:xfrm flipH="1">
              <a:off x="5826567" y="4417556"/>
              <a:ext cx="2003236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522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324213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data type to handle </a:t>
            </a:r>
            <a:r>
              <a:rPr lang="en-US" dirty="0">
                <a:highlight>
                  <a:srgbClr val="C0C0C0"/>
                </a:highlight>
              </a:rPr>
              <a:t>key-value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Also known as associative array, dictionary, or map</a:t>
            </a:r>
          </a:p>
          <a:p>
            <a:r>
              <a:rPr lang="en-US" dirty="0"/>
              <a:t>Basic operations</a:t>
            </a:r>
          </a:p>
          <a:p>
            <a:pPr lvl="1"/>
            <a:r>
              <a:rPr lang="en-US" dirty="0"/>
              <a:t>put(key, value): </a:t>
            </a:r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 a value with a specified key</a:t>
            </a:r>
          </a:p>
          <a:p>
            <a:pPr lvl="1"/>
            <a:r>
              <a:rPr lang="en-US" dirty="0"/>
              <a:t>get(key): Given a key, </a:t>
            </a:r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 for the corresponding value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E00164-07B2-A047-9057-C1AB9CA25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600608"/>
              </p:ext>
            </p:extLst>
          </p:nvPr>
        </p:nvGraphicFramePr>
        <p:xfrm>
          <a:off x="2158124" y="3860362"/>
          <a:ext cx="5172842" cy="1692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269">
                  <a:extLst>
                    <a:ext uri="{9D8B030D-6E8A-4147-A177-3AD203B41FA5}">
                      <a16:colId xmlns:a16="http://schemas.microsoft.com/office/drawing/2014/main" val="4070323585"/>
                    </a:ext>
                  </a:extLst>
                </a:gridCol>
                <a:gridCol w="3121573">
                  <a:extLst>
                    <a:ext uri="{9D8B030D-6E8A-4147-A177-3AD203B41FA5}">
                      <a16:colId xmlns:a16="http://schemas.microsoft.com/office/drawing/2014/main" val="716923386"/>
                    </a:ext>
                  </a:extLst>
                </a:gridCol>
              </a:tblGrid>
              <a:tr h="5642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5843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https://www.ucl.ac.uk/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404054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Princeton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https://www.princeton.edu/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22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94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data type to handle </a:t>
            </a:r>
            <a:r>
              <a:rPr lang="en-US" dirty="0">
                <a:highlight>
                  <a:srgbClr val="C0C0C0"/>
                </a:highlight>
              </a:rPr>
              <a:t>key-value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Also known as associative array, dictionary, or map</a:t>
            </a:r>
          </a:p>
          <a:p>
            <a:r>
              <a:rPr lang="en-US" dirty="0"/>
              <a:t>Basic operations</a:t>
            </a:r>
          </a:p>
          <a:p>
            <a:pPr lvl="1"/>
            <a:r>
              <a:rPr lang="en-US" dirty="0"/>
              <a:t>put(key, value): </a:t>
            </a:r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 a value with a specified key</a:t>
            </a:r>
          </a:p>
          <a:p>
            <a:pPr lvl="1"/>
            <a:r>
              <a:rPr lang="en-US" dirty="0"/>
              <a:t>get(key): Given a key, </a:t>
            </a:r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 for the corresponding value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E00164-07B2-A047-9057-C1AB9CA25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250358"/>
              </p:ext>
            </p:extLst>
          </p:nvPr>
        </p:nvGraphicFramePr>
        <p:xfrm>
          <a:off x="2158124" y="3860362"/>
          <a:ext cx="4794468" cy="1692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048">
                  <a:extLst>
                    <a:ext uri="{9D8B030D-6E8A-4147-A177-3AD203B41FA5}">
                      <a16:colId xmlns:a16="http://schemas.microsoft.com/office/drawing/2014/main" val="4070323585"/>
                    </a:ext>
                  </a:extLst>
                </a:gridCol>
                <a:gridCol w="2459420">
                  <a:extLst>
                    <a:ext uri="{9D8B030D-6E8A-4147-A177-3AD203B41FA5}">
                      <a16:colId xmlns:a16="http://schemas.microsoft.com/office/drawing/2014/main" val="716923386"/>
                    </a:ext>
                  </a:extLst>
                </a:gridCol>
              </a:tblGrid>
              <a:tr h="5642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5843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[270, 288]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404054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[360,424, 513]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22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9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3B51-FDAC-5A43-9E9B-BB884B99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5D6F3-4298-444E-9D99-D7B7AD31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assumptions</a:t>
            </a:r>
          </a:p>
          <a:p>
            <a:pPr lvl="1"/>
            <a:r>
              <a:rPr lang="en-US" dirty="0"/>
              <a:t>Keys are unique</a:t>
            </a:r>
          </a:p>
          <a:p>
            <a:pPr lvl="1"/>
            <a:r>
              <a:rPr lang="en-US" dirty="0"/>
              <a:t>Values are not null</a:t>
            </a:r>
          </a:p>
          <a:p>
            <a:pPr lvl="1"/>
            <a:r>
              <a:rPr lang="en-US" dirty="0"/>
              <a:t>Keys have a total order relation:</a:t>
            </a:r>
          </a:p>
          <a:p>
            <a:pPr lvl="2"/>
            <a:r>
              <a:rPr lang="en-US" dirty="0" err="1"/>
              <a:t>Antisymmetry</a:t>
            </a:r>
            <a:r>
              <a:rPr lang="en-US" dirty="0"/>
              <a:t>: if a ≤ b and b ≤ a then a=b</a:t>
            </a:r>
          </a:p>
          <a:p>
            <a:pPr lvl="2"/>
            <a:r>
              <a:rPr lang="en-US" dirty="0"/>
              <a:t>Transitivity: if a ≤ b and b ≤ c then a ≤ c</a:t>
            </a:r>
          </a:p>
          <a:p>
            <a:pPr lvl="2"/>
            <a:r>
              <a:rPr lang="en-US" dirty="0"/>
              <a:t>Totality: a ≤ b or b ≤ a </a:t>
            </a:r>
          </a:p>
        </p:txBody>
      </p:sp>
    </p:spTree>
    <p:extLst>
      <p:ext uri="{BB962C8B-B14F-4D97-AF65-F5344CB8AC3E}">
        <p14:creationId xmlns:p14="http://schemas.microsoft.com/office/powerpoint/2010/main" val="162778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E860-41FE-6843-9BB7-9C823C3D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57397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Elementary implementation of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1BD-9458-A541-ADE8-C31FD4B5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187280"/>
          </a:xfrm>
        </p:spPr>
        <p:txBody>
          <a:bodyPr/>
          <a:lstStyle/>
          <a:p>
            <a:r>
              <a:rPr lang="en-US" dirty="0"/>
              <a:t>Linked List &amp; Sequential Search</a:t>
            </a:r>
          </a:p>
          <a:p>
            <a:pPr lvl="1"/>
            <a:r>
              <a:rPr lang="en-US" dirty="0"/>
              <a:t>Data structure: unordered linked list of key-value pairs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r>
              <a:rPr lang="en-US" dirty="0"/>
              <a:t>Get(key): scan through the list until a matching key is found </a:t>
            </a:r>
          </a:p>
          <a:p>
            <a:pPr lvl="1"/>
            <a:r>
              <a:rPr lang="en-US" dirty="0"/>
              <a:t>Put(key, value): scan through the list</a:t>
            </a:r>
          </a:p>
          <a:p>
            <a:pPr lvl="2"/>
            <a:r>
              <a:rPr lang="en-US" dirty="0"/>
              <a:t>If a matching key is found, replace the associated value</a:t>
            </a:r>
          </a:p>
          <a:p>
            <a:pPr lvl="2"/>
            <a:r>
              <a:rPr lang="en-US" dirty="0"/>
              <a:t>If a matching key is not found, add the (key, value) pair to the front of the list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Cost: </a:t>
            </a:r>
            <a:r>
              <a:rPr lang="en-US" i="1" dirty="0"/>
              <a:t>N</a:t>
            </a:r>
            <a:r>
              <a:rPr lang="en-US" dirty="0"/>
              <a:t> for both get (search) and put (insert)</a:t>
            </a:r>
          </a:p>
          <a:p>
            <a:pPr marL="914400" lvl="2" indent="0">
              <a:buNone/>
            </a:pPr>
            <a:endParaRPr lang="en-US" dirty="0"/>
          </a:p>
        </p:txBody>
      </p:sp>
      <p:grpSp>
        <p:nvGrpSpPr>
          <p:cNvPr id="35" name="Group 34" descr="symbol table represented as an unsorted linked list">
            <a:extLst>
              <a:ext uri="{FF2B5EF4-FFF2-40B4-BE49-F238E27FC236}">
                <a16:creationId xmlns:a16="http://schemas.microsoft.com/office/drawing/2014/main" id="{DA3C95D9-59A7-D54E-A240-FE53E282F929}"/>
              </a:ext>
            </a:extLst>
          </p:cNvPr>
          <p:cNvGrpSpPr/>
          <p:nvPr/>
        </p:nvGrpSpPr>
        <p:grpSpPr>
          <a:xfrm>
            <a:off x="770372" y="2617076"/>
            <a:ext cx="7377843" cy="1181256"/>
            <a:chOff x="770372" y="2617076"/>
            <a:chExt cx="7377843" cy="1181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94A182-01CF-6F4E-800F-D1153E807653}"/>
                </a:ext>
              </a:extLst>
            </p:cNvPr>
            <p:cNvSpPr/>
            <p:nvPr/>
          </p:nvSpPr>
          <p:spPr>
            <a:xfrm>
              <a:off x="1497724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32D344-F5E2-4146-AF54-DB2A4E70C3A8}"/>
                </a:ext>
              </a:extLst>
            </p:cNvPr>
            <p:cNvSpPr/>
            <p:nvPr/>
          </p:nvSpPr>
          <p:spPr>
            <a:xfrm>
              <a:off x="1891861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773B3D-99F8-E142-BB10-E9429590BC3C}"/>
                </a:ext>
              </a:extLst>
            </p:cNvPr>
            <p:cNvSpPr/>
            <p:nvPr/>
          </p:nvSpPr>
          <p:spPr>
            <a:xfrm>
              <a:off x="2659117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D34DB8-016F-E44E-B7AC-F0D85C5A9FEE}"/>
                </a:ext>
              </a:extLst>
            </p:cNvPr>
            <p:cNvSpPr/>
            <p:nvPr/>
          </p:nvSpPr>
          <p:spPr>
            <a:xfrm>
              <a:off x="3053254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1CCC99-8A0A-6248-87FB-FC8F7C41450F}"/>
                </a:ext>
              </a:extLst>
            </p:cNvPr>
            <p:cNvSpPr/>
            <p:nvPr/>
          </p:nvSpPr>
          <p:spPr>
            <a:xfrm>
              <a:off x="3852041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0CDDCF-7EA8-7242-BB5C-80A92F981CBF}"/>
                </a:ext>
              </a:extLst>
            </p:cNvPr>
            <p:cNvSpPr/>
            <p:nvPr/>
          </p:nvSpPr>
          <p:spPr>
            <a:xfrm>
              <a:off x="4246178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073CC1F-6896-D54F-B557-AEBB4345C500}"/>
                </a:ext>
              </a:extLst>
            </p:cNvPr>
            <p:cNvSpPr/>
            <p:nvPr/>
          </p:nvSpPr>
          <p:spPr>
            <a:xfrm>
              <a:off x="5013433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480798F-1EBD-3D42-B87B-4FEDD30457C4}"/>
                </a:ext>
              </a:extLst>
            </p:cNvPr>
            <p:cNvSpPr/>
            <p:nvPr/>
          </p:nvSpPr>
          <p:spPr>
            <a:xfrm>
              <a:off x="5407570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F30CE9-D6A8-4A4E-AA55-A5F9DC1A0BEA}"/>
                </a:ext>
              </a:extLst>
            </p:cNvPr>
            <p:cNvSpPr/>
            <p:nvPr/>
          </p:nvSpPr>
          <p:spPr>
            <a:xfrm>
              <a:off x="6195845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128A40-7476-5740-88E9-D802A67B48BB}"/>
                </a:ext>
              </a:extLst>
            </p:cNvPr>
            <p:cNvSpPr/>
            <p:nvPr/>
          </p:nvSpPr>
          <p:spPr>
            <a:xfrm>
              <a:off x="6589982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E91824-C3EE-4847-AA8A-0B82E5626E81}"/>
                </a:ext>
              </a:extLst>
            </p:cNvPr>
            <p:cNvCxnSpPr>
              <a:stCxn id="6" idx="3"/>
              <a:endCxn id="9" idx="1"/>
            </p:cNvCxnSpPr>
            <p:nvPr/>
          </p:nvCxnSpPr>
          <p:spPr>
            <a:xfrm>
              <a:off x="2285999" y="2814145"/>
              <a:ext cx="373118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8527B65-F3F8-9A44-82DE-386B4CB43CE7}"/>
                </a:ext>
              </a:extLst>
            </p:cNvPr>
            <p:cNvCxnSpPr/>
            <p:nvPr/>
          </p:nvCxnSpPr>
          <p:spPr>
            <a:xfrm>
              <a:off x="3447392" y="2814145"/>
              <a:ext cx="373118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3A76124-48A9-5644-B18A-BE9C44D79D00}"/>
                </a:ext>
              </a:extLst>
            </p:cNvPr>
            <p:cNvCxnSpPr/>
            <p:nvPr/>
          </p:nvCxnSpPr>
          <p:spPr>
            <a:xfrm>
              <a:off x="4640316" y="2801007"/>
              <a:ext cx="373118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D7D5058-9110-EA40-8CD2-25E3B53F28AF}"/>
                </a:ext>
              </a:extLst>
            </p:cNvPr>
            <p:cNvCxnSpPr/>
            <p:nvPr/>
          </p:nvCxnSpPr>
          <p:spPr>
            <a:xfrm>
              <a:off x="5801708" y="2814145"/>
              <a:ext cx="373118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313B5D5-7805-4A46-843A-2D22A21D5E43}"/>
                </a:ext>
              </a:extLst>
            </p:cNvPr>
            <p:cNvSpPr/>
            <p:nvPr/>
          </p:nvSpPr>
          <p:spPr>
            <a:xfrm>
              <a:off x="7359940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E63297-9F1E-D84D-A2F7-719766A34651}"/>
                </a:ext>
              </a:extLst>
            </p:cNvPr>
            <p:cNvSpPr/>
            <p:nvPr/>
          </p:nvSpPr>
          <p:spPr>
            <a:xfrm>
              <a:off x="7754077" y="2617076"/>
              <a:ext cx="394138" cy="39413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29AB096-5A68-D943-9DFF-9FA0AB0C0538}"/>
                </a:ext>
              </a:extLst>
            </p:cNvPr>
            <p:cNvCxnSpPr/>
            <p:nvPr/>
          </p:nvCxnSpPr>
          <p:spPr>
            <a:xfrm>
              <a:off x="6965803" y="2814145"/>
              <a:ext cx="373118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1B0C18-5EEF-7D4E-8E51-10FAB006B144}"/>
                </a:ext>
              </a:extLst>
            </p:cNvPr>
            <p:cNvSpPr txBox="1"/>
            <p:nvPr/>
          </p:nvSpPr>
          <p:spPr>
            <a:xfrm>
              <a:off x="770372" y="3429000"/>
              <a:ext cx="543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key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E63527-517A-A14D-8B55-E95E636FB3EB}"/>
                </a:ext>
              </a:extLst>
            </p:cNvPr>
            <p:cNvSpPr txBox="1"/>
            <p:nvPr/>
          </p:nvSpPr>
          <p:spPr>
            <a:xfrm>
              <a:off x="2115206" y="3385636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value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C7A55C4-2D11-AC41-A6EC-AF42EE7BD186}"/>
                </a:ext>
              </a:extLst>
            </p:cNvPr>
            <p:cNvCxnSpPr>
              <a:stCxn id="30" idx="0"/>
              <a:endCxn id="6" idx="2"/>
            </p:cNvCxnSpPr>
            <p:nvPr/>
          </p:nvCxnSpPr>
          <p:spPr>
            <a:xfrm flipH="1" flipV="1">
              <a:off x="2088930" y="3011214"/>
              <a:ext cx="394326" cy="3744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A91D1B3-0A07-4941-B133-3C7C51BBA606}"/>
                </a:ext>
              </a:extLst>
            </p:cNvPr>
            <p:cNvCxnSpPr>
              <a:stCxn id="28" idx="0"/>
              <a:endCxn id="4" idx="2"/>
            </p:cNvCxnSpPr>
            <p:nvPr/>
          </p:nvCxnSpPr>
          <p:spPr>
            <a:xfrm flipV="1">
              <a:off x="1042242" y="3011214"/>
              <a:ext cx="652551" cy="4177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220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DFE0CA-82C9-BE40-B8DA-00B8D0ADD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26032"/>
              </p:ext>
            </p:extLst>
          </p:nvPr>
        </p:nvGraphicFramePr>
        <p:xfrm>
          <a:off x="4841476" y="3238554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B61E860-41FE-6843-9BB7-9C823C3D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57397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Elementary implementation of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1BD-9458-A541-ADE8-C31FD4B5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862914" cy="5016842"/>
          </a:xfrm>
        </p:spPr>
        <p:txBody>
          <a:bodyPr>
            <a:normAutofit/>
          </a:bodyPr>
          <a:lstStyle/>
          <a:p>
            <a:r>
              <a:rPr lang="en-US" dirty="0"/>
              <a:t>Ordered Array &amp; Binary Search</a:t>
            </a:r>
          </a:p>
          <a:p>
            <a:pPr lvl="1"/>
            <a:r>
              <a:rPr lang="en-US" dirty="0"/>
              <a:t>Data structure: ordered array of keys, plus another array of their associated values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7EBC06-E2BD-A84D-84EA-46779C0EF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575937"/>
              </p:ext>
            </p:extLst>
          </p:nvPr>
        </p:nvGraphicFramePr>
        <p:xfrm>
          <a:off x="4841476" y="3532598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216619-2C34-4D4A-BB38-4ED287F276A4}"/>
              </a:ext>
            </a:extLst>
          </p:cNvPr>
          <p:cNvSpPr txBox="1"/>
          <p:nvPr/>
        </p:nvSpPr>
        <p:spPr>
          <a:xfrm>
            <a:off x="3834234" y="353259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Keys[]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B6B28-E9EF-C749-9586-288D79EBBEB7}"/>
              </a:ext>
            </a:extLst>
          </p:cNvPr>
          <p:cNvSpPr txBox="1"/>
          <p:nvPr/>
        </p:nvSpPr>
        <p:spPr>
          <a:xfrm>
            <a:off x="3560354" y="449905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Values[]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A1AD4A-5FC2-A54B-BAC5-9364EECFC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654117"/>
              </p:ext>
            </p:extLst>
          </p:nvPr>
        </p:nvGraphicFramePr>
        <p:xfrm>
          <a:off x="4847886" y="4189472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pSp>
        <p:nvGrpSpPr>
          <p:cNvPr id="39" name="Group 38" descr="sequence of key value pairs to add to symbol table">
            <a:extLst>
              <a:ext uri="{FF2B5EF4-FFF2-40B4-BE49-F238E27FC236}">
                <a16:creationId xmlns:a16="http://schemas.microsoft.com/office/drawing/2014/main" id="{6CAD527C-53DE-C747-B0CF-105B39542718}"/>
              </a:ext>
            </a:extLst>
          </p:cNvPr>
          <p:cNvGrpSpPr/>
          <p:nvPr/>
        </p:nvGrpSpPr>
        <p:grpSpPr>
          <a:xfrm>
            <a:off x="612716" y="2945568"/>
            <a:ext cx="1872980" cy="3330384"/>
            <a:chOff x="612716" y="2945568"/>
            <a:chExt cx="1872980" cy="333038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F95F8F8-6EBA-2D46-9A7D-02D1BD0ED338}"/>
                </a:ext>
              </a:extLst>
            </p:cNvPr>
            <p:cNvGrpSpPr/>
            <p:nvPr/>
          </p:nvGrpSpPr>
          <p:grpSpPr>
            <a:xfrm>
              <a:off x="1126656" y="3362690"/>
              <a:ext cx="789155" cy="2913262"/>
              <a:chOff x="760050" y="3400926"/>
              <a:chExt cx="789155" cy="2913262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5179EC0-6BFB-F444-B6D8-E1BDC15DE86A}"/>
                  </a:ext>
                </a:extLst>
              </p:cNvPr>
              <p:cNvGrpSpPr/>
              <p:nvPr/>
            </p:nvGrpSpPr>
            <p:grpSpPr>
              <a:xfrm>
                <a:off x="760930" y="3400926"/>
                <a:ext cx="788275" cy="394138"/>
                <a:chOff x="1324303" y="4875002"/>
                <a:chExt cx="788275" cy="394138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FB28C51-4CF4-C049-A617-1966139BD529}"/>
                    </a:ext>
                  </a:extLst>
                </p:cNvPr>
                <p:cNvSpPr/>
                <p:nvPr/>
              </p:nvSpPr>
              <p:spPr>
                <a:xfrm>
                  <a:off x="1324303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91BBF78-3CA5-8B4A-B65A-96B5E3D4589C}"/>
                    </a:ext>
                  </a:extLst>
                </p:cNvPr>
                <p:cNvSpPr/>
                <p:nvPr/>
              </p:nvSpPr>
              <p:spPr>
                <a:xfrm>
                  <a:off x="1718440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endPara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7F826B8-D968-4746-AAE3-7DCD15832926}"/>
                  </a:ext>
                </a:extLst>
              </p:cNvPr>
              <p:cNvGrpSpPr/>
              <p:nvPr/>
            </p:nvGrpSpPr>
            <p:grpSpPr>
              <a:xfrm>
                <a:off x="760052" y="3912831"/>
                <a:ext cx="788275" cy="394138"/>
                <a:chOff x="2485696" y="4875002"/>
                <a:chExt cx="788275" cy="394138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292BCE7-2936-BF4D-AF1C-778B7673D89A}"/>
                    </a:ext>
                  </a:extLst>
                </p:cNvPr>
                <p:cNvSpPr/>
                <p:nvPr/>
              </p:nvSpPr>
              <p:spPr>
                <a:xfrm>
                  <a:off x="2485696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9A3921E-19F2-7749-A6D0-60985C9478B0}"/>
                    </a:ext>
                  </a:extLst>
                </p:cNvPr>
                <p:cNvSpPr/>
                <p:nvPr/>
              </p:nvSpPr>
              <p:spPr>
                <a:xfrm>
                  <a:off x="2879833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4D78C3B-F6A8-9E4E-B8A5-ED6E1B02487C}"/>
                  </a:ext>
                </a:extLst>
              </p:cNvPr>
              <p:cNvGrpSpPr/>
              <p:nvPr/>
            </p:nvGrpSpPr>
            <p:grpSpPr>
              <a:xfrm>
                <a:off x="760052" y="4414515"/>
                <a:ext cx="788275" cy="394138"/>
                <a:chOff x="3678620" y="4875002"/>
                <a:chExt cx="788275" cy="394138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06A44A1-227F-984E-999A-633A6339B53A}"/>
                    </a:ext>
                  </a:extLst>
                </p:cNvPr>
                <p:cNvSpPr/>
                <p:nvPr/>
              </p:nvSpPr>
              <p:spPr>
                <a:xfrm>
                  <a:off x="3678620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E534CC9-C5E4-C649-AC2E-D30069E98CEE}"/>
                    </a:ext>
                  </a:extLst>
                </p:cNvPr>
                <p:cNvSpPr/>
                <p:nvPr/>
              </p:nvSpPr>
              <p:spPr>
                <a:xfrm>
                  <a:off x="4072757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B40DAD0-B50D-6B46-8EB1-D7709A7C3137}"/>
                  </a:ext>
                </a:extLst>
              </p:cNvPr>
              <p:cNvGrpSpPr/>
              <p:nvPr/>
            </p:nvGrpSpPr>
            <p:grpSpPr>
              <a:xfrm>
                <a:off x="760051" y="4892592"/>
                <a:ext cx="788275" cy="394138"/>
                <a:chOff x="4840012" y="4875002"/>
                <a:chExt cx="788275" cy="394138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D21E231B-714E-1B44-BF5C-47B506B734EC}"/>
                    </a:ext>
                  </a:extLst>
                </p:cNvPr>
                <p:cNvSpPr/>
                <p:nvPr/>
              </p:nvSpPr>
              <p:spPr>
                <a:xfrm>
                  <a:off x="4840012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6ED0885-3996-EA43-9F7B-7D8BA611741B}"/>
                    </a:ext>
                  </a:extLst>
                </p:cNvPr>
                <p:cNvSpPr/>
                <p:nvPr/>
              </p:nvSpPr>
              <p:spPr>
                <a:xfrm>
                  <a:off x="5234149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9769557-D6D3-2B42-AEB9-3113FB616B1B}"/>
                  </a:ext>
                </a:extLst>
              </p:cNvPr>
              <p:cNvGrpSpPr/>
              <p:nvPr/>
            </p:nvGrpSpPr>
            <p:grpSpPr>
              <a:xfrm>
                <a:off x="760051" y="5406321"/>
                <a:ext cx="788275" cy="394138"/>
                <a:chOff x="6022424" y="4875002"/>
                <a:chExt cx="788275" cy="39413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6825163-AC45-5542-821A-B16725851F4E}"/>
                    </a:ext>
                  </a:extLst>
                </p:cNvPr>
                <p:cNvSpPr/>
                <p:nvPr/>
              </p:nvSpPr>
              <p:spPr>
                <a:xfrm>
                  <a:off x="6022424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FF50E25-A946-1140-B935-5DED1972B593}"/>
                    </a:ext>
                  </a:extLst>
                </p:cNvPr>
                <p:cNvSpPr/>
                <p:nvPr/>
              </p:nvSpPr>
              <p:spPr>
                <a:xfrm>
                  <a:off x="6416561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45F30E71-47EB-DF46-8A53-2A2822B09567}"/>
                  </a:ext>
                </a:extLst>
              </p:cNvPr>
              <p:cNvGrpSpPr/>
              <p:nvPr/>
            </p:nvGrpSpPr>
            <p:grpSpPr>
              <a:xfrm>
                <a:off x="760050" y="5920050"/>
                <a:ext cx="788275" cy="394138"/>
                <a:chOff x="7186519" y="4875002"/>
                <a:chExt cx="788275" cy="394138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B7A0C87-A689-754C-A0DA-784D0F8C09E4}"/>
                    </a:ext>
                  </a:extLst>
                </p:cNvPr>
                <p:cNvSpPr/>
                <p:nvPr/>
              </p:nvSpPr>
              <p:spPr>
                <a:xfrm>
                  <a:off x="7186519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D9F5F5D-C723-3042-87BA-6686F3672ACC}"/>
                    </a:ext>
                  </a:extLst>
                </p:cNvPr>
                <p:cNvSpPr/>
                <p:nvPr/>
              </p:nvSpPr>
              <p:spPr>
                <a:xfrm>
                  <a:off x="7580656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DA317A-FFC0-3E46-B7F6-9372CA0D27BC}"/>
                </a:ext>
              </a:extLst>
            </p:cNvPr>
            <p:cNvSpPr txBox="1"/>
            <p:nvPr/>
          </p:nvSpPr>
          <p:spPr>
            <a:xfrm>
              <a:off x="612716" y="2945568"/>
              <a:ext cx="187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Key/value pairs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3BF6C5-541F-384A-B5C5-5EB220333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739916"/>
              </p:ext>
            </p:extLst>
          </p:nvPr>
        </p:nvGraphicFramePr>
        <p:xfrm>
          <a:off x="4847886" y="4483516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E860-41FE-6843-9BB7-9C823C3D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57397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Elementary implementation of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1BD-9458-A541-ADE8-C31FD4B5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862914" cy="5016842"/>
          </a:xfrm>
        </p:spPr>
        <p:txBody>
          <a:bodyPr>
            <a:normAutofit/>
          </a:bodyPr>
          <a:lstStyle/>
          <a:p>
            <a:r>
              <a:rPr lang="en-US" dirty="0"/>
              <a:t>Ordered Array &amp; Binary Search</a:t>
            </a:r>
          </a:p>
          <a:p>
            <a:pPr lvl="1"/>
            <a:r>
              <a:rPr lang="en-US" dirty="0"/>
              <a:t>Get(key): binary search on </a:t>
            </a:r>
            <a:r>
              <a:rPr lang="en-US" dirty="0">
                <a:latin typeface="Courier" pitchFamily="2" charset="0"/>
              </a:rPr>
              <a:t>Keys[]</a:t>
            </a:r>
            <a:r>
              <a:rPr lang="en-US" dirty="0"/>
              <a:t>, then lookup in </a:t>
            </a:r>
            <a:r>
              <a:rPr lang="en-US" dirty="0">
                <a:latin typeface="Courier" pitchFamily="2" charset="0"/>
              </a:rPr>
              <a:t>Values[]</a:t>
            </a:r>
          </a:p>
          <a:p>
            <a:pPr lvl="1"/>
            <a:r>
              <a:rPr lang="en-US" dirty="0"/>
              <a:t>Put(key, value): binary search on </a:t>
            </a:r>
            <a:r>
              <a:rPr lang="en-US" dirty="0">
                <a:latin typeface="Courier" pitchFamily="2" charset="0"/>
              </a:rPr>
              <a:t>Keys[]</a:t>
            </a:r>
            <a:endParaRPr lang="en-US" dirty="0"/>
          </a:p>
          <a:p>
            <a:pPr lvl="2"/>
            <a:r>
              <a:rPr lang="en-US" dirty="0"/>
              <a:t>If a matching key is found, replace the associated value</a:t>
            </a:r>
          </a:p>
          <a:p>
            <a:pPr lvl="2"/>
            <a:r>
              <a:rPr lang="en-US" dirty="0"/>
              <a:t>If a matching key is not found, use insertion sort (need to shift all greater key/value pairs over)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Cost: lg </a:t>
            </a:r>
            <a:r>
              <a:rPr lang="en-US" i="1" dirty="0"/>
              <a:t>N</a:t>
            </a:r>
            <a:r>
              <a:rPr lang="en-US" dirty="0"/>
              <a:t> for get (search), </a:t>
            </a:r>
            <a:r>
              <a:rPr lang="en-US" i="1" dirty="0"/>
              <a:t>N</a:t>
            </a:r>
            <a:r>
              <a:rPr lang="en-US" dirty="0"/>
              <a:t> for put (insert)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A3FEF4-A469-1447-B201-B91148785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533277"/>
              </p:ext>
            </p:extLst>
          </p:nvPr>
        </p:nvGraphicFramePr>
        <p:xfrm>
          <a:off x="2161335" y="3553868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147F89-D7B4-0140-8CB9-AAD2EA2C0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938"/>
              </p:ext>
            </p:extLst>
          </p:nvPr>
        </p:nvGraphicFramePr>
        <p:xfrm>
          <a:off x="2161335" y="3847912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D734A35-7184-7049-BD5E-71DE2ED07788}"/>
              </a:ext>
            </a:extLst>
          </p:cNvPr>
          <p:cNvSpPr txBox="1"/>
          <p:nvPr/>
        </p:nvSpPr>
        <p:spPr>
          <a:xfrm>
            <a:off x="1154093" y="384791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Keys[]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857243-1594-034B-A325-ABBB736479C0}"/>
              </a:ext>
            </a:extLst>
          </p:cNvPr>
          <p:cNvSpPr txBox="1"/>
          <p:nvPr/>
        </p:nvSpPr>
        <p:spPr>
          <a:xfrm>
            <a:off x="880213" y="481436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Values[]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E791F4-494A-5B41-8824-638D1F240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84403"/>
              </p:ext>
            </p:extLst>
          </p:nvPr>
        </p:nvGraphicFramePr>
        <p:xfrm>
          <a:off x="2167745" y="4504786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0E2F4D-E57A-244E-8FE5-360448B0D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46059"/>
              </p:ext>
            </p:extLst>
          </p:nvPr>
        </p:nvGraphicFramePr>
        <p:xfrm>
          <a:off x="2167745" y="4798830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97681D-2EBD-FC4F-A8D0-0DAB5BD3E5FF}"/>
              </a:ext>
            </a:extLst>
          </p:cNvPr>
          <p:cNvSpPr txBox="1"/>
          <p:nvPr/>
        </p:nvSpPr>
        <p:spPr>
          <a:xfrm>
            <a:off x="7750313" y="387853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get(R)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902824-840A-8A44-9F15-94252876E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65913"/>
              </p:ext>
            </p:extLst>
          </p:nvPr>
        </p:nvGraphicFramePr>
        <p:xfrm>
          <a:off x="9219326" y="3924708"/>
          <a:ext cx="23840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99">
                  <a:extLst>
                    <a:ext uri="{9D8B030D-6E8A-4147-A177-3AD203B41FA5}">
                      <a16:colId xmlns:a16="http://schemas.microsoft.com/office/drawing/2014/main" val="193017027"/>
                    </a:ext>
                  </a:extLst>
                </a:gridCol>
                <a:gridCol w="794699">
                  <a:extLst>
                    <a:ext uri="{9D8B030D-6E8A-4147-A177-3AD203B41FA5}">
                      <a16:colId xmlns:a16="http://schemas.microsoft.com/office/drawing/2014/main" val="737619111"/>
                    </a:ext>
                  </a:extLst>
                </a:gridCol>
                <a:gridCol w="794699">
                  <a:extLst>
                    <a:ext uri="{9D8B030D-6E8A-4147-A177-3AD203B41FA5}">
                      <a16:colId xmlns:a16="http://schemas.microsoft.com/office/drawing/2014/main" val="168482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69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06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5766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7AC7F16-C9DB-FA48-A509-DA944FF6F57D}"/>
              </a:ext>
            </a:extLst>
          </p:cNvPr>
          <p:cNvSpPr txBox="1"/>
          <p:nvPr/>
        </p:nvSpPr>
        <p:spPr>
          <a:xfrm>
            <a:off x="9075508" y="5572675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return Values[4]</a:t>
            </a:r>
            <a:r>
              <a:rPr lang="en-US" dirty="0">
                <a:latin typeface="Courier" pitchFamily="2" charset="0"/>
                <a:sym typeface="Wingdings" pitchFamily="2" charset="2"/>
              </a:rPr>
              <a:t> v</a:t>
            </a:r>
            <a:r>
              <a:rPr lang="en-US" baseline="-25000" dirty="0">
                <a:latin typeface="Courier" pitchFamily="2" charset="0"/>
                <a:sym typeface="Wingdings" pitchFamily="2" charset="2"/>
              </a:rPr>
              <a:t>4</a:t>
            </a:r>
            <a:endParaRPr lang="en-US" baseline="-25000" dirty="0">
              <a:latin typeface="Courier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FBAD33-039A-D14D-ABB7-3B6AB0A14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3160" y="4598508"/>
            <a:ext cx="543940" cy="5227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3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E860-41FE-6843-9BB7-9C823C3D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57397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Elementary implementation of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1BD-9458-A541-ADE8-C31FD4B5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862914" cy="5016842"/>
          </a:xfrm>
        </p:spPr>
        <p:txBody>
          <a:bodyPr>
            <a:normAutofit/>
          </a:bodyPr>
          <a:lstStyle/>
          <a:p>
            <a:r>
              <a:rPr lang="en-US" dirty="0"/>
              <a:t>Ordered Array &amp; Binary Search</a:t>
            </a:r>
          </a:p>
          <a:p>
            <a:pPr lvl="1"/>
            <a:r>
              <a:rPr lang="en-US" dirty="0"/>
              <a:t>Get(key): binary search on </a:t>
            </a:r>
            <a:r>
              <a:rPr lang="en-US" dirty="0">
                <a:latin typeface="Courier" pitchFamily="2" charset="0"/>
              </a:rPr>
              <a:t>Keys[]</a:t>
            </a:r>
            <a:r>
              <a:rPr lang="en-US" dirty="0"/>
              <a:t>, then lookup in </a:t>
            </a:r>
            <a:r>
              <a:rPr lang="en-US" dirty="0">
                <a:latin typeface="Courier" pitchFamily="2" charset="0"/>
              </a:rPr>
              <a:t>Values[]</a:t>
            </a:r>
          </a:p>
          <a:p>
            <a:pPr lvl="1"/>
            <a:r>
              <a:rPr lang="en-US" dirty="0"/>
              <a:t>Put(key, value): binary search on </a:t>
            </a:r>
            <a:r>
              <a:rPr lang="en-US" dirty="0">
                <a:latin typeface="Courier" pitchFamily="2" charset="0"/>
              </a:rPr>
              <a:t>Keys[]</a:t>
            </a:r>
            <a:endParaRPr lang="en-US" dirty="0"/>
          </a:p>
          <a:p>
            <a:pPr lvl="2"/>
            <a:r>
              <a:rPr lang="en-US" dirty="0"/>
              <a:t>If a matching key is found, replace the associated value</a:t>
            </a:r>
          </a:p>
          <a:p>
            <a:pPr lvl="2"/>
            <a:r>
              <a:rPr lang="en-US" dirty="0"/>
              <a:t>If a matching key is not found, use insertion sort (need to shift all greater key/value pairs over)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Cost: lg </a:t>
            </a:r>
            <a:r>
              <a:rPr lang="en-US" i="1" dirty="0"/>
              <a:t>N</a:t>
            </a:r>
            <a:r>
              <a:rPr lang="en-US" dirty="0"/>
              <a:t> for get (search), </a:t>
            </a:r>
            <a:r>
              <a:rPr lang="en-US" i="1" dirty="0"/>
              <a:t>N</a:t>
            </a:r>
            <a:r>
              <a:rPr lang="en-US" dirty="0"/>
              <a:t> for put (insert)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A3FEF4-A469-1447-B201-B9114878582F}"/>
              </a:ext>
            </a:extLst>
          </p:cNvPr>
          <p:cNvGraphicFramePr>
            <a:graphicFrameLocks noGrp="1"/>
          </p:cNvGraphicFramePr>
          <p:nvPr/>
        </p:nvGraphicFramePr>
        <p:xfrm>
          <a:off x="2161335" y="3553868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147F89-D7B4-0140-8CB9-AAD2EA2C0A0C}"/>
              </a:ext>
            </a:extLst>
          </p:cNvPr>
          <p:cNvGraphicFramePr>
            <a:graphicFrameLocks noGrp="1"/>
          </p:cNvGraphicFramePr>
          <p:nvPr/>
        </p:nvGraphicFramePr>
        <p:xfrm>
          <a:off x="2161335" y="3847912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D734A35-7184-7049-BD5E-71DE2ED07788}"/>
              </a:ext>
            </a:extLst>
          </p:cNvPr>
          <p:cNvSpPr txBox="1"/>
          <p:nvPr/>
        </p:nvSpPr>
        <p:spPr>
          <a:xfrm>
            <a:off x="1154093" y="384791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Keys[]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857243-1594-034B-A325-ABBB736479C0}"/>
              </a:ext>
            </a:extLst>
          </p:cNvPr>
          <p:cNvSpPr txBox="1"/>
          <p:nvPr/>
        </p:nvSpPr>
        <p:spPr>
          <a:xfrm>
            <a:off x="880213" y="481436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Values[]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E791F4-494A-5B41-8824-638D1F240A4C}"/>
              </a:ext>
            </a:extLst>
          </p:cNvPr>
          <p:cNvGraphicFramePr>
            <a:graphicFrameLocks noGrp="1"/>
          </p:cNvGraphicFramePr>
          <p:nvPr/>
        </p:nvGraphicFramePr>
        <p:xfrm>
          <a:off x="2167745" y="4504786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0E2F4D-E57A-244E-8FE5-360448B0D26A}"/>
              </a:ext>
            </a:extLst>
          </p:cNvPr>
          <p:cNvGraphicFramePr>
            <a:graphicFrameLocks noGrp="1"/>
          </p:cNvGraphicFramePr>
          <p:nvPr/>
        </p:nvGraphicFramePr>
        <p:xfrm>
          <a:off x="2167745" y="4798830"/>
          <a:ext cx="45106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82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751782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97681D-2EBD-FC4F-A8D0-0DAB5BD3E5FF}"/>
              </a:ext>
            </a:extLst>
          </p:cNvPr>
          <p:cNvSpPr txBox="1"/>
          <p:nvPr/>
        </p:nvSpPr>
        <p:spPr>
          <a:xfrm>
            <a:off x="7750313" y="387853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get(L)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902824-840A-8A44-9F15-94252876E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374390"/>
              </p:ext>
            </p:extLst>
          </p:nvPr>
        </p:nvGraphicFramePr>
        <p:xfrm>
          <a:off x="9219326" y="3924708"/>
          <a:ext cx="23840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99">
                  <a:extLst>
                    <a:ext uri="{9D8B030D-6E8A-4147-A177-3AD203B41FA5}">
                      <a16:colId xmlns:a16="http://schemas.microsoft.com/office/drawing/2014/main" val="193017027"/>
                    </a:ext>
                  </a:extLst>
                </a:gridCol>
                <a:gridCol w="794699">
                  <a:extLst>
                    <a:ext uri="{9D8B030D-6E8A-4147-A177-3AD203B41FA5}">
                      <a16:colId xmlns:a16="http://schemas.microsoft.com/office/drawing/2014/main" val="737619111"/>
                    </a:ext>
                  </a:extLst>
                </a:gridCol>
                <a:gridCol w="794699">
                  <a:extLst>
                    <a:ext uri="{9D8B030D-6E8A-4147-A177-3AD203B41FA5}">
                      <a16:colId xmlns:a16="http://schemas.microsoft.com/office/drawing/2014/main" val="168482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69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06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57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6833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7AC7F16-C9DB-FA48-A509-DA944FF6F57D}"/>
              </a:ext>
            </a:extLst>
          </p:cNvPr>
          <p:cNvSpPr txBox="1"/>
          <p:nvPr/>
        </p:nvSpPr>
        <p:spPr>
          <a:xfrm>
            <a:off x="9075508" y="5572675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return null</a:t>
            </a:r>
            <a:endParaRPr lang="en-US" baseline="-25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90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E860-41FE-6843-9BB7-9C823C3D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57397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Elementary implementation of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1BD-9458-A541-ADE8-C31FD4B5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862914" cy="5016842"/>
          </a:xfrm>
        </p:spPr>
        <p:txBody>
          <a:bodyPr>
            <a:normAutofit/>
          </a:bodyPr>
          <a:lstStyle/>
          <a:p>
            <a:r>
              <a:rPr lang="en-US" dirty="0"/>
              <a:t>Ordered Array &amp; Binary Search</a:t>
            </a:r>
          </a:p>
          <a:p>
            <a:pPr lvl="1"/>
            <a:r>
              <a:rPr lang="en-US" dirty="0"/>
              <a:t>Get(key): binary search on </a:t>
            </a:r>
            <a:r>
              <a:rPr lang="en-US" dirty="0">
                <a:latin typeface="Courier" pitchFamily="2" charset="0"/>
              </a:rPr>
              <a:t>Keys[]</a:t>
            </a:r>
            <a:r>
              <a:rPr lang="en-US" dirty="0"/>
              <a:t>, then lookup in </a:t>
            </a:r>
            <a:r>
              <a:rPr lang="en-US" dirty="0">
                <a:latin typeface="Courier" pitchFamily="2" charset="0"/>
              </a:rPr>
              <a:t>Values[]</a:t>
            </a:r>
          </a:p>
          <a:p>
            <a:pPr lvl="1"/>
            <a:r>
              <a:rPr lang="en-US" dirty="0"/>
              <a:t>Put(key, value): binary search on </a:t>
            </a:r>
            <a:r>
              <a:rPr lang="en-US" dirty="0">
                <a:latin typeface="Courier" pitchFamily="2" charset="0"/>
              </a:rPr>
              <a:t>Keys[]</a:t>
            </a:r>
            <a:endParaRPr lang="en-US" dirty="0"/>
          </a:p>
          <a:p>
            <a:pPr lvl="2"/>
            <a:r>
              <a:rPr lang="en-US" dirty="0"/>
              <a:t>If a matching key is found, replace the associated value</a:t>
            </a:r>
          </a:p>
          <a:p>
            <a:pPr lvl="2"/>
            <a:r>
              <a:rPr lang="en-US" dirty="0"/>
              <a:t>If a matching key is not found, use insertion sort (need to shift all greater key/value pairs over)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Cost: lg </a:t>
            </a:r>
            <a:r>
              <a:rPr lang="en-US" i="1" dirty="0"/>
              <a:t>N</a:t>
            </a:r>
            <a:r>
              <a:rPr lang="en-US" dirty="0"/>
              <a:t> for get (search), </a:t>
            </a:r>
            <a:r>
              <a:rPr lang="en-US" i="1" dirty="0"/>
              <a:t>N</a:t>
            </a:r>
            <a:r>
              <a:rPr lang="en-US" dirty="0"/>
              <a:t> for put (insert)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34A35-7184-7049-BD5E-71DE2ED07788}"/>
              </a:ext>
            </a:extLst>
          </p:cNvPr>
          <p:cNvSpPr txBox="1"/>
          <p:nvPr/>
        </p:nvSpPr>
        <p:spPr>
          <a:xfrm>
            <a:off x="273880" y="393109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Keys[]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A3FEF4-A469-1447-B201-B91148785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20859"/>
              </p:ext>
            </p:extLst>
          </p:nvPr>
        </p:nvGraphicFramePr>
        <p:xfrm>
          <a:off x="1281122" y="3637055"/>
          <a:ext cx="37896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613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147F89-D7B4-0140-8CB9-AAD2EA2C0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452346"/>
              </p:ext>
            </p:extLst>
          </p:nvPr>
        </p:nvGraphicFramePr>
        <p:xfrm>
          <a:off x="1281122" y="3931099"/>
          <a:ext cx="37896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613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857243-1594-034B-A325-ABBB736479C0}"/>
              </a:ext>
            </a:extLst>
          </p:cNvPr>
          <p:cNvSpPr txBox="1"/>
          <p:nvPr/>
        </p:nvSpPr>
        <p:spPr>
          <a:xfrm>
            <a:off x="0" y="489755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Values[]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E791F4-494A-5B41-8824-638D1F240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19394"/>
              </p:ext>
            </p:extLst>
          </p:nvPr>
        </p:nvGraphicFramePr>
        <p:xfrm>
          <a:off x="1287532" y="4587973"/>
          <a:ext cx="37896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613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0E2F4D-E57A-244E-8FE5-360448B0D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984436"/>
              </p:ext>
            </p:extLst>
          </p:nvPr>
        </p:nvGraphicFramePr>
        <p:xfrm>
          <a:off x="1287532" y="4882017"/>
          <a:ext cx="37896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613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31613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97681D-2EBD-FC4F-A8D0-0DAB5BD3E5FF}"/>
              </a:ext>
            </a:extLst>
          </p:cNvPr>
          <p:cNvSpPr txBox="1"/>
          <p:nvPr/>
        </p:nvSpPr>
        <p:spPr>
          <a:xfrm>
            <a:off x="5285259" y="4404061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put(L, v7)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BB69543-FCC2-5740-BA1F-64D97F3D4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39939"/>
              </p:ext>
            </p:extLst>
          </p:nvPr>
        </p:nvGraphicFramePr>
        <p:xfrm>
          <a:off x="7121203" y="3552360"/>
          <a:ext cx="451069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385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694300041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30DD095-07F1-944A-A29C-72E362DDE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18325"/>
              </p:ext>
            </p:extLst>
          </p:nvPr>
        </p:nvGraphicFramePr>
        <p:xfrm>
          <a:off x="7121203" y="3846404"/>
          <a:ext cx="451069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385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172421135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D2EE5C-626D-DE4F-9174-54CC50599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80849"/>
              </p:ext>
            </p:extLst>
          </p:nvPr>
        </p:nvGraphicFramePr>
        <p:xfrm>
          <a:off x="7121203" y="4475046"/>
          <a:ext cx="451069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385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694300041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5E8900-C0F7-5546-A3E8-1F4F29040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12276"/>
              </p:ext>
            </p:extLst>
          </p:nvPr>
        </p:nvGraphicFramePr>
        <p:xfrm>
          <a:off x="7114183" y="4773393"/>
          <a:ext cx="451069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385">
                  <a:extLst>
                    <a:ext uri="{9D8B030D-6E8A-4147-A177-3AD203B41FA5}">
                      <a16:colId xmlns:a16="http://schemas.microsoft.com/office/drawing/2014/main" val="717397895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8899018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522024407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752033869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294306223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1156474854"/>
                    </a:ext>
                  </a:extLst>
                </a:gridCol>
                <a:gridCol w="644385">
                  <a:extLst>
                    <a:ext uri="{9D8B030D-6E8A-4147-A177-3AD203B41FA5}">
                      <a16:colId xmlns:a16="http://schemas.microsoft.com/office/drawing/2014/main" val="392990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-25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b="0" baseline="-25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2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51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273126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920</Words>
  <Application>Microsoft Macintosh PowerPoint</Application>
  <PresentationFormat>Widescreen</PresentationFormat>
  <Paragraphs>360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3. Search Algorithms</vt:lpstr>
      <vt:lpstr>CONTENT</vt:lpstr>
      <vt:lpstr>SEARCH PROBLEM</vt:lpstr>
      <vt:lpstr>SEARCH PROBLEM</vt:lpstr>
      <vt:lpstr>SEARCH PROBLEM</vt:lpstr>
      <vt:lpstr>CONTENT</vt:lpstr>
      <vt:lpstr>SYMBOL TABLE</vt:lpstr>
      <vt:lpstr>SYMBOL TABLE</vt:lpstr>
      <vt:lpstr>SYMBOL TABLE</vt:lpstr>
      <vt:lpstr>Elementary implementation of symbol table</vt:lpstr>
      <vt:lpstr>Elementary implementation of symbol table</vt:lpstr>
      <vt:lpstr>Elementary implementation of symbol table</vt:lpstr>
      <vt:lpstr>Elementary implementation of symbol table</vt:lpstr>
      <vt:lpstr>Elementary implementation of symbol table</vt:lpstr>
      <vt:lpstr>CONTENT –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31</cp:revision>
  <dcterms:created xsi:type="dcterms:W3CDTF">2020-06-23T14:37:29Z</dcterms:created>
  <dcterms:modified xsi:type="dcterms:W3CDTF">2021-02-08T14:36:55Z</dcterms:modified>
</cp:coreProperties>
</file>